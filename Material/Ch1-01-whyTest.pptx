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1"/>
  </p:sldMasterIdLst>
  <p:notesMasterIdLst>
    <p:notesMasterId r:id="rId44"/>
  </p:notesMasterIdLst>
  <p:handoutMasterIdLst>
    <p:handoutMasterId r:id="rId45"/>
  </p:handoutMasterIdLst>
  <p:sldIdLst>
    <p:sldId id="336" r:id="rId2"/>
    <p:sldId id="545" r:id="rId3"/>
    <p:sldId id="475" r:id="rId4"/>
    <p:sldId id="543" r:id="rId5"/>
    <p:sldId id="544" r:id="rId6"/>
    <p:sldId id="526" r:id="rId7"/>
    <p:sldId id="380" r:id="rId8"/>
    <p:sldId id="516" r:id="rId9"/>
    <p:sldId id="534" r:id="rId10"/>
    <p:sldId id="517" r:id="rId11"/>
    <p:sldId id="535" r:id="rId12"/>
    <p:sldId id="377" r:id="rId13"/>
    <p:sldId id="556" r:id="rId14"/>
    <p:sldId id="381" r:id="rId15"/>
    <p:sldId id="518" r:id="rId16"/>
    <p:sldId id="527" r:id="rId17"/>
    <p:sldId id="528" r:id="rId18"/>
    <p:sldId id="541" r:id="rId19"/>
    <p:sldId id="529" r:id="rId20"/>
    <p:sldId id="530" r:id="rId21"/>
    <p:sldId id="625" r:id="rId22"/>
    <p:sldId id="626" r:id="rId23"/>
    <p:sldId id="627" r:id="rId24"/>
    <p:sldId id="628" r:id="rId25"/>
    <p:sldId id="629" r:id="rId26"/>
    <p:sldId id="536" r:id="rId27"/>
    <p:sldId id="537" r:id="rId28"/>
    <p:sldId id="538" r:id="rId29"/>
    <p:sldId id="542" r:id="rId30"/>
    <p:sldId id="403" r:id="rId31"/>
    <p:sldId id="404" r:id="rId32"/>
    <p:sldId id="405" r:id="rId33"/>
    <p:sldId id="406" r:id="rId34"/>
    <p:sldId id="407" r:id="rId35"/>
    <p:sldId id="408" r:id="rId36"/>
    <p:sldId id="521" r:id="rId37"/>
    <p:sldId id="522" r:id="rId38"/>
    <p:sldId id="372" r:id="rId39"/>
    <p:sldId id="373" r:id="rId40"/>
    <p:sldId id="524" r:id="rId41"/>
    <p:sldId id="514" r:id="rId42"/>
    <p:sldId id="539" r:id="rId43"/>
  </p:sldIdLst>
  <p:sldSz cx="12192000" cy="6858000"/>
  <p:notesSz cx="7315200" cy="9601200"/>
  <p:defaultTextStyle>
    <a:defPPr>
      <a:defRPr lang="en-US"/>
    </a:defPPr>
    <a:lvl1pPr algn="l" rtl="0" eaLnBrk="0" fontAlgn="base" hangingPunct="0">
      <a:spcBef>
        <a:spcPct val="0"/>
      </a:spcBef>
      <a:spcAft>
        <a:spcPct val="0"/>
      </a:spcAft>
      <a:defRPr sz="2000" b="1" kern="1200">
        <a:solidFill>
          <a:srgbClr val="FAFD00"/>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rgbClr val="FAFD00"/>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rgbClr val="FAFD00"/>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rgbClr val="FAFD00"/>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rgbClr val="FAFD00"/>
        </a:solidFill>
        <a:latin typeface="Times New Roman" pitchFamily="18" charset="0"/>
        <a:ea typeface="+mn-ea"/>
        <a:cs typeface="+mn-cs"/>
      </a:defRPr>
    </a:lvl5pPr>
    <a:lvl6pPr marL="2286000" algn="l" defTabSz="914400" rtl="0" eaLnBrk="1" latinLnBrk="0" hangingPunct="1">
      <a:defRPr sz="2000" b="1" kern="1200">
        <a:solidFill>
          <a:srgbClr val="FAFD00"/>
        </a:solidFill>
        <a:latin typeface="Times New Roman" pitchFamily="18" charset="0"/>
        <a:ea typeface="+mn-ea"/>
        <a:cs typeface="+mn-cs"/>
      </a:defRPr>
    </a:lvl6pPr>
    <a:lvl7pPr marL="2743200" algn="l" defTabSz="914400" rtl="0" eaLnBrk="1" latinLnBrk="0" hangingPunct="1">
      <a:defRPr sz="2000" b="1" kern="1200">
        <a:solidFill>
          <a:srgbClr val="FAFD00"/>
        </a:solidFill>
        <a:latin typeface="Times New Roman" pitchFamily="18" charset="0"/>
        <a:ea typeface="+mn-ea"/>
        <a:cs typeface="+mn-cs"/>
      </a:defRPr>
    </a:lvl7pPr>
    <a:lvl8pPr marL="3200400" algn="l" defTabSz="914400" rtl="0" eaLnBrk="1" latinLnBrk="0" hangingPunct="1">
      <a:defRPr sz="2000" b="1" kern="1200">
        <a:solidFill>
          <a:srgbClr val="FAFD00"/>
        </a:solidFill>
        <a:latin typeface="Times New Roman" pitchFamily="18" charset="0"/>
        <a:ea typeface="+mn-ea"/>
        <a:cs typeface="+mn-cs"/>
      </a:defRPr>
    </a:lvl8pPr>
    <a:lvl9pPr marL="3657600" algn="l" defTabSz="914400" rtl="0" eaLnBrk="1" latinLnBrk="0" hangingPunct="1">
      <a:defRPr sz="2000" b="1" kern="1200">
        <a:solidFill>
          <a:srgbClr val="FAFD00"/>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280" userDrawn="1">
          <p15:clr>
            <a:srgbClr val="A4A3A4"/>
          </p15:clr>
        </p15:guide>
        <p15:guide id="2" pos="36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0000CC"/>
    <a:srgbClr val="00FF00"/>
    <a:srgbClr val="00145A"/>
    <a:srgbClr val="001E5A"/>
    <a:srgbClr val="5F5F5F"/>
    <a:srgbClr val="000050"/>
    <a:srgbClr val="0000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89" autoAdjust="0"/>
    <p:restoredTop sz="83592" autoAdjust="0"/>
  </p:normalViewPr>
  <p:slideViewPr>
    <p:cSldViewPr snapToGrid="0">
      <p:cViewPr varScale="1">
        <p:scale>
          <a:sx n="62" d="100"/>
          <a:sy n="62" d="100"/>
        </p:scale>
        <p:origin x="693" y="36"/>
      </p:cViewPr>
      <p:guideLst>
        <p:guide orient="horz" pos="2280"/>
        <p:guide pos="3697"/>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90" d="100"/>
        <a:sy n="90" d="100"/>
      </p:scale>
      <p:origin x="0" y="355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1"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1" y="3"/>
            <a:ext cx="3170238" cy="479425"/>
          </a:xfrm>
          <a:prstGeom prst="rect">
            <a:avLst/>
          </a:prstGeom>
          <a:noFill/>
          <a:ln w="9525">
            <a:noFill/>
            <a:miter lim="800000"/>
            <a:headEnd/>
            <a:tailEnd/>
          </a:ln>
          <a:effectLst/>
        </p:spPr>
        <p:txBody>
          <a:bodyPr vert="horz" wrap="square" lIns="20130" tIns="0" rIns="20130" bIns="0" numCol="1" anchor="t" anchorCtr="0" compatLnSpc="1">
            <a:prstTxWarp prst="textNoShape">
              <a:avLst/>
            </a:prstTxWarp>
          </a:bodyPr>
          <a:lstStyle>
            <a:lvl1pPr defTabSz="966557">
              <a:defRPr sz="1200" b="0" i="1"/>
            </a:lvl1pPr>
          </a:lstStyle>
          <a:p>
            <a:pPr>
              <a:defRPr/>
            </a:pPr>
            <a:endParaRPr lang="en-US"/>
          </a:p>
        </p:txBody>
      </p:sp>
      <p:sp>
        <p:nvSpPr>
          <p:cNvPr id="3075" name="Rectangle 3"/>
          <p:cNvSpPr>
            <a:spLocks noGrp="1" noChangeArrowheads="1"/>
          </p:cNvSpPr>
          <p:nvPr>
            <p:ph type="dt" sz="quarter" idx="1"/>
          </p:nvPr>
        </p:nvSpPr>
        <p:spPr bwMode="auto">
          <a:xfrm>
            <a:off x="4144965" y="3"/>
            <a:ext cx="3170237" cy="479425"/>
          </a:xfrm>
          <a:prstGeom prst="rect">
            <a:avLst/>
          </a:prstGeom>
          <a:noFill/>
          <a:ln w="9525">
            <a:noFill/>
            <a:miter lim="800000"/>
            <a:headEnd/>
            <a:tailEnd/>
          </a:ln>
          <a:effectLst/>
        </p:spPr>
        <p:txBody>
          <a:bodyPr vert="horz" wrap="square" lIns="20130" tIns="0" rIns="20130" bIns="0" numCol="1" anchor="t" anchorCtr="0" compatLnSpc="1">
            <a:prstTxWarp prst="textNoShape">
              <a:avLst/>
            </a:prstTxWarp>
          </a:bodyPr>
          <a:lstStyle>
            <a:lvl1pPr algn="r" defTabSz="966557">
              <a:defRPr sz="1200" b="0" i="1"/>
            </a:lvl1pPr>
          </a:lstStyle>
          <a:p>
            <a:pPr>
              <a:defRPr/>
            </a:pPr>
            <a:endParaRPr lang="en-US"/>
          </a:p>
        </p:txBody>
      </p:sp>
      <p:sp>
        <p:nvSpPr>
          <p:cNvPr id="3076" name="Rectangle 4"/>
          <p:cNvSpPr>
            <a:spLocks noGrp="1" noChangeArrowheads="1"/>
          </p:cNvSpPr>
          <p:nvPr>
            <p:ph type="ftr" sz="quarter" idx="2"/>
          </p:nvPr>
        </p:nvSpPr>
        <p:spPr bwMode="auto">
          <a:xfrm>
            <a:off x="1" y="9121777"/>
            <a:ext cx="3170238" cy="479425"/>
          </a:xfrm>
          <a:prstGeom prst="rect">
            <a:avLst/>
          </a:prstGeom>
          <a:noFill/>
          <a:ln w="9525">
            <a:noFill/>
            <a:miter lim="800000"/>
            <a:headEnd/>
            <a:tailEnd/>
          </a:ln>
          <a:effectLst/>
        </p:spPr>
        <p:txBody>
          <a:bodyPr vert="horz" wrap="square" lIns="20130" tIns="0" rIns="20130" bIns="0" numCol="1" anchor="b" anchorCtr="0" compatLnSpc="1">
            <a:prstTxWarp prst="textNoShape">
              <a:avLst/>
            </a:prstTxWarp>
          </a:bodyPr>
          <a:lstStyle>
            <a:lvl1pPr defTabSz="966557">
              <a:defRPr sz="1200" b="0" i="1"/>
            </a:lvl1pPr>
          </a:lstStyle>
          <a:p>
            <a:pPr>
              <a:defRPr/>
            </a:pPr>
            <a:endParaRPr lang="en-US"/>
          </a:p>
        </p:txBody>
      </p:sp>
      <p:sp>
        <p:nvSpPr>
          <p:cNvPr id="3077" name="Rectangle 5"/>
          <p:cNvSpPr>
            <a:spLocks noGrp="1" noChangeArrowheads="1"/>
          </p:cNvSpPr>
          <p:nvPr>
            <p:ph type="sldNum" sz="quarter" idx="3"/>
          </p:nvPr>
        </p:nvSpPr>
        <p:spPr bwMode="auto">
          <a:xfrm>
            <a:off x="4144965" y="9121777"/>
            <a:ext cx="3170237" cy="479425"/>
          </a:xfrm>
          <a:prstGeom prst="rect">
            <a:avLst/>
          </a:prstGeom>
          <a:noFill/>
          <a:ln w="9525">
            <a:noFill/>
            <a:miter lim="800000"/>
            <a:headEnd/>
            <a:tailEnd/>
          </a:ln>
          <a:effectLst/>
        </p:spPr>
        <p:txBody>
          <a:bodyPr vert="horz" wrap="square" lIns="20130" tIns="0" rIns="20130" bIns="0" numCol="1" anchor="b" anchorCtr="0" compatLnSpc="1">
            <a:prstTxWarp prst="textNoShape">
              <a:avLst/>
            </a:prstTxWarp>
          </a:bodyPr>
          <a:lstStyle>
            <a:lvl1pPr algn="r" defTabSz="966557">
              <a:defRPr sz="1200" b="0" i="1"/>
            </a:lvl1pPr>
          </a:lstStyle>
          <a:p>
            <a:pPr>
              <a:defRPr/>
            </a:pPr>
            <a:fld id="{1B3B0E3B-E5C4-4251-A7FB-CB33CCB6CE5F}" type="slidenum">
              <a:rPr lang="en-US"/>
              <a:pPr>
                <a:defRPr/>
              </a:pPr>
              <a:t>‹#›</a:t>
            </a:fld>
            <a:endParaRPr lang="en-US"/>
          </a:p>
        </p:txBody>
      </p:sp>
    </p:spTree>
    <p:extLst>
      <p:ext uri="{BB962C8B-B14F-4D97-AF65-F5344CB8AC3E}">
        <p14:creationId xmlns:p14="http://schemas.microsoft.com/office/powerpoint/2010/main" val="234405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1" y="3"/>
            <a:ext cx="3170238" cy="479425"/>
          </a:xfrm>
          <a:prstGeom prst="rect">
            <a:avLst/>
          </a:prstGeom>
          <a:noFill/>
          <a:ln w="9525">
            <a:noFill/>
            <a:miter lim="800000"/>
            <a:headEnd/>
            <a:tailEnd/>
          </a:ln>
          <a:effectLst/>
        </p:spPr>
        <p:txBody>
          <a:bodyPr vert="horz" wrap="square" lIns="20130" tIns="0" rIns="20130" bIns="0" numCol="1" anchor="t" anchorCtr="0" compatLnSpc="1">
            <a:prstTxWarp prst="textNoShape">
              <a:avLst/>
            </a:prstTxWarp>
          </a:bodyPr>
          <a:lstStyle>
            <a:lvl1pPr defTabSz="966557">
              <a:defRPr sz="1200" b="0" i="1">
                <a:solidFill>
                  <a:schemeClr val="tx1"/>
                </a:solidFill>
              </a:defRPr>
            </a:lvl1pPr>
          </a:lstStyle>
          <a:p>
            <a:pPr>
              <a:defRPr/>
            </a:pPr>
            <a:endParaRPr lang="en-US"/>
          </a:p>
        </p:txBody>
      </p:sp>
      <p:sp>
        <p:nvSpPr>
          <p:cNvPr id="2051" name="Rectangle 3"/>
          <p:cNvSpPr>
            <a:spLocks noGrp="1" noChangeArrowheads="1"/>
          </p:cNvSpPr>
          <p:nvPr>
            <p:ph type="dt" idx="1"/>
          </p:nvPr>
        </p:nvSpPr>
        <p:spPr bwMode="auto">
          <a:xfrm>
            <a:off x="4144965" y="3"/>
            <a:ext cx="3170237" cy="479425"/>
          </a:xfrm>
          <a:prstGeom prst="rect">
            <a:avLst/>
          </a:prstGeom>
          <a:noFill/>
          <a:ln w="9525">
            <a:noFill/>
            <a:miter lim="800000"/>
            <a:headEnd/>
            <a:tailEnd/>
          </a:ln>
          <a:effectLst/>
        </p:spPr>
        <p:txBody>
          <a:bodyPr vert="horz" wrap="square" lIns="20130" tIns="0" rIns="20130" bIns="0" numCol="1" anchor="t" anchorCtr="0" compatLnSpc="1">
            <a:prstTxWarp prst="textNoShape">
              <a:avLst/>
            </a:prstTxWarp>
          </a:bodyPr>
          <a:lstStyle>
            <a:lvl1pPr algn="r" defTabSz="966557">
              <a:defRPr sz="1200" b="0" i="1">
                <a:solidFill>
                  <a:schemeClr val="tx1"/>
                </a:solidFill>
              </a:defRPr>
            </a:lvl1pPr>
          </a:lstStyle>
          <a:p>
            <a:pPr>
              <a:defRPr/>
            </a:pPr>
            <a:endParaRPr lang="en-US"/>
          </a:p>
        </p:txBody>
      </p:sp>
      <p:sp>
        <p:nvSpPr>
          <p:cNvPr id="2052" name="Rectangle 4"/>
          <p:cNvSpPr>
            <a:spLocks noGrp="1" noChangeArrowheads="1"/>
          </p:cNvSpPr>
          <p:nvPr>
            <p:ph type="ftr" sz="quarter" idx="4"/>
          </p:nvPr>
        </p:nvSpPr>
        <p:spPr bwMode="auto">
          <a:xfrm>
            <a:off x="1" y="9121777"/>
            <a:ext cx="3170238" cy="479425"/>
          </a:xfrm>
          <a:prstGeom prst="rect">
            <a:avLst/>
          </a:prstGeom>
          <a:noFill/>
          <a:ln w="9525">
            <a:noFill/>
            <a:miter lim="800000"/>
            <a:headEnd/>
            <a:tailEnd/>
          </a:ln>
          <a:effectLst/>
        </p:spPr>
        <p:txBody>
          <a:bodyPr vert="horz" wrap="square" lIns="20130" tIns="0" rIns="20130" bIns="0" numCol="1" anchor="b" anchorCtr="0" compatLnSpc="1">
            <a:prstTxWarp prst="textNoShape">
              <a:avLst/>
            </a:prstTxWarp>
          </a:bodyPr>
          <a:lstStyle>
            <a:lvl1pPr defTabSz="966557">
              <a:defRPr sz="1200" b="0" i="1">
                <a:solidFill>
                  <a:schemeClr val="tx1"/>
                </a:solidFill>
              </a:defRPr>
            </a:lvl1pPr>
          </a:lstStyle>
          <a:p>
            <a:pPr>
              <a:defRPr/>
            </a:pPr>
            <a:endParaRPr lang="en-US"/>
          </a:p>
        </p:txBody>
      </p:sp>
      <p:sp>
        <p:nvSpPr>
          <p:cNvPr id="2053" name="Rectangle 5"/>
          <p:cNvSpPr>
            <a:spLocks noGrp="1" noChangeArrowheads="1"/>
          </p:cNvSpPr>
          <p:nvPr>
            <p:ph type="sldNum" sz="quarter" idx="5"/>
          </p:nvPr>
        </p:nvSpPr>
        <p:spPr bwMode="auto">
          <a:xfrm>
            <a:off x="4144965" y="9121777"/>
            <a:ext cx="3170237" cy="479425"/>
          </a:xfrm>
          <a:prstGeom prst="rect">
            <a:avLst/>
          </a:prstGeom>
          <a:noFill/>
          <a:ln w="9525">
            <a:noFill/>
            <a:miter lim="800000"/>
            <a:headEnd/>
            <a:tailEnd/>
          </a:ln>
          <a:effectLst/>
        </p:spPr>
        <p:txBody>
          <a:bodyPr vert="horz" wrap="square" lIns="20130" tIns="0" rIns="20130" bIns="0" numCol="1" anchor="b" anchorCtr="0" compatLnSpc="1">
            <a:prstTxWarp prst="textNoShape">
              <a:avLst/>
            </a:prstTxWarp>
          </a:bodyPr>
          <a:lstStyle>
            <a:lvl1pPr algn="r" defTabSz="966557">
              <a:defRPr sz="1200" b="0" i="1">
                <a:solidFill>
                  <a:schemeClr val="tx1"/>
                </a:solidFill>
              </a:defRPr>
            </a:lvl1pPr>
          </a:lstStyle>
          <a:p>
            <a:pPr>
              <a:defRPr/>
            </a:pPr>
            <a:fld id="{A229CEE7-0F02-44C1-8906-EC6CFDC65F2D}" type="slidenum">
              <a:rPr lang="en-US"/>
              <a:pPr>
                <a:defRPr/>
              </a:pPr>
              <a:t>‹#›</a:t>
            </a:fld>
            <a:endParaRPr lang="en-US"/>
          </a:p>
        </p:txBody>
      </p:sp>
      <p:sp>
        <p:nvSpPr>
          <p:cNvPr id="2054" name="Rectangle 6"/>
          <p:cNvSpPr>
            <a:spLocks noGrp="1" noChangeArrowheads="1"/>
          </p:cNvSpPr>
          <p:nvPr>
            <p:ph type="body" sz="quarter" idx="3"/>
          </p:nvPr>
        </p:nvSpPr>
        <p:spPr bwMode="auto">
          <a:xfrm>
            <a:off x="974726" y="4559300"/>
            <a:ext cx="5365750" cy="4319588"/>
          </a:xfrm>
          <a:prstGeom prst="rect">
            <a:avLst/>
          </a:prstGeom>
          <a:noFill/>
          <a:ln w="9525">
            <a:noFill/>
            <a:miter lim="800000"/>
            <a:headEnd/>
            <a:tailEnd/>
          </a:ln>
          <a:effectLst/>
        </p:spPr>
        <p:txBody>
          <a:bodyPr vert="horz" wrap="square" lIns="97296" tIns="48650" rIns="97296" bIns="4865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6263" name="Rectangle 7"/>
          <p:cNvSpPr>
            <a:spLocks noGrp="1" noRot="1" noChangeAspect="1" noChangeArrowheads="1" noTextEdit="1"/>
          </p:cNvSpPr>
          <p:nvPr>
            <p:ph type="sldImg" idx="2"/>
          </p:nvPr>
        </p:nvSpPr>
        <p:spPr bwMode="auto">
          <a:xfrm>
            <a:off x="461963" y="720725"/>
            <a:ext cx="6391275" cy="35956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6" name="Rectangle 8"/>
          <p:cNvSpPr>
            <a:spLocks noChangeArrowheads="1"/>
          </p:cNvSpPr>
          <p:nvPr/>
        </p:nvSpPr>
        <p:spPr bwMode="auto">
          <a:xfrm>
            <a:off x="3283114" y="9144000"/>
            <a:ext cx="747385" cy="274909"/>
          </a:xfrm>
          <a:prstGeom prst="rect">
            <a:avLst/>
          </a:prstGeom>
          <a:noFill/>
          <a:ln w="9525">
            <a:noFill/>
            <a:miter lim="800000"/>
            <a:headEnd/>
            <a:tailEnd/>
          </a:ln>
          <a:effectLst/>
        </p:spPr>
        <p:txBody>
          <a:bodyPr wrap="none" lIns="92266" tIns="46971" rIns="92266" bIns="46971">
            <a:spAutoFit/>
          </a:bodyPr>
          <a:lstStyle/>
          <a:p>
            <a:pPr algn="ctr" defTabSz="917356">
              <a:lnSpc>
                <a:spcPct val="90000"/>
              </a:lnSpc>
              <a:defRPr/>
            </a:pPr>
            <a:r>
              <a:rPr lang="en-US" sz="1300" b="0" dirty="0">
                <a:solidFill>
                  <a:schemeClr val="tx1"/>
                </a:solidFill>
              </a:rPr>
              <a:t>Page </a:t>
            </a:r>
            <a:fld id="{55488FE2-1213-4D8B-9D82-EC18FBC6248F}" type="slidenum">
              <a:rPr lang="en-US" sz="1300" b="0">
                <a:solidFill>
                  <a:schemeClr val="tx1"/>
                </a:solidFill>
              </a:rPr>
              <a:pPr algn="ctr" defTabSz="917356">
                <a:lnSpc>
                  <a:spcPct val="90000"/>
                </a:lnSpc>
                <a:defRPr/>
              </a:pPr>
              <a:t>‹#›</a:t>
            </a:fld>
            <a:endParaRPr lang="en-US" sz="1300" b="0" dirty="0">
              <a:solidFill>
                <a:schemeClr val="tx1"/>
              </a:solidFill>
            </a:endParaRPr>
          </a:p>
        </p:txBody>
      </p:sp>
    </p:spTree>
    <p:extLst>
      <p:ext uri="{BB962C8B-B14F-4D97-AF65-F5344CB8AC3E}">
        <p14:creationId xmlns:p14="http://schemas.microsoft.com/office/powerpoint/2010/main" val="3928156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Computing"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en.wikipedia.org/wiki/Test_case" TargetMode="External"/><Relationship Id="rId5" Type="http://schemas.openxmlformats.org/officeDocument/2006/relationships/hyperlink" Target="https://en.wikipedia.org/wiki/Software_engineers" TargetMode="External"/><Relationship Id="rId4" Type="http://schemas.openxmlformats.org/officeDocument/2006/relationships/hyperlink" Target="https://en.wikipedia.org/wiki/Software_testing"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xfrm>
            <a:off x="461963" y="720725"/>
            <a:ext cx="6391275" cy="3595688"/>
          </a:xfrm>
          <a:ln/>
        </p:spPr>
      </p:sp>
      <p:sp>
        <p:nvSpPr>
          <p:cNvPr id="972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72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E4412327-F9A8-4C82-83D7-AD07442DFF20}" type="slidenum">
              <a:rPr lang="en-US" sz="1200" b="0">
                <a:solidFill>
                  <a:schemeClr val="tx1"/>
                </a:solidFill>
              </a:rPr>
              <a:pPr/>
              <a:t>1</a:t>
            </a:fld>
            <a:endParaRPr lang="en-US" sz="1200" b="0" dirty="0">
              <a:solidFill>
                <a:schemeClr val="tx1"/>
              </a:solidFill>
            </a:endParaRPr>
          </a:p>
        </p:txBody>
      </p:sp>
    </p:spTree>
    <p:extLst>
      <p:ext uri="{BB962C8B-B14F-4D97-AF65-F5344CB8AC3E}">
        <p14:creationId xmlns:p14="http://schemas.microsoft.com/office/powerpoint/2010/main" val="4200378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itchFamily="18" charset="0"/>
                <a:ea typeface="+mn-ea"/>
                <a:cs typeface="+mn-cs"/>
              </a:rPr>
              <a:t>半年坠毁两架波音</a:t>
            </a:r>
            <a:r>
              <a:rPr lang="en-US" altLang="zh-CN" sz="1200" b="0" i="0" kern="1200" dirty="0">
                <a:solidFill>
                  <a:schemeClr val="tx1"/>
                </a:solidFill>
                <a:effectLst/>
                <a:latin typeface="Times New Roman" pitchFamily="18" charset="0"/>
                <a:ea typeface="+mn-ea"/>
                <a:cs typeface="+mn-cs"/>
              </a:rPr>
              <a:t>737max</a:t>
            </a:r>
            <a:r>
              <a:rPr lang="zh-CN" altLang="en-US" sz="1200" b="0" i="0" kern="1200" dirty="0">
                <a:solidFill>
                  <a:schemeClr val="tx1"/>
                </a:solidFill>
                <a:effectLst/>
                <a:latin typeface="Times New Roman" pitchFamily="18" charset="0"/>
                <a:ea typeface="+mn-ea"/>
                <a:cs typeface="+mn-cs"/>
              </a:rPr>
              <a:t>客机，并带走了</a:t>
            </a:r>
            <a:r>
              <a:rPr lang="en-US" altLang="zh-CN" sz="1200" b="0" i="0" kern="1200" dirty="0">
                <a:solidFill>
                  <a:schemeClr val="tx1"/>
                </a:solidFill>
                <a:effectLst/>
                <a:latin typeface="Times New Roman" pitchFamily="18" charset="0"/>
                <a:ea typeface="+mn-ea"/>
                <a:cs typeface="+mn-cs"/>
              </a:rPr>
              <a:t>346</a:t>
            </a:r>
            <a:r>
              <a:rPr lang="zh-CN" altLang="en-US" sz="1200" b="0" i="0" kern="1200" dirty="0">
                <a:solidFill>
                  <a:schemeClr val="tx1"/>
                </a:solidFill>
                <a:effectLst/>
                <a:latin typeface="Times New Roman" pitchFamily="18" charset="0"/>
                <a:ea typeface="+mn-ea"/>
                <a:cs typeface="+mn-cs"/>
              </a:rPr>
              <a:t>条生命，事后有专家分析了狮航与埃塞俄比亚航空这两起空难事故，均有类似的情况，原因都出自一个，那就是飞机失控。据悉，狮航那架波音</a:t>
            </a:r>
            <a:r>
              <a:rPr lang="en-US" altLang="zh-CN" sz="1200" b="0" i="0" kern="1200" dirty="0">
                <a:solidFill>
                  <a:schemeClr val="tx1"/>
                </a:solidFill>
                <a:effectLst/>
                <a:latin typeface="Times New Roman" pitchFamily="18" charset="0"/>
                <a:ea typeface="+mn-ea"/>
                <a:cs typeface="+mn-cs"/>
              </a:rPr>
              <a:t>737max</a:t>
            </a:r>
            <a:r>
              <a:rPr lang="zh-CN" altLang="en-US" sz="1200" b="0" i="0" kern="1200" dirty="0">
                <a:solidFill>
                  <a:schemeClr val="tx1"/>
                </a:solidFill>
                <a:effectLst/>
                <a:latin typeface="Times New Roman" pitchFamily="18" charset="0"/>
                <a:ea typeface="+mn-ea"/>
                <a:cs typeface="+mn-cs"/>
              </a:rPr>
              <a:t>在飞行时，飞机突然发出错误的指令，持续让机头下压，呈俯冲的姿势飞行，而机长在与飞控系统做了将近</a:t>
            </a:r>
            <a:r>
              <a:rPr lang="en-US" altLang="zh-CN" sz="1200" b="0" i="0" kern="1200" dirty="0">
                <a:solidFill>
                  <a:schemeClr val="tx1"/>
                </a:solidFill>
                <a:effectLst/>
                <a:latin typeface="Times New Roman" pitchFamily="18" charset="0"/>
                <a:ea typeface="+mn-ea"/>
                <a:cs typeface="+mn-cs"/>
              </a:rPr>
              <a:t>12</a:t>
            </a:r>
            <a:r>
              <a:rPr lang="zh-CN" altLang="en-US" sz="1200" b="0" i="0" kern="1200" dirty="0">
                <a:solidFill>
                  <a:schemeClr val="tx1"/>
                </a:solidFill>
                <a:effectLst/>
                <a:latin typeface="Times New Roman" pitchFamily="18" charset="0"/>
                <a:ea typeface="+mn-ea"/>
                <a:cs typeface="+mn-cs"/>
              </a:rPr>
              <a:t>分钟的搏斗，也无济于事，最后失控下坠。</a:t>
            </a:r>
            <a:endParaRPr lang="en-US" altLang="zh-CN" sz="1200" b="0" i="0" kern="1200" dirty="0">
              <a:solidFill>
                <a:schemeClr val="tx1"/>
              </a:solidFill>
              <a:effectLst/>
              <a:latin typeface="Times New Roman" pitchFamily="18" charset="0"/>
              <a:ea typeface="+mn-ea"/>
              <a:cs typeface="+mn-cs"/>
            </a:endParaRPr>
          </a:p>
          <a:p>
            <a:r>
              <a:rPr lang="en-US" altLang="zh-CN" sz="1200" dirty="0"/>
              <a:t>Compromised</a:t>
            </a:r>
            <a:r>
              <a:rPr lang="zh-CN" altLang="en-US" sz="1200" dirty="0"/>
              <a:t>：</a:t>
            </a:r>
            <a:r>
              <a:rPr lang="en-US" altLang="zh-CN" sz="1200" b="0" i="0" kern="1200" dirty="0">
                <a:solidFill>
                  <a:schemeClr val="tx1"/>
                </a:solidFill>
                <a:effectLst/>
                <a:latin typeface="Times New Roman" pitchFamily="18" charset="0"/>
                <a:ea typeface="+mn-ea"/>
                <a:cs typeface="+mn-cs"/>
              </a:rPr>
              <a:t>(</a:t>
            </a:r>
            <a:r>
              <a:rPr lang="zh-CN" altLang="en-US" sz="1200" b="0" i="0" kern="1200" dirty="0">
                <a:solidFill>
                  <a:schemeClr val="tx1"/>
                </a:solidFill>
                <a:effectLst/>
                <a:latin typeface="Times New Roman" pitchFamily="18" charset="0"/>
                <a:ea typeface="+mn-ea"/>
                <a:cs typeface="+mn-cs"/>
              </a:rPr>
              <a:t>为达成协议而</a:t>
            </a:r>
            <a:r>
              <a:rPr lang="en-US" altLang="zh-CN" sz="1200" b="0" i="0" kern="1200" dirty="0">
                <a:solidFill>
                  <a:schemeClr val="tx1"/>
                </a:solidFill>
                <a:effectLst/>
                <a:latin typeface="Times New Roman" pitchFamily="18" charset="0"/>
                <a:ea typeface="+mn-ea"/>
                <a:cs typeface="+mn-cs"/>
              </a:rPr>
              <a:t>)</a:t>
            </a:r>
            <a:r>
              <a:rPr lang="zh-CN" altLang="en-US" sz="1200" b="0" i="0" kern="1200" dirty="0">
                <a:solidFill>
                  <a:schemeClr val="tx1"/>
                </a:solidFill>
                <a:effectLst/>
                <a:latin typeface="Times New Roman" pitchFamily="18" charset="0"/>
                <a:ea typeface="+mn-ea"/>
                <a:cs typeface="+mn-cs"/>
              </a:rPr>
              <a:t>妥协，折中，让步</a:t>
            </a:r>
            <a:r>
              <a:rPr lang="en-US" altLang="zh-CN" sz="1200" b="0" i="0" kern="1200" dirty="0">
                <a:solidFill>
                  <a:schemeClr val="tx1"/>
                </a:solidFill>
                <a:effectLst/>
                <a:latin typeface="Times New Roman" pitchFamily="18" charset="0"/>
                <a:ea typeface="+mn-ea"/>
                <a:cs typeface="+mn-cs"/>
              </a:rPr>
              <a:t>; </a:t>
            </a:r>
            <a:r>
              <a:rPr lang="zh-CN" altLang="en-US" sz="1200" b="0" i="0" kern="1200" dirty="0">
                <a:solidFill>
                  <a:schemeClr val="tx1"/>
                </a:solidFill>
                <a:effectLst/>
                <a:latin typeface="Times New Roman" pitchFamily="18" charset="0"/>
                <a:ea typeface="+mn-ea"/>
                <a:cs typeface="+mn-cs"/>
              </a:rPr>
              <a:t>违背</a:t>
            </a:r>
            <a:r>
              <a:rPr lang="en-US" altLang="zh-CN" sz="1200" b="0" i="0" kern="1200" dirty="0">
                <a:solidFill>
                  <a:schemeClr val="tx1"/>
                </a:solidFill>
                <a:effectLst/>
                <a:latin typeface="Times New Roman" pitchFamily="18" charset="0"/>
                <a:ea typeface="+mn-ea"/>
                <a:cs typeface="+mn-cs"/>
              </a:rPr>
              <a:t>(</a:t>
            </a:r>
            <a:r>
              <a:rPr lang="zh-CN" altLang="en-US" sz="1200" b="0" i="0" kern="1200" dirty="0">
                <a:solidFill>
                  <a:schemeClr val="tx1"/>
                </a:solidFill>
                <a:effectLst/>
                <a:latin typeface="Times New Roman" pitchFamily="18" charset="0"/>
                <a:ea typeface="+mn-ea"/>
                <a:cs typeface="+mn-cs"/>
              </a:rPr>
              <a:t>原则</a:t>
            </a:r>
            <a:r>
              <a:rPr lang="en-US" altLang="zh-CN" sz="1200" b="0" i="0" kern="1200" dirty="0">
                <a:solidFill>
                  <a:schemeClr val="tx1"/>
                </a:solidFill>
                <a:effectLst/>
                <a:latin typeface="Times New Roman" pitchFamily="18" charset="0"/>
                <a:ea typeface="+mn-ea"/>
                <a:cs typeface="+mn-cs"/>
              </a:rPr>
              <a:t>); </a:t>
            </a:r>
            <a:r>
              <a:rPr lang="zh-CN" altLang="en-US" sz="1200" b="0" i="0" kern="1200" dirty="0">
                <a:solidFill>
                  <a:schemeClr val="tx1"/>
                </a:solidFill>
                <a:effectLst/>
                <a:latin typeface="Times New Roman" pitchFamily="18" charset="0"/>
                <a:ea typeface="+mn-ea"/>
                <a:cs typeface="+mn-cs"/>
              </a:rPr>
              <a:t>达不到</a:t>
            </a:r>
            <a:r>
              <a:rPr lang="en-US" altLang="zh-CN" sz="1200" b="0" i="0" kern="1200" dirty="0">
                <a:solidFill>
                  <a:schemeClr val="tx1"/>
                </a:solidFill>
                <a:effectLst/>
                <a:latin typeface="Times New Roman" pitchFamily="18" charset="0"/>
                <a:ea typeface="+mn-ea"/>
                <a:cs typeface="+mn-cs"/>
              </a:rPr>
              <a:t>(</a:t>
            </a:r>
            <a:r>
              <a:rPr lang="zh-CN" altLang="en-US" sz="1200" b="0" i="0" kern="1200" dirty="0">
                <a:solidFill>
                  <a:schemeClr val="tx1"/>
                </a:solidFill>
                <a:effectLst/>
                <a:latin typeface="Times New Roman" pitchFamily="18" charset="0"/>
                <a:ea typeface="+mn-ea"/>
                <a:cs typeface="+mn-cs"/>
              </a:rPr>
              <a:t>标准</a:t>
            </a:r>
            <a:r>
              <a:rPr lang="en-US" altLang="zh-CN" sz="1200" b="0" i="0" kern="1200" dirty="0">
                <a:solidFill>
                  <a:schemeClr val="tx1"/>
                </a:solidFill>
                <a:effectLst/>
                <a:latin typeface="Times New Roman" pitchFamily="18" charset="0"/>
                <a:ea typeface="+mn-ea"/>
                <a:cs typeface="+mn-cs"/>
              </a:rPr>
              <a:t>); (</a:t>
            </a:r>
            <a:r>
              <a:rPr lang="zh-CN" altLang="en-US" sz="1200" b="0" i="0" kern="1200" dirty="0">
                <a:solidFill>
                  <a:schemeClr val="tx1"/>
                </a:solidFill>
                <a:effectLst/>
                <a:latin typeface="Times New Roman" pitchFamily="18" charset="0"/>
                <a:ea typeface="+mn-ea"/>
                <a:cs typeface="+mn-cs"/>
              </a:rPr>
              <a:t>尤指因行为不很明智</a:t>
            </a:r>
            <a:r>
              <a:rPr lang="en-US" altLang="zh-CN" sz="1200" b="0" i="0" kern="1200" dirty="0">
                <a:solidFill>
                  <a:schemeClr val="tx1"/>
                </a:solidFill>
                <a:effectLst/>
                <a:latin typeface="Times New Roman" pitchFamily="18" charset="0"/>
                <a:ea typeface="+mn-ea"/>
                <a:cs typeface="+mn-cs"/>
              </a:rPr>
              <a:t>)</a:t>
            </a:r>
            <a:r>
              <a:rPr lang="zh-CN" altLang="en-US" sz="1200" b="0" i="0" kern="1200" dirty="0">
                <a:solidFill>
                  <a:schemeClr val="tx1"/>
                </a:solidFill>
                <a:effectLst/>
                <a:latin typeface="Times New Roman" pitchFamily="18" charset="0"/>
                <a:ea typeface="+mn-ea"/>
                <a:cs typeface="+mn-cs"/>
              </a:rPr>
              <a:t>使陷入危险，使受到怀疑</a:t>
            </a:r>
            <a:r>
              <a:rPr lang="en-US" altLang="zh-CN" sz="1200" b="0" i="0" kern="1200" dirty="0">
                <a:solidFill>
                  <a:schemeClr val="tx1"/>
                </a:solidFill>
                <a:effectLst/>
                <a:latin typeface="Times New Roman" pitchFamily="18" charset="0"/>
                <a:ea typeface="+mn-ea"/>
                <a:cs typeface="+mn-cs"/>
              </a:rPr>
              <a:t>;</a:t>
            </a:r>
          </a:p>
          <a:p>
            <a:endParaRPr lang="en-US" altLang="zh-CN" sz="1200" b="0" i="0" kern="1200" dirty="0">
              <a:solidFill>
                <a:schemeClr val="tx1"/>
              </a:solidFill>
              <a:effectLst/>
              <a:latin typeface="Times New Roman" pitchFamily="18" charset="0"/>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A229CEE7-0F02-44C1-8906-EC6CFDC65F2D}" type="slidenum">
              <a:rPr lang="en-US" smtClean="0"/>
              <a:pPr>
                <a:defRPr/>
              </a:pPr>
              <a:t>4</a:t>
            </a:fld>
            <a:endParaRPr lang="en-US"/>
          </a:p>
        </p:txBody>
      </p:sp>
    </p:spTree>
    <p:extLst>
      <p:ext uri="{BB962C8B-B14F-4D97-AF65-F5344CB8AC3E}">
        <p14:creationId xmlns:p14="http://schemas.microsoft.com/office/powerpoint/2010/main" val="4176402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xfrm>
            <a:off x="461963" y="720725"/>
            <a:ext cx="6391275" cy="3595688"/>
          </a:xfrm>
          <a:ln/>
        </p:spPr>
      </p:sp>
      <p:sp>
        <p:nvSpPr>
          <p:cNvPr id="1064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065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75AAEAA8-A996-4F03-BA6E-1CA7D2C5FDA8}" type="slidenum">
              <a:rPr lang="en-US" sz="1200" b="0">
                <a:solidFill>
                  <a:schemeClr val="tx1"/>
                </a:solidFill>
              </a:rPr>
              <a:pPr/>
              <a:t>7</a:t>
            </a:fld>
            <a:endParaRPr lang="en-US" sz="1200" b="0" dirty="0">
              <a:solidFill>
                <a:schemeClr val="tx1"/>
              </a:solidFill>
            </a:endParaRPr>
          </a:p>
        </p:txBody>
      </p:sp>
    </p:spTree>
    <p:extLst>
      <p:ext uri="{BB962C8B-B14F-4D97-AF65-F5344CB8AC3E}">
        <p14:creationId xmlns:p14="http://schemas.microsoft.com/office/powerpoint/2010/main" val="4226124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r>
              <a:rPr lang="en-US" altLang="zh-CN" sz="1200" b="1" dirty="0">
                <a:solidFill>
                  <a:schemeClr val="bg1"/>
                </a:solidFill>
                <a:latin typeface="Times New Roman" pitchFamily="18" charset="0"/>
              </a:rPr>
              <a:t>b)</a:t>
            </a:r>
            <a:r>
              <a:rPr lang="en-US" altLang="zh-CN" sz="1200" b="1" baseline="0" dirty="0">
                <a:solidFill>
                  <a:schemeClr val="bg1"/>
                </a:solidFill>
                <a:latin typeface="Times New Roman" pitchFamily="18" charset="0"/>
              </a:rPr>
              <a:t> </a:t>
            </a:r>
            <a:r>
              <a:rPr lang="zh-CN" altLang="en-US" sz="1200" b="1" baseline="0" dirty="0">
                <a:solidFill>
                  <a:schemeClr val="bg1"/>
                </a:solidFill>
                <a:latin typeface="Times New Roman" pitchFamily="18" charset="0"/>
              </a:rPr>
              <a:t>不存在。即使</a:t>
            </a:r>
            <a:r>
              <a:rPr lang="en-US" altLang="zh-CN" sz="1200" b="1" dirty="0" err="1">
                <a:solidFill>
                  <a:schemeClr val="bg1"/>
                </a:solidFill>
                <a:latin typeface="Times New Roman" pitchFamily="18" charset="0"/>
              </a:rPr>
              <a:t>a</a:t>
            </a:r>
            <a:r>
              <a:rPr kumimoji="0" lang="en-US" altLang="zh-CN" sz="1200" b="1" i="0" u="none" strike="noStrike" cap="none" normalizeH="0" baseline="0" dirty="0" err="1">
                <a:ln>
                  <a:noFill/>
                </a:ln>
                <a:solidFill>
                  <a:schemeClr val="bg1"/>
                </a:solidFill>
                <a:effectLst/>
                <a:latin typeface="Times New Roman" pitchFamily="18" charset="0"/>
              </a:rPr>
              <a:t>rr</a:t>
            </a:r>
            <a:r>
              <a:rPr kumimoji="0" lang="en-US" altLang="zh-CN" sz="1200" b="1" i="0" u="none" strike="noStrike" cap="none" normalizeH="0" baseline="0" dirty="0">
                <a:ln>
                  <a:noFill/>
                </a:ln>
                <a:solidFill>
                  <a:schemeClr val="bg1"/>
                </a:solidFill>
                <a:effectLst/>
                <a:latin typeface="Times New Roman" pitchFamily="18" charset="0"/>
              </a:rPr>
              <a:t>=Null</a:t>
            </a:r>
            <a:r>
              <a:rPr kumimoji="0" lang="zh-CN" altLang="en-US" sz="1200" b="1" i="0" u="none" strike="noStrike" cap="none" normalizeH="0" baseline="0" dirty="0">
                <a:ln>
                  <a:noFill/>
                </a:ln>
                <a:solidFill>
                  <a:schemeClr val="bg1"/>
                </a:solidFill>
                <a:effectLst/>
                <a:latin typeface="Times New Roman" pitchFamily="18" charset="0"/>
              </a:rPr>
              <a:t>，</a:t>
            </a:r>
            <a:r>
              <a:rPr kumimoji="0" lang="en-US" altLang="zh-CN" sz="1200" b="1" i="0" u="none" strike="noStrike" cap="none" normalizeH="0" baseline="0" dirty="0" err="1">
                <a:ln>
                  <a:noFill/>
                </a:ln>
                <a:solidFill>
                  <a:schemeClr val="bg1"/>
                </a:solidFill>
                <a:effectLst/>
                <a:latin typeface="Times New Roman" pitchFamily="18" charset="0"/>
              </a:rPr>
              <a:t>i</a:t>
            </a:r>
            <a:r>
              <a:rPr kumimoji="0" lang="en-US" altLang="zh-CN" sz="1200" b="1" i="0" u="none" strike="noStrike" cap="none" normalizeH="0" baseline="0" dirty="0">
                <a:ln>
                  <a:noFill/>
                </a:ln>
                <a:solidFill>
                  <a:schemeClr val="bg1"/>
                </a:solidFill>
                <a:effectLst/>
                <a:latin typeface="Times New Roman" pitchFamily="18" charset="0"/>
              </a:rPr>
              <a:t>=1</a:t>
            </a:r>
            <a:r>
              <a:rPr kumimoji="0" lang="zh-CN" altLang="en-US" sz="1200" b="1" i="0" u="none" strike="noStrike" cap="none" normalizeH="0" baseline="0" dirty="0">
                <a:ln>
                  <a:noFill/>
                </a:ln>
                <a:solidFill>
                  <a:schemeClr val="bg1"/>
                </a:solidFill>
                <a:effectLst/>
                <a:latin typeface="Times New Roman" pitchFamily="18" charset="0"/>
              </a:rPr>
              <a:t>在判断</a:t>
            </a:r>
            <a:r>
              <a:rPr kumimoji="0" lang="en-US" altLang="zh-CN" sz="1200" b="1" i="0" u="none" strike="noStrike" cap="none" normalizeH="0" baseline="0" dirty="0" err="1">
                <a:ln>
                  <a:noFill/>
                </a:ln>
                <a:solidFill>
                  <a:schemeClr val="bg1"/>
                </a:solidFill>
                <a:effectLst/>
                <a:latin typeface="Times New Roman" pitchFamily="18" charset="0"/>
              </a:rPr>
              <a:t>arr</a:t>
            </a:r>
            <a:r>
              <a:rPr kumimoji="0" lang="zh-CN" altLang="en-US" sz="1200" b="1" i="0" u="none" strike="noStrike" cap="none" normalizeH="0" baseline="0" dirty="0">
                <a:ln>
                  <a:noFill/>
                </a:ln>
                <a:solidFill>
                  <a:schemeClr val="bg1"/>
                </a:solidFill>
                <a:effectLst/>
                <a:latin typeface="Times New Roman" pitchFamily="18" charset="0"/>
              </a:rPr>
              <a:t>长度抛出异常之前执行，已经产生</a:t>
            </a:r>
            <a:r>
              <a:rPr kumimoji="0" lang="en-US" altLang="zh-CN" sz="1200" b="1" i="0" u="none" strike="noStrike" cap="none" normalizeH="0" baseline="0" dirty="0">
                <a:ln>
                  <a:noFill/>
                </a:ln>
                <a:solidFill>
                  <a:schemeClr val="bg1"/>
                </a:solidFill>
                <a:effectLst/>
                <a:latin typeface="Times New Roman" pitchFamily="18" charset="0"/>
              </a:rPr>
              <a:t>error</a:t>
            </a:r>
            <a:r>
              <a:rPr kumimoji="0" lang="zh-CN" altLang="en-US" sz="1200" b="1" i="0" u="none" strike="noStrike" cap="none" normalizeH="0" baseline="0" dirty="0">
                <a:ln>
                  <a:noFill/>
                </a:ln>
                <a:solidFill>
                  <a:schemeClr val="bg1"/>
                </a:solidFill>
                <a:effectLst/>
                <a:latin typeface="Times New Roman" pitchFamily="18" charset="0"/>
              </a:rPr>
              <a:t>。</a:t>
            </a:r>
            <a:endParaRPr kumimoji="0" lang="en-US" altLang="zh-CN" sz="1200" b="1" i="0" u="none" strike="noStrike" cap="none" normalizeH="0" baseline="0" dirty="0">
              <a:ln>
                <a:noFill/>
              </a:ln>
              <a:solidFill>
                <a:schemeClr val="bg1"/>
              </a:solidFill>
              <a:effectLst/>
              <a:latin typeface="Times New Roman" pitchFamily="18" charset="0"/>
            </a:endParaRPr>
          </a:p>
        </p:txBody>
      </p:sp>
      <p:sp>
        <p:nvSpPr>
          <p:cNvPr id="4" name="灯片编号占位符 3"/>
          <p:cNvSpPr>
            <a:spLocks noGrp="1"/>
          </p:cNvSpPr>
          <p:nvPr>
            <p:ph type="sldNum" sz="quarter" idx="10"/>
          </p:nvPr>
        </p:nvSpPr>
        <p:spPr/>
        <p:txBody>
          <a:bodyPr/>
          <a:lstStyle/>
          <a:p>
            <a:pPr>
              <a:defRPr/>
            </a:pPr>
            <a:fld id="{A229CEE7-0F02-44C1-8906-EC6CFDC65F2D}" type="slidenum">
              <a:rPr lang="en-US" smtClean="0"/>
              <a:pPr>
                <a:defRPr/>
              </a:pPr>
              <a:t>9</a:t>
            </a:fld>
            <a:endParaRPr lang="en-US"/>
          </a:p>
        </p:txBody>
      </p:sp>
    </p:spTree>
    <p:extLst>
      <p:ext uri="{BB962C8B-B14F-4D97-AF65-F5344CB8AC3E}">
        <p14:creationId xmlns:p14="http://schemas.microsoft.com/office/powerpoint/2010/main" val="2774143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xfrm>
            <a:off x="461963" y="720725"/>
            <a:ext cx="6391275" cy="3595688"/>
          </a:xfrm>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4">
              <a:defRPr sz="2000" b="1">
                <a:solidFill>
                  <a:srgbClr val="FAFD00"/>
                </a:solidFill>
                <a:latin typeface="Times New Roman" pitchFamily="18" charset="0"/>
              </a:defRPr>
            </a:lvl1pPr>
            <a:lvl2pPr marL="742771" indent="-285681" defTabSz="966554">
              <a:defRPr sz="2000" b="1">
                <a:solidFill>
                  <a:srgbClr val="FAFD00"/>
                </a:solidFill>
                <a:latin typeface="Times New Roman" pitchFamily="18" charset="0"/>
              </a:defRPr>
            </a:lvl2pPr>
            <a:lvl3pPr marL="1142724" indent="-228545" defTabSz="966554">
              <a:defRPr sz="2000" b="1">
                <a:solidFill>
                  <a:srgbClr val="FAFD00"/>
                </a:solidFill>
                <a:latin typeface="Times New Roman" pitchFamily="18" charset="0"/>
              </a:defRPr>
            </a:lvl3pPr>
            <a:lvl4pPr marL="1599813" indent="-228545" defTabSz="966554">
              <a:defRPr sz="2000" b="1">
                <a:solidFill>
                  <a:srgbClr val="FAFD00"/>
                </a:solidFill>
                <a:latin typeface="Times New Roman" pitchFamily="18" charset="0"/>
              </a:defRPr>
            </a:lvl4pPr>
            <a:lvl5pPr marL="2056903" indent="-228545" defTabSz="966554">
              <a:defRPr sz="2000" b="1">
                <a:solidFill>
                  <a:srgbClr val="FAFD00"/>
                </a:solidFill>
                <a:latin typeface="Times New Roman" pitchFamily="18" charset="0"/>
              </a:defRPr>
            </a:lvl5pPr>
            <a:lvl6pPr marL="2513991" indent="-228545" defTabSz="966554" eaLnBrk="0" fontAlgn="base" hangingPunct="0">
              <a:spcBef>
                <a:spcPct val="0"/>
              </a:spcBef>
              <a:spcAft>
                <a:spcPct val="0"/>
              </a:spcAft>
              <a:defRPr sz="2000" b="1">
                <a:solidFill>
                  <a:srgbClr val="FAFD00"/>
                </a:solidFill>
                <a:latin typeface="Times New Roman" pitchFamily="18" charset="0"/>
              </a:defRPr>
            </a:lvl6pPr>
            <a:lvl7pPr marL="2971081" indent="-228545" defTabSz="966554" eaLnBrk="0" fontAlgn="base" hangingPunct="0">
              <a:spcBef>
                <a:spcPct val="0"/>
              </a:spcBef>
              <a:spcAft>
                <a:spcPct val="0"/>
              </a:spcAft>
              <a:defRPr sz="2000" b="1">
                <a:solidFill>
                  <a:srgbClr val="FAFD00"/>
                </a:solidFill>
                <a:latin typeface="Times New Roman" pitchFamily="18" charset="0"/>
              </a:defRPr>
            </a:lvl7pPr>
            <a:lvl8pPr marL="3428169" indent="-228545" defTabSz="966554" eaLnBrk="0" fontAlgn="base" hangingPunct="0">
              <a:spcBef>
                <a:spcPct val="0"/>
              </a:spcBef>
              <a:spcAft>
                <a:spcPct val="0"/>
              </a:spcAft>
              <a:defRPr sz="2000" b="1">
                <a:solidFill>
                  <a:srgbClr val="FAFD00"/>
                </a:solidFill>
                <a:latin typeface="Times New Roman" pitchFamily="18" charset="0"/>
              </a:defRPr>
            </a:lvl8pPr>
            <a:lvl9pPr marL="3885259" indent="-228545" defTabSz="966554" eaLnBrk="0" fontAlgn="base" hangingPunct="0">
              <a:spcBef>
                <a:spcPct val="0"/>
              </a:spcBef>
              <a:spcAft>
                <a:spcPct val="0"/>
              </a:spcAft>
              <a:defRPr sz="2000" b="1">
                <a:solidFill>
                  <a:srgbClr val="FAFD00"/>
                </a:solidFill>
                <a:latin typeface="Times New Roman" pitchFamily="18" charset="0"/>
              </a:defRPr>
            </a:lvl9pPr>
          </a:lstStyle>
          <a:p>
            <a:fld id="{52BD05C9-1463-4D92-8693-C0A510BFADAF}" type="slidenum">
              <a:rPr lang="en-US" sz="1100" b="0">
                <a:solidFill>
                  <a:schemeClr val="tx1"/>
                </a:solidFill>
              </a:rPr>
              <a:pPr/>
              <a:t>12</a:t>
            </a:fld>
            <a:endParaRPr lang="en-US" sz="1100" b="0" dirty="0">
              <a:solidFill>
                <a:schemeClr val="tx1"/>
              </a:solidFill>
            </a:endParaRPr>
          </a:p>
        </p:txBody>
      </p:sp>
    </p:spTree>
    <p:extLst>
      <p:ext uri="{BB962C8B-B14F-4D97-AF65-F5344CB8AC3E}">
        <p14:creationId xmlns:p14="http://schemas.microsoft.com/office/powerpoint/2010/main" val="1278815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1963" y="720725"/>
            <a:ext cx="6391275" cy="3595688"/>
          </a:xfrm>
        </p:spPr>
      </p:sp>
      <p:sp>
        <p:nvSpPr>
          <p:cNvPr id="3" name="Notes Placeholder 2"/>
          <p:cNvSpPr>
            <a:spLocks noGrp="1"/>
          </p:cNvSpPr>
          <p:nvPr>
            <p:ph type="body" idx="1"/>
          </p:nvPr>
        </p:nvSpPr>
        <p:spPr/>
        <p:txBody>
          <a:bodyPr/>
          <a:lstStyle/>
          <a:p>
            <a:r>
              <a:rPr lang="en-US" dirty="0"/>
              <a:t>The</a:t>
            </a:r>
            <a:r>
              <a:rPr lang="en-US" baseline="0" dirty="0"/>
              <a:t> failures can be revealed when the observed final program state has overlap with the incorrect final program state.</a:t>
            </a:r>
          </a:p>
          <a:p>
            <a:r>
              <a:rPr lang="en-US" baseline="0" dirty="0"/>
              <a:t>The question is: should testers check the entire program state? How to observe the incorrect program state in a cost-effective manner.</a:t>
            </a:r>
          </a:p>
          <a:p>
            <a:r>
              <a:rPr lang="en-US" baseline="0" dirty="0"/>
              <a:t>Getting the overlap as big as possible and use the cost as small as possible.</a:t>
            </a:r>
          </a:p>
          <a:p>
            <a:r>
              <a:rPr lang="en-US" altLang="zh-CN" dirty="0"/>
              <a:t>In </a:t>
            </a:r>
            <a:r>
              <a:rPr lang="en-US" altLang="zh-CN" dirty="0">
                <a:hlinkClick r:id="rId3" tooltip="Computing"/>
              </a:rPr>
              <a:t>computing</a:t>
            </a:r>
            <a:r>
              <a:rPr lang="en-US" altLang="zh-CN" dirty="0"/>
              <a:t>, </a:t>
            </a:r>
            <a:r>
              <a:rPr lang="en-US" altLang="zh-CN" dirty="0">
                <a:hlinkClick r:id="rId4" tooltip="Software testing"/>
              </a:rPr>
              <a:t>software testers</a:t>
            </a:r>
            <a:r>
              <a:rPr lang="en-US" altLang="zh-CN" dirty="0"/>
              <a:t> and </a:t>
            </a:r>
            <a:r>
              <a:rPr lang="en-US" altLang="zh-CN" dirty="0">
                <a:hlinkClick r:id="rId5" tooltip="Software engineers"/>
              </a:rPr>
              <a:t>software engineers</a:t>
            </a:r>
            <a:r>
              <a:rPr lang="en-US" altLang="zh-CN" dirty="0"/>
              <a:t> can use an </a:t>
            </a:r>
            <a:r>
              <a:rPr lang="en-US" altLang="zh-CN" b="1" dirty="0"/>
              <a:t>oracle</a:t>
            </a:r>
            <a:r>
              <a:rPr lang="en-US" altLang="zh-CN" dirty="0"/>
              <a:t> as a mechanism for determining whether a test has passed or failed. The use of oracles involves comparing the output(s) of the system under test, for a given </a:t>
            </a:r>
            <a:r>
              <a:rPr lang="en-US" altLang="zh-CN" dirty="0">
                <a:hlinkClick r:id="rId6" tooltip="Test case"/>
              </a:rPr>
              <a:t>test-case</a:t>
            </a:r>
            <a:r>
              <a:rPr lang="en-US" altLang="zh-CN" dirty="0"/>
              <a:t> input, to the output(s) that the oracle determines that product should have.</a:t>
            </a:r>
          </a:p>
          <a:p>
            <a:r>
              <a:rPr lang="en-US" dirty="0"/>
              <a:t>A test oracle uses expected results to decide whether a test passed or failed</a:t>
            </a:r>
          </a:p>
        </p:txBody>
      </p:sp>
      <p:sp>
        <p:nvSpPr>
          <p:cNvPr id="4" name="Slide Number Placeholder 3"/>
          <p:cNvSpPr>
            <a:spLocks noGrp="1"/>
          </p:cNvSpPr>
          <p:nvPr>
            <p:ph type="sldNum" sz="quarter" idx="10"/>
          </p:nvPr>
        </p:nvSpPr>
        <p:spPr/>
        <p:txBody>
          <a:bodyPr/>
          <a:lstStyle/>
          <a:p>
            <a:fld id="{F34AA23D-2477-604E-A752-CB22A82737C6}" type="slidenum">
              <a:rPr lang="en-US" smtClean="0"/>
              <a:t>13</a:t>
            </a:fld>
            <a:endParaRPr lang="en-US"/>
          </a:p>
        </p:txBody>
      </p:sp>
    </p:spTree>
    <p:extLst>
      <p:ext uri="{BB962C8B-B14F-4D97-AF65-F5344CB8AC3E}">
        <p14:creationId xmlns:p14="http://schemas.microsoft.com/office/powerpoint/2010/main" val="3322741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xfrm>
            <a:off x="461963" y="720725"/>
            <a:ext cx="6391275" cy="3595688"/>
          </a:xfrm>
          <a:ln/>
        </p:spPr>
      </p:sp>
      <p:sp>
        <p:nvSpPr>
          <p:cNvPr id="107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75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4">
              <a:defRPr sz="2000" b="1">
                <a:solidFill>
                  <a:srgbClr val="FAFD00"/>
                </a:solidFill>
                <a:latin typeface="Times New Roman" pitchFamily="18" charset="0"/>
              </a:defRPr>
            </a:lvl1pPr>
            <a:lvl2pPr marL="742771" indent="-285681" defTabSz="966554">
              <a:defRPr sz="2000" b="1">
                <a:solidFill>
                  <a:srgbClr val="FAFD00"/>
                </a:solidFill>
                <a:latin typeface="Times New Roman" pitchFamily="18" charset="0"/>
              </a:defRPr>
            </a:lvl2pPr>
            <a:lvl3pPr marL="1142724" indent="-228545" defTabSz="966554">
              <a:defRPr sz="2000" b="1">
                <a:solidFill>
                  <a:srgbClr val="FAFD00"/>
                </a:solidFill>
                <a:latin typeface="Times New Roman" pitchFamily="18" charset="0"/>
              </a:defRPr>
            </a:lvl3pPr>
            <a:lvl4pPr marL="1599813" indent="-228545" defTabSz="966554">
              <a:defRPr sz="2000" b="1">
                <a:solidFill>
                  <a:srgbClr val="FAFD00"/>
                </a:solidFill>
                <a:latin typeface="Times New Roman" pitchFamily="18" charset="0"/>
              </a:defRPr>
            </a:lvl4pPr>
            <a:lvl5pPr marL="2056903" indent="-228545" defTabSz="966554">
              <a:defRPr sz="2000" b="1">
                <a:solidFill>
                  <a:srgbClr val="FAFD00"/>
                </a:solidFill>
                <a:latin typeface="Times New Roman" pitchFamily="18" charset="0"/>
              </a:defRPr>
            </a:lvl5pPr>
            <a:lvl6pPr marL="2513991" indent="-228545" defTabSz="966554" eaLnBrk="0" fontAlgn="base" hangingPunct="0">
              <a:spcBef>
                <a:spcPct val="0"/>
              </a:spcBef>
              <a:spcAft>
                <a:spcPct val="0"/>
              </a:spcAft>
              <a:defRPr sz="2000" b="1">
                <a:solidFill>
                  <a:srgbClr val="FAFD00"/>
                </a:solidFill>
                <a:latin typeface="Times New Roman" pitchFamily="18" charset="0"/>
              </a:defRPr>
            </a:lvl6pPr>
            <a:lvl7pPr marL="2971081" indent="-228545" defTabSz="966554" eaLnBrk="0" fontAlgn="base" hangingPunct="0">
              <a:spcBef>
                <a:spcPct val="0"/>
              </a:spcBef>
              <a:spcAft>
                <a:spcPct val="0"/>
              </a:spcAft>
              <a:defRPr sz="2000" b="1">
                <a:solidFill>
                  <a:srgbClr val="FAFD00"/>
                </a:solidFill>
                <a:latin typeface="Times New Roman" pitchFamily="18" charset="0"/>
              </a:defRPr>
            </a:lvl7pPr>
            <a:lvl8pPr marL="3428169" indent="-228545" defTabSz="966554" eaLnBrk="0" fontAlgn="base" hangingPunct="0">
              <a:spcBef>
                <a:spcPct val="0"/>
              </a:spcBef>
              <a:spcAft>
                <a:spcPct val="0"/>
              </a:spcAft>
              <a:defRPr sz="2000" b="1">
                <a:solidFill>
                  <a:srgbClr val="FAFD00"/>
                </a:solidFill>
                <a:latin typeface="Times New Roman" pitchFamily="18" charset="0"/>
              </a:defRPr>
            </a:lvl8pPr>
            <a:lvl9pPr marL="3885259" indent="-228545" defTabSz="966554" eaLnBrk="0" fontAlgn="base" hangingPunct="0">
              <a:spcBef>
                <a:spcPct val="0"/>
              </a:spcBef>
              <a:spcAft>
                <a:spcPct val="0"/>
              </a:spcAft>
              <a:defRPr sz="2000" b="1">
                <a:solidFill>
                  <a:srgbClr val="FAFD00"/>
                </a:solidFill>
                <a:latin typeface="Times New Roman" pitchFamily="18" charset="0"/>
              </a:defRPr>
            </a:lvl9pPr>
          </a:lstStyle>
          <a:p>
            <a:fld id="{4F7B323A-C264-4927-B995-9F9E50231A96}" type="slidenum">
              <a:rPr lang="en-US" sz="1100" b="0">
                <a:solidFill>
                  <a:schemeClr val="tx1"/>
                </a:solidFill>
              </a:rPr>
              <a:pPr/>
              <a:t>14</a:t>
            </a:fld>
            <a:endParaRPr lang="en-US" sz="1100" b="0" dirty="0">
              <a:solidFill>
                <a:schemeClr val="tx1"/>
              </a:solidFill>
            </a:endParaRPr>
          </a:p>
        </p:txBody>
      </p:sp>
    </p:spTree>
    <p:extLst>
      <p:ext uri="{BB962C8B-B14F-4D97-AF65-F5344CB8AC3E}">
        <p14:creationId xmlns:p14="http://schemas.microsoft.com/office/powerpoint/2010/main" val="963648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r>
              <a:rPr lang="en-US" altLang="zh-CN" dirty="0"/>
              <a:t>1.</a:t>
            </a:r>
            <a:r>
              <a:rPr lang="zh-CN" altLang="en-US" dirty="0"/>
              <a:t>没做应该做的</a:t>
            </a:r>
            <a:endParaRPr lang="en-US" altLang="zh-CN" dirty="0"/>
          </a:p>
          <a:p>
            <a:r>
              <a:rPr lang="en-US" altLang="zh-CN" dirty="0"/>
              <a:t>2.</a:t>
            </a:r>
            <a:r>
              <a:rPr lang="zh-CN" altLang="en-US" dirty="0"/>
              <a:t>做了不应该做的</a:t>
            </a:r>
            <a:endParaRPr lang="en-US" altLang="zh-CN" dirty="0"/>
          </a:p>
          <a:p>
            <a:r>
              <a:rPr lang="en-US" altLang="zh-CN" dirty="0"/>
              <a:t>3.</a:t>
            </a:r>
            <a:r>
              <a:rPr lang="zh-CN" altLang="en-US" dirty="0"/>
              <a:t>做了没提到的</a:t>
            </a:r>
            <a:endParaRPr lang="en-US" altLang="zh-CN" dirty="0"/>
          </a:p>
          <a:p>
            <a:r>
              <a:rPr lang="en-US" altLang="zh-CN" dirty="0"/>
              <a:t>4.</a:t>
            </a:r>
            <a:r>
              <a:rPr lang="zh-CN" altLang="en-US" dirty="0"/>
              <a:t>没做没提到的但应该做的</a:t>
            </a:r>
            <a:endParaRPr lang="en-US" altLang="zh-CN" dirty="0"/>
          </a:p>
          <a:p>
            <a:r>
              <a:rPr lang="en-US" altLang="zh-CN" dirty="0"/>
              <a:t>5.</a:t>
            </a:r>
            <a:r>
              <a:rPr lang="zh-CN" altLang="en-US" dirty="0"/>
              <a:t>难于理解和使用</a:t>
            </a:r>
            <a:endParaRPr lang="en-US" altLang="zh-CN" dirty="0"/>
          </a:p>
        </p:txBody>
      </p:sp>
      <p:sp>
        <p:nvSpPr>
          <p:cNvPr id="4" name="灯片编号占位符 3"/>
          <p:cNvSpPr>
            <a:spLocks noGrp="1"/>
          </p:cNvSpPr>
          <p:nvPr>
            <p:ph type="sldNum" sz="quarter" idx="10"/>
          </p:nvPr>
        </p:nvSpPr>
        <p:spPr/>
        <p:txBody>
          <a:bodyPr/>
          <a:lstStyle/>
          <a:p>
            <a:pPr>
              <a:defRPr/>
            </a:pPr>
            <a:fld id="{A229CEE7-0F02-44C1-8906-EC6CFDC65F2D}" type="slidenum">
              <a:rPr lang="en-US" smtClean="0"/>
              <a:pPr>
                <a:defRPr/>
              </a:pPr>
              <a:t>17</a:t>
            </a:fld>
            <a:endParaRPr lang="en-US"/>
          </a:p>
        </p:txBody>
      </p:sp>
    </p:spTree>
    <p:extLst>
      <p:ext uri="{BB962C8B-B14F-4D97-AF65-F5344CB8AC3E}">
        <p14:creationId xmlns:p14="http://schemas.microsoft.com/office/powerpoint/2010/main" val="2394656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r>
              <a:rPr lang="en-US" altLang="zh-CN" dirty="0"/>
              <a:t>The specification for a calculator probably states that it will perform correct addition, subtraction, multiplication, and division. </a:t>
            </a:r>
          </a:p>
          <a:p>
            <a:pPr marL="171450" indent="-171450">
              <a:buFont typeface="Arial" panose="020B0604020202020204" pitchFamily="34" charset="0"/>
              <a:buChar char="•"/>
            </a:pPr>
            <a:r>
              <a:rPr lang="en-US" altLang="zh-CN" dirty="0"/>
              <a:t>If you, as the tester, receive the calculator, press the + key, and nothing happens, that's a bug because of Rule #1. If you get the wrong answer, that's also a bug because of Rule #1.</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ltLang="zh-CN" dirty="0"/>
              <a:t>The product spec might state that the calculator should never crash, lock up, or freeze. If you pound on the keys and get the calculator to stop responding to your input, that's a bug because of Rule #2.</a:t>
            </a:r>
          </a:p>
          <a:p>
            <a:pPr marL="171450" indent="-171450">
              <a:buFont typeface="Arial" panose="020B0604020202020204" pitchFamily="34" charset="0"/>
              <a:buChar char="•"/>
            </a:pPr>
            <a:r>
              <a:rPr lang="en-US" altLang="zh-CN" dirty="0"/>
              <a:t>Suppose that you receive the calculator for testing and find that besides addition, subtraction, multiplication, and division, it also performs square roots. Nowhere was this ever specified. An ambitious programmer just threw it in because he felt it would be a great feature. This isn‘t a feature,</a:t>
            </a:r>
            <a:r>
              <a:rPr lang="en-US" altLang="zh-CN" baseline="0" dirty="0"/>
              <a:t> </a:t>
            </a:r>
            <a:r>
              <a:rPr lang="en-US" altLang="zh-CN" dirty="0"/>
              <a:t>it's really a bug because of Rule #3. The software is doing something that the product specification didn't mention. This unintended operation, although maybe nice to have, will add to the test effort and will likely introduce even more bugs.</a:t>
            </a:r>
          </a:p>
          <a:p>
            <a:pPr marL="171450" indent="-171450">
              <a:buFont typeface="Arial" panose="020B0604020202020204" pitchFamily="34" charset="0"/>
              <a:buChar char="•"/>
            </a:pPr>
            <a:r>
              <a:rPr lang="en-US" altLang="zh-CN" dirty="0"/>
              <a:t>The fourth rule may read a bit strange with its double negatives, but its purpose is to catch things that were forgotten in the specification. You start testing the calculator and discover when the battery gets weak that you no longer receive correct answers to your calculations. No one ever considered how the calculator should react in this mode. A bad assumption was made that the batteries would always be fully charged. You expected it to keep working until the batteries were completely dead, or at least notify you in some way that they were weak. Correct calculations didn't happen with weak batteries, and it wasn't specified what should happen. Rule #4 makes this a bug.</a:t>
            </a:r>
          </a:p>
          <a:p>
            <a:pPr marL="171450" indent="-171450">
              <a:buFont typeface="Arial" panose="020B0604020202020204" pitchFamily="34" charset="0"/>
              <a:buChar char="•"/>
            </a:pPr>
            <a:r>
              <a:rPr lang="en-US" altLang="zh-CN" dirty="0"/>
              <a:t>Rule #5 is the catch-all. As a tester you are the first person to really use the software. If you weren't there, it would be the customer using the product for the first time. If you find something that you don't feel is right, for whatever reason, it's a bug. In the case of the calculator, maybe you found that the buttons were too small. Maybe the placement of the = key made it hard to use. Maybe the display was difficult to read under bright lights. All of these are bugs because of Rule #5.</a:t>
            </a:r>
          </a:p>
          <a:p>
            <a:endParaRPr lang="zh-CN" altLang="en-US" dirty="0"/>
          </a:p>
        </p:txBody>
      </p:sp>
      <p:sp>
        <p:nvSpPr>
          <p:cNvPr id="4" name="灯片编号占位符 3"/>
          <p:cNvSpPr>
            <a:spLocks noGrp="1"/>
          </p:cNvSpPr>
          <p:nvPr>
            <p:ph type="sldNum" sz="quarter" idx="5"/>
          </p:nvPr>
        </p:nvSpPr>
        <p:spPr/>
        <p:txBody>
          <a:bodyPr/>
          <a:lstStyle/>
          <a:p>
            <a:pPr>
              <a:defRPr/>
            </a:pPr>
            <a:fld id="{A229CEE7-0F02-44C1-8906-EC6CFDC65F2D}" type="slidenum">
              <a:rPr lang="en-US" smtClean="0"/>
              <a:pPr>
                <a:defRPr/>
              </a:pPr>
              <a:t>18</a:t>
            </a:fld>
            <a:endParaRPr lang="en-US"/>
          </a:p>
        </p:txBody>
      </p:sp>
    </p:spTree>
    <p:extLst>
      <p:ext uri="{BB962C8B-B14F-4D97-AF65-F5344CB8AC3E}">
        <p14:creationId xmlns:p14="http://schemas.microsoft.com/office/powerpoint/2010/main" val="2841352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Times New Roman" pitchFamily="18" charset="0"/>
                <a:ea typeface="+mn-ea"/>
                <a:cs typeface="+mn-cs"/>
              </a:rPr>
              <a:t>COTS: Commercial Off-The-Shelf </a:t>
            </a:r>
            <a:r>
              <a:rPr lang="zh-CN" altLang="en-US" sz="1200" b="0" i="0" kern="1200" dirty="0">
                <a:solidFill>
                  <a:schemeClr val="tx1"/>
                </a:solidFill>
                <a:effectLst/>
                <a:latin typeface="Times New Roman" pitchFamily="18" charset="0"/>
                <a:ea typeface="+mn-ea"/>
                <a:cs typeface="+mn-cs"/>
              </a:rPr>
              <a:t>商用现成品或技术</a:t>
            </a:r>
            <a:endParaRPr lang="zh-CN" altLang="en-US" dirty="0"/>
          </a:p>
        </p:txBody>
      </p:sp>
      <p:sp>
        <p:nvSpPr>
          <p:cNvPr id="4" name="灯片编号占位符 3"/>
          <p:cNvSpPr>
            <a:spLocks noGrp="1"/>
          </p:cNvSpPr>
          <p:nvPr>
            <p:ph type="sldNum" sz="quarter" idx="5"/>
          </p:nvPr>
        </p:nvSpPr>
        <p:spPr/>
        <p:txBody>
          <a:bodyPr/>
          <a:lstStyle/>
          <a:p>
            <a:pPr>
              <a:defRPr/>
            </a:pPr>
            <a:fld id="{A229CEE7-0F02-44C1-8906-EC6CFDC65F2D}" type="slidenum">
              <a:rPr lang="en-US" smtClean="0"/>
              <a:pPr>
                <a:defRPr/>
              </a:pPr>
              <a:t>19</a:t>
            </a:fld>
            <a:endParaRPr lang="en-US"/>
          </a:p>
        </p:txBody>
      </p:sp>
    </p:spTree>
    <p:extLst>
      <p:ext uri="{BB962C8B-B14F-4D97-AF65-F5344CB8AC3E}">
        <p14:creationId xmlns:p14="http://schemas.microsoft.com/office/powerpoint/2010/main" val="927435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r>
              <a:rPr lang="en-US" altLang="zh-CN" dirty="0"/>
              <a:t>Example of software that often have low controllability: </a:t>
            </a:r>
          </a:p>
          <a:p>
            <a:pPr marL="171450" indent="-171450">
              <a:buFont typeface="Arial" panose="020B0604020202020204" pitchFamily="34" charset="0"/>
              <a:buChar char="•"/>
            </a:pPr>
            <a:r>
              <a:rPr lang="en-US" altLang="zh-CN" dirty="0"/>
              <a:t>Embedded software often gets its inputs from hardware sensors: Difficult to control, Some inputs may be difficult, dangerous, or impossible to supply </a:t>
            </a:r>
          </a:p>
          <a:p>
            <a:pPr marL="171450" indent="-171450">
              <a:buFont typeface="Arial" panose="020B0604020202020204" pitchFamily="34" charset="0"/>
              <a:buChar char="•"/>
            </a:pPr>
            <a:r>
              <a:rPr lang="en-US" altLang="zh-CN" dirty="0"/>
              <a:t>Component-based software </a:t>
            </a:r>
          </a:p>
          <a:p>
            <a:pPr marL="171450" indent="-171450">
              <a:buFont typeface="Arial" panose="020B0604020202020204" pitchFamily="34" charset="0"/>
              <a:buChar char="•"/>
            </a:pPr>
            <a:r>
              <a:rPr lang="en-US" altLang="zh-CN" dirty="0"/>
              <a:t>Distributed software </a:t>
            </a:r>
          </a:p>
          <a:p>
            <a:pPr marL="171450" indent="-171450">
              <a:buFont typeface="Arial" panose="020B0604020202020204" pitchFamily="34" charset="0"/>
              <a:buChar char="•"/>
            </a:pPr>
            <a:r>
              <a:rPr lang="en-US" altLang="zh-CN" dirty="0"/>
              <a:t>Web applications </a:t>
            </a:r>
          </a:p>
          <a:p>
            <a:pPr marL="171450" indent="-171450">
              <a:buFont typeface="Arial" panose="020B0604020202020204" pitchFamily="34" charset="0"/>
              <a:buChar char="•"/>
            </a:pPr>
            <a:r>
              <a:rPr lang="en-US" altLang="zh-CN" dirty="0"/>
              <a:t>Mobile applications</a:t>
            </a:r>
          </a:p>
          <a:p>
            <a:pPr marL="171450" indent="-171450">
              <a:buFont typeface="Arial" panose="020B0604020202020204" pitchFamily="34" charset="0"/>
              <a:buChar char="•"/>
            </a:pPr>
            <a:endParaRPr lang="en-US" altLang="zh-CN" dirty="0"/>
          </a:p>
          <a:p>
            <a:pPr marL="0" indent="0">
              <a:buFont typeface="Arial" panose="020B0604020202020204" pitchFamily="34" charset="0"/>
              <a:buNone/>
            </a:pPr>
            <a:r>
              <a:rPr lang="en-US" altLang="zh-CN" dirty="0"/>
              <a:t>Example of software that often have low observability: </a:t>
            </a:r>
          </a:p>
          <a:p>
            <a:pPr marL="171450" indent="-171450">
              <a:buFont typeface="Arial" panose="020B0604020202020204" pitchFamily="34" charset="0"/>
              <a:buChar char="•"/>
            </a:pPr>
            <a:r>
              <a:rPr lang="en-US" altLang="zh-CN" dirty="0"/>
              <a:t>Embedded software often does not produce output for human consumption </a:t>
            </a:r>
          </a:p>
          <a:p>
            <a:pPr marL="171450" indent="-171450">
              <a:buFont typeface="Arial" panose="020B0604020202020204" pitchFamily="34" charset="0"/>
              <a:buChar char="•"/>
            </a:pPr>
            <a:r>
              <a:rPr lang="en-US" altLang="zh-CN" dirty="0"/>
              <a:t>Component-based software </a:t>
            </a:r>
          </a:p>
          <a:p>
            <a:pPr marL="171450" indent="-171450">
              <a:buFont typeface="Arial" panose="020B0604020202020204" pitchFamily="34" charset="0"/>
              <a:buChar char="•"/>
            </a:pPr>
            <a:r>
              <a:rPr lang="en-US" altLang="zh-CN" dirty="0"/>
              <a:t>Distributed software </a:t>
            </a:r>
          </a:p>
          <a:p>
            <a:pPr marL="171450" indent="-171450">
              <a:buFont typeface="Arial" panose="020B0604020202020204" pitchFamily="34" charset="0"/>
              <a:buChar char="•"/>
            </a:pPr>
            <a:r>
              <a:rPr lang="en-US" altLang="zh-CN" dirty="0"/>
              <a:t>Web applications </a:t>
            </a:r>
          </a:p>
          <a:p>
            <a:pPr marL="171450" indent="-171450">
              <a:buFont typeface="Arial" panose="020B0604020202020204" pitchFamily="34" charset="0"/>
              <a:buChar char="•"/>
            </a:pPr>
            <a:r>
              <a:rPr lang="en-US" altLang="zh-CN" dirty="0"/>
              <a:t>Mobile applications</a:t>
            </a:r>
            <a:endParaRPr lang="zh-CN" altLang="en-US" dirty="0"/>
          </a:p>
        </p:txBody>
      </p:sp>
      <p:sp>
        <p:nvSpPr>
          <p:cNvPr id="4" name="灯片编号占位符 3"/>
          <p:cNvSpPr>
            <a:spLocks noGrp="1"/>
          </p:cNvSpPr>
          <p:nvPr>
            <p:ph type="sldNum" sz="quarter" idx="5"/>
          </p:nvPr>
        </p:nvSpPr>
        <p:spPr/>
        <p:txBody>
          <a:bodyPr/>
          <a:lstStyle/>
          <a:p>
            <a:pPr>
              <a:defRPr/>
            </a:pPr>
            <a:fld id="{A229CEE7-0F02-44C1-8906-EC6CFDC65F2D}" type="slidenum">
              <a:rPr lang="en-US" smtClean="0"/>
              <a:pPr>
                <a:defRPr/>
              </a:pPr>
              <a:t>22</a:t>
            </a:fld>
            <a:endParaRPr lang="en-US"/>
          </a:p>
        </p:txBody>
      </p:sp>
    </p:spTree>
    <p:extLst>
      <p:ext uri="{BB962C8B-B14F-4D97-AF65-F5344CB8AC3E}">
        <p14:creationId xmlns:p14="http://schemas.microsoft.com/office/powerpoint/2010/main" val="291376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r>
              <a:rPr lang="en-US" altLang="zh-CN" dirty="0"/>
              <a:t>In April 1990, the Hubble space telescope was launched into orbit around the Earth. As a reflective telescope, Hubble uses a large mirror as its primary means to magnify the objects it's aiming at. The construction of the mirror was a huge undertaking requiring extreme precision and accuracy. Testing of the mirror was difficult since the telescope was designed for use in space and couldn't be positioned or even viewed through while it was still on Earth. For this reason, the only means to test it was to carefully measure all its attributes and compare the measurements with what was specified. This testing was performed and Hubble was declared fit for launch.</a:t>
            </a:r>
          </a:p>
          <a:p>
            <a:r>
              <a:rPr lang="en-US" altLang="zh-CN" dirty="0"/>
              <a:t>Unfortunately, soon after it was put into operation, the images it returned were found to be out of focus. An investigation discovered that the mirror was improperly manufactured. The mirror was ground according to the specification, but the specification was wrong. The mirror was extremely precise, but it wasn't accurate. Testing had confirmed that the mirror met the spec </a:t>
            </a:r>
            <a:r>
              <a:rPr lang="en-US" altLang="zh-CN" dirty="0" err="1"/>
              <a:t>verificationbut</a:t>
            </a:r>
            <a:r>
              <a:rPr lang="en-US" altLang="zh-CN" dirty="0"/>
              <a:t> it didn't confirm that it met the original requirement validation.</a:t>
            </a:r>
          </a:p>
          <a:p>
            <a:r>
              <a:rPr lang="en-US" altLang="zh-CN" dirty="0"/>
              <a:t>In 1993, a space shuttle mission repaired the Hubble telescope by installing a "corrective lens" to refocus the image generated by the improperly manufactured mirror.</a:t>
            </a:r>
          </a:p>
          <a:p>
            <a:r>
              <a:rPr lang="en-US" altLang="zh-CN" dirty="0"/>
              <a:t>Although this is a not a software example, </a:t>
            </a:r>
            <a:r>
              <a:rPr lang="en-US" altLang="zh-CN" dirty="0">
                <a:effectLst/>
              </a:rPr>
              <a:t>verification</a:t>
            </a:r>
            <a:r>
              <a:rPr lang="en-US" altLang="zh-CN" dirty="0"/>
              <a:t> and validation apply equally well to software testing. Never assume that the specification is correct. If you verify the spec and validate the final product, you help avoid problems such as the one that hit the Hubble telescope.</a:t>
            </a:r>
          </a:p>
          <a:p>
            <a:endParaRPr lang="zh-CN" altLang="en-US" dirty="0"/>
          </a:p>
        </p:txBody>
      </p:sp>
      <p:sp>
        <p:nvSpPr>
          <p:cNvPr id="4" name="灯片编号占位符 3"/>
          <p:cNvSpPr>
            <a:spLocks noGrp="1"/>
          </p:cNvSpPr>
          <p:nvPr>
            <p:ph type="sldNum" sz="quarter" idx="10"/>
          </p:nvPr>
        </p:nvSpPr>
        <p:spPr/>
        <p:txBody>
          <a:bodyPr/>
          <a:lstStyle/>
          <a:p>
            <a:pPr>
              <a:defRPr/>
            </a:pPr>
            <a:fld id="{A229CEE7-0F02-44C1-8906-EC6CFDC65F2D}" type="slidenum">
              <a:rPr lang="en-US" smtClean="0"/>
              <a:pPr>
                <a:defRPr/>
              </a:pPr>
              <a:t>28</a:t>
            </a:fld>
            <a:endParaRPr lang="en-US"/>
          </a:p>
        </p:txBody>
      </p:sp>
    </p:spTree>
    <p:extLst>
      <p:ext uri="{BB962C8B-B14F-4D97-AF65-F5344CB8AC3E}">
        <p14:creationId xmlns:p14="http://schemas.microsoft.com/office/powerpoint/2010/main" val="1453646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xfrm>
            <a:off x="461963" y="720725"/>
            <a:ext cx="6391275" cy="3595688"/>
          </a:xfrm>
          <a:ln/>
        </p:spPr>
      </p:sp>
      <p:sp>
        <p:nvSpPr>
          <p:cNvPr id="1249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249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47B8C6A4-7882-4ED1-BF46-611F8E8FBC50}" type="slidenum">
              <a:rPr lang="en-US" sz="1200" b="0">
                <a:solidFill>
                  <a:schemeClr val="tx1"/>
                </a:solidFill>
              </a:rPr>
              <a:pPr/>
              <a:t>30</a:t>
            </a:fld>
            <a:endParaRPr lang="en-US" sz="1200" b="0" dirty="0">
              <a:solidFill>
                <a:schemeClr val="tx1"/>
              </a:solidFill>
            </a:endParaRPr>
          </a:p>
        </p:txBody>
      </p:sp>
    </p:spTree>
    <p:extLst>
      <p:ext uri="{BB962C8B-B14F-4D97-AF65-F5344CB8AC3E}">
        <p14:creationId xmlns:p14="http://schemas.microsoft.com/office/powerpoint/2010/main" val="2032910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a:xfrm>
            <a:off x="461963" y="720725"/>
            <a:ext cx="6391275" cy="3595688"/>
          </a:xfrm>
          <a:ln/>
        </p:spPr>
      </p:sp>
      <p:sp>
        <p:nvSpPr>
          <p:cNvPr id="1259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259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539FF093-77DE-4EEA-9E48-ED6D7438DC41}" type="slidenum">
              <a:rPr lang="en-US" sz="1200" b="0">
                <a:solidFill>
                  <a:schemeClr val="tx1"/>
                </a:solidFill>
              </a:rPr>
              <a:pPr/>
              <a:t>31</a:t>
            </a:fld>
            <a:endParaRPr lang="en-US" sz="1200" b="0" dirty="0">
              <a:solidFill>
                <a:schemeClr val="tx1"/>
              </a:solidFill>
            </a:endParaRPr>
          </a:p>
        </p:txBody>
      </p:sp>
    </p:spTree>
    <p:extLst>
      <p:ext uri="{BB962C8B-B14F-4D97-AF65-F5344CB8AC3E}">
        <p14:creationId xmlns:p14="http://schemas.microsoft.com/office/powerpoint/2010/main" val="4046479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a:xfrm>
            <a:off x="461963" y="720725"/>
            <a:ext cx="6391275" cy="3595688"/>
          </a:xfrm>
          <a:ln/>
        </p:spPr>
      </p:sp>
      <p:sp>
        <p:nvSpPr>
          <p:cNvPr id="1269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69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6264078F-FE4B-4656-9E68-9DD4C4A1D576}" type="slidenum">
              <a:rPr lang="en-US" sz="1200" b="0">
                <a:solidFill>
                  <a:schemeClr val="tx1"/>
                </a:solidFill>
              </a:rPr>
              <a:pPr/>
              <a:t>32</a:t>
            </a:fld>
            <a:endParaRPr lang="en-US" sz="1200" b="0" dirty="0">
              <a:solidFill>
                <a:schemeClr val="tx1"/>
              </a:solidFill>
            </a:endParaRPr>
          </a:p>
        </p:txBody>
      </p:sp>
    </p:spTree>
    <p:extLst>
      <p:ext uri="{BB962C8B-B14F-4D97-AF65-F5344CB8AC3E}">
        <p14:creationId xmlns:p14="http://schemas.microsoft.com/office/powerpoint/2010/main" val="3902291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a:xfrm>
            <a:off x="461963" y="720725"/>
            <a:ext cx="6391275" cy="3595688"/>
          </a:xfrm>
          <a:ln/>
        </p:spPr>
      </p:sp>
      <p:sp>
        <p:nvSpPr>
          <p:cNvPr id="1280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80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E5BAE39E-47E4-4CC3-85A8-14F1A9589D19}" type="slidenum">
              <a:rPr lang="en-US" sz="1200" b="0">
                <a:solidFill>
                  <a:schemeClr val="tx1"/>
                </a:solidFill>
              </a:rPr>
              <a:pPr/>
              <a:t>33</a:t>
            </a:fld>
            <a:endParaRPr lang="en-US" sz="1200" b="0" dirty="0">
              <a:solidFill>
                <a:schemeClr val="tx1"/>
              </a:solidFill>
            </a:endParaRPr>
          </a:p>
        </p:txBody>
      </p:sp>
    </p:spTree>
    <p:extLst>
      <p:ext uri="{BB962C8B-B14F-4D97-AF65-F5344CB8AC3E}">
        <p14:creationId xmlns:p14="http://schemas.microsoft.com/office/powerpoint/2010/main" val="906644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a:xfrm>
            <a:off x="461963" y="720725"/>
            <a:ext cx="6391275" cy="3595688"/>
          </a:xfrm>
          <a:ln/>
        </p:spPr>
      </p:sp>
      <p:sp>
        <p:nvSpPr>
          <p:cNvPr id="1290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90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E11115EC-066B-47F5-A3AE-B4E35BE54408}" type="slidenum">
              <a:rPr lang="en-US" sz="1200" b="0">
                <a:solidFill>
                  <a:schemeClr val="tx1"/>
                </a:solidFill>
              </a:rPr>
              <a:pPr/>
              <a:t>34</a:t>
            </a:fld>
            <a:endParaRPr lang="en-US" sz="1200" b="0" dirty="0">
              <a:solidFill>
                <a:schemeClr val="tx1"/>
              </a:solidFill>
            </a:endParaRPr>
          </a:p>
        </p:txBody>
      </p:sp>
    </p:spTree>
    <p:extLst>
      <p:ext uri="{BB962C8B-B14F-4D97-AF65-F5344CB8AC3E}">
        <p14:creationId xmlns:p14="http://schemas.microsoft.com/office/powerpoint/2010/main" val="31016833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a:xfrm>
            <a:off x="461963" y="720725"/>
            <a:ext cx="6391275" cy="3595688"/>
          </a:xfrm>
          <a:ln/>
        </p:spPr>
      </p:sp>
      <p:sp>
        <p:nvSpPr>
          <p:cNvPr id="1300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00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C49A233B-3A20-4DCE-838A-11417D8A9314}" type="slidenum">
              <a:rPr lang="en-US" sz="1200" b="0">
                <a:solidFill>
                  <a:schemeClr val="tx1"/>
                </a:solidFill>
              </a:rPr>
              <a:pPr/>
              <a:t>35</a:t>
            </a:fld>
            <a:endParaRPr lang="en-US" sz="1200" b="0" dirty="0">
              <a:solidFill>
                <a:schemeClr val="tx1"/>
              </a:solidFill>
            </a:endParaRPr>
          </a:p>
        </p:txBody>
      </p:sp>
    </p:spTree>
    <p:extLst>
      <p:ext uri="{BB962C8B-B14F-4D97-AF65-F5344CB8AC3E}">
        <p14:creationId xmlns:p14="http://schemas.microsoft.com/office/powerpoint/2010/main" val="2794593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xfrm>
            <a:off x="461963" y="720725"/>
            <a:ext cx="6391275" cy="3595688"/>
          </a:xfrm>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1BA4DD20-5A92-49F1-82CF-E5463814DFE1}" type="slidenum">
              <a:rPr lang="en-US" sz="1200" b="0">
                <a:solidFill>
                  <a:schemeClr val="tx1"/>
                </a:solidFill>
              </a:rPr>
              <a:pPr/>
              <a:t>38</a:t>
            </a:fld>
            <a:endParaRPr lang="en-US" sz="1200" b="0" dirty="0">
              <a:solidFill>
                <a:schemeClr val="tx1"/>
              </a:solidFill>
            </a:endParaRPr>
          </a:p>
        </p:txBody>
      </p:sp>
    </p:spTree>
    <p:extLst>
      <p:ext uri="{BB962C8B-B14F-4D97-AF65-F5344CB8AC3E}">
        <p14:creationId xmlns:p14="http://schemas.microsoft.com/office/powerpoint/2010/main" val="18732937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xfrm>
            <a:off x="461963" y="720725"/>
            <a:ext cx="6391275" cy="3595688"/>
          </a:xfrm>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557">
              <a:defRPr sz="2000" b="1">
                <a:solidFill>
                  <a:srgbClr val="FAFD00"/>
                </a:solidFill>
                <a:latin typeface="Times New Roman" pitchFamily="18" charset="0"/>
              </a:defRPr>
            </a:lvl1pPr>
            <a:lvl2pPr marL="742773" indent="-285682" defTabSz="966557">
              <a:defRPr sz="2000" b="1">
                <a:solidFill>
                  <a:srgbClr val="FAFD00"/>
                </a:solidFill>
                <a:latin typeface="Times New Roman" pitchFamily="18" charset="0"/>
              </a:defRPr>
            </a:lvl2pPr>
            <a:lvl3pPr marL="1142727" indent="-228546" defTabSz="966557">
              <a:defRPr sz="2000" b="1">
                <a:solidFill>
                  <a:srgbClr val="FAFD00"/>
                </a:solidFill>
                <a:latin typeface="Times New Roman" pitchFamily="18" charset="0"/>
              </a:defRPr>
            </a:lvl3pPr>
            <a:lvl4pPr marL="1599817" indent="-228546" defTabSz="966557">
              <a:defRPr sz="2000" b="1">
                <a:solidFill>
                  <a:srgbClr val="FAFD00"/>
                </a:solidFill>
                <a:latin typeface="Times New Roman" pitchFamily="18" charset="0"/>
              </a:defRPr>
            </a:lvl4pPr>
            <a:lvl5pPr marL="2056909" indent="-228546" defTabSz="966557">
              <a:defRPr sz="2000" b="1">
                <a:solidFill>
                  <a:srgbClr val="FAFD00"/>
                </a:solidFill>
                <a:latin typeface="Times New Roman" pitchFamily="18" charset="0"/>
              </a:defRPr>
            </a:lvl5pPr>
            <a:lvl6pPr marL="2513999" indent="-228546" defTabSz="966557" eaLnBrk="0" fontAlgn="base" hangingPunct="0">
              <a:spcBef>
                <a:spcPct val="0"/>
              </a:spcBef>
              <a:spcAft>
                <a:spcPct val="0"/>
              </a:spcAft>
              <a:defRPr sz="2000" b="1">
                <a:solidFill>
                  <a:srgbClr val="FAFD00"/>
                </a:solidFill>
                <a:latin typeface="Times New Roman" pitchFamily="18" charset="0"/>
              </a:defRPr>
            </a:lvl6pPr>
            <a:lvl7pPr marL="2971089" indent="-228546" defTabSz="966557" eaLnBrk="0" fontAlgn="base" hangingPunct="0">
              <a:spcBef>
                <a:spcPct val="0"/>
              </a:spcBef>
              <a:spcAft>
                <a:spcPct val="0"/>
              </a:spcAft>
              <a:defRPr sz="2000" b="1">
                <a:solidFill>
                  <a:srgbClr val="FAFD00"/>
                </a:solidFill>
                <a:latin typeface="Times New Roman" pitchFamily="18" charset="0"/>
              </a:defRPr>
            </a:lvl7pPr>
            <a:lvl8pPr marL="3428179" indent="-228546" defTabSz="966557" eaLnBrk="0" fontAlgn="base" hangingPunct="0">
              <a:spcBef>
                <a:spcPct val="0"/>
              </a:spcBef>
              <a:spcAft>
                <a:spcPct val="0"/>
              </a:spcAft>
              <a:defRPr sz="2000" b="1">
                <a:solidFill>
                  <a:srgbClr val="FAFD00"/>
                </a:solidFill>
                <a:latin typeface="Times New Roman" pitchFamily="18" charset="0"/>
              </a:defRPr>
            </a:lvl8pPr>
            <a:lvl9pPr marL="3885270" indent="-228546" defTabSz="966557" eaLnBrk="0" fontAlgn="base" hangingPunct="0">
              <a:spcBef>
                <a:spcPct val="0"/>
              </a:spcBef>
              <a:spcAft>
                <a:spcPct val="0"/>
              </a:spcAft>
              <a:defRPr sz="2000" b="1">
                <a:solidFill>
                  <a:srgbClr val="FAFD00"/>
                </a:solidFill>
                <a:latin typeface="Times New Roman" pitchFamily="18" charset="0"/>
              </a:defRPr>
            </a:lvl9pPr>
          </a:lstStyle>
          <a:p>
            <a:fld id="{B433AADF-8190-484E-803F-83061C378020}" type="slidenum">
              <a:rPr lang="en-US" sz="1200" b="0">
                <a:solidFill>
                  <a:schemeClr val="tx1"/>
                </a:solidFill>
              </a:rPr>
              <a:pPr/>
              <a:t>39</a:t>
            </a:fld>
            <a:endParaRPr lang="en-US" sz="1200" b="0" dirty="0">
              <a:solidFill>
                <a:schemeClr val="tx1"/>
              </a:solidFill>
            </a:endParaRPr>
          </a:p>
        </p:txBody>
      </p:sp>
    </p:spTree>
    <p:extLst>
      <p:ext uri="{BB962C8B-B14F-4D97-AF65-F5344CB8AC3E}">
        <p14:creationId xmlns:p14="http://schemas.microsoft.com/office/powerpoint/2010/main" val="18677398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1963" y="720725"/>
            <a:ext cx="6391275" cy="3595688"/>
          </a:xfrm>
        </p:spPr>
      </p:sp>
      <p:sp>
        <p:nvSpPr>
          <p:cNvPr id="3" name="Notes Placeholder 2"/>
          <p:cNvSpPr>
            <a:spLocks noGrp="1"/>
          </p:cNvSpPr>
          <p:nvPr>
            <p:ph type="body" idx="1"/>
          </p:nvPr>
        </p:nvSpPr>
        <p:spPr/>
        <p:txBody>
          <a:bodyPr>
            <a:normAutofit/>
          </a:bodyPr>
          <a:lstStyle/>
          <a:p>
            <a:r>
              <a:rPr lang="en-US" dirty="0"/>
              <a:t>28-Oct-2010,</a:t>
            </a:r>
            <a:r>
              <a:rPr lang="en-US" baseline="0" dirty="0"/>
              <a:t> at GTAC, added the animation to demonstrate increasing the number of faults found early, thereby decreasing the number of faults found late, and finally saving money. Lots of it! This animation is fairly complicated … must practice first!!</a:t>
            </a:r>
            <a:endParaRPr lang="en-US" dirty="0"/>
          </a:p>
        </p:txBody>
      </p:sp>
      <p:sp>
        <p:nvSpPr>
          <p:cNvPr id="4" name="Slide Number Placeholder 3"/>
          <p:cNvSpPr>
            <a:spLocks noGrp="1"/>
          </p:cNvSpPr>
          <p:nvPr>
            <p:ph type="sldNum" sz="quarter" idx="10"/>
          </p:nvPr>
        </p:nvSpPr>
        <p:spPr/>
        <p:txBody>
          <a:bodyPr/>
          <a:lstStyle/>
          <a:p>
            <a:pPr>
              <a:defRPr/>
            </a:pPr>
            <a:fld id="{F6FB9554-397F-48F2-9E50-3D9FEE38E095}" type="slidenum">
              <a:rPr lang="zh-CN" altLang="en-US" smtClean="0"/>
              <a:pPr>
                <a:defRPr/>
              </a:pPr>
              <a:t>40</a:t>
            </a:fld>
            <a:endParaRPr lang="en-US" altLang="zh-CN"/>
          </a:p>
        </p:txBody>
      </p:sp>
    </p:spTree>
    <p:extLst>
      <p:ext uri="{BB962C8B-B14F-4D97-AF65-F5344CB8AC3E}">
        <p14:creationId xmlns:p14="http://schemas.microsoft.com/office/powerpoint/2010/main" val="16615596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229CEE7-0F02-44C1-8906-EC6CFDC65F2D}" type="slidenum">
              <a:rPr lang="en-US" smtClean="0"/>
              <a:pPr>
                <a:defRPr/>
              </a:pPr>
              <a:t>41</a:t>
            </a:fld>
            <a:endParaRPr lang="en-US"/>
          </a:p>
        </p:txBody>
      </p:sp>
    </p:spTree>
    <p:extLst>
      <p:ext uri="{BB962C8B-B14F-4D97-AF65-F5344CB8AC3E}">
        <p14:creationId xmlns:p14="http://schemas.microsoft.com/office/powerpoint/2010/main" val="3255166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dirty="0"/>
          </a:p>
        </p:txBody>
      </p:sp>
      <p:sp>
        <p:nvSpPr>
          <p:cNvPr id="5"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07012E1F-CC9B-4A24-8835-E097471CC596}" type="slidenum">
              <a:rPr lang="en-US"/>
              <a:pPr>
                <a:defRPr/>
              </a:pPr>
              <a:t>‹#›</a:t>
            </a:fld>
            <a:endParaRPr lang="en-US" dirty="0"/>
          </a:p>
        </p:txBody>
      </p:sp>
    </p:spTree>
    <p:extLst>
      <p:ext uri="{BB962C8B-B14F-4D97-AF65-F5344CB8AC3E}">
        <p14:creationId xmlns:p14="http://schemas.microsoft.com/office/powerpoint/2010/main" val="112606507"/>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118534" y="829994"/>
            <a:ext cx="11954933" cy="57312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7189" y="6568158"/>
            <a:ext cx="5126567" cy="246062"/>
          </a:xfrm>
          <a:prstGeom prst="rect">
            <a:avLst/>
          </a:prstGeom>
        </p:spPr>
        <p:txBody>
          <a:bodyPr/>
          <a:lstStyle>
            <a:lvl1pPr>
              <a:defRPr/>
            </a:lvl1pPr>
          </a:lstStyle>
          <a:p>
            <a:pPr>
              <a:defRPr/>
            </a:pPr>
            <a:r>
              <a:rPr lang="en-US" altLang="zh-CN"/>
              <a:t>Introduction to Software Testing, Edition 2  (Ch 1)</a:t>
            </a:r>
            <a:endParaRPr lang="en-US" u="sng" dirty="0"/>
          </a:p>
        </p:txBody>
      </p:sp>
      <p:sp>
        <p:nvSpPr>
          <p:cNvPr id="5" name="Footer Placeholder 4"/>
          <p:cNvSpPr>
            <a:spLocks noGrp="1"/>
          </p:cNvSpPr>
          <p:nvPr>
            <p:ph type="ftr" sz="quarter" idx="11"/>
          </p:nvPr>
        </p:nvSpPr>
        <p:spPr>
          <a:xfrm>
            <a:off x="5473700" y="6560220"/>
            <a:ext cx="3860800" cy="254000"/>
          </a:xfrm>
          <a:prstGeom prst="rect">
            <a:avLst/>
          </a:prstGeom>
        </p:spPr>
        <p:txBody>
          <a:bodyPr/>
          <a:lstStyle>
            <a:lvl1pPr>
              <a:defRPr/>
            </a:lvl1pPr>
          </a:lstStyle>
          <a:p>
            <a:pPr>
              <a:defRPr/>
            </a:pPr>
            <a:r>
              <a:rPr lang="en-US"/>
              <a:t>© Ammann &amp; Offutt</a:t>
            </a:r>
          </a:p>
        </p:txBody>
      </p:sp>
      <p:sp>
        <p:nvSpPr>
          <p:cNvPr id="6" name="Slide Number Placeholder 5"/>
          <p:cNvSpPr>
            <a:spLocks noGrp="1"/>
          </p:cNvSpPr>
          <p:nvPr>
            <p:ph type="sldNum" sz="quarter" idx="12"/>
          </p:nvPr>
        </p:nvSpPr>
        <p:spPr/>
        <p:txBody>
          <a:bodyPr/>
          <a:lstStyle>
            <a:lvl1pPr>
              <a:defRPr/>
            </a:lvl1pPr>
          </a:lstStyle>
          <a:p>
            <a:pPr>
              <a:defRPr/>
            </a:pPr>
            <a:fld id="{7F4B1FAA-A740-404F-BBC5-7C153B666279}" type="slidenum">
              <a:rPr lang="en-US"/>
              <a:pPr>
                <a:defRPr/>
              </a:pPr>
              <a:t>‹#›</a:t>
            </a:fld>
            <a:endParaRPr lang="en-US"/>
          </a:p>
        </p:txBody>
      </p:sp>
    </p:spTree>
    <p:extLst>
      <p:ext uri="{BB962C8B-B14F-4D97-AF65-F5344CB8AC3E}">
        <p14:creationId xmlns:p14="http://schemas.microsoft.com/office/powerpoint/2010/main" val="29261451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a:p>
        </p:txBody>
      </p:sp>
      <p:sp>
        <p:nvSpPr>
          <p:cNvPr id="5"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F186E679-5245-4D04-9B5E-6F7A762A63FA}" type="slidenum">
              <a:rPr lang="en-US"/>
              <a:pPr>
                <a:defRPr/>
              </a:pPr>
              <a:t>‹#›</a:t>
            </a:fld>
            <a:endParaRPr lang="en-US" dirty="0"/>
          </a:p>
        </p:txBody>
      </p:sp>
    </p:spTree>
    <p:extLst>
      <p:ext uri="{BB962C8B-B14F-4D97-AF65-F5344CB8AC3E}">
        <p14:creationId xmlns:p14="http://schemas.microsoft.com/office/powerpoint/2010/main" val="105539137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84152" y="1085850"/>
            <a:ext cx="5810249" cy="5291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85850"/>
            <a:ext cx="5810251" cy="5291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a:p>
        </p:txBody>
      </p:sp>
      <p:sp>
        <p:nvSpPr>
          <p:cNvPr id="6"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AAA56877-A1FA-486C-970B-A787F06937FA}" type="slidenum">
              <a:rPr lang="en-US"/>
              <a:pPr>
                <a:defRPr/>
              </a:pPr>
              <a:t>‹#›</a:t>
            </a:fld>
            <a:endParaRPr lang="en-US" dirty="0"/>
          </a:p>
        </p:txBody>
      </p:sp>
    </p:spTree>
    <p:extLst>
      <p:ext uri="{BB962C8B-B14F-4D97-AF65-F5344CB8AC3E}">
        <p14:creationId xmlns:p14="http://schemas.microsoft.com/office/powerpoint/2010/main" val="1130088219"/>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a:p>
        </p:txBody>
      </p:sp>
      <p:sp>
        <p:nvSpPr>
          <p:cNvPr id="8"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9" name="Rectangle 4"/>
          <p:cNvSpPr>
            <a:spLocks noGrp="1" noChangeArrowheads="1"/>
          </p:cNvSpPr>
          <p:nvPr>
            <p:ph type="sldNum" sz="quarter" idx="12"/>
          </p:nvPr>
        </p:nvSpPr>
        <p:spPr>
          <a:ln/>
        </p:spPr>
        <p:txBody>
          <a:bodyPr/>
          <a:lstStyle>
            <a:lvl1pPr>
              <a:defRPr/>
            </a:lvl1pPr>
          </a:lstStyle>
          <a:p>
            <a:pPr>
              <a:defRPr/>
            </a:pPr>
            <a:fld id="{E3621A5C-439D-4C05-8267-ECDE5013612F}" type="slidenum">
              <a:rPr lang="en-US"/>
              <a:pPr>
                <a:defRPr/>
              </a:pPr>
              <a:t>‹#›</a:t>
            </a:fld>
            <a:endParaRPr lang="en-US" dirty="0"/>
          </a:p>
        </p:txBody>
      </p:sp>
    </p:spTree>
    <p:extLst>
      <p:ext uri="{BB962C8B-B14F-4D97-AF65-F5344CB8AC3E}">
        <p14:creationId xmlns:p14="http://schemas.microsoft.com/office/powerpoint/2010/main" val="258451712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a:p>
        </p:txBody>
      </p:sp>
      <p:sp>
        <p:nvSpPr>
          <p:cNvPr id="4"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5" name="Rectangle 4"/>
          <p:cNvSpPr>
            <a:spLocks noGrp="1" noChangeArrowheads="1"/>
          </p:cNvSpPr>
          <p:nvPr>
            <p:ph type="sldNum" sz="quarter" idx="12"/>
          </p:nvPr>
        </p:nvSpPr>
        <p:spPr>
          <a:ln/>
        </p:spPr>
        <p:txBody>
          <a:bodyPr/>
          <a:lstStyle>
            <a:lvl1pPr>
              <a:defRPr/>
            </a:lvl1pPr>
          </a:lstStyle>
          <a:p>
            <a:pPr>
              <a:defRPr/>
            </a:pPr>
            <a:fld id="{7CA1E189-A5E4-460C-B525-E80730F3D25C}" type="slidenum">
              <a:rPr lang="en-US"/>
              <a:pPr>
                <a:defRPr/>
              </a:pPr>
              <a:t>‹#›</a:t>
            </a:fld>
            <a:endParaRPr lang="en-US" dirty="0"/>
          </a:p>
        </p:txBody>
      </p:sp>
    </p:spTree>
    <p:extLst>
      <p:ext uri="{BB962C8B-B14F-4D97-AF65-F5344CB8AC3E}">
        <p14:creationId xmlns:p14="http://schemas.microsoft.com/office/powerpoint/2010/main" val="318766061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a:p>
        </p:txBody>
      </p:sp>
      <p:sp>
        <p:nvSpPr>
          <p:cNvPr id="3"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4" name="Rectangle 4"/>
          <p:cNvSpPr>
            <a:spLocks noGrp="1" noChangeArrowheads="1"/>
          </p:cNvSpPr>
          <p:nvPr>
            <p:ph type="sldNum" sz="quarter" idx="12"/>
          </p:nvPr>
        </p:nvSpPr>
        <p:spPr>
          <a:ln/>
        </p:spPr>
        <p:txBody>
          <a:bodyPr/>
          <a:lstStyle>
            <a:lvl1pPr>
              <a:defRPr/>
            </a:lvl1pPr>
          </a:lstStyle>
          <a:p>
            <a:pPr>
              <a:defRPr/>
            </a:pPr>
            <a:fld id="{8CA59007-A7D2-484D-B045-20F01AFEB211}" type="slidenum">
              <a:rPr lang="en-US"/>
              <a:pPr>
                <a:defRPr/>
              </a:pPr>
              <a:t>‹#›</a:t>
            </a:fld>
            <a:endParaRPr lang="en-US" dirty="0"/>
          </a:p>
        </p:txBody>
      </p:sp>
    </p:spTree>
    <p:extLst>
      <p:ext uri="{BB962C8B-B14F-4D97-AF65-F5344CB8AC3E}">
        <p14:creationId xmlns:p14="http://schemas.microsoft.com/office/powerpoint/2010/main" val="329568135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a:p>
        </p:txBody>
      </p:sp>
      <p:sp>
        <p:nvSpPr>
          <p:cNvPr id="6"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31E1680B-D5C9-49AC-83D2-20D4FD564E49}" type="slidenum">
              <a:rPr lang="en-US"/>
              <a:pPr>
                <a:defRPr/>
              </a:pPr>
              <a:t>‹#›</a:t>
            </a:fld>
            <a:endParaRPr lang="en-US" dirty="0"/>
          </a:p>
        </p:txBody>
      </p:sp>
    </p:spTree>
    <p:extLst>
      <p:ext uri="{BB962C8B-B14F-4D97-AF65-F5344CB8AC3E}">
        <p14:creationId xmlns:p14="http://schemas.microsoft.com/office/powerpoint/2010/main" val="107478849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a:p>
        </p:txBody>
      </p:sp>
      <p:sp>
        <p:nvSpPr>
          <p:cNvPr id="6"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4DF3C506-278B-4869-9411-0A8C8B40EDB9}" type="slidenum">
              <a:rPr lang="en-US"/>
              <a:pPr>
                <a:defRPr/>
              </a:pPr>
              <a:t>‹#›</a:t>
            </a:fld>
            <a:endParaRPr lang="en-US" dirty="0"/>
          </a:p>
        </p:txBody>
      </p:sp>
    </p:spTree>
    <p:extLst>
      <p:ext uri="{BB962C8B-B14F-4D97-AF65-F5344CB8AC3E}">
        <p14:creationId xmlns:p14="http://schemas.microsoft.com/office/powerpoint/2010/main" val="399990351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a:p>
        </p:txBody>
      </p:sp>
      <p:sp>
        <p:nvSpPr>
          <p:cNvPr id="5"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09EA3BD3-2509-4F01-9114-521231456D67}" type="slidenum">
              <a:rPr lang="en-US"/>
              <a:pPr>
                <a:defRPr/>
              </a:pPr>
              <a:t>‹#›</a:t>
            </a:fld>
            <a:endParaRPr lang="en-US" dirty="0"/>
          </a:p>
        </p:txBody>
      </p:sp>
    </p:spTree>
    <p:extLst>
      <p:ext uri="{BB962C8B-B14F-4D97-AF65-F5344CB8AC3E}">
        <p14:creationId xmlns:p14="http://schemas.microsoft.com/office/powerpoint/2010/main" val="219046267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52984" y="96838"/>
            <a:ext cx="2954867" cy="62801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84152" y="96838"/>
            <a:ext cx="8665633" cy="62801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xfrm>
            <a:off x="47189" y="6568158"/>
            <a:ext cx="5126567" cy="246062"/>
          </a:xfrm>
          <a:prstGeom prst="rect">
            <a:avLst/>
          </a:prstGeom>
          <a:ln/>
        </p:spPr>
        <p:txBody>
          <a:bodyPr/>
          <a:lstStyle>
            <a:lvl1pPr>
              <a:defRPr/>
            </a:lvl1pPr>
          </a:lstStyle>
          <a:p>
            <a:pPr>
              <a:defRPr/>
            </a:pPr>
            <a:r>
              <a:rPr lang="en-US" altLang="zh-CN"/>
              <a:t>Introduction to Software Testing, Edition 2  (Ch 1)</a:t>
            </a:r>
            <a:endParaRPr lang="en-US"/>
          </a:p>
        </p:txBody>
      </p:sp>
      <p:sp>
        <p:nvSpPr>
          <p:cNvPr id="5" name="Rectangle 3"/>
          <p:cNvSpPr>
            <a:spLocks noGrp="1" noChangeArrowheads="1"/>
          </p:cNvSpPr>
          <p:nvPr>
            <p:ph type="ftr" sz="quarter" idx="11"/>
          </p:nvPr>
        </p:nvSpPr>
        <p:spPr>
          <a:xfrm>
            <a:off x="5473700" y="6560220"/>
            <a:ext cx="3860800" cy="254000"/>
          </a:xfrm>
          <a:prstGeom prst="rect">
            <a:avLst/>
          </a:prstGeom>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4AECF888-7503-4D3E-BC7A-0F436AE46021}" type="slidenum">
              <a:rPr lang="en-US"/>
              <a:pPr>
                <a:defRPr/>
              </a:pPr>
              <a:t>‹#›</a:t>
            </a:fld>
            <a:endParaRPr lang="en-US" dirty="0"/>
          </a:p>
        </p:txBody>
      </p:sp>
    </p:spTree>
    <p:extLst>
      <p:ext uri="{BB962C8B-B14F-4D97-AF65-F5344CB8AC3E}">
        <p14:creationId xmlns:p14="http://schemas.microsoft.com/office/powerpoint/2010/main" val="207822480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46275"/>
                <a:invGamma/>
              </a:schemeClr>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47189" y="6568158"/>
            <a:ext cx="5126567" cy="246062"/>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defRPr sz="900" b="0">
                <a:solidFill>
                  <a:schemeClr val="tx1"/>
                </a:solidFill>
              </a:defRPr>
            </a:lvl1pPr>
          </a:lstStyle>
          <a:p>
            <a:pPr>
              <a:defRPr/>
            </a:pPr>
            <a:r>
              <a:rPr lang="en-US" altLang="zh-CN" dirty="0"/>
              <a:t>Introduction to Software Testing, Edition 2  (Ch 1)</a:t>
            </a:r>
            <a:endParaRPr lang="en-US" dirty="0"/>
          </a:p>
        </p:txBody>
      </p:sp>
      <p:sp>
        <p:nvSpPr>
          <p:cNvPr id="1027" name="Rectangle 3"/>
          <p:cNvSpPr>
            <a:spLocks noGrp="1" noChangeArrowheads="1"/>
          </p:cNvSpPr>
          <p:nvPr>
            <p:ph type="ftr" sz="quarter" idx="3"/>
          </p:nvPr>
        </p:nvSpPr>
        <p:spPr bwMode="auto">
          <a:xfrm>
            <a:off x="5473700" y="6560220"/>
            <a:ext cx="3860800" cy="254000"/>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lgn="ctr">
              <a:defRPr sz="900" b="0">
                <a:solidFill>
                  <a:schemeClr val="tx1"/>
                </a:solidFill>
              </a:defRPr>
            </a:lvl1pPr>
          </a:lstStyle>
          <a:p>
            <a:pPr>
              <a:defRPr/>
            </a:pPr>
            <a:r>
              <a:rPr lang="en-US"/>
              <a:t>© Ammann &amp; Offutt</a:t>
            </a:r>
          </a:p>
        </p:txBody>
      </p:sp>
      <p:sp>
        <p:nvSpPr>
          <p:cNvPr id="1028" name="Rectangle 4"/>
          <p:cNvSpPr>
            <a:spLocks noGrp="1" noChangeArrowheads="1"/>
          </p:cNvSpPr>
          <p:nvPr>
            <p:ph type="sldNum" sz="quarter" idx="4"/>
          </p:nvPr>
        </p:nvSpPr>
        <p:spPr bwMode="auto">
          <a:xfrm>
            <a:off x="9592733" y="6552284"/>
            <a:ext cx="2540000" cy="261937"/>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lgn="r">
              <a:defRPr sz="900" b="0">
                <a:solidFill>
                  <a:schemeClr val="tx1"/>
                </a:solidFill>
              </a:defRPr>
            </a:lvl1pPr>
          </a:lstStyle>
          <a:p>
            <a:pPr>
              <a:defRPr/>
            </a:pPr>
            <a:fld id="{80BDDBD9-5CD3-45F3-80AE-704B15C07F06}" type="slidenum">
              <a:rPr lang="en-US"/>
              <a:pPr>
                <a:defRPr/>
              </a:pPr>
              <a:t>‹#›</a:t>
            </a:fld>
            <a:endParaRPr lang="en-US" dirty="0"/>
          </a:p>
        </p:txBody>
      </p:sp>
      <p:sp>
        <p:nvSpPr>
          <p:cNvPr id="2053" name="Rectangle 5"/>
          <p:cNvSpPr>
            <a:spLocks noGrp="1" noChangeArrowheads="1"/>
          </p:cNvSpPr>
          <p:nvPr>
            <p:ph type="title"/>
          </p:nvPr>
        </p:nvSpPr>
        <p:spPr bwMode="auto">
          <a:xfrm>
            <a:off x="63500" y="96839"/>
            <a:ext cx="12065000" cy="869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2054" name="Rectangle 6"/>
          <p:cNvSpPr>
            <a:spLocks noGrp="1" noChangeArrowheads="1"/>
          </p:cNvSpPr>
          <p:nvPr>
            <p:ph type="body" idx="1"/>
          </p:nvPr>
        </p:nvSpPr>
        <p:spPr bwMode="auto">
          <a:xfrm>
            <a:off x="63500" y="950496"/>
            <a:ext cx="12065000" cy="5556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 </a:t>
            </a:r>
          </a:p>
          <a:p>
            <a:pPr lvl="2"/>
            <a:r>
              <a:rPr lang="en-US" dirty="0"/>
              <a:t>Third level</a:t>
            </a:r>
          </a:p>
          <a:p>
            <a:pPr lvl="3"/>
            <a:r>
              <a:rPr lang="en-US" dirty="0"/>
              <a:t>Fourth level </a:t>
            </a:r>
          </a:p>
          <a:p>
            <a:pPr lvl="4"/>
            <a:r>
              <a:rPr lang="en-US" dirty="0"/>
              <a:t>Fifth level </a:t>
            </a:r>
          </a:p>
        </p:txBody>
      </p:sp>
      <p:sp>
        <p:nvSpPr>
          <p:cNvPr id="8" name="Line 10"/>
          <p:cNvSpPr>
            <a:spLocks noChangeShapeType="1"/>
          </p:cNvSpPr>
          <p:nvPr userDrawn="1"/>
        </p:nvSpPr>
        <p:spPr bwMode="auto">
          <a:xfrm>
            <a:off x="-1" y="729143"/>
            <a:ext cx="12158444" cy="0"/>
          </a:xfrm>
          <a:prstGeom prst="line">
            <a:avLst/>
          </a:prstGeom>
          <a:noFill/>
          <a:ln w="57150">
            <a:solidFill>
              <a:srgbClr val="009900"/>
            </a:solidFill>
            <a:round/>
            <a:headEnd/>
            <a:tailEnd/>
          </a:ln>
          <a:effectLst/>
        </p:spPr>
        <p:txBody>
          <a:bodyPr/>
          <a:lstStyle/>
          <a:p>
            <a:pPr>
              <a:defRPr/>
            </a:pPr>
            <a:endParaRPr lang="en-US" sz="2000"/>
          </a:p>
        </p:txBody>
      </p:sp>
    </p:spTree>
  </p:cSld>
  <p:clrMap bg1="dk2" tx1="lt1" bg2="dk1" tx2="lt2" accent1="accent1" accent2="accent2" accent3="accent3" accent4="accent4" accent5="accent5" accent6="accent6" hlink="hlink" folHlink="folHlink"/>
  <p:sldLayoutIdLst>
    <p:sldLayoutId id="2147484046" r:id="rId1"/>
    <p:sldLayoutId id="214748405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ransition spd="med"/>
  <p:hf hdr="0" ftr="0" dt="0"/>
  <p:txStyles>
    <p:titleStyle>
      <a:lvl1pPr algn="ctr" rtl="0" eaLnBrk="0" fontAlgn="base" hangingPunct="0">
        <a:lnSpc>
          <a:spcPct val="90000"/>
        </a:lnSpc>
        <a:spcBef>
          <a:spcPct val="0"/>
        </a:spcBef>
        <a:spcAft>
          <a:spcPct val="0"/>
        </a:spcAft>
        <a:defRPr sz="3600" b="1">
          <a:solidFill>
            <a:schemeClr val="tx2"/>
          </a:solidFill>
          <a:effectLst>
            <a:outerShdw blurRad="38100" dist="38100" dir="2700000" algn="tl">
              <a:srgbClr val="000000">
                <a:alpha val="43137"/>
              </a:srgbClr>
            </a:outerShdw>
          </a:effectLst>
          <a:latin typeface="Verdana" pitchFamily="34" charset="0"/>
          <a:ea typeface="+mj-ea"/>
          <a:cs typeface="+mj-cs"/>
        </a:defRPr>
      </a:lvl1pPr>
      <a:lvl2pPr algn="ctr" rtl="0" eaLnBrk="0" fontAlgn="base" hangingPunct="0">
        <a:lnSpc>
          <a:spcPct val="90000"/>
        </a:lnSpc>
        <a:spcBef>
          <a:spcPct val="0"/>
        </a:spcBef>
        <a:spcAft>
          <a:spcPct val="0"/>
        </a:spcAft>
        <a:defRPr sz="3600" b="1">
          <a:solidFill>
            <a:schemeClr val="tx2"/>
          </a:solidFill>
          <a:latin typeface="Times New Roman" pitchFamily="18" charset="0"/>
        </a:defRPr>
      </a:lvl2pPr>
      <a:lvl3pPr algn="ctr" rtl="0" eaLnBrk="0" fontAlgn="base" hangingPunct="0">
        <a:lnSpc>
          <a:spcPct val="90000"/>
        </a:lnSpc>
        <a:spcBef>
          <a:spcPct val="0"/>
        </a:spcBef>
        <a:spcAft>
          <a:spcPct val="0"/>
        </a:spcAft>
        <a:defRPr sz="3600" b="1">
          <a:solidFill>
            <a:schemeClr val="tx2"/>
          </a:solidFill>
          <a:latin typeface="Times New Roman" pitchFamily="18" charset="0"/>
        </a:defRPr>
      </a:lvl3pPr>
      <a:lvl4pPr algn="ctr" rtl="0" eaLnBrk="0" fontAlgn="base" hangingPunct="0">
        <a:lnSpc>
          <a:spcPct val="90000"/>
        </a:lnSpc>
        <a:spcBef>
          <a:spcPct val="0"/>
        </a:spcBef>
        <a:spcAft>
          <a:spcPct val="0"/>
        </a:spcAft>
        <a:defRPr sz="3600" b="1">
          <a:solidFill>
            <a:schemeClr val="tx2"/>
          </a:solidFill>
          <a:latin typeface="Times New Roman" pitchFamily="18" charset="0"/>
        </a:defRPr>
      </a:lvl4pPr>
      <a:lvl5pPr algn="ctr" rtl="0" eaLnBrk="0" fontAlgn="base" hangingPunct="0">
        <a:lnSpc>
          <a:spcPct val="90000"/>
        </a:lnSpc>
        <a:spcBef>
          <a:spcPct val="0"/>
        </a:spcBef>
        <a:spcAft>
          <a:spcPct val="0"/>
        </a:spcAft>
        <a:defRPr sz="3600" b="1">
          <a:solidFill>
            <a:schemeClr val="tx2"/>
          </a:solidFill>
          <a:latin typeface="Times New Roman" pitchFamily="18" charset="0"/>
        </a:defRPr>
      </a:lvl5pPr>
      <a:lvl6pPr marL="457200" algn="ctr" rtl="0" eaLnBrk="0" fontAlgn="base" hangingPunct="0">
        <a:lnSpc>
          <a:spcPct val="90000"/>
        </a:lnSpc>
        <a:spcBef>
          <a:spcPct val="0"/>
        </a:spcBef>
        <a:spcAft>
          <a:spcPct val="0"/>
        </a:spcAft>
        <a:defRPr sz="3600" b="1">
          <a:solidFill>
            <a:schemeClr val="tx2"/>
          </a:solidFill>
          <a:latin typeface="Times New Roman" pitchFamily="18" charset="0"/>
        </a:defRPr>
      </a:lvl6pPr>
      <a:lvl7pPr marL="914400" algn="ctr" rtl="0" eaLnBrk="0" fontAlgn="base" hangingPunct="0">
        <a:lnSpc>
          <a:spcPct val="90000"/>
        </a:lnSpc>
        <a:spcBef>
          <a:spcPct val="0"/>
        </a:spcBef>
        <a:spcAft>
          <a:spcPct val="0"/>
        </a:spcAft>
        <a:defRPr sz="3600" b="1">
          <a:solidFill>
            <a:schemeClr val="tx2"/>
          </a:solidFill>
          <a:latin typeface="Times New Roman" pitchFamily="18" charset="0"/>
        </a:defRPr>
      </a:lvl7pPr>
      <a:lvl8pPr marL="1371600" algn="ctr" rtl="0" eaLnBrk="0" fontAlgn="base" hangingPunct="0">
        <a:lnSpc>
          <a:spcPct val="90000"/>
        </a:lnSpc>
        <a:spcBef>
          <a:spcPct val="0"/>
        </a:spcBef>
        <a:spcAft>
          <a:spcPct val="0"/>
        </a:spcAft>
        <a:defRPr sz="3600" b="1">
          <a:solidFill>
            <a:schemeClr val="tx2"/>
          </a:solidFill>
          <a:latin typeface="Times New Roman" pitchFamily="18" charset="0"/>
        </a:defRPr>
      </a:lvl8pPr>
      <a:lvl9pPr marL="1828800" algn="ctr" rtl="0" eaLnBrk="0" fontAlgn="base" hangingPunct="0">
        <a:lnSpc>
          <a:spcPct val="90000"/>
        </a:lnSpc>
        <a:spcBef>
          <a:spcPct val="0"/>
        </a:spcBef>
        <a:spcAft>
          <a:spcPct val="0"/>
        </a:spcAft>
        <a:defRPr sz="3600" b="1">
          <a:solidFill>
            <a:schemeClr val="tx2"/>
          </a:solidFill>
          <a:latin typeface="Times New Roman" pitchFamily="18" charset="0"/>
        </a:defRPr>
      </a:lvl9pPr>
    </p:titleStyle>
    <p:bodyStyle>
      <a:lvl1pPr marL="285750" indent="-285750" algn="l" rtl="0" eaLnBrk="0" fontAlgn="base" hangingPunct="0">
        <a:lnSpc>
          <a:spcPct val="90000"/>
        </a:lnSpc>
        <a:spcBef>
          <a:spcPct val="30000"/>
        </a:spcBef>
        <a:spcAft>
          <a:spcPct val="0"/>
        </a:spcAft>
        <a:buSzPct val="75000"/>
        <a:buFont typeface="Monotype Sorts" charset="2"/>
        <a:buChar char="n"/>
        <a:defRPr sz="2800" b="0">
          <a:solidFill>
            <a:schemeClr val="tx1"/>
          </a:solidFill>
          <a:latin typeface="Gill Sans MT"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image" Target="../media/image12.wmf"/><Relationship Id="rId3" Type="http://schemas.openxmlformats.org/officeDocument/2006/relationships/image" Target="../media/image2.png"/><Relationship Id="rId7" Type="http://schemas.openxmlformats.org/officeDocument/2006/relationships/image" Target="../media/image6.emf"/><Relationship Id="rId12" Type="http://schemas.openxmlformats.org/officeDocument/2006/relationships/image" Target="../media/image11.w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0.emf"/><Relationship Id="rId5" Type="http://schemas.openxmlformats.org/officeDocument/2006/relationships/image" Target="../media/image4.jpeg"/><Relationship Id="rId15" Type="http://schemas.openxmlformats.org/officeDocument/2006/relationships/image" Target="../media/image14.wmf"/><Relationship Id="rId10" Type="http://schemas.openxmlformats.org/officeDocument/2006/relationships/image" Target="../media/image9.emf"/><Relationship Id="rId4" Type="http://schemas.openxmlformats.org/officeDocument/2006/relationships/image" Target="../media/image3.png"/><Relationship Id="rId9" Type="http://schemas.openxmlformats.org/officeDocument/2006/relationships/image" Target="../media/image8.emf"/><Relationship Id="rId14" Type="http://schemas.openxmlformats.org/officeDocument/2006/relationships/image" Target="../media/image13.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dirty="0"/>
              <a:t>Chapter 1 </a:t>
            </a:r>
            <a:r>
              <a:rPr lang="en-US" altLang="zh-CN" dirty="0"/>
              <a:t>Introduction</a:t>
            </a:r>
            <a:endParaRPr lang="en-US" dirty="0"/>
          </a:p>
        </p:txBody>
      </p:sp>
      <p:sp>
        <p:nvSpPr>
          <p:cNvPr id="2" name="副标题 1"/>
          <p:cNvSpPr>
            <a:spLocks noGrp="1"/>
          </p:cNvSpPr>
          <p:nvPr>
            <p:ph type="subTitle" idx="1"/>
          </p:nvPr>
        </p:nvSpPr>
        <p:spPr/>
        <p:txBody>
          <a:bodyPr/>
          <a:lstStyle/>
          <a:p>
            <a:r>
              <a:rPr lang="en-US" altLang="zh-CN" dirty="0"/>
              <a:t>Why Do We Test Software?</a:t>
            </a:r>
            <a:endParaRPr lang="zh-CN" altLang="en-US"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397A71-D51D-41D3-8726-25CF95697A91}"/>
              </a:ext>
            </a:extLst>
          </p:cNvPr>
          <p:cNvSpPr>
            <a:spLocks noGrp="1"/>
          </p:cNvSpPr>
          <p:nvPr>
            <p:ph type="title"/>
          </p:nvPr>
        </p:nvSpPr>
        <p:spPr/>
        <p:txBody>
          <a:bodyPr/>
          <a:lstStyle/>
          <a:p>
            <a:r>
              <a:rPr lang="zh-CN" altLang="en-US" dirty="0"/>
              <a:t>本节课程目标</a:t>
            </a:r>
          </a:p>
        </p:txBody>
      </p:sp>
      <p:sp>
        <p:nvSpPr>
          <p:cNvPr id="3" name="内容占位符 2">
            <a:extLst>
              <a:ext uri="{FF2B5EF4-FFF2-40B4-BE49-F238E27FC236}">
                <a16:creationId xmlns:a16="http://schemas.microsoft.com/office/drawing/2014/main" id="{EB3CEDB3-8243-4E38-8753-2996777768DB}"/>
              </a:ext>
            </a:extLst>
          </p:cNvPr>
          <p:cNvSpPr>
            <a:spLocks noGrp="1"/>
          </p:cNvSpPr>
          <p:nvPr>
            <p:ph idx="1"/>
          </p:nvPr>
        </p:nvSpPr>
        <p:spPr/>
        <p:txBody>
          <a:bodyPr/>
          <a:lstStyle/>
          <a:p>
            <a:endParaRPr lang="en-US" altLang="zh-CN" dirty="0"/>
          </a:p>
          <a:p>
            <a:r>
              <a:rPr lang="zh-CN" altLang="zh-CN" dirty="0"/>
              <a:t>【重点】从风险控制视角理解测试存在的工程意义。</a:t>
            </a:r>
          </a:p>
          <a:p>
            <a:r>
              <a:rPr lang="zh-CN" altLang="zh-CN" dirty="0"/>
              <a:t>【难点】明确</a:t>
            </a:r>
            <a:r>
              <a:rPr lang="en-US" altLang="zh-CN" dirty="0"/>
              <a:t>fault</a:t>
            </a:r>
            <a:r>
              <a:rPr lang="zh-CN" altLang="zh-CN" dirty="0"/>
              <a:t>、</a:t>
            </a:r>
            <a:r>
              <a:rPr lang="en-US" altLang="zh-CN" dirty="0"/>
              <a:t>failure</a:t>
            </a:r>
            <a:r>
              <a:rPr lang="zh-CN" altLang="zh-CN" dirty="0"/>
              <a:t>、</a:t>
            </a:r>
            <a:r>
              <a:rPr lang="en-US" altLang="zh-CN" dirty="0"/>
              <a:t>error</a:t>
            </a:r>
            <a:r>
              <a:rPr lang="zh-CN" altLang="zh-CN" dirty="0"/>
              <a:t>、</a:t>
            </a:r>
            <a:r>
              <a:rPr lang="en-US" altLang="zh-CN" dirty="0"/>
              <a:t>bug</a:t>
            </a:r>
            <a:r>
              <a:rPr lang="zh-CN" altLang="zh-CN" dirty="0"/>
              <a:t>的具体含义和区别；</a:t>
            </a:r>
          </a:p>
          <a:p>
            <a:r>
              <a:rPr lang="zh-CN" altLang="zh-CN" dirty="0"/>
              <a:t>【难点】根据</a:t>
            </a:r>
            <a:r>
              <a:rPr lang="en-US" altLang="zh-CN" dirty="0"/>
              <a:t>RIPR</a:t>
            </a:r>
            <a:r>
              <a:rPr lang="zh-CN" altLang="zh-CN" dirty="0"/>
              <a:t>模型分析代码中潜在的</a:t>
            </a:r>
            <a:r>
              <a:rPr lang="en-US" altLang="zh-CN" dirty="0"/>
              <a:t>fault</a:t>
            </a:r>
            <a:r>
              <a:rPr lang="zh-CN" altLang="zh-CN" dirty="0"/>
              <a:t>及其可能导致的</a:t>
            </a:r>
            <a:r>
              <a:rPr lang="en-US" altLang="zh-CN" dirty="0"/>
              <a:t>error</a:t>
            </a:r>
            <a:r>
              <a:rPr lang="zh-CN" altLang="zh-CN" dirty="0"/>
              <a:t>和</a:t>
            </a:r>
            <a:r>
              <a:rPr lang="en-US" altLang="zh-CN" dirty="0"/>
              <a:t>failure</a:t>
            </a:r>
            <a:r>
              <a:rPr lang="zh-CN" altLang="zh-CN" dirty="0"/>
              <a:t>；</a:t>
            </a:r>
          </a:p>
          <a:p>
            <a:r>
              <a:rPr lang="zh-CN" altLang="zh-CN" dirty="0"/>
              <a:t>正确理解软件测试的作用和价值。</a:t>
            </a:r>
            <a:endParaRPr lang="en-US" altLang="zh-CN" dirty="0"/>
          </a:p>
        </p:txBody>
      </p:sp>
      <p:sp>
        <p:nvSpPr>
          <p:cNvPr id="4" name="灯片编号占位符 3">
            <a:extLst>
              <a:ext uri="{FF2B5EF4-FFF2-40B4-BE49-F238E27FC236}">
                <a16:creationId xmlns:a16="http://schemas.microsoft.com/office/drawing/2014/main" id="{C26CA9DD-01B0-48B3-BF3D-C85FB28679B5}"/>
              </a:ext>
            </a:extLst>
          </p:cNvPr>
          <p:cNvSpPr>
            <a:spLocks noGrp="1"/>
          </p:cNvSpPr>
          <p:nvPr>
            <p:ph type="sldNum" sz="quarter" idx="12"/>
          </p:nvPr>
        </p:nvSpPr>
        <p:spPr/>
        <p:txBody>
          <a:bodyPr/>
          <a:lstStyle/>
          <a:p>
            <a:pPr>
              <a:defRPr/>
            </a:pPr>
            <a:fld id="{7F4B1FAA-A740-404F-BBC5-7C153B666279}" type="slidenum">
              <a:rPr lang="en-US" smtClean="0"/>
              <a:pPr>
                <a:defRPr/>
              </a:pPr>
              <a:t>2</a:t>
            </a:fld>
            <a:endParaRPr lang="en-US"/>
          </a:p>
        </p:txBody>
      </p:sp>
    </p:spTree>
    <p:extLst>
      <p:ext uri="{BB962C8B-B14F-4D97-AF65-F5344CB8AC3E}">
        <p14:creationId xmlns:p14="http://schemas.microsoft.com/office/powerpoint/2010/main" val="262931477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2620964" y="75819"/>
            <a:ext cx="7064375" cy="1420463"/>
          </a:xfrm>
        </p:spPr>
        <p:txBody>
          <a:bodyPr/>
          <a:lstStyle/>
          <a:p>
            <a:r>
              <a:rPr lang="en-US" dirty="0"/>
              <a:t>Software is a Skin that Surrounds Our Civilization</a:t>
            </a:r>
          </a:p>
        </p:txBody>
      </p:sp>
      <p:sp>
        <p:nvSpPr>
          <p:cNvPr id="102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5FCEEFC5-F656-451A-9FA9-C06EF1FD135B}" type="slidenum">
              <a:rPr lang="en-US" sz="900" b="0">
                <a:solidFill>
                  <a:schemeClr val="tx1"/>
                </a:solidFill>
              </a:rPr>
              <a:pPr/>
              <a:t>3</a:t>
            </a:fld>
            <a:endParaRPr lang="en-US" sz="900" b="0">
              <a:solidFill>
                <a:schemeClr val="tx1"/>
              </a:solidFill>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0" y="2514600"/>
            <a:ext cx="12192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4413" y="3179764"/>
            <a:ext cx="1619250"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87913" y="1755776"/>
            <a:ext cx="142875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 descr="C:\Documents and Settings\rpanesar\My Documents\My Pictures\Microsoft Clip Organizer\j0410044.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09751" y="2076451"/>
            <a:ext cx="100012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5" descr="C:\Documents and Settings\rpanesar\My Documents\My Pictures\Microsoft Clip Organizer\j0433050.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689600" y="374173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18389" y="1666876"/>
            <a:ext cx="8286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87713" y="4675188"/>
            <a:ext cx="16430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2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083175" y="5132389"/>
            <a:ext cx="1657350" cy="115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452688" y="3286126"/>
            <a:ext cx="914400"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2"/>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928100" y="1598613"/>
            <a:ext cx="98583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5" descr="MCj04157480000[1]"/>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47989" y="1327360"/>
            <a:ext cx="16668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MCj02903870000[1]"/>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687513" y="4527551"/>
            <a:ext cx="158115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6" descr="j021508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86600" y="4038601"/>
            <a:ext cx="1214438"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8" descr="C:\Documents and Settings\rpanesar\Local Settings\Temporary Internet Files\Content.IE5\P2WWCY0O\MCj02811390000[1].wmf"/>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542338" y="2590801"/>
            <a:ext cx="2125662"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p:cNvSpPr txBox="1"/>
          <p:nvPr/>
        </p:nvSpPr>
        <p:spPr>
          <a:xfrm>
            <a:off x="7650163" y="6153150"/>
            <a:ext cx="2628900" cy="254000"/>
          </a:xfrm>
          <a:prstGeom prst="rect">
            <a:avLst/>
          </a:prstGeom>
          <a:solidFill>
            <a:schemeClr val="bg1">
              <a:lumMod val="75000"/>
            </a:schemeClr>
          </a:solidFill>
        </p:spPr>
        <p:txBody>
          <a:bodyPr anchor="ctr">
            <a:spAutoFit/>
          </a:bodyPr>
          <a:lstStyle/>
          <a:p>
            <a:pPr algn="ctr">
              <a:defRPr/>
            </a:pPr>
            <a:r>
              <a:rPr lang="en-US" sz="1050" dirty="0">
                <a:latin typeface="Comic Sans MS" pitchFamily="66" charset="0"/>
              </a:rPr>
              <a:t>Quote due to Dr. Mark Harman</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dissolve">
                                      <p:cBhvr>
                                        <p:cTn id="15" dur="500"/>
                                        <p:tgtEl>
                                          <p:spTgt spid="10"/>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dissolve">
                                      <p:cBhvr>
                                        <p:cTn id="23" dur="500"/>
                                        <p:tgtEl>
                                          <p:spTgt spid="12"/>
                                        </p:tgtEl>
                                      </p:cBhvr>
                                    </p:animEffect>
                                  </p:childTnLst>
                                </p:cTn>
                              </p:par>
                            </p:childTnLst>
                          </p:cTn>
                        </p:par>
                        <p:par>
                          <p:cTn id="24" fill="hold" nodeType="afterGroup">
                            <p:stCondLst>
                              <p:cond delay="2500"/>
                            </p:stCondLst>
                            <p:childTnLst>
                              <p:par>
                                <p:cTn id="25" presetID="9" presetClass="entr" presetSubtype="0"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par>
                          <p:cTn id="28" fill="hold" nodeType="afterGroup">
                            <p:stCondLst>
                              <p:cond delay="3000"/>
                            </p:stCondLst>
                            <p:childTnLst>
                              <p:par>
                                <p:cTn id="29" presetID="9" presetClass="entr" presetSubtype="0"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dissolve">
                                      <p:cBhvr>
                                        <p:cTn id="31" dur="500"/>
                                        <p:tgtEl>
                                          <p:spTgt spid="14"/>
                                        </p:tgtEl>
                                      </p:cBhvr>
                                    </p:animEffect>
                                  </p:childTnLst>
                                </p:cTn>
                              </p:par>
                            </p:childTnLst>
                          </p:cTn>
                        </p:par>
                        <p:par>
                          <p:cTn id="32" fill="hold" nodeType="afterGroup">
                            <p:stCondLst>
                              <p:cond delay="3500"/>
                            </p:stCondLst>
                            <p:childTnLst>
                              <p:par>
                                <p:cTn id="33" presetID="9"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dissolve">
                                      <p:cBhvr>
                                        <p:cTn id="35" dur="500"/>
                                        <p:tgtEl>
                                          <p:spTgt spid="15"/>
                                        </p:tgtEl>
                                      </p:cBhvr>
                                    </p:animEffect>
                                  </p:childTnLst>
                                </p:cTn>
                              </p:par>
                            </p:childTnLst>
                          </p:cTn>
                        </p:par>
                        <p:par>
                          <p:cTn id="36" fill="hold" nodeType="afterGroup">
                            <p:stCondLst>
                              <p:cond delay="4000"/>
                            </p:stCondLst>
                            <p:childTnLst>
                              <p:par>
                                <p:cTn id="37" presetID="9" presetClass="entr" presetSubtype="0"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dissolve">
                                      <p:cBhvr>
                                        <p:cTn id="39" dur="500"/>
                                        <p:tgtEl>
                                          <p:spTgt spid="16"/>
                                        </p:tgtEl>
                                      </p:cBhvr>
                                    </p:animEffect>
                                  </p:childTnLst>
                                </p:cTn>
                              </p:par>
                            </p:childTnLst>
                          </p:cTn>
                        </p:par>
                        <p:par>
                          <p:cTn id="40" fill="hold" nodeType="afterGroup">
                            <p:stCondLst>
                              <p:cond delay="4500"/>
                            </p:stCondLst>
                            <p:childTnLst>
                              <p:par>
                                <p:cTn id="41" presetID="9" presetClass="entr" presetSubtype="0"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500"/>
                                        <p:tgtEl>
                                          <p:spTgt spid="17"/>
                                        </p:tgtEl>
                                      </p:cBhvr>
                                    </p:animEffect>
                                  </p:childTnLst>
                                </p:cTn>
                              </p:par>
                            </p:childTnLst>
                          </p:cTn>
                        </p:par>
                        <p:par>
                          <p:cTn id="44" fill="hold" nodeType="afterGroup">
                            <p:stCondLst>
                              <p:cond delay="5000"/>
                            </p:stCondLst>
                            <p:childTnLst>
                              <p:par>
                                <p:cTn id="45" presetID="9" presetClass="entr" presetSubtype="0"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dissolve">
                                      <p:cBhvr>
                                        <p:cTn id="47" dur="500"/>
                                        <p:tgtEl>
                                          <p:spTgt spid="18"/>
                                        </p:tgtEl>
                                      </p:cBhvr>
                                    </p:animEffect>
                                  </p:childTnLst>
                                </p:cTn>
                              </p:par>
                            </p:childTnLst>
                          </p:cTn>
                        </p:par>
                        <p:par>
                          <p:cTn id="48" fill="hold" nodeType="afterGroup">
                            <p:stCondLst>
                              <p:cond delay="5500"/>
                            </p:stCondLst>
                            <p:childTnLst>
                              <p:par>
                                <p:cTn id="49" presetID="9" presetClass="entr" presetSubtype="0"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dissolve">
                                      <p:cBhvr>
                                        <p:cTn id="51" dur="500"/>
                                        <p:tgtEl>
                                          <p:spTgt spid="19"/>
                                        </p:tgtEl>
                                      </p:cBhvr>
                                    </p:animEffect>
                                  </p:childTnLst>
                                </p:cTn>
                              </p:par>
                            </p:childTnLst>
                          </p:cTn>
                        </p:par>
                        <p:par>
                          <p:cTn id="52" fill="hold" nodeType="afterGroup">
                            <p:stCondLst>
                              <p:cond delay="6000"/>
                            </p:stCondLst>
                            <p:childTnLst>
                              <p:par>
                                <p:cTn id="53" presetID="9"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dissolve">
                                      <p:cBhvr>
                                        <p:cTn id="55" dur="500"/>
                                        <p:tgtEl>
                                          <p:spTgt spid="20"/>
                                        </p:tgtEl>
                                      </p:cBhvr>
                                    </p:animEffect>
                                  </p:childTnLst>
                                </p:cTn>
                              </p:par>
                            </p:childTnLst>
                          </p:cTn>
                        </p:par>
                        <p:par>
                          <p:cTn id="56" fill="hold" nodeType="afterGroup">
                            <p:stCondLst>
                              <p:cond delay="6500"/>
                            </p:stCondLst>
                            <p:childTnLst>
                              <p:par>
                                <p:cTn id="57" presetID="9" presetClass="entr" presetSubtype="0" fill="hold"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dissolve">
                                      <p:cBhvr>
                                        <p:cTn id="5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C17F1-D84D-4EB0-A576-F0AEF61178FF}"/>
              </a:ext>
            </a:extLst>
          </p:cNvPr>
          <p:cNvSpPr>
            <a:spLocks noGrp="1"/>
          </p:cNvSpPr>
          <p:nvPr>
            <p:ph type="title"/>
          </p:nvPr>
        </p:nvSpPr>
        <p:spPr/>
        <p:txBody>
          <a:bodyPr/>
          <a:lstStyle/>
          <a:p>
            <a:r>
              <a:rPr lang="en-US" altLang="zh-CN" dirty="0"/>
              <a:t>Software Failures</a:t>
            </a:r>
            <a:endParaRPr lang="zh-CN" altLang="en-US" dirty="0"/>
          </a:p>
        </p:txBody>
      </p:sp>
      <p:sp>
        <p:nvSpPr>
          <p:cNvPr id="3" name="内容占位符 2">
            <a:extLst>
              <a:ext uri="{FF2B5EF4-FFF2-40B4-BE49-F238E27FC236}">
                <a16:creationId xmlns:a16="http://schemas.microsoft.com/office/drawing/2014/main" id="{D74D193B-94A0-4437-859C-1EF390E9F765}"/>
              </a:ext>
            </a:extLst>
          </p:cNvPr>
          <p:cNvSpPr>
            <a:spLocks noGrp="1"/>
          </p:cNvSpPr>
          <p:nvPr>
            <p:ph idx="1"/>
          </p:nvPr>
        </p:nvSpPr>
        <p:spPr/>
        <p:txBody>
          <a:bodyPr/>
          <a:lstStyle/>
          <a:p>
            <a:r>
              <a:rPr lang="en-US" altLang="zh-CN" dirty="0"/>
              <a:t>2020: More than 100 flights to and from London’s Heathrow airport disruption due to issues with departure boards and check-in systems</a:t>
            </a:r>
          </a:p>
          <a:p>
            <a:r>
              <a:rPr lang="en-US" altLang="zh-CN" dirty="0"/>
              <a:t>2019: Facebook, Instagram, WhatsApp 14 hours downtime due to Facebook News Feed issue in routine maintenance</a:t>
            </a:r>
          </a:p>
          <a:p>
            <a:r>
              <a:rPr lang="en-US" altLang="zh-CN" dirty="0"/>
              <a:t>2019: Boeing 737 Max crashed due to aggressive software flight overrides</a:t>
            </a:r>
          </a:p>
          <a:p>
            <a:r>
              <a:rPr lang="en-US" altLang="zh-CN" dirty="0"/>
              <a:t>2018: Pedestrian in Arizona was killed by an Uber car due to its self-driving software failure</a:t>
            </a:r>
          </a:p>
          <a:p>
            <a:r>
              <a:rPr lang="en-US" altLang="zh-CN" dirty="0"/>
              <a:t>2018: Google shut down Google+ due to the undetected fault that was present for more than two years, causing nearly 500,000 users’ data to be compromised</a:t>
            </a:r>
          </a:p>
          <a:p>
            <a:r>
              <a:rPr lang="en-US" altLang="zh-CN" dirty="0"/>
              <a:t>2017: 606 recorded software failures, impacting 3.7 billion people, 314 companies, $1.7 trillion in financial losses</a:t>
            </a:r>
            <a:endParaRPr lang="zh-CN" altLang="en-US" dirty="0"/>
          </a:p>
          <a:p>
            <a:endParaRPr lang="en-US" altLang="zh-CN" sz="3200" dirty="0"/>
          </a:p>
        </p:txBody>
      </p:sp>
      <p:sp>
        <p:nvSpPr>
          <p:cNvPr id="4" name="灯片编号占位符 3">
            <a:extLst>
              <a:ext uri="{FF2B5EF4-FFF2-40B4-BE49-F238E27FC236}">
                <a16:creationId xmlns:a16="http://schemas.microsoft.com/office/drawing/2014/main" id="{9ABC90B4-F085-4F96-9388-907D0375A410}"/>
              </a:ext>
            </a:extLst>
          </p:cNvPr>
          <p:cNvSpPr>
            <a:spLocks noGrp="1"/>
          </p:cNvSpPr>
          <p:nvPr>
            <p:ph type="sldNum" sz="quarter" idx="12"/>
          </p:nvPr>
        </p:nvSpPr>
        <p:spPr/>
        <p:txBody>
          <a:bodyPr/>
          <a:lstStyle/>
          <a:p>
            <a:pPr>
              <a:defRPr/>
            </a:pPr>
            <a:fld id="{7F4B1FAA-A740-404F-BBC5-7C153B666279}" type="slidenum">
              <a:rPr lang="en-US" smtClean="0"/>
              <a:pPr>
                <a:defRPr/>
              </a:pPr>
              <a:t>4</a:t>
            </a:fld>
            <a:endParaRPr lang="en-US"/>
          </a:p>
        </p:txBody>
      </p:sp>
    </p:spTree>
    <p:extLst>
      <p:ext uri="{BB962C8B-B14F-4D97-AF65-F5344CB8AC3E}">
        <p14:creationId xmlns:p14="http://schemas.microsoft.com/office/powerpoint/2010/main" val="108600369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E5A11F-E10E-4852-8404-69D4039435DB}"/>
              </a:ext>
            </a:extLst>
          </p:cNvPr>
          <p:cNvSpPr>
            <a:spLocks noGrp="1"/>
          </p:cNvSpPr>
          <p:nvPr>
            <p:ph type="title"/>
          </p:nvPr>
        </p:nvSpPr>
        <p:spPr/>
        <p:txBody>
          <a:bodyPr/>
          <a:lstStyle/>
          <a:p>
            <a:r>
              <a:rPr lang="en-US" altLang="zh-CN" dirty="0"/>
              <a:t>Software Failures</a:t>
            </a:r>
            <a:endParaRPr lang="zh-CN" altLang="en-US" dirty="0"/>
          </a:p>
        </p:txBody>
      </p:sp>
      <p:sp>
        <p:nvSpPr>
          <p:cNvPr id="3" name="内容占位符 2">
            <a:extLst>
              <a:ext uri="{FF2B5EF4-FFF2-40B4-BE49-F238E27FC236}">
                <a16:creationId xmlns:a16="http://schemas.microsoft.com/office/drawing/2014/main" id="{4A6B9F65-481E-437F-BAC8-66E89642F574}"/>
              </a:ext>
            </a:extLst>
          </p:cNvPr>
          <p:cNvSpPr>
            <a:spLocks noGrp="1"/>
          </p:cNvSpPr>
          <p:nvPr>
            <p:ph idx="1"/>
          </p:nvPr>
        </p:nvSpPr>
        <p:spPr/>
        <p:txBody>
          <a:bodyPr/>
          <a:lstStyle/>
          <a:p>
            <a:r>
              <a:rPr lang="en-US" altLang="zh-CN" dirty="0"/>
              <a:t>2016: Nissan recalled 4 millions cars from the market due to software failure in the airbag sensory detectors</a:t>
            </a:r>
          </a:p>
          <a:p>
            <a:r>
              <a:rPr lang="en-US" altLang="zh-CN" dirty="0"/>
              <a:t>2003: Northeast blackout due to the alarm system in the energy management system failure, affecting 40 million people in 8 US states, 10 million people in Ontario, Canada</a:t>
            </a:r>
          </a:p>
          <a:p>
            <a:r>
              <a:rPr lang="en-US" altLang="zh-CN" dirty="0"/>
              <a:t>1999: NASA’s Mars lander crashed due to a unit integration fault</a:t>
            </a:r>
          </a:p>
          <a:p>
            <a:r>
              <a:rPr lang="en-US" altLang="zh-CN" dirty="0"/>
              <a:t>1997: Ariane 5 explosion: Exception-handling bug forced self-destruct on maiden flight (64-bit to 16-bit conversion), causing $370 millions</a:t>
            </a:r>
          </a:p>
          <a:p>
            <a:r>
              <a:rPr lang="en-US" altLang="zh-CN" dirty="0"/>
              <a:t>1986: 3 patients were killed by Therac-25 radiation machine due to poor testing of its safety-critical software</a:t>
            </a:r>
            <a:endParaRPr lang="zh-CN" altLang="en-US" dirty="0"/>
          </a:p>
        </p:txBody>
      </p:sp>
      <p:sp>
        <p:nvSpPr>
          <p:cNvPr id="4" name="灯片编号占位符 3">
            <a:extLst>
              <a:ext uri="{FF2B5EF4-FFF2-40B4-BE49-F238E27FC236}">
                <a16:creationId xmlns:a16="http://schemas.microsoft.com/office/drawing/2014/main" id="{477162D5-4D55-43D5-8B4E-18230DB2EA7E}"/>
              </a:ext>
            </a:extLst>
          </p:cNvPr>
          <p:cNvSpPr>
            <a:spLocks noGrp="1"/>
          </p:cNvSpPr>
          <p:nvPr>
            <p:ph type="sldNum" sz="quarter" idx="12"/>
          </p:nvPr>
        </p:nvSpPr>
        <p:spPr/>
        <p:txBody>
          <a:bodyPr/>
          <a:lstStyle/>
          <a:p>
            <a:pPr>
              <a:defRPr/>
            </a:pPr>
            <a:fld id="{7F4B1FAA-A740-404F-BBC5-7C153B666279}" type="slidenum">
              <a:rPr lang="en-US" smtClean="0"/>
              <a:pPr>
                <a:defRPr/>
              </a:pPr>
              <a:t>5</a:t>
            </a:fld>
            <a:endParaRPr lang="en-US"/>
          </a:p>
        </p:txBody>
      </p:sp>
    </p:spTree>
    <p:extLst>
      <p:ext uri="{BB962C8B-B14F-4D97-AF65-F5344CB8AC3E}">
        <p14:creationId xmlns:p14="http://schemas.microsoft.com/office/powerpoint/2010/main" val="105651470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Terms for Software Failures</a:t>
            </a:r>
            <a:endParaRPr lang="zh-CN" altLang="en-US" dirty="0"/>
          </a:p>
        </p:txBody>
      </p:sp>
      <p:sp>
        <p:nvSpPr>
          <p:cNvPr id="3" name="内容占位符 2"/>
          <p:cNvSpPr>
            <a:spLocks noGrp="1"/>
          </p:cNvSpPr>
          <p:nvPr>
            <p:ph idx="1"/>
          </p:nvPr>
        </p:nvSpPr>
        <p:spPr/>
        <p:txBody>
          <a:bodyPr/>
          <a:lstStyle/>
          <a:p>
            <a:r>
              <a:rPr lang="en-US" altLang="zh-CN" b="1" dirty="0">
                <a:solidFill>
                  <a:schemeClr val="tx2"/>
                </a:solidFill>
              </a:rPr>
              <a:t>Fault</a:t>
            </a:r>
            <a:r>
              <a:rPr lang="zh-CN" altLang="en-US" b="1" dirty="0">
                <a:solidFill>
                  <a:schemeClr val="tx2"/>
                </a:solidFill>
              </a:rPr>
              <a:t>（故障）</a:t>
            </a:r>
            <a:r>
              <a:rPr lang="en-US" altLang="zh-CN" dirty="0"/>
              <a:t>, </a:t>
            </a:r>
            <a:r>
              <a:rPr lang="en-US" altLang="zh-CN" b="1" dirty="0">
                <a:solidFill>
                  <a:schemeClr val="tx2"/>
                </a:solidFill>
              </a:rPr>
              <a:t>failure</a:t>
            </a:r>
            <a:r>
              <a:rPr lang="zh-CN" altLang="en-US" b="1" dirty="0">
                <a:solidFill>
                  <a:schemeClr val="tx2"/>
                </a:solidFill>
              </a:rPr>
              <a:t>（失败）</a:t>
            </a:r>
            <a:r>
              <a:rPr lang="en-US" altLang="zh-CN" dirty="0"/>
              <a:t>, and </a:t>
            </a:r>
            <a:r>
              <a:rPr lang="en-US" altLang="zh-CN" b="1" dirty="0">
                <a:solidFill>
                  <a:schemeClr val="tx2"/>
                </a:solidFill>
              </a:rPr>
              <a:t>defect</a:t>
            </a:r>
            <a:r>
              <a:rPr lang="zh-CN" altLang="en-US" b="1" dirty="0">
                <a:solidFill>
                  <a:schemeClr val="tx2"/>
                </a:solidFill>
              </a:rPr>
              <a:t>（缺陷）</a:t>
            </a:r>
            <a:r>
              <a:rPr lang="en-US" altLang="zh-CN" dirty="0"/>
              <a:t> tend to imply a condition that's really severe, maybe even dangerous. </a:t>
            </a:r>
          </a:p>
          <a:p>
            <a:pPr lvl="1"/>
            <a:r>
              <a:rPr lang="en-US" altLang="zh-CN" dirty="0"/>
              <a:t>It doesn't sound right to call an incorrectly colored icon a fault. </a:t>
            </a:r>
          </a:p>
          <a:p>
            <a:pPr lvl="1"/>
            <a:r>
              <a:rPr lang="en-US" altLang="zh-CN" dirty="0"/>
              <a:t>These words also tend to imply blame: "It's his fault that the software failed."</a:t>
            </a:r>
          </a:p>
          <a:p>
            <a:r>
              <a:rPr lang="en-US" altLang="zh-CN" b="1" dirty="0">
                <a:solidFill>
                  <a:schemeClr val="tx2"/>
                </a:solidFill>
              </a:rPr>
              <a:t>Anomaly</a:t>
            </a:r>
            <a:r>
              <a:rPr lang="en-US" altLang="zh-CN" dirty="0"/>
              <a:t>, </a:t>
            </a:r>
            <a:r>
              <a:rPr lang="en-US" altLang="zh-CN" b="1" dirty="0">
                <a:solidFill>
                  <a:schemeClr val="tx2"/>
                </a:solidFill>
              </a:rPr>
              <a:t>incident</a:t>
            </a:r>
            <a:r>
              <a:rPr lang="en-US" altLang="zh-CN" dirty="0"/>
              <a:t>, and </a:t>
            </a:r>
            <a:r>
              <a:rPr lang="en-US" altLang="zh-CN" b="1" dirty="0">
                <a:solidFill>
                  <a:schemeClr val="tx2"/>
                </a:solidFill>
              </a:rPr>
              <a:t>variance</a:t>
            </a:r>
            <a:r>
              <a:rPr lang="en-US" altLang="zh-CN" dirty="0"/>
              <a:t> don't sound quite so negative and are often used to infer unintended operation rather than all-out failure. </a:t>
            </a:r>
          </a:p>
          <a:p>
            <a:pPr lvl="1"/>
            <a:r>
              <a:rPr lang="en-US" altLang="zh-CN" dirty="0"/>
              <a:t>"The president stated that it was a software anomaly that caused the missile to go off course."</a:t>
            </a:r>
          </a:p>
          <a:p>
            <a:r>
              <a:rPr lang="en-US" altLang="zh-CN" b="1" dirty="0">
                <a:solidFill>
                  <a:schemeClr val="tx2"/>
                </a:solidFill>
              </a:rPr>
              <a:t>Problem</a:t>
            </a:r>
            <a:r>
              <a:rPr lang="en-US" altLang="zh-CN" dirty="0"/>
              <a:t>, </a:t>
            </a:r>
            <a:r>
              <a:rPr lang="en-US" altLang="zh-CN" b="1" dirty="0">
                <a:solidFill>
                  <a:schemeClr val="tx2"/>
                </a:solidFill>
              </a:rPr>
              <a:t>error</a:t>
            </a:r>
            <a:r>
              <a:rPr lang="zh-CN" altLang="en-US" b="1" dirty="0">
                <a:solidFill>
                  <a:schemeClr val="tx2"/>
                </a:solidFill>
              </a:rPr>
              <a:t>（错误）</a:t>
            </a:r>
            <a:r>
              <a:rPr lang="en-US" altLang="zh-CN" dirty="0"/>
              <a:t>, and </a:t>
            </a:r>
            <a:r>
              <a:rPr lang="en-US" altLang="zh-CN" b="1" dirty="0">
                <a:solidFill>
                  <a:schemeClr val="tx2"/>
                </a:solidFill>
              </a:rPr>
              <a:t>bug</a:t>
            </a:r>
            <a:r>
              <a:rPr lang="en-US" altLang="zh-CN" dirty="0"/>
              <a:t> are probably the most generic terms used.</a:t>
            </a:r>
          </a:p>
          <a:p>
            <a:endParaRPr lang="en-US" altLang="zh-CN" dirty="0"/>
          </a:p>
          <a:p>
            <a:endParaRPr lang="zh-CN" altLang="en-US" dirty="0"/>
          </a:p>
        </p:txBody>
      </p:sp>
      <p:sp>
        <p:nvSpPr>
          <p:cNvPr id="6" name="灯片编号占位符 5"/>
          <p:cNvSpPr>
            <a:spLocks noGrp="1"/>
          </p:cNvSpPr>
          <p:nvPr>
            <p:ph type="sldNum" sz="quarter" idx="12"/>
          </p:nvPr>
        </p:nvSpPr>
        <p:spPr/>
        <p:txBody>
          <a:bodyPr/>
          <a:lstStyle/>
          <a:p>
            <a:pPr>
              <a:defRPr/>
            </a:pPr>
            <a:fld id="{7F4B1FAA-A740-404F-BBC5-7C153B666279}" type="slidenum">
              <a:rPr lang="en-US" smtClean="0"/>
              <a:pPr>
                <a:defRPr/>
              </a:pPr>
              <a:t>6</a:t>
            </a:fld>
            <a:endParaRPr lang="en-US"/>
          </a:p>
        </p:txBody>
      </p:sp>
    </p:spTree>
    <p:extLst>
      <p:ext uri="{BB962C8B-B14F-4D97-AF65-F5344CB8AC3E}">
        <p14:creationId xmlns:p14="http://schemas.microsoft.com/office/powerpoint/2010/main" val="216226355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Software Faults, Errors &amp; Failures</a:t>
            </a:r>
          </a:p>
        </p:txBody>
      </p:sp>
      <p:sp>
        <p:nvSpPr>
          <p:cNvPr id="48134" name="Rectangle 3"/>
          <p:cNvSpPr>
            <a:spLocks noGrp="1" noChangeArrowheads="1"/>
          </p:cNvSpPr>
          <p:nvPr>
            <p:ph idx="1"/>
          </p:nvPr>
        </p:nvSpPr>
        <p:spPr/>
        <p:txBody>
          <a:bodyPr/>
          <a:lstStyle/>
          <a:p>
            <a:r>
              <a:rPr lang="en-US" dirty="0">
                <a:solidFill>
                  <a:srgbClr val="FFFF00"/>
                </a:solidFill>
              </a:rPr>
              <a:t>Software Fault</a:t>
            </a:r>
            <a:r>
              <a:rPr lang="en-US" dirty="0"/>
              <a:t> : A static defect in the software</a:t>
            </a:r>
          </a:p>
          <a:p>
            <a:endParaRPr lang="en-US" dirty="0"/>
          </a:p>
          <a:p>
            <a:r>
              <a:rPr lang="en-US" dirty="0">
                <a:solidFill>
                  <a:srgbClr val="FFFF00"/>
                </a:solidFill>
              </a:rPr>
              <a:t>Software Failure</a:t>
            </a:r>
            <a:r>
              <a:rPr lang="en-US" dirty="0"/>
              <a:t> : External, incorrect behavior with respect to the requirements or other description of the expected behavior</a:t>
            </a:r>
          </a:p>
          <a:p>
            <a:endParaRPr lang="en-US" dirty="0"/>
          </a:p>
          <a:p>
            <a:r>
              <a:rPr lang="en-US" dirty="0">
                <a:solidFill>
                  <a:srgbClr val="FFFF00"/>
                </a:solidFill>
              </a:rPr>
              <a:t>Software Error</a:t>
            </a:r>
            <a:r>
              <a:rPr lang="en-US" dirty="0"/>
              <a:t> : An incorrect internal state that is the manifestation of some fault</a:t>
            </a:r>
          </a:p>
        </p:txBody>
      </p:sp>
      <p:sp>
        <p:nvSpPr>
          <p:cNvPr id="4813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3D8C035F-230C-499D-AC34-32A7EDE3C424}" type="slidenum">
              <a:rPr lang="en-US" sz="900" b="0">
                <a:solidFill>
                  <a:schemeClr val="tx1"/>
                </a:solidFill>
              </a:rPr>
              <a:pPr/>
              <a:t>7</a:t>
            </a:fld>
            <a:endParaRPr lang="en-US" sz="900" b="0">
              <a:solidFill>
                <a:schemeClr val="tx1"/>
              </a:solidFill>
            </a:endParaRPr>
          </a:p>
        </p:txBody>
      </p:sp>
      <p:sp>
        <p:nvSpPr>
          <p:cNvPr id="168964" name="Text Box 4"/>
          <p:cNvSpPr txBox="1">
            <a:spLocks noChangeArrowheads="1"/>
          </p:cNvSpPr>
          <p:nvPr/>
        </p:nvSpPr>
        <p:spPr bwMode="auto">
          <a:xfrm>
            <a:off x="2089150" y="4970071"/>
            <a:ext cx="8013700" cy="1200329"/>
          </a:xfrm>
          <a:prstGeom prst="rect">
            <a:avLst/>
          </a:prstGeom>
          <a:solidFill>
            <a:srgbClr val="0000CC"/>
          </a:solidFill>
          <a:ln w="12700">
            <a:solidFill>
              <a:schemeClr val="tx1"/>
            </a:solidFill>
            <a:miter lim="800000"/>
            <a:headEnd type="none" w="sm" len="sm"/>
            <a:tailEnd type="none" w="sm" len="sm"/>
          </a:ln>
          <a:effectLst/>
        </p:spPr>
        <p:txBody>
          <a:bodyPr>
            <a:spAutoFit/>
          </a:bodyPr>
          <a:lstStyle/>
          <a:p>
            <a:pPr algn="ctr">
              <a:lnSpc>
                <a:spcPct val="90000"/>
              </a:lnSpc>
              <a:spcBef>
                <a:spcPct val="30000"/>
              </a:spcBef>
              <a:buSzPct val="75000"/>
              <a:buFont typeface="Monotype Sorts" charset="2"/>
              <a:buNone/>
              <a:defRPr/>
            </a:pPr>
            <a:r>
              <a:rPr lang="en-US" sz="2400" dirty="0">
                <a:solidFill>
                  <a:srgbClr val="FFFF00"/>
                </a:solidFill>
                <a:effectLst>
                  <a:outerShdw blurRad="38100" dist="38100" dir="2700000" algn="tl">
                    <a:srgbClr val="000000"/>
                  </a:outerShdw>
                </a:effectLst>
                <a:latin typeface="Gill Sans MT" pitchFamily="34" charset="0"/>
                <a:cs typeface="Arial" pitchFamily="34" charset="0"/>
              </a:rPr>
              <a:t>Faults in software are equivalent to design mistakes in hardware.</a:t>
            </a:r>
          </a:p>
          <a:p>
            <a:pPr algn="ctr">
              <a:lnSpc>
                <a:spcPct val="90000"/>
              </a:lnSpc>
              <a:spcBef>
                <a:spcPct val="30000"/>
              </a:spcBef>
              <a:buSzPct val="75000"/>
              <a:buFont typeface="Monotype Sorts" charset="2"/>
              <a:buNone/>
              <a:defRPr/>
            </a:pPr>
            <a:r>
              <a:rPr lang="en-US" sz="2400" dirty="0">
                <a:solidFill>
                  <a:srgbClr val="FFFF00"/>
                </a:solidFill>
                <a:effectLst>
                  <a:outerShdw blurRad="38100" dist="38100" dir="2700000" algn="tl">
                    <a:srgbClr val="000000"/>
                  </a:outerShdw>
                </a:effectLst>
                <a:latin typeface="Gill Sans MT" pitchFamily="34" charset="0"/>
                <a:cs typeface="Arial" pitchFamily="34" charset="0"/>
              </a:rPr>
              <a:t>Software does not degrade.</a:t>
            </a:r>
            <a:endParaRPr lang="en-US" dirty="0">
              <a:solidFill>
                <a:srgbClr val="FFFF00"/>
              </a:solidFill>
              <a:effectLst>
                <a:outerShdw blurRad="38100" dist="38100" dir="2700000" algn="tl">
                  <a:srgbClr val="000000"/>
                </a:outerShdw>
              </a:effectLst>
              <a:latin typeface="Gill Sans MT" pitchFamily="34" charset="0"/>
              <a:cs typeface="Arial"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8964"/>
                                        </p:tgtEl>
                                        <p:attrNameLst>
                                          <p:attrName>style.visibility</p:attrName>
                                        </p:attrNameLst>
                                      </p:cBhvr>
                                      <p:to>
                                        <p:strVal val="visible"/>
                                      </p:to>
                                    </p:set>
                                    <p:animEffect transition="in" filter="dissolve">
                                      <p:cBhvr>
                                        <p:cTn id="7" dur="500"/>
                                        <p:tgtEl>
                                          <p:spTgt spid="168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4"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Fault and Failure Example</a:t>
            </a:r>
          </a:p>
        </p:txBody>
      </p:sp>
      <p:sp>
        <p:nvSpPr>
          <p:cNvPr id="3" name="Content Placeholder 2"/>
          <p:cNvSpPr>
            <a:spLocks noGrp="1"/>
          </p:cNvSpPr>
          <p:nvPr>
            <p:ph idx="1"/>
          </p:nvPr>
        </p:nvSpPr>
        <p:spPr/>
        <p:txBody>
          <a:bodyPr/>
          <a:lstStyle/>
          <a:p>
            <a:r>
              <a:rPr lang="en-US" dirty="0"/>
              <a:t>A patient gives a doctor a list of </a:t>
            </a:r>
            <a:r>
              <a:rPr lang="en-US" dirty="0">
                <a:solidFill>
                  <a:schemeClr val="tx2"/>
                </a:solidFill>
              </a:rPr>
              <a:t>symptoms</a:t>
            </a:r>
          </a:p>
          <a:p>
            <a:pPr lvl="1"/>
            <a:r>
              <a:rPr lang="en-US" dirty="0">
                <a:solidFill>
                  <a:schemeClr val="tx2"/>
                </a:solidFill>
              </a:rPr>
              <a:t>Failures</a:t>
            </a:r>
          </a:p>
          <a:p>
            <a:r>
              <a:rPr lang="en-US" dirty="0"/>
              <a:t>The doctor tries to diagnose the root cause, the </a:t>
            </a:r>
            <a:r>
              <a:rPr lang="en-US" dirty="0">
                <a:solidFill>
                  <a:schemeClr val="tx2"/>
                </a:solidFill>
              </a:rPr>
              <a:t>ailment</a:t>
            </a:r>
          </a:p>
          <a:p>
            <a:pPr lvl="1"/>
            <a:r>
              <a:rPr lang="en-US" dirty="0">
                <a:solidFill>
                  <a:schemeClr val="tx2"/>
                </a:solidFill>
              </a:rPr>
              <a:t>Fault</a:t>
            </a:r>
          </a:p>
          <a:p>
            <a:r>
              <a:rPr lang="en-US" dirty="0"/>
              <a:t>The doctor may look for </a:t>
            </a:r>
            <a:r>
              <a:rPr lang="en-US" dirty="0">
                <a:solidFill>
                  <a:schemeClr val="tx2"/>
                </a:solidFill>
              </a:rPr>
              <a:t>anomalous internal conditions</a:t>
            </a:r>
            <a:r>
              <a:rPr lang="en-US" dirty="0"/>
              <a:t> (high blood pressure, irregular heartbeat, bacteria in the blood stream)</a:t>
            </a:r>
          </a:p>
          <a:p>
            <a:pPr lvl="1"/>
            <a:r>
              <a:rPr lang="en-US" dirty="0">
                <a:solidFill>
                  <a:schemeClr val="tx2"/>
                </a:solidFill>
              </a:rPr>
              <a:t>Errors</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8</a:t>
            </a:fld>
            <a:endParaRPr lang="en-US"/>
          </a:p>
        </p:txBody>
      </p:sp>
      <p:sp>
        <p:nvSpPr>
          <p:cNvPr id="8" name="Text Box 4"/>
          <p:cNvSpPr txBox="1">
            <a:spLocks noChangeArrowheads="1"/>
          </p:cNvSpPr>
          <p:nvPr/>
        </p:nvSpPr>
        <p:spPr bwMode="auto">
          <a:xfrm>
            <a:off x="2089150" y="4686301"/>
            <a:ext cx="8013700" cy="1532727"/>
          </a:xfrm>
          <a:prstGeom prst="rect">
            <a:avLst/>
          </a:prstGeom>
          <a:solidFill>
            <a:srgbClr val="0000CC"/>
          </a:solidFill>
          <a:ln w="12700">
            <a:solidFill>
              <a:schemeClr val="tx1"/>
            </a:solidFill>
            <a:miter lim="800000"/>
            <a:headEnd type="none" w="sm" len="sm"/>
            <a:tailEnd type="none" w="sm" len="sm"/>
          </a:ln>
          <a:effectLst/>
        </p:spPr>
        <p:txBody>
          <a:bodyPr>
            <a:spAutoFit/>
          </a:bodyPr>
          <a:lstStyle/>
          <a:p>
            <a:pPr algn="ctr">
              <a:lnSpc>
                <a:spcPct val="90000"/>
              </a:lnSpc>
              <a:spcBef>
                <a:spcPct val="30000"/>
              </a:spcBef>
              <a:buSzPct val="75000"/>
              <a:buFont typeface="Monotype Sorts" charset="2"/>
              <a:buNone/>
              <a:defRPr/>
            </a:pPr>
            <a:r>
              <a:rPr lang="en-US" sz="2400" dirty="0">
                <a:solidFill>
                  <a:srgbClr val="FFFF00"/>
                </a:solidFill>
                <a:effectLst>
                  <a:outerShdw blurRad="38100" dist="38100" dir="2700000" algn="tl">
                    <a:srgbClr val="000000"/>
                  </a:outerShdw>
                </a:effectLst>
                <a:latin typeface="Gill Sans MT" pitchFamily="34" charset="0"/>
                <a:cs typeface="Arial" pitchFamily="34" charset="0"/>
              </a:rPr>
              <a:t>Most medical problems result from external attacks (bacteria, viruses) or physical degradation as we age.</a:t>
            </a:r>
          </a:p>
          <a:p>
            <a:pPr algn="ctr">
              <a:lnSpc>
                <a:spcPct val="90000"/>
              </a:lnSpc>
              <a:spcBef>
                <a:spcPct val="30000"/>
              </a:spcBef>
              <a:buSzPct val="75000"/>
              <a:buFont typeface="Monotype Sorts" charset="2"/>
              <a:buNone/>
              <a:defRPr/>
            </a:pPr>
            <a:r>
              <a:rPr lang="en-US" sz="2400" dirty="0">
                <a:solidFill>
                  <a:srgbClr val="FFFF00"/>
                </a:solidFill>
                <a:effectLst>
                  <a:outerShdw blurRad="38100" dist="38100" dir="2700000" algn="tl">
                    <a:srgbClr val="000000"/>
                  </a:outerShdw>
                </a:effectLst>
                <a:latin typeface="Gill Sans MT" pitchFamily="34" charset="0"/>
                <a:cs typeface="Arial" pitchFamily="34" charset="0"/>
              </a:rPr>
              <a:t>Software faults were there at the beginning and do not “appear” when a part wears out.</a:t>
            </a:r>
            <a:endParaRPr lang="en-US" dirty="0">
              <a:solidFill>
                <a:srgbClr val="FFFF00"/>
              </a:solidFill>
              <a:effectLst>
                <a:outerShdw blurRad="38100" dist="38100" dir="2700000" algn="tl">
                  <a:srgbClr val="000000"/>
                </a:outerShdw>
              </a:effectLst>
              <a:latin typeface="Gill Sans MT" pitchFamily="34" charset="0"/>
              <a:cs typeface="Arial" pitchFamily="34" charset="0"/>
            </a:endParaRPr>
          </a:p>
        </p:txBody>
      </p:sp>
    </p:spTree>
    <p:extLst>
      <p:ext uri="{BB962C8B-B14F-4D97-AF65-F5344CB8AC3E}">
        <p14:creationId xmlns:p14="http://schemas.microsoft.com/office/powerpoint/2010/main" val="230279119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Concrete Example</a:t>
            </a:r>
            <a:endParaRPr lang="zh-CN" altLang="en-US" dirty="0"/>
          </a:p>
        </p:txBody>
      </p:sp>
      <p:sp>
        <p:nvSpPr>
          <p:cNvPr id="4" name="内容占位符 6"/>
          <p:cNvSpPr txBox="1">
            <a:spLocks/>
          </p:cNvSpPr>
          <p:nvPr/>
        </p:nvSpPr>
        <p:spPr>
          <a:xfrm>
            <a:off x="5284781" y="3540727"/>
            <a:ext cx="5216964" cy="264186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effectLst>
                  <a:outerShdw blurRad="63500" dist="38100" dir="2700000" algn="tl">
                    <a:schemeClr val="bg1">
                      <a:lumMod val="50000"/>
                      <a:alpha val="43000"/>
                    </a:schemeClr>
                  </a:outerShdw>
                </a:effectLst>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mj-lt"/>
              <a:buAutoNum type="alphaLcParenR"/>
            </a:pPr>
            <a:r>
              <a:rPr lang="en-US" altLang="zh-CN" sz="2000" dirty="0">
                <a:effectLst/>
                <a:latin typeface="Arial Unicode MS" panose="020B0604020202020204" pitchFamily="34" charset="-122"/>
                <a:ea typeface="Arial Unicode MS" panose="020B0604020202020204" pitchFamily="34" charset="-122"/>
                <a:cs typeface="Arial Unicode MS" panose="020B0604020202020204" pitchFamily="34" charset="-122"/>
              </a:rPr>
              <a:t>Identify the fault. </a:t>
            </a:r>
            <a:endParaRPr lang="zh-CN" altLang="zh-CN" sz="20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514350" indent="-514350">
              <a:buFont typeface="+mj-lt"/>
              <a:buAutoNum type="alphaLcParenR"/>
            </a:pPr>
            <a:r>
              <a:rPr lang="en-US" altLang="zh-CN" sz="2000" dirty="0">
                <a:effectLst/>
                <a:latin typeface="Arial Unicode MS" panose="020B0604020202020204" pitchFamily="34" charset="-122"/>
                <a:ea typeface="Arial Unicode MS" panose="020B0604020202020204" pitchFamily="34" charset="-122"/>
                <a:cs typeface="Arial Unicode MS" panose="020B0604020202020204" pitchFamily="34" charset="-122"/>
              </a:rPr>
              <a:t>If possible, identify a test case that does not execute the fault.  </a:t>
            </a:r>
            <a:endParaRPr lang="zh-CN" altLang="zh-CN" sz="2000" dirty="0">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514350" indent="-514350">
              <a:buFont typeface="+mj-lt"/>
              <a:buAutoNum type="alphaLcParenR"/>
            </a:pPr>
            <a:r>
              <a:rPr lang="en-US" altLang="zh-CN" sz="2000" dirty="0">
                <a:effectLst/>
                <a:latin typeface="Arial Unicode MS" panose="020B0604020202020204" pitchFamily="34" charset="-122"/>
                <a:ea typeface="Arial Unicode MS" panose="020B0604020202020204" pitchFamily="34" charset="-122"/>
                <a:cs typeface="Arial Unicode MS" panose="020B0604020202020204" pitchFamily="34" charset="-122"/>
              </a:rPr>
              <a:t>If possible identify a test case that results in error, but not a failure. </a:t>
            </a:r>
          </a:p>
        </p:txBody>
      </p:sp>
      <p:sp>
        <p:nvSpPr>
          <p:cNvPr id="5" name="TextBox 4"/>
          <p:cNvSpPr txBox="1">
            <a:spLocks noChangeArrowheads="1"/>
          </p:cNvSpPr>
          <p:nvPr/>
        </p:nvSpPr>
        <p:spPr bwMode="auto">
          <a:xfrm>
            <a:off x="1798096" y="1202769"/>
            <a:ext cx="5482469" cy="4801314"/>
          </a:xfrm>
          <a:prstGeom prst="rect">
            <a:avLst/>
          </a:prstGeom>
          <a:noFill/>
          <a:ln w="38100">
            <a:noFill/>
            <a:miter lim="800000"/>
            <a:headEnd/>
            <a:tailEnd/>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Public  static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numZero</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Effects: If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is null throw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NullPointerException</a:t>
            </a:r>
            <a:endPar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else return the number of occurrences of 0 in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a:t>
            </a:r>
            <a:endPar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count = 0;</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for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1;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&lt;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arr.length</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if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 0)</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count++;</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return count;</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p:txBody>
      </p:sp>
    </p:spTree>
    <p:extLst>
      <p:ext uri="{BB962C8B-B14F-4D97-AF65-F5344CB8AC3E}">
        <p14:creationId xmlns:p14="http://schemas.microsoft.com/office/powerpoint/2010/main" val="170142413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Concrete Example</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10</a:t>
            </a:fld>
            <a:endParaRPr lang="en-US"/>
          </a:p>
        </p:txBody>
      </p:sp>
      <p:sp>
        <p:nvSpPr>
          <p:cNvPr id="7" name="TextBox 6"/>
          <p:cNvSpPr txBox="1">
            <a:spLocks noChangeArrowheads="1"/>
          </p:cNvSpPr>
          <p:nvPr/>
        </p:nvSpPr>
        <p:spPr bwMode="auto">
          <a:xfrm>
            <a:off x="1853530" y="1980739"/>
            <a:ext cx="8475663" cy="4093428"/>
          </a:xfrm>
          <a:prstGeom prst="rect">
            <a:avLst/>
          </a:prstGeom>
          <a:solidFill>
            <a:srgbClr val="0000CC"/>
          </a:solidFill>
          <a:ln w="38100">
            <a:solidFill>
              <a:srgbClr val="9999FF"/>
            </a:solidFill>
            <a:miter lim="800000"/>
            <a:headEnd/>
            <a:tailEnd/>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dirty="0">
                <a:latin typeface="Arial Unicode MS" pitchFamily="34" charset="-128"/>
                <a:ea typeface="Arial Unicode MS" pitchFamily="34" charset="-128"/>
                <a:cs typeface="Arial Unicode MS" pitchFamily="34" charset="-128"/>
              </a:rPr>
              <a:t>public static </a:t>
            </a:r>
            <a:r>
              <a:rPr lang="en-US" dirty="0" err="1">
                <a:latin typeface="Arial Unicode MS" pitchFamily="34" charset="-128"/>
                <a:ea typeface="Arial Unicode MS" pitchFamily="34" charset="-128"/>
                <a:cs typeface="Arial Unicode MS" pitchFamily="34" charset="-128"/>
              </a:rPr>
              <a:t>int</a:t>
            </a:r>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numZero</a:t>
            </a:r>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int</a:t>
            </a:r>
            <a:r>
              <a:rPr lang="en-US" dirty="0">
                <a:latin typeface="Arial Unicode MS" pitchFamily="34" charset="-128"/>
                <a:ea typeface="Arial Unicode MS" pitchFamily="34" charset="-128"/>
                <a:cs typeface="Arial Unicode MS" pitchFamily="34" charset="-128"/>
              </a:rPr>
              <a:t> [ ] </a:t>
            </a:r>
            <a:r>
              <a:rPr lang="en-US" dirty="0" err="1">
                <a:latin typeface="Arial Unicode MS" pitchFamily="34" charset="-128"/>
                <a:ea typeface="Arial Unicode MS" pitchFamily="34" charset="-128"/>
                <a:cs typeface="Arial Unicode MS" pitchFamily="34" charset="-128"/>
              </a:rPr>
              <a:t>arr</a:t>
            </a:r>
            <a:r>
              <a:rPr lang="en-US" dirty="0">
                <a:latin typeface="Arial Unicode MS" pitchFamily="34" charset="-128"/>
                <a:ea typeface="Arial Unicode MS" pitchFamily="34" charset="-128"/>
                <a:cs typeface="Arial Unicode MS" pitchFamily="34" charset="-128"/>
              </a:rPr>
              <a:t>)</a:t>
            </a:r>
          </a:p>
          <a:p>
            <a:r>
              <a:rPr lang="en-US" dirty="0">
                <a:latin typeface="Arial Unicode MS" pitchFamily="34" charset="-128"/>
                <a:ea typeface="Arial Unicode MS" pitchFamily="34" charset="-128"/>
                <a:cs typeface="Arial Unicode MS" pitchFamily="34" charset="-128"/>
              </a:rPr>
              <a:t>{  // Effects: If </a:t>
            </a:r>
            <a:r>
              <a:rPr lang="en-US" dirty="0" err="1">
                <a:latin typeface="Arial Unicode MS" pitchFamily="34" charset="-128"/>
                <a:ea typeface="Arial Unicode MS" pitchFamily="34" charset="-128"/>
                <a:cs typeface="Arial Unicode MS" pitchFamily="34" charset="-128"/>
              </a:rPr>
              <a:t>arr</a:t>
            </a:r>
            <a:r>
              <a:rPr lang="en-US" dirty="0">
                <a:latin typeface="Arial Unicode MS" pitchFamily="34" charset="-128"/>
                <a:ea typeface="Arial Unicode MS" pitchFamily="34" charset="-128"/>
                <a:cs typeface="Arial Unicode MS" pitchFamily="34" charset="-128"/>
              </a:rPr>
              <a:t> is null throw </a:t>
            </a:r>
            <a:r>
              <a:rPr lang="en-US" dirty="0" err="1">
                <a:latin typeface="Arial Unicode MS" pitchFamily="34" charset="-128"/>
                <a:ea typeface="Arial Unicode MS" pitchFamily="34" charset="-128"/>
                <a:cs typeface="Arial Unicode MS" pitchFamily="34" charset="-128"/>
              </a:rPr>
              <a:t>NullPointerException</a:t>
            </a:r>
            <a:endParaRPr lang="en-US" dirty="0">
              <a:latin typeface="Arial Unicode MS" pitchFamily="34" charset="-128"/>
              <a:ea typeface="Arial Unicode MS" pitchFamily="34" charset="-128"/>
              <a:cs typeface="Arial Unicode MS" pitchFamily="34" charset="-128"/>
            </a:endParaRPr>
          </a:p>
          <a:p>
            <a:r>
              <a:rPr lang="en-US" dirty="0">
                <a:latin typeface="Arial Unicode MS" pitchFamily="34" charset="-128"/>
                <a:ea typeface="Arial Unicode MS" pitchFamily="34" charset="-128"/>
                <a:cs typeface="Arial Unicode MS" pitchFamily="34" charset="-128"/>
              </a:rPr>
              <a:t>   // else return the number of occurrences of 0 in </a:t>
            </a:r>
            <a:r>
              <a:rPr lang="en-US" dirty="0" err="1">
                <a:latin typeface="Arial Unicode MS" pitchFamily="34" charset="-128"/>
                <a:ea typeface="Arial Unicode MS" pitchFamily="34" charset="-128"/>
                <a:cs typeface="Arial Unicode MS" pitchFamily="34" charset="-128"/>
              </a:rPr>
              <a:t>arr</a:t>
            </a:r>
            <a:endParaRPr lang="en-US" dirty="0">
              <a:latin typeface="Arial Unicode MS" pitchFamily="34" charset="-128"/>
              <a:ea typeface="Arial Unicode MS" pitchFamily="34" charset="-128"/>
              <a:cs typeface="Arial Unicode MS" pitchFamily="34" charset="-128"/>
            </a:endParaRPr>
          </a:p>
          <a:p>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int</a:t>
            </a:r>
            <a:r>
              <a:rPr lang="en-US" dirty="0">
                <a:latin typeface="Arial Unicode MS" pitchFamily="34" charset="-128"/>
                <a:ea typeface="Arial Unicode MS" pitchFamily="34" charset="-128"/>
                <a:cs typeface="Arial Unicode MS" pitchFamily="34" charset="-128"/>
              </a:rPr>
              <a:t> count = 0;</a:t>
            </a:r>
          </a:p>
          <a:p>
            <a:r>
              <a:rPr lang="en-US" dirty="0">
                <a:latin typeface="Arial Unicode MS" pitchFamily="34" charset="-128"/>
                <a:ea typeface="Arial Unicode MS" pitchFamily="34" charset="-128"/>
                <a:cs typeface="Arial Unicode MS" pitchFamily="34" charset="-128"/>
              </a:rPr>
              <a:t>   for (</a:t>
            </a:r>
            <a:r>
              <a:rPr lang="en-US" dirty="0" err="1">
                <a:latin typeface="Arial Unicode MS" pitchFamily="34" charset="-128"/>
                <a:ea typeface="Arial Unicode MS" pitchFamily="34" charset="-128"/>
                <a:cs typeface="Arial Unicode MS" pitchFamily="34" charset="-128"/>
              </a:rPr>
              <a:t>int</a:t>
            </a:r>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i</a:t>
            </a:r>
            <a:r>
              <a:rPr lang="en-US" dirty="0">
                <a:latin typeface="Arial Unicode MS" pitchFamily="34" charset="-128"/>
                <a:ea typeface="Arial Unicode MS" pitchFamily="34" charset="-128"/>
                <a:cs typeface="Arial Unicode MS" pitchFamily="34" charset="-128"/>
              </a:rPr>
              <a:t> = 1; </a:t>
            </a:r>
            <a:r>
              <a:rPr lang="en-US" dirty="0" err="1">
                <a:latin typeface="Arial Unicode MS" pitchFamily="34" charset="-128"/>
                <a:ea typeface="Arial Unicode MS" pitchFamily="34" charset="-128"/>
                <a:cs typeface="Arial Unicode MS" pitchFamily="34" charset="-128"/>
              </a:rPr>
              <a:t>i</a:t>
            </a:r>
            <a:r>
              <a:rPr lang="en-US" dirty="0">
                <a:latin typeface="Arial Unicode MS" pitchFamily="34" charset="-128"/>
                <a:ea typeface="Arial Unicode MS" pitchFamily="34" charset="-128"/>
                <a:cs typeface="Arial Unicode MS" pitchFamily="34" charset="-128"/>
              </a:rPr>
              <a:t> &lt; </a:t>
            </a:r>
            <a:r>
              <a:rPr lang="en-US" dirty="0" err="1">
                <a:latin typeface="Arial Unicode MS" pitchFamily="34" charset="-128"/>
                <a:ea typeface="Arial Unicode MS" pitchFamily="34" charset="-128"/>
                <a:cs typeface="Arial Unicode MS" pitchFamily="34" charset="-128"/>
              </a:rPr>
              <a:t>arr.length</a:t>
            </a:r>
            <a:r>
              <a:rPr lang="en-US" dirty="0">
                <a:latin typeface="Arial Unicode MS" pitchFamily="34" charset="-128"/>
                <a:ea typeface="Arial Unicode MS" pitchFamily="34" charset="-128"/>
                <a:cs typeface="Arial Unicode MS" pitchFamily="34" charset="-128"/>
              </a:rPr>
              <a:t>; </a:t>
            </a:r>
            <a:r>
              <a:rPr lang="en-US" dirty="0" err="1">
                <a:latin typeface="Arial Unicode MS" pitchFamily="34" charset="-128"/>
                <a:ea typeface="Arial Unicode MS" pitchFamily="34" charset="-128"/>
                <a:cs typeface="Arial Unicode MS" pitchFamily="34" charset="-128"/>
              </a:rPr>
              <a:t>i</a:t>
            </a:r>
            <a:r>
              <a:rPr lang="en-US" dirty="0">
                <a:latin typeface="Arial Unicode MS" pitchFamily="34" charset="-128"/>
                <a:ea typeface="Arial Unicode MS" pitchFamily="34" charset="-128"/>
                <a:cs typeface="Arial Unicode MS" pitchFamily="34" charset="-128"/>
              </a:rPr>
              <a:t>++)</a:t>
            </a:r>
          </a:p>
          <a:p>
            <a:r>
              <a:rPr lang="en-US" dirty="0">
                <a:latin typeface="Arial Unicode MS" pitchFamily="34" charset="-128"/>
                <a:ea typeface="Arial Unicode MS" pitchFamily="34" charset="-128"/>
                <a:cs typeface="Arial Unicode MS" pitchFamily="34" charset="-128"/>
              </a:rPr>
              <a:t>   {</a:t>
            </a:r>
          </a:p>
          <a:p>
            <a:r>
              <a:rPr lang="en-US" dirty="0">
                <a:latin typeface="Arial Unicode MS" pitchFamily="34" charset="-128"/>
                <a:ea typeface="Arial Unicode MS" pitchFamily="34" charset="-128"/>
                <a:cs typeface="Arial Unicode MS" pitchFamily="34" charset="-128"/>
              </a:rPr>
              <a:t>      if (</a:t>
            </a:r>
            <a:r>
              <a:rPr lang="en-US" dirty="0" err="1">
                <a:latin typeface="Arial Unicode MS" pitchFamily="34" charset="-128"/>
                <a:ea typeface="Arial Unicode MS" pitchFamily="34" charset="-128"/>
                <a:cs typeface="Arial Unicode MS" pitchFamily="34" charset="-128"/>
              </a:rPr>
              <a:t>arr</a:t>
            </a:r>
            <a:r>
              <a:rPr lang="en-US" dirty="0">
                <a:latin typeface="Arial Unicode MS" pitchFamily="34" charset="-128"/>
                <a:ea typeface="Arial Unicode MS" pitchFamily="34" charset="-128"/>
                <a:cs typeface="Arial Unicode MS" pitchFamily="34" charset="-128"/>
              </a:rPr>
              <a:t> [ </a:t>
            </a:r>
            <a:r>
              <a:rPr lang="en-US" dirty="0" err="1">
                <a:latin typeface="Arial Unicode MS" pitchFamily="34" charset="-128"/>
                <a:ea typeface="Arial Unicode MS" pitchFamily="34" charset="-128"/>
                <a:cs typeface="Arial Unicode MS" pitchFamily="34" charset="-128"/>
              </a:rPr>
              <a:t>i</a:t>
            </a:r>
            <a:r>
              <a:rPr lang="en-US" dirty="0">
                <a:latin typeface="Arial Unicode MS" pitchFamily="34" charset="-128"/>
                <a:ea typeface="Arial Unicode MS" pitchFamily="34" charset="-128"/>
                <a:cs typeface="Arial Unicode MS" pitchFamily="34" charset="-128"/>
              </a:rPr>
              <a:t> ] == 0)</a:t>
            </a:r>
          </a:p>
          <a:p>
            <a:r>
              <a:rPr lang="en-US" dirty="0">
                <a:latin typeface="Arial Unicode MS" pitchFamily="34" charset="-128"/>
                <a:ea typeface="Arial Unicode MS" pitchFamily="34" charset="-128"/>
                <a:cs typeface="Arial Unicode MS" pitchFamily="34" charset="-128"/>
              </a:rPr>
              <a:t>      {</a:t>
            </a:r>
          </a:p>
          <a:p>
            <a:r>
              <a:rPr lang="en-US" dirty="0">
                <a:latin typeface="Arial Unicode MS" pitchFamily="34" charset="-128"/>
                <a:ea typeface="Arial Unicode MS" pitchFamily="34" charset="-128"/>
                <a:cs typeface="Arial Unicode MS" pitchFamily="34" charset="-128"/>
              </a:rPr>
              <a:t>         count++;</a:t>
            </a:r>
          </a:p>
          <a:p>
            <a:r>
              <a:rPr lang="en-US" dirty="0">
                <a:latin typeface="Arial Unicode MS" pitchFamily="34" charset="-128"/>
                <a:ea typeface="Arial Unicode MS" pitchFamily="34" charset="-128"/>
                <a:cs typeface="Arial Unicode MS" pitchFamily="34" charset="-128"/>
              </a:rPr>
              <a:t>      }</a:t>
            </a:r>
          </a:p>
          <a:p>
            <a:r>
              <a:rPr lang="en-US" dirty="0">
                <a:latin typeface="Arial Unicode MS" pitchFamily="34" charset="-128"/>
                <a:ea typeface="Arial Unicode MS" pitchFamily="34" charset="-128"/>
                <a:cs typeface="Arial Unicode MS" pitchFamily="34" charset="-128"/>
              </a:rPr>
              <a:t>   }</a:t>
            </a:r>
          </a:p>
          <a:p>
            <a:r>
              <a:rPr lang="en-US" dirty="0">
                <a:latin typeface="Arial Unicode MS" pitchFamily="34" charset="-128"/>
                <a:ea typeface="Arial Unicode MS" pitchFamily="34" charset="-128"/>
                <a:cs typeface="Arial Unicode MS" pitchFamily="34" charset="-128"/>
              </a:rPr>
              <a:t>   return count;</a:t>
            </a:r>
          </a:p>
          <a:p>
            <a:r>
              <a:rPr lang="en-US" dirty="0">
                <a:latin typeface="Arial Unicode MS" pitchFamily="34" charset="-128"/>
                <a:ea typeface="Arial Unicode MS" pitchFamily="34" charset="-128"/>
                <a:cs typeface="Arial Unicode MS" pitchFamily="34" charset="-128"/>
              </a:rPr>
              <a:t>}</a:t>
            </a:r>
          </a:p>
        </p:txBody>
      </p:sp>
      <p:sp>
        <p:nvSpPr>
          <p:cNvPr id="8" name="Oval 7"/>
          <p:cNvSpPr/>
          <p:nvPr/>
        </p:nvSpPr>
        <p:spPr bwMode="auto">
          <a:xfrm>
            <a:off x="2486953" y="3188264"/>
            <a:ext cx="1108609" cy="469338"/>
          </a:xfrm>
          <a:prstGeom prst="ellipse">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a:p>
        </p:txBody>
      </p:sp>
      <p:cxnSp>
        <p:nvCxnSpPr>
          <p:cNvPr id="10" name="Straight Connector 9"/>
          <p:cNvCxnSpPr>
            <a:stCxn id="8" idx="7"/>
            <a:endCxn id="11" idx="1"/>
          </p:cNvCxnSpPr>
          <p:nvPr/>
        </p:nvCxnSpPr>
        <p:spPr bwMode="auto">
          <a:xfrm flipV="1">
            <a:off x="3433209" y="1444431"/>
            <a:ext cx="2039704" cy="1812566"/>
          </a:xfrm>
          <a:prstGeom prst="line">
            <a:avLst/>
          </a:prstGeom>
          <a:solidFill>
            <a:schemeClr val="accent1"/>
          </a:solidFill>
          <a:ln w="38100" cap="flat" cmpd="sng" algn="ctr">
            <a:solidFill>
              <a:srgbClr val="FF0000"/>
            </a:solidFill>
            <a:prstDash val="solid"/>
            <a:round/>
            <a:headEnd type="none" w="sm" len="sm"/>
            <a:tailEnd type="none" w="sm" len="sm"/>
          </a:ln>
          <a:effectLst/>
        </p:spPr>
      </p:cxnSp>
      <p:sp>
        <p:nvSpPr>
          <p:cNvPr id="11" name="Rounded Rectangle 10"/>
          <p:cNvSpPr/>
          <p:nvPr/>
        </p:nvSpPr>
        <p:spPr bwMode="auto">
          <a:xfrm>
            <a:off x="5472913" y="1100520"/>
            <a:ext cx="2735666" cy="687823"/>
          </a:xfrm>
          <a:prstGeom prst="roundRect">
            <a:avLst/>
          </a:prstGeom>
          <a:solidFill>
            <a:srgbClr val="0000CC"/>
          </a:solid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dirty="0">
                <a:solidFill>
                  <a:schemeClr val="tx2"/>
                </a:solidFill>
                <a:latin typeface="Gill Sans MT" pitchFamily="34" charset="0"/>
              </a:rPr>
              <a:t>Fault</a:t>
            </a:r>
            <a:r>
              <a:rPr lang="en-US" dirty="0">
                <a:solidFill>
                  <a:schemeClr val="tx1"/>
                </a:solidFill>
                <a:latin typeface="Gill Sans MT" pitchFamily="34" charset="0"/>
              </a:rPr>
              <a:t>: Should start searching at 0, not 1</a:t>
            </a:r>
          </a:p>
        </p:txBody>
      </p:sp>
      <p:sp>
        <p:nvSpPr>
          <p:cNvPr id="14" name="Rectangle 13"/>
          <p:cNvSpPr/>
          <p:nvPr/>
        </p:nvSpPr>
        <p:spPr bwMode="auto">
          <a:xfrm>
            <a:off x="8280849" y="2112023"/>
            <a:ext cx="1767041" cy="1343278"/>
          </a:xfrm>
          <a:prstGeom prst="rect">
            <a:avLst/>
          </a:prstGeom>
          <a:solidFill>
            <a:srgbClr val="0000CC"/>
          </a:solidFill>
          <a:ln w="38100" cap="flat" cmpd="sng" algn="ctr">
            <a:solidFill>
              <a:schemeClr val="tx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lang="en-US" u="sng" dirty="0">
                <a:solidFill>
                  <a:schemeClr val="tx1"/>
                </a:solidFill>
                <a:latin typeface="Gill Sans MT" pitchFamily="34" charset="0"/>
              </a:rPr>
              <a:t>Test </a:t>
            </a:r>
            <a:r>
              <a:rPr lang="en-US" u="sng" dirty="0">
                <a:solidFill>
                  <a:schemeClr val="tx1"/>
                </a:solidFill>
                <a:latin typeface="+mj-lt"/>
              </a:rPr>
              <a:t>1</a:t>
            </a:r>
          </a:p>
          <a:p>
            <a:r>
              <a:rPr lang="en-US" dirty="0">
                <a:solidFill>
                  <a:schemeClr val="tx1"/>
                </a:solidFill>
                <a:latin typeface="Gill Sans MT" pitchFamily="34" charset="0"/>
              </a:rPr>
              <a:t>[ 2, 7, 0 ]</a:t>
            </a:r>
          </a:p>
          <a:p>
            <a:r>
              <a:rPr lang="en-US" dirty="0">
                <a:solidFill>
                  <a:schemeClr val="tx1"/>
                </a:solidFill>
                <a:latin typeface="Gill Sans MT" pitchFamily="34" charset="0"/>
              </a:rPr>
              <a:t>Expected: </a:t>
            </a:r>
            <a:r>
              <a:rPr lang="en-US" dirty="0">
                <a:solidFill>
                  <a:schemeClr val="tx1"/>
                </a:solidFill>
                <a:latin typeface="+mj-lt"/>
              </a:rPr>
              <a:t>1</a:t>
            </a:r>
          </a:p>
          <a:p>
            <a:r>
              <a:rPr lang="en-US" dirty="0">
                <a:solidFill>
                  <a:schemeClr val="tx1"/>
                </a:solidFill>
                <a:latin typeface="Gill Sans MT" pitchFamily="34" charset="0"/>
              </a:rPr>
              <a:t>Actual: </a:t>
            </a:r>
            <a:r>
              <a:rPr lang="en-US" dirty="0">
                <a:solidFill>
                  <a:schemeClr val="tx1"/>
                </a:solidFill>
              </a:rPr>
              <a:t>1</a:t>
            </a:r>
            <a:endParaRPr lang="en-US" dirty="0">
              <a:solidFill>
                <a:schemeClr val="tx1"/>
              </a:solidFill>
              <a:latin typeface="Gill Sans MT" pitchFamily="34" charset="0"/>
            </a:endParaRPr>
          </a:p>
        </p:txBody>
      </p:sp>
      <p:sp>
        <p:nvSpPr>
          <p:cNvPr id="15" name="Rectangle 14"/>
          <p:cNvSpPr/>
          <p:nvPr/>
        </p:nvSpPr>
        <p:spPr bwMode="auto">
          <a:xfrm>
            <a:off x="8499333" y="3607701"/>
            <a:ext cx="1758764" cy="1343278"/>
          </a:xfrm>
          <a:prstGeom prst="rect">
            <a:avLst/>
          </a:prstGeom>
          <a:solidFill>
            <a:srgbClr val="0000CC"/>
          </a:solidFill>
          <a:ln w="38100" cap="flat" cmpd="sng" algn="ctr">
            <a:solidFill>
              <a:schemeClr val="tx2"/>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a:r>
              <a:rPr lang="en-US" u="sng" dirty="0">
                <a:solidFill>
                  <a:schemeClr val="tx1"/>
                </a:solidFill>
                <a:latin typeface="Gill Sans MT" pitchFamily="34" charset="0"/>
              </a:rPr>
              <a:t>Test 2</a:t>
            </a:r>
          </a:p>
          <a:p>
            <a:r>
              <a:rPr lang="en-US" dirty="0">
                <a:solidFill>
                  <a:schemeClr val="tx1"/>
                </a:solidFill>
                <a:latin typeface="Gill Sans MT" pitchFamily="34" charset="0"/>
              </a:rPr>
              <a:t>[ 0, 2, 7 ]</a:t>
            </a:r>
          </a:p>
          <a:p>
            <a:r>
              <a:rPr lang="en-US" dirty="0">
                <a:solidFill>
                  <a:schemeClr val="tx1"/>
                </a:solidFill>
                <a:latin typeface="Gill Sans MT" pitchFamily="34" charset="0"/>
              </a:rPr>
              <a:t>Expected: </a:t>
            </a:r>
            <a:r>
              <a:rPr lang="en-US" dirty="0">
                <a:solidFill>
                  <a:schemeClr val="tx1"/>
                </a:solidFill>
              </a:rPr>
              <a:t>1</a:t>
            </a:r>
            <a:endParaRPr lang="en-US" dirty="0">
              <a:solidFill>
                <a:schemeClr val="tx1"/>
              </a:solidFill>
              <a:latin typeface="Gill Sans MT" pitchFamily="34" charset="0"/>
            </a:endParaRPr>
          </a:p>
          <a:p>
            <a:r>
              <a:rPr lang="en-US" dirty="0">
                <a:solidFill>
                  <a:schemeClr val="tx1"/>
                </a:solidFill>
                <a:latin typeface="Gill Sans MT" pitchFamily="34" charset="0"/>
              </a:rPr>
              <a:t>Actual: 0</a:t>
            </a:r>
          </a:p>
        </p:txBody>
      </p:sp>
      <p:sp>
        <p:nvSpPr>
          <p:cNvPr id="16" name="Rounded Rectangle 15"/>
          <p:cNvSpPr/>
          <p:nvPr/>
        </p:nvSpPr>
        <p:spPr bwMode="auto">
          <a:xfrm>
            <a:off x="5204528" y="3607701"/>
            <a:ext cx="2856906" cy="916064"/>
          </a:xfrm>
          <a:prstGeom prst="roundRect">
            <a:avLst/>
          </a:prstGeom>
          <a:solidFill>
            <a:srgbClr val="0000CC"/>
          </a:solid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dirty="0">
                <a:solidFill>
                  <a:schemeClr val="tx2"/>
                </a:solidFill>
                <a:latin typeface="Gill Sans MT" pitchFamily="34" charset="0"/>
              </a:rPr>
              <a:t>Error</a:t>
            </a:r>
            <a:r>
              <a:rPr lang="en-US" dirty="0">
                <a:solidFill>
                  <a:schemeClr val="tx1"/>
                </a:solidFill>
                <a:latin typeface="Gill Sans MT" pitchFamily="34" charset="0"/>
              </a:rPr>
              <a:t>: </a:t>
            </a:r>
            <a:r>
              <a:rPr lang="en-US" dirty="0" err="1">
                <a:solidFill>
                  <a:schemeClr val="tx1"/>
                </a:solidFill>
                <a:latin typeface="Gill Sans MT" pitchFamily="34" charset="0"/>
              </a:rPr>
              <a:t>i</a:t>
            </a:r>
            <a:r>
              <a:rPr lang="en-US" dirty="0">
                <a:solidFill>
                  <a:schemeClr val="tx1"/>
                </a:solidFill>
                <a:latin typeface="Gill Sans MT" pitchFamily="34" charset="0"/>
              </a:rPr>
              <a:t> is </a:t>
            </a:r>
            <a:r>
              <a:rPr lang="en-US" dirty="0">
                <a:solidFill>
                  <a:schemeClr val="tx1"/>
                </a:solidFill>
              </a:rPr>
              <a:t>1</a:t>
            </a:r>
            <a:r>
              <a:rPr lang="en-US" dirty="0">
                <a:solidFill>
                  <a:schemeClr val="tx1"/>
                </a:solidFill>
                <a:latin typeface="Gill Sans MT" pitchFamily="34" charset="0"/>
              </a:rPr>
              <a:t>, not 0, on the first iteration</a:t>
            </a:r>
          </a:p>
          <a:p>
            <a:r>
              <a:rPr lang="en-US" dirty="0">
                <a:solidFill>
                  <a:schemeClr val="tx2"/>
                </a:solidFill>
                <a:latin typeface="Gill Sans MT" pitchFamily="34" charset="0"/>
              </a:rPr>
              <a:t>Failure</a:t>
            </a:r>
            <a:r>
              <a:rPr lang="en-US" dirty="0">
                <a:solidFill>
                  <a:schemeClr val="tx1"/>
                </a:solidFill>
                <a:latin typeface="Gill Sans MT" pitchFamily="34" charset="0"/>
              </a:rPr>
              <a:t>: none</a:t>
            </a:r>
          </a:p>
        </p:txBody>
      </p:sp>
      <p:sp>
        <p:nvSpPr>
          <p:cNvPr id="17" name="Rounded Rectangle 16"/>
          <p:cNvSpPr/>
          <p:nvPr/>
        </p:nvSpPr>
        <p:spPr bwMode="auto">
          <a:xfrm>
            <a:off x="4766210" y="5076722"/>
            <a:ext cx="5355253" cy="916064"/>
          </a:xfrm>
          <a:prstGeom prst="roundRect">
            <a:avLst/>
          </a:prstGeom>
          <a:solidFill>
            <a:srgbClr val="0000CC"/>
          </a:solid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dirty="0">
                <a:solidFill>
                  <a:schemeClr val="tx2"/>
                </a:solidFill>
                <a:latin typeface="Gill Sans MT" pitchFamily="34" charset="0"/>
              </a:rPr>
              <a:t>Error</a:t>
            </a:r>
            <a:r>
              <a:rPr lang="en-US" dirty="0">
                <a:solidFill>
                  <a:schemeClr val="tx1"/>
                </a:solidFill>
                <a:latin typeface="Gill Sans MT" pitchFamily="34" charset="0"/>
              </a:rPr>
              <a:t>:  </a:t>
            </a:r>
            <a:r>
              <a:rPr lang="en-US" dirty="0" err="1">
                <a:solidFill>
                  <a:schemeClr val="tx1"/>
                </a:solidFill>
                <a:latin typeface="Gill Sans MT" pitchFamily="34" charset="0"/>
              </a:rPr>
              <a:t>i</a:t>
            </a:r>
            <a:r>
              <a:rPr lang="en-US" dirty="0">
                <a:solidFill>
                  <a:schemeClr val="tx1"/>
                </a:solidFill>
                <a:latin typeface="Gill Sans MT" pitchFamily="34" charset="0"/>
              </a:rPr>
              <a:t> is </a:t>
            </a:r>
            <a:r>
              <a:rPr lang="en-US" dirty="0">
                <a:solidFill>
                  <a:schemeClr val="tx1"/>
                </a:solidFill>
              </a:rPr>
              <a:t>1</a:t>
            </a:r>
            <a:r>
              <a:rPr lang="en-US" dirty="0">
                <a:solidFill>
                  <a:schemeClr val="tx1"/>
                </a:solidFill>
                <a:latin typeface="Gill Sans MT" pitchFamily="34" charset="0"/>
              </a:rPr>
              <a:t>, not 0</a:t>
            </a:r>
          </a:p>
          <a:p>
            <a:r>
              <a:rPr lang="en-US" dirty="0">
                <a:solidFill>
                  <a:schemeClr val="tx1"/>
                </a:solidFill>
                <a:latin typeface="Gill Sans MT" pitchFamily="34" charset="0"/>
              </a:rPr>
              <a:t>Error propagates to the variable count</a:t>
            </a:r>
          </a:p>
          <a:p>
            <a:r>
              <a:rPr lang="en-US" dirty="0">
                <a:solidFill>
                  <a:schemeClr val="tx2"/>
                </a:solidFill>
                <a:latin typeface="Gill Sans MT" pitchFamily="34" charset="0"/>
              </a:rPr>
              <a:t>Failure</a:t>
            </a:r>
            <a:r>
              <a:rPr lang="en-US" dirty="0">
                <a:solidFill>
                  <a:schemeClr val="tx1"/>
                </a:solidFill>
                <a:latin typeface="Gill Sans MT" pitchFamily="34" charset="0"/>
              </a:rPr>
              <a:t>: count is 0 at the return statement</a:t>
            </a:r>
          </a:p>
        </p:txBody>
      </p:sp>
      <p:cxnSp>
        <p:nvCxnSpPr>
          <p:cNvPr id="18" name="Straight Connector 17"/>
          <p:cNvCxnSpPr>
            <a:stCxn id="16" idx="0"/>
            <a:endCxn id="14" idx="1"/>
          </p:cNvCxnSpPr>
          <p:nvPr/>
        </p:nvCxnSpPr>
        <p:spPr bwMode="auto">
          <a:xfrm flipV="1">
            <a:off x="6632982" y="2783663"/>
            <a:ext cx="1647867" cy="824039"/>
          </a:xfrm>
          <a:prstGeom prst="line">
            <a:avLst/>
          </a:prstGeom>
          <a:solidFill>
            <a:schemeClr val="accent1"/>
          </a:solidFill>
          <a:ln w="38100" cap="flat" cmpd="sng" algn="ctr">
            <a:solidFill>
              <a:srgbClr val="FF0000"/>
            </a:solidFill>
            <a:prstDash val="solid"/>
            <a:round/>
            <a:headEnd type="none" w="sm" len="sm"/>
            <a:tailEnd type="none" w="sm" len="sm"/>
          </a:ln>
          <a:effectLst/>
        </p:spPr>
      </p:cxnSp>
      <p:cxnSp>
        <p:nvCxnSpPr>
          <p:cNvPr id="21" name="Straight Connector 20"/>
          <p:cNvCxnSpPr>
            <a:stCxn id="17" idx="0"/>
            <a:endCxn id="15" idx="1"/>
          </p:cNvCxnSpPr>
          <p:nvPr/>
        </p:nvCxnSpPr>
        <p:spPr bwMode="auto">
          <a:xfrm flipV="1">
            <a:off x="7443837" y="4279340"/>
            <a:ext cx="1055497" cy="797382"/>
          </a:xfrm>
          <a:prstGeom prst="line">
            <a:avLst/>
          </a:prstGeom>
          <a:solidFill>
            <a:schemeClr val="accent1"/>
          </a:solidFill>
          <a:ln w="38100" cap="flat" cmpd="sng" algn="ctr">
            <a:solidFill>
              <a:srgbClr val="FF0000"/>
            </a:solidFill>
            <a:prstDash val="solid"/>
            <a:round/>
            <a:headEnd type="none" w="sm" len="sm"/>
            <a:tailEnd type="none" w="sm" len="sm"/>
          </a:ln>
          <a:effectLst/>
        </p:spPr>
      </p:cxnSp>
    </p:spTree>
    <p:extLst>
      <p:ext uri="{BB962C8B-B14F-4D97-AF65-F5344CB8AC3E}">
        <p14:creationId xmlns:p14="http://schemas.microsoft.com/office/powerpoint/2010/main" val="400148128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up)">
                                      <p:cBhvr>
                                        <p:cTn id="20" dur="500"/>
                                        <p:tgtEl>
                                          <p:spTgt spid="14"/>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up)">
                                      <p:cBhvr>
                                        <p:cTn id="24" dur="500"/>
                                        <p:tgtEl>
                                          <p:spTgt spid="18"/>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up)">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up)">
                                      <p:cBhvr>
                                        <p:cTn id="33" dur="500"/>
                                        <p:tgtEl>
                                          <p:spTgt spid="15"/>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up)">
                                      <p:cBhvr>
                                        <p:cTn id="37" dur="500"/>
                                        <p:tgtEl>
                                          <p:spTgt spid="21"/>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up)">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5" grpId="0" animBg="1"/>
      <p:bldP spid="1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a:spLocks noChangeArrowheads="1"/>
          </p:cNvSpPr>
          <p:nvPr/>
        </p:nvSpPr>
        <p:spPr bwMode="auto">
          <a:xfrm>
            <a:off x="1726521" y="1628801"/>
            <a:ext cx="8475663" cy="4247317"/>
          </a:xfrm>
          <a:prstGeom prst="rect">
            <a:avLst/>
          </a:prstGeom>
          <a:noFill/>
          <a:ln w="38100">
            <a:noFill/>
            <a:miter lim="800000"/>
            <a:headEnd/>
            <a:tailEnd/>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Public  static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numZero</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Effects: If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is null throw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NullPointerException</a:t>
            </a:r>
            <a:endPar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else return the number of occurrences of 0 in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a:t>
            </a:r>
            <a:endPar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endParaRP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count = 0;</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for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1;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&lt;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arr.length</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if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arr</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a:t>
            </a:r>
            <a:r>
              <a:rPr lang="en-US" sz="1800" dirty="0" err="1">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 == 0)</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count++;</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return count;</a:t>
            </a:r>
          </a:p>
          <a:p>
            <a:r>
              <a:rPr lang="en-US" sz="18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p>
        </p:txBody>
      </p:sp>
      <p:sp>
        <p:nvSpPr>
          <p:cNvPr id="2" name="标题 1"/>
          <p:cNvSpPr>
            <a:spLocks noGrp="1"/>
          </p:cNvSpPr>
          <p:nvPr>
            <p:ph type="title"/>
          </p:nvPr>
        </p:nvSpPr>
        <p:spPr/>
        <p:txBody>
          <a:bodyPr/>
          <a:lstStyle/>
          <a:p>
            <a:r>
              <a:rPr lang="en-US" altLang="zh-CN" dirty="0"/>
              <a:t>A Concrete Example</a:t>
            </a:r>
            <a:endParaRPr lang="zh-CN" altLang="en-US" dirty="0"/>
          </a:p>
        </p:txBody>
      </p:sp>
      <p:sp>
        <p:nvSpPr>
          <p:cNvPr id="4" name="椭圆 3"/>
          <p:cNvSpPr/>
          <p:nvPr/>
        </p:nvSpPr>
        <p:spPr>
          <a:xfrm>
            <a:off x="6199909" y="3569716"/>
            <a:ext cx="2130136" cy="7057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arr</a:t>
            </a:r>
            <a:r>
              <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 [2, 7, 0]</a:t>
            </a:r>
          </a:p>
          <a:p>
            <a:pPr algn="ctr"/>
            <a:r>
              <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count = 0</a:t>
            </a:r>
          </a:p>
          <a:p>
            <a:pPr algn="ctr"/>
            <a:endParaRPr lang="zh-CN" altLang="en-US"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5" name="直接箭头连接符 4"/>
          <p:cNvCxnSpPr/>
          <p:nvPr/>
        </p:nvCxnSpPr>
        <p:spPr>
          <a:xfrm>
            <a:off x="7005490" y="3353691"/>
            <a:ext cx="144016" cy="216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6357418" y="4937867"/>
            <a:ext cx="1872208" cy="864096"/>
          </a:xfrm>
          <a:prstGeom prst="ellipse">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gn="ctr"/>
            <a:r>
              <a:rPr lang="en-US" altLang="zh-CN" sz="1200" dirty="0" err="1">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arr</a:t>
            </a:r>
            <a:r>
              <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 [2, 7, 0]</a:t>
            </a:r>
          </a:p>
          <a:p>
            <a:pPr algn="ctr"/>
            <a:r>
              <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count = 0</a:t>
            </a:r>
          </a:p>
          <a:p>
            <a:pPr algn="ctr"/>
            <a:r>
              <a:rPr lang="en-US" altLang="zh-CN" sz="1200" dirty="0" err="1">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 1</a:t>
            </a:r>
          </a:p>
          <a:p>
            <a:pPr algn="ctr"/>
            <a:r>
              <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PC = if</a:t>
            </a:r>
          </a:p>
          <a:p>
            <a:pPr algn="ctr"/>
            <a:endParaRPr lang="zh-CN" altLang="en-US"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7" name="直接箭头连接符 6"/>
          <p:cNvCxnSpPr>
            <a:stCxn id="4" idx="4"/>
          </p:cNvCxnSpPr>
          <p:nvPr/>
        </p:nvCxnSpPr>
        <p:spPr>
          <a:xfrm flipH="1">
            <a:off x="7257519" y="4275423"/>
            <a:ext cx="7458" cy="6624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361324" y="4475539"/>
            <a:ext cx="652279"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i=1</a:t>
            </a:r>
            <a:endParaRPr lang="zh-CN" altLang="en-US" sz="120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25" name="椭圆 24"/>
          <p:cNvSpPr/>
          <p:nvPr/>
        </p:nvSpPr>
        <p:spPr>
          <a:xfrm>
            <a:off x="8593577" y="4937867"/>
            <a:ext cx="1835432" cy="86409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gn="ctr"/>
            <a:r>
              <a:rPr lang="en-US" altLang="zh-CN" sz="1200" dirty="0" err="1">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arr</a:t>
            </a:r>
            <a:r>
              <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 [2, 7, 0]</a:t>
            </a:r>
          </a:p>
          <a:p>
            <a:pPr algn="ctr"/>
            <a:r>
              <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count = 0</a:t>
            </a:r>
          </a:p>
          <a:p>
            <a:pPr algn="ctr"/>
            <a:r>
              <a:rPr lang="en-US" altLang="zh-CN"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i = 0</a:t>
            </a:r>
          </a:p>
          <a:p>
            <a:pPr algn="ctr"/>
            <a:endParaRPr lang="zh-CN" altLang="en-US" sz="12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58099382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A818A226-45BD-49D9-8BAA-C216DB0D2C89}" type="slidenum">
              <a:rPr lang="en-US" sz="800" b="0">
                <a:solidFill>
                  <a:schemeClr val="tx1"/>
                </a:solidFill>
                <a:latin typeface="Arial" panose="020B0604020202020204" pitchFamily="34" charset="0"/>
              </a:rPr>
              <a:pPr/>
              <a:t>12</a:t>
            </a:fld>
            <a:endParaRPr lang="en-US" sz="800" b="0">
              <a:solidFill>
                <a:schemeClr val="tx1"/>
              </a:solidFill>
              <a:latin typeface="Arial" panose="020B0604020202020204" pitchFamily="34" charset="0"/>
            </a:endParaRPr>
          </a:p>
        </p:txBody>
      </p:sp>
      <p:sp>
        <p:nvSpPr>
          <p:cNvPr id="50181" name="Rectangle 2"/>
          <p:cNvSpPr>
            <a:spLocks noGrp="1" noChangeArrowheads="1"/>
          </p:cNvSpPr>
          <p:nvPr>
            <p:ph type="title"/>
          </p:nvPr>
        </p:nvSpPr>
        <p:spPr/>
        <p:txBody>
          <a:bodyPr/>
          <a:lstStyle/>
          <a:p>
            <a:r>
              <a:rPr lang="en-US" dirty="0"/>
              <a:t>Fault &amp; Failure Model (RIPR)</a:t>
            </a:r>
          </a:p>
        </p:txBody>
      </p:sp>
      <p:sp>
        <p:nvSpPr>
          <p:cNvPr id="165891" name="Rectangle 3"/>
          <p:cNvSpPr>
            <a:spLocks noGrp="1" noChangeArrowheads="1"/>
          </p:cNvSpPr>
          <p:nvPr>
            <p:ph type="body" idx="1"/>
          </p:nvPr>
        </p:nvSpPr>
        <p:spPr>
          <a:xfrm>
            <a:off x="1612900" y="830264"/>
            <a:ext cx="8966200" cy="5546725"/>
          </a:xfrm>
        </p:spPr>
        <p:txBody>
          <a:bodyPr/>
          <a:lstStyle/>
          <a:p>
            <a:pPr marL="457200" indent="-457200" algn="ctr">
              <a:buNone/>
              <a:defRPr/>
            </a:pPr>
            <a:r>
              <a:rPr lang="en-US" u="sng" dirty="0">
                <a:solidFill>
                  <a:schemeClr val="tx2"/>
                </a:solidFill>
                <a:effectLst>
                  <a:outerShdw blurRad="38100" dist="38100" dir="2700000" algn="tl">
                    <a:srgbClr val="000000"/>
                  </a:outerShdw>
                </a:effectLst>
              </a:rPr>
              <a:t>Four conditions necessary for a failure to be observed</a:t>
            </a:r>
          </a:p>
          <a:p>
            <a:pPr marL="457200" indent="-457200">
              <a:buFont typeface="Monotype Sorts" charset="2"/>
              <a:buAutoNum type="arabicPeriod"/>
              <a:defRPr/>
            </a:pPr>
            <a:endParaRPr lang="en-US" u="sng" dirty="0">
              <a:solidFill>
                <a:schemeClr val="tx2"/>
              </a:solidFill>
              <a:effectLst>
                <a:outerShdw blurRad="38100" dist="38100" dir="2700000" algn="tl">
                  <a:srgbClr val="000000"/>
                </a:outerShdw>
              </a:effectLst>
            </a:endParaRPr>
          </a:p>
          <a:p>
            <a:pPr marL="457200" indent="-457200">
              <a:spcAft>
                <a:spcPts val="1200"/>
              </a:spcAft>
              <a:buSzTx/>
              <a:buFont typeface="Monotype Sorts" charset="2"/>
              <a:buAutoNum type="arabicPeriod"/>
              <a:defRPr/>
            </a:pPr>
            <a:r>
              <a:rPr lang="en-US" dirty="0"/>
              <a:t> </a:t>
            </a:r>
            <a:r>
              <a:rPr lang="en-US" dirty="0">
                <a:solidFill>
                  <a:schemeClr val="tx2"/>
                </a:solidFill>
              </a:rPr>
              <a:t>Reachability</a:t>
            </a:r>
            <a:r>
              <a:rPr lang="en-US" dirty="0"/>
              <a:t> : The location or locations in the program that contain the fault must be reached </a:t>
            </a:r>
          </a:p>
          <a:p>
            <a:pPr marL="457200" indent="-457200">
              <a:spcAft>
                <a:spcPts val="1200"/>
              </a:spcAft>
              <a:buSzTx/>
              <a:buFont typeface="Monotype Sorts" charset="2"/>
              <a:buAutoNum type="arabicPeriod"/>
              <a:defRPr/>
            </a:pPr>
            <a:r>
              <a:rPr lang="en-US" dirty="0"/>
              <a:t> </a:t>
            </a:r>
            <a:r>
              <a:rPr lang="en-US" dirty="0">
                <a:solidFill>
                  <a:schemeClr val="tx2"/>
                </a:solidFill>
              </a:rPr>
              <a:t>Infection</a:t>
            </a:r>
            <a:r>
              <a:rPr lang="en-US" dirty="0"/>
              <a:t> : The state of the program must be incorrect</a:t>
            </a:r>
          </a:p>
          <a:p>
            <a:pPr marL="457200" indent="-457200">
              <a:spcAft>
                <a:spcPts val="1200"/>
              </a:spcAft>
              <a:buSzTx/>
              <a:buFont typeface="Monotype Sorts" charset="2"/>
              <a:buAutoNum type="arabicPeriod"/>
              <a:defRPr/>
            </a:pPr>
            <a:r>
              <a:rPr lang="en-US" dirty="0"/>
              <a:t> </a:t>
            </a:r>
            <a:r>
              <a:rPr lang="en-US" dirty="0">
                <a:solidFill>
                  <a:schemeClr val="tx2"/>
                </a:solidFill>
              </a:rPr>
              <a:t>Propagation</a:t>
            </a:r>
            <a:r>
              <a:rPr lang="en-US" dirty="0"/>
              <a:t> : The infected state must cause some output or final state of the program to be incorrect</a:t>
            </a:r>
          </a:p>
          <a:p>
            <a:pPr marL="457200" indent="-457200">
              <a:spcAft>
                <a:spcPts val="1200"/>
              </a:spcAft>
              <a:buSzTx/>
              <a:buFont typeface="Monotype Sorts" charset="2"/>
              <a:buAutoNum type="arabicPeriod"/>
              <a:defRPr/>
            </a:pPr>
            <a:r>
              <a:rPr lang="en-US" dirty="0"/>
              <a:t> </a:t>
            </a:r>
            <a:r>
              <a:rPr lang="en-US" dirty="0">
                <a:solidFill>
                  <a:schemeClr val="tx2"/>
                </a:solidFill>
              </a:rPr>
              <a:t>Reveal</a:t>
            </a:r>
            <a:r>
              <a:rPr lang="en-US" dirty="0"/>
              <a:t> : The tester must observe part of the incorrect portion of the program state</a:t>
            </a:r>
          </a:p>
        </p:txBody>
      </p:sp>
    </p:spTree>
    <p:extLst>
      <p:ext uri="{BB962C8B-B14F-4D97-AF65-F5344CB8AC3E}">
        <p14:creationId xmlns:p14="http://schemas.microsoft.com/office/powerpoint/2010/main" val="268480979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
            <a:ext cx="9144000" cy="1070811"/>
          </a:xfrm>
        </p:spPr>
        <p:txBody>
          <a:bodyPr>
            <a:normAutofit/>
          </a:bodyPr>
          <a:lstStyle/>
          <a:p>
            <a:r>
              <a:rPr lang="en-US" dirty="0">
                <a:solidFill>
                  <a:srgbClr val="FFFF00"/>
                </a:solidFill>
              </a:rPr>
              <a:t>RIPR Model</a:t>
            </a:r>
          </a:p>
        </p:txBody>
      </p:sp>
      <p:sp>
        <p:nvSpPr>
          <p:cNvPr id="7" name="Content Placeholder 2"/>
          <p:cNvSpPr txBox="1">
            <a:spLocks/>
          </p:cNvSpPr>
          <p:nvPr/>
        </p:nvSpPr>
        <p:spPr>
          <a:xfrm>
            <a:off x="1732007" y="974436"/>
            <a:ext cx="2912919" cy="5284655"/>
          </a:xfrm>
          <a:prstGeom prst="rect">
            <a:avLst/>
          </a:prstGeom>
        </p:spPr>
        <p:txBody>
          <a:bodyPr vert="horz" lIns="91440" tIns="45720" rIns="91440" bIns="45720" rtlCol="0" anchor="ctr">
            <a:normAutofit/>
          </a:bodyPr>
          <a:lstStyle>
            <a:lvl1pPr marL="342900" indent="-342900" algn="l" defTabSz="914400" rtl="0" eaLnBrk="1" latinLnBrk="0" hangingPunct="1">
              <a:lnSpc>
                <a:spcPct val="150000"/>
              </a:lnSpc>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lnSpc>
                <a:spcPct val="150000"/>
              </a:lnSpc>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b="0" dirty="0">
                <a:solidFill>
                  <a:schemeClr val="tx2"/>
                </a:solidFill>
                <a:latin typeface="Gill Sans MT" panose="020B0502020104020203" pitchFamily="34" charset="0"/>
                <a:ea typeface="宋体" pitchFamily="2" charset="-122"/>
              </a:rPr>
              <a:t>R</a:t>
            </a:r>
            <a:r>
              <a:rPr lang="en-US" altLang="zh-CN" b="0" dirty="0">
                <a:latin typeface="Gill Sans MT" panose="020B0502020104020203" pitchFamily="34" charset="0"/>
                <a:ea typeface="宋体" pitchFamily="2" charset="-122"/>
              </a:rPr>
              <a:t>eachability</a:t>
            </a:r>
          </a:p>
          <a:p>
            <a:r>
              <a:rPr lang="en-US" altLang="zh-CN" b="0" dirty="0">
                <a:solidFill>
                  <a:schemeClr val="tx2"/>
                </a:solidFill>
                <a:latin typeface="Gill Sans MT" panose="020B0502020104020203" pitchFamily="34" charset="0"/>
                <a:ea typeface="宋体" pitchFamily="2" charset="-122"/>
              </a:rPr>
              <a:t>I</a:t>
            </a:r>
            <a:r>
              <a:rPr lang="en-US" altLang="zh-CN" b="0" dirty="0">
                <a:latin typeface="Gill Sans MT" panose="020B0502020104020203" pitchFamily="34" charset="0"/>
                <a:ea typeface="宋体" pitchFamily="2" charset="-122"/>
              </a:rPr>
              <a:t>nfection</a:t>
            </a:r>
          </a:p>
          <a:p>
            <a:r>
              <a:rPr lang="en-US" altLang="zh-CN" b="0" dirty="0">
                <a:solidFill>
                  <a:schemeClr val="tx2"/>
                </a:solidFill>
                <a:latin typeface="Gill Sans MT" panose="020B0502020104020203" pitchFamily="34" charset="0"/>
                <a:ea typeface="宋体" pitchFamily="2" charset="-122"/>
              </a:rPr>
              <a:t>P</a:t>
            </a:r>
            <a:r>
              <a:rPr lang="en-US" altLang="zh-CN" b="0" dirty="0">
                <a:latin typeface="Gill Sans MT" panose="020B0502020104020203" pitchFamily="34" charset="0"/>
                <a:ea typeface="宋体" pitchFamily="2" charset="-122"/>
              </a:rPr>
              <a:t>ropagation</a:t>
            </a:r>
          </a:p>
          <a:p>
            <a:r>
              <a:rPr lang="en-US" altLang="zh-CN" b="0" dirty="0" err="1">
                <a:solidFill>
                  <a:schemeClr val="tx2"/>
                </a:solidFill>
                <a:latin typeface="Gill Sans MT" panose="020B0502020104020203" pitchFamily="34" charset="0"/>
                <a:ea typeface="宋体" pitchFamily="2" charset="-122"/>
              </a:rPr>
              <a:t>R</a:t>
            </a:r>
            <a:r>
              <a:rPr lang="en-US" altLang="zh-CN" b="0" dirty="0" err="1">
                <a:latin typeface="Gill Sans MT" panose="020B0502020104020203" pitchFamily="34" charset="0"/>
                <a:ea typeface="宋体" pitchFamily="2" charset="-122"/>
              </a:rPr>
              <a:t>evealability</a:t>
            </a:r>
            <a:r>
              <a:rPr lang="en-US" altLang="zh-CN" b="0" dirty="0">
                <a:latin typeface="Gill Sans MT" panose="020B0502020104020203" pitchFamily="34" charset="0"/>
                <a:ea typeface="宋体" pitchFamily="2" charset="-122"/>
              </a:rPr>
              <a:t> </a:t>
            </a:r>
          </a:p>
        </p:txBody>
      </p:sp>
      <p:sp>
        <p:nvSpPr>
          <p:cNvPr id="3" name="Oval 2"/>
          <p:cNvSpPr/>
          <p:nvPr/>
        </p:nvSpPr>
        <p:spPr>
          <a:xfrm>
            <a:off x="5129545" y="937697"/>
            <a:ext cx="1361404" cy="1083491"/>
          </a:xfrm>
          <a:prstGeom prst="ellipse">
            <a:avLst/>
          </a:prstGeom>
          <a:solidFill>
            <a:schemeClr val="tx2">
              <a:lumMod val="75000"/>
            </a:schemeClr>
          </a:solidFill>
          <a:ln w="38100">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latin typeface="Gill Sans MT" panose="020B0502020104020203" pitchFamily="34" charset="0"/>
              </a:rPr>
              <a:t>Test</a:t>
            </a:r>
          </a:p>
        </p:txBody>
      </p:sp>
      <p:sp>
        <p:nvSpPr>
          <p:cNvPr id="8" name="Oval 7"/>
          <p:cNvSpPr/>
          <p:nvPr/>
        </p:nvSpPr>
        <p:spPr>
          <a:xfrm>
            <a:off x="5032938" y="2540773"/>
            <a:ext cx="1554621" cy="1269154"/>
          </a:xfrm>
          <a:prstGeom prst="ellipse">
            <a:avLst/>
          </a:prstGeom>
          <a:solidFill>
            <a:schemeClr val="tx2">
              <a:lumMod val="75000"/>
            </a:schemeClr>
          </a:solidFill>
          <a:ln w="38100">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latin typeface="Gill Sans MT" panose="020B0502020104020203" pitchFamily="34" charset="0"/>
              </a:rPr>
              <a:t>Fault</a:t>
            </a:r>
          </a:p>
        </p:txBody>
      </p:sp>
      <p:sp>
        <p:nvSpPr>
          <p:cNvPr id="9" name="Oval 8"/>
          <p:cNvSpPr/>
          <p:nvPr/>
        </p:nvSpPr>
        <p:spPr>
          <a:xfrm>
            <a:off x="4737487" y="4329512"/>
            <a:ext cx="2145520" cy="1860910"/>
          </a:xfrm>
          <a:prstGeom prst="ellipse">
            <a:avLst/>
          </a:prstGeom>
          <a:solidFill>
            <a:schemeClr val="tx2">
              <a:lumMod val="75000"/>
            </a:schemeClr>
          </a:solidFill>
          <a:ln w="38100">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latin typeface="Gill Sans MT" panose="020B0502020104020203" pitchFamily="34" charset="0"/>
              </a:rPr>
              <a:t>Incorrect Program State</a:t>
            </a:r>
          </a:p>
        </p:txBody>
      </p:sp>
      <p:sp>
        <p:nvSpPr>
          <p:cNvPr id="10" name="Oval 9"/>
          <p:cNvSpPr/>
          <p:nvPr/>
        </p:nvSpPr>
        <p:spPr>
          <a:xfrm>
            <a:off x="6883008" y="898267"/>
            <a:ext cx="3639789" cy="3577582"/>
          </a:xfrm>
          <a:prstGeom prst="ellipse">
            <a:avLst/>
          </a:prstGeom>
          <a:solidFill>
            <a:schemeClr val="tx2">
              <a:lumMod val="75000"/>
            </a:schemeClr>
          </a:solidFill>
          <a:ln w="38100">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Oval 10"/>
          <p:cNvSpPr/>
          <p:nvPr/>
        </p:nvSpPr>
        <p:spPr>
          <a:xfrm>
            <a:off x="7768389" y="5225373"/>
            <a:ext cx="1949116" cy="1416051"/>
          </a:xfrm>
          <a:prstGeom prst="ellipse">
            <a:avLst/>
          </a:prstGeom>
          <a:solidFill>
            <a:schemeClr val="tx2">
              <a:lumMod val="75000"/>
            </a:schemeClr>
          </a:solidFill>
          <a:ln w="38100">
            <a:solidFill>
              <a:schemeClr val="tx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latin typeface="Gill Sans MT" panose="020B0502020104020203" pitchFamily="34" charset="0"/>
              </a:rPr>
              <a:t>Test Oracles</a:t>
            </a:r>
          </a:p>
        </p:txBody>
      </p:sp>
      <p:sp>
        <p:nvSpPr>
          <p:cNvPr id="14" name="TextBox 13"/>
          <p:cNvSpPr txBox="1"/>
          <p:nvPr/>
        </p:nvSpPr>
        <p:spPr>
          <a:xfrm>
            <a:off x="6883008" y="1430831"/>
            <a:ext cx="3639789" cy="461665"/>
          </a:xfrm>
          <a:prstGeom prst="rect">
            <a:avLst/>
          </a:prstGeom>
          <a:noFill/>
        </p:spPr>
        <p:txBody>
          <a:bodyPr wrap="square" rtlCol="0">
            <a:spAutoFit/>
          </a:bodyPr>
          <a:lstStyle/>
          <a:p>
            <a:pPr algn="ctr"/>
            <a:r>
              <a:rPr lang="en-US" sz="2400" dirty="0">
                <a:solidFill>
                  <a:schemeClr val="tx1"/>
                </a:solidFill>
                <a:latin typeface="Gill Sans MT" panose="020B0502020104020203" pitchFamily="34" charset="0"/>
              </a:rPr>
              <a:t>Final Program State</a:t>
            </a:r>
          </a:p>
        </p:txBody>
      </p:sp>
      <p:sp>
        <p:nvSpPr>
          <p:cNvPr id="15" name="Oval 14"/>
          <p:cNvSpPr/>
          <p:nvPr/>
        </p:nvSpPr>
        <p:spPr>
          <a:xfrm>
            <a:off x="7620001" y="1828121"/>
            <a:ext cx="2902796" cy="1316425"/>
          </a:xfrm>
          <a:prstGeom prst="ellipse">
            <a:avLst/>
          </a:prstGeom>
          <a:solidFill>
            <a:schemeClr val="tx2">
              <a:lumMod val="60000"/>
              <a:lumOff val="40000"/>
            </a:schemeClr>
          </a:solidFill>
          <a:ln w="38100">
            <a:solidFill>
              <a:schemeClr val="tx2">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0" dirty="0"/>
              <a:t>Observed Final Program State</a:t>
            </a:r>
          </a:p>
        </p:txBody>
      </p:sp>
      <p:cxnSp>
        <p:nvCxnSpPr>
          <p:cNvPr id="18" name="Straight Arrow Connector 17"/>
          <p:cNvCxnSpPr>
            <a:endCxn id="8" idx="0"/>
          </p:cNvCxnSpPr>
          <p:nvPr/>
        </p:nvCxnSpPr>
        <p:spPr>
          <a:xfrm>
            <a:off x="5810248" y="2024847"/>
            <a:ext cx="1" cy="515926"/>
          </a:xfrm>
          <a:prstGeom prst="straightConnector1">
            <a:avLst/>
          </a:prstGeom>
          <a:ln w="38100">
            <a:solidFill>
              <a:schemeClr val="tx2">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8" idx="4"/>
            <a:endCxn id="9" idx="0"/>
          </p:cNvCxnSpPr>
          <p:nvPr/>
        </p:nvCxnSpPr>
        <p:spPr>
          <a:xfrm flipH="1">
            <a:off x="5810248" y="3809928"/>
            <a:ext cx="1" cy="519585"/>
          </a:xfrm>
          <a:prstGeom prst="straightConnector1">
            <a:avLst/>
          </a:prstGeom>
          <a:ln w="38100">
            <a:solidFill>
              <a:schemeClr val="tx2">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a:stCxn id="9" idx="7"/>
            <a:endCxn id="41" idx="2"/>
          </p:cNvCxnSpPr>
          <p:nvPr/>
        </p:nvCxnSpPr>
        <p:spPr>
          <a:xfrm flipV="1">
            <a:off x="6568804" y="3773258"/>
            <a:ext cx="833067" cy="828778"/>
          </a:xfrm>
          <a:prstGeom prst="straightConnector1">
            <a:avLst/>
          </a:prstGeom>
          <a:ln w="38100">
            <a:solidFill>
              <a:schemeClr val="tx2">
                <a:lumMod val="5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stCxn id="11" idx="0"/>
          </p:cNvCxnSpPr>
          <p:nvPr/>
        </p:nvCxnSpPr>
        <p:spPr>
          <a:xfrm flipH="1" flipV="1">
            <a:off x="8701659" y="3007896"/>
            <a:ext cx="41288" cy="221747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9" name="TextBox 28"/>
          <p:cNvSpPr txBox="1"/>
          <p:nvPr/>
        </p:nvSpPr>
        <p:spPr>
          <a:xfrm>
            <a:off x="4436837" y="2011380"/>
            <a:ext cx="1377861" cy="461665"/>
          </a:xfrm>
          <a:prstGeom prst="rect">
            <a:avLst/>
          </a:prstGeom>
          <a:noFill/>
        </p:spPr>
        <p:txBody>
          <a:bodyPr wrap="square" rtlCol="0">
            <a:spAutoFit/>
          </a:bodyPr>
          <a:lstStyle/>
          <a:p>
            <a:pPr algn="r"/>
            <a:r>
              <a:rPr lang="en-US" sz="2400" b="0" dirty="0">
                <a:solidFill>
                  <a:schemeClr val="tx1"/>
                </a:solidFill>
                <a:latin typeface="Gill Sans MT" panose="020B0502020104020203" pitchFamily="34" charset="0"/>
              </a:rPr>
              <a:t>Reaches</a:t>
            </a:r>
          </a:p>
        </p:txBody>
      </p:sp>
      <p:sp>
        <p:nvSpPr>
          <p:cNvPr id="31" name="TextBox 30"/>
          <p:cNvSpPr txBox="1"/>
          <p:nvPr/>
        </p:nvSpPr>
        <p:spPr>
          <a:xfrm>
            <a:off x="4756101" y="3736344"/>
            <a:ext cx="1058596" cy="461665"/>
          </a:xfrm>
          <a:prstGeom prst="rect">
            <a:avLst/>
          </a:prstGeom>
          <a:noFill/>
        </p:spPr>
        <p:txBody>
          <a:bodyPr wrap="square" rtlCol="0">
            <a:spAutoFit/>
          </a:bodyPr>
          <a:lstStyle/>
          <a:p>
            <a:pPr algn="r"/>
            <a:r>
              <a:rPr lang="en-US" sz="2400" b="0" dirty="0">
                <a:solidFill>
                  <a:schemeClr val="tx1"/>
                </a:solidFill>
                <a:latin typeface="Gill Sans MT" panose="020B0502020104020203" pitchFamily="34" charset="0"/>
              </a:rPr>
              <a:t>Infects</a:t>
            </a:r>
          </a:p>
        </p:txBody>
      </p:sp>
      <p:sp>
        <p:nvSpPr>
          <p:cNvPr id="32" name="TextBox 31"/>
          <p:cNvSpPr txBox="1"/>
          <p:nvPr/>
        </p:nvSpPr>
        <p:spPr>
          <a:xfrm>
            <a:off x="6821735" y="4494176"/>
            <a:ext cx="1692464" cy="461665"/>
          </a:xfrm>
          <a:prstGeom prst="rect">
            <a:avLst/>
          </a:prstGeom>
          <a:noFill/>
        </p:spPr>
        <p:txBody>
          <a:bodyPr wrap="square" rtlCol="0">
            <a:spAutoFit/>
          </a:bodyPr>
          <a:lstStyle/>
          <a:p>
            <a:r>
              <a:rPr lang="en-US" sz="2400" b="0" dirty="0">
                <a:solidFill>
                  <a:schemeClr val="tx1"/>
                </a:solidFill>
                <a:latin typeface="Gill Sans MT" panose="020B0502020104020203" pitchFamily="34" charset="0"/>
              </a:rPr>
              <a:t>Propagates</a:t>
            </a:r>
          </a:p>
        </p:txBody>
      </p:sp>
      <p:sp>
        <p:nvSpPr>
          <p:cNvPr id="33" name="TextBox 32"/>
          <p:cNvSpPr txBox="1"/>
          <p:nvPr/>
        </p:nvSpPr>
        <p:spPr>
          <a:xfrm>
            <a:off x="8701659" y="4614536"/>
            <a:ext cx="1276912" cy="461665"/>
          </a:xfrm>
          <a:prstGeom prst="rect">
            <a:avLst/>
          </a:prstGeom>
          <a:noFill/>
        </p:spPr>
        <p:txBody>
          <a:bodyPr wrap="square" rtlCol="0">
            <a:spAutoFit/>
          </a:bodyPr>
          <a:lstStyle/>
          <a:p>
            <a:r>
              <a:rPr lang="en-US" sz="2400" b="0" dirty="0">
                <a:solidFill>
                  <a:schemeClr val="tx1"/>
                </a:solidFill>
                <a:latin typeface="Gill Sans MT" panose="020B0502020104020203" pitchFamily="34" charset="0"/>
              </a:rPr>
              <a:t>Reveals</a:t>
            </a:r>
          </a:p>
        </p:txBody>
      </p:sp>
      <p:sp>
        <p:nvSpPr>
          <p:cNvPr id="41" name="Oval 40"/>
          <p:cNvSpPr/>
          <p:nvPr/>
        </p:nvSpPr>
        <p:spPr>
          <a:xfrm>
            <a:off x="7401871" y="3276897"/>
            <a:ext cx="1959843" cy="992722"/>
          </a:xfrm>
          <a:prstGeom prst="ellipse">
            <a:avLst/>
          </a:prstGeom>
          <a:solidFill>
            <a:schemeClr val="tx2">
              <a:lumMod val="75000"/>
              <a:alpha val="28000"/>
            </a:schemeClr>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0" dirty="0">
                <a:solidFill>
                  <a:srgbClr val="FFFFFF"/>
                </a:solidFill>
              </a:rPr>
              <a:t>Incorrect Final State</a:t>
            </a:r>
          </a:p>
        </p:txBody>
      </p:sp>
      <p:sp>
        <p:nvSpPr>
          <p:cNvPr id="12" name="Slide Number Placeholder 11"/>
          <p:cNvSpPr>
            <a:spLocks noGrp="1"/>
          </p:cNvSpPr>
          <p:nvPr>
            <p:ph type="sldNum" sz="quarter" idx="12"/>
          </p:nvPr>
        </p:nvSpPr>
        <p:spPr/>
        <p:txBody>
          <a:bodyPr/>
          <a:lstStyle/>
          <a:p>
            <a:fld id="{DF28FB93-0A08-4E7D-8E63-9EFA29F1E093}" type="slidenum">
              <a:rPr lang="en-US" smtClean="0"/>
              <a:pPr/>
              <a:t>13</a:t>
            </a:fld>
            <a:endParaRPr lang="en-US"/>
          </a:p>
        </p:txBody>
      </p:sp>
      <p:sp>
        <p:nvSpPr>
          <p:cNvPr id="24" name="Oval 23"/>
          <p:cNvSpPr/>
          <p:nvPr/>
        </p:nvSpPr>
        <p:spPr>
          <a:xfrm>
            <a:off x="7620002" y="2204082"/>
            <a:ext cx="2807367" cy="1316425"/>
          </a:xfrm>
          <a:prstGeom prst="ellipse">
            <a:avLst/>
          </a:prstGeom>
          <a:solidFill>
            <a:schemeClr val="tx2">
              <a:lumMod val="60000"/>
              <a:lumOff val="40000"/>
              <a:alpha val="25000"/>
            </a:schemeClr>
          </a:solidFill>
          <a:ln w="38100">
            <a:solidFill>
              <a:schemeClr val="tx2">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0" dirty="0"/>
              <a:t>Observed Final Program State</a:t>
            </a:r>
          </a:p>
        </p:txBody>
      </p:sp>
    </p:spTree>
    <p:custDataLst>
      <p:tags r:id="rId1"/>
    </p:custDataLst>
    <p:extLst>
      <p:ext uri="{BB962C8B-B14F-4D97-AF65-F5344CB8AC3E}">
        <p14:creationId xmlns:p14="http://schemas.microsoft.com/office/powerpoint/2010/main" val="3358612659"/>
      </p:ext>
    </p:extLst>
  </p:cSld>
  <p:clrMapOvr>
    <a:masterClrMapping/>
  </p:clrMapOvr>
  <mc:AlternateContent xmlns:mc="http://schemas.openxmlformats.org/markup-compatibility/2006" xmlns:p14="http://schemas.microsoft.com/office/powerpoint/2010/main">
    <mc:Choice Requires="p14">
      <p:transition spd="slow" p14:dur="2000" advTm="156604"/>
    </mc:Choice>
    <mc:Fallback xmlns="">
      <p:transition xmlns:p14="http://schemas.microsoft.com/office/powerpoint/2010/main" spd="slow" advTm="1566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wipe(left)">
                                      <p:cBhvr>
                                        <p:cTn id="11" dur="500"/>
                                        <p:tgtEl>
                                          <p:spTgt spid="7">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left)">
                                      <p:cBhvr>
                                        <p:cTn id="15" dur="500"/>
                                        <p:tgtEl>
                                          <p:spTgt spid="7">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wipe(left)">
                                      <p:cBhvr>
                                        <p:cTn id="19" dur="500"/>
                                        <p:tgtEl>
                                          <p:spTgt spid="7">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dissolv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blinds(horizontal)">
                                      <p:cBhvr>
                                        <p:cTn id="29" dur="500"/>
                                        <p:tgtEl>
                                          <p:spTgt spid="18"/>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childTnLst>
                                </p:cTn>
                              </p:par>
                            </p:childTnLst>
                          </p:cTn>
                        </p:par>
                        <p:par>
                          <p:cTn id="32" fill="hold">
                            <p:stCondLst>
                              <p:cond delay="500"/>
                            </p:stCondLst>
                            <p:childTnLst>
                              <p:par>
                                <p:cTn id="33" presetID="3" presetClass="entr" presetSubtype="10" fill="hold" grpId="0"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linds(horizontal)">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blinds(horizontal)">
                                      <p:cBhvr>
                                        <p:cTn id="40" dur="500"/>
                                        <p:tgtEl>
                                          <p:spTgt spid="20"/>
                                        </p:tgtEl>
                                      </p:cBhvr>
                                    </p:animEffec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par>
                          <p:cTn id="43" fill="hold">
                            <p:stCondLst>
                              <p:cond delay="500"/>
                            </p:stCondLst>
                            <p:childTnLst>
                              <p:par>
                                <p:cTn id="44" presetID="3" presetClass="entr" presetSubtype="1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linds(horizontal)">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blinds(horizontal)">
                                      <p:cBhvr>
                                        <p:cTn id="51" dur="500"/>
                                        <p:tgtEl>
                                          <p:spTgt spid="21"/>
                                        </p:tgtEl>
                                      </p:cBhvr>
                                    </p:animEffect>
                                  </p:childTnLst>
                                </p:cTn>
                              </p:par>
                              <p:par>
                                <p:cTn id="52" presetID="1" presetClass="entr" presetSubtype="0"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childTnLst>
                                </p:cTn>
                              </p:par>
                            </p:childTnLst>
                          </p:cTn>
                        </p:par>
                        <p:par>
                          <p:cTn id="54" fill="hold">
                            <p:stCondLst>
                              <p:cond delay="500"/>
                            </p:stCondLst>
                            <p:childTnLst>
                              <p:par>
                                <p:cTn id="55" presetID="3" presetClass="entr" presetSubtype="10" fill="hold" grpId="0" nodeType="after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blinds(horizontal)">
                                      <p:cBhvr>
                                        <p:cTn id="57" dur="500"/>
                                        <p:tgtEl>
                                          <p:spTgt spid="4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blinds(horizontal)">
                                      <p:cBhvr>
                                        <p:cTn id="62" dur="500"/>
                                        <p:tgtEl>
                                          <p:spTgt spid="10"/>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blinds(horizontal)">
                                      <p:cBhvr>
                                        <p:cTn id="69" dur="500"/>
                                        <p:tgtEl>
                                          <p:spTgt spid="11"/>
                                        </p:tgtEl>
                                      </p:cBhvr>
                                    </p:animEffect>
                                  </p:childTnLst>
                                </p:cTn>
                              </p:par>
                            </p:childTnLst>
                          </p:cTn>
                        </p:par>
                        <p:par>
                          <p:cTn id="70" fill="hold">
                            <p:stCondLst>
                              <p:cond delay="500"/>
                            </p:stCondLst>
                            <p:childTnLst>
                              <p:par>
                                <p:cTn id="71" presetID="3" presetClass="entr" presetSubtype="10" fill="hold"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blinds(horizontal)">
                                      <p:cBhvr>
                                        <p:cTn id="73" dur="500"/>
                                        <p:tgtEl>
                                          <p:spTgt spid="25"/>
                                        </p:tgtEl>
                                      </p:cBhvr>
                                    </p:animEffect>
                                  </p:childTnLst>
                                </p:cTn>
                              </p:par>
                            </p:childTnLst>
                          </p:cTn>
                        </p:par>
                        <p:par>
                          <p:cTn id="74" fill="hold">
                            <p:stCondLst>
                              <p:cond delay="1000"/>
                            </p:stCondLst>
                            <p:childTnLst>
                              <p:par>
                                <p:cTn id="75" presetID="3" presetClass="entr" presetSubtype="10" fill="hold" grpId="0" nodeType="after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blinds(horizontal)">
                                      <p:cBhvr>
                                        <p:cTn id="77" dur="5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grpId="1" nodeType="clickEffect">
                                  <p:stCondLst>
                                    <p:cond delay="0"/>
                                  </p:stCondLst>
                                  <p:childTnLst>
                                    <p:animEffect transition="out" filter="fade">
                                      <p:cBhvr>
                                        <p:cTn id="81" dur="500"/>
                                        <p:tgtEl>
                                          <p:spTgt spid="15"/>
                                        </p:tgtEl>
                                      </p:cBhvr>
                                    </p:animEffect>
                                    <p:set>
                                      <p:cBhvr>
                                        <p:cTn id="82" dur="1" fill="hold">
                                          <p:stCondLst>
                                            <p:cond delay="499"/>
                                          </p:stCondLst>
                                        </p:cTn>
                                        <p:tgtEl>
                                          <p:spTgt spid="15"/>
                                        </p:tgtEl>
                                        <p:attrNameLst>
                                          <p:attrName>style.visibility</p:attrName>
                                        </p:attrNameLst>
                                      </p:cBhvr>
                                      <p:to>
                                        <p:strVal val="hidden"/>
                                      </p:to>
                                    </p:set>
                                  </p:childTnLst>
                                </p:cTn>
                              </p:par>
                            </p:childTnLst>
                          </p:cTn>
                        </p:par>
                        <p:par>
                          <p:cTn id="83" fill="hold">
                            <p:stCondLst>
                              <p:cond delay="500"/>
                            </p:stCondLst>
                            <p:childTnLst>
                              <p:par>
                                <p:cTn id="84" presetID="3" presetClass="entr" presetSubtype="10" fill="hold" grpId="0" nodeType="after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blinds(horizontal)">
                                      <p:cBhvr>
                                        <p:cTn id="86" dur="500"/>
                                        <p:tgtEl>
                                          <p:spTgt spid="24"/>
                                        </p:tgtEl>
                                      </p:cBhvr>
                                    </p:animEffect>
                                  </p:childTnLst>
                                </p:cTn>
                              </p:par>
                              <p:par>
                                <p:cTn id="87" presetID="1"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P spid="11" grpId="0" animBg="1"/>
      <p:bldP spid="14" grpId="0"/>
      <p:bldP spid="15" grpId="0" animBg="1"/>
      <p:bldP spid="15" grpId="1" animBg="1"/>
      <p:bldP spid="29" grpId="0"/>
      <p:bldP spid="31" grpId="0"/>
      <p:bldP spid="32" grpId="0"/>
      <p:bldP spid="33" grpId="0"/>
      <p:bldP spid="41"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7C8A08FA-E67D-4787-AD2F-9F387ADB277B}" type="slidenum">
              <a:rPr lang="en-US" sz="800" b="0">
                <a:solidFill>
                  <a:schemeClr val="tx1"/>
                </a:solidFill>
                <a:latin typeface="Arial" panose="020B0604020202020204" pitchFamily="34" charset="0"/>
              </a:rPr>
              <a:pPr/>
              <a:t>14</a:t>
            </a:fld>
            <a:endParaRPr lang="en-US" sz="800" b="0">
              <a:solidFill>
                <a:schemeClr val="tx1"/>
              </a:solidFill>
              <a:latin typeface="Arial" panose="020B0604020202020204" pitchFamily="34" charset="0"/>
            </a:endParaRPr>
          </a:p>
        </p:txBody>
      </p:sp>
      <p:sp>
        <p:nvSpPr>
          <p:cNvPr id="49157" name="Rectangle 2"/>
          <p:cNvSpPr>
            <a:spLocks noGrp="1" noChangeArrowheads="1"/>
          </p:cNvSpPr>
          <p:nvPr>
            <p:ph type="title"/>
          </p:nvPr>
        </p:nvSpPr>
        <p:spPr/>
        <p:txBody>
          <a:bodyPr/>
          <a:lstStyle/>
          <a:p>
            <a:r>
              <a:rPr lang="en-US" dirty="0"/>
              <a:t>Testing &amp; Debugging</a:t>
            </a:r>
          </a:p>
        </p:txBody>
      </p:sp>
      <p:sp>
        <p:nvSpPr>
          <p:cNvPr id="49158" name="Rectangle 3"/>
          <p:cNvSpPr>
            <a:spLocks noGrp="1" noChangeArrowheads="1"/>
          </p:cNvSpPr>
          <p:nvPr>
            <p:ph type="body" idx="1"/>
          </p:nvPr>
        </p:nvSpPr>
        <p:spPr>
          <a:xfrm>
            <a:off x="1662114" y="1245748"/>
            <a:ext cx="8867775" cy="4481513"/>
          </a:xfrm>
        </p:spPr>
        <p:txBody>
          <a:bodyPr/>
          <a:lstStyle/>
          <a:p>
            <a:r>
              <a:rPr lang="en-US" dirty="0"/>
              <a:t> </a:t>
            </a:r>
            <a:r>
              <a:rPr lang="en-US" dirty="0">
                <a:solidFill>
                  <a:srgbClr val="FFFF00"/>
                </a:solidFill>
              </a:rPr>
              <a:t>Testing</a:t>
            </a:r>
            <a:r>
              <a:rPr lang="en-US" dirty="0"/>
              <a:t> : Evaluating software by observing its execution</a:t>
            </a:r>
          </a:p>
          <a:p>
            <a:endParaRPr lang="en-US" dirty="0">
              <a:solidFill>
                <a:srgbClr val="FFFF00"/>
              </a:solidFill>
            </a:endParaRPr>
          </a:p>
          <a:p>
            <a:r>
              <a:rPr lang="en-US" dirty="0"/>
              <a:t> </a:t>
            </a:r>
            <a:r>
              <a:rPr lang="en-US" dirty="0">
                <a:solidFill>
                  <a:schemeClr val="tx2"/>
                </a:solidFill>
              </a:rPr>
              <a:t>Test Failure</a:t>
            </a:r>
            <a:r>
              <a:rPr lang="en-US" dirty="0"/>
              <a:t> : Execution of a test that results in a software failure</a:t>
            </a:r>
          </a:p>
          <a:p>
            <a:endParaRPr lang="en-US" dirty="0">
              <a:solidFill>
                <a:srgbClr val="FFFF00"/>
              </a:solidFill>
            </a:endParaRPr>
          </a:p>
          <a:p>
            <a:r>
              <a:rPr lang="en-US" dirty="0"/>
              <a:t> </a:t>
            </a:r>
            <a:r>
              <a:rPr lang="en-US" dirty="0">
                <a:solidFill>
                  <a:srgbClr val="FFFF00"/>
                </a:solidFill>
              </a:rPr>
              <a:t>Debugging</a:t>
            </a:r>
            <a:r>
              <a:rPr lang="en-US" dirty="0"/>
              <a:t> : The process of finding a fault given a failure</a:t>
            </a:r>
          </a:p>
        </p:txBody>
      </p:sp>
      <p:sp>
        <p:nvSpPr>
          <p:cNvPr id="7" name="Text Box 4"/>
          <p:cNvSpPr txBox="1">
            <a:spLocks noChangeArrowheads="1"/>
          </p:cNvSpPr>
          <p:nvPr/>
        </p:nvSpPr>
        <p:spPr bwMode="auto">
          <a:xfrm>
            <a:off x="3318294" y="4746626"/>
            <a:ext cx="5520906" cy="954107"/>
          </a:xfrm>
          <a:prstGeom prst="rect">
            <a:avLst/>
          </a:prstGeom>
          <a:solidFill>
            <a:srgbClr val="0000CC"/>
          </a:solidFill>
          <a:ln w="12700">
            <a:solidFill>
              <a:srgbClr val="000000"/>
            </a:solidFill>
            <a:miter lim="800000"/>
            <a:headEnd type="none" w="sm" len="sm"/>
            <a:tailEnd type="none" w="sm" len="sm"/>
          </a:ln>
          <a:effectLst/>
        </p:spPr>
        <p:txBody>
          <a:bodyPr wrap="square">
            <a:spAutoFit/>
          </a:bodyPr>
          <a:lstStyle/>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Not all inputs will “trigger” a fault into causing a failure</a:t>
            </a:r>
          </a:p>
        </p:txBody>
      </p:sp>
    </p:spTree>
    <p:extLst>
      <p:ext uri="{BB962C8B-B14F-4D97-AF65-F5344CB8AC3E}">
        <p14:creationId xmlns:p14="http://schemas.microsoft.com/office/powerpoint/2010/main" val="2209803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Term Bug</a:t>
            </a:r>
          </a:p>
        </p:txBody>
      </p:sp>
      <p:sp>
        <p:nvSpPr>
          <p:cNvPr id="3" name="Content Placeholder 2"/>
          <p:cNvSpPr>
            <a:spLocks noGrp="1"/>
          </p:cNvSpPr>
          <p:nvPr>
            <p:ph idx="1"/>
          </p:nvPr>
        </p:nvSpPr>
        <p:spPr/>
        <p:txBody>
          <a:bodyPr/>
          <a:lstStyle/>
          <a:p>
            <a:r>
              <a:rPr lang="en-US" sz="2400" i="1" dirty="0">
                <a:solidFill>
                  <a:schemeClr val="tx2"/>
                </a:solidFill>
              </a:rPr>
              <a:t>Bug</a:t>
            </a:r>
            <a:r>
              <a:rPr lang="en-US" sz="2400" dirty="0"/>
              <a:t> is used informally</a:t>
            </a:r>
          </a:p>
          <a:p>
            <a:r>
              <a:rPr lang="en-US" sz="2400" dirty="0"/>
              <a:t>Sometimes </a:t>
            </a:r>
            <a:r>
              <a:rPr lang="en-US" sz="2400" dirty="0">
                <a:solidFill>
                  <a:schemeClr val="tx2"/>
                </a:solidFill>
              </a:rPr>
              <a:t>speakers mean fault</a:t>
            </a:r>
            <a:r>
              <a:rPr lang="en-US" sz="2400" dirty="0"/>
              <a:t>, sometimes </a:t>
            </a:r>
            <a:r>
              <a:rPr lang="en-US" sz="2400" dirty="0">
                <a:solidFill>
                  <a:schemeClr val="tx2"/>
                </a:solidFill>
              </a:rPr>
              <a:t>error</a:t>
            </a:r>
            <a:r>
              <a:rPr lang="en-US" sz="2400" dirty="0"/>
              <a:t>, sometimes </a:t>
            </a:r>
            <a:r>
              <a:rPr lang="en-US" sz="2400" dirty="0">
                <a:solidFill>
                  <a:schemeClr val="tx2"/>
                </a:solidFill>
              </a:rPr>
              <a:t>failure</a:t>
            </a:r>
            <a:r>
              <a:rPr lang="en-US" sz="2400" dirty="0"/>
              <a:t> … often the speaker doesn’t know what it means !</a:t>
            </a:r>
          </a:p>
          <a:p>
            <a:r>
              <a:rPr lang="en-US" sz="2400" dirty="0"/>
              <a:t>This class will try to use words that have </a:t>
            </a:r>
            <a:r>
              <a:rPr lang="en-US" sz="2400" dirty="0">
                <a:solidFill>
                  <a:schemeClr val="tx2"/>
                </a:solidFill>
              </a:rPr>
              <a:t>precise</a:t>
            </a:r>
            <a:r>
              <a:rPr lang="en-US" sz="2400" dirty="0"/>
              <a:t>, </a:t>
            </a:r>
            <a:r>
              <a:rPr lang="en-US" sz="2400" dirty="0">
                <a:solidFill>
                  <a:schemeClr val="tx2"/>
                </a:solidFill>
              </a:rPr>
              <a:t>defined</a:t>
            </a:r>
            <a:r>
              <a:rPr lang="en-US" sz="2400" dirty="0"/>
              <a:t>, and </a:t>
            </a:r>
            <a:r>
              <a:rPr lang="en-US" sz="2400" dirty="0">
                <a:solidFill>
                  <a:schemeClr val="tx2"/>
                </a:solidFill>
              </a:rPr>
              <a:t>unambiguous</a:t>
            </a:r>
            <a:r>
              <a:rPr lang="en-US" sz="2400" dirty="0"/>
              <a:t> meanings</a:t>
            </a:r>
          </a:p>
          <a:p>
            <a:endParaRPr lang="en-US" sz="2400" dirty="0"/>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15</a:t>
            </a:fld>
            <a:endParaRPr lang="en-US"/>
          </a:p>
        </p:txBody>
      </p:sp>
      <p:grpSp>
        <p:nvGrpSpPr>
          <p:cNvPr id="14" name="Group 13"/>
          <p:cNvGrpSpPr/>
          <p:nvPr/>
        </p:nvGrpSpPr>
        <p:grpSpPr>
          <a:xfrm>
            <a:off x="4113452" y="2871291"/>
            <a:ext cx="989373" cy="752559"/>
            <a:chOff x="6004290" y="2871291"/>
            <a:chExt cx="989373" cy="752559"/>
          </a:xfrm>
        </p:grpSpPr>
        <p:sp>
          <p:nvSpPr>
            <p:cNvPr id="9" name="Oval 8"/>
            <p:cNvSpPr/>
            <p:nvPr/>
          </p:nvSpPr>
          <p:spPr bwMode="auto">
            <a:xfrm>
              <a:off x="6086282" y="2871291"/>
              <a:ext cx="825388" cy="752559"/>
            </a:xfrm>
            <a:prstGeom prst="ellipse">
              <a:avLst/>
            </a:prstGeom>
            <a:noFill/>
            <a:ln w="76200" cap="flat" cmpd="sng" algn="ctr">
              <a:solidFill>
                <a:srgbClr val="FF0000"/>
              </a:solidFill>
              <a:prstDash val="solid"/>
              <a:round/>
              <a:headEnd type="none" w="sm" len="sm"/>
              <a:tailEnd type="none" w="sm" len="sm"/>
            </a:ln>
            <a:effectLst>
              <a:glow rad="101600">
                <a:schemeClr val="accent1">
                  <a:satMod val="175000"/>
                  <a:alpha val="40000"/>
                </a:schemeClr>
              </a:glow>
              <a:innerShdw blurRad="63500" dist="50800" dir="18900000">
                <a:prstClr val="black">
                  <a:alpha val="50000"/>
                </a:prstClr>
              </a:innerShdw>
            </a:effectLst>
          </p:spPr>
          <p:txBody>
            <a:bodyPr vert="horz" wrap="square" lIns="91440" tIns="45720" rIns="91440" bIns="45720" numCol="1" rtlCol="0" anchor="t" anchorCtr="0" compatLnSpc="1">
              <a:prstTxWarp prst="textNoShape">
                <a:avLst/>
              </a:prstTxWarp>
            </a:bodyPr>
            <a:lstStyle/>
            <a:p>
              <a:endParaRPr lang="en-US"/>
            </a:p>
          </p:txBody>
        </p:sp>
        <p:sp>
          <p:nvSpPr>
            <p:cNvPr id="8" name="TextBox 7"/>
            <p:cNvSpPr txBox="1"/>
            <p:nvPr/>
          </p:nvSpPr>
          <p:spPr>
            <a:xfrm>
              <a:off x="6004290" y="2985961"/>
              <a:ext cx="989373" cy="523220"/>
            </a:xfrm>
            <a:prstGeom prst="rect">
              <a:avLst/>
            </a:prstGeom>
            <a:noFill/>
          </p:spPr>
          <p:txBody>
            <a:bodyPr wrap="none" rtlCol="0">
              <a:spAutoFit/>
            </a:bodyPr>
            <a:lstStyle/>
            <a:p>
              <a:r>
                <a:rPr lang="en-US" sz="2800" dirty="0">
                  <a:effectLst>
                    <a:outerShdw blurRad="38100" dist="38100" dir="2700000" algn="tl">
                      <a:srgbClr val="000000">
                        <a:alpha val="43137"/>
                      </a:srgbClr>
                    </a:outerShdw>
                  </a:effectLst>
                  <a:latin typeface="Bookman Old Style" pitchFamily="18" charset="0"/>
                </a:rPr>
                <a:t>BUG</a:t>
              </a:r>
            </a:p>
          </p:txBody>
        </p:sp>
        <p:cxnSp>
          <p:nvCxnSpPr>
            <p:cNvPr id="13" name="Straight Connector 12"/>
            <p:cNvCxnSpPr>
              <a:stCxn id="9" idx="1"/>
              <a:endCxn id="9" idx="5"/>
            </p:cNvCxnSpPr>
            <p:nvPr/>
          </p:nvCxnSpPr>
          <p:spPr bwMode="auto">
            <a:xfrm>
              <a:off x="6207157" y="2981501"/>
              <a:ext cx="583638" cy="532139"/>
            </a:xfrm>
            <a:prstGeom prst="line">
              <a:avLst/>
            </a:prstGeom>
            <a:solidFill>
              <a:schemeClr val="accent1"/>
            </a:solidFill>
            <a:ln w="76200" cap="flat" cmpd="sng" algn="ctr">
              <a:solidFill>
                <a:srgbClr val="FF0000"/>
              </a:solidFill>
              <a:prstDash val="solid"/>
              <a:round/>
              <a:headEnd type="none" w="sm" len="sm"/>
              <a:tailEnd type="none" w="sm" len="sm"/>
            </a:ln>
            <a:effectLst/>
          </p:spPr>
        </p:cxnSp>
      </p:grpSp>
      <p:pic>
        <p:nvPicPr>
          <p:cNvPr id="16"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5876" y="2783888"/>
            <a:ext cx="12890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7"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1864" y="2484652"/>
            <a:ext cx="1558925"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5" name="Text Box 7"/>
          <p:cNvSpPr txBox="1">
            <a:spLocks noChangeArrowheads="1"/>
          </p:cNvSpPr>
          <p:nvPr/>
        </p:nvSpPr>
        <p:spPr bwMode="auto">
          <a:xfrm>
            <a:off x="984826" y="4731174"/>
            <a:ext cx="4880200" cy="2031325"/>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1800" dirty="0">
                <a:solidFill>
                  <a:schemeClr val="tx1"/>
                </a:solidFill>
              </a:rPr>
              <a:t>“It has been just so in all of my inventions. The first step is an intuition, and comes with a burst, then difficulties arise—this thing gives out and </a:t>
            </a:r>
            <a:r>
              <a:rPr lang="en-US" sz="1800" i="1" dirty="0">
                <a:solidFill>
                  <a:schemeClr val="tx1"/>
                </a:solidFill>
              </a:rPr>
              <a:t>[it is]</a:t>
            </a:r>
            <a:r>
              <a:rPr lang="en-US" sz="1800" dirty="0">
                <a:solidFill>
                  <a:schemeClr val="tx1"/>
                </a:solidFill>
              </a:rPr>
              <a:t> then that </a:t>
            </a:r>
            <a:r>
              <a:rPr lang="en-US" sz="1800" dirty="0">
                <a:solidFill>
                  <a:schemeClr val="tx2"/>
                </a:solidFill>
              </a:rPr>
              <a:t>'Bugs</a:t>
            </a:r>
            <a:r>
              <a:rPr lang="en-US" sz="1800" dirty="0">
                <a:solidFill>
                  <a:schemeClr val="tx1"/>
                </a:solidFill>
              </a:rPr>
              <a:t>'—as such little faults and difficulties are called—show themselves and months of intense watching, study and labor are requisite. . .” </a:t>
            </a:r>
            <a:r>
              <a:rPr lang="en-US" sz="1800" b="0" dirty="0">
                <a:solidFill>
                  <a:schemeClr val="tx1"/>
                </a:solidFill>
              </a:rPr>
              <a:t>– Thomas Edison</a:t>
            </a:r>
          </a:p>
        </p:txBody>
      </p:sp>
      <p:sp>
        <p:nvSpPr>
          <p:cNvPr id="18" name="Text Box 10"/>
          <p:cNvSpPr txBox="1">
            <a:spLocks noChangeArrowheads="1"/>
          </p:cNvSpPr>
          <p:nvPr/>
        </p:nvSpPr>
        <p:spPr bwMode="auto">
          <a:xfrm>
            <a:off x="7811512" y="2532809"/>
            <a:ext cx="2767476" cy="4247317"/>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1800" dirty="0">
                <a:solidFill>
                  <a:schemeClr val="tx1"/>
                </a:solidFill>
              </a:rPr>
              <a:t>“an analyzing process must equally have been performed in order to furnish the Analytical Engine with the necessary operative data; and that herein may also lie a possible source of </a:t>
            </a:r>
            <a:r>
              <a:rPr lang="en-US" sz="1800" dirty="0">
                <a:solidFill>
                  <a:schemeClr val="tx2"/>
                </a:solidFill>
              </a:rPr>
              <a:t>error</a:t>
            </a:r>
            <a:r>
              <a:rPr lang="en-US" sz="1800" dirty="0">
                <a:solidFill>
                  <a:schemeClr val="tx1"/>
                </a:solidFill>
              </a:rPr>
              <a:t>. Granted that the actual mechanism is unerring in its processes, the cards may give it wrong orders. ” </a:t>
            </a:r>
            <a:r>
              <a:rPr lang="en-US" sz="1800" b="0" dirty="0">
                <a:solidFill>
                  <a:schemeClr val="tx1"/>
                </a:solidFill>
              </a:rPr>
              <a:t>– Ada, Countess Lovelace (notes on Babbage’s Analytical Engine)</a:t>
            </a:r>
          </a:p>
        </p:txBody>
      </p:sp>
    </p:spTree>
    <p:extLst>
      <p:ext uri="{BB962C8B-B14F-4D97-AF65-F5344CB8AC3E}">
        <p14:creationId xmlns:p14="http://schemas.microsoft.com/office/powerpoint/2010/main" val="408390747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up)">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Product Specification</a:t>
            </a:r>
            <a:endParaRPr lang="zh-CN" altLang="en-US" dirty="0"/>
          </a:p>
        </p:txBody>
      </p:sp>
      <p:sp>
        <p:nvSpPr>
          <p:cNvPr id="3" name="内容占位符 2"/>
          <p:cNvSpPr>
            <a:spLocks noGrp="1"/>
          </p:cNvSpPr>
          <p:nvPr>
            <p:ph idx="1"/>
          </p:nvPr>
        </p:nvSpPr>
        <p:spPr/>
        <p:txBody>
          <a:bodyPr/>
          <a:lstStyle/>
          <a:p>
            <a:r>
              <a:rPr lang="en-US" altLang="zh-CN" sz="3200" dirty="0"/>
              <a:t>A product specification, sometimes referred to as simply a spec or product spec, is an agreement among the software development team. </a:t>
            </a:r>
          </a:p>
          <a:p>
            <a:r>
              <a:rPr lang="en-US" altLang="zh-CN" sz="3200" dirty="0"/>
              <a:t>It defines the product they are creating, detailing </a:t>
            </a:r>
            <a:r>
              <a:rPr lang="en-US" altLang="zh-CN" sz="3200" i="1" dirty="0">
                <a:solidFill>
                  <a:schemeClr val="tx2"/>
                </a:solidFill>
              </a:rPr>
              <a:t>what it will be, how it will act, what it will do, and what it won't do. </a:t>
            </a:r>
          </a:p>
        </p:txBody>
      </p:sp>
      <p:sp>
        <p:nvSpPr>
          <p:cNvPr id="6" name="灯片编号占位符 5"/>
          <p:cNvSpPr>
            <a:spLocks noGrp="1"/>
          </p:cNvSpPr>
          <p:nvPr>
            <p:ph type="sldNum" sz="quarter" idx="12"/>
          </p:nvPr>
        </p:nvSpPr>
        <p:spPr/>
        <p:txBody>
          <a:bodyPr/>
          <a:lstStyle/>
          <a:p>
            <a:pPr>
              <a:defRPr/>
            </a:pPr>
            <a:fld id="{7F4B1FAA-A740-404F-BBC5-7C153B666279}" type="slidenum">
              <a:rPr lang="en-US" smtClean="0"/>
              <a:pPr>
                <a:defRPr/>
              </a:pPr>
              <a:t>16</a:t>
            </a:fld>
            <a:endParaRPr lang="en-US"/>
          </a:p>
        </p:txBody>
      </p:sp>
    </p:spTree>
    <p:extLst>
      <p:ext uri="{BB962C8B-B14F-4D97-AF65-F5344CB8AC3E}">
        <p14:creationId xmlns:p14="http://schemas.microsoft.com/office/powerpoint/2010/main" val="88842148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Formal Definition of Bug</a:t>
            </a:r>
            <a:endParaRPr lang="zh-CN" altLang="en-US" dirty="0"/>
          </a:p>
        </p:txBody>
      </p:sp>
      <p:sp>
        <p:nvSpPr>
          <p:cNvPr id="3" name="内容占位符 2"/>
          <p:cNvSpPr>
            <a:spLocks noGrp="1"/>
          </p:cNvSpPr>
          <p:nvPr>
            <p:ph idx="1"/>
          </p:nvPr>
        </p:nvSpPr>
        <p:spPr/>
        <p:txBody>
          <a:bodyPr/>
          <a:lstStyle/>
          <a:p>
            <a:r>
              <a:rPr lang="en-US" altLang="zh-CN" sz="3200" dirty="0"/>
              <a:t>A software bug occurs when one or more of the following five rules is true:</a:t>
            </a:r>
          </a:p>
          <a:p>
            <a:pPr lvl="1"/>
            <a:r>
              <a:rPr lang="en-US" altLang="zh-CN" sz="2800" dirty="0"/>
              <a:t>The software doesn't do something that the product specification says it should do.</a:t>
            </a:r>
          </a:p>
          <a:p>
            <a:pPr lvl="1"/>
            <a:r>
              <a:rPr lang="en-US" altLang="zh-CN" sz="2800" dirty="0"/>
              <a:t>The software does something that the product specification says it shouldn't do.</a:t>
            </a:r>
          </a:p>
          <a:p>
            <a:pPr lvl="1"/>
            <a:r>
              <a:rPr lang="en-US" altLang="zh-CN" sz="2800" dirty="0"/>
              <a:t>The software does something that the product specification doesn't mention.</a:t>
            </a:r>
          </a:p>
          <a:p>
            <a:pPr lvl="1"/>
            <a:r>
              <a:rPr lang="en-US" altLang="zh-CN" sz="2800" dirty="0"/>
              <a:t>The software doesn't do something that the product specification doesn't mention but should.</a:t>
            </a:r>
          </a:p>
          <a:p>
            <a:pPr lvl="1"/>
            <a:r>
              <a:rPr lang="en-US" altLang="zh-CN" sz="2800" dirty="0"/>
              <a:t>The software is difficult to understand, hard to use, slow, or in the software tester's eyes will be viewed by the end user as just plain not right.</a:t>
            </a:r>
            <a:endParaRPr lang="zh-CN" altLang="en-US" sz="2800" dirty="0"/>
          </a:p>
          <a:p>
            <a:endParaRPr lang="zh-CN" altLang="en-US" sz="3200" dirty="0"/>
          </a:p>
        </p:txBody>
      </p:sp>
      <p:sp>
        <p:nvSpPr>
          <p:cNvPr id="6" name="灯片编号占位符 5"/>
          <p:cNvSpPr>
            <a:spLocks noGrp="1"/>
          </p:cNvSpPr>
          <p:nvPr>
            <p:ph type="sldNum" sz="quarter" idx="12"/>
          </p:nvPr>
        </p:nvSpPr>
        <p:spPr/>
        <p:txBody>
          <a:bodyPr/>
          <a:lstStyle/>
          <a:p>
            <a:pPr>
              <a:defRPr/>
            </a:pPr>
            <a:fld id="{7F4B1FAA-A740-404F-BBC5-7C153B666279}" type="slidenum">
              <a:rPr lang="en-US" smtClean="0"/>
              <a:pPr>
                <a:defRPr/>
              </a:pPr>
              <a:t>17</a:t>
            </a:fld>
            <a:endParaRPr lang="en-US"/>
          </a:p>
        </p:txBody>
      </p:sp>
    </p:spTree>
    <p:extLst>
      <p:ext uri="{BB962C8B-B14F-4D97-AF65-F5344CB8AC3E}">
        <p14:creationId xmlns:p14="http://schemas.microsoft.com/office/powerpoint/2010/main" val="264255117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 Example</a:t>
            </a:r>
            <a:endParaRPr lang="zh-CN" altLang="en-US" dirty="0"/>
          </a:p>
        </p:txBody>
      </p:sp>
      <p:sp>
        <p:nvSpPr>
          <p:cNvPr id="3" name="内容占位符 2"/>
          <p:cNvSpPr>
            <a:spLocks noGrp="1"/>
          </p:cNvSpPr>
          <p:nvPr>
            <p:ph idx="1"/>
          </p:nvPr>
        </p:nvSpPr>
        <p:spPr/>
        <p:txBody>
          <a:bodyPr/>
          <a:lstStyle/>
          <a:p>
            <a:r>
              <a:rPr lang="en-US" altLang="zh-CN" sz="2400" dirty="0"/>
              <a:t>The specification for a calculator probably states that it will perform correct addition, subtraction, multiplication, and division. The product spec might state that the calculator should never crash, lock up, or freeze.</a:t>
            </a:r>
          </a:p>
          <a:p>
            <a:pPr lvl="1"/>
            <a:r>
              <a:rPr lang="en-US" altLang="zh-CN" dirty="0"/>
              <a:t>If you, as the tester, receive the calculator, press the + key, and nothing happens, that's a bug because of </a:t>
            </a:r>
            <a:r>
              <a:rPr lang="en-US" altLang="zh-CN" dirty="0">
                <a:solidFill>
                  <a:srgbClr val="FF0000"/>
                </a:solidFill>
              </a:rPr>
              <a:t>Rule</a:t>
            </a:r>
            <a:r>
              <a:rPr lang="en-US" altLang="zh-CN" dirty="0"/>
              <a:t> </a:t>
            </a:r>
            <a:r>
              <a:rPr lang="en-US" altLang="zh-CN" dirty="0">
                <a:solidFill>
                  <a:srgbClr val="FF0000"/>
                </a:solidFill>
              </a:rPr>
              <a:t>??</a:t>
            </a:r>
            <a:r>
              <a:rPr lang="en-US" altLang="zh-CN" dirty="0"/>
              <a:t> </a:t>
            </a:r>
          </a:p>
          <a:p>
            <a:pPr lvl="1"/>
            <a:r>
              <a:rPr lang="en-US" altLang="zh-CN" dirty="0"/>
              <a:t>If you get the wrong answer, that's a bug because of </a:t>
            </a:r>
            <a:r>
              <a:rPr lang="en-US" altLang="zh-CN" dirty="0">
                <a:solidFill>
                  <a:srgbClr val="FF0000"/>
                </a:solidFill>
              </a:rPr>
              <a:t>Rule</a:t>
            </a:r>
            <a:r>
              <a:rPr lang="en-US" altLang="zh-CN" dirty="0"/>
              <a:t> </a:t>
            </a:r>
            <a:r>
              <a:rPr lang="en-US" altLang="zh-CN" dirty="0">
                <a:solidFill>
                  <a:srgbClr val="FF0000"/>
                </a:solidFill>
              </a:rPr>
              <a:t>?? </a:t>
            </a:r>
          </a:p>
          <a:p>
            <a:pPr lvl="1"/>
            <a:r>
              <a:rPr lang="en-US" altLang="zh-CN" dirty="0"/>
              <a:t>If you pound on the keys and get the calculator to stop responding to your input, that's a bug because of </a:t>
            </a:r>
            <a:r>
              <a:rPr lang="en-US" altLang="zh-CN" dirty="0">
                <a:solidFill>
                  <a:srgbClr val="FF0000"/>
                </a:solidFill>
              </a:rPr>
              <a:t>Rule</a:t>
            </a:r>
            <a:r>
              <a:rPr lang="en-US" altLang="zh-CN" dirty="0"/>
              <a:t> </a:t>
            </a:r>
            <a:r>
              <a:rPr lang="en-US" altLang="zh-CN" dirty="0">
                <a:solidFill>
                  <a:srgbClr val="FF0000"/>
                </a:solidFill>
              </a:rPr>
              <a:t>??</a:t>
            </a:r>
            <a:endParaRPr lang="en-US" altLang="zh-CN" dirty="0"/>
          </a:p>
          <a:p>
            <a:pPr lvl="1"/>
            <a:r>
              <a:rPr lang="en-US" altLang="zh-CN" dirty="0"/>
              <a:t>Suppose that you receive the calculator for testing and find that besides addition, subtraction, multiplication, and division, it also performs square roots. Is it a feature or a bug because of </a:t>
            </a:r>
            <a:r>
              <a:rPr lang="en-US" altLang="zh-CN" dirty="0">
                <a:solidFill>
                  <a:srgbClr val="FF0000"/>
                </a:solidFill>
              </a:rPr>
              <a:t>Rule</a:t>
            </a:r>
            <a:r>
              <a:rPr lang="en-US" altLang="zh-CN" dirty="0"/>
              <a:t> </a:t>
            </a:r>
            <a:r>
              <a:rPr lang="en-US" altLang="zh-CN" dirty="0">
                <a:solidFill>
                  <a:srgbClr val="FF0000"/>
                </a:solidFill>
              </a:rPr>
              <a:t>?? </a:t>
            </a:r>
          </a:p>
          <a:p>
            <a:pPr lvl="1"/>
            <a:r>
              <a:rPr lang="en-US" altLang="zh-CN" dirty="0"/>
              <a:t>You start testing the calculator and discover when the battery gets weak that you no longer receive correct answers to your calculations. It is a bug because of </a:t>
            </a:r>
            <a:r>
              <a:rPr lang="en-US" altLang="zh-CN" dirty="0">
                <a:solidFill>
                  <a:srgbClr val="FF0000"/>
                </a:solidFill>
              </a:rPr>
              <a:t>Rule</a:t>
            </a:r>
            <a:r>
              <a:rPr lang="en-US" altLang="zh-CN" dirty="0"/>
              <a:t> </a:t>
            </a:r>
            <a:r>
              <a:rPr lang="en-US" altLang="zh-CN" dirty="0">
                <a:solidFill>
                  <a:srgbClr val="FF0000"/>
                </a:solidFill>
              </a:rPr>
              <a:t>??</a:t>
            </a:r>
            <a:endParaRPr lang="en-US" altLang="zh-CN" dirty="0"/>
          </a:p>
          <a:p>
            <a:pPr lvl="1"/>
            <a:r>
              <a:rPr lang="en-US" altLang="zh-CN" dirty="0"/>
              <a:t>You found that the buttons were too small. Maybe the placement of the = key made it hard to use. Maybe the display was difficult to read under bright lights. All of these are bugs because of </a:t>
            </a:r>
            <a:r>
              <a:rPr lang="en-US" altLang="zh-CN" dirty="0">
                <a:solidFill>
                  <a:srgbClr val="FF0000"/>
                </a:solidFill>
              </a:rPr>
              <a:t>Rule</a:t>
            </a:r>
            <a:r>
              <a:rPr lang="en-US" altLang="zh-CN" dirty="0"/>
              <a:t> </a:t>
            </a:r>
            <a:r>
              <a:rPr lang="en-US" altLang="zh-CN" dirty="0">
                <a:solidFill>
                  <a:srgbClr val="FF0000"/>
                </a:solidFill>
              </a:rPr>
              <a:t>??</a:t>
            </a:r>
            <a:endParaRPr lang="zh-CN" altLang="zh-CN" dirty="0"/>
          </a:p>
          <a:p>
            <a:endParaRPr lang="zh-CN" altLang="en-US" sz="3200" dirty="0"/>
          </a:p>
        </p:txBody>
      </p:sp>
      <p:sp>
        <p:nvSpPr>
          <p:cNvPr id="4" name="灯片编号占位符 3"/>
          <p:cNvSpPr>
            <a:spLocks noGrp="1"/>
          </p:cNvSpPr>
          <p:nvPr>
            <p:ph type="sldNum" sz="quarter" idx="12"/>
          </p:nvPr>
        </p:nvSpPr>
        <p:spPr/>
        <p:txBody>
          <a:bodyPr/>
          <a:lstStyle/>
          <a:p>
            <a:pPr>
              <a:defRPr/>
            </a:pPr>
            <a:fld id="{7F4B1FAA-A740-404F-BBC5-7C153B666279}" type="slidenum">
              <a:rPr lang="en-US" smtClean="0"/>
              <a:pPr>
                <a:defRPr/>
              </a:pPr>
              <a:t>18</a:t>
            </a:fld>
            <a:endParaRPr lang="en-US"/>
          </a:p>
        </p:txBody>
      </p:sp>
    </p:spTree>
    <p:extLst>
      <p:ext uri="{BB962C8B-B14F-4D97-AF65-F5344CB8AC3E}">
        <p14:creationId xmlns:p14="http://schemas.microsoft.com/office/powerpoint/2010/main" val="16911114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Where are errors</a:t>
            </a:r>
            <a:r>
              <a:rPr lang="zh-CN" altLang="en-US" dirty="0"/>
              <a:t>？</a:t>
            </a:r>
          </a:p>
        </p:txBody>
      </p:sp>
      <p:sp>
        <p:nvSpPr>
          <p:cNvPr id="3" name="内容占位符 2"/>
          <p:cNvSpPr>
            <a:spLocks noGrp="1"/>
          </p:cNvSpPr>
          <p:nvPr>
            <p:ph idx="1"/>
          </p:nvPr>
        </p:nvSpPr>
        <p:spPr/>
        <p:txBody>
          <a:bodyPr/>
          <a:lstStyle/>
          <a:p>
            <a:endParaRPr lang="zh-CN" altLang="en-US"/>
          </a:p>
        </p:txBody>
      </p:sp>
      <p:sp>
        <p:nvSpPr>
          <p:cNvPr id="6" name="灯片编号占位符 5"/>
          <p:cNvSpPr>
            <a:spLocks noGrp="1"/>
          </p:cNvSpPr>
          <p:nvPr>
            <p:ph type="sldNum" sz="quarter" idx="12"/>
          </p:nvPr>
        </p:nvSpPr>
        <p:spPr/>
        <p:txBody>
          <a:bodyPr/>
          <a:lstStyle/>
          <a:p>
            <a:pPr>
              <a:defRPr/>
            </a:pPr>
            <a:fld id="{7F4B1FAA-A740-404F-BBC5-7C153B666279}" type="slidenum">
              <a:rPr lang="en-US" smtClean="0"/>
              <a:pPr>
                <a:defRPr/>
              </a:pPr>
              <a:t>19</a:t>
            </a:fld>
            <a:endParaRPr lang="en-US"/>
          </a:p>
        </p:txBody>
      </p:sp>
      <p:pic>
        <p:nvPicPr>
          <p:cNvPr id="8" name="图片 7"/>
          <p:cNvPicPr>
            <a:picLocks noChangeAspect="1"/>
          </p:cNvPicPr>
          <p:nvPr/>
        </p:nvPicPr>
        <p:blipFill>
          <a:blip r:embed="rId3"/>
          <a:stretch>
            <a:fillRect/>
          </a:stretch>
        </p:blipFill>
        <p:spPr>
          <a:xfrm>
            <a:off x="1815798" y="1311374"/>
            <a:ext cx="8560404" cy="4768468"/>
          </a:xfrm>
          <a:prstGeom prst="rect">
            <a:avLst/>
          </a:prstGeom>
        </p:spPr>
      </p:pic>
    </p:spTree>
    <p:extLst>
      <p:ext uri="{BB962C8B-B14F-4D97-AF65-F5344CB8AC3E}">
        <p14:creationId xmlns:p14="http://schemas.microsoft.com/office/powerpoint/2010/main" val="239523973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Average Cost to Fix Fault</a:t>
            </a:r>
            <a:endParaRPr lang="zh-CN" altLang="en-US" dirty="0"/>
          </a:p>
        </p:txBody>
      </p:sp>
      <p:sp>
        <p:nvSpPr>
          <p:cNvPr id="3" name="内容占位符 2"/>
          <p:cNvSpPr>
            <a:spLocks noGrp="1"/>
          </p:cNvSpPr>
          <p:nvPr>
            <p:ph idx="1"/>
          </p:nvPr>
        </p:nvSpPr>
        <p:spPr/>
        <p:txBody>
          <a:bodyPr/>
          <a:lstStyle/>
          <a:p>
            <a:endParaRPr lang="zh-CN" altLang="en-US"/>
          </a:p>
        </p:txBody>
      </p:sp>
      <p:sp>
        <p:nvSpPr>
          <p:cNvPr id="6" name="灯片编号占位符 5"/>
          <p:cNvSpPr>
            <a:spLocks noGrp="1"/>
          </p:cNvSpPr>
          <p:nvPr>
            <p:ph type="sldNum" sz="quarter" idx="12"/>
          </p:nvPr>
        </p:nvSpPr>
        <p:spPr/>
        <p:txBody>
          <a:bodyPr/>
          <a:lstStyle/>
          <a:p>
            <a:pPr>
              <a:defRPr/>
            </a:pPr>
            <a:fld id="{7F4B1FAA-A740-404F-BBC5-7C153B666279}" type="slidenum">
              <a:rPr lang="en-US" smtClean="0"/>
              <a:pPr>
                <a:defRPr/>
              </a:pPr>
              <a:t>20</a:t>
            </a:fld>
            <a:endParaRPr lang="en-US"/>
          </a:p>
        </p:txBody>
      </p:sp>
      <p:pic>
        <p:nvPicPr>
          <p:cNvPr id="7" name="图片 6"/>
          <p:cNvPicPr>
            <a:picLocks noChangeAspect="1"/>
          </p:cNvPicPr>
          <p:nvPr/>
        </p:nvPicPr>
        <p:blipFill>
          <a:blip r:embed="rId2"/>
          <a:stretch>
            <a:fillRect/>
          </a:stretch>
        </p:blipFill>
        <p:spPr>
          <a:xfrm>
            <a:off x="3066928" y="1420980"/>
            <a:ext cx="6416849" cy="4531306"/>
          </a:xfrm>
          <a:prstGeom prst="rect">
            <a:avLst/>
          </a:prstGeom>
        </p:spPr>
      </p:pic>
    </p:spTree>
    <p:extLst>
      <p:ext uri="{BB962C8B-B14F-4D97-AF65-F5344CB8AC3E}">
        <p14:creationId xmlns:p14="http://schemas.microsoft.com/office/powerpoint/2010/main" val="78155429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Testability (3.1)</a:t>
            </a:r>
          </a:p>
        </p:txBody>
      </p:sp>
      <p:sp>
        <p:nvSpPr>
          <p:cNvPr id="3" name="Content Placeholder 2"/>
          <p:cNvSpPr>
            <a:spLocks noGrp="1"/>
          </p:cNvSpPr>
          <p:nvPr>
            <p:ph idx="1"/>
          </p:nvPr>
        </p:nvSpPr>
        <p:spPr>
          <a:xfrm>
            <a:off x="1612900" y="2766350"/>
            <a:ext cx="8966200" cy="3794873"/>
          </a:xfrm>
        </p:spPr>
        <p:txBody>
          <a:bodyPr/>
          <a:lstStyle/>
          <a:p>
            <a:r>
              <a:rPr lang="en-US" dirty="0"/>
              <a:t>Plainly speaking – </a:t>
            </a:r>
            <a:r>
              <a:rPr lang="en-US" dirty="0">
                <a:solidFill>
                  <a:schemeClr val="tx2"/>
                </a:solidFill>
              </a:rPr>
              <a:t>how hard it is to find faults</a:t>
            </a:r>
            <a:r>
              <a:rPr lang="en-US" dirty="0"/>
              <a:t> in the software</a:t>
            </a:r>
          </a:p>
          <a:p>
            <a:r>
              <a:rPr lang="en-US" dirty="0"/>
              <a:t>Testability is dominated by </a:t>
            </a:r>
            <a:r>
              <a:rPr lang="en-US" dirty="0">
                <a:solidFill>
                  <a:schemeClr val="tx2"/>
                </a:solidFill>
              </a:rPr>
              <a:t>two</a:t>
            </a:r>
            <a:r>
              <a:rPr lang="en-US" dirty="0"/>
              <a:t> practical problems</a:t>
            </a:r>
          </a:p>
          <a:p>
            <a:pPr lvl="1"/>
            <a:r>
              <a:rPr lang="en-US" dirty="0"/>
              <a:t>How to </a:t>
            </a:r>
            <a:r>
              <a:rPr lang="en-US" dirty="0">
                <a:solidFill>
                  <a:schemeClr val="tx2"/>
                </a:solidFill>
              </a:rPr>
              <a:t>provide the test values</a:t>
            </a:r>
            <a:r>
              <a:rPr lang="en-US" dirty="0"/>
              <a:t> to the software</a:t>
            </a:r>
          </a:p>
          <a:p>
            <a:pPr lvl="1"/>
            <a:r>
              <a:rPr lang="en-US" dirty="0"/>
              <a:t>How to </a:t>
            </a:r>
            <a:r>
              <a:rPr lang="en-US" dirty="0">
                <a:solidFill>
                  <a:schemeClr val="tx2"/>
                </a:solidFill>
              </a:rPr>
              <a:t>observe the results</a:t>
            </a:r>
            <a:r>
              <a:rPr lang="en-US" dirty="0"/>
              <a:t> of test execution</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21</a:t>
            </a:fld>
            <a:endParaRPr lang="en-US"/>
          </a:p>
        </p:txBody>
      </p:sp>
      <p:sp>
        <p:nvSpPr>
          <p:cNvPr id="7" name="Text Box 4"/>
          <p:cNvSpPr txBox="1">
            <a:spLocks noChangeArrowheads="1"/>
          </p:cNvSpPr>
          <p:nvPr/>
        </p:nvSpPr>
        <p:spPr bwMode="auto">
          <a:xfrm>
            <a:off x="1743919" y="1034820"/>
            <a:ext cx="8727311" cy="1384995"/>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algn="ctr">
              <a:defRPr/>
            </a:pPr>
            <a:r>
              <a:rPr lang="en-US" altLang="zh-CN" sz="2800" b="0" dirty="0">
                <a:solidFill>
                  <a:schemeClr val="tx2"/>
                </a:solidFill>
                <a:effectLst>
                  <a:outerShdw blurRad="38100" dist="38100" dir="2700000" algn="tl">
                    <a:srgbClr val="000000"/>
                  </a:outerShdw>
                </a:effectLst>
                <a:latin typeface="Gill Sans MT" pitchFamily="34" charset="0"/>
                <a:ea typeface="宋体" charset="-122"/>
              </a:rPr>
              <a:t>The degree to which a system or component facilitates the establishment of test criteria and the performance of tests to determine whether those criteria have been met</a:t>
            </a:r>
          </a:p>
        </p:txBody>
      </p:sp>
    </p:spTree>
    <p:extLst>
      <p:ext uri="{BB962C8B-B14F-4D97-AF65-F5344CB8AC3E}">
        <p14:creationId xmlns:p14="http://schemas.microsoft.com/office/powerpoint/2010/main" val="8302987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Observability</a:t>
            </a:r>
            <a:r>
              <a:rPr lang="en-US" dirty="0"/>
              <a:t> and Controllability</a:t>
            </a:r>
          </a:p>
        </p:txBody>
      </p:sp>
      <p:sp>
        <p:nvSpPr>
          <p:cNvPr id="3" name="Content Placeholder 2"/>
          <p:cNvSpPr>
            <a:spLocks noGrp="1"/>
          </p:cNvSpPr>
          <p:nvPr>
            <p:ph idx="1"/>
          </p:nvPr>
        </p:nvSpPr>
        <p:spPr>
          <a:xfrm>
            <a:off x="1612900" y="833378"/>
            <a:ext cx="8966200" cy="5727845"/>
          </a:xfrm>
        </p:spPr>
        <p:txBody>
          <a:bodyPr/>
          <a:lstStyle/>
          <a:p>
            <a:r>
              <a:rPr lang="en-US" dirty="0" err="1">
                <a:effectLst>
                  <a:outerShdw blurRad="38100" dist="38100" dir="2700000" algn="tl">
                    <a:srgbClr val="000000">
                      <a:alpha val="43137"/>
                    </a:srgbClr>
                  </a:outerShdw>
                </a:effectLst>
                <a:cs typeface="Calibri" pitchFamily="34" charset="0"/>
              </a:rPr>
              <a:t>Observability</a:t>
            </a:r>
            <a:endParaRPr lang="en-US" dirty="0">
              <a:effectLst>
                <a:outerShdw blurRad="38100" dist="38100" dir="2700000" algn="tl">
                  <a:srgbClr val="000000">
                    <a:alpha val="43137"/>
                  </a:srgbClr>
                </a:outerShdw>
              </a:effectLst>
              <a:cs typeface="Calibri" pitchFamily="34" charset="0"/>
            </a:endParaRPr>
          </a:p>
          <a:p>
            <a:endParaRPr lang="en-US" dirty="0"/>
          </a:p>
          <a:p>
            <a:endParaRPr lang="en-US" dirty="0"/>
          </a:p>
          <a:p>
            <a:endParaRPr lang="en-US" dirty="0"/>
          </a:p>
          <a:p>
            <a:pPr lvl="1"/>
            <a:r>
              <a:rPr lang="en-US" dirty="0"/>
              <a:t>Software that affects hardware devices, databases, or remote files have low </a:t>
            </a:r>
            <a:r>
              <a:rPr lang="en-US" dirty="0" err="1"/>
              <a:t>observability</a:t>
            </a:r>
            <a:endParaRPr lang="en-US" sz="2800" dirty="0"/>
          </a:p>
          <a:p>
            <a:r>
              <a:rPr lang="en-US" dirty="0">
                <a:effectLst>
                  <a:outerShdw blurRad="38100" dist="38100" dir="2700000" algn="tl">
                    <a:srgbClr val="000000">
                      <a:alpha val="43137"/>
                    </a:srgbClr>
                  </a:outerShdw>
                </a:effectLst>
                <a:cs typeface="Calibri" pitchFamily="34" charset="0"/>
              </a:rPr>
              <a:t>Controllability</a:t>
            </a:r>
          </a:p>
          <a:p>
            <a:endParaRPr lang="en-US" dirty="0"/>
          </a:p>
          <a:p>
            <a:endParaRPr lang="en-US" dirty="0"/>
          </a:p>
          <a:p>
            <a:pPr lvl="1"/>
            <a:r>
              <a:rPr lang="en-US" dirty="0"/>
              <a:t>Easy to control software with inputs from keyboards</a:t>
            </a:r>
          </a:p>
          <a:p>
            <a:pPr lvl="1"/>
            <a:r>
              <a:rPr lang="en-US" dirty="0"/>
              <a:t>Inputs from hardware sensors or distributed software is harder</a:t>
            </a:r>
          </a:p>
          <a:p>
            <a:r>
              <a:rPr lang="en-US" dirty="0"/>
              <a:t> </a:t>
            </a:r>
            <a:r>
              <a:rPr lang="en-US" dirty="0">
                <a:solidFill>
                  <a:schemeClr val="tx2"/>
                </a:solidFill>
              </a:rPr>
              <a:t>Data abstraction</a:t>
            </a:r>
            <a:r>
              <a:rPr lang="en-US" dirty="0"/>
              <a:t> reduces controllability and </a:t>
            </a:r>
            <a:r>
              <a:rPr lang="en-US" dirty="0" err="1"/>
              <a:t>observability</a:t>
            </a:r>
            <a:endParaRPr lang="en-US" dirty="0"/>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22</a:t>
            </a:fld>
            <a:endParaRPr lang="en-US"/>
          </a:p>
        </p:txBody>
      </p:sp>
      <p:sp>
        <p:nvSpPr>
          <p:cNvPr id="7" name="Text Box 4"/>
          <p:cNvSpPr txBox="1">
            <a:spLocks noChangeArrowheads="1"/>
          </p:cNvSpPr>
          <p:nvPr/>
        </p:nvSpPr>
        <p:spPr bwMode="auto">
          <a:xfrm>
            <a:off x="1743919" y="1363155"/>
            <a:ext cx="8727311" cy="1384995"/>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algn="ctr">
              <a:defRPr/>
            </a:pPr>
            <a:r>
              <a:rPr lang="en-US" altLang="zh-CN" sz="2800" b="0" dirty="0">
                <a:solidFill>
                  <a:schemeClr val="tx2"/>
                </a:solidFill>
                <a:effectLst>
                  <a:outerShdw blurRad="38100" dist="38100" dir="2700000" algn="tl">
                    <a:srgbClr val="000000"/>
                  </a:outerShdw>
                </a:effectLst>
                <a:latin typeface="Gill Sans MT" pitchFamily="34" charset="0"/>
                <a:ea typeface="宋体" charset="-122"/>
              </a:rPr>
              <a:t>How easy it is to observe the behavior of a program in terms of its outputs, effects on the environment and other hardware and software components</a:t>
            </a:r>
          </a:p>
        </p:txBody>
      </p:sp>
      <p:sp>
        <p:nvSpPr>
          <p:cNvPr id="8" name="Text Box 4"/>
          <p:cNvSpPr txBox="1">
            <a:spLocks noChangeArrowheads="1"/>
          </p:cNvSpPr>
          <p:nvPr/>
        </p:nvSpPr>
        <p:spPr bwMode="auto">
          <a:xfrm>
            <a:off x="1722693" y="4147329"/>
            <a:ext cx="8727311" cy="954107"/>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algn="ctr">
              <a:defRPr/>
            </a:pPr>
            <a:r>
              <a:rPr lang="en-US" altLang="zh-CN" sz="2800" b="0" dirty="0">
                <a:solidFill>
                  <a:schemeClr val="tx2"/>
                </a:solidFill>
                <a:effectLst>
                  <a:outerShdw blurRad="38100" dist="38100" dir="2700000" algn="tl">
                    <a:srgbClr val="000000"/>
                  </a:outerShdw>
                </a:effectLst>
                <a:latin typeface="Gill Sans MT" pitchFamily="34" charset="0"/>
                <a:ea typeface="宋体" charset="-122"/>
              </a:rPr>
              <a:t>How easy it is to provide a program with the needed inputs, in terms of values, operations, and behaviors</a:t>
            </a:r>
          </a:p>
        </p:txBody>
      </p:sp>
    </p:spTree>
    <p:extLst>
      <p:ext uri="{BB962C8B-B14F-4D97-AF65-F5344CB8AC3E}">
        <p14:creationId xmlns:p14="http://schemas.microsoft.com/office/powerpoint/2010/main" val="199308870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1000"/>
                                        <p:tgtEl>
                                          <p:spTgt spid="7"/>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a Test Case (3.2)</a:t>
            </a:r>
          </a:p>
        </p:txBody>
      </p:sp>
      <p:sp>
        <p:nvSpPr>
          <p:cNvPr id="3" name="Content Placeholder 2"/>
          <p:cNvSpPr>
            <a:spLocks noGrp="1"/>
          </p:cNvSpPr>
          <p:nvPr>
            <p:ph idx="1"/>
          </p:nvPr>
        </p:nvSpPr>
        <p:spPr/>
        <p:txBody>
          <a:bodyPr/>
          <a:lstStyle/>
          <a:p>
            <a:r>
              <a:rPr lang="en-US" dirty="0"/>
              <a:t>A test case is a </a:t>
            </a:r>
            <a:r>
              <a:rPr lang="en-US" dirty="0">
                <a:solidFill>
                  <a:schemeClr val="tx2"/>
                </a:solidFill>
              </a:rPr>
              <a:t>multipart artifact</a:t>
            </a:r>
            <a:r>
              <a:rPr lang="en-US" dirty="0"/>
              <a:t> with a definite structure</a:t>
            </a:r>
          </a:p>
          <a:p>
            <a:pPr lvl="1"/>
            <a:endParaRPr lang="en-US" dirty="0"/>
          </a:p>
          <a:p>
            <a:r>
              <a:rPr lang="en-US" dirty="0">
                <a:effectLst>
                  <a:outerShdw blurRad="38100" dist="38100" dir="2700000" algn="tl">
                    <a:srgbClr val="000000">
                      <a:alpha val="43137"/>
                    </a:srgbClr>
                  </a:outerShdw>
                </a:effectLst>
                <a:cs typeface="Calibri" pitchFamily="34" charset="0"/>
              </a:rPr>
              <a:t>Test case values</a:t>
            </a:r>
          </a:p>
          <a:p>
            <a:endParaRPr lang="en-US" dirty="0">
              <a:effectLst>
                <a:outerShdw blurRad="38100" dist="38100" dir="2700000" algn="tl">
                  <a:srgbClr val="000000">
                    <a:alpha val="43137"/>
                  </a:srgbClr>
                </a:outerShdw>
              </a:effectLst>
              <a:cs typeface="Calibri" pitchFamily="34" charset="0"/>
            </a:endParaRPr>
          </a:p>
          <a:p>
            <a:endParaRPr lang="en-US" dirty="0"/>
          </a:p>
          <a:p>
            <a:endParaRPr lang="en-US" dirty="0"/>
          </a:p>
          <a:p>
            <a:r>
              <a:rPr lang="en-US" dirty="0">
                <a:effectLst>
                  <a:outerShdw blurRad="38100" dist="38100" dir="2700000" algn="tl">
                    <a:srgbClr val="000000">
                      <a:alpha val="43137"/>
                    </a:srgbClr>
                  </a:outerShdw>
                </a:effectLst>
                <a:cs typeface="Calibri" pitchFamily="34" charset="0"/>
              </a:rPr>
              <a:t>Expected results</a:t>
            </a:r>
            <a:r>
              <a:rPr lang="en-US" dirty="0"/>
              <a:t>	</a:t>
            </a:r>
          </a:p>
          <a:p>
            <a:endParaRPr lang="en-US" dirty="0"/>
          </a:p>
          <a:p>
            <a:endParaRPr lang="en-US" dirty="0"/>
          </a:p>
          <a:p>
            <a:pPr lvl="1"/>
            <a:r>
              <a:rPr lang="en-US" dirty="0"/>
              <a:t>A </a:t>
            </a:r>
            <a:r>
              <a:rPr lang="en-US" i="1" dirty="0">
                <a:solidFill>
                  <a:schemeClr val="tx2"/>
                </a:solidFill>
              </a:rPr>
              <a:t>test oracle</a:t>
            </a:r>
            <a:r>
              <a:rPr lang="en-US" dirty="0"/>
              <a:t> uses expected results to decide whether a test passed or failed</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23</a:t>
            </a:fld>
            <a:endParaRPr lang="en-US"/>
          </a:p>
        </p:txBody>
      </p:sp>
      <p:sp>
        <p:nvSpPr>
          <p:cNvPr id="7" name="Text Box 4"/>
          <p:cNvSpPr txBox="1">
            <a:spLocks noChangeArrowheads="1"/>
          </p:cNvSpPr>
          <p:nvPr/>
        </p:nvSpPr>
        <p:spPr bwMode="auto">
          <a:xfrm>
            <a:off x="1722693" y="4292256"/>
            <a:ext cx="8727311" cy="954107"/>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algn="ctr">
              <a:defRPr/>
            </a:pPr>
            <a:r>
              <a:rPr lang="en-US" altLang="zh-CN" sz="2800" b="0" dirty="0">
                <a:solidFill>
                  <a:schemeClr val="tx2"/>
                </a:solidFill>
                <a:effectLst>
                  <a:outerShdw blurRad="38100" dist="38100" dir="2700000" algn="tl">
                    <a:srgbClr val="000000"/>
                  </a:outerShdw>
                </a:effectLst>
                <a:latin typeface="Gill Sans MT" pitchFamily="34" charset="0"/>
                <a:ea typeface="宋体" charset="-122"/>
              </a:rPr>
              <a:t>The result that will be produced by the test if the software behaves as expected</a:t>
            </a:r>
          </a:p>
        </p:txBody>
      </p:sp>
      <p:sp>
        <p:nvSpPr>
          <p:cNvPr id="8" name="Text Box 4"/>
          <p:cNvSpPr txBox="1">
            <a:spLocks noChangeArrowheads="1"/>
          </p:cNvSpPr>
          <p:nvPr/>
        </p:nvSpPr>
        <p:spPr bwMode="auto">
          <a:xfrm>
            <a:off x="1722692" y="2355156"/>
            <a:ext cx="8727311" cy="954107"/>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algn="ctr">
              <a:defRPr/>
            </a:pPr>
            <a:r>
              <a:rPr lang="en-US" altLang="zh-CN" sz="2800" b="0" dirty="0">
                <a:solidFill>
                  <a:schemeClr val="tx2"/>
                </a:solidFill>
                <a:effectLst>
                  <a:outerShdw blurRad="38100" dist="38100" dir="2700000" algn="tl">
                    <a:srgbClr val="000000"/>
                  </a:outerShdw>
                </a:effectLst>
                <a:latin typeface="Gill Sans MT" pitchFamily="34" charset="0"/>
                <a:ea typeface="宋体" charset="-122"/>
              </a:rPr>
              <a:t>The input values needed to complete an execution of the software under test</a:t>
            </a:r>
          </a:p>
        </p:txBody>
      </p:sp>
    </p:spTree>
    <p:extLst>
      <p:ext uri="{BB962C8B-B14F-4D97-AF65-F5344CB8AC3E}">
        <p14:creationId xmlns:p14="http://schemas.microsoft.com/office/powerpoint/2010/main" val="142395487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1000"/>
                                        <p:tgtEl>
                                          <p:spTgt spid="8"/>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625" y="96837"/>
            <a:ext cx="9048750" cy="1412786"/>
          </a:xfrm>
        </p:spPr>
        <p:txBody>
          <a:bodyPr/>
          <a:lstStyle/>
          <a:p>
            <a:r>
              <a:rPr lang="en-US" dirty="0"/>
              <a:t>Affecting Controllability and </a:t>
            </a:r>
            <a:r>
              <a:rPr lang="en-US" dirty="0" err="1"/>
              <a:t>Observability</a:t>
            </a:r>
            <a:endParaRPr lang="en-US" dirty="0"/>
          </a:p>
        </p:txBody>
      </p:sp>
      <p:sp>
        <p:nvSpPr>
          <p:cNvPr id="3" name="Content Placeholder 2"/>
          <p:cNvSpPr>
            <a:spLocks noGrp="1"/>
          </p:cNvSpPr>
          <p:nvPr>
            <p:ph idx="1"/>
          </p:nvPr>
        </p:nvSpPr>
        <p:spPr>
          <a:xfrm>
            <a:off x="1612900" y="1266978"/>
            <a:ext cx="8966200" cy="4751694"/>
          </a:xfrm>
        </p:spPr>
        <p:txBody>
          <a:bodyPr/>
          <a:lstStyle/>
          <a:p>
            <a:r>
              <a:rPr lang="en-US" dirty="0">
                <a:effectLst>
                  <a:outerShdw blurRad="38100" dist="38100" dir="2700000" algn="tl">
                    <a:srgbClr val="000000">
                      <a:alpha val="43137"/>
                    </a:srgbClr>
                  </a:outerShdw>
                </a:effectLst>
                <a:latin typeface="Calibri" pitchFamily="34" charset="0"/>
                <a:cs typeface="Calibri" pitchFamily="34" charset="0"/>
              </a:rPr>
              <a:t>Prefix values</a:t>
            </a:r>
          </a:p>
          <a:p>
            <a:endParaRPr lang="en-US" dirty="0"/>
          </a:p>
          <a:p>
            <a:endParaRPr lang="en-US" dirty="0"/>
          </a:p>
          <a:p>
            <a:r>
              <a:rPr lang="en-US" dirty="0">
                <a:effectLst>
                  <a:outerShdw blurRad="38100" dist="38100" dir="2700000" algn="tl">
                    <a:srgbClr val="000000">
                      <a:alpha val="43137"/>
                    </a:srgbClr>
                  </a:outerShdw>
                </a:effectLst>
                <a:latin typeface="Calibri" pitchFamily="34" charset="0"/>
                <a:cs typeface="Calibri" pitchFamily="34" charset="0"/>
              </a:rPr>
              <a:t>Postfix values</a:t>
            </a:r>
          </a:p>
          <a:p>
            <a:endParaRPr lang="en-US" dirty="0"/>
          </a:p>
          <a:p>
            <a:endParaRPr lang="en-US" dirty="0"/>
          </a:p>
          <a:p>
            <a:pPr marL="800100" lvl="1" indent="-342900">
              <a:buFontTx/>
              <a:buAutoNum type="arabicPeriod"/>
            </a:pPr>
            <a:r>
              <a:rPr lang="en-US" i="1" dirty="0">
                <a:solidFill>
                  <a:schemeClr val="tx2"/>
                </a:solidFill>
              </a:rPr>
              <a:t>Verification Values</a:t>
            </a:r>
            <a:r>
              <a:rPr lang="en-US" dirty="0"/>
              <a:t> : Values needed to see the results of the test case values</a:t>
            </a:r>
          </a:p>
          <a:p>
            <a:pPr marL="800100" lvl="1" indent="-342900">
              <a:buFontTx/>
              <a:buAutoNum type="arabicPeriod"/>
            </a:pPr>
            <a:r>
              <a:rPr lang="en-US" i="1" dirty="0">
                <a:solidFill>
                  <a:schemeClr val="tx2"/>
                </a:solidFill>
              </a:rPr>
              <a:t>Exit Values</a:t>
            </a:r>
            <a:r>
              <a:rPr lang="en-US" dirty="0"/>
              <a:t> : Values or commands needed to terminate the program or otherwise return it to a stable state</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24</a:t>
            </a:fld>
            <a:endParaRPr lang="en-US"/>
          </a:p>
        </p:txBody>
      </p:sp>
      <p:sp>
        <p:nvSpPr>
          <p:cNvPr id="7" name="Text Box 4"/>
          <p:cNvSpPr txBox="1">
            <a:spLocks noChangeArrowheads="1"/>
          </p:cNvSpPr>
          <p:nvPr/>
        </p:nvSpPr>
        <p:spPr bwMode="auto">
          <a:xfrm>
            <a:off x="1722693" y="3326040"/>
            <a:ext cx="8727311" cy="954107"/>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algn="ctr">
              <a:defRPr/>
            </a:pPr>
            <a:r>
              <a:rPr lang="en-US" sz="2800" b="0" dirty="0">
                <a:latin typeface="Gill Sans MT" pitchFamily="34" charset="0"/>
              </a:rPr>
              <a:t>Any inputs that need to be sent to the software after the test case values are sent</a:t>
            </a:r>
            <a:endParaRPr lang="en-US" altLang="zh-CN" sz="2800" b="0" dirty="0">
              <a:solidFill>
                <a:schemeClr val="tx2"/>
              </a:solidFill>
              <a:effectLst>
                <a:outerShdw blurRad="38100" dist="38100" dir="2700000" algn="tl">
                  <a:srgbClr val="000000"/>
                </a:outerShdw>
              </a:effectLst>
              <a:latin typeface="Gill Sans MT" pitchFamily="34" charset="0"/>
              <a:ea typeface="宋体" charset="-122"/>
            </a:endParaRPr>
          </a:p>
        </p:txBody>
      </p:sp>
      <p:sp>
        <p:nvSpPr>
          <p:cNvPr id="8" name="Text Box 4"/>
          <p:cNvSpPr txBox="1">
            <a:spLocks noChangeArrowheads="1"/>
          </p:cNvSpPr>
          <p:nvPr/>
        </p:nvSpPr>
        <p:spPr bwMode="auto">
          <a:xfrm>
            <a:off x="1722692" y="1812460"/>
            <a:ext cx="8727311" cy="954107"/>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marL="457200" indent="-457200" algn="ctr"/>
            <a:r>
              <a:rPr lang="en-US" sz="2800" b="0" dirty="0">
                <a:latin typeface="Gill Sans MT" pitchFamily="34" charset="0"/>
              </a:rPr>
              <a:t>Inputs necessary to put the software into the appropriate state to receive the test case values</a:t>
            </a:r>
          </a:p>
        </p:txBody>
      </p:sp>
    </p:spTree>
    <p:extLst>
      <p:ext uri="{BB962C8B-B14F-4D97-AF65-F5344CB8AC3E}">
        <p14:creationId xmlns:p14="http://schemas.microsoft.com/office/powerpoint/2010/main" val="5317295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1000"/>
                                        <p:tgtEl>
                                          <p:spTgt spid="8"/>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Putting Tests Together</a:t>
            </a:r>
          </a:p>
        </p:txBody>
      </p:sp>
      <p:sp>
        <p:nvSpPr>
          <p:cNvPr id="3" name="Content Placeholder 2"/>
          <p:cNvSpPr>
            <a:spLocks noGrp="1"/>
          </p:cNvSpPr>
          <p:nvPr>
            <p:ph idx="1"/>
          </p:nvPr>
        </p:nvSpPr>
        <p:spPr/>
        <p:txBody>
          <a:bodyPr/>
          <a:lstStyle/>
          <a:p>
            <a:r>
              <a:rPr lang="en-US" dirty="0">
                <a:effectLst>
                  <a:outerShdw blurRad="38100" dist="38100" dir="2700000" algn="tl">
                    <a:srgbClr val="000000">
                      <a:alpha val="43137"/>
                    </a:srgbClr>
                  </a:outerShdw>
                </a:effectLst>
                <a:latin typeface="Calibri" panose="020F0502020204030204" pitchFamily="34" charset="0"/>
              </a:rPr>
              <a:t>Test case</a:t>
            </a:r>
          </a:p>
          <a:p>
            <a:endParaRPr lang="en-US" dirty="0">
              <a:effectLst>
                <a:outerShdw blurRad="38100" dist="38100" dir="2700000" algn="tl">
                  <a:srgbClr val="000000">
                    <a:alpha val="43137"/>
                  </a:srgbClr>
                </a:outerShdw>
              </a:effectLst>
              <a:latin typeface="Calibri" panose="020F0502020204030204" pitchFamily="34" charset="0"/>
            </a:endParaRPr>
          </a:p>
          <a:p>
            <a:endParaRPr lang="en-US" dirty="0">
              <a:effectLst>
                <a:outerShdw blurRad="38100" dist="38100" dir="2700000" algn="tl">
                  <a:srgbClr val="000000">
                    <a:alpha val="43137"/>
                  </a:srgbClr>
                </a:outerShdw>
              </a:effectLst>
              <a:latin typeface="Calibri" panose="020F0502020204030204" pitchFamily="34" charset="0"/>
            </a:endParaRPr>
          </a:p>
          <a:p>
            <a:endParaRPr lang="en-US" dirty="0">
              <a:effectLst>
                <a:outerShdw blurRad="38100" dist="38100" dir="2700000" algn="tl">
                  <a:srgbClr val="000000">
                    <a:alpha val="43137"/>
                  </a:srgbClr>
                </a:outerShdw>
              </a:effectLst>
              <a:latin typeface="Calibri" panose="020F0502020204030204" pitchFamily="34" charset="0"/>
            </a:endParaRPr>
          </a:p>
          <a:p>
            <a:r>
              <a:rPr lang="en-US" dirty="0">
                <a:effectLst>
                  <a:outerShdw blurRad="38100" dist="38100" dir="2700000" algn="tl">
                    <a:srgbClr val="000000">
                      <a:alpha val="43137"/>
                    </a:srgbClr>
                  </a:outerShdw>
                </a:effectLst>
                <a:latin typeface="Calibri" panose="020F0502020204030204" pitchFamily="34" charset="0"/>
              </a:rPr>
              <a:t>Test set</a:t>
            </a:r>
          </a:p>
          <a:p>
            <a:pPr lvl="1"/>
            <a:endParaRPr lang="en-US" dirty="0">
              <a:effectLst>
                <a:outerShdw blurRad="38100" dist="38100" dir="2700000" algn="tl">
                  <a:srgbClr val="000000">
                    <a:alpha val="43137"/>
                  </a:srgbClr>
                </a:outerShdw>
              </a:effectLst>
              <a:latin typeface="Calibri" panose="020F0502020204030204" pitchFamily="34" charset="0"/>
            </a:endParaRPr>
          </a:p>
          <a:p>
            <a:endParaRPr lang="en-US" dirty="0">
              <a:effectLst>
                <a:outerShdw blurRad="38100" dist="38100" dir="2700000" algn="tl">
                  <a:srgbClr val="000000">
                    <a:alpha val="43137"/>
                  </a:srgbClr>
                </a:outerShdw>
              </a:effectLst>
              <a:latin typeface="Calibri" panose="020F0502020204030204" pitchFamily="34" charset="0"/>
            </a:endParaRPr>
          </a:p>
          <a:p>
            <a:r>
              <a:rPr lang="en-US" dirty="0">
                <a:effectLst>
                  <a:outerShdw blurRad="38100" dist="38100" dir="2700000" algn="tl">
                    <a:srgbClr val="000000">
                      <a:alpha val="43137"/>
                    </a:srgbClr>
                  </a:outerShdw>
                </a:effectLst>
                <a:latin typeface="Calibri" pitchFamily="34" charset="0"/>
                <a:cs typeface="Calibri" pitchFamily="34" charset="0"/>
              </a:rPr>
              <a:t>Executable test script</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25</a:t>
            </a:fld>
            <a:endParaRPr lang="en-US"/>
          </a:p>
        </p:txBody>
      </p:sp>
      <p:sp>
        <p:nvSpPr>
          <p:cNvPr id="7" name="Text Box 4"/>
          <p:cNvSpPr txBox="1">
            <a:spLocks noChangeArrowheads="1"/>
          </p:cNvSpPr>
          <p:nvPr/>
        </p:nvSpPr>
        <p:spPr bwMode="auto">
          <a:xfrm>
            <a:off x="1633729" y="1334780"/>
            <a:ext cx="8912351" cy="1384995"/>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marL="182880" algn="ctr"/>
            <a:r>
              <a:rPr lang="en-US" sz="2800" b="0" dirty="0">
                <a:latin typeface="Gill Sans MT" pitchFamily="34" charset="0"/>
              </a:rPr>
              <a:t>The test case values, prefix values, postfix values, and expected results necessary for a complete execution and evaluation of the software under test</a:t>
            </a:r>
          </a:p>
        </p:txBody>
      </p:sp>
      <p:sp>
        <p:nvSpPr>
          <p:cNvPr id="8" name="Text Box 4"/>
          <p:cNvSpPr txBox="1">
            <a:spLocks noChangeArrowheads="1"/>
          </p:cNvSpPr>
          <p:nvPr/>
        </p:nvSpPr>
        <p:spPr bwMode="auto">
          <a:xfrm>
            <a:off x="1627633" y="3502891"/>
            <a:ext cx="8912351" cy="523220"/>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marL="182880" algn="ctr"/>
            <a:r>
              <a:rPr lang="en-US" sz="2800" b="0" dirty="0">
                <a:latin typeface="Gill Sans MT" pitchFamily="34" charset="0"/>
              </a:rPr>
              <a:t>A set of test cases</a:t>
            </a:r>
          </a:p>
        </p:txBody>
      </p:sp>
      <p:sp>
        <p:nvSpPr>
          <p:cNvPr id="9" name="Text Box 4"/>
          <p:cNvSpPr txBox="1">
            <a:spLocks noChangeArrowheads="1"/>
          </p:cNvSpPr>
          <p:nvPr/>
        </p:nvSpPr>
        <p:spPr bwMode="auto">
          <a:xfrm>
            <a:off x="1627633" y="4830488"/>
            <a:ext cx="8912351" cy="954107"/>
          </a:xfrm>
          <a:prstGeom prst="rect">
            <a:avLst/>
          </a:prstGeom>
          <a:gradFill flip="none" rotWithShape="1">
            <a:gsLst>
              <a:gs pos="15000">
                <a:schemeClr val="bg1">
                  <a:lumMod val="75000"/>
                </a:schemeClr>
              </a:gs>
              <a:gs pos="47000">
                <a:schemeClr val="bg1">
                  <a:lumMod val="60000"/>
                  <a:lumOff val="40000"/>
                </a:schemeClr>
              </a:gs>
              <a:gs pos="96000">
                <a:schemeClr val="bg1">
                  <a:lumMod val="75000"/>
                </a:schemeClr>
              </a:gs>
            </a:gsLst>
            <a:lin ang="5400000" scaled="0"/>
            <a:tileRect/>
          </a:gradFill>
          <a:ln w="19050">
            <a:solidFill>
              <a:schemeClr val="tx2"/>
            </a:solidFill>
            <a:miter lim="800000"/>
            <a:headEnd type="none" w="sm" len="sm"/>
            <a:tailEnd type="none" w="sm" len="sm"/>
          </a:ln>
          <a:effectLst/>
        </p:spPr>
        <p:txBody>
          <a:bodyPr wrap="square">
            <a:spAutoFit/>
          </a:bodyPr>
          <a:lstStyle/>
          <a:p>
            <a:pPr marL="182880" algn="ctr"/>
            <a:r>
              <a:rPr lang="en-US" sz="2800" b="0" dirty="0">
                <a:latin typeface="Gill Sans MT" pitchFamily="34" charset="0"/>
              </a:rPr>
              <a:t>A test case that is prepared in a form to be executed automatically on the test software and produce a report</a:t>
            </a:r>
          </a:p>
        </p:txBody>
      </p:sp>
    </p:spTree>
    <p:extLst>
      <p:ext uri="{BB962C8B-B14F-4D97-AF65-F5344CB8AC3E}">
        <p14:creationId xmlns:p14="http://schemas.microsoft.com/office/powerpoint/2010/main" val="69735746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1000"/>
                                        <p:tgtEl>
                                          <p:spTgt spid="7"/>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1000"/>
                                        <p:tgtEl>
                                          <p:spTgt spid="8"/>
                                        </p:tgtEl>
                                      </p:cBhvr>
                                    </p:animEffect>
                                  </p:childTnLst>
                                </p:cTn>
                              </p:par>
                            </p:childTnLst>
                          </p:cTn>
                        </p:par>
                        <p:par>
                          <p:cTn id="12" fill="hold">
                            <p:stCondLst>
                              <p:cond delay="2000"/>
                            </p:stCondLst>
                            <p:childTnLst>
                              <p:par>
                                <p:cTn id="13" presetID="9"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dissolve">
                                      <p:cBhvr>
                                        <p:cTn id="1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Testing in the 21st Century</a:t>
            </a:r>
          </a:p>
        </p:txBody>
      </p:sp>
      <p:sp>
        <p:nvSpPr>
          <p:cNvPr id="15363" name="Content Placeholder 2"/>
          <p:cNvSpPr>
            <a:spLocks noGrp="1"/>
          </p:cNvSpPr>
          <p:nvPr>
            <p:ph idx="1"/>
          </p:nvPr>
        </p:nvSpPr>
        <p:spPr/>
        <p:txBody>
          <a:bodyPr/>
          <a:lstStyle/>
          <a:p>
            <a:r>
              <a:rPr lang="en-US" dirty="0"/>
              <a:t> More </a:t>
            </a:r>
            <a:r>
              <a:rPr lang="en-US" dirty="0">
                <a:solidFill>
                  <a:srgbClr val="FFFF00"/>
                </a:solidFill>
              </a:rPr>
              <a:t>safety</a:t>
            </a:r>
            <a:r>
              <a:rPr lang="en-US" dirty="0"/>
              <a:t> critical, </a:t>
            </a:r>
            <a:r>
              <a:rPr lang="en-US" dirty="0">
                <a:solidFill>
                  <a:srgbClr val="FFFF00"/>
                </a:solidFill>
              </a:rPr>
              <a:t>real-time</a:t>
            </a:r>
            <a:r>
              <a:rPr lang="en-US" dirty="0"/>
              <a:t> software</a:t>
            </a:r>
          </a:p>
          <a:p>
            <a:r>
              <a:rPr lang="en-US" dirty="0"/>
              <a:t> </a:t>
            </a:r>
            <a:r>
              <a:rPr lang="en-US" dirty="0">
                <a:solidFill>
                  <a:schemeClr val="tx2"/>
                </a:solidFill>
              </a:rPr>
              <a:t>Embedded</a:t>
            </a:r>
            <a:r>
              <a:rPr lang="en-US" dirty="0"/>
              <a:t> software is ubiquitous … check your pockets</a:t>
            </a:r>
          </a:p>
          <a:p>
            <a:r>
              <a:rPr lang="en-US" dirty="0"/>
              <a:t> </a:t>
            </a:r>
            <a:r>
              <a:rPr lang="en-US" dirty="0">
                <a:solidFill>
                  <a:schemeClr val="tx2"/>
                </a:solidFill>
              </a:rPr>
              <a:t>Enterprise</a:t>
            </a:r>
            <a:r>
              <a:rPr lang="en-US" dirty="0"/>
              <a:t> applications means bigger programs, more users</a:t>
            </a:r>
          </a:p>
          <a:p>
            <a:r>
              <a:rPr lang="en-US" dirty="0"/>
              <a:t> </a:t>
            </a:r>
            <a:r>
              <a:rPr lang="en-US" dirty="0">
                <a:solidFill>
                  <a:srgbClr val="FFFF00"/>
                </a:solidFill>
              </a:rPr>
              <a:t>Security</a:t>
            </a:r>
            <a:r>
              <a:rPr lang="en-US" dirty="0"/>
              <a:t> is now all about software faults</a:t>
            </a:r>
          </a:p>
          <a:p>
            <a:pPr lvl="1"/>
            <a:r>
              <a:rPr lang="en-US" dirty="0">
                <a:solidFill>
                  <a:schemeClr val="tx2"/>
                </a:solidFill>
              </a:rPr>
              <a:t>Secure</a:t>
            </a:r>
            <a:r>
              <a:rPr lang="en-US" dirty="0"/>
              <a:t> software is </a:t>
            </a:r>
            <a:r>
              <a:rPr lang="en-US" dirty="0">
                <a:solidFill>
                  <a:schemeClr val="tx2"/>
                </a:solidFill>
              </a:rPr>
              <a:t>reliable</a:t>
            </a:r>
            <a:r>
              <a:rPr lang="en-US" dirty="0"/>
              <a:t> software</a:t>
            </a:r>
          </a:p>
          <a:p>
            <a:r>
              <a:rPr lang="en-US" dirty="0"/>
              <a:t> The </a:t>
            </a:r>
            <a:r>
              <a:rPr lang="en-US" dirty="0">
                <a:solidFill>
                  <a:schemeClr val="tx2"/>
                </a:solidFill>
              </a:rPr>
              <a:t>web</a:t>
            </a:r>
            <a:r>
              <a:rPr lang="en-US" dirty="0"/>
              <a:t> offers a new deployment platform</a:t>
            </a:r>
          </a:p>
          <a:p>
            <a:pPr lvl="1"/>
            <a:r>
              <a:rPr lang="en-US" dirty="0"/>
              <a:t>Very </a:t>
            </a:r>
            <a:r>
              <a:rPr lang="en-US" dirty="0">
                <a:solidFill>
                  <a:schemeClr val="tx2"/>
                </a:solidFill>
              </a:rPr>
              <a:t>competitive</a:t>
            </a:r>
            <a:r>
              <a:rPr lang="en-US" dirty="0"/>
              <a:t> and very </a:t>
            </a:r>
            <a:r>
              <a:rPr lang="en-US" dirty="0">
                <a:solidFill>
                  <a:schemeClr val="tx2"/>
                </a:solidFill>
              </a:rPr>
              <a:t>available</a:t>
            </a:r>
            <a:r>
              <a:rPr lang="en-US" dirty="0"/>
              <a:t> to more users</a:t>
            </a:r>
          </a:p>
          <a:p>
            <a:pPr lvl="1"/>
            <a:r>
              <a:rPr lang="en-US" dirty="0"/>
              <a:t>Web apps are distributed</a:t>
            </a:r>
          </a:p>
          <a:p>
            <a:pPr lvl="1"/>
            <a:r>
              <a:rPr lang="en-US" dirty="0">
                <a:solidFill>
                  <a:srgbClr val="FFFF00"/>
                </a:solidFill>
              </a:rPr>
              <a:t>Web apps</a:t>
            </a:r>
            <a:r>
              <a:rPr lang="en-US" dirty="0"/>
              <a:t> must be highly reliable</a:t>
            </a:r>
          </a:p>
          <a:p>
            <a:r>
              <a:rPr lang="en-US" altLang="zh-CN" dirty="0">
                <a:solidFill>
                  <a:schemeClr val="tx2"/>
                </a:solidFill>
              </a:rPr>
              <a:t>Artificial Intelligence </a:t>
            </a:r>
            <a:r>
              <a:rPr lang="en-US" altLang="zh-CN" dirty="0"/>
              <a:t>Software</a:t>
            </a:r>
            <a:endParaRPr lang="en-US" b="0" dirty="0"/>
          </a:p>
        </p:txBody>
      </p:sp>
      <p:sp>
        <p:nvSpPr>
          <p:cNvPr id="153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6F72315B-E89B-445D-9416-7ED621123EE3}" type="slidenum">
              <a:rPr lang="zh-CN" altLang="en-US" sz="900" b="0">
                <a:solidFill>
                  <a:schemeClr val="tx1"/>
                </a:solidFill>
                <a:ea typeface="SimSun" pitchFamily="2" charset="-122"/>
              </a:rPr>
              <a:pPr/>
              <a:t>26</a:t>
            </a:fld>
            <a:endParaRPr lang="en-US" altLang="zh-CN" sz="900" b="0" dirty="0">
              <a:solidFill>
                <a:schemeClr val="tx1"/>
              </a:solidFill>
              <a:ea typeface="SimSun" pitchFamily="2" charset="-122"/>
            </a:endParaRPr>
          </a:p>
        </p:txBody>
      </p:sp>
      <p:sp>
        <p:nvSpPr>
          <p:cNvPr id="7" name="Text Box 5"/>
          <p:cNvSpPr txBox="1">
            <a:spLocks noChangeArrowheads="1"/>
          </p:cNvSpPr>
          <p:nvPr/>
        </p:nvSpPr>
        <p:spPr bwMode="auto">
          <a:xfrm>
            <a:off x="2595564" y="6005514"/>
            <a:ext cx="6986587" cy="523875"/>
          </a:xfrm>
          <a:prstGeom prst="rect">
            <a:avLst/>
          </a:prstGeom>
          <a:gradFill>
            <a:gsLst>
              <a:gs pos="0">
                <a:schemeClr val="bg1">
                  <a:lumMod val="75000"/>
                </a:schemeClr>
              </a:gs>
              <a:gs pos="53000">
                <a:schemeClr val="bg1">
                  <a:lumMod val="60000"/>
                  <a:lumOff val="40000"/>
                </a:schemeClr>
              </a:gs>
              <a:gs pos="100000">
                <a:schemeClr val="bg1">
                  <a:lumMod val="75000"/>
                </a:schemeClr>
              </a:gs>
            </a:gsLst>
            <a:lin ang="5400000" scaled="0"/>
          </a:gradFill>
          <a:ln w="12700">
            <a:solidFill>
              <a:srgbClr val="FF0000"/>
            </a:solidFill>
            <a:miter lim="800000"/>
            <a:headEnd/>
            <a:tailEnd/>
          </a:ln>
          <a:effectLst/>
        </p:spPr>
        <p:txBody>
          <a:bodyPr>
            <a:spAutoFit/>
          </a:bodyPr>
          <a:lstStyle/>
          <a:p>
            <a:pPr algn="ctr" eaLnBrk="1" hangingPunct="1">
              <a:spcBef>
                <a:spcPct val="50000"/>
              </a:spcBef>
              <a:defRPr/>
            </a:pPr>
            <a:r>
              <a:rPr lang="en-US" sz="2800" b="0" i="1" dirty="0">
                <a:solidFill>
                  <a:srgbClr val="FFFF00"/>
                </a:solidFill>
                <a:effectLst>
                  <a:outerShdw blurRad="38100" dist="38100" dir="2700000" algn="tl">
                    <a:srgbClr val="000000"/>
                  </a:outerShdw>
                </a:effectLst>
                <a:latin typeface="Gill Sans MT" pitchFamily="34" charset="0"/>
                <a:cs typeface="Arial" pitchFamily="34" charset="0"/>
              </a:rPr>
              <a:t>Industry desperately needs our inventions !</a:t>
            </a:r>
          </a:p>
        </p:txBody>
      </p:sp>
    </p:spTree>
    <p:extLst>
      <p:ext uri="{BB962C8B-B14F-4D97-AF65-F5344CB8AC3E}">
        <p14:creationId xmlns:p14="http://schemas.microsoft.com/office/powerpoint/2010/main" val="267712761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wipe(left)">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wipe(left)">
                                      <p:cBhvr>
                                        <p:cTn id="12" dur="500"/>
                                        <p:tgtEl>
                                          <p:spTgt spid="15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wipe(left)">
                                      <p:cBhvr>
                                        <p:cTn id="17" dur="500"/>
                                        <p:tgtEl>
                                          <p:spTgt spid="153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wipe(left)">
                                      <p:cBhvr>
                                        <p:cTn id="22" dur="500"/>
                                        <p:tgtEl>
                                          <p:spTgt spid="15363">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5363">
                                            <p:txEl>
                                              <p:pRg st="4" end="4"/>
                                            </p:txEl>
                                          </p:spTgt>
                                        </p:tgtEl>
                                        <p:attrNameLst>
                                          <p:attrName>style.visibility</p:attrName>
                                        </p:attrNameLst>
                                      </p:cBhvr>
                                      <p:to>
                                        <p:strVal val="visible"/>
                                      </p:to>
                                    </p:set>
                                    <p:animEffect transition="in" filter="wipe(left)">
                                      <p:cBhvr>
                                        <p:cTn id="25" dur="500"/>
                                        <p:tgtEl>
                                          <p:spTgt spid="15363">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363">
                                            <p:txEl>
                                              <p:pRg st="5" end="5"/>
                                            </p:txEl>
                                          </p:spTgt>
                                        </p:tgtEl>
                                        <p:attrNameLst>
                                          <p:attrName>style.visibility</p:attrName>
                                        </p:attrNameLst>
                                      </p:cBhvr>
                                      <p:to>
                                        <p:strVal val="visible"/>
                                      </p:to>
                                    </p:set>
                                    <p:animEffect transition="in" filter="wipe(left)">
                                      <p:cBhvr>
                                        <p:cTn id="30" dur="500"/>
                                        <p:tgtEl>
                                          <p:spTgt spid="15363">
                                            <p:txEl>
                                              <p:pRg st="5" end="5"/>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5363">
                                            <p:txEl>
                                              <p:pRg st="6" end="6"/>
                                            </p:txEl>
                                          </p:spTgt>
                                        </p:tgtEl>
                                        <p:attrNameLst>
                                          <p:attrName>style.visibility</p:attrName>
                                        </p:attrNameLst>
                                      </p:cBhvr>
                                      <p:to>
                                        <p:strVal val="visible"/>
                                      </p:to>
                                    </p:set>
                                    <p:animEffect transition="in" filter="wipe(left)">
                                      <p:cBhvr>
                                        <p:cTn id="33" dur="500"/>
                                        <p:tgtEl>
                                          <p:spTgt spid="15363">
                                            <p:txEl>
                                              <p:pRg st="6" end="6"/>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363">
                                            <p:txEl>
                                              <p:pRg st="7" end="7"/>
                                            </p:txEl>
                                          </p:spTgt>
                                        </p:tgtEl>
                                        <p:attrNameLst>
                                          <p:attrName>style.visibility</p:attrName>
                                        </p:attrNameLst>
                                      </p:cBhvr>
                                      <p:to>
                                        <p:strVal val="visible"/>
                                      </p:to>
                                    </p:set>
                                    <p:animEffect transition="in" filter="wipe(left)">
                                      <p:cBhvr>
                                        <p:cTn id="36" dur="500"/>
                                        <p:tgtEl>
                                          <p:spTgt spid="15363">
                                            <p:txEl>
                                              <p:pRg st="7" end="7"/>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5363">
                                            <p:txEl>
                                              <p:pRg st="8" end="8"/>
                                            </p:txEl>
                                          </p:spTgt>
                                        </p:tgtEl>
                                        <p:attrNameLst>
                                          <p:attrName>style.visibility</p:attrName>
                                        </p:attrNameLst>
                                      </p:cBhvr>
                                      <p:to>
                                        <p:strVal val="visible"/>
                                      </p:to>
                                    </p:set>
                                    <p:animEffect transition="in" filter="wipe(left)">
                                      <p:cBhvr>
                                        <p:cTn id="39" dur="500"/>
                                        <p:tgtEl>
                                          <p:spTgt spid="1536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5363">
                                            <p:txEl>
                                              <p:pRg st="9" end="9"/>
                                            </p:txEl>
                                          </p:spTgt>
                                        </p:tgtEl>
                                        <p:attrNameLst>
                                          <p:attrName>style.visibility</p:attrName>
                                        </p:attrNameLst>
                                      </p:cBhvr>
                                      <p:to>
                                        <p:strVal val="visible"/>
                                      </p:to>
                                    </p:set>
                                    <p:animEffect transition="in" filter="wipe(left)">
                                      <p:cBhvr>
                                        <p:cTn id="44" dur="500"/>
                                        <p:tgtEl>
                                          <p:spTgt spid="15363">
                                            <p:txEl>
                                              <p:pRg st="9" end="9"/>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dissolve">
                                      <p:cBhvr>
                                        <p:cTn id="4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What Does This Mean?</a:t>
            </a:r>
          </a:p>
        </p:txBody>
      </p:sp>
      <p:sp>
        <p:nvSpPr>
          <p:cNvPr id="1434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F06C21CB-8F21-4710-831B-BB8509540D1F}" type="slidenum">
              <a:rPr lang="en-US" sz="900" b="0">
                <a:solidFill>
                  <a:schemeClr val="tx1"/>
                </a:solidFill>
              </a:rPr>
              <a:pPr/>
              <a:t>27</a:t>
            </a:fld>
            <a:endParaRPr lang="en-US" sz="900" b="0">
              <a:solidFill>
                <a:schemeClr val="tx1"/>
              </a:solidFill>
            </a:endParaRPr>
          </a:p>
        </p:txBody>
      </p:sp>
      <p:sp>
        <p:nvSpPr>
          <p:cNvPr id="7" name="Rectangle 8"/>
          <p:cNvSpPr>
            <a:spLocks noChangeArrowheads="1"/>
          </p:cNvSpPr>
          <p:nvPr/>
        </p:nvSpPr>
        <p:spPr bwMode="auto">
          <a:xfrm>
            <a:off x="2453390" y="2507635"/>
            <a:ext cx="7247744" cy="1127481"/>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algn="ctr">
              <a:spcBef>
                <a:spcPct val="20000"/>
              </a:spcBef>
              <a:defRPr/>
            </a:pPr>
            <a:r>
              <a:rPr lang="en-US" sz="3200" dirty="0">
                <a:effectLst>
                  <a:outerShdw blurRad="38100" dist="38100" dir="2700000" algn="tl">
                    <a:srgbClr val="000000"/>
                  </a:outerShdw>
                </a:effectLst>
                <a:latin typeface="Gill Sans MT" pitchFamily="34" charset="0"/>
              </a:rPr>
              <a:t>Software testing is getting more important</a:t>
            </a:r>
            <a:endParaRPr lang="en-US" dirty="0">
              <a:effectLst>
                <a:outerShdw blurRad="38100" dist="38100" dir="2700000" algn="tl">
                  <a:srgbClr val="000000"/>
                </a:outerShdw>
              </a:effectLst>
              <a:latin typeface="Gill Sans MT" pitchFamily="34" charset="0"/>
            </a:endParaRPr>
          </a:p>
        </p:txBody>
      </p:sp>
      <p:sp>
        <p:nvSpPr>
          <p:cNvPr id="8" name="Rectangle 8"/>
          <p:cNvSpPr>
            <a:spLocks noChangeArrowheads="1"/>
          </p:cNvSpPr>
          <p:nvPr/>
        </p:nvSpPr>
        <p:spPr bwMode="auto">
          <a:xfrm>
            <a:off x="1996962" y="4674943"/>
            <a:ext cx="8198069" cy="1127481"/>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algn="ctr">
              <a:spcBef>
                <a:spcPct val="20000"/>
              </a:spcBef>
              <a:defRPr/>
            </a:pPr>
            <a:r>
              <a:rPr lang="en-US" sz="3200" dirty="0">
                <a:effectLst>
                  <a:outerShdw blurRad="38100" dist="38100" dir="2700000" algn="tl">
                    <a:srgbClr val="000000"/>
                  </a:outerShdw>
                </a:effectLst>
                <a:latin typeface="Gill Sans MT" pitchFamily="34" charset="0"/>
              </a:rPr>
              <a:t>What are we trying to do when we test ?</a:t>
            </a:r>
          </a:p>
          <a:p>
            <a:pPr algn="ctr">
              <a:spcBef>
                <a:spcPct val="20000"/>
              </a:spcBef>
              <a:defRPr/>
            </a:pPr>
            <a:r>
              <a:rPr lang="en-US" sz="3200" dirty="0">
                <a:effectLst>
                  <a:outerShdw blurRad="38100" dist="38100" dir="2700000" algn="tl">
                    <a:srgbClr val="000000"/>
                  </a:outerShdw>
                </a:effectLst>
                <a:latin typeface="Gill Sans MT" pitchFamily="34" charset="0"/>
              </a:rPr>
              <a:t>What are our goals ?</a:t>
            </a:r>
            <a:endParaRPr lang="en-US" dirty="0">
              <a:effectLst>
                <a:outerShdw blurRad="38100" dist="38100" dir="2700000" algn="tl">
                  <a:srgbClr val="000000"/>
                </a:outerShdw>
              </a:effectLst>
              <a:latin typeface="Gill Sans MT" pitchFamily="34" charset="0"/>
            </a:endParaRPr>
          </a:p>
        </p:txBody>
      </p:sp>
    </p:spTree>
    <p:extLst>
      <p:ext uri="{BB962C8B-B14F-4D97-AF65-F5344CB8AC3E}">
        <p14:creationId xmlns:p14="http://schemas.microsoft.com/office/powerpoint/2010/main" val="3874278030"/>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&amp; Verification (</a:t>
            </a:r>
            <a:r>
              <a:rPr lang="en-US" sz="3200" i="1" dirty="0"/>
              <a:t>IEEE</a:t>
            </a:r>
            <a:r>
              <a:rPr lang="en-US" dirty="0"/>
              <a:t>)</a:t>
            </a:r>
          </a:p>
        </p:txBody>
      </p:sp>
      <p:sp>
        <p:nvSpPr>
          <p:cNvPr id="3" name="Content Placeholder 2"/>
          <p:cNvSpPr>
            <a:spLocks noGrp="1"/>
          </p:cNvSpPr>
          <p:nvPr>
            <p:ph idx="1"/>
          </p:nvPr>
        </p:nvSpPr>
        <p:spPr>
          <a:xfrm>
            <a:off x="1612900" y="1517301"/>
            <a:ext cx="8966200" cy="5043921"/>
          </a:xfrm>
        </p:spPr>
        <p:txBody>
          <a:bodyPr/>
          <a:lstStyle/>
          <a:p>
            <a:r>
              <a:rPr lang="en-US" dirty="0">
                <a:solidFill>
                  <a:srgbClr val="FFFF00"/>
                </a:solidFill>
              </a:rPr>
              <a:t>Validation</a:t>
            </a:r>
            <a:r>
              <a:rPr lang="en-US" dirty="0"/>
              <a:t> : The process of evaluating software at the end of software development  to ensure compliance with intended usage</a:t>
            </a:r>
          </a:p>
          <a:p>
            <a:pPr lvl="1"/>
            <a:endParaRPr lang="en-US" dirty="0"/>
          </a:p>
          <a:p>
            <a:r>
              <a:rPr lang="en-US" dirty="0">
                <a:solidFill>
                  <a:srgbClr val="FFFF00"/>
                </a:solidFill>
              </a:rPr>
              <a:t>Verification</a:t>
            </a:r>
            <a:r>
              <a:rPr lang="en-US" dirty="0"/>
              <a:t> : The process of determining whether the products of a given phase of the software development process fulfill the requirements established during the previous phase</a:t>
            </a:r>
          </a:p>
          <a:p>
            <a:pPr lvl="1"/>
            <a:endParaRPr lang="en-US" dirty="0"/>
          </a:p>
          <a:p>
            <a:pPr lvl="1"/>
            <a:endParaRPr lang="en-US" dirty="0"/>
          </a:p>
          <a:p>
            <a:pPr algn="ctr">
              <a:buNone/>
            </a:pPr>
            <a:r>
              <a:rPr lang="en-US" dirty="0">
                <a:solidFill>
                  <a:schemeClr val="tx2"/>
                </a:solidFill>
              </a:rPr>
              <a:t>IV&amp;V stands for “</a:t>
            </a:r>
            <a:r>
              <a:rPr lang="en-US" i="1" dirty="0">
                <a:solidFill>
                  <a:schemeClr val="tx2"/>
                </a:solidFill>
              </a:rPr>
              <a:t>independent verification and validation</a:t>
            </a:r>
            <a:r>
              <a:rPr lang="en-US" dirty="0">
                <a:solidFill>
                  <a:schemeClr val="tx2"/>
                </a:solidFill>
              </a:rPr>
              <a:t>”</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28</a:t>
            </a:fld>
            <a:endParaRPr lang="en-US"/>
          </a:p>
        </p:txBody>
      </p:sp>
    </p:spTree>
    <p:extLst>
      <p:ext uri="{BB962C8B-B14F-4D97-AF65-F5344CB8AC3E}">
        <p14:creationId xmlns:p14="http://schemas.microsoft.com/office/powerpoint/2010/main" val="253346976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dirty="0"/>
              <a:t>A case study for distinguishing Validation &amp; Verification </a:t>
            </a:r>
            <a:endParaRPr lang="zh-CN" altLang="en-US" sz="3200" dirty="0"/>
          </a:p>
        </p:txBody>
      </p:sp>
      <p:sp>
        <p:nvSpPr>
          <p:cNvPr id="3" name="内容占位符 2"/>
          <p:cNvSpPr>
            <a:spLocks noGrp="1"/>
          </p:cNvSpPr>
          <p:nvPr>
            <p:ph idx="1"/>
          </p:nvPr>
        </p:nvSpPr>
        <p:spPr/>
        <p:txBody>
          <a:bodyPr/>
          <a:lstStyle/>
          <a:p>
            <a:r>
              <a:rPr lang="en-US" altLang="zh-CN" sz="2400" dirty="0"/>
              <a:t>In April 1990, the Hubble space telescope was launched into orbit around the Earth. As a reflective telescope, Hubble uses a large mirror as its primary means to magnify the objects it's aiming at. </a:t>
            </a:r>
          </a:p>
          <a:p>
            <a:r>
              <a:rPr lang="en-US" altLang="zh-CN" sz="2400" dirty="0"/>
              <a:t>The only means to test it was to carefully measure all its attributes and compare the measurements with what was specified. This testing was performed and Hubble was declared fit for launch. Unfortunately, soon after it was put into operation, the images it returned were found to be out of focus. </a:t>
            </a:r>
          </a:p>
          <a:p>
            <a:r>
              <a:rPr lang="en-US" altLang="zh-CN" sz="2400" dirty="0"/>
              <a:t>An investigation discovered that the mirror was </a:t>
            </a:r>
            <a:r>
              <a:rPr lang="en-US" altLang="zh-CN" sz="2400" dirty="0">
                <a:solidFill>
                  <a:srgbClr val="FFFF00"/>
                </a:solidFill>
              </a:rPr>
              <a:t>improperly</a:t>
            </a:r>
            <a:r>
              <a:rPr lang="en-US" altLang="zh-CN" sz="2400" dirty="0"/>
              <a:t> manufactured. The mirror was ground according to the specification, but </a:t>
            </a:r>
            <a:r>
              <a:rPr lang="en-US" altLang="zh-CN" sz="2400" dirty="0">
                <a:solidFill>
                  <a:srgbClr val="FFFF00"/>
                </a:solidFill>
              </a:rPr>
              <a:t>the specification was wrong</a:t>
            </a:r>
            <a:r>
              <a:rPr lang="en-US" altLang="zh-CN" sz="2400" dirty="0"/>
              <a:t>. The mirror was extremely precise, but it wasn't accurate. Testing had confirmed that the mirror </a:t>
            </a:r>
            <a:r>
              <a:rPr lang="en-US" altLang="zh-CN" sz="2400" dirty="0">
                <a:solidFill>
                  <a:srgbClr val="FFFF00"/>
                </a:solidFill>
              </a:rPr>
              <a:t>met the spec verification </a:t>
            </a:r>
            <a:r>
              <a:rPr lang="en-US" altLang="zh-CN" sz="2400" dirty="0"/>
              <a:t>but it </a:t>
            </a:r>
            <a:r>
              <a:rPr lang="en-US" altLang="zh-CN" sz="2400" dirty="0">
                <a:solidFill>
                  <a:srgbClr val="FFFF00"/>
                </a:solidFill>
              </a:rPr>
              <a:t>didn't</a:t>
            </a:r>
            <a:r>
              <a:rPr lang="en-US" altLang="zh-CN" sz="2400" dirty="0"/>
              <a:t> confirm that it </a:t>
            </a:r>
            <a:r>
              <a:rPr lang="en-US" altLang="zh-CN" sz="2400" dirty="0">
                <a:solidFill>
                  <a:srgbClr val="FFFF00"/>
                </a:solidFill>
              </a:rPr>
              <a:t>met the original requirement validation</a:t>
            </a:r>
            <a:r>
              <a:rPr lang="en-US" altLang="zh-CN" sz="2400" dirty="0"/>
              <a:t>.</a:t>
            </a:r>
          </a:p>
          <a:p>
            <a:r>
              <a:rPr lang="en-US" altLang="zh-CN" sz="2400" dirty="0"/>
              <a:t>In 1993, a space shuttle mission repaired the Hubble telescope by installing a "corrective lens" to refocus the image generated by the improperly manufactured mirror.</a:t>
            </a:r>
          </a:p>
          <a:p>
            <a:r>
              <a:rPr lang="en-US" altLang="zh-CN" sz="2400" dirty="0"/>
              <a:t>Although this is a not a software example, verification and validation apply equally well to software testing. Never assume that the specification is correct. If you </a:t>
            </a:r>
            <a:r>
              <a:rPr lang="en-US" altLang="zh-CN" sz="2400" dirty="0">
                <a:solidFill>
                  <a:srgbClr val="FFFF00"/>
                </a:solidFill>
              </a:rPr>
              <a:t>verify the spec </a:t>
            </a:r>
            <a:r>
              <a:rPr lang="en-US" altLang="zh-CN" sz="2400" dirty="0"/>
              <a:t>and </a:t>
            </a:r>
            <a:r>
              <a:rPr lang="en-US" altLang="zh-CN" sz="2400" dirty="0">
                <a:solidFill>
                  <a:srgbClr val="FFFF00"/>
                </a:solidFill>
              </a:rPr>
              <a:t>validate the final product</a:t>
            </a:r>
            <a:r>
              <a:rPr lang="en-US" altLang="zh-CN" sz="2400" dirty="0"/>
              <a:t>, you help avoid problems such as the one that hit the Hubble telescope.</a:t>
            </a:r>
          </a:p>
          <a:p>
            <a:endParaRPr lang="zh-CN" altLang="en-US" sz="3200" dirty="0"/>
          </a:p>
        </p:txBody>
      </p:sp>
      <p:sp>
        <p:nvSpPr>
          <p:cNvPr id="4" name="灯片编号占位符 3"/>
          <p:cNvSpPr>
            <a:spLocks noGrp="1"/>
          </p:cNvSpPr>
          <p:nvPr>
            <p:ph type="sldNum" sz="quarter" idx="12"/>
          </p:nvPr>
        </p:nvSpPr>
        <p:spPr/>
        <p:txBody>
          <a:bodyPr/>
          <a:lstStyle/>
          <a:p>
            <a:pPr>
              <a:defRPr/>
            </a:pPr>
            <a:fld id="{7F4B1FAA-A740-404F-BBC5-7C153B666279}" type="slidenum">
              <a:rPr lang="en-US" smtClean="0"/>
              <a:pPr>
                <a:defRPr/>
              </a:pPr>
              <a:t>29</a:t>
            </a:fld>
            <a:endParaRPr lang="en-US"/>
          </a:p>
        </p:txBody>
      </p:sp>
    </p:spTree>
    <p:extLst>
      <p:ext uri="{BB962C8B-B14F-4D97-AF65-F5344CB8AC3E}">
        <p14:creationId xmlns:p14="http://schemas.microsoft.com/office/powerpoint/2010/main" val="419874635"/>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3880BC41-283A-455D-A71A-0C159BA1AF18}" type="slidenum">
              <a:rPr lang="en-US" sz="900" b="0">
                <a:solidFill>
                  <a:schemeClr val="tx1"/>
                </a:solidFill>
              </a:rPr>
              <a:pPr/>
              <a:t>30</a:t>
            </a:fld>
            <a:endParaRPr lang="en-US" sz="900" b="0">
              <a:solidFill>
                <a:schemeClr val="tx1"/>
              </a:solidFill>
            </a:endParaRPr>
          </a:p>
        </p:txBody>
      </p:sp>
      <p:sp>
        <p:nvSpPr>
          <p:cNvPr id="78853" name="Rectangle 2"/>
          <p:cNvSpPr>
            <a:spLocks noGrp="1" noChangeArrowheads="1"/>
          </p:cNvSpPr>
          <p:nvPr>
            <p:ph type="title"/>
          </p:nvPr>
        </p:nvSpPr>
        <p:spPr>
          <a:xfrm>
            <a:off x="2120900" y="42863"/>
            <a:ext cx="7924800" cy="1373243"/>
          </a:xfrm>
        </p:spPr>
        <p:txBody>
          <a:bodyPr/>
          <a:lstStyle/>
          <a:p>
            <a:r>
              <a:rPr lang="en-US" dirty="0"/>
              <a:t>Testing Goals Based on Test Process Maturity</a:t>
            </a:r>
          </a:p>
        </p:txBody>
      </p:sp>
      <p:sp>
        <p:nvSpPr>
          <p:cNvPr id="78854" name="Rectangle 3"/>
          <p:cNvSpPr>
            <a:spLocks noGrp="1" noChangeArrowheads="1"/>
          </p:cNvSpPr>
          <p:nvPr>
            <p:ph type="body" idx="1"/>
          </p:nvPr>
        </p:nvSpPr>
        <p:spPr>
          <a:xfrm>
            <a:off x="1662114" y="1406525"/>
            <a:ext cx="8867775" cy="781050"/>
          </a:xfrm>
        </p:spPr>
        <p:txBody>
          <a:bodyPr/>
          <a:lstStyle/>
          <a:p>
            <a:pPr>
              <a:buClr>
                <a:schemeClr val="tx1"/>
              </a:buClr>
              <a:buSzTx/>
              <a:buFont typeface="Wingdings" pitchFamily="2" charset="2"/>
              <a:buChar char="§"/>
            </a:pPr>
            <a:r>
              <a:rPr lang="en-US" dirty="0">
                <a:solidFill>
                  <a:srgbClr val="FFFF00"/>
                </a:solidFill>
              </a:rPr>
              <a:t>Level 0</a:t>
            </a:r>
            <a:r>
              <a:rPr lang="en-US" dirty="0"/>
              <a:t> : There’s no difference between </a:t>
            </a:r>
            <a:r>
              <a:rPr lang="en-US" dirty="0">
                <a:solidFill>
                  <a:srgbClr val="FFFF00"/>
                </a:solidFill>
              </a:rPr>
              <a:t>testing and debugging</a:t>
            </a:r>
          </a:p>
        </p:txBody>
      </p:sp>
      <p:sp>
        <p:nvSpPr>
          <p:cNvPr id="193540" name="Rectangle 4"/>
          <p:cNvSpPr>
            <a:spLocks noChangeArrowheads="1"/>
          </p:cNvSpPr>
          <p:nvPr/>
        </p:nvSpPr>
        <p:spPr bwMode="auto">
          <a:xfrm>
            <a:off x="1658939" y="2289176"/>
            <a:ext cx="8874125"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285750" indent="-285750">
              <a:lnSpc>
                <a:spcPct val="90000"/>
              </a:lnSpc>
              <a:spcBef>
                <a:spcPct val="30000"/>
              </a:spcBef>
              <a:buFont typeface="Wingdings" pitchFamily="2" charset="2"/>
              <a:buChar char="§"/>
            </a:pPr>
            <a:r>
              <a:rPr lang="en-US" sz="2800" b="0" dirty="0">
                <a:solidFill>
                  <a:srgbClr val="FFFF00"/>
                </a:solidFill>
                <a:latin typeface="Gill Sans MT" pitchFamily="34" charset="0"/>
                <a:cs typeface="Arial" pitchFamily="34" charset="0"/>
              </a:rPr>
              <a:t>Level 1</a:t>
            </a:r>
            <a:r>
              <a:rPr lang="en-US" sz="2800" b="0" dirty="0">
                <a:solidFill>
                  <a:schemeClr val="tx1"/>
                </a:solidFill>
                <a:latin typeface="Gill Sans MT" pitchFamily="34" charset="0"/>
                <a:cs typeface="Arial" pitchFamily="34" charset="0"/>
              </a:rPr>
              <a:t> : The purpose of testing is to show </a:t>
            </a:r>
            <a:r>
              <a:rPr lang="en-US" sz="2800" b="0" dirty="0">
                <a:solidFill>
                  <a:srgbClr val="FFFF00"/>
                </a:solidFill>
                <a:latin typeface="Gill Sans MT" pitchFamily="34" charset="0"/>
                <a:cs typeface="Arial" pitchFamily="34" charset="0"/>
              </a:rPr>
              <a:t>correctness</a:t>
            </a:r>
          </a:p>
          <a:p>
            <a:pPr marL="285750" indent="-285750">
              <a:lnSpc>
                <a:spcPct val="90000"/>
              </a:lnSpc>
              <a:spcBef>
                <a:spcPct val="30000"/>
              </a:spcBef>
              <a:buFont typeface="Wingdings" pitchFamily="2" charset="2"/>
              <a:buChar char="§"/>
            </a:pPr>
            <a:r>
              <a:rPr lang="en-US" sz="2800" b="0" dirty="0">
                <a:solidFill>
                  <a:srgbClr val="FFFF00"/>
                </a:solidFill>
                <a:latin typeface="Gill Sans MT" pitchFamily="34" charset="0"/>
                <a:cs typeface="Arial" pitchFamily="34" charset="0"/>
              </a:rPr>
              <a:t>Level 2</a:t>
            </a:r>
            <a:r>
              <a:rPr lang="en-US" sz="2800" b="0" dirty="0">
                <a:solidFill>
                  <a:schemeClr val="tx1"/>
                </a:solidFill>
                <a:latin typeface="Gill Sans MT" pitchFamily="34" charset="0"/>
                <a:cs typeface="Arial" pitchFamily="34" charset="0"/>
              </a:rPr>
              <a:t> : The purpose of testing is to show that the software </a:t>
            </a:r>
            <a:r>
              <a:rPr lang="en-US" sz="2800" b="0" dirty="0">
                <a:solidFill>
                  <a:srgbClr val="FFFF00"/>
                </a:solidFill>
                <a:latin typeface="Gill Sans MT" pitchFamily="34" charset="0"/>
                <a:cs typeface="Arial" pitchFamily="34" charset="0"/>
              </a:rPr>
              <a:t>doesn’t work</a:t>
            </a:r>
          </a:p>
          <a:p>
            <a:pPr marL="285750" indent="-285750">
              <a:lnSpc>
                <a:spcPct val="90000"/>
              </a:lnSpc>
              <a:spcBef>
                <a:spcPct val="30000"/>
              </a:spcBef>
              <a:buFont typeface="Wingdings" pitchFamily="2" charset="2"/>
              <a:buChar char="§"/>
            </a:pPr>
            <a:r>
              <a:rPr lang="en-US" sz="2800" b="0" dirty="0">
                <a:solidFill>
                  <a:srgbClr val="FFFF00"/>
                </a:solidFill>
                <a:latin typeface="Gill Sans MT" pitchFamily="34" charset="0"/>
                <a:cs typeface="Arial" pitchFamily="34" charset="0"/>
              </a:rPr>
              <a:t>Level 3</a:t>
            </a:r>
            <a:r>
              <a:rPr lang="en-US" sz="2800" b="0" dirty="0">
                <a:solidFill>
                  <a:schemeClr val="tx1"/>
                </a:solidFill>
                <a:latin typeface="Gill Sans MT" pitchFamily="34" charset="0"/>
                <a:cs typeface="Arial" pitchFamily="34" charset="0"/>
              </a:rPr>
              <a:t> : The purpose of testing is not to prove anything specific, but to </a:t>
            </a:r>
            <a:r>
              <a:rPr lang="en-US" sz="2800" b="0" dirty="0">
                <a:solidFill>
                  <a:srgbClr val="FFFF00"/>
                </a:solidFill>
                <a:latin typeface="Gill Sans MT" pitchFamily="34" charset="0"/>
                <a:cs typeface="Arial" pitchFamily="34" charset="0"/>
              </a:rPr>
              <a:t>reduce the risk</a:t>
            </a:r>
            <a:r>
              <a:rPr lang="en-US" sz="2800" b="0" dirty="0">
                <a:solidFill>
                  <a:schemeClr val="tx1"/>
                </a:solidFill>
                <a:latin typeface="Gill Sans MT" pitchFamily="34" charset="0"/>
                <a:cs typeface="Arial" pitchFamily="34" charset="0"/>
              </a:rPr>
              <a:t> of using the software</a:t>
            </a:r>
          </a:p>
          <a:p>
            <a:pPr marL="285750" indent="-285750">
              <a:lnSpc>
                <a:spcPct val="90000"/>
              </a:lnSpc>
              <a:spcBef>
                <a:spcPct val="30000"/>
              </a:spcBef>
              <a:buFont typeface="Wingdings" pitchFamily="2" charset="2"/>
              <a:buChar char="§"/>
            </a:pPr>
            <a:r>
              <a:rPr lang="en-US" sz="2800" b="0" dirty="0">
                <a:solidFill>
                  <a:srgbClr val="FFFF00"/>
                </a:solidFill>
                <a:latin typeface="Gill Sans MT" pitchFamily="34" charset="0"/>
                <a:cs typeface="Arial" pitchFamily="34" charset="0"/>
              </a:rPr>
              <a:t>Level 4</a:t>
            </a:r>
            <a:r>
              <a:rPr lang="en-US" sz="2800" b="0" dirty="0">
                <a:solidFill>
                  <a:schemeClr val="tx1"/>
                </a:solidFill>
                <a:latin typeface="Gill Sans MT" pitchFamily="34" charset="0"/>
                <a:cs typeface="Arial" pitchFamily="34" charset="0"/>
              </a:rPr>
              <a:t> : Testing is a </a:t>
            </a:r>
            <a:r>
              <a:rPr lang="en-US" sz="2800" b="0" dirty="0">
                <a:solidFill>
                  <a:srgbClr val="FFFF00"/>
                </a:solidFill>
                <a:latin typeface="Gill Sans MT" pitchFamily="34" charset="0"/>
                <a:cs typeface="Arial" pitchFamily="34" charset="0"/>
              </a:rPr>
              <a:t>mental discipline</a:t>
            </a:r>
            <a:r>
              <a:rPr lang="en-US" sz="2800" b="0" dirty="0">
                <a:solidFill>
                  <a:schemeClr val="tx1"/>
                </a:solidFill>
                <a:latin typeface="Gill Sans MT" pitchFamily="34" charset="0"/>
                <a:cs typeface="Arial" pitchFamily="34" charset="0"/>
              </a:rPr>
              <a:t> that helps all IT professionals develop higher quality software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354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354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354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35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0"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FEDF5CD7-993B-4CB0-8E0E-8808ED7C024C}" type="slidenum">
              <a:rPr lang="en-US" sz="900" b="0">
                <a:solidFill>
                  <a:schemeClr val="tx1"/>
                </a:solidFill>
              </a:rPr>
              <a:pPr/>
              <a:t>31</a:t>
            </a:fld>
            <a:endParaRPr lang="en-US" sz="900" b="0">
              <a:solidFill>
                <a:schemeClr val="tx1"/>
              </a:solidFill>
            </a:endParaRPr>
          </a:p>
        </p:txBody>
      </p:sp>
      <p:sp>
        <p:nvSpPr>
          <p:cNvPr id="79877" name="Rectangle 2"/>
          <p:cNvSpPr>
            <a:spLocks noGrp="1" noChangeArrowheads="1"/>
          </p:cNvSpPr>
          <p:nvPr>
            <p:ph type="title"/>
          </p:nvPr>
        </p:nvSpPr>
        <p:spPr>
          <a:xfrm>
            <a:off x="2209800" y="96838"/>
            <a:ext cx="7772400" cy="919162"/>
          </a:xfrm>
        </p:spPr>
        <p:txBody>
          <a:bodyPr/>
          <a:lstStyle/>
          <a:p>
            <a:r>
              <a:rPr lang="en-US"/>
              <a:t>Level 0 Thinking</a:t>
            </a:r>
          </a:p>
        </p:txBody>
      </p:sp>
      <p:sp>
        <p:nvSpPr>
          <p:cNvPr id="79878" name="Rectangle 3"/>
          <p:cNvSpPr>
            <a:spLocks noGrp="1" noChangeArrowheads="1"/>
          </p:cNvSpPr>
          <p:nvPr>
            <p:ph type="body" idx="1"/>
          </p:nvPr>
        </p:nvSpPr>
        <p:spPr>
          <a:xfrm>
            <a:off x="1662114" y="914401"/>
            <a:ext cx="8867775" cy="5462588"/>
          </a:xfrm>
        </p:spPr>
        <p:txBody>
          <a:bodyPr/>
          <a:lstStyle/>
          <a:p>
            <a:r>
              <a:rPr lang="en-US" sz="3200" dirty="0"/>
              <a:t>Testing is the </a:t>
            </a:r>
            <a:r>
              <a:rPr lang="en-US" sz="3200" dirty="0">
                <a:solidFill>
                  <a:srgbClr val="FFFF00"/>
                </a:solidFill>
              </a:rPr>
              <a:t>same</a:t>
            </a:r>
            <a:r>
              <a:rPr lang="en-US" sz="3200" dirty="0"/>
              <a:t> as debugging</a:t>
            </a:r>
          </a:p>
          <a:p>
            <a:pPr lvl="1"/>
            <a:endParaRPr lang="en-US" dirty="0"/>
          </a:p>
          <a:p>
            <a:r>
              <a:rPr lang="en-US" sz="3200" dirty="0"/>
              <a:t>Does </a:t>
            </a:r>
            <a:r>
              <a:rPr lang="en-US" sz="3200" u="sng" dirty="0"/>
              <a:t>not</a:t>
            </a:r>
            <a:r>
              <a:rPr lang="en-US" sz="3200" dirty="0"/>
              <a:t> distinguish between incorrect </a:t>
            </a:r>
            <a:r>
              <a:rPr lang="en-US" sz="3200" dirty="0">
                <a:solidFill>
                  <a:srgbClr val="FFFF00"/>
                </a:solidFill>
              </a:rPr>
              <a:t>behavior</a:t>
            </a:r>
            <a:r>
              <a:rPr lang="en-US" sz="3200" dirty="0"/>
              <a:t> and mistakes in the program</a:t>
            </a:r>
          </a:p>
          <a:p>
            <a:pPr lvl="1"/>
            <a:endParaRPr lang="en-US" dirty="0"/>
          </a:p>
          <a:p>
            <a:r>
              <a:rPr lang="en-US" sz="3200" dirty="0"/>
              <a:t>Does </a:t>
            </a:r>
            <a:r>
              <a:rPr lang="en-US" sz="3200" u="sng" dirty="0"/>
              <a:t>not</a:t>
            </a:r>
            <a:r>
              <a:rPr lang="en-US" sz="3200" dirty="0"/>
              <a:t> help develop software that is </a:t>
            </a:r>
            <a:r>
              <a:rPr lang="en-US" sz="3200" dirty="0">
                <a:solidFill>
                  <a:srgbClr val="FFFF00"/>
                </a:solidFill>
              </a:rPr>
              <a:t>reliable</a:t>
            </a:r>
            <a:r>
              <a:rPr lang="en-US" sz="3200" dirty="0"/>
              <a:t> or </a:t>
            </a:r>
            <a:r>
              <a:rPr lang="en-US" sz="3200" dirty="0">
                <a:solidFill>
                  <a:srgbClr val="FFFF00"/>
                </a:solidFill>
              </a:rPr>
              <a:t>safe</a:t>
            </a:r>
          </a:p>
        </p:txBody>
      </p:sp>
      <p:sp>
        <p:nvSpPr>
          <p:cNvPr id="194564" name="Text Box 4"/>
          <p:cNvSpPr txBox="1">
            <a:spLocks noChangeArrowheads="1"/>
          </p:cNvSpPr>
          <p:nvPr/>
        </p:nvSpPr>
        <p:spPr bwMode="auto">
          <a:xfrm>
            <a:off x="2133600" y="5257801"/>
            <a:ext cx="7924800" cy="531813"/>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This is what we teach undergraduate CS majors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564"/>
                                        </p:tgtEl>
                                        <p:attrNameLst>
                                          <p:attrName>style.visibility</p:attrName>
                                        </p:attrNameLst>
                                      </p:cBhvr>
                                      <p:to>
                                        <p:strVal val="visible"/>
                                      </p:to>
                                    </p:set>
                                    <p:animEffect transition="in" filter="dissolve">
                                      <p:cBhvr>
                                        <p:cTn id="7" dur="1000"/>
                                        <p:tgtEl>
                                          <p:spTgt spid="194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6385E10F-D82D-456D-8ECA-A4BC8E6D33B8}" type="slidenum">
              <a:rPr lang="en-US" sz="900" b="0">
                <a:solidFill>
                  <a:schemeClr val="tx1"/>
                </a:solidFill>
              </a:rPr>
              <a:pPr/>
              <a:t>32</a:t>
            </a:fld>
            <a:endParaRPr lang="en-US" sz="900" b="0">
              <a:solidFill>
                <a:schemeClr val="tx1"/>
              </a:solidFill>
            </a:endParaRPr>
          </a:p>
        </p:txBody>
      </p:sp>
      <p:sp>
        <p:nvSpPr>
          <p:cNvPr id="80901" name="Rectangle 2"/>
          <p:cNvSpPr>
            <a:spLocks noGrp="1" noChangeArrowheads="1"/>
          </p:cNvSpPr>
          <p:nvPr>
            <p:ph type="title"/>
          </p:nvPr>
        </p:nvSpPr>
        <p:spPr/>
        <p:txBody>
          <a:bodyPr/>
          <a:lstStyle/>
          <a:p>
            <a:r>
              <a:rPr lang="en-US"/>
              <a:t>Level 1 Thinking</a:t>
            </a:r>
          </a:p>
        </p:txBody>
      </p:sp>
      <p:sp>
        <p:nvSpPr>
          <p:cNvPr id="80902" name="Rectangle 3"/>
          <p:cNvSpPr>
            <a:spLocks noGrp="1" noChangeArrowheads="1"/>
          </p:cNvSpPr>
          <p:nvPr>
            <p:ph type="body" idx="1"/>
          </p:nvPr>
        </p:nvSpPr>
        <p:spPr>
          <a:xfrm>
            <a:off x="1664678" y="904353"/>
            <a:ext cx="8882743" cy="4612193"/>
          </a:xfrm>
        </p:spPr>
        <p:txBody>
          <a:bodyPr/>
          <a:lstStyle/>
          <a:p>
            <a:r>
              <a:rPr lang="en-US" sz="3200" dirty="0"/>
              <a:t>Purpose is to show </a:t>
            </a:r>
            <a:r>
              <a:rPr lang="en-US" sz="3200" dirty="0">
                <a:solidFill>
                  <a:srgbClr val="FFFF00"/>
                </a:solidFill>
              </a:rPr>
              <a:t>correctness</a:t>
            </a:r>
          </a:p>
          <a:p>
            <a:r>
              <a:rPr lang="en-US" sz="3200" dirty="0"/>
              <a:t>Correctness is </a:t>
            </a:r>
            <a:r>
              <a:rPr lang="en-US" sz="3200" dirty="0">
                <a:solidFill>
                  <a:srgbClr val="FFFF00"/>
                </a:solidFill>
              </a:rPr>
              <a:t>impossible</a:t>
            </a:r>
            <a:r>
              <a:rPr lang="en-US" sz="3200" dirty="0"/>
              <a:t> to achieve</a:t>
            </a:r>
          </a:p>
          <a:p>
            <a:r>
              <a:rPr lang="en-US" sz="3200" dirty="0"/>
              <a:t>What do we know if </a:t>
            </a:r>
            <a:r>
              <a:rPr lang="en-US" sz="3200" dirty="0">
                <a:solidFill>
                  <a:srgbClr val="FFFF00"/>
                </a:solidFill>
              </a:rPr>
              <a:t>no failures</a:t>
            </a:r>
            <a:r>
              <a:rPr lang="en-US" sz="3200" dirty="0"/>
              <a:t>?</a:t>
            </a:r>
          </a:p>
          <a:p>
            <a:pPr lvl="1"/>
            <a:r>
              <a:rPr lang="en-US" dirty="0"/>
              <a:t>Good software or bad tests?</a:t>
            </a:r>
          </a:p>
          <a:p>
            <a:r>
              <a:rPr lang="en-US" sz="3200" dirty="0">
                <a:solidFill>
                  <a:srgbClr val="FFFF00"/>
                </a:solidFill>
              </a:rPr>
              <a:t>Test engineers</a:t>
            </a:r>
            <a:r>
              <a:rPr lang="en-US" sz="3200" dirty="0"/>
              <a:t> have no:</a:t>
            </a:r>
          </a:p>
          <a:p>
            <a:pPr lvl="1"/>
            <a:r>
              <a:rPr lang="en-US" dirty="0"/>
              <a:t>Strict goal</a:t>
            </a:r>
          </a:p>
          <a:p>
            <a:pPr lvl="1"/>
            <a:r>
              <a:rPr lang="en-US" dirty="0"/>
              <a:t>Real stopping rule</a:t>
            </a:r>
          </a:p>
          <a:p>
            <a:pPr lvl="1"/>
            <a:r>
              <a:rPr lang="en-US" dirty="0"/>
              <a:t>Formal test technique</a:t>
            </a:r>
          </a:p>
          <a:p>
            <a:pPr lvl="1"/>
            <a:r>
              <a:rPr lang="en-US" dirty="0"/>
              <a:t>Test managers are </a:t>
            </a:r>
            <a:r>
              <a:rPr lang="en-US" dirty="0">
                <a:solidFill>
                  <a:srgbClr val="FFFF00"/>
                </a:solidFill>
                <a:latin typeface="Comic Sans MS" pitchFamily="66" charset="0"/>
              </a:rPr>
              <a:t>powerless</a:t>
            </a:r>
          </a:p>
        </p:txBody>
      </p:sp>
      <p:sp>
        <p:nvSpPr>
          <p:cNvPr id="195588" name="Text Box 4"/>
          <p:cNvSpPr txBox="1">
            <a:spLocks noChangeArrowheads="1"/>
          </p:cNvSpPr>
          <p:nvPr/>
        </p:nvSpPr>
        <p:spPr bwMode="auto">
          <a:xfrm>
            <a:off x="2286000" y="5613401"/>
            <a:ext cx="7620000" cy="531813"/>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This is what hardware engineers often expect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5588"/>
                                        </p:tgtEl>
                                        <p:attrNameLst>
                                          <p:attrName>style.visibility</p:attrName>
                                        </p:attrNameLst>
                                      </p:cBhvr>
                                      <p:to>
                                        <p:strVal val="visible"/>
                                      </p:to>
                                    </p:set>
                                    <p:animEffect transition="in" filter="dissolve">
                                      <p:cBhvr>
                                        <p:cTn id="7" dur="1000"/>
                                        <p:tgtEl>
                                          <p:spTgt spid="195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DAD5F1B9-3132-4611-AC03-82589FA3E0D7}" type="slidenum">
              <a:rPr lang="en-US" sz="900" b="0">
                <a:solidFill>
                  <a:schemeClr val="tx1"/>
                </a:solidFill>
              </a:rPr>
              <a:pPr/>
              <a:t>33</a:t>
            </a:fld>
            <a:endParaRPr lang="en-US" sz="900" b="0">
              <a:solidFill>
                <a:schemeClr val="tx1"/>
              </a:solidFill>
            </a:endParaRPr>
          </a:p>
        </p:txBody>
      </p:sp>
      <p:sp>
        <p:nvSpPr>
          <p:cNvPr id="81925" name="Rectangle 2"/>
          <p:cNvSpPr>
            <a:spLocks noGrp="1" noChangeArrowheads="1"/>
          </p:cNvSpPr>
          <p:nvPr>
            <p:ph type="title"/>
          </p:nvPr>
        </p:nvSpPr>
        <p:spPr/>
        <p:txBody>
          <a:bodyPr/>
          <a:lstStyle/>
          <a:p>
            <a:r>
              <a:rPr lang="en-US"/>
              <a:t>Level 2 Thinking</a:t>
            </a:r>
          </a:p>
        </p:txBody>
      </p:sp>
      <p:sp>
        <p:nvSpPr>
          <p:cNvPr id="81926" name="Rectangle 3"/>
          <p:cNvSpPr>
            <a:spLocks noGrp="1" noChangeArrowheads="1"/>
          </p:cNvSpPr>
          <p:nvPr>
            <p:ph type="body" idx="1"/>
          </p:nvPr>
        </p:nvSpPr>
        <p:spPr>
          <a:xfrm>
            <a:off x="1662114" y="787400"/>
            <a:ext cx="8867775" cy="5589588"/>
          </a:xfrm>
        </p:spPr>
        <p:txBody>
          <a:bodyPr/>
          <a:lstStyle/>
          <a:p>
            <a:r>
              <a:rPr lang="en-US" sz="3200" dirty="0"/>
              <a:t>Purpose is to show </a:t>
            </a:r>
            <a:r>
              <a:rPr lang="en-US" sz="3200" dirty="0">
                <a:solidFill>
                  <a:srgbClr val="FFFF00"/>
                </a:solidFill>
              </a:rPr>
              <a:t>failures</a:t>
            </a:r>
          </a:p>
          <a:p>
            <a:pPr lvl="1"/>
            <a:endParaRPr lang="en-US" dirty="0"/>
          </a:p>
          <a:p>
            <a:r>
              <a:rPr lang="en-US" sz="3200" dirty="0"/>
              <a:t>Looking for failures is a </a:t>
            </a:r>
            <a:r>
              <a:rPr lang="en-US" sz="3200" dirty="0">
                <a:solidFill>
                  <a:srgbClr val="FFFF00"/>
                </a:solidFill>
              </a:rPr>
              <a:t>negative</a:t>
            </a:r>
            <a:r>
              <a:rPr lang="en-US" sz="3200" dirty="0"/>
              <a:t> activity</a:t>
            </a:r>
          </a:p>
          <a:p>
            <a:pPr lvl="1"/>
            <a:endParaRPr lang="en-US" dirty="0"/>
          </a:p>
          <a:p>
            <a:r>
              <a:rPr lang="en-US" sz="3200" dirty="0"/>
              <a:t>Puts testers and developers into an </a:t>
            </a:r>
            <a:r>
              <a:rPr lang="en-US" sz="3200" dirty="0">
                <a:solidFill>
                  <a:srgbClr val="FFFF00"/>
                </a:solidFill>
              </a:rPr>
              <a:t>adversarial</a:t>
            </a:r>
            <a:r>
              <a:rPr lang="en-US" sz="3200" dirty="0"/>
              <a:t> relationship</a:t>
            </a:r>
          </a:p>
          <a:p>
            <a:pPr lvl="1"/>
            <a:endParaRPr lang="en-US" dirty="0"/>
          </a:p>
          <a:p>
            <a:r>
              <a:rPr lang="en-US" sz="3200" dirty="0"/>
              <a:t>What if there are </a:t>
            </a:r>
            <a:r>
              <a:rPr lang="en-US" sz="3200" dirty="0">
                <a:solidFill>
                  <a:srgbClr val="FFFF00"/>
                </a:solidFill>
              </a:rPr>
              <a:t>no failures</a:t>
            </a:r>
            <a:r>
              <a:rPr lang="en-US" sz="3200" dirty="0"/>
              <a:t>?</a:t>
            </a:r>
          </a:p>
        </p:txBody>
      </p:sp>
      <p:sp>
        <p:nvSpPr>
          <p:cNvPr id="196612" name="Text Box 4"/>
          <p:cNvSpPr txBox="1">
            <a:spLocks noChangeArrowheads="1"/>
          </p:cNvSpPr>
          <p:nvPr/>
        </p:nvSpPr>
        <p:spPr bwMode="auto">
          <a:xfrm>
            <a:off x="2628900" y="4953001"/>
            <a:ext cx="6934200" cy="1173163"/>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anose="020B0502020104020203" pitchFamily="34" charset="0"/>
                <a:cs typeface="Arial" pitchFamily="34" charset="0"/>
              </a:rPr>
              <a:t>This describes most software companies.</a:t>
            </a:r>
          </a:p>
          <a:p>
            <a:pPr algn="ctr">
              <a:spcBef>
                <a:spcPct val="50000"/>
              </a:spcBef>
              <a:defRPr/>
            </a:pPr>
            <a:r>
              <a:rPr lang="en-US" sz="2800" b="0" dirty="0">
                <a:effectLst>
                  <a:outerShdw blurRad="38100" dist="38100" dir="2700000" algn="tl">
                    <a:srgbClr val="000000"/>
                  </a:outerShdw>
                </a:effectLst>
                <a:latin typeface="Gill Sans MT" panose="020B0502020104020203" pitchFamily="34" charset="0"/>
                <a:cs typeface="Arial" pitchFamily="34" charset="0"/>
              </a:rPr>
              <a:t>How can we move to a </a:t>
            </a:r>
            <a:r>
              <a:rPr lang="en-US" sz="2800" b="0" i="1" u="sng" dirty="0">
                <a:effectLst>
                  <a:outerShdw blurRad="38100" dist="38100" dir="2700000" algn="tl">
                    <a:srgbClr val="000000"/>
                  </a:outerShdw>
                </a:effectLst>
                <a:latin typeface="Gill Sans MT" panose="020B0502020104020203" pitchFamily="34" charset="0"/>
                <a:cs typeface="Arial" pitchFamily="34" charset="0"/>
              </a:rPr>
              <a:t>team approach</a:t>
            </a:r>
            <a:r>
              <a:rPr lang="en-US" sz="2800" b="0" dirty="0">
                <a:effectLst>
                  <a:outerShdw blurRad="38100" dist="38100" dir="2700000" algn="tl">
                    <a:srgbClr val="000000"/>
                  </a:outerShdw>
                </a:effectLst>
                <a:latin typeface="Gill Sans MT" panose="020B0502020104020203" pitchFamily="34" charset="0"/>
                <a:cs typeface="Arial" pitchFamily="34" charset="0"/>
              </a:rPr>
              <a:t>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6612"/>
                                        </p:tgtEl>
                                        <p:attrNameLst>
                                          <p:attrName>style.visibility</p:attrName>
                                        </p:attrNameLst>
                                      </p:cBhvr>
                                      <p:to>
                                        <p:strVal val="visible"/>
                                      </p:to>
                                    </p:set>
                                    <p:animEffect transition="in" filter="dissolve">
                                      <p:cBhvr>
                                        <p:cTn id="7" dur="1000"/>
                                        <p:tgtEl>
                                          <p:spTgt spid="196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ECAAF336-8C84-4C91-97F7-0B907A5D7771}" type="slidenum">
              <a:rPr lang="en-US" sz="900" b="0">
                <a:solidFill>
                  <a:schemeClr val="tx1"/>
                </a:solidFill>
              </a:rPr>
              <a:pPr/>
              <a:t>34</a:t>
            </a:fld>
            <a:endParaRPr lang="en-US" sz="900" b="0">
              <a:solidFill>
                <a:schemeClr val="tx1"/>
              </a:solidFill>
            </a:endParaRPr>
          </a:p>
        </p:txBody>
      </p:sp>
      <p:sp>
        <p:nvSpPr>
          <p:cNvPr id="82949" name="Rectangle 2"/>
          <p:cNvSpPr>
            <a:spLocks noGrp="1" noChangeArrowheads="1"/>
          </p:cNvSpPr>
          <p:nvPr>
            <p:ph type="title"/>
          </p:nvPr>
        </p:nvSpPr>
        <p:spPr/>
        <p:txBody>
          <a:bodyPr/>
          <a:lstStyle/>
          <a:p>
            <a:r>
              <a:rPr lang="en-US"/>
              <a:t>Level 3 Thinking</a:t>
            </a:r>
          </a:p>
        </p:txBody>
      </p:sp>
      <p:sp>
        <p:nvSpPr>
          <p:cNvPr id="82950" name="Rectangle 3"/>
          <p:cNvSpPr>
            <a:spLocks noGrp="1" noChangeArrowheads="1"/>
          </p:cNvSpPr>
          <p:nvPr>
            <p:ph type="body" idx="1"/>
          </p:nvPr>
        </p:nvSpPr>
        <p:spPr>
          <a:xfrm>
            <a:off x="1662114" y="815976"/>
            <a:ext cx="8867775" cy="5561013"/>
          </a:xfrm>
        </p:spPr>
        <p:txBody>
          <a:bodyPr/>
          <a:lstStyle/>
          <a:p>
            <a:r>
              <a:rPr lang="en-US" sz="3200" dirty="0"/>
              <a:t>Testing can only show the </a:t>
            </a:r>
            <a:r>
              <a:rPr lang="en-US" sz="3200" dirty="0">
                <a:solidFill>
                  <a:srgbClr val="FFFF00"/>
                </a:solidFill>
              </a:rPr>
              <a:t>presence of failures</a:t>
            </a:r>
          </a:p>
          <a:p>
            <a:pPr lvl="1"/>
            <a:endParaRPr lang="en-US" dirty="0"/>
          </a:p>
          <a:p>
            <a:r>
              <a:rPr lang="en-US" sz="3200" dirty="0"/>
              <a:t>Whenever we use software, we incur some </a:t>
            </a:r>
            <a:r>
              <a:rPr lang="en-US" sz="3200" dirty="0">
                <a:solidFill>
                  <a:srgbClr val="FFFF00"/>
                </a:solidFill>
              </a:rPr>
              <a:t>risk</a:t>
            </a:r>
          </a:p>
          <a:p>
            <a:pPr lvl="1"/>
            <a:endParaRPr lang="en-US" dirty="0"/>
          </a:p>
          <a:p>
            <a:r>
              <a:rPr lang="en-US" sz="3200" dirty="0"/>
              <a:t>Risk may be </a:t>
            </a:r>
            <a:r>
              <a:rPr lang="en-US" sz="3200" dirty="0">
                <a:solidFill>
                  <a:srgbClr val="FFFF00"/>
                </a:solidFill>
              </a:rPr>
              <a:t>small</a:t>
            </a:r>
            <a:r>
              <a:rPr lang="en-US" sz="3200" dirty="0"/>
              <a:t> and consequences unimportant</a:t>
            </a:r>
          </a:p>
          <a:p>
            <a:pPr lvl="1"/>
            <a:endParaRPr lang="en-US" dirty="0"/>
          </a:p>
          <a:p>
            <a:r>
              <a:rPr lang="en-US" sz="3200" dirty="0"/>
              <a:t>Risk may be </a:t>
            </a:r>
            <a:r>
              <a:rPr lang="en-US" sz="3200" dirty="0">
                <a:solidFill>
                  <a:srgbClr val="FFFF00"/>
                </a:solidFill>
              </a:rPr>
              <a:t>great</a:t>
            </a:r>
            <a:r>
              <a:rPr lang="en-US" sz="3200" dirty="0"/>
              <a:t> and consequences catastrophic</a:t>
            </a:r>
          </a:p>
          <a:p>
            <a:pPr lvl="1"/>
            <a:endParaRPr lang="en-US" dirty="0"/>
          </a:p>
          <a:p>
            <a:r>
              <a:rPr lang="en-US" sz="3200" dirty="0"/>
              <a:t>Testers and developers cooperate to </a:t>
            </a:r>
            <a:r>
              <a:rPr lang="en-US" sz="3200" dirty="0">
                <a:solidFill>
                  <a:srgbClr val="FFFF00"/>
                </a:solidFill>
              </a:rPr>
              <a:t>reduce risk</a:t>
            </a:r>
          </a:p>
        </p:txBody>
      </p:sp>
      <p:sp>
        <p:nvSpPr>
          <p:cNvPr id="197636" name="Text Box 4"/>
          <p:cNvSpPr txBox="1">
            <a:spLocks noChangeArrowheads="1"/>
          </p:cNvSpPr>
          <p:nvPr/>
        </p:nvSpPr>
        <p:spPr bwMode="auto">
          <a:xfrm>
            <a:off x="1752600" y="5627073"/>
            <a:ext cx="8686800" cy="531813"/>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This describes a few “enlightened” software companies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7636"/>
                                        </p:tgtEl>
                                        <p:attrNameLst>
                                          <p:attrName>style.visibility</p:attrName>
                                        </p:attrNameLst>
                                      </p:cBhvr>
                                      <p:to>
                                        <p:strVal val="visible"/>
                                      </p:to>
                                    </p:set>
                                    <p:animEffect transition="in" filter="dissolve">
                                      <p:cBhvr>
                                        <p:cTn id="7" dur="1000"/>
                                        <p:tgtEl>
                                          <p:spTgt spid="197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1ED62863-B5C3-44B5-996B-F1A5E441401E}" type="slidenum">
              <a:rPr lang="en-US" sz="900" b="0">
                <a:solidFill>
                  <a:schemeClr val="tx1"/>
                </a:solidFill>
              </a:rPr>
              <a:pPr/>
              <a:t>35</a:t>
            </a:fld>
            <a:endParaRPr lang="en-US" sz="900" b="0">
              <a:solidFill>
                <a:schemeClr val="tx1"/>
              </a:solidFill>
            </a:endParaRPr>
          </a:p>
        </p:txBody>
      </p:sp>
      <p:sp>
        <p:nvSpPr>
          <p:cNvPr id="83973" name="Rectangle 2"/>
          <p:cNvSpPr>
            <a:spLocks noGrp="1" noChangeArrowheads="1"/>
          </p:cNvSpPr>
          <p:nvPr>
            <p:ph type="title"/>
          </p:nvPr>
        </p:nvSpPr>
        <p:spPr/>
        <p:txBody>
          <a:bodyPr/>
          <a:lstStyle/>
          <a:p>
            <a:r>
              <a:rPr lang="en-US"/>
              <a:t>Level 4 Thinking</a:t>
            </a:r>
          </a:p>
        </p:txBody>
      </p:sp>
      <p:sp>
        <p:nvSpPr>
          <p:cNvPr id="83974" name="Rectangle 3"/>
          <p:cNvSpPr>
            <a:spLocks noGrp="1" noChangeArrowheads="1"/>
          </p:cNvSpPr>
          <p:nvPr>
            <p:ph type="body" idx="1"/>
          </p:nvPr>
        </p:nvSpPr>
        <p:spPr>
          <a:xfrm>
            <a:off x="1600200" y="898526"/>
            <a:ext cx="8991600" cy="5135563"/>
          </a:xfrm>
        </p:spPr>
        <p:txBody>
          <a:bodyPr/>
          <a:lstStyle/>
          <a:p>
            <a:pPr algn="ctr">
              <a:buFont typeface="Monotype Sorts" charset="2"/>
              <a:buNone/>
            </a:pPr>
            <a:r>
              <a:rPr lang="en-US" sz="3600" dirty="0">
                <a:solidFill>
                  <a:schemeClr val="tx2"/>
                </a:solidFill>
              </a:rPr>
              <a:t>A mental discipline that increases quality</a:t>
            </a:r>
          </a:p>
          <a:p>
            <a:endParaRPr lang="en-US" dirty="0"/>
          </a:p>
          <a:p>
            <a:r>
              <a:rPr lang="en-US" dirty="0"/>
              <a:t>Testing is only </a:t>
            </a:r>
            <a:r>
              <a:rPr lang="en-US" dirty="0">
                <a:solidFill>
                  <a:srgbClr val="FFFF00"/>
                </a:solidFill>
              </a:rPr>
              <a:t>one way</a:t>
            </a:r>
            <a:r>
              <a:rPr lang="en-US" dirty="0"/>
              <a:t> to increase quality</a:t>
            </a:r>
          </a:p>
          <a:p>
            <a:pPr lvl="1"/>
            <a:endParaRPr lang="en-US" b="0" dirty="0"/>
          </a:p>
          <a:p>
            <a:r>
              <a:rPr lang="en-US" dirty="0"/>
              <a:t>Test engineers can become </a:t>
            </a:r>
            <a:r>
              <a:rPr lang="en-US" dirty="0">
                <a:solidFill>
                  <a:srgbClr val="FFFF00"/>
                </a:solidFill>
              </a:rPr>
              <a:t>technical leaders</a:t>
            </a:r>
            <a:r>
              <a:rPr lang="en-US" dirty="0"/>
              <a:t> of the project</a:t>
            </a:r>
          </a:p>
          <a:p>
            <a:pPr lvl="1"/>
            <a:endParaRPr lang="en-US" b="0" dirty="0"/>
          </a:p>
          <a:p>
            <a:r>
              <a:rPr lang="en-US" dirty="0"/>
              <a:t>Primary responsibility to </a:t>
            </a:r>
            <a:r>
              <a:rPr lang="en-US" dirty="0">
                <a:solidFill>
                  <a:srgbClr val="FFFF00"/>
                </a:solidFill>
              </a:rPr>
              <a:t>measure and improve</a:t>
            </a:r>
            <a:r>
              <a:rPr lang="en-US" dirty="0"/>
              <a:t> software quality</a:t>
            </a:r>
          </a:p>
          <a:p>
            <a:pPr lvl="1"/>
            <a:endParaRPr lang="en-US" b="0" dirty="0"/>
          </a:p>
          <a:p>
            <a:r>
              <a:rPr lang="en-US" dirty="0"/>
              <a:t>Their expertise should </a:t>
            </a:r>
            <a:r>
              <a:rPr lang="en-US" dirty="0">
                <a:solidFill>
                  <a:srgbClr val="FFFF00"/>
                </a:solidFill>
              </a:rPr>
              <a:t>help the developers</a:t>
            </a:r>
          </a:p>
        </p:txBody>
      </p:sp>
      <p:sp>
        <p:nvSpPr>
          <p:cNvPr id="198660" name="Text Box 4"/>
          <p:cNvSpPr txBox="1">
            <a:spLocks noChangeArrowheads="1"/>
          </p:cNvSpPr>
          <p:nvPr/>
        </p:nvSpPr>
        <p:spPr bwMode="auto">
          <a:xfrm>
            <a:off x="2209800" y="5839909"/>
            <a:ext cx="7772400" cy="531813"/>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lgn="ctr">
              <a:spcBef>
                <a:spcPct val="50000"/>
              </a:spcBef>
              <a:defRPr/>
            </a:pPr>
            <a:r>
              <a:rPr lang="en-US" sz="2800" b="0" dirty="0">
                <a:effectLst>
                  <a:outerShdw blurRad="38100" dist="38100" dir="2700000" algn="tl">
                    <a:srgbClr val="000000"/>
                  </a:outerShdw>
                </a:effectLst>
                <a:latin typeface="Gill Sans MT" pitchFamily="34" charset="0"/>
                <a:cs typeface="Arial" pitchFamily="34" charset="0"/>
              </a:rPr>
              <a:t>This is the way “traditional” engineering works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8660"/>
                                        </p:tgtEl>
                                        <p:attrNameLst>
                                          <p:attrName>style.visibility</p:attrName>
                                        </p:attrNameLst>
                                      </p:cBhvr>
                                      <p:to>
                                        <p:strVal val="visible"/>
                                      </p:to>
                                    </p:set>
                                    <p:animEffect transition="in" filter="dissolve">
                                      <p:cBhvr>
                                        <p:cTn id="7" dur="1000"/>
                                        <p:tgtEl>
                                          <p:spTgt spid="198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Are You?</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36</a:t>
            </a:fld>
            <a:endParaRPr lang="en-US"/>
          </a:p>
        </p:txBody>
      </p:sp>
      <p:sp>
        <p:nvSpPr>
          <p:cNvPr id="7" name="Rectangle 8"/>
          <p:cNvSpPr>
            <a:spLocks noChangeArrowheads="1"/>
          </p:cNvSpPr>
          <p:nvPr/>
        </p:nvSpPr>
        <p:spPr bwMode="auto">
          <a:xfrm>
            <a:off x="2453390" y="929692"/>
            <a:ext cx="7247744" cy="1127481"/>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nchor="ctr"/>
          <a:lstStyle/>
          <a:p>
            <a:pPr algn="ctr">
              <a:spcBef>
                <a:spcPct val="20000"/>
              </a:spcBef>
              <a:defRPr/>
            </a:pPr>
            <a:r>
              <a:rPr lang="en-US" sz="3200" dirty="0">
                <a:effectLst>
                  <a:outerShdw blurRad="38100" dist="38100" dir="2700000" algn="tl">
                    <a:srgbClr val="000000"/>
                  </a:outerShdw>
                </a:effectLst>
                <a:latin typeface="Gill Sans MT" pitchFamily="34" charset="0"/>
              </a:rPr>
              <a:t>Are you at level 0, 1, or 2 ?</a:t>
            </a:r>
            <a:endParaRPr lang="en-US" dirty="0">
              <a:effectLst>
                <a:outerShdw blurRad="38100" dist="38100" dir="2700000" algn="tl">
                  <a:srgbClr val="000000"/>
                </a:outerShdw>
              </a:effectLst>
              <a:latin typeface="Gill Sans MT" pitchFamily="34" charset="0"/>
            </a:endParaRPr>
          </a:p>
        </p:txBody>
      </p:sp>
      <p:sp>
        <p:nvSpPr>
          <p:cNvPr id="8" name="Rectangle 8"/>
          <p:cNvSpPr>
            <a:spLocks noChangeArrowheads="1"/>
          </p:cNvSpPr>
          <p:nvPr/>
        </p:nvSpPr>
        <p:spPr bwMode="auto">
          <a:xfrm>
            <a:off x="2468226" y="2473913"/>
            <a:ext cx="7247744" cy="1612570"/>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algn="ctr">
              <a:spcBef>
                <a:spcPct val="20000"/>
              </a:spcBef>
              <a:defRPr/>
            </a:pPr>
            <a:r>
              <a:rPr lang="en-US" sz="3200" dirty="0">
                <a:effectLst>
                  <a:outerShdw blurRad="38100" dist="38100" dir="2700000" algn="tl">
                    <a:srgbClr val="000000"/>
                  </a:outerShdw>
                </a:effectLst>
                <a:latin typeface="Gill Sans MT" pitchFamily="34" charset="0"/>
              </a:rPr>
              <a:t>Is your organization at work at level 0, 1, or 2 ?</a:t>
            </a:r>
          </a:p>
          <a:p>
            <a:pPr algn="ctr">
              <a:spcBef>
                <a:spcPct val="20000"/>
              </a:spcBef>
              <a:defRPr/>
            </a:pPr>
            <a:r>
              <a:rPr lang="en-US" sz="3200" dirty="0">
                <a:effectLst>
                  <a:outerShdw blurRad="38100" dist="38100" dir="2700000" algn="tl">
                    <a:srgbClr val="000000"/>
                  </a:outerShdw>
                </a:effectLst>
                <a:latin typeface="Gill Sans MT" pitchFamily="34" charset="0"/>
              </a:rPr>
              <a:t>Or 3?</a:t>
            </a:r>
          </a:p>
        </p:txBody>
      </p:sp>
      <p:sp>
        <p:nvSpPr>
          <p:cNvPr id="10" name="Rectangle 8"/>
          <p:cNvSpPr>
            <a:spLocks noChangeArrowheads="1"/>
          </p:cNvSpPr>
          <p:nvPr/>
        </p:nvSpPr>
        <p:spPr bwMode="auto">
          <a:xfrm>
            <a:off x="2291250" y="4584590"/>
            <a:ext cx="7602043" cy="1612570"/>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algn="ctr">
              <a:spcBef>
                <a:spcPct val="20000"/>
              </a:spcBef>
              <a:defRPr/>
            </a:pPr>
            <a:r>
              <a:rPr lang="en-US" sz="3200" dirty="0">
                <a:effectLst>
                  <a:outerShdw blurRad="38100" dist="38100" dir="2700000" algn="tl">
                    <a:srgbClr val="000000"/>
                  </a:outerShdw>
                </a:effectLst>
                <a:latin typeface="Gill Sans MT" pitchFamily="34" charset="0"/>
              </a:rPr>
              <a:t>We hope to teach you to become “change agents” in your workplace …</a:t>
            </a:r>
          </a:p>
          <a:p>
            <a:pPr algn="ctr">
              <a:spcBef>
                <a:spcPct val="20000"/>
              </a:spcBef>
              <a:defRPr/>
            </a:pPr>
            <a:r>
              <a:rPr lang="en-US" sz="3200" dirty="0">
                <a:effectLst>
                  <a:outerShdw blurRad="38100" dist="38100" dir="2700000" algn="tl">
                    <a:srgbClr val="000000"/>
                  </a:outerShdw>
                </a:effectLst>
                <a:latin typeface="Gill Sans MT" pitchFamily="34" charset="0"/>
              </a:rPr>
              <a:t>Advocates for level 4 thinking</a:t>
            </a:r>
          </a:p>
        </p:txBody>
      </p:sp>
    </p:spTree>
    <p:extLst>
      <p:ext uri="{BB962C8B-B14F-4D97-AF65-F5344CB8AC3E}">
        <p14:creationId xmlns:p14="http://schemas.microsoft.com/office/powerpoint/2010/main" val="4905575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Tactical Goals : Why Each Test ?</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37</a:t>
            </a:fld>
            <a:endParaRPr lang="en-US"/>
          </a:p>
        </p:txBody>
      </p:sp>
      <p:sp>
        <p:nvSpPr>
          <p:cNvPr id="7" name="Rectangle 3"/>
          <p:cNvSpPr txBox="1">
            <a:spLocks noChangeArrowheads="1"/>
          </p:cNvSpPr>
          <p:nvPr/>
        </p:nvSpPr>
        <p:spPr bwMode="auto">
          <a:xfrm>
            <a:off x="1720851" y="2181225"/>
            <a:ext cx="8736013" cy="383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75000"/>
              <a:buFont typeface="Monotype Sorts" charset="2"/>
              <a:buChar char="n"/>
              <a:defRPr sz="2400" b="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sz="2000" b="0">
                <a:solidFill>
                  <a:schemeClr val="tx1"/>
                </a:solidFill>
                <a:latin typeface="+mn-lt"/>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mn-lt"/>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mn-lt"/>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mn-lt"/>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a:lstStyle>
          <a:p>
            <a:r>
              <a:rPr lang="en-US" sz="3200" dirty="0">
                <a:solidFill>
                  <a:srgbClr val="FFFF00"/>
                </a:solidFill>
                <a:latin typeface="Gill Sans MT" pitchFamily="34" charset="0"/>
              </a:rPr>
              <a:t>Written test objectives</a:t>
            </a:r>
            <a:r>
              <a:rPr lang="en-US" sz="3200" dirty="0">
                <a:latin typeface="Gill Sans MT" pitchFamily="34" charset="0"/>
              </a:rPr>
              <a:t> and requirements must be documented</a:t>
            </a:r>
            <a:endParaRPr lang="en-US" sz="2800" dirty="0">
              <a:latin typeface="Gill Sans MT" pitchFamily="34" charset="0"/>
            </a:endParaRPr>
          </a:p>
          <a:p>
            <a:r>
              <a:rPr lang="en-US" sz="3200" dirty="0">
                <a:latin typeface="Gill Sans MT" pitchFamily="34" charset="0"/>
              </a:rPr>
              <a:t>What are your planned </a:t>
            </a:r>
            <a:r>
              <a:rPr lang="en-US" sz="3200" dirty="0">
                <a:solidFill>
                  <a:schemeClr val="tx2"/>
                </a:solidFill>
                <a:latin typeface="Gill Sans MT" pitchFamily="34" charset="0"/>
              </a:rPr>
              <a:t>coverage</a:t>
            </a:r>
            <a:r>
              <a:rPr lang="en-US" sz="3200" dirty="0">
                <a:latin typeface="Gill Sans MT" pitchFamily="34" charset="0"/>
              </a:rPr>
              <a:t> levels?</a:t>
            </a:r>
          </a:p>
          <a:p>
            <a:r>
              <a:rPr lang="en-US" sz="3200" dirty="0">
                <a:latin typeface="Gill Sans MT" pitchFamily="34" charset="0"/>
              </a:rPr>
              <a:t>How much testing is </a:t>
            </a:r>
            <a:r>
              <a:rPr lang="en-US" sz="3200" dirty="0">
                <a:solidFill>
                  <a:srgbClr val="FFFF00"/>
                </a:solidFill>
                <a:latin typeface="Gill Sans MT" pitchFamily="34" charset="0"/>
              </a:rPr>
              <a:t>enough</a:t>
            </a:r>
            <a:r>
              <a:rPr lang="en-US" sz="3200" dirty="0">
                <a:latin typeface="Gill Sans MT" pitchFamily="34" charset="0"/>
              </a:rPr>
              <a:t>?</a:t>
            </a:r>
          </a:p>
          <a:p>
            <a:r>
              <a:rPr lang="en-US" sz="3200" dirty="0">
                <a:latin typeface="Gill Sans MT" pitchFamily="34" charset="0"/>
              </a:rPr>
              <a:t>Common objective – </a:t>
            </a:r>
            <a:r>
              <a:rPr lang="en-US" sz="3200" dirty="0">
                <a:solidFill>
                  <a:srgbClr val="FFFF00"/>
                </a:solidFill>
                <a:latin typeface="Gill Sans MT" pitchFamily="34" charset="0"/>
              </a:rPr>
              <a:t>spend the budget</a:t>
            </a:r>
            <a:r>
              <a:rPr lang="en-US" sz="3200" dirty="0">
                <a:latin typeface="Gill Sans MT" pitchFamily="34" charset="0"/>
              </a:rPr>
              <a:t> </a:t>
            </a:r>
            <a:r>
              <a:rPr lang="en-US" sz="4000" dirty="0">
                <a:latin typeface="Gill Sans MT" pitchFamily="34" charset="0"/>
              </a:rPr>
              <a:t>…</a:t>
            </a:r>
            <a:r>
              <a:rPr lang="en-US" sz="3200" dirty="0">
                <a:latin typeface="Gill Sans MT" pitchFamily="34" charset="0"/>
              </a:rPr>
              <a:t> </a:t>
            </a:r>
            <a:r>
              <a:rPr lang="en-US" sz="3200" dirty="0">
                <a:solidFill>
                  <a:schemeClr val="tx2"/>
                </a:solidFill>
                <a:latin typeface="Gill Sans MT" pitchFamily="34" charset="0"/>
              </a:rPr>
              <a:t>test until the ship-date</a:t>
            </a:r>
            <a:r>
              <a:rPr lang="en-US" sz="3200" dirty="0">
                <a:latin typeface="Gill Sans MT" pitchFamily="34" charset="0"/>
              </a:rPr>
              <a:t> …</a:t>
            </a:r>
          </a:p>
          <a:p>
            <a:pPr lvl="1"/>
            <a:r>
              <a:rPr lang="en-US" sz="2800" dirty="0">
                <a:latin typeface="Gill Sans MT" pitchFamily="34" charset="0"/>
              </a:rPr>
              <a:t>Sometimes called the “</a:t>
            </a:r>
            <a:r>
              <a:rPr lang="en-US" sz="2800" dirty="0">
                <a:solidFill>
                  <a:schemeClr val="tx2"/>
                </a:solidFill>
                <a:latin typeface="Comic Sans MS" pitchFamily="66" charset="0"/>
              </a:rPr>
              <a:t>date criterion</a:t>
            </a:r>
            <a:r>
              <a:rPr lang="en-US" sz="2800" dirty="0">
                <a:latin typeface="Gill Sans MT" pitchFamily="34" charset="0"/>
              </a:rPr>
              <a:t>”</a:t>
            </a:r>
          </a:p>
        </p:txBody>
      </p:sp>
      <p:sp>
        <p:nvSpPr>
          <p:cNvPr id="8" name="Text Box 4"/>
          <p:cNvSpPr txBox="1">
            <a:spLocks noChangeArrowheads="1"/>
          </p:cNvSpPr>
          <p:nvPr/>
        </p:nvSpPr>
        <p:spPr bwMode="auto">
          <a:xfrm>
            <a:off x="2503489" y="1057275"/>
            <a:ext cx="7183437" cy="958850"/>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spcBef>
                <a:spcPct val="50000"/>
              </a:spcBef>
              <a:defRPr/>
            </a:pPr>
            <a:r>
              <a:rPr lang="en-US" sz="2800" b="0" dirty="0">
                <a:effectLst>
                  <a:outerShdw blurRad="38100" dist="38100" dir="2700000" algn="tl">
                    <a:srgbClr val="000000"/>
                  </a:outerShdw>
                </a:effectLst>
                <a:latin typeface="Comic Sans MS" pitchFamily="66" charset="0"/>
                <a:cs typeface="Arial" pitchFamily="34" charset="0"/>
              </a:rPr>
              <a:t>If you don’t know </a:t>
            </a:r>
            <a:r>
              <a:rPr lang="en-US" sz="2800" b="0" u="sng" dirty="0">
                <a:effectLst>
                  <a:outerShdw blurRad="38100" dist="38100" dir="2700000" algn="tl">
                    <a:srgbClr val="000000"/>
                  </a:outerShdw>
                </a:effectLst>
                <a:latin typeface="Comic Sans MS" pitchFamily="66" charset="0"/>
                <a:cs typeface="Arial" pitchFamily="34" charset="0"/>
              </a:rPr>
              <a:t>why</a:t>
            </a:r>
            <a:r>
              <a:rPr lang="en-US" sz="2800" b="0" dirty="0">
                <a:effectLst>
                  <a:outerShdw blurRad="38100" dist="38100" dir="2700000" algn="tl">
                    <a:srgbClr val="000000"/>
                  </a:outerShdw>
                </a:effectLst>
                <a:latin typeface="Comic Sans MS" pitchFamily="66" charset="0"/>
                <a:cs typeface="Arial" pitchFamily="34" charset="0"/>
              </a:rPr>
              <a:t> you’re conducting each test, it won’t be very helpful</a:t>
            </a:r>
          </a:p>
        </p:txBody>
      </p:sp>
    </p:spTree>
    <p:extLst>
      <p:ext uri="{BB962C8B-B14F-4D97-AF65-F5344CB8AC3E}">
        <p14:creationId xmlns:p14="http://schemas.microsoft.com/office/powerpoint/2010/main" val="332750242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4CB2EEBC-FE8F-4F93-BCE9-2AB7528BF96E}" type="slidenum">
              <a:rPr lang="en-US" sz="900" b="0">
                <a:solidFill>
                  <a:schemeClr val="tx1"/>
                </a:solidFill>
              </a:rPr>
              <a:pPr/>
              <a:t>38</a:t>
            </a:fld>
            <a:endParaRPr lang="en-US" sz="900" b="0">
              <a:solidFill>
                <a:schemeClr val="tx1"/>
              </a:solidFill>
            </a:endParaRPr>
          </a:p>
        </p:txBody>
      </p:sp>
      <p:sp>
        <p:nvSpPr>
          <p:cNvPr id="20485" name="Rectangle 2"/>
          <p:cNvSpPr>
            <a:spLocks noGrp="1" noChangeArrowheads="1"/>
          </p:cNvSpPr>
          <p:nvPr>
            <p:ph type="title"/>
          </p:nvPr>
        </p:nvSpPr>
        <p:spPr/>
        <p:txBody>
          <a:bodyPr/>
          <a:lstStyle/>
          <a:p>
            <a:r>
              <a:rPr lang="en-US" dirty="0"/>
              <a:t>Why Each Test ?</a:t>
            </a:r>
          </a:p>
        </p:txBody>
      </p:sp>
      <p:sp>
        <p:nvSpPr>
          <p:cNvPr id="20486" name="Rectangle 3"/>
          <p:cNvSpPr>
            <a:spLocks noGrp="1" noChangeArrowheads="1"/>
          </p:cNvSpPr>
          <p:nvPr>
            <p:ph type="body" idx="1"/>
          </p:nvPr>
        </p:nvSpPr>
        <p:spPr>
          <a:xfrm>
            <a:off x="1720851" y="2335214"/>
            <a:ext cx="8778875" cy="3914775"/>
          </a:xfrm>
        </p:spPr>
        <p:txBody>
          <a:bodyPr/>
          <a:lstStyle/>
          <a:p>
            <a:r>
              <a:rPr lang="en-US" sz="3200" dirty="0"/>
              <a:t>1980: “The software shall be easily </a:t>
            </a:r>
            <a:r>
              <a:rPr lang="en-US" sz="3200" dirty="0">
                <a:solidFill>
                  <a:srgbClr val="FFFF00"/>
                </a:solidFill>
              </a:rPr>
              <a:t>maintainable</a:t>
            </a:r>
            <a:r>
              <a:rPr lang="en-US" sz="3200" dirty="0"/>
              <a:t>”</a:t>
            </a:r>
          </a:p>
          <a:p>
            <a:pPr lvl="1"/>
            <a:endParaRPr lang="en-US" sz="2800" dirty="0"/>
          </a:p>
          <a:p>
            <a:r>
              <a:rPr lang="en-US" sz="3200" dirty="0"/>
              <a:t>Threshold </a:t>
            </a:r>
            <a:r>
              <a:rPr lang="en-US" sz="3200" dirty="0">
                <a:solidFill>
                  <a:srgbClr val="FFFF00"/>
                </a:solidFill>
              </a:rPr>
              <a:t>reliability</a:t>
            </a:r>
            <a:r>
              <a:rPr lang="en-US" sz="3200" dirty="0"/>
              <a:t> requirements?</a:t>
            </a:r>
          </a:p>
          <a:p>
            <a:pPr lvl="1"/>
            <a:endParaRPr lang="en-US" sz="2800" dirty="0"/>
          </a:p>
          <a:p>
            <a:r>
              <a:rPr lang="en-US" sz="3200" dirty="0"/>
              <a:t>What fact does each test try to </a:t>
            </a:r>
            <a:r>
              <a:rPr lang="en-US" sz="3200" dirty="0">
                <a:solidFill>
                  <a:srgbClr val="FFFF00"/>
                </a:solidFill>
              </a:rPr>
              <a:t>verify</a:t>
            </a:r>
            <a:r>
              <a:rPr lang="en-US" sz="3200" dirty="0"/>
              <a:t>?</a:t>
            </a:r>
          </a:p>
          <a:p>
            <a:pPr lvl="1"/>
            <a:endParaRPr lang="en-US" sz="2800" dirty="0"/>
          </a:p>
          <a:p>
            <a:r>
              <a:rPr lang="en-US" sz="3200" dirty="0">
                <a:solidFill>
                  <a:srgbClr val="FFFF00"/>
                </a:solidFill>
              </a:rPr>
              <a:t>Requirements</a:t>
            </a:r>
            <a:r>
              <a:rPr lang="en-US" sz="3200" dirty="0"/>
              <a:t> definition teams need testers!</a:t>
            </a:r>
          </a:p>
        </p:txBody>
      </p:sp>
      <p:sp>
        <p:nvSpPr>
          <p:cNvPr id="158724" name="Text Box 4"/>
          <p:cNvSpPr txBox="1">
            <a:spLocks noChangeArrowheads="1"/>
          </p:cNvSpPr>
          <p:nvPr/>
        </p:nvSpPr>
        <p:spPr bwMode="auto">
          <a:xfrm>
            <a:off x="1727200" y="811214"/>
            <a:ext cx="8737600" cy="1385887"/>
          </a:xfrm>
          <a:prstGeom prst="rect">
            <a:avLst/>
          </a:prstGeom>
          <a:solidFill>
            <a:srgbClr val="0000CC"/>
          </a:solidFill>
          <a:ln w="12700">
            <a:solidFill>
              <a:srgbClr val="000000"/>
            </a:solidFill>
            <a:miter lim="800000"/>
            <a:headEnd type="none" w="sm" len="sm"/>
            <a:tailEnd type="none" w="sm" len="sm"/>
          </a:ln>
          <a:effectLst/>
        </p:spPr>
        <p:txBody>
          <a:bodyPr>
            <a:spAutoFit/>
          </a:bodyPr>
          <a:lstStyle/>
          <a:p>
            <a:pPr>
              <a:spcBef>
                <a:spcPct val="50000"/>
              </a:spcBef>
              <a:defRPr/>
            </a:pPr>
            <a:r>
              <a:rPr lang="en-US" sz="2800" b="0" dirty="0">
                <a:effectLst>
                  <a:outerShdw blurRad="38100" dist="38100" dir="2700000" algn="tl">
                    <a:srgbClr val="000000"/>
                  </a:outerShdw>
                </a:effectLst>
                <a:latin typeface="Comic Sans MS" pitchFamily="66" charset="0"/>
                <a:cs typeface="Arial" pitchFamily="34" charset="0"/>
              </a:rPr>
              <a:t>If you don’t start planning for each test when the functional requirements are formed, you’ll never know why you’re conducting the test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158724"/>
                                        </p:tgtEl>
                                        <p:attrNameLst>
                                          <p:attrName>style.visibility</p:attrName>
                                        </p:attrNameLst>
                                      </p:cBhvr>
                                      <p:to>
                                        <p:strVal val="visible"/>
                                      </p:to>
                                    </p:set>
                                    <p:animEffect transition="in" filter="dissolve">
                                      <p:cBhvr>
                                        <p:cTn id="7" dur="500"/>
                                        <p:tgtEl>
                                          <p:spTgt spid="158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75FDF57D-DC6E-49E6-8370-32F0202DE581}" type="slidenum">
              <a:rPr lang="en-US" sz="900" b="0">
                <a:solidFill>
                  <a:schemeClr val="tx1"/>
                </a:solidFill>
              </a:rPr>
              <a:pPr/>
              <a:t>39</a:t>
            </a:fld>
            <a:endParaRPr lang="en-US" sz="900" b="0">
              <a:solidFill>
                <a:schemeClr val="tx1"/>
              </a:solidFill>
            </a:endParaRPr>
          </a:p>
        </p:txBody>
      </p:sp>
      <p:sp>
        <p:nvSpPr>
          <p:cNvPr id="21509" name="Rectangle 2"/>
          <p:cNvSpPr>
            <a:spLocks noGrp="1" noChangeArrowheads="1"/>
          </p:cNvSpPr>
          <p:nvPr>
            <p:ph type="title"/>
          </p:nvPr>
        </p:nvSpPr>
        <p:spPr/>
        <p:txBody>
          <a:bodyPr/>
          <a:lstStyle/>
          <a:p>
            <a:r>
              <a:rPr lang="en-US"/>
              <a:t>Cost of </a:t>
            </a:r>
            <a:r>
              <a:rPr lang="en-US" u="sng"/>
              <a:t>Not</a:t>
            </a:r>
            <a:r>
              <a:rPr lang="en-US"/>
              <a:t> Testing</a:t>
            </a:r>
          </a:p>
        </p:txBody>
      </p:sp>
      <p:sp>
        <p:nvSpPr>
          <p:cNvPr id="21510" name="Rectangle 3"/>
          <p:cNvSpPr>
            <a:spLocks noGrp="1" noChangeArrowheads="1"/>
          </p:cNvSpPr>
          <p:nvPr>
            <p:ph type="body" idx="1"/>
          </p:nvPr>
        </p:nvSpPr>
        <p:spPr>
          <a:xfrm>
            <a:off x="1789113" y="2257678"/>
            <a:ext cx="8615362" cy="4049460"/>
          </a:xfrm>
        </p:spPr>
        <p:txBody>
          <a:bodyPr/>
          <a:lstStyle/>
          <a:p>
            <a:r>
              <a:rPr lang="en-US" sz="3200" dirty="0"/>
              <a:t>Testing is the </a:t>
            </a:r>
            <a:r>
              <a:rPr lang="en-US" sz="3200" dirty="0">
                <a:solidFill>
                  <a:schemeClr val="tx2"/>
                </a:solidFill>
              </a:rPr>
              <a:t>most time consuming</a:t>
            </a:r>
            <a:r>
              <a:rPr lang="en-US" sz="3200" dirty="0"/>
              <a:t> and expensive part of software development</a:t>
            </a:r>
          </a:p>
          <a:p>
            <a:r>
              <a:rPr lang="en-US" sz="3200" u="sng" dirty="0"/>
              <a:t>Not</a:t>
            </a:r>
            <a:r>
              <a:rPr lang="en-US" sz="3200" dirty="0"/>
              <a:t> testing is even </a:t>
            </a:r>
            <a:r>
              <a:rPr lang="en-US" sz="3200" dirty="0">
                <a:solidFill>
                  <a:srgbClr val="FFFF00"/>
                </a:solidFill>
              </a:rPr>
              <a:t>more expensive</a:t>
            </a:r>
          </a:p>
          <a:p>
            <a:r>
              <a:rPr lang="en-US" sz="3200" dirty="0"/>
              <a:t>If we </a:t>
            </a:r>
            <a:r>
              <a:rPr lang="en-US" sz="3200"/>
              <a:t>have too </a:t>
            </a:r>
            <a:r>
              <a:rPr lang="en-US" sz="3200" dirty="0"/>
              <a:t>little testing effort early, the cost of testing </a:t>
            </a:r>
            <a:r>
              <a:rPr lang="en-US" sz="3200" dirty="0">
                <a:solidFill>
                  <a:schemeClr val="tx2"/>
                </a:solidFill>
              </a:rPr>
              <a:t>increases</a:t>
            </a:r>
          </a:p>
          <a:p>
            <a:r>
              <a:rPr lang="en-US" sz="3200" dirty="0"/>
              <a:t>Planning for testing after development is </a:t>
            </a:r>
            <a:r>
              <a:rPr lang="en-US" sz="3200" dirty="0">
                <a:solidFill>
                  <a:srgbClr val="FFFF00"/>
                </a:solidFill>
              </a:rPr>
              <a:t>prohibitively </a:t>
            </a:r>
            <a:r>
              <a:rPr lang="en-US" sz="3200" dirty="0"/>
              <a:t>expensive</a:t>
            </a:r>
            <a:endParaRPr lang="en-US" dirty="0"/>
          </a:p>
        </p:txBody>
      </p:sp>
      <p:sp>
        <p:nvSpPr>
          <p:cNvPr id="159748" name="Text Box 4"/>
          <p:cNvSpPr txBox="1">
            <a:spLocks noChangeArrowheads="1"/>
          </p:cNvSpPr>
          <p:nvPr/>
        </p:nvSpPr>
        <p:spPr bwMode="auto">
          <a:xfrm>
            <a:off x="3093855" y="1090642"/>
            <a:ext cx="5987600" cy="954107"/>
          </a:xfrm>
          <a:prstGeom prst="rect">
            <a:avLst/>
          </a:prstGeom>
          <a:solidFill>
            <a:srgbClr val="0000CC"/>
          </a:solidFill>
          <a:ln w="12700">
            <a:solidFill>
              <a:srgbClr val="000000"/>
            </a:solidFill>
            <a:miter lim="800000"/>
            <a:headEnd type="none" w="sm" len="sm"/>
            <a:tailEnd type="none" w="sm" len="sm"/>
          </a:ln>
          <a:effectLst/>
        </p:spPr>
        <p:txBody>
          <a:bodyPr wrap="square">
            <a:spAutoFit/>
          </a:bodyPr>
          <a:lstStyle/>
          <a:p>
            <a:pPr algn="ctr">
              <a:spcBef>
                <a:spcPct val="50000"/>
              </a:spcBef>
              <a:defRPr/>
            </a:pPr>
            <a:r>
              <a:rPr lang="en-US" sz="2800" b="0" dirty="0">
                <a:effectLst>
                  <a:outerShdw blurRad="38100" dist="38100" dir="2700000" algn="tl">
                    <a:srgbClr val="000000"/>
                  </a:outerShdw>
                </a:effectLst>
                <a:latin typeface="Comic Sans MS" pitchFamily="66" charset="0"/>
                <a:cs typeface="Arial" pitchFamily="34" charset="0"/>
              </a:rPr>
              <a:t>Poor Program Managers might say: “Testing is too expensive.”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159748"/>
                                        </p:tgtEl>
                                        <p:attrNameLst>
                                          <p:attrName>style.visibility</p:attrName>
                                        </p:attrNameLst>
                                      </p:cBhvr>
                                      <p:to>
                                        <p:strVal val="visible"/>
                                      </p:to>
                                    </p:set>
                                    <p:animEffect transition="in" filter="dissolve">
                                      <p:cBhvr>
                                        <p:cTn id="7" dur="500"/>
                                        <p:tgtEl>
                                          <p:spTgt spid="159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92"/>
          <p:cNvSpPr/>
          <p:nvPr/>
        </p:nvSpPr>
        <p:spPr>
          <a:xfrm>
            <a:off x="1604010" y="1165860"/>
            <a:ext cx="8995410" cy="4949190"/>
          </a:xfrm>
          <a:prstGeom prst="rect">
            <a:avLst/>
          </a:prstGeom>
          <a:solidFill>
            <a:schemeClr val="bg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Cost of Late Testing</a:t>
            </a:r>
          </a:p>
        </p:txBody>
      </p:sp>
      <p:sp>
        <p:nvSpPr>
          <p:cNvPr id="5" name="Slide Number Placeholder 4"/>
          <p:cNvSpPr>
            <a:spLocks noGrp="1"/>
          </p:cNvSpPr>
          <p:nvPr>
            <p:ph type="sldNum" sz="quarter" idx="12"/>
          </p:nvPr>
        </p:nvSpPr>
        <p:spPr/>
        <p:txBody>
          <a:bodyPr/>
          <a:lstStyle/>
          <a:p>
            <a:pPr>
              <a:defRPr/>
            </a:pPr>
            <a:fld id="{1D0F80E7-B056-4C76-86F1-135BF336DD8E}" type="slidenum">
              <a:rPr lang="zh-CN" altLang="en-US" smtClean="0"/>
              <a:pPr>
                <a:defRPr/>
              </a:pPr>
              <a:t>40</a:t>
            </a:fld>
            <a:endParaRPr lang="en-US" altLang="zh-CN"/>
          </a:p>
        </p:txBody>
      </p:sp>
      <p:sp>
        <p:nvSpPr>
          <p:cNvPr id="13" name="TextBox 12"/>
          <p:cNvSpPr txBox="1"/>
          <p:nvPr/>
        </p:nvSpPr>
        <p:spPr>
          <a:xfrm>
            <a:off x="1676400" y="1108710"/>
            <a:ext cx="525780" cy="400110"/>
          </a:xfrm>
          <a:prstGeom prst="rect">
            <a:avLst/>
          </a:prstGeom>
          <a:noFill/>
        </p:spPr>
        <p:txBody>
          <a:bodyPr wrap="square" rtlCol="0">
            <a:spAutoFit/>
          </a:bodyPr>
          <a:lstStyle/>
          <a:p>
            <a:pPr algn="r"/>
            <a:r>
              <a:rPr lang="en-US" dirty="0"/>
              <a:t>60</a:t>
            </a:r>
          </a:p>
        </p:txBody>
      </p:sp>
      <p:grpSp>
        <p:nvGrpSpPr>
          <p:cNvPr id="16" name="Group 70"/>
          <p:cNvGrpSpPr/>
          <p:nvPr/>
        </p:nvGrpSpPr>
        <p:grpSpPr>
          <a:xfrm>
            <a:off x="1676400" y="1336590"/>
            <a:ext cx="6749848" cy="2900399"/>
            <a:chOff x="186690" y="1588049"/>
            <a:chExt cx="6749848" cy="2900399"/>
          </a:xfrm>
        </p:grpSpPr>
        <p:cxnSp>
          <p:nvCxnSpPr>
            <p:cNvPr id="7" name="Straight Connector 6"/>
            <p:cNvCxnSpPr/>
            <p:nvPr/>
          </p:nvCxnSpPr>
          <p:spPr>
            <a:xfrm>
              <a:off x="712470" y="1592580"/>
              <a:ext cx="621678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12470" y="2049145"/>
              <a:ext cx="621678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12470" y="2505710"/>
              <a:ext cx="62227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12470" y="2962275"/>
              <a:ext cx="621678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12470" y="3418840"/>
              <a:ext cx="62227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12470" y="3875405"/>
              <a:ext cx="621678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86690" y="1810385"/>
              <a:ext cx="525780" cy="400110"/>
            </a:xfrm>
            <a:prstGeom prst="rect">
              <a:avLst/>
            </a:prstGeom>
            <a:noFill/>
          </p:spPr>
          <p:txBody>
            <a:bodyPr wrap="square" rtlCol="0">
              <a:spAutoFit/>
            </a:bodyPr>
            <a:lstStyle/>
            <a:p>
              <a:pPr algn="r"/>
              <a:r>
                <a:rPr lang="en-US" dirty="0"/>
                <a:t>50</a:t>
              </a:r>
            </a:p>
          </p:txBody>
        </p:sp>
        <p:sp>
          <p:nvSpPr>
            <p:cNvPr id="15" name="TextBox 14"/>
            <p:cNvSpPr txBox="1"/>
            <p:nvPr/>
          </p:nvSpPr>
          <p:spPr>
            <a:xfrm>
              <a:off x="186690" y="2260600"/>
              <a:ext cx="525780" cy="400110"/>
            </a:xfrm>
            <a:prstGeom prst="rect">
              <a:avLst/>
            </a:prstGeom>
            <a:noFill/>
          </p:spPr>
          <p:txBody>
            <a:bodyPr wrap="square" rtlCol="0">
              <a:spAutoFit/>
            </a:bodyPr>
            <a:lstStyle/>
            <a:p>
              <a:pPr algn="r"/>
              <a:r>
                <a:rPr lang="en-US" dirty="0"/>
                <a:t>40</a:t>
              </a:r>
            </a:p>
          </p:txBody>
        </p:sp>
        <p:sp>
          <p:nvSpPr>
            <p:cNvPr id="17" name="TextBox 16"/>
            <p:cNvSpPr txBox="1"/>
            <p:nvPr/>
          </p:nvSpPr>
          <p:spPr>
            <a:xfrm>
              <a:off x="186690" y="2710815"/>
              <a:ext cx="525780" cy="400110"/>
            </a:xfrm>
            <a:prstGeom prst="rect">
              <a:avLst/>
            </a:prstGeom>
            <a:noFill/>
          </p:spPr>
          <p:txBody>
            <a:bodyPr wrap="square" rtlCol="0">
              <a:spAutoFit/>
            </a:bodyPr>
            <a:lstStyle/>
            <a:p>
              <a:pPr algn="r"/>
              <a:r>
                <a:rPr lang="en-US" dirty="0"/>
                <a:t>30</a:t>
              </a:r>
            </a:p>
          </p:txBody>
        </p:sp>
        <p:sp>
          <p:nvSpPr>
            <p:cNvPr id="18" name="TextBox 17"/>
            <p:cNvSpPr txBox="1"/>
            <p:nvPr/>
          </p:nvSpPr>
          <p:spPr>
            <a:xfrm>
              <a:off x="186690" y="3161030"/>
              <a:ext cx="525780" cy="400110"/>
            </a:xfrm>
            <a:prstGeom prst="rect">
              <a:avLst/>
            </a:prstGeom>
            <a:noFill/>
          </p:spPr>
          <p:txBody>
            <a:bodyPr wrap="square" rtlCol="0">
              <a:spAutoFit/>
            </a:bodyPr>
            <a:lstStyle/>
            <a:p>
              <a:pPr algn="r"/>
              <a:r>
                <a:rPr lang="en-US" dirty="0"/>
                <a:t>20</a:t>
              </a:r>
            </a:p>
          </p:txBody>
        </p:sp>
        <p:sp>
          <p:nvSpPr>
            <p:cNvPr id="19" name="TextBox 18"/>
            <p:cNvSpPr txBox="1"/>
            <p:nvPr/>
          </p:nvSpPr>
          <p:spPr>
            <a:xfrm>
              <a:off x="186690" y="3611245"/>
              <a:ext cx="525780" cy="400110"/>
            </a:xfrm>
            <a:prstGeom prst="rect">
              <a:avLst/>
            </a:prstGeom>
            <a:noFill/>
          </p:spPr>
          <p:txBody>
            <a:bodyPr wrap="square" rtlCol="0">
              <a:spAutoFit/>
            </a:bodyPr>
            <a:lstStyle/>
            <a:p>
              <a:pPr algn="r"/>
              <a:r>
                <a:rPr lang="en-US" dirty="0"/>
                <a:t>10</a:t>
              </a:r>
            </a:p>
          </p:txBody>
        </p:sp>
        <p:sp>
          <p:nvSpPr>
            <p:cNvPr id="20" name="TextBox 19"/>
            <p:cNvSpPr txBox="1"/>
            <p:nvPr/>
          </p:nvSpPr>
          <p:spPr>
            <a:xfrm>
              <a:off x="186690" y="4061460"/>
              <a:ext cx="525780" cy="400110"/>
            </a:xfrm>
            <a:prstGeom prst="rect">
              <a:avLst/>
            </a:prstGeom>
            <a:noFill/>
          </p:spPr>
          <p:txBody>
            <a:bodyPr wrap="square" rtlCol="0">
              <a:spAutoFit/>
            </a:bodyPr>
            <a:lstStyle/>
            <a:p>
              <a:pPr algn="r"/>
              <a:r>
                <a:rPr lang="en-US" dirty="0"/>
                <a:t>0</a:t>
              </a:r>
            </a:p>
          </p:txBody>
        </p:sp>
        <p:cxnSp>
          <p:nvCxnSpPr>
            <p:cNvPr id="24" name="Straight Connector 23"/>
            <p:cNvCxnSpPr/>
            <p:nvPr/>
          </p:nvCxnSpPr>
          <p:spPr>
            <a:xfrm rot="5400000">
              <a:off x="6856034"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1834052"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2838449"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3842846"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4847243"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5851640"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829655" y="4407944"/>
              <a:ext cx="1610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454818" y="2953026"/>
              <a:ext cx="27299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712470" y="4327440"/>
              <a:ext cx="62227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7027429" y="3618104"/>
            <a:ext cx="204717" cy="46039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5828822" y="3172832"/>
            <a:ext cx="204717" cy="90567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6031462" y="3872546"/>
            <a:ext cx="204717" cy="20595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4610070" y="1797256"/>
            <a:ext cx="204717" cy="2281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4812733" y="3172832"/>
            <a:ext cx="204717" cy="90567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5010975" y="4015670"/>
            <a:ext cx="204717" cy="6283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3606152" y="2250480"/>
            <a:ext cx="204717" cy="18280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3815380" y="3482932"/>
            <a:ext cx="204717" cy="59557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4022323" y="4031572"/>
            <a:ext cx="204717" cy="4693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2610185" y="3634006"/>
            <a:ext cx="204717" cy="44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2810971" y="3800984"/>
            <a:ext cx="204717" cy="2775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3011090" y="4015670"/>
            <a:ext cx="204717" cy="6283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8039299" y="1805206"/>
            <a:ext cx="204717" cy="227329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p:cNvSpPr txBox="1"/>
          <p:nvPr/>
        </p:nvSpPr>
        <p:spPr>
          <a:xfrm rot="19048443">
            <a:off x="1361628" y="4754871"/>
            <a:ext cx="2160270" cy="400110"/>
          </a:xfrm>
          <a:prstGeom prst="rect">
            <a:avLst/>
          </a:prstGeom>
          <a:noFill/>
        </p:spPr>
        <p:txBody>
          <a:bodyPr wrap="square" rtlCol="0" anchor="ctr">
            <a:spAutoFit/>
          </a:bodyPr>
          <a:lstStyle/>
          <a:p>
            <a:pPr algn="r"/>
            <a:r>
              <a:rPr lang="en-US" dirty="0">
                <a:latin typeface="Comic Sans MS" pitchFamily="66" charset="0"/>
              </a:rPr>
              <a:t>Requirements</a:t>
            </a:r>
          </a:p>
        </p:txBody>
      </p:sp>
      <p:sp>
        <p:nvSpPr>
          <p:cNvPr id="82" name="TextBox 81"/>
          <p:cNvSpPr txBox="1"/>
          <p:nvPr/>
        </p:nvSpPr>
        <p:spPr>
          <a:xfrm rot="19048443">
            <a:off x="2912833" y="4917508"/>
            <a:ext cx="2641499" cy="400110"/>
          </a:xfrm>
          <a:prstGeom prst="rect">
            <a:avLst/>
          </a:prstGeom>
          <a:noFill/>
        </p:spPr>
        <p:txBody>
          <a:bodyPr wrap="square" rtlCol="0" anchor="ctr">
            <a:spAutoFit/>
          </a:bodyPr>
          <a:lstStyle/>
          <a:p>
            <a:pPr algn="r"/>
            <a:r>
              <a:rPr lang="en-US" dirty="0" err="1">
                <a:latin typeface="Comic Sans MS" pitchFamily="66" charset="0"/>
              </a:rPr>
              <a:t>Prog</a:t>
            </a:r>
            <a:r>
              <a:rPr lang="en-US" dirty="0">
                <a:latin typeface="Comic Sans MS" pitchFamily="66" charset="0"/>
              </a:rPr>
              <a:t> / Unit Test</a:t>
            </a:r>
          </a:p>
        </p:txBody>
      </p:sp>
      <p:sp>
        <p:nvSpPr>
          <p:cNvPr id="83" name="TextBox 82"/>
          <p:cNvSpPr txBox="1"/>
          <p:nvPr/>
        </p:nvSpPr>
        <p:spPr>
          <a:xfrm rot="19048443">
            <a:off x="1973538" y="4898602"/>
            <a:ext cx="2585557" cy="400110"/>
          </a:xfrm>
          <a:prstGeom prst="rect">
            <a:avLst/>
          </a:prstGeom>
          <a:noFill/>
        </p:spPr>
        <p:txBody>
          <a:bodyPr wrap="square" rtlCol="0" anchor="ctr">
            <a:spAutoFit/>
          </a:bodyPr>
          <a:lstStyle/>
          <a:p>
            <a:pPr algn="r"/>
            <a:r>
              <a:rPr lang="en-US" dirty="0">
                <a:latin typeface="Comic Sans MS" pitchFamily="66" charset="0"/>
              </a:rPr>
              <a:t>Design</a:t>
            </a:r>
          </a:p>
        </p:txBody>
      </p:sp>
      <p:sp>
        <p:nvSpPr>
          <p:cNvPr id="84" name="TextBox 83"/>
          <p:cNvSpPr txBox="1"/>
          <p:nvPr/>
        </p:nvSpPr>
        <p:spPr>
          <a:xfrm rot="19048443">
            <a:off x="3725513" y="5100685"/>
            <a:ext cx="2912939" cy="400110"/>
          </a:xfrm>
          <a:prstGeom prst="rect">
            <a:avLst/>
          </a:prstGeom>
          <a:noFill/>
        </p:spPr>
        <p:txBody>
          <a:bodyPr wrap="square" rtlCol="0" anchor="ctr">
            <a:spAutoFit/>
          </a:bodyPr>
          <a:lstStyle/>
          <a:p>
            <a:pPr algn="r"/>
            <a:r>
              <a:rPr lang="en-US" dirty="0">
                <a:latin typeface="Comic Sans MS" pitchFamily="66" charset="0"/>
              </a:rPr>
              <a:t>Integration Test</a:t>
            </a:r>
          </a:p>
        </p:txBody>
      </p:sp>
      <p:sp>
        <p:nvSpPr>
          <p:cNvPr id="87" name="TextBox 86"/>
          <p:cNvSpPr txBox="1"/>
          <p:nvPr/>
        </p:nvSpPr>
        <p:spPr>
          <a:xfrm>
            <a:off x="8529712" y="2331721"/>
            <a:ext cx="2152357" cy="1323439"/>
          </a:xfrm>
          <a:prstGeom prst="rect">
            <a:avLst/>
          </a:prstGeom>
          <a:noFill/>
        </p:spPr>
        <p:txBody>
          <a:bodyPr wrap="square" rtlCol="0">
            <a:spAutoFit/>
          </a:bodyPr>
          <a:lstStyle/>
          <a:p>
            <a:r>
              <a:rPr lang="en-US" sz="1600" dirty="0">
                <a:latin typeface="Comic Sans MS" pitchFamily="66" charset="0"/>
              </a:rPr>
              <a:t>Fault origin (%)</a:t>
            </a:r>
          </a:p>
          <a:p>
            <a:endParaRPr lang="en-US" sz="1600" dirty="0">
              <a:latin typeface="Comic Sans MS" pitchFamily="66" charset="0"/>
            </a:endParaRPr>
          </a:p>
          <a:p>
            <a:r>
              <a:rPr lang="en-US" sz="1600" dirty="0">
                <a:latin typeface="Comic Sans MS" pitchFamily="66" charset="0"/>
              </a:rPr>
              <a:t>Fault detection (%)</a:t>
            </a:r>
          </a:p>
          <a:p>
            <a:endParaRPr lang="en-US" sz="1600" dirty="0">
              <a:latin typeface="Comic Sans MS" pitchFamily="66" charset="0"/>
            </a:endParaRPr>
          </a:p>
          <a:p>
            <a:r>
              <a:rPr lang="en-US" sz="1600" dirty="0">
                <a:latin typeface="Comic Sans MS" pitchFamily="66" charset="0"/>
              </a:rPr>
              <a:t>Unit cost (X)</a:t>
            </a:r>
          </a:p>
        </p:txBody>
      </p:sp>
      <p:sp>
        <p:nvSpPr>
          <p:cNvPr id="88" name="Rectangle 87"/>
          <p:cNvSpPr/>
          <p:nvPr/>
        </p:nvSpPr>
        <p:spPr>
          <a:xfrm>
            <a:off x="8433972" y="2406571"/>
            <a:ext cx="160349" cy="1637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8433972" y="2912391"/>
            <a:ext cx="160349" cy="16379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8433972" y="3381584"/>
            <a:ext cx="160349" cy="16379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 Box 79"/>
          <p:cNvSpPr txBox="1">
            <a:spLocks noChangeArrowheads="1"/>
          </p:cNvSpPr>
          <p:nvPr/>
        </p:nvSpPr>
        <p:spPr bwMode="auto">
          <a:xfrm>
            <a:off x="1598735" y="6173788"/>
            <a:ext cx="9006205" cy="338554"/>
          </a:xfrm>
          <a:prstGeom prst="rect">
            <a:avLst/>
          </a:prstGeom>
          <a:noFill/>
          <a:ln w="9525">
            <a:noFill/>
            <a:miter lim="800000"/>
            <a:headEnd/>
            <a:tailEnd/>
          </a:ln>
        </p:spPr>
        <p:txBody>
          <a:bodyPr wrap="square">
            <a:spAutoFit/>
          </a:bodyPr>
          <a:lstStyle/>
          <a:p>
            <a:pPr algn="ctr"/>
            <a:r>
              <a:rPr lang="en-US" sz="1600" dirty="0">
                <a:solidFill>
                  <a:schemeClr val="tx1"/>
                </a:solidFill>
                <a:latin typeface="Gill Sans MT" pitchFamily="34" charset="0"/>
              </a:rPr>
              <a:t>Software Engineering Institute; Carnegie Mellon University; Handbook CMU/SEI-96-HB-002</a:t>
            </a:r>
          </a:p>
        </p:txBody>
      </p:sp>
      <p:sp>
        <p:nvSpPr>
          <p:cNvPr id="95" name="TextBox 94"/>
          <p:cNvSpPr txBox="1">
            <a:spLocks noChangeArrowheads="1"/>
          </p:cNvSpPr>
          <p:nvPr/>
        </p:nvSpPr>
        <p:spPr bwMode="auto">
          <a:xfrm>
            <a:off x="2349500" y="1289685"/>
            <a:ext cx="4997074" cy="400110"/>
          </a:xfrm>
          <a:prstGeom prst="rect">
            <a:avLst/>
          </a:prstGeom>
          <a:noFill/>
          <a:ln w="9525">
            <a:noFill/>
            <a:miter lim="800000"/>
            <a:headEnd/>
            <a:tailEnd/>
          </a:ln>
        </p:spPr>
        <p:txBody>
          <a:bodyPr wrap="none">
            <a:spAutoFit/>
          </a:bodyPr>
          <a:lstStyle/>
          <a:p>
            <a:r>
              <a:rPr lang="en-US" dirty="0">
                <a:solidFill>
                  <a:schemeClr val="tx2"/>
                </a:solidFill>
              </a:rPr>
              <a:t>Assume $1000 unit cost, per fault, 100 faults</a:t>
            </a:r>
          </a:p>
        </p:txBody>
      </p:sp>
      <p:grpSp>
        <p:nvGrpSpPr>
          <p:cNvPr id="21" name="Group 26"/>
          <p:cNvGrpSpPr>
            <a:grpSpLocks/>
          </p:cNvGrpSpPr>
          <p:nvPr/>
        </p:nvGrpSpPr>
        <p:grpSpPr bwMode="auto">
          <a:xfrm rot="1822050">
            <a:off x="2772729" y="3377884"/>
            <a:ext cx="668337" cy="384175"/>
            <a:chOff x="1088924" y="5651404"/>
            <a:chExt cx="668593" cy="383459"/>
          </a:xfrm>
        </p:grpSpPr>
        <p:sp>
          <p:nvSpPr>
            <p:cNvPr id="97" name="Oval 12"/>
            <p:cNvSpPr>
              <a:spLocks noChangeArrowheads="1"/>
            </p:cNvSpPr>
            <p:nvPr/>
          </p:nvSpPr>
          <p:spPr bwMode="auto">
            <a:xfrm>
              <a:off x="1120878" y="5651404"/>
              <a:ext cx="604684"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98" name="TextBox 11"/>
            <p:cNvSpPr txBox="1">
              <a:spLocks noChangeArrowheads="1"/>
            </p:cNvSpPr>
            <p:nvPr/>
          </p:nvSpPr>
          <p:spPr bwMode="auto">
            <a:xfrm>
              <a:off x="1088924" y="5658467"/>
              <a:ext cx="668593" cy="369332"/>
            </a:xfrm>
            <a:prstGeom prst="rect">
              <a:avLst/>
            </a:prstGeom>
            <a:noFill/>
            <a:ln w="9525">
              <a:noFill/>
              <a:miter lim="800000"/>
              <a:headEnd/>
              <a:tailEnd/>
            </a:ln>
          </p:spPr>
          <p:txBody>
            <a:bodyPr>
              <a:spAutoFit/>
            </a:bodyPr>
            <a:lstStyle/>
            <a:p>
              <a:r>
                <a:rPr lang="en-US" sz="1800" dirty="0"/>
                <a:t>$6K</a:t>
              </a:r>
            </a:p>
          </p:txBody>
        </p:sp>
      </p:grpSp>
      <p:grpSp>
        <p:nvGrpSpPr>
          <p:cNvPr id="22" name="Group 27"/>
          <p:cNvGrpSpPr>
            <a:grpSpLocks/>
          </p:cNvGrpSpPr>
          <p:nvPr/>
        </p:nvGrpSpPr>
        <p:grpSpPr bwMode="auto">
          <a:xfrm rot="2197571">
            <a:off x="3784600" y="3098800"/>
            <a:ext cx="704850" cy="382588"/>
            <a:chOff x="2322873" y="5651404"/>
            <a:chExt cx="705462" cy="383459"/>
          </a:xfrm>
        </p:grpSpPr>
        <p:sp>
          <p:nvSpPr>
            <p:cNvPr id="100" name="Oval 14"/>
            <p:cNvSpPr>
              <a:spLocks noChangeArrowheads="1"/>
            </p:cNvSpPr>
            <p:nvPr/>
          </p:nvSpPr>
          <p:spPr bwMode="auto">
            <a:xfrm>
              <a:off x="2373262" y="5651404"/>
              <a:ext cx="604684"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101" name="TextBox 15"/>
            <p:cNvSpPr txBox="1">
              <a:spLocks noChangeArrowheads="1"/>
            </p:cNvSpPr>
            <p:nvPr/>
          </p:nvSpPr>
          <p:spPr bwMode="auto">
            <a:xfrm>
              <a:off x="2322873" y="5658467"/>
              <a:ext cx="705462" cy="369332"/>
            </a:xfrm>
            <a:prstGeom prst="rect">
              <a:avLst/>
            </a:prstGeom>
            <a:noFill/>
            <a:ln w="9525">
              <a:noFill/>
              <a:miter lim="800000"/>
              <a:headEnd/>
              <a:tailEnd/>
            </a:ln>
          </p:spPr>
          <p:txBody>
            <a:bodyPr>
              <a:spAutoFit/>
            </a:bodyPr>
            <a:lstStyle/>
            <a:p>
              <a:r>
                <a:rPr lang="en-US" sz="1800" dirty="0"/>
                <a:t>$13K</a:t>
              </a:r>
            </a:p>
          </p:txBody>
        </p:sp>
      </p:grpSp>
      <p:grpSp>
        <p:nvGrpSpPr>
          <p:cNvPr id="23" name="Group 28"/>
          <p:cNvGrpSpPr>
            <a:grpSpLocks/>
          </p:cNvGrpSpPr>
          <p:nvPr/>
        </p:nvGrpSpPr>
        <p:grpSpPr bwMode="auto">
          <a:xfrm rot="2053068">
            <a:off x="4784725" y="2792095"/>
            <a:ext cx="725488" cy="382588"/>
            <a:chOff x="3492911" y="5651404"/>
            <a:chExt cx="725128" cy="383459"/>
          </a:xfrm>
        </p:grpSpPr>
        <p:sp>
          <p:nvSpPr>
            <p:cNvPr id="103" name="Oval 16"/>
            <p:cNvSpPr>
              <a:spLocks noChangeArrowheads="1"/>
            </p:cNvSpPr>
            <p:nvPr/>
          </p:nvSpPr>
          <p:spPr bwMode="auto">
            <a:xfrm>
              <a:off x="3553133" y="5651404"/>
              <a:ext cx="604684"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104" name="TextBox 17"/>
            <p:cNvSpPr txBox="1">
              <a:spLocks noChangeArrowheads="1"/>
            </p:cNvSpPr>
            <p:nvPr/>
          </p:nvSpPr>
          <p:spPr bwMode="auto">
            <a:xfrm>
              <a:off x="3492911" y="5658467"/>
              <a:ext cx="725128" cy="369332"/>
            </a:xfrm>
            <a:prstGeom prst="rect">
              <a:avLst/>
            </a:prstGeom>
            <a:noFill/>
            <a:ln w="9525">
              <a:noFill/>
              <a:miter lim="800000"/>
              <a:headEnd/>
              <a:tailEnd/>
            </a:ln>
          </p:spPr>
          <p:txBody>
            <a:bodyPr>
              <a:spAutoFit/>
            </a:bodyPr>
            <a:lstStyle/>
            <a:p>
              <a:r>
                <a:rPr lang="en-US" sz="1800" dirty="0"/>
                <a:t>$20K</a:t>
              </a:r>
            </a:p>
          </p:txBody>
        </p:sp>
      </p:grpSp>
      <p:grpSp>
        <p:nvGrpSpPr>
          <p:cNvPr id="25" name="Group 30"/>
          <p:cNvGrpSpPr>
            <a:grpSpLocks/>
          </p:cNvGrpSpPr>
          <p:nvPr/>
        </p:nvGrpSpPr>
        <p:grpSpPr bwMode="auto">
          <a:xfrm rot="2354308">
            <a:off x="6725603" y="2040890"/>
            <a:ext cx="876300" cy="382588"/>
            <a:chOff x="5626511" y="5651404"/>
            <a:chExt cx="877528" cy="383459"/>
          </a:xfrm>
        </p:grpSpPr>
        <p:sp>
          <p:nvSpPr>
            <p:cNvPr id="109" name="Oval 22"/>
            <p:cNvSpPr>
              <a:spLocks noChangeArrowheads="1"/>
            </p:cNvSpPr>
            <p:nvPr/>
          </p:nvSpPr>
          <p:spPr bwMode="auto">
            <a:xfrm>
              <a:off x="5695951" y="5651404"/>
              <a:ext cx="738648"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110" name="TextBox 23"/>
            <p:cNvSpPr txBox="1">
              <a:spLocks noChangeArrowheads="1"/>
            </p:cNvSpPr>
            <p:nvPr/>
          </p:nvSpPr>
          <p:spPr bwMode="auto">
            <a:xfrm>
              <a:off x="5626511" y="5658467"/>
              <a:ext cx="877528" cy="369332"/>
            </a:xfrm>
            <a:prstGeom prst="rect">
              <a:avLst/>
            </a:prstGeom>
            <a:noFill/>
            <a:ln w="9525">
              <a:noFill/>
              <a:miter lim="800000"/>
              <a:headEnd/>
              <a:tailEnd/>
            </a:ln>
          </p:spPr>
          <p:txBody>
            <a:bodyPr>
              <a:spAutoFit/>
            </a:bodyPr>
            <a:lstStyle/>
            <a:p>
              <a:r>
                <a:rPr lang="en-US" sz="1800" dirty="0"/>
                <a:t>$360K</a:t>
              </a:r>
            </a:p>
          </p:txBody>
        </p:sp>
      </p:grpSp>
      <p:grpSp>
        <p:nvGrpSpPr>
          <p:cNvPr id="26" name="Group 31"/>
          <p:cNvGrpSpPr>
            <a:grpSpLocks/>
          </p:cNvGrpSpPr>
          <p:nvPr/>
        </p:nvGrpSpPr>
        <p:grpSpPr bwMode="auto">
          <a:xfrm rot="-1487245">
            <a:off x="7548565" y="1371284"/>
            <a:ext cx="877887" cy="382587"/>
            <a:chOff x="6806383" y="5651404"/>
            <a:chExt cx="877528" cy="383459"/>
          </a:xfrm>
        </p:grpSpPr>
        <p:sp>
          <p:nvSpPr>
            <p:cNvPr id="112" name="Oval 24"/>
            <p:cNvSpPr>
              <a:spLocks noChangeArrowheads="1"/>
            </p:cNvSpPr>
            <p:nvPr/>
          </p:nvSpPr>
          <p:spPr bwMode="auto">
            <a:xfrm>
              <a:off x="6875822" y="5651404"/>
              <a:ext cx="738648"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113" name="TextBox 25"/>
            <p:cNvSpPr txBox="1">
              <a:spLocks noChangeArrowheads="1"/>
            </p:cNvSpPr>
            <p:nvPr/>
          </p:nvSpPr>
          <p:spPr bwMode="auto">
            <a:xfrm>
              <a:off x="6806383" y="5658467"/>
              <a:ext cx="877528" cy="369332"/>
            </a:xfrm>
            <a:prstGeom prst="rect">
              <a:avLst/>
            </a:prstGeom>
            <a:noFill/>
            <a:ln w="9525">
              <a:noFill/>
              <a:miter lim="800000"/>
              <a:headEnd/>
              <a:tailEnd/>
            </a:ln>
          </p:spPr>
          <p:txBody>
            <a:bodyPr>
              <a:spAutoFit/>
            </a:bodyPr>
            <a:lstStyle/>
            <a:p>
              <a:r>
                <a:rPr lang="en-US" sz="1800" dirty="0"/>
                <a:t>$250K</a:t>
              </a:r>
            </a:p>
          </p:txBody>
        </p:sp>
      </p:grpSp>
      <p:sp>
        <p:nvSpPr>
          <p:cNvPr id="76" name="Rectangle 75"/>
          <p:cNvSpPr/>
          <p:nvPr/>
        </p:nvSpPr>
        <p:spPr>
          <a:xfrm>
            <a:off x="7830461" y="3832530"/>
            <a:ext cx="204717" cy="24597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6825326" y="2440582"/>
            <a:ext cx="204717" cy="163792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p:cNvSpPr txBox="1"/>
          <p:nvPr/>
        </p:nvSpPr>
        <p:spPr>
          <a:xfrm rot="19048443">
            <a:off x="4724331" y="5100685"/>
            <a:ext cx="2912939" cy="400110"/>
          </a:xfrm>
          <a:prstGeom prst="rect">
            <a:avLst/>
          </a:prstGeom>
          <a:noFill/>
        </p:spPr>
        <p:txBody>
          <a:bodyPr wrap="square" rtlCol="0" anchor="ctr">
            <a:spAutoFit/>
          </a:bodyPr>
          <a:lstStyle/>
          <a:p>
            <a:pPr algn="r"/>
            <a:r>
              <a:rPr lang="en-US" dirty="0">
                <a:latin typeface="Comic Sans MS" pitchFamily="66" charset="0"/>
              </a:rPr>
              <a:t>System Test</a:t>
            </a:r>
          </a:p>
        </p:txBody>
      </p:sp>
      <p:sp>
        <p:nvSpPr>
          <p:cNvPr id="86" name="TextBox 85"/>
          <p:cNvSpPr txBox="1"/>
          <p:nvPr/>
        </p:nvSpPr>
        <p:spPr>
          <a:xfrm rot="19048443">
            <a:off x="5757437" y="5100685"/>
            <a:ext cx="2912939" cy="400110"/>
          </a:xfrm>
          <a:prstGeom prst="rect">
            <a:avLst/>
          </a:prstGeom>
          <a:noFill/>
        </p:spPr>
        <p:txBody>
          <a:bodyPr wrap="square" rtlCol="0" anchor="ctr">
            <a:spAutoFit/>
          </a:bodyPr>
          <a:lstStyle/>
          <a:p>
            <a:pPr algn="r"/>
            <a:r>
              <a:rPr lang="en-US" dirty="0">
                <a:latin typeface="Comic Sans MS" pitchFamily="66" charset="0"/>
              </a:rPr>
              <a:t>Post-Deployment</a:t>
            </a:r>
          </a:p>
        </p:txBody>
      </p:sp>
      <p:grpSp>
        <p:nvGrpSpPr>
          <p:cNvPr id="79" name="Group 29"/>
          <p:cNvGrpSpPr>
            <a:grpSpLocks/>
          </p:cNvGrpSpPr>
          <p:nvPr/>
        </p:nvGrpSpPr>
        <p:grpSpPr bwMode="auto">
          <a:xfrm rot="1653092">
            <a:off x="5757527" y="2807176"/>
            <a:ext cx="877887" cy="382587"/>
            <a:chOff x="4412227" y="5651404"/>
            <a:chExt cx="877528" cy="383459"/>
          </a:xfrm>
        </p:grpSpPr>
        <p:sp>
          <p:nvSpPr>
            <p:cNvPr id="80" name="Oval 20"/>
            <p:cNvSpPr>
              <a:spLocks noChangeArrowheads="1"/>
            </p:cNvSpPr>
            <p:nvPr/>
          </p:nvSpPr>
          <p:spPr bwMode="auto">
            <a:xfrm>
              <a:off x="4481667" y="5651404"/>
              <a:ext cx="738648" cy="383459"/>
            </a:xfrm>
            <a:prstGeom prst="ellipse">
              <a:avLst/>
            </a:prstGeom>
            <a:solidFill>
              <a:srgbClr val="FF0000"/>
            </a:solidFill>
            <a:ln w="12700" algn="ctr">
              <a:solidFill>
                <a:schemeClr val="tx1"/>
              </a:solidFill>
              <a:round/>
              <a:headEnd type="none" w="sm" len="sm"/>
              <a:tailEnd type="none" w="sm" len="sm"/>
            </a:ln>
          </p:spPr>
          <p:txBody>
            <a:bodyPr anchor="ctr"/>
            <a:lstStyle/>
            <a:p>
              <a:pPr algn="ctr"/>
              <a:endParaRPr lang="en-US" sz="1400"/>
            </a:p>
          </p:txBody>
        </p:sp>
        <p:sp>
          <p:nvSpPr>
            <p:cNvPr id="89" name="TextBox 21"/>
            <p:cNvSpPr txBox="1">
              <a:spLocks noChangeArrowheads="1"/>
            </p:cNvSpPr>
            <p:nvPr/>
          </p:nvSpPr>
          <p:spPr bwMode="auto">
            <a:xfrm>
              <a:off x="4412227" y="5658467"/>
              <a:ext cx="8775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r>
                <a:rPr lang="en-US" sz="1800" dirty="0"/>
                <a:t>$100K</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wipe(left)">
                                      <p:cBhvr>
                                        <p:cTn id="7" dur="10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10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dissolve">
                                      <p:cBhvr>
                                        <p:cTn id="27" dur="1000"/>
                                        <p:tgtEl>
                                          <p:spTgt spid="7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dissolve">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dissolv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625" y="96838"/>
            <a:ext cx="9048750" cy="1301038"/>
          </a:xfrm>
        </p:spPr>
        <p:txBody>
          <a:bodyPr/>
          <a:lstStyle/>
          <a:p>
            <a:r>
              <a:rPr lang="en-US" dirty="0"/>
              <a:t>Summary:</a:t>
            </a:r>
            <a:br>
              <a:rPr lang="en-US" dirty="0"/>
            </a:br>
            <a:r>
              <a:rPr lang="en-US" dirty="0"/>
              <a:t>Why Do We Test Software ?</a:t>
            </a:r>
          </a:p>
        </p:txBody>
      </p:sp>
      <p:sp>
        <p:nvSpPr>
          <p:cNvPr id="6" name="Slide Number Placeholder 5"/>
          <p:cNvSpPr>
            <a:spLocks noGrp="1"/>
          </p:cNvSpPr>
          <p:nvPr>
            <p:ph type="sldNum" sz="quarter" idx="12"/>
          </p:nvPr>
        </p:nvSpPr>
        <p:spPr/>
        <p:txBody>
          <a:bodyPr/>
          <a:lstStyle/>
          <a:p>
            <a:pPr>
              <a:defRPr/>
            </a:pPr>
            <a:fld id="{7F4B1FAA-A740-404F-BBC5-7C153B666279}" type="slidenum">
              <a:rPr lang="en-US" smtClean="0"/>
              <a:pPr>
                <a:defRPr/>
              </a:pPr>
              <a:t>41</a:t>
            </a:fld>
            <a:endParaRPr lang="en-US"/>
          </a:p>
        </p:txBody>
      </p:sp>
      <p:sp>
        <p:nvSpPr>
          <p:cNvPr id="7" name="Rectangle 8"/>
          <p:cNvSpPr>
            <a:spLocks noChangeArrowheads="1"/>
          </p:cNvSpPr>
          <p:nvPr/>
        </p:nvSpPr>
        <p:spPr bwMode="auto">
          <a:xfrm>
            <a:off x="2469574" y="1694099"/>
            <a:ext cx="7247744" cy="1127481"/>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algn="ctr">
              <a:spcBef>
                <a:spcPct val="20000"/>
              </a:spcBef>
              <a:defRPr/>
            </a:pPr>
            <a:r>
              <a:rPr lang="en-US" sz="3200" dirty="0">
                <a:effectLst>
                  <a:outerShdw blurRad="38100" dist="38100" dir="2700000" algn="tl">
                    <a:srgbClr val="000000"/>
                  </a:outerShdw>
                </a:effectLst>
                <a:latin typeface="Gill Sans MT" pitchFamily="34" charset="0"/>
              </a:rPr>
              <a:t>A tester’s goal is to eliminate faults as early as possible</a:t>
            </a:r>
          </a:p>
        </p:txBody>
      </p:sp>
      <p:sp>
        <p:nvSpPr>
          <p:cNvPr id="8" name="Rectangle 8"/>
          <p:cNvSpPr>
            <a:spLocks noChangeArrowheads="1"/>
          </p:cNvSpPr>
          <p:nvPr/>
        </p:nvSpPr>
        <p:spPr bwMode="auto">
          <a:xfrm>
            <a:off x="2667526" y="3570100"/>
            <a:ext cx="6875048" cy="1814862"/>
          </a:xfrm>
          <a:prstGeom prst="rect">
            <a:avLst/>
          </a:prstGeom>
          <a:gradFill flip="none" rotWithShape="1">
            <a:gsLst>
              <a:gs pos="0">
                <a:srgbClr val="0033CC">
                  <a:shade val="30000"/>
                  <a:satMod val="115000"/>
                </a:srgbClr>
              </a:gs>
              <a:gs pos="50000">
                <a:srgbClr val="0033CC">
                  <a:shade val="67500"/>
                  <a:satMod val="115000"/>
                </a:srgbClr>
              </a:gs>
              <a:gs pos="100000">
                <a:srgbClr val="0033CC">
                  <a:shade val="100000"/>
                  <a:satMod val="115000"/>
                </a:srgbClr>
              </a:gs>
            </a:gsLst>
            <a:path path="circle">
              <a:fillToRect l="50000" t="50000" r="50000" b="50000"/>
            </a:path>
            <a:tileRect/>
          </a:gradFill>
          <a:ln w="9525">
            <a:solidFill>
              <a:schemeClr val="tx1"/>
            </a:solidFill>
            <a:miter lim="800000"/>
            <a:headEnd/>
            <a:tailEnd/>
          </a:ln>
          <a:effectLst/>
        </p:spPr>
        <p:txBody>
          <a:bodyPr/>
          <a:lstStyle/>
          <a:p>
            <a:pPr marL="457200" indent="-457200">
              <a:spcBef>
                <a:spcPct val="20000"/>
              </a:spcBef>
              <a:buFont typeface="Arial" pitchFamily="34" charset="0"/>
              <a:buChar char="•"/>
              <a:defRPr/>
            </a:pPr>
            <a:r>
              <a:rPr lang="en-US" sz="3200" dirty="0">
                <a:effectLst>
                  <a:outerShdw blurRad="38100" dist="38100" dir="2700000" algn="tl">
                    <a:srgbClr val="000000"/>
                  </a:outerShdw>
                </a:effectLst>
                <a:latin typeface="Gill Sans MT" pitchFamily="34" charset="0"/>
              </a:rPr>
              <a:t>Improve quality</a:t>
            </a:r>
          </a:p>
          <a:p>
            <a:pPr marL="457200" indent="-457200">
              <a:spcBef>
                <a:spcPct val="20000"/>
              </a:spcBef>
              <a:buFont typeface="Arial" pitchFamily="34" charset="0"/>
              <a:buChar char="•"/>
              <a:defRPr/>
            </a:pPr>
            <a:r>
              <a:rPr lang="en-US" sz="3200" dirty="0">
                <a:effectLst>
                  <a:outerShdw blurRad="38100" dist="38100" dir="2700000" algn="tl">
                    <a:srgbClr val="000000"/>
                  </a:outerShdw>
                </a:effectLst>
                <a:latin typeface="Gill Sans MT" pitchFamily="34" charset="0"/>
              </a:rPr>
              <a:t>Reduce cost</a:t>
            </a:r>
          </a:p>
          <a:p>
            <a:pPr marL="457200" indent="-457200">
              <a:spcBef>
                <a:spcPct val="20000"/>
              </a:spcBef>
              <a:buFont typeface="Arial" pitchFamily="34" charset="0"/>
              <a:buChar char="•"/>
              <a:defRPr/>
            </a:pPr>
            <a:r>
              <a:rPr lang="en-US" sz="3200" dirty="0">
                <a:effectLst>
                  <a:outerShdw blurRad="38100" dist="38100" dir="2700000" algn="tl">
                    <a:srgbClr val="000000"/>
                  </a:outerShdw>
                </a:effectLst>
                <a:latin typeface="Gill Sans MT" pitchFamily="34" charset="0"/>
              </a:rPr>
              <a:t>Preserve customer satisfaction</a:t>
            </a:r>
          </a:p>
        </p:txBody>
      </p:sp>
    </p:spTree>
    <p:extLst>
      <p:ext uri="{BB962C8B-B14F-4D97-AF65-F5344CB8AC3E}">
        <p14:creationId xmlns:p14="http://schemas.microsoft.com/office/powerpoint/2010/main" val="132134322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Exercise</a:t>
            </a:r>
            <a:endParaRPr lang="zh-CN" altLang="en-US" dirty="0"/>
          </a:p>
        </p:txBody>
      </p:sp>
      <p:pic>
        <p:nvPicPr>
          <p:cNvPr id="8" name="内容占位符 7">
            <a:extLst>
              <a:ext uri="{FF2B5EF4-FFF2-40B4-BE49-F238E27FC236}">
                <a16:creationId xmlns:a16="http://schemas.microsoft.com/office/drawing/2014/main" id="{CC9EB6C6-DE11-4141-AE22-15DA3ED11FA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39253" y="1504506"/>
            <a:ext cx="3695890" cy="3724466"/>
          </a:xfrm>
        </p:spPr>
      </p:pic>
      <p:sp>
        <p:nvSpPr>
          <p:cNvPr id="4" name="灯片编号占位符 3"/>
          <p:cNvSpPr>
            <a:spLocks noGrp="1"/>
          </p:cNvSpPr>
          <p:nvPr>
            <p:ph type="sldNum" sz="quarter" idx="12"/>
          </p:nvPr>
        </p:nvSpPr>
        <p:spPr/>
        <p:txBody>
          <a:bodyPr/>
          <a:lstStyle/>
          <a:p>
            <a:pPr>
              <a:defRPr/>
            </a:pPr>
            <a:fld id="{7F4B1FAA-A740-404F-BBC5-7C153B666279}" type="slidenum">
              <a:rPr lang="en-US" smtClean="0"/>
              <a:pPr>
                <a:defRPr/>
              </a:pPr>
              <a:t>42</a:t>
            </a:fld>
            <a:endParaRPr lang="en-US"/>
          </a:p>
        </p:txBody>
      </p:sp>
      <p:sp>
        <p:nvSpPr>
          <p:cNvPr id="6" name="矩形 5"/>
          <p:cNvSpPr/>
          <p:nvPr/>
        </p:nvSpPr>
        <p:spPr>
          <a:xfrm>
            <a:off x="5669096" y="925688"/>
            <a:ext cx="4828616" cy="5509200"/>
          </a:xfrm>
          <a:prstGeom prst="rect">
            <a:avLst/>
          </a:prstGeom>
        </p:spPr>
        <p:txBody>
          <a:bodyPr wrap="square">
            <a:spAutoFit/>
          </a:bodyPr>
          <a:lstStyle/>
          <a:p>
            <a:r>
              <a:rPr lang="en-US" altLang="zh-CN" sz="16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The following faulty program includes test inputs that result in failure.  Answer the following questions about the program.</a:t>
            </a:r>
          </a:p>
          <a:p>
            <a:r>
              <a:rPr lang="en-US" altLang="zh-CN" sz="16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(a) Explain what is wrong with the given code. Describe the fault precisely by proposing a modiﬁcation to the code. </a:t>
            </a:r>
          </a:p>
          <a:p>
            <a:r>
              <a:rPr lang="en-US" altLang="zh-CN" sz="16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(b) If possible, give a test case that does not execute the fault. If not, brieﬂy explain why not. </a:t>
            </a:r>
          </a:p>
          <a:p>
            <a:r>
              <a:rPr lang="en-US" altLang="zh-CN" sz="16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(c) If possible, give a test case that executes the fault, but does not result in an error state. If not, brieﬂy explain why not. </a:t>
            </a:r>
          </a:p>
          <a:p>
            <a:r>
              <a:rPr lang="en-US" altLang="zh-CN" sz="16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(d) If possible, give a test case that results in an error state, but not a failure. Hint: Don’t forget about the program counter. If not, brieﬂy explain why not. </a:t>
            </a:r>
          </a:p>
          <a:p>
            <a:r>
              <a:rPr lang="en-US" altLang="zh-CN" sz="16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(e) For the given test case, describe the ﬁrst error state. Be sure to describe the complete state.</a:t>
            </a:r>
          </a:p>
          <a:p>
            <a:r>
              <a:rPr lang="en-US" altLang="zh-CN" sz="16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(f) Implement your repair and verify that the given test now produces the expected output. Submit a screen printout or other evidence that your new program works.</a:t>
            </a:r>
            <a:endParaRPr lang="zh-CN" altLang="en-US" sz="16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811359148"/>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IMING" val="|12|3.9|1.9|1.3|21.3|1.2|11.1|2.7|6.5|9.3|2.1|1.8|3.7|3.8|16.8"/>
</p:tagLst>
</file>

<file path=ppt/theme/theme1.xml><?xml version="1.0" encoding="utf-8"?>
<a:theme xmlns:a="http://schemas.openxmlformats.org/drawingml/2006/main" name="intro">
  <a:themeElements>
    <a:clrScheme name="Custom 3">
      <a:dk1>
        <a:srgbClr val="5F5F5F"/>
      </a:dk1>
      <a:lt1>
        <a:srgbClr val="FFFFFF"/>
      </a:lt1>
      <a:dk2>
        <a:srgbClr val="000099"/>
      </a:dk2>
      <a:lt2>
        <a:srgbClr val="FFFF00"/>
      </a:lt2>
      <a:accent1>
        <a:srgbClr val="FF9900"/>
      </a:accent1>
      <a:accent2>
        <a:srgbClr val="66CCFF"/>
      </a:accent2>
      <a:accent3>
        <a:srgbClr val="AAAACA"/>
      </a:accent3>
      <a:accent4>
        <a:srgbClr val="DADADA"/>
      </a:accent4>
      <a:accent5>
        <a:srgbClr val="FFCAAA"/>
      </a:accent5>
      <a:accent6>
        <a:srgbClr val="5CB9E7"/>
      </a:accent6>
      <a:hlink>
        <a:srgbClr val="FFFF00"/>
      </a:hlink>
      <a:folHlink>
        <a:srgbClr val="FFC000"/>
      </a:folHlink>
    </a:clrScheme>
    <a:fontScheme name="intr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lnDef>
  </a:objectDefaults>
  <a:extraClrSchemeLst>
    <a:extraClrScheme>
      <a:clrScheme name="intr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ntro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ntro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a:\intro.ppt</Template>
  <TotalTime>2707</TotalTime>
  <Pages>49</Pages>
  <Words>4593</Words>
  <Application>Microsoft Office PowerPoint</Application>
  <PresentationFormat>宽屏</PresentationFormat>
  <Paragraphs>488</Paragraphs>
  <Slides>42</Slides>
  <Notes>22</Notes>
  <HiddenSlides>1</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42</vt:i4>
      </vt:variant>
    </vt:vector>
  </HeadingPairs>
  <TitlesOfParts>
    <vt:vector size="54" baseType="lpstr">
      <vt:lpstr>Arial Unicode MS</vt:lpstr>
      <vt:lpstr>Gill Sans MT</vt:lpstr>
      <vt:lpstr>Monotype Sorts</vt:lpstr>
      <vt:lpstr>SimSun</vt:lpstr>
      <vt:lpstr>Arial</vt:lpstr>
      <vt:lpstr>Bookman Old Style</vt:lpstr>
      <vt:lpstr>Calibri</vt:lpstr>
      <vt:lpstr>Comic Sans MS</vt:lpstr>
      <vt:lpstr>Times New Roman</vt:lpstr>
      <vt:lpstr>Verdana</vt:lpstr>
      <vt:lpstr>Wingdings</vt:lpstr>
      <vt:lpstr>intro</vt:lpstr>
      <vt:lpstr>Chapter 1 Introduction</vt:lpstr>
      <vt:lpstr>本节课程目标</vt:lpstr>
      <vt:lpstr>Software is a Skin that Surrounds Our Civilization</vt:lpstr>
      <vt:lpstr>Software Failures</vt:lpstr>
      <vt:lpstr>Software Failures</vt:lpstr>
      <vt:lpstr>Terms for Software Failures</vt:lpstr>
      <vt:lpstr>Software Faults, Errors &amp; Failures</vt:lpstr>
      <vt:lpstr>Fault and Failure Example</vt:lpstr>
      <vt:lpstr>A Concrete Example</vt:lpstr>
      <vt:lpstr>A Concrete Example</vt:lpstr>
      <vt:lpstr>A Concrete Example</vt:lpstr>
      <vt:lpstr>Fault &amp; Failure Model (RIPR)</vt:lpstr>
      <vt:lpstr>RIPR Model</vt:lpstr>
      <vt:lpstr>Testing &amp; Debugging</vt:lpstr>
      <vt:lpstr>The Term Bug</vt:lpstr>
      <vt:lpstr>Product Specification</vt:lpstr>
      <vt:lpstr>Formal Definition of Bug</vt:lpstr>
      <vt:lpstr>An Example</vt:lpstr>
      <vt:lpstr>Where are errors？</vt:lpstr>
      <vt:lpstr>The Average Cost to Fix Fault</vt:lpstr>
      <vt:lpstr>Software Testability (3.1)</vt:lpstr>
      <vt:lpstr>Observability and Controllability</vt:lpstr>
      <vt:lpstr>Components of a Test Case (3.2)</vt:lpstr>
      <vt:lpstr>Affecting Controllability and Observability</vt:lpstr>
      <vt:lpstr>Putting Tests Together</vt:lpstr>
      <vt:lpstr>Testing in the 21st Century</vt:lpstr>
      <vt:lpstr>What Does This Mean?</vt:lpstr>
      <vt:lpstr>Validation &amp; Verification (IEEE)</vt:lpstr>
      <vt:lpstr>A case study for distinguishing Validation &amp; Verification </vt:lpstr>
      <vt:lpstr>Testing Goals Based on Test Process Maturity</vt:lpstr>
      <vt:lpstr>Level 0 Thinking</vt:lpstr>
      <vt:lpstr>Level 1 Thinking</vt:lpstr>
      <vt:lpstr>Level 2 Thinking</vt:lpstr>
      <vt:lpstr>Level 3 Thinking</vt:lpstr>
      <vt:lpstr>Level 4 Thinking</vt:lpstr>
      <vt:lpstr>Where Are You?</vt:lpstr>
      <vt:lpstr>Tactical Goals : Why Each Test ?</vt:lpstr>
      <vt:lpstr>Why Each Test ?</vt:lpstr>
      <vt:lpstr>Cost of Not Testing</vt:lpstr>
      <vt:lpstr>Cost of Late Testing</vt:lpstr>
      <vt:lpstr>Summary: Why Do We Test Software ?</vt:lpstr>
      <vt:lpstr>Exercise</vt:lpstr>
    </vt:vector>
  </TitlesOfParts>
  <Company>George Mason Unviersity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SWE 637: Here! Test this!</dc:title>
  <dc:creator>Jeff Offutt</dc:creator>
  <cp:lastModifiedBy>Yue Zhang</cp:lastModifiedBy>
  <cp:revision>296</cp:revision>
  <cp:lastPrinted>2015-08-31T19:39:18Z</cp:lastPrinted>
  <dcterms:created xsi:type="dcterms:W3CDTF">1996-06-15T03:21:08Z</dcterms:created>
  <dcterms:modified xsi:type="dcterms:W3CDTF">2026-03-02T11:11:53Z</dcterms:modified>
</cp:coreProperties>
</file>