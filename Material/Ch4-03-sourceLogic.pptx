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36" r:id="rId2"/>
    <p:sldId id="455" r:id="rId3"/>
    <p:sldId id="405" r:id="rId4"/>
    <p:sldId id="448" r:id="rId5"/>
    <p:sldId id="449" r:id="rId6"/>
    <p:sldId id="450" r:id="rId7"/>
    <p:sldId id="451" r:id="rId8"/>
    <p:sldId id="452" r:id="rId9"/>
    <p:sldId id="453" r:id="rId10"/>
    <p:sldId id="454" r:id="rId11"/>
    <p:sldId id="431" r:id="rId12"/>
    <p:sldId id="432" r:id="rId13"/>
    <p:sldId id="416" r:id="rId14"/>
    <p:sldId id="418" r:id="rId15"/>
    <p:sldId id="437" r:id="rId16"/>
    <p:sldId id="417" r:id="rId17"/>
    <p:sldId id="424" r:id="rId18"/>
    <p:sldId id="438" r:id="rId19"/>
    <p:sldId id="433" r:id="rId20"/>
    <p:sldId id="435" r:id="rId21"/>
    <p:sldId id="436" r:id="rId22"/>
    <p:sldId id="441" r:id="rId23"/>
    <p:sldId id="442" r:id="rId24"/>
    <p:sldId id="443" r:id="rId25"/>
    <p:sldId id="444" r:id="rId26"/>
    <p:sldId id="445" r:id="rId27"/>
    <p:sldId id="446" r:id="rId28"/>
    <p:sldId id="447" r:id="rId29"/>
  </p:sldIdLst>
  <p:sldSz cx="12192000" cy="68580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FF"/>
    <a:srgbClr val="99FF99"/>
    <a:srgbClr val="0000CC"/>
    <a:srgbClr val="66CCFF"/>
    <a:srgbClr val="000000"/>
    <a:srgbClr val="66FFCC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10" autoAdjust="0"/>
    <p:restoredTop sz="87396" autoAdjust="0"/>
  </p:normalViewPr>
  <p:slideViewPr>
    <p:cSldViewPr snapToGrid="0">
      <p:cViewPr varScale="1">
        <p:scale>
          <a:sx n="65" d="100"/>
          <a:sy n="65" d="100"/>
        </p:scale>
        <p:origin x="813" y="4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29" tIns="0" rIns="20129" bIns="0" numCol="1" anchor="t" anchorCtr="0" compatLnSpc="1">
            <a:prstTxWarp prst="textNoShape">
              <a:avLst/>
            </a:prstTxWarp>
          </a:bodyPr>
          <a:lstStyle>
            <a:lvl1pPr defTabSz="967315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29" tIns="0" rIns="20129" bIns="0" numCol="1" anchor="t" anchorCtr="0" compatLnSpc="1">
            <a:prstTxWarp prst="textNoShape">
              <a:avLst/>
            </a:prstTxWarp>
          </a:bodyPr>
          <a:lstStyle>
            <a:lvl1pPr algn="r" defTabSz="967315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29" tIns="0" rIns="20129" bIns="0" numCol="1" anchor="b" anchorCtr="0" compatLnSpc="1">
            <a:prstTxWarp prst="textNoShape">
              <a:avLst/>
            </a:prstTxWarp>
          </a:bodyPr>
          <a:lstStyle>
            <a:lvl1pPr defTabSz="967315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29" tIns="0" rIns="20129" bIns="0" numCol="1" anchor="b" anchorCtr="0" compatLnSpc="1">
            <a:prstTxWarp prst="textNoShape">
              <a:avLst/>
            </a:prstTxWarp>
          </a:bodyPr>
          <a:lstStyle>
            <a:lvl1pPr algn="r" defTabSz="967315">
              <a:defRPr sz="1100" b="0" i="1"/>
            </a:lvl1pPr>
          </a:lstStyle>
          <a:p>
            <a:pPr>
              <a:defRPr/>
            </a:pPr>
            <a:fld id="{082FB739-CD8B-4C26-978D-C3ED87A5A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4815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29" tIns="0" rIns="20129" bIns="0" numCol="1" anchor="t" anchorCtr="0" compatLnSpc="1">
            <a:prstTxWarp prst="textNoShape">
              <a:avLst/>
            </a:prstTxWarp>
          </a:bodyPr>
          <a:lstStyle>
            <a:lvl1pPr defTabSz="967315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29" tIns="0" rIns="20129" bIns="0" numCol="1" anchor="t" anchorCtr="0" compatLnSpc="1">
            <a:prstTxWarp prst="textNoShape">
              <a:avLst/>
            </a:prstTxWarp>
          </a:bodyPr>
          <a:lstStyle>
            <a:lvl1pPr algn="r" defTabSz="967315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29" tIns="0" rIns="20129" bIns="0" numCol="1" anchor="b" anchorCtr="0" compatLnSpc="1">
            <a:prstTxWarp prst="textNoShape">
              <a:avLst/>
            </a:prstTxWarp>
          </a:bodyPr>
          <a:lstStyle>
            <a:lvl1pPr defTabSz="967315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29" tIns="0" rIns="20129" bIns="0" numCol="1" anchor="b" anchorCtr="0" compatLnSpc="1">
            <a:prstTxWarp prst="textNoShape">
              <a:avLst/>
            </a:prstTxWarp>
          </a:bodyPr>
          <a:lstStyle>
            <a:lvl1pPr algn="r" defTabSz="967315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6C1433A-C512-4138-BF0D-05D4A67A6D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9300"/>
            <a:ext cx="5368925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293" tIns="48647" rIns="97293" bIns="486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655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61963" y="720725"/>
            <a:ext cx="6391275" cy="35956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3298825" y="9145588"/>
            <a:ext cx="773113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261" tIns="46968" rIns="92261" bIns="46968">
            <a:spAutoFit/>
          </a:bodyPr>
          <a:lstStyle>
            <a:lvl1pPr defTabSz="915988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15988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15988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15988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15988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300" b="0">
                <a:solidFill>
                  <a:schemeClr val="tx1"/>
                </a:solidFill>
              </a:rPr>
              <a:t>Page </a:t>
            </a:r>
            <a:fld id="{69CC9AE4-0CF4-43D6-9178-9D7C9D6FA5CB}" type="slidenum">
              <a:rPr lang="en-US" altLang="en-US" sz="1300" b="0">
                <a:solidFill>
                  <a:schemeClr val="tx1"/>
                </a:solidFill>
              </a:rPr>
              <a:pPr algn="ctr">
                <a:lnSpc>
                  <a:spcPct val="90000"/>
                </a:lnSpc>
              </a:pPr>
              <a:t>‹#›</a:t>
            </a:fld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3592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A2FD70D6-3F65-4F87-8C96-BB8E51C141B3}" type="slidenum">
              <a:rPr lang="en-US" altLang="en-US" sz="1100" b="0" smtClean="0">
                <a:solidFill>
                  <a:schemeClr val="tx1"/>
                </a:solidFill>
              </a:rPr>
              <a:pPr/>
              <a:t>1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981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63A914B8-DB8C-4DA7-8759-FEA2EEAAE71E}" type="slidenum">
              <a:rPr lang="en-US" altLang="en-US" sz="1100" b="0" smtClean="0">
                <a:solidFill>
                  <a:schemeClr val="tx1"/>
                </a:solidFill>
              </a:rPr>
              <a:pPr/>
              <a:t>3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684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F78A72E5-8CE3-43F2-A32A-87D3524F917C}" type="slidenum">
              <a:rPr lang="en-US" altLang="en-US" sz="1100" b="0" smtClean="0">
                <a:solidFill>
                  <a:schemeClr val="tx1"/>
                </a:solidFill>
              </a:rPr>
              <a:pPr/>
              <a:t>13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217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2FD507C8-1EC9-4AE3-B71F-4A05FD5053F6}" type="slidenum">
              <a:rPr lang="en-US" altLang="en-US" sz="1100" b="0" smtClean="0">
                <a:solidFill>
                  <a:schemeClr val="tx1"/>
                </a:solidFill>
              </a:rPr>
              <a:pPr/>
              <a:t>14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714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6C1433A-C512-4138-BF0D-05D4A67A6D15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75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curTemp</a:t>
            </a:r>
            <a:r>
              <a:rPr lang="en-US" dirty="0"/>
              <a:t> must have the same value for both predicate</a:t>
            </a:r>
            <a:r>
              <a:rPr lang="en-US" baseline="0" dirty="0"/>
              <a:t> a and c, so </a:t>
            </a:r>
            <a:r>
              <a:rPr lang="en-US" dirty="0" err="1"/>
              <a:t>overTemp</a:t>
            </a:r>
            <a:r>
              <a:rPr lang="en-US" dirty="0"/>
              <a:t> is given values so that c</a:t>
            </a:r>
            <a:r>
              <a:rPr lang="en-US" baseline="0" dirty="0"/>
              <a:t> has the correct truth value regardless of the value of </a:t>
            </a:r>
            <a:r>
              <a:rPr lang="en-US" baseline="0" dirty="0" err="1"/>
              <a:t>cutTemp</a:t>
            </a:r>
            <a:r>
              <a:rPr lang="en-US" baseline="0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6C1433A-C512-4138-BF0D-05D4A67A6D15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951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6C1433A-C512-4138-BF0D-05D4A67A6D15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66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6C1433A-C512-4138-BF0D-05D4A67A6D15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391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6C1433A-C512-4138-BF0D-05D4A67A6D15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257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6C1433A-C512-4138-BF0D-05D4A67A6D15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272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转换引入的问题：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覆盖不完全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/>
              <a:t>可读性低</a:t>
            </a:r>
            <a:endParaRPr lang="zh-CN" alt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嵌套层次越多，越容易引入错误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效率下降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6C1433A-C512-4138-BF0D-05D4A67A6D15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67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6C1433A-C512-4138-BF0D-05D4A67A6D15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978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4CBA1E-A781-4F58-AA6C-66EB8182AC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08570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7E80D-252C-4EBC-97B9-18FA681E2F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91860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38C1C5-B817-4DA6-AB90-3167CAFB6A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001396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939801"/>
            <a:ext cx="5842000" cy="538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39801"/>
            <a:ext cx="5842000" cy="538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182B7B-2FB2-4937-A528-1860488ED7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182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CF006-D926-4E5E-9480-14A7EBA711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28297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2D1C0C8-01DB-4E73-A5D6-175755F873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-1" y="729143"/>
            <a:ext cx="12158444" cy="0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5969100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17BB60-5BED-46BD-9666-91251CD19A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3533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50FF5C-53EE-465F-BE4E-1D8B924F2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71545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3ABC6-915B-4CDB-9918-E7F9BC0799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51540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9FAE15-58D4-4D01-A440-62A5E9E2A4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705552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67800" y="74613"/>
            <a:ext cx="2971800" cy="6248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74613"/>
            <a:ext cx="8712200" cy="6248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073930-80E0-4735-8E12-590EBEF55B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920917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585" y="74614"/>
            <a:ext cx="11906249" cy="7826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2400" y="939800"/>
            <a:ext cx="5842000" cy="5505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39800"/>
            <a:ext cx="5842000" cy="5505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690E0F-7AFB-4BF4-9891-BFDA9B693A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9887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004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9117" y="6589713"/>
            <a:ext cx="5190067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41433" y="6577013"/>
            <a:ext cx="3860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31351" y="6584951"/>
            <a:ext cx="254000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2AE9692-6327-4E95-9A87-B54F7E12D8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56755" y="74614"/>
            <a:ext cx="12050413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800" y="893763"/>
            <a:ext cx="12031133" cy="564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 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 </a:t>
            </a:r>
          </a:p>
          <a:p>
            <a:pPr lvl="4"/>
            <a:r>
              <a:rPr lang="en-US" altLang="en-US" dirty="0"/>
              <a:t>Fifth level </a:t>
            </a:r>
          </a:p>
        </p:txBody>
      </p:sp>
      <p:sp>
        <p:nvSpPr>
          <p:cNvPr id="8" name="Line 10"/>
          <p:cNvSpPr>
            <a:spLocks noChangeShapeType="1"/>
          </p:cNvSpPr>
          <p:nvPr userDrawn="1"/>
        </p:nvSpPr>
        <p:spPr bwMode="auto">
          <a:xfrm>
            <a:off x="-1" y="729143"/>
            <a:ext cx="12158444" cy="0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200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03" r:id="rId1"/>
    <p:sldLayoutId id="2147483900" r:id="rId2"/>
    <p:sldLayoutId id="2147483904" r:id="rId3"/>
    <p:sldLayoutId id="2147483901" r:id="rId4"/>
    <p:sldLayoutId id="2147483902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  <p:sldLayoutId id="2147483911" r:id="rId12"/>
  </p:sldLayoutIdLst>
  <p:transition spd="med"/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75000"/>
        <a:buFont typeface="Monotype Sorts" charset="2"/>
        <a:buChar char="n"/>
        <a:defRPr sz="2800" b="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400" b="0">
          <a:solidFill>
            <a:schemeClr val="tx1"/>
          </a:solidFill>
          <a:latin typeface="Gill Sans MT" panose="020B0502020104020203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 b="0">
          <a:solidFill>
            <a:schemeClr val="tx1"/>
          </a:solidFill>
          <a:latin typeface="Gill Sans MT" panose="020B0502020104020203" pitchFamily="34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0">
          <a:solidFill>
            <a:schemeClr val="tx1"/>
          </a:solidFill>
          <a:latin typeface="Gill Sans MT" panose="020B0502020104020203" pitchFamily="34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sz="2000" b="0">
          <a:solidFill>
            <a:schemeClr val="tx1"/>
          </a:solidFill>
          <a:latin typeface="Gill Sans MT" panose="020B0502020104020203" pitchFamily="34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cs.gmu.edu:8080/offutt/coverage/LogicCoverage?expression=(a+|+(b+%26+c))+%26+d&amp;action=CACC" TargetMode="Externa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Chapter 4 Logic Coverage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24100" y="3886200"/>
            <a:ext cx="7543800" cy="17526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</a:pPr>
            <a:r>
              <a:rPr lang="en-US" altLang="en-US" sz="3200" dirty="0"/>
              <a:t>Logic Coverage for Source Code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</a:pPr>
            <a:r>
              <a:rPr lang="en-US" altLang="zh-CN" sz="3200" dirty="0"/>
              <a:t>(8.3 Logic Coverage for Source Code)</a:t>
            </a:r>
            <a:endParaRPr lang="en-US" altLang="en-US" b="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188B2-B1EA-49C2-93B0-29C2F8AA9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本节课程目标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05C3BE-4924-4A5F-A52B-DADE0F14F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掌握将逻辑覆盖应用于源代码的方法步骤；</a:t>
            </a:r>
          </a:p>
          <a:p>
            <a:r>
              <a:rPr lang="zh-CN" altLang="zh-CN" dirty="0"/>
              <a:t>能提取被测代码中的条件</a:t>
            </a:r>
            <a:r>
              <a:rPr lang="en-US" altLang="zh-CN" dirty="0"/>
              <a:t>/</a:t>
            </a:r>
            <a:r>
              <a:rPr lang="zh-CN" altLang="zh-CN" dirty="0"/>
              <a:t>谓词；</a:t>
            </a:r>
          </a:p>
          <a:p>
            <a:r>
              <a:rPr lang="zh-CN" altLang="zh-CN" dirty="0"/>
              <a:t>分析每一个条件的可达约束；</a:t>
            </a:r>
          </a:p>
          <a:p>
            <a:r>
              <a:rPr lang="zh-CN" altLang="zh-CN" dirty="0"/>
              <a:t>分析可达约束中出现的内部变量并求解；</a:t>
            </a:r>
          </a:p>
          <a:p>
            <a:r>
              <a:rPr lang="zh-CN" altLang="zh-CN" dirty="0"/>
              <a:t>根据内部变量的求解结果求解可达约束条件；</a:t>
            </a:r>
          </a:p>
          <a:p>
            <a:r>
              <a:rPr lang="zh-CN" altLang="zh-CN" dirty="0"/>
              <a:t>根据覆盖需求求解测试用例；</a:t>
            </a:r>
          </a:p>
          <a:p>
            <a:r>
              <a:rPr lang="zh-CN" altLang="zh-CN" dirty="0"/>
              <a:t>能将代码中包含多个子句的谓词重写成只包含单个子句的形式；</a:t>
            </a:r>
          </a:p>
          <a:p>
            <a:r>
              <a:rPr lang="zh-CN" altLang="zh-CN"/>
              <a:t>明确谓词转换可能带来的问题。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DC6F7B-A3E3-4E62-B869-2180C8851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C7E80D-252C-4EBC-97B9-18FA681E2FD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3095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Logic Expressions from Source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Predicates are derived from </a:t>
            </a:r>
            <a:r>
              <a:rPr lang="en-US" altLang="en-US" dirty="0">
                <a:solidFill>
                  <a:schemeClr val="tx2"/>
                </a:solidFill>
              </a:rPr>
              <a:t>decision</a:t>
            </a:r>
            <a:r>
              <a:rPr lang="en-US" altLang="en-US" dirty="0"/>
              <a:t> statements</a:t>
            </a:r>
          </a:p>
          <a:p>
            <a:r>
              <a:rPr lang="en-US" altLang="en-US" dirty="0"/>
              <a:t>In programs, most predicates have </a:t>
            </a:r>
            <a:r>
              <a:rPr lang="en-US" altLang="en-US" dirty="0">
                <a:solidFill>
                  <a:schemeClr val="tx2"/>
                </a:solidFill>
              </a:rPr>
              <a:t>less than four</a:t>
            </a:r>
            <a:r>
              <a:rPr lang="en-US" altLang="en-US" dirty="0"/>
              <a:t> clauses</a:t>
            </a:r>
          </a:p>
          <a:p>
            <a:pPr lvl="1"/>
            <a:r>
              <a:rPr lang="en-US" altLang="en-US" dirty="0"/>
              <a:t>Wise programmers actively strive to keep predicates simple</a:t>
            </a:r>
            <a:endParaRPr lang="en-US" altLang="en-US" sz="1800" dirty="0"/>
          </a:p>
          <a:p>
            <a:r>
              <a:rPr lang="en-US" altLang="en-US" dirty="0"/>
              <a:t>When a predicate only has one clause, COC, ACC, ICC, and CC all collapse to </a:t>
            </a:r>
            <a:r>
              <a:rPr lang="en-US" altLang="en-US" dirty="0">
                <a:solidFill>
                  <a:schemeClr val="tx2"/>
                </a:solidFill>
              </a:rPr>
              <a:t>predicate coverage</a:t>
            </a:r>
            <a:r>
              <a:rPr lang="en-US" altLang="en-US" dirty="0"/>
              <a:t> (PC)</a:t>
            </a:r>
          </a:p>
          <a:p>
            <a:r>
              <a:rPr lang="en-US" altLang="en-US" dirty="0"/>
              <a:t>Applying logic criteria to program source is hard because of </a:t>
            </a:r>
            <a:r>
              <a:rPr lang="en-US" altLang="en-US" dirty="0">
                <a:solidFill>
                  <a:schemeClr val="tx2"/>
                </a:solidFill>
              </a:rPr>
              <a:t>reachability</a:t>
            </a:r>
            <a:r>
              <a:rPr lang="en-US" altLang="en-US" dirty="0"/>
              <a:t> and </a:t>
            </a:r>
            <a:r>
              <a:rPr lang="en-US" altLang="en-US" dirty="0">
                <a:solidFill>
                  <a:schemeClr val="tx2"/>
                </a:solidFill>
              </a:rPr>
              <a:t>controllability</a:t>
            </a:r>
            <a:r>
              <a:rPr lang="en-US" altLang="en-US" dirty="0"/>
              <a:t>:</a:t>
            </a:r>
          </a:p>
          <a:p>
            <a:pPr lvl="1">
              <a:lnSpc>
                <a:spcPct val="80000"/>
              </a:lnSpc>
            </a:pPr>
            <a:r>
              <a:rPr lang="en-US" altLang="en-US" i="1" dirty="0">
                <a:solidFill>
                  <a:schemeClr val="tx2"/>
                </a:solidFill>
              </a:rPr>
              <a:t>Reachability</a:t>
            </a:r>
            <a:r>
              <a:rPr lang="en-US" altLang="en-US" dirty="0"/>
              <a:t> : Before applying the criteria on a predicate at a particular statement, we have to </a:t>
            </a:r>
            <a:r>
              <a:rPr lang="en-US" altLang="en-US" dirty="0">
                <a:solidFill>
                  <a:schemeClr val="tx2"/>
                </a:solidFill>
              </a:rPr>
              <a:t>get to</a:t>
            </a:r>
            <a:r>
              <a:rPr lang="en-US" altLang="en-US" dirty="0"/>
              <a:t> that statement</a:t>
            </a:r>
          </a:p>
          <a:p>
            <a:pPr lvl="1">
              <a:lnSpc>
                <a:spcPct val="80000"/>
              </a:lnSpc>
            </a:pPr>
            <a:r>
              <a:rPr lang="en-US" altLang="en-US" i="1" dirty="0">
                <a:solidFill>
                  <a:schemeClr val="tx2"/>
                </a:solidFill>
              </a:rPr>
              <a:t>Controllability</a:t>
            </a:r>
            <a:r>
              <a:rPr lang="en-US" altLang="en-US" dirty="0"/>
              <a:t> : We have to </a:t>
            </a:r>
            <a:r>
              <a:rPr lang="en-US" altLang="en-US" dirty="0">
                <a:solidFill>
                  <a:schemeClr val="tx2"/>
                </a:solidFill>
              </a:rPr>
              <a:t>find input values</a:t>
            </a:r>
            <a:r>
              <a:rPr lang="en-US" altLang="en-US" dirty="0"/>
              <a:t> that indirectly assign values to the variables in the predicates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Variables in the predicates that are not inputs to the program are called </a:t>
            </a:r>
            <a:r>
              <a:rPr lang="en-US" altLang="en-US" i="1" dirty="0">
                <a:solidFill>
                  <a:schemeClr val="tx2"/>
                </a:solidFill>
              </a:rPr>
              <a:t>internal variables</a:t>
            </a:r>
          </a:p>
          <a:p>
            <a:r>
              <a:rPr lang="en-US" altLang="en-US" dirty="0"/>
              <a:t>Illustrated through an example in the following slides …</a:t>
            </a:r>
          </a:p>
        </p:txBody>
      </p:sp>
      <p:sp>
        <p:nvSpPr>
          <p:cNvPr id="12291" name="Rectangle 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AEC3F9F1-4A3D-4032-A424-ED7DB944D1C4}" type="slidenum">
              <a:rPr lang="en-US" altLang="en-US" sz="900" b="0">
                <a:solidFill>
                  <a:schemeClr val="tx1"/>
                </a:solidFill>
              </a:rPr>
              <a:pPr/>
              <a:t>3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Logic Coverage of Programs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Steps:</a:t>
            </a:r>
          </a:p>
          <a:p>
            <a:pPr lvl="1"/>
            <a:r>
              <a:rPr lang="zh-CN" altLang="en-US" dirty="0"/>
              <a:t>提取被测代码中的条件</a:t>
            </a:r>
            <a:r>
              <a:rPr lang="en-US" altLang="zh-CN" dirty="0"/>
              <a:t>(</a:t>
            </a:r>
            <a:r>
              <a:rPr lang="zh-CN" altLang="en-US" dirty="0"/>
              <a:t>谓词</a:t>
            </a:r>
            <a:r>
              <a:rPr lang="en-US" altLang="zh-CN" dirty="0"/>
              <a:t>)</a:t>
            </a:r>
            <a:r>
              <a:rPr lang="zh-CN" altLang="en-US" dirty="0"/>
              <a:t>语句</a:t>
            </a:r>
            <a:endParaRPr lang="en-US" altLang="zh-CN" dirty="0"/>
          </a:p>
          <a:p>
            <a:pPr lvl="1"/>
            <a:r>
              <a:rPr lang="zh-CN" altLang="en-US" dirty="0"/>
              <a:t>分析每一个条件的可达约束</a:t>
            </a:r>
            <a:endParaRPr lang="en-US" altLang="zh-CN" dirty="0"/>
          </a:p>
          <a:p>
            <a:pPr lvl="1"/>
            <a:r>
              <a:rPr lang="zh-CN" altLang="en-US" dirty="0"/>
              <a:t>分析可达约束中出现的内部变量并求解</a:t>
            </a:r>
            <a:endParaRPr lang="en-US" altLang="zh-CN" dirty="0"/>
          </a:p>
          <a:p>
            <a:pPr lvl="1"/>
            <a:r>
              <a:rPr lang="zh-CN" altLang="en-US" dirty="0"/>
              <a:t>根据内部变量的求解结果求解可达约束条件</a:t>
            </a:r>
            <a:endParaRPr lang="en-US" altLang="zh-CN" dirty="0"/>
          </a:p>
          <a:p>
            <a:pPr lvl="1"/>
            <a:r>
              <a:rPr lang="zh-CN" altLang="en-US" dirty="0"/>
              <a:t>根据覆盖需求求解测试用例</a:t>
            </a:r>
            <a:endParaRPr lang="en-US" altLang="zh-CN" dirty="0"/>
          </a:p>
          <a:p>
            <a:r>
              <a:rPr lang="en-US" altLang="zh-CN" dirty="0"/>
              <a:t>Triangle Example</a:t>
            </a:r>
          </a:p>
          <a:p>
            <a:pPr lvl="1"/>
            <a:r>
              <a:rPr lang="en-US" altLang="zh-CN" dirty="0"/>
              <a:t>The program of triangle</a:t>
            </a:r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034193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950" y="116632"/>
            <a:ext cx="6924675" cy="409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238" y="4365104"/>
            <a:ext cx="6981059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754713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32065" y="63005"/>
            <a:ext cx="8714568" cy="686302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Derive predicates from program</a:t>
            </a:r>
            <a:endParaRPr lang="zh-CN" altLang="en-US" sz="3200" dirty="0"/>
          </a:p>
        </p:txBody>
      </p:sp>
      <p:sp>
        <p:nvSpPr>
          <p:cNvPr id="4" name="椭圆 3"/>
          <p:cNvSpPr/>
          <p:nvPr/>
        </p:nvSpPr>
        <p:spPr>
          <a:xfrm>
            <a:off x="3690505" y="1287355"/>
            <a:ext cx="1202040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30- </a:t>
            </a:r>
            <a:r>
              <a:rPr lang="en-US" altLang="zh-CN" sz="1600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42</a:t>
            </a:r>
            <a:endParaRPr lang="zh-CN" altLang="en-US" sz="1600">
              <a:solidFill>
                <a:schemeClr val="tx2">
                  <a:lumMod val="60000"/>
                  <a:lumOff val="4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033551" y="1809413"/>
            <a:ext cx="1068123" cy="2700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44-45</a:t>
            </a:r>
            <a:endParaRPr lang="zh-CN" altLang="en-US" sz="1600" dirty="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376373" y="6023663"/>
            <a:ext cx="382477" cy="360040"/>
          </a:xfrm>
          <a:prstGeom prst="ellipse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4" name="直接箭头连接符 13"/>
          <p:cNvCxnSpPr>
            <a:stCxn id="11" idx="4"/>
            <a:endCxn id="12" idx="0"/>
          </p:cNvCxnSpPr>
          <p:nvPr/>
        </p:nvCxnSpPr>
        <p:spPr>
          <a:xfrm flipH="1">
            <a:off x="2567612" y="2079443"/>
            <a:ext cx="1" cy="394422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4" idx="4"/>
            <a:endCxn id="11" idx="0"/>
          </p:cNvCxnSpPr>
          <p:nvPr/>
        </p:nvCxnSpPr>
        <p:spPr>
          <a:xfrm flipH="1">
            <a:off x="2567613" y="1575387"/>
            <a:ext cx="1723913" cy="23402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631504" y="1398111"/>
            <a:ext cx="2393714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(s1&lt;=0||s2&lt;=0||s3&lt;=0)</a:t>
            </a:r>
            <a:endParaRPr lang="zh-CN" altLang="en-US" sz="16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4812485" y="1827415"/>
            <a:ext cx="1081074" cy="2520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48- </a:t>
            </a:r>
            <a:r>
              <a:rPr lang="en-US" altLang="zh-CN" sz="1600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49</a:t>
            </a:r>
            <a:endParaRPr lang="zh-CN" altLang="en-US" sz="1600">
              <a:solidFill>
                <a:schemeClr val="tx2">
                  <a:lumMod val="60000"/>
                  <a:lumOff val="4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4" name="直接箭头连接符 23"/>
          <p:cNvCxnSpPr>
            <a:stCxn id="4" idx="4"/>
          </p:cNvCxnSpPr>
          <p:nvPr/>
        </p:nvCxnSpPr>
        <p:spPr>
          <a:xfrm>
            <a:off x="4291526" y="1575387"/>
            <a:ext cx="1061497" cy="23402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4710398" y="1341361"/>
            <a:ext cx="2393714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!</a:t>
            </a:r>
            <a:r>
              <a:rPr lang="en-US" altLang="zh-CN" sz="1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(s1&lt;=0||s2&lt;=0||s3&lt;=0)</a:t>
            </a:r>
            <a:endParaRPr lang="zh-CN" altLang="en-US" sz="16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5000071" y="2283837"/>
            <a:ext cx="693859" cy="3240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50</a:t>
            </a:r>
            <a:endParaRPr lang="zh-CN" altLang="en-US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4966356" y="2800042"/>
            <a:ext cx="693859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51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35" name="直接箭头连接符 34"/>
          <p:cNvCxnSpPr>
            <a:stCxn id="22" idx="4"/>
            <a:endCxn id="32" idx="0"/>
          </p:cNvCxnSpPr>
          <p:nvPr/>
        </p:nvCxnSpPr>
        <p:spPr>
          <a:xfrm flipH="1">
            <a:off x="5347000" y="2079443"/>
            <a:ext cx="6022" cy="20439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5412676" y="2049811"/>
            <a:ext cx="830509" cy="234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s1=s2</a:t>
            </a:r>
            <a:endParaRPr lang="zh-CN" altLang="en-US" sz="16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40" name="直接箭头连接符 39"/>
          <p:cNvCxnSpPr>
            <a:stCxn id="32" idx="4"/>
            <a:endCxn id="33" idx="0"/>
          </p:cNvCxnSpPr>
          <p:nvPr/>
        </p:nvCxnSpPr>
        <p:spPr>
          <a:xfrm flipH="1">
            <a:off x="5313286" y="2607874"/>
            <a:ext cx="33715" cy="19216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肘形连接符 41"/>
          <p:cNvCxnSpPr>
            <a:stCxn id="22" idx="2"/>
            <a:endCxn id="33" idx="1"/>
          </p:cNvCxnSpPr>
          <p:nvPr/>
        </p:nvCxnSpPr>
        <p:spPr>
          <a:xfrm rot="10800000" flipH="1" flipV="1">
            <a:off x="4812485" y="1953429"/>
            <a:ext cx="255483" cy="899340"/>
          </a:xfrm>
          <a:prstGeom prst="bentConnector4">
            <a:avLst>
              <a:gd name="adj1" fmla="val -35546"/>
              <a:gd name="adj2" fmla="val 80537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3745051" y="2079443"/>
            <a:ext cx="1055533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s1!=s2</a:t>
            </a:r>
            <a:endParaRPr lang="zh-CN" altLang="en-US" sz="16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4973932" y="3355934"/>
            <a:ext cx="693859" cy="2755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52</a:t>
            </a:r>
            <a:endParaRPr lang="zh-CN" altLang="en-US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4958781" y="3843458"/>
            <a:ext cx="693859" cy="3121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53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49" name="直接箭头连接符 48"/>
          <p:cNvCxnSpPr>
            <a:stCxn id="33" idx="4"/>
            <a:endCxn id="46" idx="0"/>
          </p:cNvCxnSpPr>
          <p:nvPr/>
        </p:nvCxnSpPr>
        <p:spPr>
          <a:xfrm>
            <a:off x="5313285" y="3160083"/>
            <a:ext cx="7576" cy="19585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46" idx="4"/>
            <a:endCxn id="47" idx="0"/>
          </p:cNvCxnSpPr>
          <p:nvPr/>
        </p:nvCxnSpPr>
        <p:spPr>
          <a:xfrm flipH="1">
            <a:off x="5305711" y="3631484"/>
            <a:ext cx="15151" cy="21197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连接符 54"/>
          <p:cNvCxnSpPr>
            <a:stCxn id="33" idx="2"/>
            <a:endCxn id="47" idx="1"/>
          </p:cNvCxnSpPr>
          <p:nvPr/>
        </p:nvCxnSpPr>
        <p:spPr>
          <a:xfrm rot="10800000" flipH="1" flipV="1">
            <a:off x="4966355" y="2980062"/>
            <a:ext cx="94038" cy="909110"/>
          </a:xfrm>
          <a:prstGeom prst="bentConnector4">
            <a:avLst>
              <a:gd name="adj1" fmla="val -243093"/>
              <a:gd name="adj2" fmla="val 75299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5418262" y="3147952"/>
            <a:ext cx="731282" cy="234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s1=s3</a:t>
            </a:r>
            <a:endParaRPr lang="zh-CN" altLang="en-US" sz="16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3949342" y="3221432"/>
            <a:ext cx="863142" cy="41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s1!=s3</a:t>
            </a:r>
            <a:endParaRPr lang="zh-CN" altLang="en-US" sz="16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4" name="椭圆 63"/>
          <p:cNvSpPr/>
          <p:nvPr/>
        </p:nvSpPr>
        <p:spPr>
          <a:xfrm>
            <a:off x="4957307" y="4371334"/>
            <a:ext cx="693859" cy="2520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54</a:t>
            </a:r>
            <a:endParaRPr lang="zh-CN" altLang="en-US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66" name="直接箭头连接符 65"/>
          <p:cNvCxnSpPr>
            <a:stCxn id="47" idx="4"/>
            <a:endCxn id="64" idx="0"/>
          </p:cNvCxnSpPr>
          <p:nvPr/>
        </p:nvCxnSpPr>
        <p:spPr>
          <a:xfrm flipH="1">
            <a:off x="5304236" y="4155614"/>
            <a:ext cx="1474" cy="21572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椭圆 68"/>
          <p:cNvSpPr/>
          <p:nvPr/>
        </p:nvSpPr>
        <p:spPr>
          <a:xfrm>
            <a:off x="4958781" y="4815748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55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51" name="肘形连接符 150"/>
          <p:cNvCxnSpPr>
            <a:stCxn id="47" idx="2"/>
            <a:endCxn id="69" idx="1"/>
          </p:cNvCxnSpPr>
          <p:nvPr/>
        </p:nvCxnSpPr>
        <p:spPr>
          <a:xfrm rot="10800000" flipH="1" flipV="1">
            <a:off x="4958780" y="3999536"/>
            <a:ext cx="101613" cy="858392"/>
          </a:xfrm>
          <a:prstGeom prst="bentConnector4">
            <a:avLst>
              <a:gd name="adj1" fmla="val -224971"/>
              <a:gd name="adj2" fmla="val 87278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/>
          <p:cNvCxnSpPr>
            <a:stCxn id="64" idx="4"/>
            <a:endCxn id="69" idx="0"/>
          </p:cNvCxnSpPr>
          <p:nvPr/>
        </p:nvCxnSpPr>
        <p:spPr>
          <a:xfrm>
            <a:off x="5304236" y="4623363"/>
            <a:ext cx="1474" cy="19238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矩形 154"/>
          <p:cNvSpPr/>
          <p:nvPr/>
        </p:nvSpPr>
        <p:spPr>
          <a:xfrm>
            <a:off x="5353022" y="4155614"/>
            <a:ext cx="731282" cy="234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s2=s3</a:t>
            </a:r>
            <a:endParaRPr lang="zh-CN" altLang="en-US" sz="16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3774247" y="4254321"/>
            <a:ext cx="1235338" cy="234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s2!=s3</a:t>
            </a:r>
            <a:endParaRPr lang="zh-CN" altLang="en-US" sz="16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57" name="椭圆 156"/>
          <p:cNvSpPr/>
          <p:nvPr/>
        </p:nvSpPr>
        <p:spPr>
          <a:xfrm>
            <a:off x="4957306" y="5256179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59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58" name="椭圆 157"/>
          <p:cNvSpPr/>
          <p:nvPr/>
        </p:nvSpPr>
        <p:spPr>
          <a:xfrm>
            <a:off x="2994390" y="5679845"/>
            <a:ext cx="1061496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60-61</a:t>
            </a:r>
            <a:endParaRPr lang="zh-CN" altLang="en-US" sz="1600" dirty="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59" name="椭圆 158"/>
          <p:cNvSpPr/>
          <p:nvPr/>
        </p:nvSpPr>
        <p:spPr>
          <a:xfrm>
            <a:off x="5667791" y="5679844"/>
            <a:ext cx="115078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62-63</a:t>
            </a:r>
            <a:endParaRPr lang="zh-CN" altLang="en-US" sz="160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60" name="椭圆 159"/>
          <p:cNvSpPr/>
          <p:nvPr/>
        </p:nvSpPr>
        <p:spPr>
          <a:xfrm>
            <a:off x="5061486" y="6076744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64</a:t>
            </a:r>
            <a:endParaRPr lang="zh-CN" altLang="en-US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62" name="直接箭头连接符 161"/>
          <p:cNvCxnSpPr>
            <a:stCxn id="69" idx="4"/>
            <a:endCxn id="157" idx="0"/>
          </p:cNvCxnSpPr>
          <p:nvPr/>
        </p:nvCxnSpPr>
        <p:spPr>
          <a:xfrm flipH="1">
            <a:off x="5304236" y="5103778"/>
            <a:ext cx="1475" cy="15240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箭头连接符 163"/>
          <p:cNvCxnSpPr>
            <a:stCxn id="157" idx="4"/>
            <a:endCxn id="158" idx="0"/>
          </p:cNvCxnSpPr>
          <p:nvPr/>
        </p:nvCxnSpPr>
        <p:spPr>
          <a:xfrm flipH="1">
            <a:off x="3525139" y="5544210"/>
            <a:ext cx="1779097" cy="13563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/>
          <p:cNvCxnSpPr>
            <a:stCxn id="157" idx="4"/>
            <a:endCxn id="159" idx="0"/>
          </p:cNvCxnSpPr>
          <p:nvPr/>
        </p:nvCxnSpPr>
        <p:spPr>
          <a:xfrm>
            <a:off x="5304235" y="5544209"/>
            <a:ext cx="938950" cy="13563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箭头连接符 170"/>
          <p:cNvCxnSpPr>
            <a:stCxn id="158" idx="4"/>
            <a:endCxn id="160" idx="0"/>
          </p:cNvCxnSpPr>
          <p:nvPr/>
        </p:nvCxnSpPr>
        <p:spPr>
          <a:xfrm>
            <a:off x="3525139" y="5967875"/>
            <a:ext cx="1883277" cy="10886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箭头连接符 172"/>
          <p:cNvCxnSpPr>
            <a:stCxn id="159" idx="4"/>
            <a:endCxn id="160" idx="0"/>
          </p:cNvCxnSpPr>
          <p:nvPr/>
        </p:nvCxnSpPr>
        <p:spPr>
          <a:xfrm flipH="1">
            <a:off x="5408415" y="5967875"/>
            <a:ext cx="834770" cy="10886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stCxn id="160" idx="2"/>
            <a:endCxn id="12" idx="6"/>
          </p:cNvCxnSpPr>
          <p:nvPr/>
        </p:nvCxnSpPr>
        <p:spPr>
          <a:xfrm flipH="1" flipV="1">
            <a:off x="2758849" y="6203683"/>
            <a:ext cx="2302636" cy="1707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矩形 188"/>
          <p:cNvSpPr/>
          <p:nvPr/>
        </p:nvSpPr>
        <p:spPr>
          <a:xfrm>
            <a:off x="3962411" y="5062965"/>
            <a:ext cx="1099074" cy="234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triOut==0</a:t>
            </a:r>
            <a:endParaRPr lang="zh-CN" altLang="en-US" sz="16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0" name="椭圆 209"/>
          <p:cNvSpPr/>
          <p:nvPr/>
        </p:nvSpPr>
        <p:spPr>
          <a:xfrm>
            <a:off x="8472265" y="1692401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70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12" name="肘形连接符 211"/>
          <p:cNvCxnSpPr>
            <a:stCxn id="69" idx="6"/>
            <a:endCxn id="210" idx="2"/>
          </p:cNvCxnSpPr>
          <p:nvPr/>
        </p:nvCxnSpPr>
        <p:spPr>
          <a:xfrm flipV="1">
            <a:off x="5652640" y="1836417"/>
            <a:ext cx="2819625" cy="3123347"/>
          </a:xfrm>
          <a:prstGeom prst="bentConnector3">
            <a:avLst>
              <a:gd name="adj1" fmla="val 3223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矩形 212"/>
          <p:cNvSpPr/>
          <p:nvPr/>
        </p:nvSpPr>
        <p:spPr>
          <a:xfrm>
            <a:off x="5597129" y="4749954"/>
            <a:ext cx="1099074" cy="234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triOut!=0</a:t>
            </a:r>
            <a:endParaRPr lang="zh-CN" altLang="en-US" sz="16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4" name="椭圆 213"/>
          <p:cNvSpPr/>
          <p:nvPr/>
        </p:nvSpPr>
        <p:spPr>
          <a:xfrm>
            <a:off x="9503630" y="2166825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71</a:t>
            </a:r>
            <a:endParaRPr lang="zh-CN" altLang="en-US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16" name="直接箭头连接符 215"/>
          <p:cNvCxnSpPr>
            <a:stCxn id="210" idx="4"/>
            <a:endCxn id="214" idx="0"/>
          </p:cNvCxnSpPr>
          <p:nvPr/>
        </p:nvCxnSpPr>
        <p:spPr>
          <a:xfrm>
            <a:off x="8819195" y="1980432"/>
            <a:ext cx="1031365" cy="18639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矩形 217"/>
          <p:cNvSpPr/>
          <p:nvPr/>
        </p:nvSpPr>
        <p:spPr>
          <a:xfrm>
            <a:off x="9166123" y="1791411"/>
            <a:ext cx="1099074" cy="234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triOut&gt;3</a:t>
            </a:r>
            <a:endParaRPr lang="zh-CN" altLang="en-US" sz="1600">
              <a:solidFill>
                <a:srgbClr val="00B05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0" name="椭圆 219"/>
          <p:cNvSpPr/>
          <p:nvPr/>
        </p:nvSpPr>
        <p:spPr>
          <a:xfrm>
            <a:off x="7680177" y="2184395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72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22" name="直接箭头连接符 221"/>
          <p:cNvCxnSpPr>
            <a:stCxn id="210" idx="4"/>
            <a:endCxn id="220" idx="0"/>
          </p:cNvCxnSpPr>
          <p:nvPr/>
        </p:nvCxnSpPr>
        <p:spPr>
          <a:xfrm flipH="1">
            <a:off x="8027106" y="1980432"/>
            <a:ext cx="792088" cy="20396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矩形 223"/>
          <p:cNvSpPr/>
          <p:nvPr/>
        </p:nvSpPr>
        <p:spPr>
          <a:xfrm>
            <a:off x="5879977" y="2450349"/>
            <a:ext cx="2362401" cy="2402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triOut==1&amp;&amp;s1+s2&gt;s3</a:t>
            </a:r>
            <a:endParaRPr lang="zh-CN" altLang="en-US" sz="1600">
              <a:solidFill>
                <a:srgbClr val="00B05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6" name="椭圆 225"/>
          <p:cNvSpPr/>
          <p:nvPr/>
        </p:nvSpPr>
        <p:spPr>
          <a:xfrm>
            <a:off x="7053077" y="2722032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73</a:t>
            </a:r>
            <a:endParaRPr lang="zh-CN" altLang="en-US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28" name="直接箭头连接符 227"/>
          <p:cNvCxnSpPr>
            <a:stCxn id="220" idx="4"/>
            <a:endCxn id="226" idx="0"/>
          </p:cNvCxnSpPr>
          <p:nvPr/>
        </p:nvCxnSpPr>
        <p:spPr>
          <a:xfrm flipH="1">
            <a:off x="7400006" y="2472425"/>
            <a:ext cx="627100" cy="24960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矩形 232"/>
          <p:cNvSpPr/>
          <p:nvPr/>
        </p:nvSpPr>
        <p:spPr>
          <a:xfrm>
            <a:off x="7324076" y="1866267"/>
            <a:ext cx="1099074" cy="234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triOut&lt;=3</a:t>
            </a:r>
            <a:endParaRPr lang="zh-CN" altLang="en-US" sz="1600">
              <a:solidFill>
                <a:srgbClr val="00B05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35" name="椭圆 234"/>
          <p:cNvSpPr/>
          <p:nvPr/>
        </p:nvSpPr>
        <p:spPr>
          <a:xfrm>
            <a:off x="7680177" y="3211918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74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39" name="肘形连接符 238"/>
          <p:cNvCxnSpPr>
            <a:stCxn id="220" idx="6"/>
            <a:endCxn id="235" idx="6"/>
          </p:cNvCxnSpPr>
          <p:nvPr/>
        </p:nvCxnSpPr>
        <p:spPr>
          <a:xfrm>
            <a:off x="8374035" y="2328411"/>
            <a:ext cx="12700" cy="1027523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矩形 239"/>
          <p:cNvSpPr/>
          <p:nvPr/>
        </p:nvSpPr>
        <p:spPr>
          <a:xfrm>
            <a:off x="8112225" y="2601893"/>
            <a:ext cx="2362401" cy="2402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triOut!=1||s1+s2&lt;=s3</a:t>
            </a:r>
            <a:endParaRPr lang="zh-CN" altLang="en-US" sz="1600">
              <a:solidFill>
                <a:srgbClr val="00B05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5" name="椭圆 244"/>
          <p:cNvSpPr/>
          <p:nvPr/>
        </p:nvSpPr>
        <p:spPr>
          <a:xfrm>
            <a:off x="7062452" y="5669816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80</a:t>
            </a:r>
            <a:endParaRPr lang="zh-CN" altLang="en-US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47" name="肘形连接符 246"/>
          <p:cNvCxnSpPr>
            <a:stCxn id="214" idx="6"/>
            <a:endCxn id="245" idx="6"/>
          </p:cNvCxnSpPr>
          <p:nvPr/>
        </p:nvCxnSpPr>
        <p:spPr>
          <a:xfrm flipH="1">
            <a:off x="7756310" y="2310841"/>
            <a:ext cx="2441178" cy="3502991"/>
          </a:xfrm>
          <a:prstGeom prst="bentConnector3">
            <a:avLst>
              <a:gd name="adj1" fmla="val -9364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肘形连接符 248"/>
          <p:cNvCxnSpPr>
            <a:stCxn id="245" idx="4"/>
            <a:endCxn id="12" idx="4"/>
          </p:cNvCxnSpPr>
          <p:nvPr/>
        </p:nvCxnSpPr>
        <p:spPr>
          <a:xfrm rot="5400000">
            <a:off x="4775569" y="3749889"/>
            <a:ext cx="425857" cy="4841770"/>
          </a:xfrm>
          <a:prstGeom prst="bentConnector3">
            <a:avLst>
              <a:gd name="adj1" fmla="val 15368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椭圆 259"/>
          <p:cNvSpPr/>
          <p:nvPr/>
        </p:nvSpPr>
        <p:spPr>
          <a:xfrm>
            <a:off x="7019698" y="3774305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75</a:t>
            </a:r>
            <a:endParaRPr lang="zh-CN" altLang="en-US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61" name="椭圆 260"/>
          <p:cNvSpPr/>
          <p:nvPr/>
        </p:nvSpPr>
        <p:spPr>
          <a:xfrm>
            <a:off x="7680175" y="4194302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76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62" name="椭圆 261"/>
          <p:cNvSpPr/>
          <p:nvPr/>
        </p:nvSpPr>
        <p:spPr>
          <a:xfrm>
            <a:off x="7873614" y="5010821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77</a:t>
            </a:r>
            <a:endParaRPr lang="zh-CN" altLang="en-US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63" name="椭圆 262"/>
          <p:cNvSpPr/>
          <p:nvPr/>
        </p:nvSpPr>
        <p:spPr>
          <a:xfrm>
            <a:off x="8945593" y="4989577"/>
            <a:ext cx="1116072" cy="30188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78-79</a:t>
            </a:r>
            <a:endParaRPr lang="zh-CN" altLang="en-US" sz="160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66" name="直接箭头连接符 265"/>
          <p:cNvCxnSpPr>
            <a:stCxn id="235" idx="4"/>
            <a:endCxn id="260" idx="0"/>
          </p:cNvCxnSpPr>
          <p:nvPr/>
        </p:nvCxnSpPr>
        <p:spPr>
          <a:xfrm flipH="1">
            <a:off x="7366628" y="3499948"/>
            <a:ext cx="660479" cy="27435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矩形 266"/>
          <p:cNvSpPr/>
          <p:nvPr/>
        </p:nvSpPr>
        <p:spPr>
          <a:xfrm>
            <a:off x="6469904" y="3495349"/>
            <a:ext cx="2362401" cy="2402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triOut==2&amp;&amp;s1+s3&gt;s2</a:t>
            </a:r>
            <a:endParaRPr lang="zh-CN" altLang="en-US" sz="1600">
              <a:solidFill>
                <a:srgbClr val="00B05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70" name="矩形 269"/>
          <p:cNvSpPr/>
          <p:nvPr/>
        </p:nvSpPr>
        <p:spPr>
          <a:xfrm>
            <a:off x="6498974" y="4695608"/>
            <a:ext cx="2362401" cy="2402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triOut==3&amp;&amp;s2+s3&gt;s1</a:t>
            </a:r>
            <a:endParaRPr lang="zh-CN" altLang="en-US" sz="1600">
              <a:solidFill>
                <a:srgbClr val="00B05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72" name="直接箭头连接符 271"/>
          <p:cNvCxnSpPr>
            <a:stCxn id="261" idx="4"/>
            <a:endCxn id="262" idx="0"/>
          </p:cNvCxnSpPr>
          <p:nvPr/>
        </p:nvCxnSpPr>
        <p:spPr>
          <a:xfrm>
            <a:off x="8027105" y="4482332"/>
            <a:ext cx="193439" cy="5284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接箭头连接符 274"/>
          <p:cNvCxnSpPr>
            <a:stCxn id="261" idx="4"/>
            <a:endCxn id="263" idx="0"/>
          </p:cNvCxnSpPr>
          <p:nvPr/>
        </p:nvCxnSpPr>
        <p:spPr>
          <a:xfrm>
            <a:off x="8027105" y="4482332"/>
            <a:ext cx="1476525" cy="50724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直接箭头连接符 277"/>
          <p:cNvCxnSpPr>
            <a:stCxn id="262" idx="4"/>
            <a:endCxn id="245" idx="0"/>
          </p:cNvCxnSpPr>
          <p:nvPr/>
        </p:nvCxnSpPr>
        <p:spPr>
          <a:xfrm flipH="1">
            <a:off x="7409381" y="5298851"/>
            <a:ext cx="811162" cy="37096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接箭头连接符 279"/>
          <p:cNvCxnSpPr>
            <a:stCxn id="263" idx="4"/>
            <a:endCxn id="245" idx="0"/>
          </p:cNvCxnSpPr>
          <p:nvPr/>
        </p:nvCxnSpPr>
        <p:spPr>
          <a:xfrm flipH="1">
            <a:off x="7409381" y="5291463"/>
            <a:ext cx="2094248" cy="37835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肘形连接符 307"/>
          <p:cNvCxnSpPr>
            <a:stCxn id="235" idx="5"/>
            <a:endCxn id="261" idx="6"/>
          </p:cNvCxnSpPr>
          <p:nvPr/>
        </p:nvCxnSpPr>
        <p:spPr>
          <a:xfrm rot="16200000" flipH="1">
            <a:off x="7882952" y="3847237"/>
            <a:ext cx="880550" cy="101611"/>
          </a:xfrm>
          <a:prstGeom prst="bentConnector4">
            <a:avLst>
              <a:gd name="adj1" fmla="val 5286"/>
              <a:gd name="adj2" fmla="val 349632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矩形 316"/>
          <p:cNvSpPr/>
          <p:nvPr/>
        </p:nvSpPr>
        <p:spPr>
          <a:xfrm>
            <a:off x="8184233" y="3724457"/>
            <a:ext cx="2362401" cy="2402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triOut!=2||s1+s3&lt;=s2</a:t>
            </a:r>
            <a:endParaRPr lang="zh-CN" altLang="en-US" sz="1600">
              <a:solidFill>
                <a:srgbClr val="00B05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18" name="矩形 317"/>
          <p:cNvSpPr/>
          <p:nvPr/>
        </p:nvSpPr>
        <p:spPr>
          <a:xfrm>
            <a:off x="8220543" y="4503461"/>
            <a:ext cx="2362401" cy="2402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triOut!=3||s2+s3&lt;=s1</a:t>
            </a:r>
            <a:endParaRPr lang="zh-CN" altLang="en-US" sz="1600">
              <a:solidFill>
                <a:srgbClr val="00B05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19" name="矩形 318"/>
          <p:cNvSpPr/>
          <p:nvPr/>
        </p:nvSpPr>
        <p:spPr>
          <a:xfrm>
            <a:off x="4079983" y="5272450"/>
            <a:ext cx="1079913" cy="6171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s1+s2&lt;=s3|| s1+s3&lt;=s2|| S2+s3&lt;=s1</a:t>
            </a:r>
            <a:endParaRPr lang="zh-CN" altLang="en-US" sz="12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30" name="矩形 329"/>
          <p:cNvSpPr/>
          <p:nvPr/>
        </p:nvSpPr>
        <p:spPr>
          <a:xfrm>
            <a:off x="5644690" y="5062719"/>
            <a:ext cx="1051513" cy="6171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s1+s2&gt;s3&amp;&amp; s1+s3&gt;s2&amp;&amp; S2+s3&gt;s1</a:t>
            </a:r>
            <a:endParaRPr lang="zh-CN" altLang="en-US" sz="12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348" name="肘形连接符 347"/>
          <p:cNvCxnSpPr>
            <a:stCxn id="226" idx="2"/>
            <a:endCxn id="245" idx="2"/>
          </p:cNvCxnSpPr>
          <p:nvPr/>
        </p:nvCxnSpPr>
        <p:spPr>
          <a:xfrm rot="10800000" flipH="1" flipV="1">
            <a:off x="7053076" y="2866047"/>
            <a:ext cx="9375" cy="2947784"/>
          </a:xfrm>
          <a:prstGeom prst="bentConnector3">
            <a:avLst>
              <a:gd name="adj1" fmla="val -1503125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肘形连接符 350"/>
          <p:cNvCxnSpPr>
            <a:stCxn id="260" idx="2"/>
            <a:endCxn id="245" idx="2"/>
          </p:cNvCxnSpPr>
          <p:nvPr/>
        </p:nvCxnSpPr>
        <p:spPr>
          <a:xfrm rot="10800000" flipH="1" flipV="1">
            <a:off x="7019697" y="3918320"/>
            <a:ext cx="42754" cy="1895511"/>
          </a:xfrm>
          <a:prstGeom prst="bentConnector3">
            <a:avLst>
              <a:gd name="adj1" fmla="val -271004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3269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116262"/>
            <a:ext cx="8229600" cy="663391"/>
          </a:xfrm>
        </p:spPr>
        <p:txBody>
          <a:bodyPr>
            <a:normAutofit/>
          </a:bodyPr>
          <a:lstStyle/>
          <a:p>
            <a:r>
              <a:rPr lang="en-US" altLang="zh-CN" dirty="0"/>
              <a:t>Reachability</a:t>
            </a:r>
            <a:endParaRPr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4040201" y="1072792"/>
            <a:ext cx="1202040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30- </a:t>
            </a: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42</a:t>
            </a:r>
            <a:endParaRPr lang="zh-CN" altLang="en-US" sz="1800" dirty="0">
              <a:solidFill>
                <a:schemeClr val="tx2">
                  <a:lumMod val="60000"/>
                  <a:lumOff val="4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383247" y="1594850"/>
            <a:ext cx="1068123" cy="2700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44-45</a:t>
            </a:r>
            <a:endParaRPr lang="zh-CN" altLang="en-US" sz="1600" dirty="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726069" y="5809100"/>
            <a:ext cx="382477" cy="360040"/>
          </a:xfrm>
          <a:prstGeom prst="ellipse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4" name="直接箭头连接符 13"/>
          <p:cNvCxnSpPr>
            <a:stCxn id="11" idx="4"/>
            <a:endCxn id="12" idx="0"/>
          </p:cNvCxnSpPr>
          <p:nvPr/>
        </p:nvCxnSpPr>
        <p:spPr>
          <a:xfrm flipH="1">
            <a:off x="2917308" y="1864880"/>
            <a:ext cx="1" cy="394422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4" idx="4"/>
            <a:endCxn id="11" idx="0"/>
          </p:cNvCxnSpPr>
          <p:nvPr/>
        </p:nvCxnSpPr>
        <p:spPr>
          <a:xfrm flipH="1">
            <a:off x="2917309" y="1360824"/>
            <a:ext cx="1723913" cy="23402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981200" y="1183548"/>
            <a:ext cx="2393714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(s1&lt;=0||s2&lt;=0||s3&lt;=0)</a:t>
            </a:r>
            <a:endParaRPr lang="zh-CN" altLang="en-US" sz="16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5162181" y="1612852"/>
            <a:ext cx="1081074" cy="2520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48- </a:t>
            </a:r>
            <a:r>
              <a:rPr lang="en-US" altLang="zh-CN" sz="1600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49</a:t>
            </a:r>
            <a:endParaRPr lang="zh-CN" altLang="en-US" sz="1600">
              <a:solidFill>
                <a:schemeClr val="tx2">
                  <a:lumMod val="60000"/>
                  <a:lumOff val="4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4" name="直接箭头连接符 23"/>
          <p:cNvCxnSpPr>
            <a:stCxn id="4" idx="4"/>
          </p:cNvCxnSpPr>
          <p:nvPr/>
        </p:nvCxnSpPr>
        <p:spPr>
          <a:xfrm>
            <a:off x="4641222" y="1360824"/>
            <a:ext cx="1061497" cy="23402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5060094" y="1126798"/>
            <a:ext cx="2393714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!</a:t>
            </a:r>
            <a:r>
              <a:rPr lang="en-US" altLang="zh-CN" sz="1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(s1&lt;=0||s2&lt;=0||s3&lt;=0)</a:t>
            </a:r>
            <a:endParaRPr lang="zh-CN" altLang="en-US" sz="16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5349767" y="2069274"/>
            <a:ext cx="693859" cy="3240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50</a:t>
            </a:r>
            <a:endParaRPr lang="zh-CN" altLang="en-US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5316052" y="2585479"/>
            <a:ext cx="693859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51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35" name="直接箭头连接符 34"/>
          <p:cNvCxnSpPr>
            <a:stCxn id="22" idx="4"/>
            <a:endCxn id="32" idx="0"/>
          </p:cNvCxnSpPr>
          <p:nvPr/>
        </p:nvCxnSpPr>
        <p:spPr>
          <a:xfrm flipH="1">
            <a:off x="5696696" y="1864880"/>
            <a:ext cx="6022" cy="20439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5581601" y="1848660"/>
            <a:ext cx="830509" cy="234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s1=s2</a:t>
            </a:r>
            <a:endParaRPr lang="zh-CN" altLang="en-US" sz="16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40" name="直接箭头连接符 39"/>
          <p:cNvCxnSpPr>
            <a:stCxn id="32" idx="4"/>
            <a:endCxn id="33" idx="0"/>
          </p:cNvCxnSpPr>
          <p:nvPr/>
        </p:nvCxnSpPr>
        <p:spPr>
          <a:xfrm flipH="1">
            <a:off x="5662982" y="2393311"/>
            <a:ext cx="33715" cy="19216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肘形连接符 41"/>
          <p:cNvCxnSpPr>
            <a:stCxn id="22" idx="2"/>
            <a:endCxn id="33" idx="1"/>
          </p:cNvCxnSpPr>
          <p:nvPr/>
        </p:nvCxnSpPr>
        <p:spPr>
          <a:xfrm rot="10800000" flipH="1" flipV="1">
            <a:off x="5162181" y="1738866"/>
            <a:ext cx="255483" cy="899340"/>
          </a:xfrm>
          <a:prstGeom prst="bentConnector4">
            <a:avLst>
              <a:gd name="adj1" fmla="val -35546"/>
              <a:gd name="adj2" fmla="val 80537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4094747" y="1864880"/>
            <a:ext cx="1055533" cy="468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s1!=s2</a:t>
            </a:r>
            <a:endParaRPr lang="zh-CN" altLang="en-US" sz="16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5323628" y="3141371"/>
            <a:ext cx="693859" cy="2755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52</a:t>
            </a:r>
            <a:endParaRPr lang="zh-CN" altLang="en-US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5308477" y="3628895"/>
            <a:ext cx="693859" cy="3121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53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49" name="直接箭头连接符 48"/>
          <p:cNvCxnSpPr>
            <a:stCxn id="33" idx="4"/>
            <a:endCxn id="46" idx="0"/>
          </p:cNvCxnSpPr>
          <p:nvPr/>
        </p:nvCxnSpPr>
        <p:spPr>
          <a:xfrm>
            <a:off x="5662981" y="2945520"/>
            <a:ext cx="7576" cy="19585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46" idx="4"/>
            <a:endCxn id="47" idx="0"/>
          </p:cNvCxnSpPr>
          <p:nvPr/>
        </p:nvCxnSpPr>
        <p:spPr>
          <a:xfrm flipH="1">
            <a:off x="5655407" y="3416921"/>
            <a:ext cx="15151" cy="21197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连接符 54"/>
          <p:cNvCxnSpPr>
            <a:stCxn id="33" idx="2"/>
            <a:endCxn id="47" idx="1"/>
          </p:cNvCxnSpPr>
          <p:nvPr/>
        </p:nvCxnSpPr>
        <p:spPr>
          <a:xfrm rot="10800000" flipH="1" flipV="1">
            <a:off x="5316051" y="2765499"/>
            <a:ext cx="94038" cy="909110"/>
          </a:xfrm>
          <a:prstGeom prst="bentConnector4">
            <a:avLst>
              <a:gd name="adj1" fmla="val -243093"/>
              <a:gd name="adj2" fmla="val 75299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5767958" y="2933389"/>
            <a:ext cx="731282" cy="234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s1=s3</a:t>
            </a:r>
            <a:endParaRPr lang="zh-CN" altLang="en-US" sz="16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4299038" y="3006869"/>
            <a:ext cx="863142" cy="4100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s1!=s3</a:t>
            </a:r>
            <a:endParaRPr lang="zh-CN" altLang="en-US" sz="16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4" name="椭圆 63"/>
          <p:cNvSpPr/>
          <p:nvPr/>
        </p:nvSpPr>
        <p:spPr>
          <a:xfrm>
            <a:off x="5307003" y="4156771"/>
            <a:ext cx="693859" cy="2520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54</a:t>
            </a:r>
            <a:endParaRPr lang="zh-CN" altLang="en-US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66" name="直接箭头连接符 65"/>
          <p:cNvCxnSpPr>
            <a:stCxn id="47" idx="4"/>
            <a:endCxn id="64" idx="0"/>
          </p:cNvCxnSpPr>
          <p:nvPr/>
        </p:nvCxnSpPr>
        <p:spPr>
          <a:xfrm flipH="1">
            <a:off x="5653932" y="3941051"/>
            <a:ext cx="1474" cy="21572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椭圆 68"/>
          <p:cNvSpPr/>
          <p:nvPr/>
        </p:nvSpPr>
        <p:spPr>
          <a:xfrm>
            <a:off x="5308477" y="4601185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55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51" name="肘形连接符 150"/>
          <p:cNvCxnSpPr>
            <a:stCxn id="47" idx="2"/>
            <a:endCxn id="69" idx="1"/>
          </p:cNvCxnSpPr>
          <p:nvPr/>
        </p:nvCxnSpPr>
        <p:spPr>
          <a:xfrm rot="10800000" flipH="1" flipV="1">
            <a:off x="5308476" y="3784973"/>
            <a:ext cx="101613" cy="858392"/>
          </a:xfrm>
          <a:prstGeom prst="bentConnector4">
            <a:avLst>
              <a:gd name="adj1" fmla="val -224971"/>
              <a:gd name="adj2" fmla="val 87278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/>
          <p:cNvCxnSpPr>
            <a:stCxn id="64" idx="4"/>
            <a:endCxn id="69" idx="0"/>
          </p:cNvCxnSpPr>
          <p:nvPr/>
        </p:nvCxnSpPr>
        <p:spPr>
          <a:xfrm>
            <a:off x="5653932" y="4408800"/>
            <a:ext cx="1474" cy="19238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矩形 154"/>
          <p:cNvSpPr/>
          <p:nvPr/>
        </p:nvSpPr>
        <p:spPr>
          <a:xfrm>
            <a:off x="5702718" y="3941051"/>
            <a:ext cx="731282" cy="234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s2=s3</a:t>
            </a:r>
            <a:endParaRPr lang="zh-CN" altLang="en-US" sz="16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4123943" y="4039758"/>
            <a:ext cx="1235338" cy="234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s2!=s3</a:t>
            </a:r>
            <a:endParaRPr lang="zh-CN" altLang="en-US" sz="16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57" name="椭圆 156"/>
          <p:cNvSpPr/>
          <p:nvPr/>
        </p:nvSpPr>
        <p:spPr>
          <a:xfrm>
            <a:off x="5307002" y="5041616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59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58" name="椭圆 157"/>
          <p:cNvSpPr/>
          <p:nvPr/>
        </p:nvSpPr>
        <p:spPr>
          <a:xfrm>
            <a:off x="3344086" y="5465282"/>
            <a:ext cx="1061496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60-61</a:t>
            </a:r>
            <a:endParaRPr lang="zh-CN" altLang="en-US" sz="1600" dirty="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59" name="椭圆 158"/>
          <p:cNvSpPr/>
          <p:nvPr/>
        </p:nvSpPr>
        <p:spPr>
          <a:xfrm>
            <a:off x="6017487" y="5465281"/>
            <a:ext cx="115078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62-63</a:t>
            </a:r>
            <a:endParaRPr lang="zh-CN" altLang="en-US" sz="1600" dirty="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60" name="椭圆 159"/>
          <p:cNvSpPr/>
          <p:nvPr/>
        </p:nvSpPr>
        <p:spPr>
          <a:xfrm>
            <a:off x="5411182" y="5862181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64</a:t>
            </a:r>
            <a:endParaRPr lang="zh-CN" altLang="en-US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62" name="直接箭头连接符 161"/>
          <p:cNvCxnSpPr>
            <a:stCxn id="69" idx="4"/>
            <a:endCxn id="157" idx="0"/>
          </p:cNvCxnSpPr>
          <p:nvPr/>
        </p:nvCxnSpPr>
        <p:spPr>
          <a:xfrm flipH="1">
            <a:off x="5653932" y="4889215"/>
            <a:ext cx="1475" cy="15240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箭头连接符 163"/>
          <p:cNvCxnSpPr>
            <a:stCxn id="157" idx="4"/>
            <a:endCxn id="158" idx="0"/>
          </p:cNvCxnSpPr>
          <p:nvPr/>
        </p:nvCxnSpPr>
        <p:spPr>
          <a:xfrm flipH="1">
            <a:off x="3874835" y="5329647"/>
            <a:ext cx="1779097" cy="13563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/>
          <p:cNvCxnSpPr>
            <a:stCxn id="157" idx="4"/>
            <a:endCxn id="159" idx="0"/>
          </p:cNvCxnSpPr>
          <p:nvPr/>
        </p:nvCxnSpPr>
        <p:spPr>
          <a:xfrm>
            <a:off x="5653931" y="5329646"/>
            <a:ext cx="938950" cy="13563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箭头连接符 170"/>
          <p:cNvCxnSpPr>
            <a:stCxn id="158" idx="4"/>
            <a:endCxn id="160" idx="0"/>
          </p:cNvCxnSpPr>
          <p:nvPr/>
        </p:nvCxnSpPr>
        <p:spPr>
          <a:xfrm>
            <a:off x="3874835" y="5753312"/>
            <a:ext cx="1883277" cy="10886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箭头连接符 172"/>
          <p:cNvCxnSpPr>
            <a:stCxn id="159" idx="4"/>
            <a:endCxn id="160" idx="0"/>
          </p:cNvCxnSpPr>
          <p:nvPr/>
        </p:nvCxnSpPr>
        <p:spPr>
          <a:xfrm flipH="1">
            <a:off x="5758111" y="5753312"/>
            <a:ext cx="834770" cy="10886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/>
          <p:cNvCxnSpPr>
            <a:stCxn id="160" idx="2"/>
            <a:endCxn id="12" idx="6"/>
          </p:cNvCxnSpPr>
          <p:nvPr/>
        </p:nvCxnSpPr>
        <p:spPr>
          <a:xfrm flipH="1" flipV="1">
            <a:off x="3108545" y="5989120"/>
            <a:ext cx="2302636" cy="1707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矩形 188"/>
          <p:cNvSpPr/>
          <p:nvPr/>
        </p:nvSpPr>
        <p:spPr>
          <a:xfrm>
            <a:off x="4312107" y="4848402"/>
            <a:ext cx="1099074" cy="234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triOut==0</a:t>
            </a:r>
            <a:endParaRPr lang="zh-CN" altLang="en-US" sz="16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3" name="矩形 212"/>
          <p:cNvSpPr/>
          <p:nvPr/>
        </p:nvSpPr>
        <p:spPr>
          <a:xfrm>
            <a:off x="5946825" y="4535391"/>
            <a:ext cx="1099074" cy="234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triOut!=0</a:t>
            </a:r>
            <a:endParaRPr lang="zh-CN" altLang="en-US" sz="16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19" name="矩形 318"/>
          <p:cNvSpPr/>
          <p:nvPr/>
        </p:nvSpPr>
        <p:spPr>
          <a:xfrm>
            <a:off x="4429679" y="5057887"/>
            <a:ext cx="1079913" cy="6171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s1+s2&lt;=s3|| s1+s3&lt;=s2|| S2+s3&lt;=s1</a:t>
            </a:r>
            <a:endParaRPr lang="zh-CN" altLang="en-US" sz="12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30" name="矩形 329"/>
          <p:cNvSpPr/>
          <p:nvPr/>
        </p:nvSpPr>
        <p:spPr>
          <a:xfrm>
            <a:off x="5994386" y="4848156"/>
            <a:ext cx="1051513" cy="6171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s1+s2&gt;s3&amp;&amp; s1+s3&gt;s2&amp;&amp; S2+s3&gt;s1</a:t>
            </a:r>
            <a:endParaRPr lang="zh-CN" altLang="en-US" sz="12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7525816" y="1037679"/>
            <a:ext cx="2736304" cy="692186"/>
          </a:xfrm>
          <a:prstGeom prst="wedgeRoundRectCallout">
            <a:avLst>
              <a:gd name="adj1" fmla="val -134386"/>
              <a:gd name="adj2" fmla="val -26172"/>
              <a:gd name="adj3" fmla="val 16667"/>
            </a:avLst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到达</a:t>
            </a:r>
            <a:r>
              <a:rPr lang="en-US" altLang="zh-CN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42</a:t>
            </a:r>
            <a:r>
              <a:rPr lang="zh-CN" altLang="en-US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的路径约束条件为</a:t>
            </a:r>
            <a:r>
              <a:rPr lang="en-US" altLang="zh-CN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true</a:t>
            </a:r>
            <a:endParaRPr lang="zh-CN" altLang="en-US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6" name="直接箭头连接符 5"/>
          <p:cNvCxnSpPr>
            <a:stCxn id="69" idx="6"/>
            <a:endCxn id="83" idx="2"/>
          </p:cNvCxnSpPr>
          <p:nvPr/>
        </p:nvCxnSpPr>
        <p:spPr>
          <a:xfrm flipV="1">
            <a:off x="6002335" y="4739644"/>
            <a:ext cx="918080" cy="555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椭圆 82"/>
          <p:cNvSpPr/>
          <p:nvPr/>
        </p:nvSpPr>
        <p:spPr>
          <a:xfrm>
            <a:off x="6920416" y="4559624"/>
            <a:ext cx="464461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..</a:t>
            </a:r>
            <a:endParaRPr lang="zh-CN" altLang="en-US" sz="1600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7" name="圆角矩形标注 86"/>
          <p:cNvSpPr/>
          <p:nvPr/>
        </p:nvSpPr>
        <p:spPr>
          <a:xfrm>
            <a:off x="7305273" y="1872171"/>
            <a:ext cx="3240360" cy="1620353"/>
          </a:xfrm>
          <a:prstGeom prst="wedgeRoundRectCallout">
            <a:avLst>
              <a:gd name="adj1" fmla="val -93808"/>
              <a:gd name="adj2" fmla="val -58555"/>
              <a:gd name="adj3" fmla="val 16667"/>
            </a:avLst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8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到达</a:t>
            </a:r>
            <a:r>
              <a:rPr lang="en-US" altLang="zh-CN" sz="18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49</a:t>
            </a:r>
            <a:r>
              <a:rPr lang="zh-CN" altLang="en-US" sz="18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的路径约束条件从初始节点到达</a:t>
            </a:r>
            <a:r>
              <a:rPr lang="en-US" altLang="zh-CN" sz="18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49</a:t>
            </a:r>
            <a:r>
              <a:rPr lang="zh-CN" altLang="en-US" sz="18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经历路径条件的合取为</a:t>
            </a:r>
            <a:r>
              <a:rPr lang="zh-CN" altLang="en-US" sz="18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（</a:t>
            </a:r>
            <a:r>
              <a:rPr lang="en-US" altLang="zh-CN" sz="18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true</a:t>
            </a:r>
            <a:r>
              <a:rPr lang="zh-CN" altLang="en-US" sz="18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）</a:t>
            </a:r>
            <a:r>
              <a:rPr lang="en-US" altLang="zh-CN" sz="18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&amp;&amp;</a:t>
            </a:r>
            <a:r>
              <a:rPr lang="zh-CN" altLang="en-US" sz="18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（</a:t>
            </a:r>
            <a:r>
              <a:rPr lang="en-US" altLang="zh-CN" sz="1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!</a:t>
            </a:r>
            <a:r>
              <a:rPr lang="en-US" altLang="zh-CN" sz="18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(s1&lt;=0||s2&lt;=0||s3&lt;=0)</a:t>
            </a:r>
            <a:r>
              <a:rPr lang="zh-CN" altLang="en-US" sz="18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）</a:t>
            </a:r>
            <a:r>
              <a:rPr lang="en-US" altLang="zh-CN" sz="18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</a:t>
            </a:r>
            <a:r>
              <a:rPr lang="zh-CN" altLang="en-US" sz="18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（</a:t>
            </a:r>
            <a:r>
              <a:rPr lang="en-US" altLang="zh-CN" sz="1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!</a:t>
            </a:r>
            <a:r>
              <a:rPr lang="en-US" altLang="zh-CN" sz="18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(s1&lt;=0||s2&lt;=0||s3&lt;=0)</a:t>
            </a:r>
            <a:r>
              <a:rPr lang="zh-CN" altLang="en-US" sz="1800" dirty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）</a:t>
            </a:r>
          </a:p>
        </p:txBody>
      </p:sp>
      <p:sp>
        <p:nvSpPr>
          <p:cNvPr id="88" name="圆角矩形标注 87"/>
          <p:cNvSpPr/>
          <p:nvPr/>
        </p:nvSpPr>
        <p:spPr>
          <a:xfrm>
            <a:off x="7385727" y="3749449"/>
            <a:ext cx="3087899" cy="1859847"/>
          </a:xfrm>
          <a:prstGeom prst="wedgeRoundRectCallout">
            <a:avLst>
              <a:gd name="adj1" fmla="val -95354"/>
              <a:gd name="adj2" fmla="val -99554"/>
              <a:gd name="adj3" fmla="val 16667"/>
            </a:avLst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8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到达</a:t>
            </a:r>
            <a:r>
              <a:rPr lang="en-US" altLang="zh-CN" sz="18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51</a:t>
            </a:r>
            <a:r>
              <a:rPr lang="zh-CN" altLang="en-US" sz="18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的路径约束条件从初始节点到达</a:t>
            </a:r>
            <a:r>
              <a:rPr lang="en-US" altLang="zh-CN" sz="18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51</a:t>
            </a:r>
            <a:r>
              <a:rPr lang="zh-CN" altLang="en-US" sz="18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经历路径条件的合取为（</a:t>
            </a:r>
            <a:r>
              <a:rPr lang="en-US" altLang="zh-CN" sz="14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!</a:t>
            </a:r>
            <a:r>
              <a:rPr lang="en-US" altLang="zh-CN" sz="18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(s1&lt;=0||s2&lt;=0||s3&lt;=0)</a:t>
            </a:r>
            <a:r>
              <a:rPr lang="zh-CN" altLang="en-US" sz="18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）</a:t>
            </a:r>
            <a:r>
              <a:rPr lang="en-US" altLang="zh-CN" sz="18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&amp;&amp;(</a:t>
            </a:r>
            <a:r>
              <a:rPr lang="en-US" altLang="zh-CN" sz="18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s1=s2||s1!=s2) =</a:t>
            </a:r>
            <a:r>
              <a:rPr lang="zh-CN" altLang="en-US" sz="18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（</a:t>
            </a:r>
            <a:r>
              <a:rPr lang="en-US" altLang="zh-CN" sz="14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!</a:t>
            </a:r>
            <a:r>
              <a:rPr lang="en-US" altLang="zh-CN" sz="18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(s1&lt;=0||s2&lt;=0||s3&lt;=0)</a:t>
            </a:r>
            <a:r>
              <a:rPr lang="zh-CN" altLang="en-US" sz="18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13103298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8252" y="74208"/>
            <a:ext cx="8229600" cy="647519"/>
          </a:xfrm>
        </p:spPr>
        <p:txBody>
          <a:bodyPr>
            <a:normAutofit/>
          </a:bodyPr>
          <a:lstStyle/>
          <a:p>
            <a:r>
              <a:rPr lang="en-US" altLang="zh-CN" dirty="0"/>
              <a:t>Reachability</a:t>
            </a:r>
            <a:endParaRPr lang="zh-CN" altLang="en-US" dirty="0"/>
          </a:p>
        </p:txBody>
      </p:sp>
      <p:sp>
        <p:nvSpPr>
          <p:cNvPr id="210" name="椭圆 209"/>
          <p:cNvSpPr/>
          <p:nvPr/>
        </p:nvSpPr>
        <p:spPr>
          <a:xfrm>
            <a:off x="5649773" y="1100724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70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12" name="肘形连接符 211"/>
          <p:cNvCxnSpPr>
            <a:stCxn id="80" idx="6"/>
            <a:endCxn id="210" idx="2"/>
          </p:cNvCxnSpPr>
          <p:nvPr/>
        </p:nvCxnSpPr>
        <p:spPr>
          <a:xfrm flipV="1">
            <a:off x="2830148" y="1244740"/>
            <a:ext cx="2819625" cy="3123347"/>
          </a:xfrm>
          <a:prstGeom prst="bentConnector3">
            <a:avLst>
              <a:gd name="adj1" fmla="val 3223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矩形 212"/>
          <p:cNvSpPr/>
          <p:nvPr/>
        </p:nvSpPr>
        <p:spPr>
          <a:xfrm>
            <a:off x="2774637" y="4158277"/>
            <a:ext cx="1099074" cy="234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triOut!=0</a:t>
            </a:r>
            <a:endParaRPr lang="zh-CN" altLang="en-US" sz="16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4" name="椭圆 213"/>
          <p:cNvSpPr/>
          <p:nvPr/>
        </p:nvSpPr>
        <p:spPr>
          <a:xfrm>
            <a:off x="6681138" y="1575148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71</a:t>
            </a:r>
            <a:endParaRPr lang="zh-CN" altLang="en-US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16" name="直接箭头连接符 215"/>
          <p:cNvCxnSpPr>
            <a:stCxn id="210" idx="4"/>
            <a:endCxn id="214" idx="0"/>
          </p:cNvCxnSpPr>
          <p:nvPr/>
        </p:nvCxnSpPr>
        <p:spPr>
          <a:xfrm>
            <a:off x="5996703" y="1388755"/>
            <a:ext cx="1031365" cy="18639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矩形 217"/>
          <p:cNvSpPr/>
          <p:nvPr/>
        </p:nvSpPr>
        <p:spPr>
          <a:xfrm>
            <a:off x="6343631" y="1199734"/>
            <a:ext cx="1099074" cy="234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triOut&gt;3</a:t>
            </a:r>
            <a:endParaRPr lang="zh-CN" altLang="en-US" sz="1600">
              <a:solidFill>
                <a:srgbClr val="00B05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0" name="椭圆 219"/>
          <p:cNvSpPr/>
          <p:nvPr/>
        </p:nvSpPr>
        <p:spPr>
          <a:xfrm>
            <a:off x="4857685" y="1592718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72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22" name="直接箭头连接符 221"/>
          <p:cNvCxnSpPr>
            <a:stCxn id="210" idx="4"/>
            <a:endCxn id="220" idx="0"/>
          </p:cNvCxnSpPr>
          <p:nvPr/>
        </p:nvCxnSpPr>
        <p:spPr>
          <a:xfrm flipH="1">
            <a:off x="5204614" y="1388755"/>
            <a:ext cx="792088" cy="20396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矩形 223"/>
          <p:cNvSpPr/>
          <p:nvPr/>
        </p:nvSpPr>
        <p:spPr>
          <a:xfrm>
            <a:off x="3057485" y="1858672"/>
            <a:ext cx="2362401" cy="2402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triOut==1&amp;&amp;s1+s2&gt;s3</a:t>
            </a:r>
            <a:endParaRPr lang="zh-CN" altLang="en-US" sz="1600">
              <a:solidFill>
                <a:srgbClr val="00B05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6" name="椭圆 225"/>
          <p:cNvSpPr/>
          <p:nvPr/>
        </p:nvSpPr>
        <p:spPr>
          <a:xfrm>
            <a:off x="4199976" y="2130355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73</a:t>
            </a:r>
            <a:endParaRPr lang="zh-CN" altLang="en-US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28" name="直接箭头连接符 227"/>
          <p:cNvCxnSpPr>
            <a:stCxn id="220" idx="4"/>
            <a:endCxn id="226" idx="0"/>
          </p:cNvCxnSpPr>
          <p:nvPr/>
        </p:nvCxnSpPr>
        <p:spPr>
          <a:xfrm flipH="1">
            <a:off x="4546906" y="1880748"/>
            <a:ext cx="657709" cy="24960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矩形 232"/>
          <p:cNvSpPr/>
          <p:nvPr/>
        </p:nvSpPr>
        <p:spPr>
          <a:xfrm>
            <a:off x="4501584" y="1274590"/>
            <a:ext cx="1099074" cy="234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triOut&lt;=3</a:t>
            </a:r>
            <a:endParaRPr lang="zh-CN" altLang="en-US" sz="1600">
              <a:solidFill>
                <a:srgbClr val="00B05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35" name="椭圆 234"/>
          <p:cNvSpPr/>
          <p:nvPr/>
        </p:nvSpPr>
        <p:spPr>
          <a:xfrm>
            <a:off x="5601117" y="2184950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74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0" name="矩形 239"/>
          <p:cNvSpPr/>
          <p:nvPr/>
        </p:nvSpPr>
        <p:spPr>
          <a:xfrm>
            <a:off x="5527322" y="1903924"/>
            <a:ext cx="2362401" cy="2402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triOut!=1||s1+s2&lt;=s3</a:t>
            </a:r>
            <a:endParaRPr lang="zh-CN" altLang="en-US" sz="1600">
              <a:solidFill>
                <a:srgbClr val="00B05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5" name="椭圆 244"/>
          <p:cNvSpPr/>
          <p:nvPr/>
        </p:nvSpPr>
        <p:spPr>
          <a:xfrm>
            <a:off x="6105790" y="4953870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80</a:t>
            </a:r>
            <a:endParaRPr lang="zh-CN" altLang="en-US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47" name="肘形连接符 246"/>
          <p:cNvCxnSpPr>
            <a:stCxn id="214" idx="6"/>
            <a:endCxn id="245" idx="6"/>
          </p:cNvCxnSpPr>
          <p:nvPr/>
        </p:nvCxnSpPr>
        <p:spPr>
          <a:xfrm flipH="1">
            <a:off x="6799648" y="1719163"/>
            <a:ext cx="575348" cy="3378722"/>
          </a:xfrm>
          <a:prstGeom prst="bentConnector3">
            <a:avLst>
              <a:gd name="adj1" fmla="val -346706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椭圆 259"/>
          <p:cNvSpPr/>
          <p:nvPr/>
        </p:nvSpPr>
        <p:spPr>
          <a:xfrm>
            <a:off x="4769597" y="2882531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75</a:t>
            </a:r>
            <a:endParaRPr lang="zh-CN" altLang="en-US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61" name="椭圆 260"/>
          <p:cNvSpPr/>
          <p:nvPr/>
        </p:nvSpPr>
        <p:spPr>
          <a:xfrm>
            <a:off x="6272442" y="2853780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76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62" name="椭圆 261"/>
          <p:cNvSpPr/>
          <p:nvPr/>
        </p:nvSpPr>
        <p:spPr>
          <a:xfrm>
            <a:off x="5317065" y="3462862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77</a:t>
            </a:r>
            <a:endParaRPr lang="zh-CN" altLang="en-US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63" name="椭圆 262"/>
          <p:cNvSpPr/>
          <p:nvPr/>
        </p:nvSpPr>
        <p:spPr>
          <a:xfrm>
            <a:off x="6634484" y="3480298"/>
            <a:ext cx="1116072" cy="30188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78-79</a:t>
            </a:r>
            <a:endParaRPr lang="zh-CN" altLang="en-US">
              <a:solidFill>
                <a:schemeClr val="tx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66" name="直接箭头连接符 265"/>
          <p:cNvCxnSpPr>
            <a:stCxn id="235" idx="4"/>
            <a:endCxn id="260" idx="0"/>
          </p:cNvCxnSpPr>
          <p:nvPr/>
        </p:nvCxnSpPr>
        <p:spPr>
          <a:xfrm flipH="1">
            <a:off x="5116526" y="2472980"/>
            <a:ext cx="831520" cy="40955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矩形 266"/>
          <p:cNvSpPr/>
          <p:nvPr/>
        </p:nvSpPr>
        <p:spPr>
          <a:xfrm>
            <a:off x="3935327" y="2615640"/>
            <a:ext cx="2362401" cy="2402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triOut==2&amp;&amp;s1+s3&gt;s2</a:t>
            </a:r>
            <a:endParaRPr lang="zh-CN" altLang="en-US" sz="1600">
              <a:solidFill>
                <a:srgbClr val="00B05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70" name="矩形 269"/>
          <p:cNvSpPr/>
          <p:nvPr/>
        </p:nvSpPr>
        <p:spPr>
          <a:xfrm>
            <a:off x="4419458" y="3245047"/>
            <a:ext cx="2362401" cy="2402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triOut==3&amp;&amp;s2+s3&gt;s1</a:t>
            </a:r>
            <a:endParaRPr lang="zh-CN" altLang="en-US" sz="1600">
              <a:solidFill>
                <a:srgbClr val="00B05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72" name="直接箭头连接符 271"/>
          <p:cNvCxnSpPr>
            <a:stCxn id="261" idx="4"/>
            <a:endCxn id="262" idx="0"/>
          </p:cNvCxnSpPr>
          <p:nvPr/>
        </p:nvCxnSpPr>
        <p:spPr>
          <a:xfrm flipH="1">
            <a:off x="5663995" y="3141811"/>
            <a:ext cx="955377" cy="32105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接箭头连接符 274"/>
          <p:cNvCxnSpPr>
            <a:stCxn id="261" idx="4"/>
            <a:endCxn id="263" idx="0"/>
          </p:cNvCxnSpPr>
          <p:nvPr/>
        </p:nvCxnSpPr>
        <p:spPr>
          <a:xfrm>
            <a:off x="6619372" y="3141811"/>
            <a:ext cx="573149" cy="33848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直接箭头连接符 277"/>
          <p:cNvCxnSpPr>
            <a:stCxn id="262" idx="4"/>
            <a:endCxn id="245" idx="0"/>
          </p:cNvCxnSpPr>
          <p:nvPr/>
        </p:nvCxnSpPr>
        <p:spPr>
          <a:xfrm>
            <a:off x="5663995" y="3750893"/>
            <a:ext cx="788725" cy="120297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接箭头连接符 279"/>
          <p:cNvCxnSpPr>
            <a:stCxn id="263" idx="4"/>
            <a:endCxn id="245" idx="0"/>
          </p:cNvCxnSpPr>
          <p:nvPr/>
        </p:nvCxnSpPr>
        <p:spPr>
          <a:xfrm flipH="1">
            <a:off x="6452720" y="3782185"/>
            <a:ext cx="739801" cy="117168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矩形 316"/>
          <p:cNvSpPr/>
          <p:nvPr/>
        </p:nvSpPr>
        <p:spPr>
          <a:xfrm>
            <a:off x="5952713" y="2604161"/>
            <a:ext cx="2362401" cy="2402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triOut!=2||s1+s3&lt;=s2</a:t>
            </a:r>
            <a:endParaRPr lang="zh-CN" altLang="en-US" sz="1600">
              <a:solidFill>
                <a:srgbClr val="00B05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18" name="矩形 317"/>
          <p:cNvSpPr/>
          <p:nvPr/>
        </p:nvSpPr>
        <p:spPr>
          <a:xfrm>
            <a:off x="6681138" y="3182196"/>
            <a:ext cx="2362401" cy="2402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00B05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triOut!=3||s2+s3&lt;=s1</a:t>
            </a:r>
            <a:endParaRPr lang="zh-CN" altLang="en-US" sz="1600">
              <a:solidFill>
                <a:srgbClr val="00B05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0" name="椭圆 79"/>
          <p:cNvSpPr/>
          <p:nvPr/>
        </p:nvSpPr>
        <p:spPr>
          <a:xfrm>
            <a:off x="2136289" y="4224071"/>
            <a:ext cx="693859" cy="28803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2">
                    <a:lumMod val="60000"/>
                    <a:lumOff val="4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55</a:t>
            </a:r>
            <a:endParaRPr lang="zh-CN" altLang="en-US">
              <a:solidFill>
                <a:schemeClr val="tx2">
                  <a:lumMod val="60000"/>
                  <a:lumOff val="4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0" name="直接箭头连接符 9"/>
          <p:cNvCxnSpPr>
            <a:endCxn id="80" idx="0"/>
          </p:cNvCxnSpPr>
          <p:nvPr/>
        </p:nvCxnSpPr>
        <p:spPr>
          <a:xfrm>
            <a:off x="2483218" y="3407860"/>
            <a:ext cx="0" cy="81621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596737" y="3682230"/>
            <a:ext cx="28905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!</a:t>
            </a:r>
            <a:r>
              <a:rPr lang="en-US" altLang="zh-CN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(s1&lt;=0||s2&lt;=0||s3&lt;=0)</a:t>
            </a:r>
            <a:endParaRPr lang="zh-CN" altLang="en-US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7" name="肘形连接符 16"/>
          <p:cNvCxnSpPr>
            <a:stCxn id="226" idx="2"/>
            <a:endCxn id="245" idx="2"/>
          </p:cNvCxnSpPr>
          <p:nvPr/>
        </p:nvCxnSpPr>
        <p:spPr>
          <a:xfrm rot="10800000" flipH="1" flipV="1">
            <a:off x="4199975" y="2274370"/>
            <a:ext cx="1905814" cy="2823515"/>
          </a:xfrm>
          <a:prstGeom prst="bentConnector3">
            <a:avLst>
              <a:gd name="adj1" fmla="val -11995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肘形连接符 22"/>
          <p:cNvCxnSpPr>
            <a:stCxn id="260" idx="2"/>
            <a:endCxn id="245" idx="2"/>
          </p:cNvCxnSpPr>
          <p:nvPr/>
        </p:nvCxnSpPr>
        <p:spPr>
          <a:xfrm rot="10800000" flipH="1" flipV="1">
            <a:off x="4769596" y="3026546"/>
            <a:ext cx="1336193" cy="2071339"/>
          </a:xfrm>
          <a:prstGeom prst="bentConnector3">
            <a:avLst>
              <a:gd name="adj1" fmla="val -17108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箭头连接符 226"/>
          <p:cNvCxnSpPr>
            <a:endCxn id="235" idx="0"/>
          </p:cNvCxnSpPr>
          <p:nvPr/>
        </p:nvCxnSpPr>
        <p:spPr>
          <a:xfrm>
            <a:off x="5204612" y="1863179"/>
            <a:ext cx="743435" cy="32177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接箭头连接符 242"/>
          <p:cNvCxnSpPr>
            <a:stCxn id="235" idx="4"/>
            <a:endCxn id="261" idx="0"/>
          </p:cNvCxnSpPr>
          <p:nvPr/>
        </p:nvCxnSpPr>
        <p:spPr>
          <a:xfrm>
            <a:off x="5948047" y="2472981"/>
            <a:ext cx="671325" cy="38079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圆角矩形标注 129"/>
          <p:cNvSpPr/>
          <p:nvPr/>
        </p:nvSpPr>
        <p:spPr>
          <a:xfrm>
            <a:off x="7442706" y="4062214"/>
            <a:ext cx="3118519" cy="1962910"/>
          </a:xfrm>
          <a:prstGeom prst="wedgeRoundRectCallout">
            <a:avLst>
              <a:gd name="adj1" fmla="val -94542"/>
              <a:gd name="adj2" fmla="val -135808"/>
              <a:gd name="adj3" fmla="val 16667"/>
            </a:avLst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8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到达</a:t>
            </a:r>
            <a:r>
              <a:rPr lang="en-US" altLang="zh-CN" sz="18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74</a:t>
            </a:r>
            <a:r>
              <a:rPr lang="zh-CN" altLang="en-US" sz="18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的路径约束条件从初始节点到达</a:t>
            </a:r>
            <a:r>
              <a:rPr lang="en-US" altLang="zh-CN" sz="18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51</a:t>
            </a:r>
            <a:r>
              <a:rPr lang="zh-CN" altLang="en-US" sz="18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经历路径条件的合取为 </a:t>
            </a:r>
            <a:r>
              <a:rPr lang="en-US" altLang="zh-CN" sz="18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!(s1&lt;=0||s2&lt;=0||s3&lt;=0)</a:t>
            </a:r>
            <a:r>
              <a:rPr lang="zh-CN" altLang="en-US" sz="18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）</a:t>
            </a:r>
            <a:r>
              <a:rPr lang="en-US" altLang="zh-CN" sz="18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&amp;&amp;(triOut!=0)&amp;&amp;(triOut&lt;=3) &amp;&amp;(triOut!=1||s1+s2&lt;=s3)</a:t>
            </a:r>
            <a:endParaRPr lang="zh-CN" altLang="en-US" sz="18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endParaRPr lang="zh-CN" altLang="en-US" sz="18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519383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Control Internal Variable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triOut</a:t>
            </a:r>
          </a:p>
          <a:p>
            <a:pPr lvl="1"/>
            <a:r>
              <a:rPr lang="en-US" altLang="zh-CN"/>
              <a:t>Replace triOut with inputs variables,that is, s1,s2,s3</a:t>
            </a:r>
          </a:p>
          <a:p>
            <a:pPr lvl="1"/>
            <a:r>
              <a:rPr lang="en-US" altLang="zh-CN"/>
              <a:t>triOut </a:t>
            </a:r>
            <a:r>
              <a:rPr lang="en-US" altLang="zh-CN">
                <a:latin typeface="Cambria Math"/>
                <a:ea typeface="Cambria Math"/>
              </a:rPr>
              <a:t>∈ [0,6]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CN"/>
              <a:t>triOut == 0: s1!=s2 &amp;&amp; s2!=s3 &amp;&amp; s1!=s3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CN"/>
              <a:t>triOut == 1: s1==s2 &amp;&amp; s2!=s3 &amp;&amp; s1!=s3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CN"/>
              <a:t>triOut == 2: s1!=s2 &amp;&amp; s2!=s3 &amp;&amp; s1==s3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CN"/>
              <a:t>triOut == 3: s1!=s2 &amp;&amp; s2==s3 &amp;&amp; s1!=s3  </a:t>
            </a:r>
            <a:r>
              <a:rPr lang="zh-CN" altLang="en-US"/>
              <a:t>或者</a:t>
            </a:r>
            <a:r>
              <a:rPr lang="en-US" altLang="zh-CN">
                <a:solidFill>
                  <a:srgbClr val="FF0000"/>
                </a:solidFill>
              </a:rPr>
              <a:t>s1==s2 &amp;&amp; s2!=s3 &amp;&amp; s1==s3 </a:t>
            </a:r>
            <a:endParaRPr lang="en-US" altLang="zh-CN"/>
          </a:p>
          <a:p>
            <a:pPr marL="971550" lvl="1" indent="-514350">
              <a:buFont typeface="+mj-lt"/>
              <a:buAutoNum type="arabicPeriod"/>
            </a:pPr>
            <a:r>
              <a:rPr lang="en-US" altLang="zh-CN">
                <a:solidFill>
                  <a:srgbClr val="FF0000"/>
                </a:solidFill>
              </a:rPr>
              <a:t>triOut == 4: s1==s2 &amp;&amp; s2==s3 &amp;&amp; s1!=s3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CN">
                <a:solidFill>
                  <a:srgbClr val="FF0000"/>
                </a:solidFill>
              </a:rPr>
              <a:t>triOut == 5: s1!=s2 &amp;&amp; s2==s3 &amp;&amp; s1==s3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CN"/>
              <a:t>triOut == 6: s1==s2 &amp;&amp; s2==s3 &amp;&amp; s1==s3 </a:t>
            </a:r>
          </a:p>
          <a:p>
            <a:pPr marL="971550" lvl="1" indent="-514350">
              <a:buFont typeface="+mj-lt"/>
              <a:buAutoNum type="arabicPeriod"/>
            </a:pPr>
            <a:endParaRPr lang="en-US" altLang="zh-CN"/>
          </a:p>
          <a:p>
            <a:pPr marL="971550" lvl="1" indent="-514350">
              <a:buFont typeface="+mj-lt"/>
              <a:buAutoNum type="arabicPeriod"/>
            </a:pPr>
            <a:endParaRPr lang="en-US" altLang="zh-CN"/>
          </a:p>
          <a:p>
            <a:pPr lvl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43742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Reduced Reachability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Replace </a:t>
            </a:r>
            <a:r>
              <a:rPr lang="en-US" altLang="zh-CN" dirty="0" err="1"/>
              <a:t>triOut</a:t>
            </a:r>
            <a:r>
              <a:rPr lang="en-US" altLang="zh-CN" dirty="0"/>
              <a:t> with the resolved predict</a:t>
            </a:r>
          </a:p>
          <a:p>
            <a:r>
              <a:rPr lang="en-US" altLang="zh-CN" dirty="0"/>
              <a:t>Example: statement74</a:t>
            </a:r>
          </a:p>
          <a:p>
            <a:pPr marL="45720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 !(s1&lt;=0||s2&lt;=0||s3&lt;=0))</a:t>
            </a:r>
          </a:p>
          <a:p>
            <a:pPr marL="45720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&amp;&amp; </a:t>
            </a:r>
            <a:r>
              <a:rPr lang="en-US" altLang="zh-CN" u="sng" dirty="0">
                <a:solidFill>
                  <a:srgbClr val="FF0000"/>
                </a:solidFill>
              </a:rPr>
              <a:t>(</a:t>
            </a:r>
            <a:r>
              <a:rPr lang="en-US" altLang="zh-CN" u="sng" dirty="0" err="1">
                <a:solidFill>
                  <a:srgbClr val="FF0000"/>
                </a:solidFill>
              </a:rPr>
              <a:t>triOut</a:t>
            </a:r>
            <a:r>
              <a:rPr lang="en-US" altLang="zh-CN" u="sng" dirty="0">
                <a:solidFill>
                  <a:srgbClr val="FF0000"/>
                </a:solidFill>
              </a:rPr>
              <a:t>!=0) </a:t>
            </a:r>
            <a:r>
              <a:rPr lang="en-US" altLang="zh-CN" dirty="0"/>
              <a:t>[!(s1!=s2 &amp;&amp; s2!=s3 &amp;&amp; s1!=s3 )]</a:t>
            </a:r>
          </a:p>
          <a:p>
            <a:pPr marL="45720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&amp;&amp; (</a:t>
            </a:r>
            <a:r>
              <a:rPr lang="en-US" altLang="zh-CN" b="1" u="sng" dirty="0" err="1">
                <a:solidFill>
                  <a:srgbClr val="FF0000"/>
                </a:solidFill>
              </a:rPr>
              <a:t>triOut</a:t>
            </a:r>
            <a:r>
              <a:rPr lang="en-US" altLang="zh-CN" b="1" u="sng" dirty="0">
                <a:solidFill>
                  <a:srgbClr val="FF0000"/>
                </a:solidFill>
              </a:rPr>
              <a:t>&lt;=3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/>
              <a:t>[(s1!=s2 &amp;&amp; s2!=s3 &amp;&amp; s1!=s3)||(s1==s2 &amp;&amp; s2!=s3 &amp;&amp; s1!=s3 )||(s1!=s2 &amp;&amp; s2!=s3 &amp;&amp; s1==s3 ) ]</a:t>
            </a:r>
          </a:p>
          <a:p>
            <a:pPr marL="457200" lvl="1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&amp;&amp; (</a:t>
            </a:r>
            <a:r>
              <a:rPr lang="en-US" altLang="zh-CN" b="1" u="sng" dirty="0" err="1">
                <a:solidFill>
                  <a:srgbClr val="FF0000"/>
                </a:solidFill>
              </a:rPr>
              <a:t>triOut</a:t>
            </a:r>
            <a:r>
              <a:rPr lang="en-US" altLang="zh-CN" b="1" u="sng" dirty="0">
                <a:solidFill>
                  <a:srgbClr val="FF0000"/>
                </a:solidFill>
              </a:rPr>
              <a:t>!=1</a:t>
            </a:r>
            <a:r>
              <a:rPr lang="en-US" altLang="zh-CN" b="1" dirty="0">
                <a:solidFill>
                  <a:srgbClr val="FF0000"/>
                </a:solidFill>
              </a:rPr>
              <a:t>||s1+s2&lt;=s3</a:t>
            </a:r>
            <a:r>
              <a:rPr lang="en-US" altLang="zh-CN" b="1" dirty="0"/>
              <a:t>)</a:t>
            </a:r>
            <a:r>
              <a:rPr lang="en-US" altLang="zh-CN" dirty="0"/>
              <a:t>[!(s1==s2 &amp;&amp; s2!=s3 &amp;&amp; s1!=s3) ]</a:t>
            </a:r>
            <a:endParaRPr lang="zh-CN" altLang="en-US" dirty="0"/>
          </a:p>
          <a:p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216720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Thermostat (</a:t>
            </a:r>
            <a:r>
              <a:rPr lang="en-US" altLang="en-US" i="1"/>
              <a:t>pg 1 of 2</a:t>
            </a:r>
            <a:r>
              <a:rPr lang="en-US" altLang="en-US"/>
              <a:t>)</a:t>
            </a:r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AD830D00-F0C2-4019-881C-58C0D39319A1}" type="slidenum">
              <a:rPr lang="en-US" altLang="en-US" sz="900" b="0">
                <a:solidFill>
                  <a:schemeClr val="tx1"/>
                </a:solidFill>
              </a:rPr>
              <a:pPr/>
              <a:t>11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6" name="Text Box 1027"/>
          <p:cNvSpPr txBox="1">
            <a:spLocks noChangeArrowheads="1"/>
          </p:cNvSpPr>
          <p:nvPr/>
        </p:nvSpPr>
        <p:spPr bwMode="auto">
          <a:xfrm>
            <a:off x="1584325" y="833942"/>
            <a:ext cx="9023350" cy="547842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  1  </a:t>
            </a: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// Jeff Offutt &amp; Paul Ammann—September 2014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  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2</a:t>
            </a: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  // Programmable Thermostat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  6  </a:t>
            </a:r>
            <a:r>
              <a:rPr lang="en-US" b="0" dirty="0">
                <a:solidFill>
                  <a:srgbClr val="92D050"/>
                </a:solidFill>
                <a:latin typeface="Arial" pitchFamily="34" charset="0"/>
              </a:rPr>
              <a:t>import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 java.io.*;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10  </a:t>
            </a:r>
            <a:r>
              <a:rPr lang="en-US" b="0" dirty="0">
                <a:solidFill>
                  <a:srgbClr val="92D050"/>
                </a:solidFill>
                <a:latin typeface="Arial" pitchFamily="34" charset="0"/>
              </a:rPr>
              <a:t>public class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 Thermostat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11  {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12</a:t>
            </a:r>
            <a:r>
              <a:rPr lang="en-US" b="0" dirty="0">
                <a:solidFill>
                  <a:srgbClr val="92D050"/>
                </a:solidFill>
                <a:latin typeface="Arial" pitchFamily="34" charset="0"/>
              </a:rPr>
              <a:t>     private </a:t>
            </a:r>
            <a:r>
              <a:rPr lang="en-US" b="0" dirty="0" err="1">
                <a:solidFill>
                  <a:srgbClr val="92D050"/>
                </a:solidFill>
                <a:latin typeface="Arial" pitchFamily="34" charset="0"/>
              </a:rPr>
              <a:t>int</a:t>
            </a:r>
            <a:r>
              <a:rPr lang="en-US" b="0" dirty="0">
                <a:solidFill>
                  <a:srgbClr val="92D050"/>
                </a:solidFill>
                <a:latin typeface="Arial" pitchFamily="34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Arial" pitchFamily="34" charset="0"/>
              </a:rPr>
              <a:t>curTemp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;                </a:t>
            </a: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// Current temperature reading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13</a:t>
            </a:r>
            <a:r>
              <a:rPr lang="en-US" b="0" dirty="0">
                <a:solidFill>
                  <a:srgbClr val="92D050"/>
                </a:solidFill>
                <a:latin typeface="Arial" pitchFamily="34" charset="0"/>
              </a:rPr>
              <a:t>     private </a:t>
            </a:r>
            <a:r>
              <a:rPr lang="en-US" b="0" dirty="0" err="1">
                <a:solidFill>
                  <a:srgbClr val="92D050"/>
                </a:solidFill>
                <a:latin typeface="Arial" pitchFamily="34" charset="0"/>
              </a:rPr>
              <a:t>int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Arial" pitchFamily="34" charset="0"/>
              </a:rPr>
              <a:t>thresholdDiff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;          </a:t>
            </a: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// Temp difference until heater on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14     </a:t>
            </a:r>
            <a:r>
              <a:rPr lang="en-US" b="0" dirty="0">
                <a:solidFill>
                  <a:srgbClr val="92D050"/>
                </a:solidFill>
                <a:latin typeface="Arial" pitchFamily="34" charset="0"/>
              </a:rPr>
              <a:t>private </a:t>
            </a:r>
            <a:r>
              <a:rPr lang="en-US" b="0" dirty="0" err="1">
                <a:solidFill>
                  <a:srgbClr val="92D050"/>
                </a:solidFill>
                <a:latin typeface="Arial" pitchFamily="34" charset="0"/>
              </a:rPr>
              <a:t>int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Arial" pitchFamily="34" charset="0"/>
              </a:rPr>
              <a:t>timeSinceLastRun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; </a:t>
            </a: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// Time since heater stopped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15     </a:t>
            </a:r>
            <a:r>
              <a:rPr lang="en-US" b="0" dirty="0">
                <a:solidFill>
                  <a:srgbClr val="92D050"/>
                </a:solidFill>
                <a:latin typeface="Arial" pitchFamily="34" charset="0"/>
              </a:rPr>
              <a:t>private </a:t>
            </a:r>
            <a:r>
              <a:rPr lang="en-US" b="0" dirty="0" err="1">
                <a:solidFill>
                  <a:srgbClr val="92D050"/>
                </a:solidFill>
                <a:latin typeface="Arial" pitchFamily="34" charset="0"/>
              </a:rPr>
              <a:t>int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Arial" pitchFamily="34" charset="0"/>
              </a:rPr>
              <a:t>minLag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;                   </a:t>
            </a: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// How long I need to wait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16     </a:t>
            </a:r>
            <a:r>
              <a:rPr lang="en-US" b="0" dirty="0">
                <a:solidFill>
                  <a:srgbClr val="92D050"/>
                </a:solidFill>
                <a:latin typeface="Arial" pitchFamily="34" charset="0"/>
              </a:rPr>
              <a:t>private </a:t>
            </a:r>
            <a:r>
              <a:rPr lang="en-US" b="0" dirty="0" err="1">
                <a:solidFill>
                  <a:srgbClr val="92D050"/>
                </a:solidFill>
                <a:latin typeface="Arial" pitchFamily="34" charset="0"/>
              </a:rPr>
              <a:t>boolean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 Override;        </a:t>
            </a: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// Has user overridden the program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17   </a:t>
            </a:r>
            <a:r>
              <a:rPr lang="en-US" b="0" dirty="0">
                <a:solidFill>
                  <a:srgbClr val="92D050"/>
                </a:solidFill>
                <a:latin typeface="Arial" pitchFamily="34" charset="0"/>
              </a:rPr>
              <a:t>  private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b="0" dirty="0" err="1">
                <a:solidFill>
                  <a:srgbClr val="92D050"/>
                </a:solidFill>
                <a:latin typeface="Arial" pitchFamily="34" charset="0"/>
              </a:rPr>
              <a:t>int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Arial" pitchFamily="34" charset="0"/>
              </a:rPr>
              <a:t>overTemp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;               </a:t>
            </a: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// </a:t>
            </a:r>
            <a:r>
              <a:rPr lang="en-US" b="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OverridingTemp</a:t>
            </a:r>
            <a:endParaRPr lang="en-US" b="0" dirty="0">
              <a:solidFill>
                <a:schemeClr val="accent2">
                  <a:lumMod val="40000"/>
                  <a:lumOff val="60000"/>
                </a:schemeClr>
              </a:solidFill>
              <a:latin typeface="Arial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18     </a:t>
            </a:r>
            <a:r>
              <a:rPr lang="en-US" b="0" dirty="0">
                <a:solidFill>
                  <a:srgbClr val="92D050"/>
                </a:solidFill>
                <a:latin typeface="Arial" pitchFamily="34" charset="0"/>
              </a:rPr>
              <a:t>private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b="0" dirty="0" err="1">
                <a:solidFill>
                  <a:srgbClr val="92D050"/>
                </a:solidFill>
                <a:latin typeface="Arial" pitchFamily="34" charset="0"/>
              </a:rPr>
              <a:t>int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Arial" pitchFamily="34" charset="0"/>
              </a:rPr>
              <a:t>runTime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;                  </a:t>
            </a: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// output of </a:t>
            </a:r>
            <a:r>
              <a:rPr lang="en-US" b="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turnHeaterOn</a:t>
            </a: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–how long to run</a:t>
            </a:r>
            <a:endParaRPr lang="en-US" b="0" dirty="0">
              <a:solidFill>
                <a:schemeClr val="tx1"/>
              </a:solidFill>
              <a:latin typeface="Arial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19     </a:t>
            </a:r>
            <a:r>
              <a:rPr lang="en-US" b="0" dirty="0">
                <a:solidFill>
                  <a:srgbClr val="92D050"/>
                </a:solidFill>
                <a:latin typeface="Arial" pitchFamily="34" charset="0"/>
              </a:rPr>
              <a:t>private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b="0" dirty="0" err="1">
                <a:solidFill>
                  <a:srgbClr val="92D050"/>
                </a:solidFill>
                <a:latin typeface="Arial" pitchFamily="34" charset="0"/>
              </a:rPr>
              <a:t>boolean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Arial" pitchFamily="34" charset="0"/>
              </a:rPr>
              <a:t>heaterOn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;       </a:t>
            </a: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// output of </a:t>
            </a:r>
            <a:r>
              <a:rPr lang="en-US" b="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turnHeaterOn</a:t>
            </a: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 – whether to run</a:t>
            </a:r>
            <a:endParaRPr lang="en-US" b="0" dirty="0">
              <a:solidFill>
                <a:schemeClr val="tx1"/>
              </a:solidFill>
              <a:latin typeface="Arial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20     </a:t>
            </a:r>
            <a:r>
              <a:rPr lang="en-US" b="0" dirty="0">
                <a:solidFill>
                  <a:srgbClr val="92D050"/>
                </a:solidFill>
                <a:latin typeface="Arial" pitchFamily="34" charset="0"/>
              </a:rPr>
              <a:t>private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b="0" dirty="0">
                <a:solidFill>
                  <a:srgbClr val="92D050"/>
                </a:solidFill>
                <a:latin typeface="Arial" pitchFamily="34" charset="0"/>
              </a:rPr>
              <a:t>Period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Arial" pitchFamily="34" charset="0"/>
              </a:rPr>
              <a:t>period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;               </a:t>
            </a: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// morning, day, evening, or night</a:t>
            </a:r>
            <a:endParaRPr lang="en-US" b="0" dirty="0">
              <a:solidFill>
                <a:schemeClr val="tx1"/>
              </a:solidFill>
              <a:latin typeface="Arial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21     </a:t>
            </a:r>
            <a:r>
              <a:rPr lang="en-US" b="0" dirty="0">
                <a:solidFill>
                  <a:srgbClr val="92D050"/>
                </a:solidFill>
                <a:latin typeface="Arial" pitchFamily="34" charset="0"/>
              </a:rPr>
              <a:t>private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b="0" dirty="0" err="1">
                <a:solidFill>
                  <a:srgbClr val="92D050"/>
                </a:solidFill>
                <a:latin typeface="Arial" pitchFamily="34" charset="0"/>
              </a:rPr>
              <a:t>DayType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 day;               </a:t>
            </a: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// week day or weekend day</a:t>
            </a:r>
            <a:endParaRPr lang="en-US" b="0" dirty="0">
              <a:solidFill>
                <a:schemeClr val="tx1"/>
              </a:solidFill>
              <a:latin typeface="Arial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23     </a:t>
            </a: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// Decide whether to turn the heater on, and for how long.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24     </a:t>
            </a:r>
            <a:r>
              <a:rPr lang="en-US" b="0" dirty="0">
                <a:solidFill>
                  <a:srgbClr val="92D050"/>
                </a:solidFill>
                <a:latin typeface="Arial" pitchFamily="34" charset="0"/>
              </a:rPr>
              <a:t>public </a:t>
            </a:r>
            <a:r>
              <a:rPr lang="en-US" b="0" dirty="0" err="1">
                <a:solidFill>
                  <a:srgbClr val="92D050"/>
                </a:solidFill>
                <a:latin typeface="Arial" pitchFamily="34" charset="0"/>
              </a:rPr>
              <a:t>boolean</a:t>
            </a:r>
            <a:r>
              <a:rPr lang="en-US" b="0" dirty="0">
                <a:solidFill>
                  <a:srgbClr val="92D050"/>
                </a:solidFill>
                <a:latin typeface="Arial" pitchFamily="34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Arial" pitchFamily="34" charset="0"/>
              </a:rPr>
              <a:t>turnHeaterOn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 (</a:t>
            </a:r>
            <a:r>
              <a:rPr lang="en-US" b="0" dirty="0" err="1">
                <a:solidFill>
                  <a:schemeClr val="tx1"/>
                </a:solidFill>
                <a:latin typeface="Arial" pitchFamily="34" charset="0"/>
              </a:rPr>
              <a:t>ProgrammedSettings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b="0" dirty="0" err="1">
                <a:solidFill>
                  <a:schemeClr val="tx1"/>
                </a:solidFill>
                <a:latin typeface="Arial" pitchFamily="34" charset="0"/>
              </a:rPr>
              <a:t>pSet</a:t>
            </a: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)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b="0" dirty="0">
                <a:solidFill>
                  <a:schemeClr val="tx1"/>
                </a:solidFill>
                <a:latin typeface="Arial" pitchFamily="34" charset="0"/>
              </a:rPr>
              <a:t>25     {</a:t>
            </a:r>
          </a:p>
        </p:txBody>
      </p:sp>
    </p:spTree>
    <p:extLst>
      <p:ext uri="{BB962C8B-B14F-4D97-AF65-F5344CB8AC3E}">
        <p14:creationId xmlns:p14="http://schemas.microsoft.com/office/powerpoint/2010/main" val="40051514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Thermostat (</a:t>
            </a:r>
            <a:r>
              <a:rPr lang="en-US" altLang="en-US" i="1"/>
              <a:t>pg 2 of 2</a:t>
            </a:r>
            <a:r>
              <a:rPr lang="en-US" altLang="en-US"/>
              <a:t>)</a:t>
            </a:r>
          </a:p>
        </p:txBody>
      </p:sp>
      <p:sp>
        <p:nvSpPr>
          <p:cNvPr id="1434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77EA69D3-4AAB-4ED4-8183-637BAFB9B34F}" type="slidenum">
              <a:rPr lang="en-US" altLang="en-US" sz="900" b="0">
                <a:solidFill>
                  <a:schemeClr val="tx1"/>
                </a:solidFill>
              </a:rPr>
              <a:pPr/>
              <a:t>12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6" name="Text Box 1027"/>
          <p:cNvSpPr txBox="1">
            <a:spLocks noChangeArrowheads="1"/>
          </p:cNvSpPr>
          <p:nvPr/>
        </p:nvSpPr>
        <p:spPr bwMode="auto">
          <a:xfrm>
            <a:off x="1584325" y="793512"/>
            <a:ext cx="9023350" cy="57861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26     </a:t>
            </a:r>
            <a:r>
              <a:rPr lang="en-US" dirty="0" err="1">
                <a:solidFill>
                  <a:srgbClr val="92D050"/>
                </a:solidFill>
                <a:latin typeface="Arial" pitchFamily="34" charset="0"/>
              </a:rPr>
              <a:t>int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</a:rPr>
              <a:t>dTemp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 = 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</a:rPr>
              <a:t>pSet.getSetting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 (period, day);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28 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</a:rPr>
              <a:t>if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 (((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</a:rPr>
              <a:t>curTemp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 &lt; 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</a:rPr>
              <a:t>dTemp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 - 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</a:rPr>
              <a:t>thresholdDiff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) </a:t>
            </a:r>
            <a:r>
              <a:rPr lang="en-US" dirty="0">
                <a:solidFill>
                  <a:srgbClr val="FF66FF"/>
                </a:solidFill>
                <a:latin typeface="Arial" pitchFamily="34" charset="0"/>
              </a:rPr>
              <a:t>||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29          (Override </a:t>
            </a:r>
            <a:r>
              <a:rPr lang="en-US" dirty="0">
                <a:solidFill>
                  <a:srgbClr val="FF66FF"/>
                </a:solidFill>
                <a:latin typeface="Arial" pitchFamily="34" charset="0"/>
              </a:rPr>
              <a:t>&amp;&amp;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</a:rPr>
              <a:t>curTemp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 &lt; 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</a:rPr>
              <a:t>overTemp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 - 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</a:rPr>
              <a:t>thresholdDiff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)) </a:t>
            </a:r>
            <a:r>
              <a:rPr lang="en-US" dirty="0">
                <a:solidFill>
                  <a:srgbClr val="FF66FF"/>
                </a:solidFill>
                <a:latin typeface="Arial" pitchFamily="34" charset="0"/>
              </a:rPr>
              <a:t>&amp;&amp;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30          (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</a:rPr>
              <a:t>timeSinceLastRun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 &gt; 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</a:rPr>
              <a:t>minLag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))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31     { 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// Turn on the heater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32       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// How long? Assume 1 minute per degree (Fahrenheit)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33        </a:t>
            </a:r>
            <a:r>
              <a:rPr lang="en-US" dirty="0" err="1">
                <a:solidFill>
                  <a:srgbClr val="92D050"/>
                </a:solidFill>
                <a:latin typeface="Arial" pitchFamily="34" charset="0"/>
              </a:rPr>
              <a:t>int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</a:rPr>
              <a:t>timeNeeded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 = 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</a:rPr>
              <a:t>curTemp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 - 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</a:rPr>
              <a:t>dTemp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;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34    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</a:rPr>
              <a:t>if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 (Override)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35           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</a:rPr>
              <a:t>timeNeeded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 = 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</a:rPr>
              <a:t>curTemp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 - 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</a:rPr>
              <a:t>overTemp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;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36        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</a:rPr>
              <a:t>setRunTime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 (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</a:rPr>
              <a:t>timeNeeded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);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37        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</a:rPr>
              <a:t>setHeaterOn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 (</a:t>
            </a:r>
            <a:r>
              <a:rPr lang="en-US" dirty="0">
                <a:solidFill>
                  <a:srgbClr val="FF66FF"/>
                </a:solidFill>
                <a:latin typeface="Arial" pitchFamily="34" charset="0"/>
              </a:rPr>
              <a:t>true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);</a:t>
            </a:r>
          </a:p>
          <a:p>
            <a:pPr marL="457200" indent="-457200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38    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</a:rPr>
              <a:t>return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 (</a:t>
            </a:r>
            <a:r>
              <a:rPr lang="en-US" dirty="0">
                <a:solidFill>
                  <a:srgbClr val="FF66FF"/>
                </a:solidFill>
                <a:latin typeface="Arial" pitchFamily="34" charset="0"/>
              </a:rPr>
              <a:t>true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);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39     }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40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</a:rPr>
              <a:t>     else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41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</a:rPr>
              <a:t>     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{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42        </a:t>
            </a:r>
            <a:r>
              <a:rPr lang="en-US" dirty="0" err="1">
                <a:solidFill>
                  <a:schemeClr val="tx1"/>
                </a:solidFill>
                <a:latin typeface="Arial" pitchFamily="34" charset="0"/>
              </a:rPr>
              <a:t>setHeaterOn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 (</a:t>
            </a:r>
            <a:r>
              <a:rPr lang="en-US" dirty="0">
                <a:solidFill>
                  <a:srgbClr val="FF66FF"/>
                </a:solidFill>
                <a:latin typeface="Arial" pitchFamily="34" charset="0"/>
              </a:rPr>
              <a:t>false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);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43    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</a:rPr>
              <a:t>return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 (</a:t>
            </a:r>
            <a:r>
              <a:rPr lang="en-US" dirty="0">
                <a:solidFill>
                  <a:srgbClr val="FF66FF"/>
                </a:solidFill>
                <a:latin typeface="Arial" pitchFamily="34" charset="0"/>
              </a:rPr>
              <a:t>false</a:t>
            </a: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);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44     }</a:t>
            </a: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  <a:latin typeface="Arial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45  }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// End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Arial" pitchFamily="34" charset="0"/>
              </a:rPr>
              <a:t>turnHeaterOn</a:t>
            </a: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  <a:latin typeface="Arial" pitchFamily="34" charset="0"/>
            </a:endParaRPr>
          </a:p>
        </p:txBody>
      </p:sp>
      <p:sp>
        <p:nvSpPr>
          <p:cNvPr id="2" name="Rounded Rectangle 1"/>
          <p:cNvSpPr/>
          <p:nvPr/>
        </p:nvSpPr>
        <p:spPr bwMode="auto">
          <a:xfrm rot="20834944">
            <a:off x="6160735" y="4393975"/>
            <a:ext cx="3641417" cy="914400"/>
          </a:xfrm>
          <a:prstGeom prst="roundRect">
            <a:avLst/>
          </a:prstGeom>
          <a:solidFill>
            <a:schemeClr val="bg1">
              <a:lumMod val="60000"/>
              <a:lumOff val="40000"/>
            </a:schemeClr>
          </a:solidFill>
          <a:ln w="28575" cap="flat" cmpd="sng" algn="ctr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400" b="0" dirty="0">
                <a:latin typeface="Gill Sans MT" panose="020B0502020104020203" pitchFamily="34" charset="0"/>
              </a:rPr>
              <a:t>The full class is in the book and on the book website.</a:t>
            </a:r>
          </a:p>
        </p:txBody>
      </p:sp>
    </p:spTree>
    <p:extLst>
      <p:ext uri="{BB962C8B-B14F-4D97-AF65-F5344CB8AC3E}">
        <p14:creationId xmlns:p14="http://schemas.microsoft.com/office/powerpoint/2010/main" val="5126327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72513" y="6545263"/>
            <a:ext cx="1905000" cy="246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DC94D41B-EDE9-41BD-949A-F812BA07E1F2}" type="slidenum">
              <a:rPr lang="en-US" altLang="en-US" sz="900" b="0">
                <a:solidFill>
                  <a:schemeClr val="tx1"/>
                </a:solidFill>
              </a:rPr>
              <a:pPr/>
              <a:t>13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Two Thermostat Predicates</a:t>
            </a:r>
          </a:p>
        </p:txBody>
      </p:sp>
      <p:sp>
        <p:nvSpPr>
          <p:cNvPr id="15365" name="Text Box 3"/>
          <p:cNvSpPr txBox="1">
            <a:spLocks noChangeArrowheads="1"/>
          </p:cNvSpPr>
          <p:nvPr/>
        </p:nvSpPr>
        <p:spPr bwMode="auto">
          <a:xfrm>
            <a:off x="1584325" y="1031876"/>
            <a:ext cx="8904288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28-30 : (((</a:t>
            </a:r>
            <a:r>
              <a:rPr lang="en-US" altLang="en-US" sz="2400" dirty="0" err="1">
                <a:solidFill>
                  <a:schemeClr val="tx1"/>
                </a:solidFill>
                <a:latin typeface="Arial" pitchFamily="34" charset="0"/>
              </a:rPr>
              <a:t>curTemp</a:t>
            </a: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altLang="en-US" sz="2400" dirty="0">
                <a:solidFill>
                  <a:srgbClr val="FF66FF"/>
                </a:solidFill>
                <a:latin typeface="Arial" pitchFamily="34" charset="0"/>
              </a:rPr>
              <a:t>&lt;</a:t>
            </a: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itchFamily="34" charset="0"/>
              </a:rPr>
              <a:t>dTemp</a:t>
            </a: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altLang="en-US" sz="2400" dirty="0">
                <a:solidFill>
                  <a:srgbClr val="FF66FF"/>
                </a:solidFill>
                <a:latin typeface="Arial" pitchFamily="34" charset="0"/>
              </a:rPr>
              <a:t>-</a:t>
            </a: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itchFamily="34" charset="0"/>
              </a:rPr>
              <a:t>thresholdDiff</a:t>
            </a: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) </a:t>
            </a:r>
            <a:r>
              <a:rPr lang="en-US" altLang="en-US" sz="2400" dirty="0">
                <a:solidFill>
                  <a:srgbClr val="FF66FF"/>
                </a:solidFill>
                <a:latin typeface="Arial" pitchFamily="34" charset="0"/>
              </a:rPr>
              <a:t>||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        (Override </a:t>
            </a:r>
            <a:r>
              <a:rPr lang="en-US" altLang="en-US" sz="2400" dirty="0">
                <a:solidFill>
                  <a:srgbClr val="FF66FF"/>
                </a:solidFill>
                <a:latin typeface="Arial" pitchFamily="34" charset="0"/>
              </a:rPr>
              <a:t>&amp;&amp;</a:t>
            </a: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itchFamily="34" charset="0"/>
              </a:rPr>
              <a:t>curTemp</a:t>
            </a: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altLang="en-US" sz="2400" dirty="0">
                <a:solidFill>
                  <a:srgbClr val="FF66FF"/>
                </a:solidFill>
                <a:latin typeface="Arial" pitchFamily="34" charset="0"/>
              </a:rPr>
              <a:t>&lt;</a:t>
            </a: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itchFamily="34" charset="0"/>
              </a:rPr>
              <a:t>overTemp</a:t>
            </a: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altLang="en-US" sz="2400" dirty="0">
                <a:solidFill>
                  <a:srgbClr val="FF66FF"/>
                </a:solidFill>
                <a:latin typeface="Arial" pitchFamily="34" charset="0"/>
              </a:rPr>
              <a:t>-</a:t>
            </a: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itchFamily="34" charset="0"/>
              </a:rPr>
              <a:t>thresholdDiff</a:t>
            </a: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)) </a:t>
            </a:r>
            <a:r>
              <a:rPr lang="en-US" altLang="en-US" sz="2400" dirty="0">
                <a:solidFill>
                  <a:srgbClr val="FF66FF"/>
                </a:solidFill>
                <a:latin typeface="Arial" pitchFamily="34" charset="0"/>
              </a:rPr>
              <a:t>&amp;&amp;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         </a:t>
            </a:r>
            <a:r>
              <a:rPr lang="en-US" altLang="en-US" sz="2400" dirty="0" err="1">
                <a:solidFill>
                  <a:schemeClr val="tx1"/>
                </a:solidFill>
                <a:latin typeface="Arial" pitchFamily="34" charset="0"/>
              </a:rPr>
              <a:t>timeSinceLastRun</a:t>
            </a: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&gt; </a:t>
            </a:r>
            <a:r>
              <a:rPr lang="en-US" altLang="en-US" sz="2400" dirty="0" err="1">
                <a:solidFill>
                  <a:schemeClr val="tx1"/>
                </a:solidFill>
                <a:latin typeface="Arial" pitchFamily="34" charset="0"/>
              </a:rPr>
              <a:t>minLag</a:t>
            </a: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))</a:t>
            </a:r>
          </a:p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34 : (Override)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584325" y="3001964"/>
            <a:ext cx="8904288" cy="295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u="sng" dirty="0">
                <a:solidFill>
                  <a:schemeClr val="tx1"/>
                </a:solidFill>
                <a:latin typeface="Gill Sans MT" panose="020B0502020104020203" pitchFamily="34" charset="0"/>
              </a:rPr>
              <a:t>Simplify</a:t>
            </a:r>
          </a:p>
          <a:p>
            <a:pPr algn="ctr">
              <a:lnSpc>
                <a:spcPct val="50000"/>
              </a:lnSpc>
              <a:spcBef>
                <a:spcPct val="50000"/>
              </a:spcBef>
            </a:pPr>
            <a:endParaRPr lang="en-US" altLang="en-US" sz="2400" dirty="0">
              <a:solidFill>
                <a:schemeClr val="tx1"/>
              </a:solidFill>
              <a:latin typeface="Arial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a : </a:t>
            </a:r>
            <a:r>
              <a:rPr lang="en-US" altLang="en-US" sz="2400" dirty="0" err="1">
                <a:solidFill>
                  <a:schemeClr val="tx1"/>
                </a:solidFill>
                <a:latin typeface="Arial" pitchFamily="34" charset="0"/>
              </a:rPr>
              <a:t>curTemp</a:t>
            </a: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&lt; </a:t>
            </a:r>
            <a:r>
              <a:rPr lang="en-US" altLang="en-US" sz="2400" dirty="0" err="1">
                <a:solidFill>
                  <a:schemeClr val="tx1"/>
                </a:solidFill>
                <a:latin typeface="Arial" pitchFamily="34" charset="0"/>
              </a:rPr>
              <a:t>dTemp</a:t>
            </a: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- </a:t>
            </a:r>
            <a:r>
              <a:rPr lang="en-US" altLang="en-US" sz="2400" dirty="0" err="1">
                <a:solidFill>
                  <a:schemeClr val="tx1"/>
                </a:solidFill>
                <a:latin typeface="Arial" pitchFamily="34" charset="0"/>
              </a:rPr>
              <a:t>thresholdDiff</a:t>
            </a:r>
            <a:endParaRPr lang="en-US" altLang="en-US" sz="2400" dirty="0">
              <a:solidFill>
                <a:srgbClr val="FF66FF"/>
              </a:solidFill>
              <a:latin typeface="Arial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b : Override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c : </a:t>
            </a:r>
            <a:r>
              <a:rPr lang="en-US" altLang="en-US" sz="2400" dirty="0" err="1">
                <a:solidFill>
                  <a:schemeClr val="tx1"/>
                </a:solidFill>
                <a:latin typeface="Arial" pitchFamily="34" charset="0"/>
              </a:rPr>
              <a:t>curTemp</a:t>
            </a: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&lt; </a:t>
            </a:r>
            <a:r>
              <a:rPr lang="en-US" altLang="en-US" sz="2400" dirty="0" err="1">
                <a:solidFill>
                  <a:schemeClr val="tx1"/>
                </a:solidFill>
                <a:latin typeface="Arial" pitchFamily="34" charset="0"/>
              </a:rPr>
              <a:t>overTemp</a:t>
            </a: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- </a:t>
            </a:r>
            <a:r>
              <a:rPr lang="en-US" altLang="en-US" sz="2400" dirty="0" err="1">
                <a:solidFill>
                  <a:schemeClr val="tx1"/>
                </a:solidFill>
                <a:latin typeface="Arial" pitchFamily="34" charset="0"/>
              </a:rPr>
              <a:t>thresholdDiff</a:t>
            </a:r>
            <a:endParaRPr lang="en-US" altLang="en-US" sz="2400" dirty="0">
              <a:solidFill>
                <a:srgbClr val="FF66FF"/>
              </a:solidFill>
              <a:latin typeface="Arial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d : </a:t>
            </a:r>
            <a:r>
              <a:rPr lang="en-US" altLang="en-US" sz="2400" dirty="0" err="1">
                <a:solidFill>
                  <a:schemeClr val="tx1"/>
                </a:solidFill>
                <a:latin typeface="Arial" pitchFamily="34" charset="0"/>
              </a:rPr>
              <a:t>timeSinceLastRun</a:t>
            </a: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&gt; </a:t>
            </a:r>
            <a:r>
              <a:rPr lang="en-US" altLang="en-US" sz="2400" dirty="0" err="1">
                <a:solidFill>
                  <a:schemeClr val="tx1"/>
                </a:solidFill>
                <a:latin typeface="Arial" pitchFamily="34" charset="0"/>
              </a:rPr>
              <a:t>minLag</a:t>
            </a: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)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28-30 :  (a </a:t>
            </a:r>
            <a:r>
              <a:rPr lang="en-US" altLang="en-US" sz="2400" dirty="0">
                <a:solidFill>
                  <a:srgbClr val="FF66FF"/>
                </a:solidFill>
                <a:latin typeface="Arial" pitchFamily="34" charset="0"/>
              </a:rPr>
              <a:t>||</a:t>
            </a: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(b &amp;&amp; c)) </a:t>
            </a:r>
            <a:r>
              <a:rPr lang="en-US" altLang="en-US" sz="2400" dirty="0">
                <a:solidFill>
                  <a:srgbClr val="FF66FF"/>
                </a:solidFill>
                <a:latin typeface="Arial" pitchFamily="34" charset="0"/>
              </a:rPr>
              <a:t>&amp;&amp;</a:t>
            </a: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d</a:t>
            </a:r>
          </a:p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34 :       b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9"/>
          <p:cNvSpPr>
            <a:spLocks noChangeArrowheads="1"/>
          </p:cNvSpPr>
          <p:nvPr/>
        </p:nvSpPr>
        <p:spPr bwMode="auto">
          <a:xfrm>
            <a:off x="2392363" y="1322388"/>
            <a:ext cx="438150" cy="411162"/>
          </a:xfrm>
          <a:prstGeom prst="ellipse">
            <a:avLst/>
          </a:prstGeom>
          <a:solidFill>
            <a:srgbClr val="0033CC"/>
          </a:solidFill>
          <a:ln w="28575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endParaRPr lang="en-US" altLang="en-US">
              <a:solidFill>
                <a:srgbClr val="0066FF"/>
              </a:solidFill>
            </a:endParaRPr>
          </a:p>
        </p:txBody>
      </p:sp>
      <p:sp>
        <p:nvSpPr>
          <p:cNvPr id="1638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72513" y="6545263"/>
            <a:ext cx="1905000" cy="246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1AB758E2-0E8C-47CA-91DF-FA7936E46718}" type="slidenum">
              <a:rPr lang="en-US" altLang="en-US" sz="900" b="0">
                <a:solidFill>
                  <a:schemeClr val="tx1"/>
                </a:solidFill>
              </a:rPr>
              <a:pPr/>
              <a:t>14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74612"/>
            <a:ext cx="9144000" cy="1276351"/>
          </a:xfrm>
        </p:spPr>
        <p:txBody>
          <a:bodyPr/>
          <a:lstStyle/>
          <a:p>
            <a:r>
              <a:rPr lang="en-US" altLang="en-US" dirty="0"/>
              <a:t>Reachability for Thermostat Predicates</a:t>
            </a:r>
          </a:p>
        </p:txBody>
      </p:sp>
      <p:sp>
        <p:nvSpPr>
          <p:cNvPr id="16390" name="Text Box 3"/>
          <p:cNvSpPr txBox="1">
            <a:spLocks noChangeArrowheads="1"/>
          </p:cNvSpPr>
          <p:nvPr/>
        </p:nvSpPr>
        <p:spPr bwMode="auto">
          <a:xfrm>
            <a:off x="1838325" y="996951"/>
            <a:ext cx="85169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altLang="en-US" dirty="0">
                <a:solidFill>
                  <a:schemeClr val="tx1"/>
                </a:solidFill>
                <a:latin typeface="Arial" pitchFamily="34" charset="0"/>
              </a:rPr>
              <a:t>28-30 : True</a:t>
            </a:r>
          </a:p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altLang="en-US" dirty="0">
                <a:solidFill>
                  <a:schemeClr val="tx1"/>
                </a:solidFill>
                <a:latin typeface="Arial" pitchFamily="34" charset="0"/>
              </a:rPr>
              <a:t>34 : (a </a:t>
            </a:r>
            <a:r>
              <a:rPr lang="en-US" altLang="en-US" dirty="0">
                <a:solidFill>
                  <a:srgbClr val="FF66FF"/>
                </a:solidFill>
                <a:latin typeface="Arial" pitchFamily="34" charset="0"/>
              </a:rPr>
              <a:t>||</a:t>
            </a:r>
            <a:r>
              <a:rPr lang="en-US" altLang="en-US" dirty="0">
                <a:solidFill>
                  <a:schemeClr val="tx1"/>
                </a:solidFill>
                <a:latin typeface="Arial" pitchFamily="34" charset="0"/>
              </a:rPr>
              <a:t> (b &amp;&amp; c)) </a:t>
            </a:r>
            <a:r>
              <a:rPr lang="en-US" altLang="en-US" dirty="0">
                <a:solidFill>
                  <a:srgbClr val="FF66FF"/>
                </a:solidFill>
                <a:latin typeface="Arial" pitchFamily="34" charset="0"/>
              </a:rPr>
              <a:t>&amp;&amp;</a:t>
            </a:r>
            <a:r>
              <a:rPr lang="en-US" altLang="en-US" dirty="0">
                <a:solidFill>
                  <a:schemeClr val="tx1"/>
                </a:solidFill>
                <a:latin typeface="Arial" pitchFamily="34" charset="0"/>
              </a:rPr>
              <a:t> d</a:t>
            </a:r>
          </a:p>
        </p:txBody>
      </p:sp>
      <p:sp>
        <p:nvSpPr>
          <p:cNvPr id="11271" name="Text Box 4"/>
          <p:cNvSpPr txBox="1">
            <a:spLocks noChangeArrowheads="1"/>
          </p:cNvSpPr>
          <p:nvPr/>
        </p:nvSpPr>
        <p:spPr bwMode="auto">
          <a:xfrm>
            <a:off x="2179455" y="2244321"/>
            <a:ext cx="4620552" cy="461665"/>
          </a:xfrm>
          <a:prstGeom prst="rect">
            <a:avLst/>
          </a:prstGeom>
          <a:solidFill>
            <a:srgbClr val="0000CC"/>
          </a:solidFill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square"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0" dirty="0" err="1">
                <a:latin typeface="Gill Sans MT" panose="020B0502020104020203" pitchFamily="34" charset="0"/>
              </a:rPr>
              <a:t>curTemp</a:t>
            </a:r>
            <a:r>
              <a:rPr lang="en-US" altLang="en-US" sz="2400" b="0" dirty="0">
                <a:latin typeface="Gill Sans MT" panose="020B0502020104020203" pitchFamily="34" charset="0"/>
              </a:rPr>
              <a:t> &lt; </a:t>
            </a:r>
            <a:r>
              <a:rPr lang="en-US" altLang="en-US" sz="2400" b="0" dirty="0" err="1">
                <a:latin typeface="Gill Sans MT" panose="020B0502020104020203" pitchFamily="34" charset="0"/>
              </a:rPr>
              <a:t>dTemp</a:t>
            </a:r>
            <a:r>
              <a:rPr lang="en-US" altLang="en-US" sz="2400" b="0" dirty="0">
                <a:latin typeface="Gill Sans MT" panose="020B0502020104020203" pitchFamily="34" charset="0"/>
              </a:rPr>
              <a:t> - </a:t>
            </a:r>
            <a:r>
              <a:rPr lang="en-US" altLang="en-US" sz="2400" b="0" dirty="0" err="1">
                <a:latin typeface="Gill Sans MT" panose="020B0502020104020203" pitchFamily="34" charset="0"/>
              </a:rPr>
              <a:t>thresholdDiff</a:t>
            </a:r>
            <a:endParaRPr lang="en-US" altLang="en-US" sz="2400" b="0" dirty="0">
              <a:latin typeface="Gill Sans MT" panose="020B0502020104020203" pitchFamily="34" charset="0"/>
            </a:endParaRPr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>
            <a:off x="2697163" y="1709738"/>
            <a:ext cx="598993" cy="53458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2389188" y="3361809"/>
            <a:ext cx="5924030" cy="461665"/>
          </a:xfrm>
          <a:prstGeom prst="rect">
            <a:avLst/>
          </a:prstGeom>
          <a:solidFill>
            <a:srgbClr val="0000CC"/>
          </a:solidFill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square"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0" dirty="0">
                <a:latin typeface="Gill Sans MT" panose="020B0502020104020203" pitchFamily="34" charset="0"/>
              </a:rPr>
              <a:t>Need to solve for the </a:t>
            </a:r>
            <a:r>
              <a:rPr lang="en-US" altLang="en-US" sz="2400" b="0" u="sng" dirty="0">
                <a:latin typeface="Gill Sans MT" panose="020B0502020104020203" pitchFamily="34" charset="0"/>
              </a:rPr>
              <a:t>internal variable</a:t>
            </a:r>
            <a:r>
              <a:rPr lang="en-US" altLang="en-US" sz="2400" b="0" dirty="0">
                <a:latin typeface="Gill Sans MT" panose="020B0502020104020203" pitchFamily="34" charset="0"/>
              </a:rPr>
              <a:t> </a:t>
            </a:r>
            <a:r>
              <a:rPr lang="en-US" altLang="en-US" sz="2400" b="0" i="1" dirty="0" err="1">
                <a:latin typeface="Gill Sans MT" panose="020B0502020104020203" pitchFamily="34" charset="0"/>
              </a:rPr>
              <a:t>dTemp</a:t>
            </a:r>
            <a:endParaRPr lang="en-US" altLang="en-US" sz="2400" b="0" i="1" dirty="0">
              <a:latin typeface="Gill Sans MT" panose="020B0502020104020203" pitchFamily="34" charset="0"/>
            </a:endParaRPr>
          </a:p>
        </p:txBody>
      </p:sp>
      <p:sp>
        <p:nvSpPr>
          <p:cNvPr id="32" name="Oval 9"/>
          <p:cNvSpPr>
            <a:spLocks noChangeArrowheads="1"/>
          </p:cNvSpPr>
          <p:nvPr/>
        </p:nvSpPr>
        <p:spPr bwMode="auto">
          <a:xfrm>
            <a:off x="3660297" y="2265603"/>
            <a:ext cx="1189530" cy="440383"/>
          </a:xfrm>
          <a:prstGeom prst="ellipse">
            <a:avLst/>
          </a:prstGeom>
          <a:solidFill>
            <a:srgbClr val="66CCFF">
              <a:alpha val="49019"/>
            </a:srgbClr>
          </a:solidFill>
          <a:ln w="28575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endParaRPr lang="en-US" altLang="en-US">
              <a:solidFill>
                <a:srgbClr val="0066FF"/>
              </a:solidFill>
            </a:endParaRPr>
          </a:p>
        </p:txBody>
      </p:sp>
      <p:sp>
        <p:nvSpPr>
          <p:cNvPr id="33" name="Line 28"/>
          <p:cNvSpPr>
            <a:spLocks noChangeShapeType="1"/>
          </p:cNvSpPr>
          <p:nvPr/>
        </p:nvSpPr>
        <p:spPr bwMode="auto">
          <a:xfrm>
            <a:off x="4087814" y="2659303"/>
            <a:ext cx="496887" cy="683328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Oval 9"/>
          <p:cNvSpPr>
            <a:spLocks noChangeArrowheads="1"/>
          </p:cNvSpPr>
          <p:nvPr/>
        </p:nvSpPr>
        <p:spPr bwMode="auto">
          <a:xfrm>
            <a:off x="7162409" y="3342631"/>
            <a:ext cx="1150810" cy="525045"/>
          </a:xfrm>
          <a:prstGeom prst="ellipse">
            <a:avLst/>
          </a:prstGeom>
          <a:solidFill>
            <a:srgbClr val="66CCFF">
              <a:alpha val="49019"/>
            </a:srgbClr>
          </a:solidFill>
          <a:ln w="28575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endParaRPr lang="en-US" altLang="en-US">
              <a:solidFill>
                <a:srgbClr val="0066FF"/>
              </a:solidFill>
            </a:endParaRPr>
          </a:p>
        </p:txBody>
      </p:sp>
      <p:sp>
        <p:nvSpPr>
          <p:cNvPr id="35" name="Line 28"/>
          <p:cNvSpPr>
            <a:spLocks noChangeShapeType="1"/>
          </p:cNvSpPr>
          <p:nvPr/>
        </p:nvSpPr>
        <p:spPr bwMode="auto">
          <a:xfrm flipH="1">
            <a:off x="6048706" y="3802191"/>
            <a:ext cx="1318882" cy="599877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3368984" y="4461809"/>
            <a:ext cx="3269183" cy="400110"/>
          </a:xfrm>
          <a:prstGeom prst="rect">
            <a:avLst/>
          </a:prstGeom>
          <a:solidFill>
            <a:srgbClr val="0000CC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b="0" dirty="0" err="1">
                <a:latin typeface="Gill Sans MT" panose="020B0502020104020203" pitchFamily="34" charset="0"/>
              </a:rPr>
              <a:t>pSet.getSetting</a:t>
            </a:r>
            <a:r>
              <a:rPr lang="en-US" altLang="en-US" b="0" dirty="0">
                <a:latin typeface="Gill Sans MT" panose="020B0502020104020203" pitchFamily="34" charset="0"/>
              </a:rPr>
              <a:t> (period, day); </a:t>
            </a: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2392364" y="5333119"/>
            <a:ext cx="7312684" cy="1200329"/>
          </a:xfrm>
          <a:prstGeom prst="rect">
            <a:avLst/>
          </a:prstGeom>
          <a:solidFill>
            <a:srgbClr val="0000CC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lvl="1"/>
            <a:r>
              <a:rPr lang="en-US" altLang="en-US" sz="2400" b="0" dirty="0" err="1">
                <a:latin typeface="Gill Sans MT" panose="020B0502020104020203" pitchFamily="34" charset="0"/>
              </a:rPr>
              <a:t>setSetting</a:t>
            </a:r>
            <a:r>
              <a:rPr lang="en-US" altLang="en-US" sz="2400" b="0" dirty="0">
                <a:latin typeface="Gill Sans MT" panose="020B0502020104020203" pitchFamily="34" charset="0"/>
              </a:rPr>
              <a:t> (</a:t>
            </a:r>
            <a:r>
              <a:rPr lang="en-US" altLang="en-US" sz="2400" b="0" dirty="0" err="1">
                <a:latin typeface="Gill Sans MT" panose="020B0502020104020203" pitchFamily="34" charset="0"/>
              </a:rPr>
              <a:t>Period.</a:t>
            </a:r>
            <a:r>
              <a:rPr lang="en-US" altLang="en-US" b="0" dirty="0" err="1">
                <a:solidFill>
                  <a:srgbClr val="FF66FF"/>
                </a:solidFill>
                <a:latin typeface="Gill Sans MT" panose="020B0502020104020203" pitchFamily="34" charset="0"/>
              </a:rPr>
              <a:t>MORNING</a:t>
            </a:r>
            <a:r>
              <a:rPr lang="en-US" altLang="en-US" sz="2400" b="0" dirty="0">
                <a:latin typeface="Gill Sans MT" panose="020B0502020104020203" pitchFamily="34" charset="0"/>
              </a:rPr>
              <a:t>, </a:t>
            </a:r>
            <a:r>
              <a:rPr lang="en-US" altLang="en-US" sz="2400" b="0" dirty="0" err="1">
                <a:latin typeface="Gill Sans MT" panose="020B0502020104020203" pitchFamily="34" charset="0"/>
              </a:rPr>
              <a:t>DayType.</a:t>
            </a:r>
            <a:r>
              <a:rPr lang="en-US" altLang="en-US" b="0" dirty="0" err="1">
                <a:solidFill>
                  <a:srgbClr val="FF66FF"/>
                </a:solidFill>
                <a:latin typeface="Gill Sans MT" panose="020B0502020104020203" pitchFamily="34" charset="0"/>
              </a:rPr>
              <a:t>WEEKDAY</a:t>
            </a:r>
            <a:r>
              <a:rPr lang="en-US" altLang="en-US" sz="2400" b="0" dirty="0">
                <a:latin typeface="Gill Sans MT" panose="020B0502020104020203" pitchFamily="34" charset="0"/>
              </a:rPr>
              <a:t>, </a:t>
            </a:r>
            <a:r>
              <a:rPr lang="en-US" altLang="en-US" sz="2400" b="0" dirty="0">
                <a:solidFill>
                  <a:srgbClr val="FF66FF"/>
                </a:solidFill>
                <a:latin typeface="Gill Sans MT" panose="020B0502020104020203" pitchFamily="34" charset="0"/>
              </a:rPr>
              <a:t>69</a:t>
            </a:r>
            <a:r>
              <a:rPr lang="en-US" altLang="en-US" sz="2400" b="0" dirty="0">
                <a:latin typeface="Gill Sans MT" panose="020B0502020104020203" pitchFamily="34" charset="0"/>
              </a:rPr>
              <a:t>);</a:t>
            </a:r>
          </a:p>
          <a:p>
            <a:pPr lvl="1"/>
            <a:r>
              <a:rPr lang="en-US" altLang="en-US" sz="2400" b="0" dirty="0" err="1">
                <a:latin typeface="Gill Sans MT" panose="020B0502020104020203" pitchFamily="34" charset="0"/>
              </a:rPr>
              <a:t>setPeriod</a:t>
            </a:r>
            <a:r>
              <a:rPr lang="en-US" altLang="en-US" sz="2400" b="0" dirty="0">
                <a:latin typeface="Gill Sans MT" panose="020B0502020104020203" pitchFamily="34" charset="0"/>
              </a:rPr>
              <a:t> (</a:t>
            </a:r>
            <a:r>
              <a:rPr lang="en-US" altLang="en-US" sz="2400" b="0" dirty="0" err="1">
                <a:latin typeface="Gill Sans MT" panose="020B0502020104020203" pitchFamily="34" charset="0"/>
              </a:rPr>
              <a:t>Period.</a:t>
            </a:r>
            <a:r>
              <a:rPr lang="en-US" altLang="en-US" b="0" dirty="0" err="1">
                <a:solidFill>
                  <a:srgbClr val="FF66FF"/>
                </a:solidFill>
                <a:latin typeface="Gill Sans MT" panose="020B0502020104020203" pitchFamily="34" charset="0"/>
              </a:rPr>
              <a:t>MORNING</a:t>
            </a:r>
            <a:r>
              <a:rPr lang="en-US" altLang="en-US" sz="2400" b="0" dirty="0">
                <a:latin typeface="Gill Sans MT" panose="020B0502020104020203" pitchFamily="34" charset="0"/>
              </a:rPr>
              <a:t>);</a:t>
            </a:r>
          </a:p>
          <a:p>
            <a:pPr lvl="1"/>
            <a:r>
              <a:rPr lang="en-US" altLang="en-US" sz="2400" b="0" dirty="0" err="1">
                <a:latin typeface="Gill Sans MT" panose="020B0502020104020203" pitchFamily="34" charset="0"/>
              </a:rPr>
              <a:t>setDay</a:t>
            </a:r>
            <a:r>
              <a:rPr lang="en-US" altLang="en-US" sz="2400" b="0" dirty="0">
                <a:latin typeface="Gill Sans MT" panose="020B0502020104020203" pitchFamily="34" charset="0"/>
              </a:rPr>
              <a:t> (</a:t>
            </a:r>
            <a:r>
              <a:rPr lang="en-US" altLang="en-US" sz="2400" b="0" dirty="0" err="1">
                <a:latin typeface="Gill Sans MT" panose="020B0502020104020203" pitchFamily="34" charset="0"/>
              </a:rPr>
              <a:t>DayType.</a:t>
            </a:r>
            <a:r>
              <a:rPr lang="en-US" altLang="en-US" b="0" dirty="0" err="1">
                <a:solidFill>
                  <a:srgbClr val="FF66FF"/>
                </a:solidFill>
                <a:latin typeface="Gill Sans MT" panose="020B0502020104020203" pitchFamily="34" charset="0"/>
              </a:rPr>
              <a:t>WEEKDAY</a:t>
            </a:r>
            <a:r>
              <a:rPr lang="en-US" altLang="en-US" sz="2400" b="0" dirty="0">
                <a:latin typeface="Gill Sans MT" panose="020B0502020104020203" pitchFamily="34" charset="0"/>
              </a:rPr>
              <a:t>);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11271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72513" y="6545263"/>
            <a:ext cx="1905000" cy="246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3287C8E1-45CB-45EF-8019-0D286CC29679}" type="slidenum">
              <a:rPr lang="en-US" altLang="en-US" sz="900" b="0">
                <a:solidFill>
                  <a:schemeClr val="tx1"/>
                </a:solidFill>
              </a:rPr>
              <a:pPr/>
              <a:t>15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Predicate Coverage (</a:t>
            </a:r>
            <a:r>
              <a:rPr lang="en-US" altLang="en-US" i="1"/>
              <a:t>true</a:t>
            </a:r>
            <a:r>
              <a:rPr lang="en-US" altLang="en-US"/>
              <a:t>)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4691190" y="713552"/>
            <a:ext cx="2791326" cy="400110"/>
          </a:xfrm>
          <a:prstGeom prst="rect">
            <a:avLst/>
          </a:prstGeom>
          <a:solidFill>
            <a:srgbClr val="0000CC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dirty="0">
                <a:latin typeface="Gill Sans MT" panose="020B0502020104020203" pitchFamily="34" charset="0"/>
              </a:rPr>
              <a:t>(a || (b &amp;&amp; c)) &amp;&amp; d</a:t>
            </a: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2895591" y="1912765"/>
            <a:ext cx="6400800" cy="1200150"/>
          </a:xfrm>
          <a:prstGeom prst="rect">
            <a:avLst/>
          </a:prstGeom>
          <a:solidFill>
            <a:srgbClr val="0000CC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a: </a:t>
            </a:r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curTemp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 &lt; </a:t>
            </a:r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dTemp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 – </a:t>
            </a:r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thresholdDiff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 :</a:t>
            </a:r>
            <a:r>
              <a:rPr lang="en-US" altLang="en-US" sz="1800" dirty="0">
                <a:latin typeface="Gill Sans MT" panose="020B0502020104020203" pitchFamily="34" charset="0"/>
              </a:rPr>
              <a:t> true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b: Override :</a:t>
            </a:r>
            <a:r>
              <a:rPr lang="en-US" altLang="en-US" sz="1800" dirty="0">
                <a:latin typeface="Gill Sans MT" panose="020B0502020104020203" pitchFamily="34" charset="0"/>
              </a:rPr>
              <a:t> true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c: </a:t>
            </a:r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curTemp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 &lt; </a:t>
            </a:r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overTemp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 – </a:t>
            </a:r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thresholdDiff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 :</a:t>
            </a:r>
            <a:r>
              <a:rPr lang="en-US" altLang="en-US" sz="1800" dirty="0">
                <a:latin typeface="Gill Sans MT" panose="020B0502020104020203" pitchFamily="34" charset="0"/>
              </a:rPr>
              <a:t> true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d: </a:t>
            </a:r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timeSinceLastRun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 &gt; (</a:t>
            </a:r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minLag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) :</a:t>
            </a:r>
            <a:r>
              <a:rPr lang="en-US" altLang="en-US" sz="1800" dirty="0">
                <a:latin typeface="Gill Sans MT" panose="020B0502020104020203" pitchFamily="34" charset="0"/>
              </a:rPr>
              <a:t> true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4939159" y="1158524"/>
            <a:ext cx="2311461" cy="707886"/>
          </a:xfrm>
          <a:prstGeom prst="rect">
            <a:avLst/>
          </a:prstGeom>
          <a:solidFill>
            <a:srgbClr val="0000CC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a :</a:t>
            </a:r>
            <a:r>
              <a:rPr lang="en-US" altLang="en-US" dirty="0">
                <a:latin typeface="Gill Sans MT" panose="020B0502020104020203" pitchFamily="34" charset="0"/>
              </a:rPr>
              <a:t> true     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b :</a:t>
            </a:r>
            <a:r>
              <a:rPr lang="en-US" altLang="en-US" dirty="0">
                <a:latin typeface="Gill Sans MT" panose="020B0502020104020203" pitchFamily="34" charset="0"/>
              </a:rPr>
              <a:t> true</a:t>
            </a:r>
          </a:p>
          <a:p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c :</a:t>
            </a:r>
            <a:r>
              <a:rPr lang="en-US" altLang="en-US" dirty="0">
                <a:latin typeface="Gill Sans MT" panose="020B0502020104020203" pitchFamily="34" charset="0"/>
              </a:rPr>
              <a:t> true     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d :</a:t>
            </a:r>
            <a:r>
              <a:rPr lang="en-US" altLang="en-US" dirty="0">
                <a:latin typeface="Gill Sans MT" panose="020B0502020104020203" pitchFamily="34" charset="0"/>
              </a:rPr>
              <a:t> true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2038932" y="3158762"/>
            <a:ext cx="8095842" cy="3416320"/>
          </a:xfrm>
          <a:prstGeom prst="rect">
            <a:avLst/>
          </a:prstGeom>
          <a:solidFill>
            <a:srgbClr val="0000CC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thermo = new Thermostat();  // Needed object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settings = new </a:t>
            </a:r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ProgrammedSettings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();  // Needed object</a:t>
            </a:r>
          </a:p>
          <a:p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settings.setSetting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 (</a:t>
            </a:r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Period.</a:t>
            </a:r>
            <a:r>
              <a:rPr lang="en-US" altLang="en-US" sz="1800" dirty="0" err="1">
                <a:solidFill>
                  <a:srgbClr val="FFFF00"/>
                </a:solidFill>
                <a:latin typeface="Gill Sans MT" panose="020B0502020104020203" pitchFamily="34" charset="0"/>
              </a:rPr>
              <a:t>MORNING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, </a:t>
            </a:r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DayType.</a:t>
            </a:r>
            <a:r>
              <a:rPr lang="en-US" altLang="en-US" sz="1800" dirty="0" err="1">
                <a:solidFill>
                  <a:srgbClr val="FFFF00"/>
                </a:solidFill>
                <a:latin typeface="Gill Sans MT" panose="020B0502020104020203" pitchFamily="34" charset="0"/>
              </a:rPr>
              <a:t>WEEKDAY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, </a:t>
            </a:r>
            <a:r>
              <a:rPr lang="en-US" altLang="en-US" sz="1800" dirty="0">
                <a:solidFill>
                  <a:srgbClr val="FFFF00"/>
                </a:solidFill>
                <a:latin typeface="Gill Sans MT" panose="020B0502020104020203" pitchFamily="34" charset="0"/>
              </a:rPr>
              <a:t>69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);  // </a:t>
            </a:r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dTemp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</a:p>
          <a:p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thermo.setPeriod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 (</a:t>
            </a:r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Period.</a:t>
            </a:r>
            <a:r>
              <a:rPr lang="en-US" altLang="en-US" sz="1800" dirty="0" err="1">
                <a:solidFill>
                  <a:srgbClr val="FFFF00"/>
                </a:solidFill>
                <a:latin typeface="Gill Sans MT" panose="020B0502020104020203" pitchFamily="34" charset="0"/>
              </a:rPr>
              <a:t>MORNING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);  // </a:t>
            </a:r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dTemp</a:t>
            </a:r>
            <a:endParaRPr lang="en-US" altLang="en-US" sz="18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thermo.setDay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 (</a:t>
            </a:r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DayType.</a:t>
            </a:r>
            <a:r>
              <a:rPr lang="en-US" altLang="en-US" sz="1800" dirty="0" err="1">
                <a:solidFill>
                  <a:srgbClr val="FFFF00"/>
                </a:solidFill>
                <a:latin typeface="Gill Sans MT" panose="020B0502020104020203" pitchFamily="34" charset="0"/>
              </a:rPr>
              <a:t>WEEKDAY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);  // </a:t>
            </a:r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dTemp</a:t>
            </a:r>
            <a:endParaRPr lang="en-US" altLang="en-US" sz="18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thermo.setCurrentTemp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 (</a:t>
            </a:r>
            <a:r>
              <a:rPr lang="en-US" altLang="en-US" sz="1800" dirty="0">
                <a:solidFill>
                  <a:srgbClr val="FFFF00"/>
                </a:solidFill>
                <a:latin typeface="Gill Sans MT" panose="020B0502020104020203" pitchFamily="34" charset="0"/>
              </a:rPr>
              <a:t>63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);  // clause a</a:t>
            </a:r>
          </a:p>
          <a:p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thermo.setThresholdDiff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 (</a:t>
            </a:r>
            <a:r>
              <a:rPr lang="en-US" altLang="en-US" sz="1800" dirty="0">
                <a:solidFill>
                  <a:srgbClr val="FFFF00"/>
                </a:solidFill>
                <a:latin typeface="Gill Sans MT" panose="020B0502020104020203" pitchFamily="34" charset="0"/>
              </a:rPr>
              <a:t>5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);   // clause a</a:t>
            </a:r>
          </a:p>
          <a:p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thermo.setOverride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 (</a:t>
            </a:r>
            <a:r>
              <a:rPr lang="en-US" altLang="en-US" sz="1800" dirty="0">
                <a:solidFill>
                  <a:srgbClr val="FFFF00"/>
                </a:solidFill>
                <a:latin typeface="Gill Sans MT" panose="020B0502020104020203" pitchFamily="34" charset="0"/>
              </a:rPr>
              <a:t>true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);  // clause b</a:t>
            </a:r>
          </a:p>
          <a:p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thermo.setOverTemp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 (</a:t>
            </a:r>
            <a:r>
              <a:rPr lang="en-US" altLang="en-US" sz="1800" dirty="0">
                <a:solidFill>
                  <a:srgbClr val="FFFF00"/>
                </a:solidFill>
                <a:latin typeface="Gill Sans MT" panose="020B0502020104020203" pitchFamily="34" charset="0"/>
              </a:rPr>
              <a:t>70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);  // clause c</a:t>
            </a:r>
          </a:p>
          <a:p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thermo.setMinLag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 (</a:t>
            </a:r>
            <a:r>
              <a:rPr lang="en-US" altLang="en-US" sz="1800" dirty="0">
                <a:solidFill>
                  <a:srgbClr val="FFFF00"/>
                </a:solidFill>
                <a:latin typeface="Gill Sans MT" panose="020B0502020104020203" pitchFamily="34" charset="0"/>
              </a:rPr>
              <a:t>10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);  // clause d</a:t>
            </a:r>
          </a:p>
          <a:p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thermo.setTimeSinceLastRun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 (</a:t>
            </a:r>
            <a:r>
              <a:rPr lang="en-US" altLang="en-US" sz="1800" dirty="0">
                <a:solidFill>
                  <a:srgbClr val="FFFF00"/>
                </a:solidFill>
                <a:latin typeface="Gill Sans MT" panose="020B0502020104020203" pitchFamily="34" charset="0"/>
              </a:rPr>
              <a:t>12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);  // clause d</a:t>
            </a:r>
          </a:p>
          <a:p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assertTrue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 (</a:t>
            </a:r>
            <a:r>
              <a:rPr lang="en-US" alt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thermo.turnHeaterOn</a:t>
            </a:r>
            <a:r>
              <a:rPr lang="en-US" alt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 (settings));   // Run test</a:t>
            </a:r>
          </a:p>
        </p:txBody>
      </p:sp>
    </p:spTree>
    <p:extLst>
      <p:ext uri="{BB962C8B-B14F-4D97-AF65-F5344CB8AC3E}">
        <p14:creationId xmlns:p14="http://schemas.microsoft.com/office/powerpoint/2010/main" val="19494772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Correlated Active Clause Coverage</a:t>
            </a:r>
          </a:p>
        </p:txBody>
      </p:sp>
      <p:sp>
        <p:nvSpPr>
          <p:cNvPr id="1946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8993E268-E118-49E7-AD84-183489832916}" type="slidenum">
              <a:rPr lang="en-US" altLang="en-US" sz="900" b="0">
                <a:solidFill>
                  <a:schemeClr val="tx1"/>
                </a:solidFill>
              </a:rPr>
              <a:pPr/>
              <a:t>16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764840" y="907407"/>
            <a:ext cx="6543149" cy="461665"/>
          </a:xfrm>
          <a:prstGeom prst="rect">
            <a:avLst/>
          </a:prstGeom>
          <a:solidFill>
            <a:srgbClr val="0000CC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400" b="0" dirty="0">
                <a:latin typeface="Gill Sans MT" panose="020B0502020104020203" pitchFamily="34" charset="0"/>
              </a:rPr>
              <a:t>P</a:t>
            </a:r>
            <a:r>
              <a:rPr lang="en-US" altLang="en-US" sz="2800" b="0" baseline="-25000" dirty="0">
                <a:latin typeface="Gill Sans MT" panose="020B0502020104020203" pitchFamily="34" charset="0"/>
              </a:rPr>
              <a:t>a</a:t>
            </a:r>
            <a:r>
              <a:rPr lang="en-US" altLang="en-US" sz="2400" b="0" dirty="0">
                <a:latin typeface="Gill Sans MT" panose="020B0502020104020203" pitchFamily="34" charset="0"/>
              </a:rPr>
              <a:t> = ((a || (b &amp;&amp; c)) &amp;&amp; d) </a:t>
            </a:r>
            <a:r>
              <a:rPr lang="en-US" altLang="en-US" sz="24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</a:t>
            </a:r>
            <a:r>
              <a:rPr lang="en-US" altLang="en-US" sz="2400" b="0" dirty="0">
                <a:latin typeface="Gill Sans MT" panose="020B0502020104020203" pitchFamily="34" charset="0"/>
              </a:rPr>
              <a:t> ((a || (b &amp;&amp; c)) &amp;&amp; d)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764840" y="2234557"/>
            <a:ext cx="6543149" cy="461665"/>
          </a:xfrm>
          <a:prstGeom prst="rect">
            <a:avLst/>
          </a:prstGeom>
          <a:solidFill>
            <a:srgbClr val="0000CC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400" b="0">
                <a:latin typeface="Gill Sans MT" panose="020B0502020104020203" pitchFamily="34" charset="0"/>
              </a:rPr>
              <a:t>(T &amp;&amp; d) </a:t>
            </a:r>
            <a:r>
              <a:rPr lang="en-US" altLang="en-US" sz="2400" b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</a:t>
            </a:r>
            <a:r>
              <a:rPr lang="en-US" altLang="en-US" sz="2400" b="0">
                <a:latin typeface="Gill Sans MT" panose="020B0502020104020203" pitchFamily="34" charset="0"/>
              </a:rPr>
              <a:t> ((b &amp;&amp; c) &amp;&amp; d)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764840" y="1570982"/>
            <a:ext cx="6543149" cy="461665"/>
          </a:xfrm>
          <a:prstGeom prst="rect">
            <a:avLst/>
          </a:prstGeom>
          <a:solidFill>
            <a:srgbClr val="0000CC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400" b="0">
                <a:latin typeface="Gill Sans MT" panose="020B0502020104020203" pitchFamily="34" charset="0"/>
              </a:rPr>
              <a:t>((T || (b &amp;&amp; c)) &amp;&amp; d) </a:t>
            </a:r>
            <a:r>
              <a:rPr lang="en-US" altLang="en-US" sz="2400" b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</a:t>
            </a:r>
            <a:r>
              <a:rPr lang="en-US" altLang="en-US" sz="2400" b="0">
                <a:latin typeface="Gill Sans MT" panose="020B0502020104020203" pitchFamily="34" charset="0"/>
              </a:rPr>
              <a:t> ((F || (b &amp;&amp; c)) &amp;&amp; d)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764840" y="4249094"/>
            <a:ext cx="6543149" cy="461665"/>
          </a:xfrm>
          <a:prstGeom prst="rect">
            <a:avLst/>
          </a:prstGeom>
          <a:solidFill>
            <a:srgbClr val="0000CC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400" b="0">
                <a:latin typeface="Gill Sans MT" panose="020B0502020104020203" pitchFamily="34" charset="0"/>
              </a:rPr>
              <a:t>!(b &amp;&amp; c) &amp;&amp; d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764840" y="4913463"/>
            <a:ext cx="6543149" cy="461665"/>
          </a:xfrm>
          <a:prstGeom prst="rect">
            <a:avLst/>
          </a:prstGeom>
          <a:solidFill>
            <a:srgbClr val="0000CC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400" b="0">
                <a:latin typeface="Gill Sans MT" panose="020B0502020104020203" pitchFamily="34" charset="0"/>
              </a:rPr>
              <a:t>( !b || !c ) &amp;&amp; d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426368" y="5580142"/>
            <a:ext cx="732723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400" b="0" dirty="0">
                <a:latin typeface="Gill Sans MT" panose="020B0502020104020203" pitchFamily="34" charset="0"/>
              </a:rPr>
              <a:t>Check with the logic coverage web app</a:t>
            </a:r>
          </a:p>
          <a:p>
            <a:pPr algn="ctr"/>
            <a:r>
              <a:rPr lang="en-US" altLang="en-US" sz="2400" b="0" dirty="0">
                <a:latin typeface="Gill Sans MT" panose="020B0502020104020203" pitchFamily="34" charset="0"/>
                <a:hlinkClick r:id="rId2"/>
              </a:rPr>
              <a:t>http://cs.gmu.edu:8080/offutt/coverage/LogicCoverage</a:t>
            </a:r>
            <a:endParaRPr lang="en-US" altLang="en-US" sz="2400" b="0" dirty="0">
              <a:latin typeface="Gill Sans MT" panose="020B0502020104020203" pitchFamily="34" charset="0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764840" y="2899719"/>
            <a:ext cx="6543149" cy="461665"/>
          </a:xfrm>
          <a:prstGeom prst="rect">
            <a:avLst/>
          </a:prstGeom>
          <a:solidFill>
            <a:srgbClr val="0000CC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400" b="0" dirty="0">
                <a:latin typeface="Gill Sans MT" panose="020B0502020104020203" pitchFamily="34" charset="0"/>
              </a:rPr>
              <a:t>d </a:t>
            </a:r>
            <a:r>
              <a:rPr lang="en-US" altLang="en-US" sz="24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</a:t>
            </a:r>
            <a:r>
              <a:rPr lang="en-US" altLang="en-US" sz="2400" b="0" dirty="0">
                <a:latin typeface="Gill Sans MT" panose="020B0502020104020203" pitchFamily="34" charset="0"/>
              </a:rPr>
              <a:t> ((b &amp;&amp; c) &amp;&amp; d)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24000" y="72462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latin typeface="Gill Sans MT" panose="020B0502020104020203" pitchFamily="34" charset="0"/>
              </a:rPr>
              <a:t>(1 of 6)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764840" y="3522367"/>
            <a:ext cx="6543149" cy="461665"/>
          </a:xfrm>
          <a:prstGeom prst="rect">
            <a:avLst/>
          </a:prstGeom>
          <a:solidFill>
            <a:srgbClr val="0000CC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400" b="0" dirty="0">
                <a:latin typeface="Gill Sans MT" panose="020B0502020104020203" pitchFamily="34" charset="0"/>
              </a:rPr>
              <a:t>T </a:t>
            </a:r>
            <a:r>
              <a:rPr lang="en-US" altLang="en-US" sz="24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</a:t>
            </a:r>
            <a:r>
              <a:rPr lang="en-US" altLang="en-US" sz="2400" b="0" dirty="0">
                <a:latin typeface="Gill Sans MT" panose="020B0502020104020203" pitchFamily="34" charset="0"/>
              </a:rPr>
              <a:t> ((b &amp;&amp; c) &amp;&amp; T)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/>
      <p:bldP spid="13" grpId="0" animBg="1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Correlated Active Clause Coverage</a:t>
            </a:r>
          </a:p>
        </p:txBody>
      </p:sp>
      <p:sp>
        <p:nvSpPr>
          <p:cNvPr id="2048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93141CB-31AC-4FF2-959B-C85505DD4FB8}" type="slidenum">
              <a:rPr lang="en-US" altLang="en-US" sz="900" b="0">
                <a:solidFill>
                  <a:schemeClr val="tx1"/>
                </a:solidFill>
              </a:rPr>
              <a:pPr/>
              <a:t>17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352800" y="1138123"/>
            <a:ext cx="4572000" cy="3785652"/>
          </a:xfrm>
          <a:prstGeom prst="rect">
            <a:avLst/>
          </a:prstGeom>
          <a:solidFill>
            <a:srgbClr val="0000CC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             (a || (b &amp;&amp; c)) &amp;&amp; d</a:t>
            </a:r>
          </a:p>
          <a:p>
            <a:r>
              <a:rPr lang="en-US" alt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          </a:t>
            </a:r>
            <a:r>
              <a:rPr lang="en-US" altLang="en-US" sz="2400" b="0" u="sng" dirty="0">
                <a:solidFill>
                  <a:schemeClr val="tx2"/>
                </a:solidFill>
                <a:latin typeface="Gill Sans MT" panose="020B0502020104020203" pitchFamily="34" charset="0"/>
              </a:rPr>
              <a:t>a    b        c           d</a:t>
            </a:r>
          </a:p>
          <a:p>
            <a:r>
              <a:rPr lang="en-US" alt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3200" b="0" baseline="-25000" dirty="0">
                <a:solidFill>
                  <a:schemeClr val="tx2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:     </a:t>
            </a:r>
            <a:r>
              <a:rPr lang="en-US" alt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T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</a:t>
            </a:r>
            <a:r>
              <a:rPr lang="en-US" altLang="en-US" sz="24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    f            t</a:t>
            </a:r>
          </a:p>
          <a:p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     </a:t>
            </a:r>
            <a:r>
              <a:rPr lang="en-US" alt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F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t         f            t</a:t>
            </a:r>
          </a:p>
          <a:p>
            <a:r>
              <a:rPr lang="en-US" altLang="en-US" sz="2400" b="0" dirty="0" err="1">
                <a:solidFill>
                  <a:schemeClr val="tx2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3200" b="0" baseline="-25000" dirty="0" err="1">
                <a:solidFill>
                  <a:schemeClr val="tx2"/>
                </a:solidFill>
                <a:latin typeface="Gill Sans MT" panose="020B0502020104020203" pitchFamily="34" charset="0"/>
              </a:rPr>
              <a:t>b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:     f     </a:t>
            </a:r>
            <a:r>
              <a:rPr lang="en-US" alt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T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   </a:t>
            </a:r>
            <a:r>
              <a:rPr lang="en-US" altLang="en-US" sz="24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       </a:t>
            </a:r>
            <a:r>
              <a:rPr lang="en-US" altLang="en-US" sz="24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</a:t>
            </a:r>
            <a:endParaRPr lang="en-US" altLang="en-US" sz="2400" b="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     f     </a:t>
            </a:r>
            <a:r>
              <a:rPr lang="en-US" altLang="en-US" sz="2400" b="0" dirty="0" err="1">
                <a:solidFill>
                  <a:schemeClr val="tx2"/>
                </a:solidFill>
                <a:latin typeface="Gill Sans MT" panose="020B0502020104020203" pitchFamily="34" charset="0"/>
              </a:rPr>
              <a:t>F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   t            </a:t>
            </a:r>
            <a:r>
              <a:rPr lang="en-US" altLang="en-US" sz="24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</a:t>
            </a:r>
            <a:endParaRPr lang="en-US" altLang="en-US" sz="2400" b="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r>
              <a:rPr lang="en-US" alt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3200" b="0" baseline="-25000" dirty="0">
                <a:solidFill>
                  <a:schemeClr val="tx2"/>
                </a:solidFill>
                <a:latin typeface="Gill Sans MT" panose="020B0502020104020203" pitchFamily="34" charset="0"/>
              </a:rPr>
              <a:t>c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:     f     t         </a:t>
            </a:r>
            <a:r>
              <a:rPr lang="en-US" altLang="en-US" sz="2400" b="0" dirty="0" err="1">
                <a:solidFill>
                  <a:schemeClr val="tx2"/>
                </a:solidFill>
                <a:latin typeface="Gill Sans MT" panose="020B0502020104020203" pitchFamily="34" charset="0"/>
              </a:rPr>
              <a:t>T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      </a:t>
            </a:r>
            <a:r>
              <a:rPr lang="en-US" altLang="en-US" sz="24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</a:t>
            </a:r>
            <a:endParaRPr lang="en-US" altLang="en-US" sz="2400" b="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     f     t         </a:t>
            </a:r>
            <a:r>
              <a:rPr lang="en-US" alt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F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      t</a:t>
            </a:r>
          </a:p>
          <a:p>
            <a:r>
              <a:rPr lang="en-US" altLang="en-US" sz="2400" b="0" dirty="0" err="1">
                <a:solidFill>
                  <a:schemeClr val="tx2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3200" b="0" baseline="-25000" dirty="0" err="1">
                <a:solidFill>
                  <a:schemeClr val="tx2"/>
                </a:solidFill>
                <a:latin typeface="Gill Sans MT" panose="020B0502020104020203" pitchFamily="34" charset="0"/>
              </a:rPr>
              <a:t>d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:     t     </a:t>
            </a:r>
            <a:r>
              <a:rPr lang="en-US" altLang="en-US" sz="24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    </a:t>
            </a:r>
            <a:r>
              <a:rPr lang="en-US" altLang="en-US" sz="24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      </a:t>
            </a:r>
            <a:r>
              <a:rPr lang="en-US" altLang="en-US" sz="2400" b="0" dirty="0" err="1">
                <a:solidFill>
                  <a:schemeClr val="tx2"/>
                </a:solidFill>
                <a:latin typeface="Gill Sans MT" panose="020B0502020104020203" pitchFamily="34" charset="0"/>
              </a:rPr>
              <a:t>T</a:t>
            </a:r>
            <a:endParaRPr lang="en-US" altLang="en-US" sz="2400" b="0" dirty="0">
              <a:solidFill>
                <a:schemeClr val="tx2"/>
              </a:solidFill>
              <a:latin typeface="Gill Sans MT" panose="020B0502020104020203" pitchFamily="34" charset="0"/>
            </a:endParaRPr>
          </a:p>
          <a:p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     t     </a:t>
            </a:r>
            <a:r>
              <a:rPr lang="en-US" altLang="en-US" sz="24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    </a:t>
            </a:r>
            <a:r>
              <a:rPr lang="en-US" altLang="en-US" sz="24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      </a:t>
            </a:r>
            <a:r>
              <a:rPr lang="en-US" alt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F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/>
        </p:nvCxnSpPr>
        <p:spPr bwMode="auto">
          <a:xfrm flipV="1">
            <a:off x="4073613" y="3561577"/>
            <a:ext cx="3081170" cy="65088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Straight Connector 7"/>
          <p:cNvCxnSpPr>
            <a:cxnSpLocks noChangeShapeType="1"/>
          </p:cNvCxnSpPr>
          <p:nvPr/>
        </p:nvCxnSpPr>
        <p:spPr bwMode="auto">
          <a:xfrm flipV="1">
            <a:off x="4073613" y="3940081"/>
            <a:ext cx="3081170" cy="65088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104188" y="3244207"/>
            <a:ext cx="1553159" cy="461665"/>
          </a:xfrm>
          <a:prstGeom prst="rect">
            <a:avLst/>
          </a:prstGeom>
          <a:solidFill>
            <a:srgbClr val="0000CC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400" b="0" dirty="0">
                <a:latin typeface="Gill Sans MT" panose="020B0502020104020203" pitchFamily="34" charset="0"/>
              </a:rPr>
              <a:t>duplicates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871552" y="5255239"/>
            <a:ext cx="6442366" cy="461665"/>
          </a:xfrm>
          <a:prstGeom prst="rect">
            <a:avLst/>
          </a:prstGeom>
          <a:solidFill>
            <a:srgbClr val="0000CC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400" b="0">
                <a:solidFill>
                  <a:schemeClr val="tx1"/>
                </a:solidFill>
                <a:latin typeface="Gill Sans MT" panose="020B0502020104020203" pitchFamily="34" charset="0"/>
              </a:rPr>
              <a:t>Six tests needed for CACC on Thermostat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053640" y="2733251"/>
            <a:ext cx="2800350" cy="297699"/>
          </a:xfrm>
          <a:prstGeom prst="rect">
            <a:avLst/>
          </a:prstGeom>
          <a:solidFill>
            <a:srgbClr val="FFFF00">
              <a:alpha val="2705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 sz="2400" b="0">
              <a:latin typeface="Gill Sans MT" panose="020B0502020104020203" pitchFamily="34" charset="0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4053640" y="2348180"/>
            <a:ext cx="2800350" cy="316164"/>
          </a:xfrm>
          <a:prstGeom prst="rect">
            <a:avLst/>
          </a:prstGeom>
          <a:solidFill>
            <a:srgbClr val="FFFF00">
              <a:alpha val="2705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 sz="2400" b="0">
              <a:latin typeface="Gill Sans MT" panose="020B05020201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535940" y="69582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0" dirty="0">
                <a:latin typeface="Gill Sans MT" panose="020B0502020104020203" pitchFamily="34" charset="0"/>
              </a:rPr>
              <a:t>(2 of 6)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4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Correlated Active Clause Coverage</a:t>
            </a:r>
          </a:p>
        </p:txBody>
      </p:sp>
      <p:sp>
        <p:nvSpPr>
          <p:cNvPr id="2150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543BF300-B80B-4017-9AFE-D944F55F466B}" type="slidenum">
              <a:rPr lang="en-US" altLang="en-US" sz="900" b="0">
                <a:solidFill>
                  <a:schemeClr val="tx1"/>
                </a:solidFill>
              </a:rPr>
              <a:pPr/>
              <a:t>18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020888" y="840023"/>
            <a:ext cx="8159750" cy="5632311"/>
          </a:xfrm>
          <a:prstGeom prst="rect">
            <a:avLst/>
          </a:prstGeom>
          <a:solidFill>
            <a:srgbClr val="0000CC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                                                      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curTemp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dTemp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thresholdDiff</a:t>
            </a:r>
            <a:endParaRPr lang="en-US" altLang="en-US" sz="1800" b="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a=t :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curTemp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&lt;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dTemp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-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thresholdDiff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  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</a:rPr>
              <a:t>63             69                 5</a:t>
            </a:r>
          </a:p>
          <a:p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a=f : !(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curTemp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&lt;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dTemp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-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thresholdDiff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)    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</a:rPr>
              <a:t>66             69                 5</a:t>
            </a:r>
          </a:p>
          <a:p>
            <a:endParaRPr lang="en-US" altLang="en-US" sz="1800" b="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dTemp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:</a:t>
            </a:r>
          </a:p>
          <a:p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settings.setSettings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(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Period.</a:t>
            </a:r>
            <a:r>
              <a:rPr lang="en-US" altLang="en-US" sz="1800" b="0" dirty="0" err="1">
                <a:solidFill>
                  <a:schemeClr val="tx2"/>
                </a:solidFill>
                <a:latin typeface="Gill Sans MT" panose="020B0502020104020203" pitchFamily="34" charset="0"/>
              </a:rPr>
              <a:t>MORNING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,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DayType.</a:t>
            </a:r>
            <a:r>
              <a:rPr lang="en-US" altLang="en-US" sz="1800" b="0" dirty="0" err="1">
                <a:solidFill>
                  <a:schemeClr val="tx2"/>
                </a:solidFill>
                <a:latin typeface="Gill Sans MT" panose="020B0502020104020203" pitchFamily="34" charset="0"/>
              </a:rPr>
              <a:t>WEEKDAY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,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</a:rPr>
              <a:t>69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)</a:t>
            </a:r>
          </a:p>
          <a:p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thermo.setPeriod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(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Period.</a:t>
            </a:r>
            <a:r>
              <a:rPr lang="en-US" altLang="en-US" sz="1800" b="0" dirty="0" err="1">
                <a:solidFill>
                  <a:schemeClr val="tx2"/>
                </a:solidFill>
                <a:latin typeface="Gill Sans MT" panose="020B0502020104020203" pitchFamily="34" charset="0"/>
              </a:rPr>
              <a:t>MORNING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);</a:t>
            </a:r>
          </a:p>
          <a:p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thermo.setDay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(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Daytype.</a:t>
            </a:r>
            <a:r>
              <a:rPr lang="en-US" altLang="en-US" sz="1800" b="0" dirty="0" err="1">
                <a:solidFill>
                  <a:schemeClr val="tx2"/>
                </a:solidFill>
                <a:latin typeface="Gill Sans MT" panose="020B0502020104020203" pitchFamily="34" charset="0"/>
              </a:rPr>
              <a:t>WEEKDAY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);</a:t>
            </a:r>
          </a:p>
          <a:p>
            <a:endParaRPr lang="en-US" altLang="en-US" sz="1800" b="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            Override</a:t>
            </a:r>
          </a:p>
          <a:p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b=t : Override     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</a:rPr>
              <a:t>T</a:t>
            </a:r>
          </a:p>
          <a:p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b=f : !Override    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</a:rPr>
              <a:t>F</a:t>
            </a:r>
          </a:p>
          <a:p>
            <a:endParaRPr lang="en-US" altLang="en-US" sz="1800" b="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                                                               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curTemp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overTemp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thresholdDiff</a:t>
            </a:r>
            <a:endParaRPr lang="en-US" altLang="en-US" sz="1800" b="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c=t :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curTemp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&lt;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overTemp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-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thresholdDiff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      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</a:rPr>
              <a:t>63            72               5</a:t>
            </a:r>
          </a:p>
          <a:p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c=f : !(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curTemp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&lt;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overTemp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-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thresholdDiff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)        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</a:rPr>
              <a:t>66            67               5</a:t>
            </a:r>
          </a:p>
          <a:p>
            <a:endParaRPr lang="en-US" altLang="en-US" sz="1800" b="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                                                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timeSinceLastRun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minLag</a:t>
            </a:r>
            <a:endParaRPr lang="en-US" altLang="en-US" sz="1800" b="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d=t :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timeSinceLastRun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&gt;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minLag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             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</a:rPr>
              <a:t>12                 10</a:t>
            </a:r>
          </a:p>
          <a:p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d=f : !(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timeSinceLastRun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&gt;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minLag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)                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</a:rPr>
              <a:t>8                  10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5296860" y="2744459"/>
            <a:ext cx="4829175" cy="1749425"/>
          </a:xfrm>
          <a:prstGeom prst="ellipse">
            <a:avLst/>
          </a:prstGeom>
          <a:solidFill>
            <a:schemeClr val="accent2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4">
                    <a:lumMod val="10000"/>
                  </a:schemeClr>
                </a:solidFill>
                <a:latin typeface="Comic Sans MS" pitchFamily="66" charset="0"/>
              </a:rPr>
              <a:t>These values then need to be placed into calls to </a:t>
            </a:r>
            <a:r>
              <a:rPr lang="en-US" dirty="0" err="1">
                <a:solidFill>
                  <a:schemeClr val="accent4">
                    <a:lumMod val="10000"/>
                  </a:schemeClr>
                </a:solidFill>
                <a:latin typeface="Comic Sans MS" pitchFamily="66" charset="0"/>
              </a:rPr>
              <a:t>turnHeaterOn</a:t>
            </a:r>
            <a:r>
              <a:rPr lang="en-US" dirty="0">
                <a:solidFill>
                  <a:schemeClr val="accent4">
                    <a:lumMod val="10000"/>
                  </a:schemeClr>
                </a:solidFill>
                <a:latin typeface="Comic Sans MS" pitchFamily="66" charset="0"/>
              </a:rPr>
              <a:t>() to satisfy the 6 tests for CACC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35940" y="69582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0" dirty="0">
                <a:latin typeface="Gill Sans MT" panose="020B0502020104020203" pitchFamily="34" charset="0"/>
              </a:rPr>
              <a:t>(3 of 6)</a:t>
            </a:r>
          </a:p>
        </p:txBody>
      </p:sp>
    </p:spTree>
    <p:extLst>
      <p:ext uri="{BB962C8B-B14F-4D97-AF65-F5344CB8AC3E}">
        <p14:creationId xmlns:p14="http://schemas.microsoft.com/office/powerpoint/2010/main" val="26798405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Correlated Active Clause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None/>
              <a:defRPr/>
            </a:pPr>
            <a:r>
              <a:rPr lang="en-US" sz="2000" dirty="0" err="1"/>
              <a:t>dTemp</a:t>
            </a:r>
            <a:r>
              <a:rPr lang="en-US" sz="2000" dirty="0"/>
              <a:t> = </a:t>
            </a:r>
            <a:r>
              <a:rPr lang="en-US" sz="2000" dirty="0">
                <a:solidFill>
                  <a:schemeClr val="tx2"/>
                </a:solidFill>
              </a:rPr>
              <a:t>69</a:t>
            </a:r>
            <a:r>
              <a:rPr lang="en-US" sz="2000" dirty="0"/>
              <a:t> (period = </a:t>
            </a:r>
            <a:r>
              <a:rPr lang="en-US" sz="1800" dirty="0">
                <a:solidFill>
                  <a:schemeClr val="tx2"/>
                </a:solidFill>
              </a:rPr>
              <a:t>MORNING</a:t>
            </a:r>
            <a:r>
              <a:rPr lang="en-US" sz="2000" dirty="0"/>
              <a:t>, </a:t>
            </a:r>
            <a:r>
              <a:rPr lang="en-US" sz="2000" dirty="0" err="1"/>
              <a:t>daytype</a:t>
            </a:r>
            <a:r>
              <a:rPr lang="en-US" sz="2000" dirty="0"/>
              <a:t> = </a:t>
            </a:r>
            <a:r>
              <a:rPr lang="en-US" sz="1800" dirty="0">
                <a:solidFill>
                  <a:schemeClr val="tx2"/>
                </a:solidFill>
              </a:rPr>
              <a:t>WEEKDAY</a:t>
            </a:r>
            <a:r>
              <a:rPr lang="en-US" sz="2000" dirty="0"/>
              <a:t>)</a:t>
            </a:r>
          </a:p>
          <a:p>
            <a:pPr marL="342900" indent="-342900">
              <a:buNone/>
              <a:defRPr/>
            </a:pPr>
            <a:r>
              <a:rPr lang="en-US" sz="2000" dirty="0"/>
              <a:t>1. T </a:t>
            </a:r>
            <a:r>
              <a:rPr lang="en-US" sz="2000" dirty="0" err="1"/>
              <a:t>t</a:t>
            </a:r>
            <a:r>
              <a:rPr lang="en-US" sz="2000" dirty="0"/>
              <a:t> f t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thermo.setCurrentTemp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63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thermo.setThresholdDiff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5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thermo.setOverride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true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thermo.setOverTemp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67</a:t>
            </a:r>
            <a:r>
              <a:rPr lang="en-US" sz="2000" dirty="0"/>
              <a:t>); // c is false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thermo.setMinLag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10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thermo.setTimeSinceLastRun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12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endParaRPr lang="en-US" sz="2000" dirty="0"/>
          </a:p>
          <a:p>
            <a:pPr marL="342900" indent="-342900">
              <a:buNone/>
              <a:defRPr/>
            </a:pPr>
            <a:r>
              <a:rPr lang="en-US" sz="2000" dirty="0"/>
              <a:t>2. F t f t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thermo.setCurrentTemp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66</a:t>
            </a:r>
            <a:r>
              <a:rPr lang="en-US" sz="2000" dirty="0"/>
              <a:t>); // a is false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thermo.setThresholdDiff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5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thermo.setOverride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true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thermo.setOverTemp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67</a:t>
            </a:r>
            <a:r>
              <a:rPr lang="en-US" sz="2000" dirty="0"/>
              <a:t>); // c is false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thermo.setMinLag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10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thermo.setTimeSinceLastRun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12</a:t>
            </a:r>
            <a:r>
              <a:rPr lang="en-US" sz="2000" dirty="0"/>
              <a:t>);</a:t>
            </a:r>
          </a:p>
        </p:txBody>
      </p:sp>
      <p:sp>
        <p:nvSpPr>
          <p:cNvPr id="225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5F490F6-9775-45B1-9DD6-7EE025D1911B}" type="slidenum">
              <a:rPr lang="en-US" altLang="en-US" sz="900" b="0">
                <a:solidFill>
                  <a:schemeClr val="tx1"/>
                </a:solidFill>
              </a:rPr>
              <a:pPr/>
              <a:t>19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35940" y="69582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0" dirty="0">
                <a:latin typeface="Gill Sans MT" panose="020B0502020104020203" pitchFamily="34" charset="0"/>
              </a:rPr>
              <a:t>(4 of 6)</a:t>
            </a:r>
          </a:p>
        </p:txBody>
      </p:sp>
    </p:spTree>
    <p:extLst>
      <p:ext uri="{BB962C8B-B14F-4D97-AF65-F5344CB8AC3E}">
        <p14:creationId xmlns:p14="http://schemas.microsoft.com/office/powerpoint/2010/main" val="18749063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Correlated Active Clause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None/>
              <a:defRPr/>
            </a:pPr>
            <a:r>
              <a:rPr lang="en-US" sz="2000" dirty="0" err="1"/>
              <a:t>dTemp</a:t>
            </a:r>
            <a:r>
              <a:rPr lang="en-US" sz="2000" dirty="0"/>
              <a:t> = </a:t>
            </a:r>
            <a:r>
              <a:rPr lang="en-US" sz="2000" dirty="0">
                <a:solidFill>
                  <a:schemeClr val="tx2"/>
                </a:solidFill>
              </a:rPr>
              <a:t>69</a:t>
            </a:r>
            <a:r>
              <a:rPr lang="en-US" sz="2000" dirty="0"/>
              <a:t> (period = </a:t>
            </a:r>
            <a:r>
              <a:rPr lang="en-US" sz="1800" dirty="0">
                <a:solidFill>
                  <a:schemeClr val="tx2"/>
                </a:solidFill>
              </a:rPr>
              <a:t>MORNING</a:t>
            </a:r>
            <a:r>
              <a:rPr lang="en-US" sz="2000" dirty="0"/>
              <a:t>, </a:t>
            </a:r>
            <a:r>
              <a:rPr lang="en-US" sz="2000" dirty="0" err="1"/>
              <a:t>daytype</a:t>
            </a:r>
            <a:r>
              <a:rPr lang="en-US" sz="2000" dirty="0"/>
              <a:t> = </a:t>
            </a:r>
            <a:r>
              <a:rPr lang="en-US" sz="1800" dirty="0">
                <a:solidFill>
                  <a:schemeClr val="tx2"/>
                </a:solidFill>
              </a:rPr>
              <a:t>WEEKDAY</a:t>
            </a:r>
            <a:r>
              <a:rPr lang="en-US" sz="2000" dirty="0"/>
              <a:t>)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3. f T </a:t>
            </a:r>
            <a:r>
              <a:rPr lang="en-US" sz="2000" dirty="0" err="1"/>
              <a:t>t</a:t>
            </a:r>
            <a:r>
              <a:rPr lang="en-US" sz="2000" dirty="0"/>
              <a:t> </a:t>
            </a:r>
            <a:r>
              <a:rPr lang="en-US" sz="2000" dirty="0" err="1"/>
              <a:t>t</a:t>
            </a:r>
            <a:endParaRPr lang="en-US" sz="2000" dirty="0"/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thermo.setCurrentTemp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66</a:t>
            </a:r>
            <a:r>
              <a:rPr lang="en-US" sz="2000" dirty="0"/>
              <a:t>); // a is false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thermo.setThresholdDiff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5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thermo.setOverride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true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thermo.setOverTemp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72</a:t>
            </a:r>
            <a:r>
              <a:rPr lang="en-US" sz="2000" dirty="0"/>
              <a:t>); // to make c true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thermo.setMinLag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10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thermo.setTimeSinceLastRun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12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endParaRPr lang="en-US" sz="2000" dirty="0"/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4. F </a:t>
            </a:r>
            <a:r>
              <a:rPr lang="en-US" sz="2000" dirty="0" err="1"/>
              <a:t>f</a:t>
            </a:r>
            <a:r>
              <a:rPr lang="en-US" sz="2000" dirty="0"/>
              <a:t> T </a:t>
            </a:r>
            <a:r>
              <a:rPr lang="en-US" sz="2000" dirty="0" err="1"/>
              <a:t>t</a:t>
            </a:r>
            <a:endParaRPr lang="en-US" sz="2000" dirty="0"/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thermo.setCurrentTemp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66</a:t>
            </a:r>
            <a:r>
              <a:rPr lang="en-US" sz="2000" dirty="0"/>
              <a:t>); // a is false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thermo.setThresholdDiff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5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thermo.setOverride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false</a:t>
            </a:r>
            <a:r>
              <a:rPr lang="en-US" sz="2000" dirty="0"/>
              <a:t>); // b is false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thermo.setOverTemp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72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thermo.setMinLag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10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thermo.setTimeSinceLastRun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12</a:t>
            </a:r>
            <a:r>
              <a:rPr lang="en-US" sz="2000" dirty="0"/>
              <a:t>);</a:t>
            </a:r>
          </a:p>
        </p:txBody>
      </p:sp>
      <p:sp>
        <p:nvSpPr>
          <p:cNvPr id="225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5F490F6-9775-45B1-9DD6-7EE025D1911B}" type="slidenum">
              <a:rPr lang="en-US" altLang="en-US" sz="900" b="0">
                <a:solidFill>
                  <a:schemeClr val="tx1"/>
                </a:solidFill>
              </a:rPr>
              <a:pPr/>
              <a:t>20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35940" y="69582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0" dirty="0">
                <a:latin typeface="Gill Sans MT" panose="020B0502020104020203" pitchFamily="34" charset="0"/>
              </a:rPr>
              <a:t>(5 of 6)</a:t>
            </a:r>
          </a:p>
        </p:txBody>
      </p:sp>
    </p:spTree>
    <p:extLst>
      <p:ext uri="{BB962C8B-B14F-4D97-AF65-F5344CB8AC3E}">
        <p14:creationId xmlns:p14="http://schemas.microsoft.com/office/powerpoint/2010/main" val="384488340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Correlated Active Clause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None/>
              <a:defRPr/>
            </a:pPr>
            <a:r>
              <a:rPr lang="en-US" sz="2000" dirty="0" err="1"/>
              <a:t>dTemp</a:t>
            </a:r>
            <a:r>
              <a:rPr lang="en-US" sz="2000" dirty="0"/>
              <a:t> = </a:t>
            </a:r>
            <a:r>
              <a:rPr lang="en-US" sz="2000" dirty="0">
                <a:solidFill>
                  <a:schemeClr val="tx2"/>
                </a:solidFill>
              </a:rPr>
              <a:t>69</a:t>
            </a:r>
            <a:r>
              <a:rPr lang="en-US" sz="2000" dirty="0"/>
              <a:t> (period = </a:t>
            </a:r>
            <a:r>
              <a:rPr lang="en-US" sz="1800" dirty="0">
                <a:solidFill>
                  <a:schemeClr val="tx2"/>
                </a:solidFill>
              </a:rPr>
              <a:t>MORNING</a:t>
            </a:r>
            <a:r>
              <a:rPr lang="en-US" sz="2000" dirty="0"/>
              <a:t>, </a:t>
            </a:r>
            <a:r>
              <a:rPr lang="en-US" sz="2000" dirty="0" err="1"/>
              <a:t>daytype</a:t>
            </a:r>
            <a:r>
              <a:rPr lang="en-US" sz="2000" dirty="0"/>
              <a:t> = </a:t>
            </a:r>
            <a:r>
              <a:rPr lang="en-US" sz="1800" dirty="0">
                <a:solidFill>
                  <a:schemeClr val="tx2"/>
                </a:solidFill>
              </a:rPr>
              <a:t>WEEKDAY</a:t>
            </a:r>
            <a:r>
              <a:rPr lang="en-US" sz="2000" dirty="0"/>
              <a:t>)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5. t </a:t>
            </a:r>
            <a:r>
              <a:rPr lang="en-US" sz="2000" dirty="0" err="1"/>
              <a:t>t</a:t>
            </a:r>
            <a:r>
              <a:rPr lang="en-US" sz="2000" dirty="0"/>
              <a:t> </a:t>
            </a:r>
            <a:r>
              <a:rPr lang="en-US" sz="2000" dirty="0" err="1"/>
              <a:t>t</a:t>
            </a:r>
            <a:r>
              <a:rPr lang="en-US" sz="2000" dirty="0"/>
              <a:t> </a:t>
            </a:r>
            <a:r>
              <a:rPr lang="en-US" sz="2000" dirty="0" err="1"/>
              <a:t>T</a:t>
            </a:r>
            <a:endParaRPr lang="en-US" sz="2000" dirty="0"/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thermo.setCurrentTemp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63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thermo.setThresholdDiff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5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thermo.setOverride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true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thermo.setOverTemp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72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thermo.setMinLag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10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thermo.setTimeSinceLastRun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12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endParaRPr lang="en-US" sz="2000" dirty="0"/>
          </a:p>
          <a:p>
            <a:pPr marL="342900" indent="-342900">
              <a:buNone/>
              <a:defRPr/>
            </a:pPr>
            <a:r>
              <a:rPr lang="en-US" sz="2000" dirty="0"/>
              <a:t>6. t </a:t>
            </a:r>
            <a:r>
              <a:rPr lang="en-US" sz="2000" dirty="0" err="1"/>
              <a:t>t</a:t>
            </a:r>
            <a:r>
              <a:rPr lang="en-US" sz="2000" dirty="0"/>
              <a:t> </a:t>
            </a:r>
            <a:r>
              <a:rPr lang="en-US" sz="2000" dirty="0" err="1"/>
              <a:t>t</a:t>
            </a:r>
            <a:r>
              <a:rPr lang="en-US" sz="2000" dirty="0"/>
              <a:t> F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thermo.setCurrentTemp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63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thermo.setThresholdDiff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5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thermo.setOverride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true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thermo.setOverTemp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72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thermo.setMinLag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10</a:t>
            </a:r>
            <a:r>
              <a:rPr lang="en-US" sz="2000" dirty="0"/>
              <a:t>);</a:t>
            </a:r>
          </a:p>
          <a:p>
            <a:pPr marL="342900" indent="-342900">
              <a:spcBef>
                <a:spcPts val="300"/>
              </a:spcBef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thermo.setTimeSinceLastRun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FF00"/>
                </a:solidFill>
              </a:rPr>
              <a:t>8</a:t>
            </a:r>
            <a:r>
              <a:rPr lang="en-US" sz="2000" dirty="0"/>
              <a:t>); // d is false</a:t>
            </a:r>
          </a:p>
        </p:txBody>
      </p:sp>
      <p:sp>
        <p:nvSpPr>
          <p:cNvPr id="225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5F490F6-9775-45B1-9DD6-7EE025D1911B}" type="slidenum">
              <a:rPr lang="en-US" altLang="en-US" sz="900" b="0">
                <a:solidFill>
                  <a:schemeClr val="tx1"/>
                </a:solidFill>
              </a:rPr>
              <a:pPr/>
              <a:t>21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35940" y="69582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0" dirty="0">
                <a:latin typeface="Gill Sans MT" panose="020B0502020104020203" pitchFamily="34" charset="0"/>
              </a:rPr>
              <a:t>(6 of 6)</a:t>
            </a:r>
          </a:p>
        </p:txBody>
      </p:sp>
    </p:spTree>
    <p:extLst>
      <p:ext uri="{BB962C8B-B14F-4D97-AF65-F5344CB8AC3E}">
        <p14:creationId xmlns:p14="http://schemas.microsoft.com/office/powerpoint/2010/main" val="332751786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Program Transformation Issues</a:t>
            </a:r>
          </a:p>
        </p:txBody>
      </p:sp>
      <p:sp>
        <p:nvSpPr>
          <p:cNvPr id="2458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2169932C-C1F1-4D99-820E-ADE602FCE184}" type="slidenum">
              <a:rPr lang="en-US" altLang="en-US" sz="900" b="0">
                <a:solidFill>
                  <a:schemeClr val="tx1"/>
                </a:solidFill>
              </a:rPr>
              <a:pPr/>
              <a:t>22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138363" y="666750"/>
            <a:ext cx="2774950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</a:pPr>
            <a:endParaRPr lang="en-US" altLang="en-US" sz="2400" dirty="0">
              <a:solidFill>
                <a:schemeClr val="tx1"/>
              </a:solidFill>
              <a:latin typeface="Arial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if ((a &amp;&amp; b) || c)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{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     S1;        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else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{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     S2;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}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7207250" y="843710"/>
            <a:ext cx="2774950" cy="581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if (a) {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     if (b)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          S1;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     else {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          if (c) 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              S1;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          else 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              S2;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     }       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else {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     if (c) 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          S1;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     else 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          S2;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}</a:t>
            </a:r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5173663" y="1901825"/>
            <a:ext cx="1619250" cy="1588"/>
          </a:xfrm>
          <a:prstGeom prst="line">
            <a:avLst/>
          </a:prstGeom>
          <a:noFill/>
          <a:ln w="127000">
            <a:solidFill>
              <a:schemeClr val="accent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4808621" y="1778000"/>
            <a:ext cx="2502568" cy="646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</a:pPr>
            <a:endParaRPr lang="en-US" altLang="en-US" dirty="0">
              <a:solidFill>
                <a:schemeClr val="tx1"/>
              </a:solidFill>
              <a:latin typeface="Arial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Transform (</a:t>
            </a: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) ?</a:t>
            </a:r>
          </a:p>
        </p:txBody>
      </p:sp>
    </p:spTree>
    <p:extLst>
      <p:ext uri="{BB962C8B-B14F-4D97-AF65-F5344CB8AC3E}">
        <p14:creationId xmlns:p14="http://schemas.microsoft.com/office/powerpoint/2010/main" val="32264827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Transformation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7850" y="893763"/>
            <a:ext cx="4903161" cy="1777248"/>
          </a:xfrm>
        </p:spPr>
        <p:txBody>
          <a:bodyPr/>
          <a:lstStyle/>
          <a:p>
            <a:r>
              <a:rPr lang="en-US" dirty="0"/>
              <a:t>We trade one problem for </a:t>
            </a:r>
            <a:r>
              <a:rPr lang="en-US" dirty="0">
                <a:solidFill>
                  <a:schemeClr val="tx2"/>
                </a:solidFill>
              </a:rPr>
              <a:t>two problems 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Maintenance</a:t>
            </a:r>
            <a:r>
              <a:rPr lang="en-US" dirty="0"/>
              <a:t> becomes harder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Reachability</a:t>
            </a:r>
            <a:r>
              <a:rPr lang="en-US" dirty="0"/>
              <a:t> becomes harder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C7E80D-252C-4EBC-97B9-18FA681E2FD1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graphicFrame>
        <p:nvGraphicFramePr>
          <p:cNvPr id="7" name="Group 1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4042846"/>
              </p:ext>
            </p:extLst>
          </p:nvPr>
        </p:nvGraphicFramePr>
        <p:xfrm>
          <a:off x="6524876" y="1188367"/>
          <a:ext cx="4022809" cy="3365501"/>
        </p:xfrm>
        <a:graphic>
          <a:graphicData uri="http://schemas.openxmlformats.org/drawingml/2006/table">
            <a:tbl>
              <a:tblPr/>
              <a:tblGrid>
                <a:gridCol w="401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45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39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a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b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c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(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a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  <a:cs typeface="Times New Roman" pitchFamily="18" charset="0"/>
                          <a:sym typeface="Symbol" pitchFamily="18" charset="2"/>
                        </a:rPr>
                        <a:t>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b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)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  <a:cs typeface="Times New Roman" pitchFamily="18" charset="0"/>
                          <a:sym typeface="Symbol" pitchFamily="18" charset="2"/>
                        </a:rPr>
                        <a:t>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c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CACC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PC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0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X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98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X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39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X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X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98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X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X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39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X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39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X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98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39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X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577850" y="2646367"/>
            <a:ext cx="4903161" cy="2130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Monotype Sorts" charset="2"/>
              <a:buChar char="n"/>
              <a:defRPr sz="2800" b="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400" b="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Consider </a:t>
            </a:r>
            <a:r>
              <a:rPr lang="en-US" kern="0" dirty="0">
                <a:solidFill>
                  <a:schemeClr val="tx2"/>
                </a:solidFill>
              </a:rPr>
              <a:t>coverage</a:t>
            </a:r>
            <a:r>
              <a:rPr lang="en-US" kern="0" dirty="0"/>
              <a:t> :</a:t>
            </a:r>
          </a:p>
          <a:p>
            <a:pPr lvl="1"/>
            <a:r>
              <a:rPr lang="en-US" kern="0" dirty="0">
                <a:solidFill>
                  <a:schemeClr val="tx2"/>
                </a:solidFill>
              </a:rPr>
              <a:t>CACC</a:t>
            </a:r>
            <a:r>
              <a:rPr lang="en-US" kern="0" dirty="0"/>
              <a:t> on the original requires four rows marked in the table</a:t>
            </a:r>
          </a:p>
          <a:p>
            <a:pPr lvl="1"/>
            <a:r>
              <a:rPr lang="en-US" kern="0" dirty="0">
                <a:solidFill>
                  <a:schemeClr val="tx2"/>
                </a:solidFill>
              </a:rPr>
              <a:t>PC on the transformed </a:t>
            </a:r>
            <a:r>
              <a:rPr lang="en-US" kern="0" dirty="0"/>
              <a:t>version requires five different rows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577850" y="4788571"/>
            <a:ext cx="8981867" cy="1609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Monotype Sorts" charset="2"/>
              <a:buChar char="n"/>
              <a:defRPr sz="2800" b="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400" b="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PC on the transformed version has </a:t>
            </a:r>
            <a:r>
              <a:rPr lang="en-US" kern="0" dirty="0">
                <a:solidFill>
                  <a:schemeClr val="tx2"/>
                </a:solidFill>
              </a:rPr>
              <a:t>two problems </a:t>
            </a:r>
            <a:r>
              <a:rPr lang="en-US" kern="0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kern="0" dirty="0"/>
              <a:t>It does </a:t>
            </a:r>
            <a:r>
              <a:rPr lang="en-US" kern="0" dirty="0">
                <a:solidFill>
                  <a:schemeClr val="tx2"/>
                </a:solidFill>
              </a:rPr>
              <a:t>not satisfy CACC </a:t>
            </a:r>
            <a:r>
              <a:rPr lang="en-US" kern="0" dirty="0"/>
              <a:t>on the original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kern="0" dirty="0"/>
              <a:t>It is </a:t>
            </a:r>
            <a:r>
              <a:rPr lang="en-US" kern="0" dirty="0">
                <a:solidFill>
                  <a:schemeClr val="tx2"/>
                </a:solidFill>
              </a:rPr>
              <a:t>more expensive </a:t>
            </a:r>
            <a:r>
              <a:rPr lang="en-US" kern="0" dirty="0"/>
              <a:t>(more tests)</a:t>
            </a:r>
          </a:p>
        </p:txBody>
      </p:sp>
    </p:spTree>
    <p:extLst>
      <p:ext uri="{BB962C8B-B14F-4D97-AF65-F5344CB8AC3E}">
        <p14:creationId xmlns:p14="http://schemas.microsoft.com/office/powerpoint/2010/main" val="7469975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Program Transformation Issue 2</a:t>
            </a:r>
          </a:p>
        </p:txBody>
      </p:sp>
      <p:sp>
        <p:nvSpPr>
          <p:cNvPr id="2458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2169932C-C1F1-4D99-820E-ADE602FCE184}" type="slidenum">
              <a:rPr lang="en-US" altLang="en-US" sz="900" b="0">
                <a:solidFill>
                  <a:schemeClr val="tx1"/>
                </a:solidFill>
              </a:rPr>
              <a:pPr/>
              <a:t>24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138363" y="1836279"/>
            <a:ext cx="2774950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</a:pPr>
            <a:endParaRPr lang="en-US" altLang="en-US" sz="2400" dirty="0">
              <a:solidFill>
                <a:schemeClr val="tx1"/>
              </a:solidFill>
              <a:latin typeface="Arial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if ((a &amp;&amp; b) || c)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{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     S1;        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else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{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     S2;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}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7207250" y="1651613"/>
            <a:ext cx="2774950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d = a &amp;&amp; b;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e = d || c;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if (e)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{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     S1;        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else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{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      S2;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Arial" pitchFamily="34" charset="0"/>
              </a:rPr>
              <a:t>}</a:t>
            </a:r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4812703" y="3198609"/>
            <a:ext cx="1619250" cy="1588"/>
          </a:xfrm>
          <a:prstGeom prst="line">
            <a:avLst/>
          </a:prstGeom>
          <a:noFill/>
          <a:ln w="127000">
            <a:solidFill>
              <a:schemeClr val="accent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4447661" y="3137616"/>
            <a:ext cx="2502568" cy="646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</a:pPr>
            <a:endParaRPr lang="en-US" altLang="en-US" dirty="0">
              <a:solidFill>
                <a:schemeClr val="tx1"/>
              </a:solidFill>
              <a:latin typeface="Arial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Transform (</a:t>
            </a: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) ?</a:t>
            </a:r>
          </a:p>
        </p:txBody>
      </p:sp>
    </p:spTree>
    <p:extLst>
      <p:ext uri="{BB962C8B-B14F-4D97-AF65-F5344CB8AC3E}">
        <p14:creationId xmlns:p14="http://schemas.microsoft.com/office/powerpoint/2010/main" val="6555169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Transformation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7850" y="893763"/>
            <a:ext cx="4903161" cy="1777248"/>
          </a:xfrm>
        </p:spPr>
        <p:txBody>
          <a:bodyPr/>
          <a:lstStyle/>
          <a:p>
            <a:r>
              <a:rPr lang="en-US" dirty="0"/>
              <a:t>We move </a:t>
            </a:r>
            <a:r>
              <a:rPr lang="en-US" dirty="0">
                <a:solidFill>
                  <a:schemeClr val="tx2"/>
                </a:solidFill>
              </a:rPr>
              <a:t>complexity</a:t>
            </a:r>
            <a:r>
              <a:rPr lang="en-US" dirty="0"/>
              <a:t> into computations</a:t>
            </a:r>
          </a:p>
          <a:p>
            <a:pPr lvl="1"/>
            <a:r>
              <a:rPr lang="en-US" dirty="0"/>
              <a:t>Logic criteria are not effective at testing computations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C7E80D-252C-4EBC-97B9-18FA681E2FD1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graphicFrame>
        <p:nvGraphicFramePr>
          <p:cNvPr id="7" name="Group 1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412297"/>
              </p:ext>
            </p:extLst>
          </p:nvPr>
        </p:nvGraphicFramePr>
        <p:xfrm>
          <a:off x="6524876" y="1188367"/>
          <a:ext cx="4022809" cy="3365501"/>
        </p:xfrm>
        <a:graphic>
          <a:graphicData uri="http://schemas.openxmlformats.org/drawingml/2006/table">
            <a:tbl>
              <a:tblPr/>
              <a:tblGrid>
                <a:gridCol w="401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45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39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a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b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c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(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a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  <a:cs typeface="Times New Roman" pitchFamily="18" charset="0"/>
                          <a:sym typeface="Symbol" pitchFamily="18" charset="2"/>
                        </a:rPr>
                        <a:t>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b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)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  <a:cs typeface="Times New Roman" pitchFamily="18" charset="0"/>
                          <a:sym typeface="Symbol" pitchFamily="18" charset="2"/>
                        </a:rPr>
                        <a:t>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c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CACC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PC</a:t>
                      </a:r>
                      <a:r>
                        <a:rPr kumimoji="0" lang="en-US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0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X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98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X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39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X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98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X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39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39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X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98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39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Monotype Sorts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X</a:t>
                      </a:r>
                    </a:p>
                  </a:txBody>
                  <a:tcPr marL="91452" marR="91452"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577850" y="2646367"/>
            <a:ext cx="4903161" cy="2130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Monotype Sorts" charset="2"/>
              <a:buChar char="n"/>
              <a:defRPr sz="2800" b="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400" b="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Consider </a:t>
            </a:r>
            <a:r>
              <a:rPr lang="en-US" kern="0" dirty="0">
                <a:solidFill>
                  <a:schemeClr val="tx2"/>
                </a:solidFill>
              </a:rPr>
              <a:t>coverage</a:t>
            </a:r>
            <a:r>
              <a:rPr lang="en-US" kern="0" dirty="0"/>
              <a:t> :</a:t>
            </a:r>
          </a:p>
          <a:p>
            <a:pPr lvl="1"/>
            <a:r>
              <a:rPr lang="en-US" kern="0" dirty="0">
                <a:solidFill>
                  <a:schemeClr val="tx2"/>
                </a:solidFill>
              </a:rPr>
              <a:t>CACC</a:t>
            </a:r>
            <a:r>
              <a:rPr lang="en-US" kern="0" dirty="0"/>
              <a:t> on the original requires four rows marked in the table</a:t>
            </a:r>
          </a:p>
          <a:p>
            <a:pPr lvl="1"/>
            <a:r>
              <a:rPr lang="en-US" kern="0" dirty="0">
                <a:solidFill>
                  <a:schemeClr val="tx2"/>
                </a:solidFill>
              </a:rPr>
              <a:t>PC on the transformed </a:t>
            </a:r>
            <a:r>
              <a:rPr lang="en-US" kern="0" dirty="0"/>
              <a:t>version requires only two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577850" y="4788571"/>
            <a:ext cx="8981867" cy="1609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Monotype Sorts" charset="2"/>
              <a:buChar char="n"/>
              <a:defRPr sz="2800" b="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400" b="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PC on the transformed version becomes equivalent to </a:t>
            </a:r>
            <a:r>
              <a:rPr lang="en-US" kern="0" dirty="0">
                <a:solidFill>
                  <a:schemeClr val="tx2"/>
                </a:solidFill>
              </a:rPr>
              <a:t>clause coverage</a:t>
            </a:r>
            <a:r>
              <a:rPr lang="en-US" kern="0" dirty="0"/>
              <a:t> on the original</a:t>
            </a:r>
          </a:p>
          <a:p>
            <a:pPr lvl="1"/>
            <a:r>
              <a:rPr lang="en-US" kern="0" dirty="0">
                <a:solidFill>
                  <a:schemeClr val="tx2"/>
                </a:solidFill>
              </a:rPr>
              <a:t>Not</a:t>
            </a:r>
            <a:r>
              <a:rPr lang="en-US" kern="0" dirty="0"/>
              <a:t> an </a:t>
            </a:r>
            <a:r>
              <a:rPr lang="en-US" kern="0" dirty="0">
                <a:solidFill>
                  <a:schemeClr val="tx2"/>
                </a:solidFill>
              </a:rPr>
              <a:t>effective</a:t>
            </a:r>
            <a:r>
              <a:rPr lang="en-US" kern="0" dirty="0"/>
              <a:t> testing technique</a:t>
            </a:r>
          </a:p>
        </p:txBody>
      </p:sp>
    </p:spTree>
    <p:extLst>
      <p:ext uri="{BB962C8B-B14F-4D97-AF65-F5344CB8AC3E}">
        <p14:creationId xmlns:p14="http://schemas.microsoft.com/office/powerpoint/2010/main" val="41430209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Does Not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C7E80D-252C-4EBC-97B9-18FA681E2FD1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 bwMode="auto">
          <a:xfrm>
            <a:off x="3352801" y="1612231"/>
            <a:ext cx="5450304" cy="1191126"/>
          </a:xfrm>
          <a:prstGeom prst="roundRect">
            <a:avLst/>
          </a:prstGeom>
          <a:solidFill>
            <a:schemeClr val="bg1">
              <a:lumMod val="60000"/>
              <a:lumOff val="40000"/>
            </a:schemeClr>
          </a:solidFill>
          <a:ln w="57150" cap="flat" cmpd="sng" algn="ctr">
            <a:solidFill>
              <a:srgbClr val="33CC33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Logic coverage criteria exist to help us make better software</a:t>
            </a:r>
          </a:p>
        </p:txBody>
      </p:sp>
      <p:sp>
        <p:nvSpPr>
          <p:cNvPr id="8" name="Rounded Rectangle 7"/>
          <p:cNvSpPr/>
          <p:nvPr/>
        </p:nvSpPr>
        <p:spPr bwMode="auto">
          <a:xfrm>
            <a:off x="3797954" y="4050631"/>
            <a:ext cx="4592047" cy="1191126"/>
          </a:xfrm>
          <a:prstGeom prst="roundRect">
            <a:avLst/>
          </a:prstGeom>
          <a:solidFill>
            <a:schemeClr val="bg1">
              <a:lumMod val="60000"/>
              <a:lumOff val="40000"/>
            </a:schemeClr>
          </a:solidFill>
          <a:ln w="57150" cap="flat" cmpd="sng" algn="ctr">
            <a:solidFill>
              <a:srgbClr val="33CC33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Circumventing the criteria is unsafe</a:t>
            </a:r>
          </a:p>
        </p:txBody>
      </p:sp>
    </p:spTree>
    <p:extLst>
      <p:ext uri="{BB962C8B-B14F-4D97-AF65-F5344CB8AC3E}">
        <p14:creationId xmlns:p14="http://schemas.microsoft.com/office/powerpoint/2010/main" val="21296679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Effects in Predicates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7850" y="842212"/>
            <a:ext cx="9023350" cy="5698289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/>
              <a:t>Side effects occur when a value is changed while evaluating a predicate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A clause appears twice in the same predicate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A clause in between changes the value of the clause that appears twice</a:t>
            </a:r>
          </a:p>
          <a:p>
            <a:pPr>
              <a:lnSpc>
                <a:spcPct val="80000"/>
              </a:lnSpc>
            </a:pPr>
            <a:r>
              <a:rPr lang="en-US" dirty="0"/>
              <a:t>Example :</a:t>
            </a:r>
          </a:p>
          <a:p>
            <a:pPr>
              <a:lnSpc>
                <a:spcPct val="80000"/>
              </a:lnSpc>
            </a:pPr>
            <a:endParaRPr lang="en-US" dirty="0"/>
          </a:p>
          <a:p>
            <a:pPr lvl="1">
              <a:lnSpc>
                <a:spcPct val="80000"/>
              </a:lnSpc>
            </a:pPr>
            <a:r>
              <a:rPr lang="en-US" dirty="0"/>
              <a:t>Evaluation : Runtime system checks </a:t>
            </a:r>
            <a:r>
              <a:rPr lang="en-US" i="1" dirty="0"/>
              <a:t>A</a:t>
            </a:r>
            <a:r>
              <a:rPr lang="en-US" dirty="0"/>
              <a:t>, then </a:t>
            </a:r>
            <a:r>
              <a:rPr lang="en-US" i="1" dirty="0"/>
              <a:t>B</a:t>
            </a:r>
            <a:r>
              <a:rPr lang="en-US" dirty="0"/>
              <a:t>, if </a:t>
            </a:r>
            <a:r>
              <a:rPr lang="en-US" i="1" dirty="0"/>
              <a:t>B</a:t>
            </a:r>
            <a:r>
              <a:rPr lang="en-US" dirty="0"/>
              <a:t> is false, check </a:t>
            </a:r>
            <a:r>
              <a:rPr lang="en-US" i="1" dirty="0"/>
              <a:t>A</a:t>
            </a:r>
            <a:r>
              <a:rPr lang="en-US" dirty="0"/>
              <a:t> again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But now </a:t>
            </a:r>
            <a:r>
              <a:rPr lang="en-US" i="1" dirty="0"/>
              <a:t>A</a:t>
            </a:r>
            <a:r>
              <a:rPr lang="en-US" dirty="0"/>
              <a:t> has a different value!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How do we write a test that has two different values for the same predicate?</a:t>
            </a:r>
          </a:p>
          <a:p>
            <a:pPr>
              <a:lnSpc>
                <a:spcPct val="80000"/>
              </a:lnSpc>
            </a:pPr>
            <a:r>
              <a:rPr lang="en-US" dirty="0"/>
              <a:t>No clear answers to this controllability problem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C7E80D-252C-4EBC-97B9-18FA681E2FD1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281990" y="3167981"/>
            <a:ext cx="1973179" cy="400110"/>
          </a:xfrm>
          <a:prstGeom prst="rect">
            <a:avLst/>
          </a:prstGeom>
          <a:solidFill>
            <a:srgbClr val="0000CC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 &amp;&amp; (B || A)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339390" y="3167981"/>
            <a:ext cx="2991853" cy="400110"/>
          </a:xfrm>
          <a:prstGeom prst="rect">
            <a:avLst/>
          </a:prstGeom>
          <a:solidFill>
            <a:srgbClr val="0000CC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 is :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changeVar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(A)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065408" y="5972653"/>
            <a:ext cx="8061158" cy="461665"/>
          </a:xfrm>
          <a:prstGeom prst="rect">
            <a:avLst/>
          </a:prstGeom>
          <a:solidFill>
            <a:srgbClr val="0000CC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400" dirty="0">
                <a:latin typeface="Gill Sans MT" panose="020B0502020104020203" pitchFamily="34" charset="0"/>
                <a:cs typeface="Arial" panose="020B0604020202020204" pitchFamily="34" charset="0"/>
              </a:rPr>
              <a:t>We suggest a social solution : Go ask the programmer</a:t>
            </a:r>
          </a:p>
        </p:txBody>
      </p:sp>
    </p:spTree>
    <p:extLst>
      <p:ext uri="{BB962C8B-B14F-4D97-AF65-F5344CB8AC3E}">
        <p14:creationId xmlns:p14="http://schemas.microsoft.com/office/powerpoint/2010/main" val="15486630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 : Logic Coverage for Source Code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2"/>
                </a:solidFill>
              </a:rPr>
              <a:t>Predicates</a:t>
            </a:r>
            <a:r>
              <a:rPr lang="en-US" altLang="en-US" dirty="0"/>
              <a:t> appear in decision statements</a:t>
            </a:r>
            <a:r>
              <a:rPr lang="en-US" altLang="en-US" sz="2400" dirty="0"/>
              <a:t> (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if, while, for</a:t>
            </a:r>
            <a:r>
              <a:rPr lang="en-US" altLang="en-US" sz="2400" dirty="0"/>
              <a:t>, etc.)</a:t>
            </a:r>
            <a:endParaRPr lang="en-US" altLang="en-US" dirty="0"/>
          </a:p>
          <a:p>
            <a:r>
              <a:rPr lang="en-US" altLang="en-US" dirty="0"/>
              <a:t>Most predicates have less than </a:t>
            </a:r>
            <a:r>
              <a:rPr lang="en-US" altLang="en-US" dirty="0">
                <a:solidFill>
                  <a:schemeClr val="tx2"/>
                </a:solidFill>
              </a:rPr>
              <a:t>four clauses</a:t>
            </a:r>
            <a:endParaRPr lang="en-US" altLang="en-US" dirty="0"/>
          </a:p>
          <a:p>
            <a:pPr lvl="1"/>
            <a:r>
              <a:rPr lang="en-US" altLang="en-US" dirty="0"/>
              <a:t>But some programs have a few predicates with many clauses</a:t>
            </a:r>
            <a:endParaRPr lang="en-US" altLang="en-US" dirty="0">
              <a:solidFill>
                <a:schemeClr val="tx2"/>
              </a:solidFill>
            </a:endParaRPr>
          </a:p>
          <a:p>
            <a:r>
              <a:rPr lang="en-US" altLang="en-US" dirty="0"/>
              <a:t>The hard part of applying logic criteria to source is usually resolving the </a:t>
            </a:r>
            <a:r>
              <a:rPr lang="en-US" altLang="en-US" dirty="0">
                <a:solidFill>
                  <a:schemeClr val="tx2"/>
                </a:solidFill>
              </a:rPr>
              <a:t>internal variables</a:t>
            </a:r>
          </a:p>
          <a:p>
            <a:pPr lvl="1"/>
            <a:r>
              <a:rPr lang="en-US" altLang="en-US" dirty="0"/>
              <a:t>Sometimes setting variables requires calling </a:t>
            </a:r>
            <a:r>
              <a:rPr lang="en-US" altLang="en-US" dirty="0">
                <a:solidFill>
                  <a:schemeClr val="tx2"/>
                </a:solidFill>
              </a:rPr>
              <a:t>other methods</a:t>
            </a:r>
          </a:p>
          <a:p>
            <a:r>
              <a:rPr lang="en-US" altLang="en-US" dirty="0">
                <a:solidFill>
                  <a:schemeClr val="tx2"/>
                </a:solidFill>
              </a:rPr>
              <a:t>Non-local variables </a:t>
            </a:r>
            <a:r>
              <a:rPr lang="en-US" altLang="en-US" dirty="0"/>
              <a:t>(class, global, etc.) are also input variables if they are used</a:t>
            </a:r>
          </a:p>
          <a:p>
            <a:r>
              <a:rPr lang="en-US" altLang="en-US" dirty="0"/>
              <a:t>If an input variable is changed within a method, it is treated as an </a:t>
            </a:r>
            <a:r>
              <a:rPr lang="en-US" altLang="en-US" dirty="0">
                <a:solidFill>
                  <a:schemeClr val="tx2"/>
                </a:solidFill>
              </a:rPr>
              <a:t>internal variable </a:t>
            </a:r>
            <a:r>
              <a:rPr lang="en-US" altLang="en-US" dirty="0"/>
              <a:t>thereafter</a:t>
            </a:r>
          </a:p>
          <a:p>
            <a:r>
              <a:rPr lang="en-US" altLang="en-US" dirty="0"/>
              <a:t>Avoid transformations that hide predicate structure</a:t>
            </a:r>
          </a:p>
        </p:txBody>
      </p:sp>
      <p:sp>
        <p:nvSpPr>
          <p:cNvPr id="266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87CB1C1C-EA9F-4B5E-81BF-5591B5FB00F1}" type="slidenum">
              <a:rPr lang="en-US" altLang="en-US" sz="900" b="0">
                <a:solidFill>
                  <a:schemeClr val="tx1"/>
                </a:solidFill>
              </a:rPr>
              <a:pPr/>
              <a:t>28</a:t>
            </a:fld>
            <a:endParaRPr lang="en-US" altLang="en-US" sz="9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87216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ntro">
  <a:themeElements>
    <a:clrScheme name="Custom 13">
      <a:dk1>
        <a:srgbClr val="5F5F5F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66CC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5CB9E7"/>
      </a:accent6>
      <a:hlink>
        <a:srgbClr val="FFFF00"/>
      </a:hlink>
      <a:folHlink>
        <a:srgbClr val="FFC000"/>
      </a:folHlink>
    </a:clrScheme>
    <a:fontScheme name="intr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ntr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a:\intro.ppt</Template>
  <TotalTime>1803</TotalTime>
  <Pages>49</Pages>
  <Words>3129</Words>
  <Application>Microsoft Office PowerPoint</Application>
  <PresentationFormat>宽屏</PresentationFormat>
  <Paragraphs>553</Paragraphs>
  <Slides>28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Arial Unicode MS</vt:lpstr>
      <vt:lpstr>Gill Sans MT</vt:lpstr>
      <vt:lpstr>Monotype Sorts</vt:lpstr>
      <vt:lpstr>Arial</vt:lpstr>
      <vt:lpstr>Cambria Math</vt:lpstr>
      <vt:lpstr>Comic Sans MS</vt:lpstr>
      <vt:lpstr>Times New Roman</vt:lpstr>
      <vt:lpstr>Verdana</vt:lpstr>
      <vt:lpstr>Wingdings</vt:lpstr>
      <vt:lpstr>intro</vt:lpstr>
      <vt:lpstr>Chapter 4 Logic Coverage</vt:lpstr>
      <vt:lpstr>本节课程目标</vt:lpstr>
      <vt:lpstr>Logic Expressions from Source</vt:lpstr>
      <vt:lpstr>Logic Coverage of Programs</vt:lpstr>
      <vt:lpstr>PowerPoint 演示文稿</vt:lpstr>
      <vt:lpstr>Derive predicates from program</vt:lpstr>
      <vt:lpstr>Reachability</vt:lpstr>
      <vt:lpstr>Reachability</vt:lpstr>
      <vt:lpstr>Control Internal Variable</vt:lpstr>
      <vt:lpstr>Reduced Reachability</vt:lpstr>
      <vt:lpstr>Thermostat (pg 1 of 2)</vt:lpstr>
      <vt:lpstr>Thermostat (pg 2 of 2)</vt:lpstr>
      <vt:lpstr>Two Thermostat Predicates</vt:lpstr>
      <vt:lpstr>Reachability for Thermostat Predicates</vt:lpstr>
      <vt:lpstr>Predicate Coverage (true)</vt:lpstr>
      <vt:lpstr>Correlated Active Clause Coverage</vt:lpstr>
      <vt:lpstr>Correlated Active Clause Coverage</vt:lpstr>
      <vt:lpstr>Correlated Active Clause Coverage</vt:lpstr>
      <vt:lpstr>Correlated Active Clause Coverage</vt:lpstr>
      <vt:lpstr>Correlated Active Clause Coverage</vt:lpstr>
      <vt:lpstr>Correlated Active Clause Coverage</vt:lpstr>
      <vt:lpstr>Program Transformation Issues</vt:lpstr>
      <vt:lpstr>Problems With Transformation 1</vt:lpstr>
      <vt:lpstr>Program Transformation Issue 2</vt:lpstr>
      <vt:lpstr>Problems With Transformation 2</vt:lpstr>
      <vt:lpstr>Transforming Does Not Work</vt:lpstr>
      <vt:lpstr>Side Effects in Predicates</vt:lpstr>
      <vt:lpstr>Summary : Logic Coverage for Source Code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637, Tools &amp; Process</dc:title>
  <dc:creator>Jeff Offutt</dc:creator>
  <cp:lastModifiedBy>Yue Zhang</cp:lastModifiedBy>
  <cp:revision>236</cp:revision>
  <cp:lastPrinted>1996-04-04T10:27:56Z</cp:lastPrinted>
  <dcterms:created xsi:type="dcterms:W3CDTF">1996-06-15T03:21:08Z</dcterms:created>
  <dcterms:modified xsi:type="dcterms:W3CDTF">2026-04-27T14:55:35Z</dcterms:modified>
</cp:coreProperties>
</file>