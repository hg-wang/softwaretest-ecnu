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336" r:id="rId2"/>
    <p:sldId id="634" r:id="rId3"/>
    <p:sldId id="545" r:id="rId4"/>
    <p:sldId id="547" r:id="rId5"/>
    <p:sldId id="548" r:id="rId6"/>
    <p:sldId id="549" r:id="rId7"/>
    <p:sldId id="491" r:id="rId8"/>
    <p:sldId id="555" r:id="rId9"/>
    <p:sldId id="546" r:id="rId10"/>
    <p:sldId id="528" r:id="rId11"/>
    <p:sldId id="529" r:id="rId12"/>
    <p:sldId id="530" r:id="rId13"/>
    <p:sldId id="531" r:id="rId14"/>
    <p:sldId id="631" r:id="rId15"/>
    <p:sldId id="630" r:id="rId16"/>
    <p:sldId id="632" r:id="rId17"/>
    <p:sldId id="532" r:id="rId18"/>
    <p:sldId id="533" r:id="rId19"/>
    <p:sldId id="534" r:id="rId20"/>
    <p:sldId id="536" r:id="rId21"/>
    <p:sldId id="633" r:id="rId22"/>
    <p:sldId id="537" r:id="rId23"/>
    <p:sldId id="538" r:id="rId24"/>
    <p:sldId id="539" r:id="rId25"/>
    <p:sldId id="540" r:id="rId26"/>
    <p:sldId id="541" r:id="rId27"/>
    <p:sldId id="637" r:id="rId28"/>
    <p:sldId id="636" r:id="rId29"/>
    <p:sldId id="550" r:id="rId30"/>
    <p:sldId id="551" r:id="rId31"/>
    <p:sldId id="553" r:id="rId32"/>
    <p:sldId id="579" r:id="rId33"/>
    <p:sldId id="594" r:id="rId34"/>
    <p:sldId id="595" r:id="rId35"/>
    <p:sldId id="596" r:id="rId36"/>
    <p:sldId id="597" r:id="rId37"/>
    <p:sldId id="598" r:id="rId38"/>
    <p:sldId id="599" r:id="rId39"/>
    <p:sldId id="600" r:id="rId40"/>
    <p:sldId id="601" r:id="rId41"/>
    <p:sldId id="603" r:id="rId42"/>
    <p:sldId id="635" r:id="rId43"/>
    <p:sldId id="542" r:id="rId44"/>
    <p:sldId id="543" r:id="rId45"/>
    <p:sldId id="544" r:id="rId46"/>
  </p:sldIdLst>
  <p:sldSz cx="12192000" cy="6858000"/>
  <p:notesSz cx="10234613" cy="71040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CC"/>
    <a:srgbClr val="00FF00"/>
    <a:srgbClr val="00145A"/>
    <a:srgbClr val="001E5A"/>
    <a:srgbClr val="5F5F5F"/>
    <a:srgbClr val="000050"/>
    <a:srgbClr val="00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10" autoAdjust="0"/>
    <p:restoredTop sz="84223" autoAdjust="0"/>
  </p:normalViewPr>
  <p:slideViewPr>
    <p:cSldViewPr snapToGrid="0">
      <p:cViewPr varScale="1">
        <p:scale>
          <a:sx n="63" d="100"/>
          <a:sy n="63" d="100"/>
        </p:scale>
        <p:origin x="894" y="36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9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.xml"/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435444" cy="35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defTabSz="966554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9173" y="1"/>
            <a:ext cx="4435442" cy="35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algn="r" defTabSz="966554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749331"/>
            <a:ext cx="4435444" cy="35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defTabSz="966554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9173" y="6749331"/>
            <a:ext cx="4435442" cy="35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algn="r" defTabSz="966554">
              <a:defRPr sz="1100" b="0" i="1"/>
            </a:lvl1pPr>
          </a:lstStyle>
          <a:p>
            <a:pPr>
              <a:defRPr/>
            </a:pPr>
            <a:fld id="{1B3B0E3B-E5C4-4251-A7FB-CB33CCB6CE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5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435444" cy="35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defTabSz="966554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9173" y="1"/>
            <a:ext cx="4435442" cy="35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t" anchorCtr="0" compatLnSpc="1">
            <a:prstTxWarp prst="textNoShape">
              <a:avLst/>
            </a:prstTxWarp>
          </a:bodyPr>
          <a:lstStyle>
            <a:lvl1pPr algn="r" defTabSz="966554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749331"/>
            <a:ext cx="4435444" cy="35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defTabSz="966554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9173" y="6749331"/>
            <a:ext cx="4435442" cy="354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0" tIns="0" rIns="20130" bIns="0" numCol="1" anchor="b" anchorCtr="0" compatLnSpc="1">
            <a:prstTxWarp prst="textNoShape">
              <a:avLst/>
            </a:prstTxWarp>
          </a:bodyPr>
          <a:lstStyle>
            <a:lvl1pPr algn="r" defTabSz="966554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229CEE7-0F02-44C1-8906-EC6CFDC65F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63727" y="3373490"/>
            <a:ext cx="7507160" cy="319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295" tIns="48650" rIns="97295" bIns="486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626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54313" y="534988"/>
            <a:ext cx="4725987" cy="26590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4734362" y="6765775"/>
            <a:ext cx="763667" cy="28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66" tIns="46971" rIns="92266" bIns="46971">
            <a:spAutoFit/>
          </a:bodyPr>
          <a:lstStyle/>
          <a:p>
            <a:pPr algn="ctr" defTabSz="917354">
              <a:lnSpc>
                <a:spcPct val="90000"/>
              </a:lnSpc>
              <a:defRPr/>
            </a:pPr>
            <a:r>
              <a:rPr lang="en-US" sz="1300" b="0" dirty="0">
                <a:solidFill>
                  <a:schemeClr val="tx1"/>
                </a:solidFill>
              </a:rPr>
              <a:t>Page </a:t>
            </a:r>
            <a:fld id="{55488FE2-1213-4D8B-9D82-EC18FBC6248F}" type="slidenum">
              <a:rPr lang="en-US" sz="1300" b="0">
                <a:solidFill>
                  <a:schemeClr val="tx1"/>
                </a:solidFill>
              </a:rPr>
              <a:pPr algn="ctr" defTabSz="917354">
                <a:lnSpc>
                  <a:spcPct val="90000"/>
                </a:lnSpc>
                <a:defRPr/>
              </a:pPr>
              <a:t>‹#›</a:t>
            </a:fld>
            <a:endParaRPr lang="en-US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156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4988"/>
            <a:ext cx="4725987" cy="2659062"/>
          </a:xfrm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771" indent="-285681"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2724" indent="-228545"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99813" indent="-228545"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6903" indent="-228545"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3991" indent="-228545" defTabSz="966554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081" indent="-228545" defTabSz="966554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8169" indent="-228545" defTabSz="966554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5259" indent="-228545" defTabSz="966554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4412327-F9A8-4C82-83D7-AD07442DFF20}" type="slidenum">
              <a:rPr lang="en-US" sz="1100" b="0">
                <a:solidFill>
                  <a:schemeClr val="tx1"/>
                </a:solidFill>
              </a:rPr>
              <a:pPr/>
              <a:t>1</a:t>
            </a:fld>
            <a:endParaRPr lang="en-US" sz="11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996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4988"/>
            <a:ext cx="4725987" cy="26590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11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4988"/>
            <a:ext cx="4725987" cy="2659062"/>
          </a:xfrm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A05DE5-F97B-4AF5-9FDC-80A5B442908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21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4988"/>
            <a:ext cx="4725987" cy="26590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32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4988"/>
            <a:ext cx="4725987" cy="26590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Meticulous:</a:t>
            </a:r>
            <a:r>
              <a:rPr lang="zh-CN" altLang="en-US" dirty="0"/>
              <a:t>一丝不苟的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59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5A07F-6D53-5316-6178-8F597A2C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DA7DFC58-6AC7-D196-9C6B-361DDA7382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4988"/>
            <a:ext cx="4725987" cy="2659062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23B2C840-0114-3B87-7090-53C4F7BD0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284" name="Slide Number Placeholder 3">
            <a:extLst>
              <a:ext uri="{FF2B5EF4-FFF2-40B4-BE49-F238E27FC236}">
                <a16:creationId xmlns:a16="http://schemas.microsoft.com/office/drawing/2014/main" id="{CC3C86D2-FFEB-8F92-A3B2-527DC5375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771" indent="-285681"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2724" indent="-228545"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99813" indent="-228545"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6903" indent="-228545" defTabSz="966554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3991" indent="-228545" defTabSz="966554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081" indent="-228545" defTabSz="966554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8169" indent="-228545" defTabSz="966554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5259" indent="-228545" defTabSz="966554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4412327-F9A8-4C82-83D7-AD07442DFF20}" type="slidenum">
              <a:rPr lang="en-US" sz="1100" b="0">
                <a:solidFill>
                  <a:schemeClr val="tx1"/>
                </a:solidFill>
              </a:rPr>
              <a:pPr/>
              <a:t>27</a:t>
            </a:fld>
            <a:endParaRPr lang="en-US" sz="11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542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4988"/>
            <a:ext cx="4725987" cy="26590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billion</a:t>
            </a:r>
            <a:r>
              <a:rPr lang="zh-CN" altLang="en-US" dirty="0"/>
              <a:t>十亿</a:t>
            </a:r>
            <a:r>
              <a:rPr lang="en-US" altLang="zh-CN" dirty="0"/>
              <a:t>, trillion</a:t>
            </a:r>
            <a:r>
              <a:rPr lang="zh-CN" altLang="en-US" dirty="0"/>
              <a:t>兆</a:t>
            </a:r>
            <a:r>
              <a:rPr lang="en-US" altLang="zh-CN" dirty="0"/>
              <a:t>, quadrillion </a:t>
            </a:r>
            <a:r>
              <a:rPr lang="zh-CN" altLang="en-US" dirty="0"/>
              <a:t>千兆</a:t>
            </a:r>
            <a:r>
              <a:rPr lang="en-US" altLang="zh-CN" dirty="0"/>
              <a:t>, quintillion </a:t>
            </a:r>
            <a:r>
              <a:rPr lang="zh-CN" altLang="en-US" dirty="0"/>
              <a:t>百京</a:t>
            </a:r>
            <a:r>
              <a:rPr lang="en-US" altLang="zh-CN" dirty="0"/>
              <a:t>, sextillion </a:t>
            </a:r>
            <a:r>
              <a:rPr lang="zh-CN" altLang="en-US" dirty="0"/>
              <a:t>十垓</a:t>
            </a:r>
            <a:r>
              <a:rPr lang="en-US" altLang="zh-CN" dirty="0"/>
              <a:t>, septillion </a:t>
            </a:r>
            <a:r>
              <a:rPr lang="zh-CN" altLang="en-US" dirty="0"/>
              <a:t>秭</a:t>
            </a:r>
            <a:r>
              <a:rPr lang="en-US" altLang="zh-CN" dirty="0"/>
              <a:t>, octillion </a:t>
            </a:r>
            <a:r>
              <a:rPr lang="zh-CN" altLang="en-US" dirty="0"/>
              <a:t>千秭（</a:t>
            </a:r>
            <a:r>
              <a:rPr lang="en-US" altLang="zh-CN" dirty="0"/>
              <a:t>10</a:t>
            </a:r>
            <a:r>
              <a:rPr lang="en-US" altLang="zh-CN" baseline="30000" dirty="0"/>
              <a:t>27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50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4988"/>
            <a:ext cx="4725987" cy="26590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</a:rPr>
              <a:t>bang for the </a:t>
            </a:r>
            <a:r>
              <a:rPr lang="en-US" altLang="zh-CN">
                <a:solidFill>
                  <a:schemeClr val="tx2"/>
                </a:solidFill>
              </a:rPr>
              <a:t>buck</a:t>
            </a:r>
            <a:r>
              <a:rPr lang="zh-CN" altLang="en-US">
                <a:solidFill>
                  <a:schemeClr val="tx2"/>
                </a:solidFill>
              </a:rPr>
              <a:t>：划算，性价比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4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4988"/>
            <a:ext cx="4725987" cy="26590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kern="0" dirty="0"/>
              <a:t>Pistachio</a:t>
            </a:r>
            <a:r>
              <a:rPr lang="zh-CN" altLang="en-US" kern="0" dirty="0"/>
              <a:t>：开心果</a:t>
            </a:r>
            <a:endParaRPr lang="en-US" altLang="zh-CN" kern="0" dirty="0"/>
          </a:p>
          <a:p>
            <a:r>
              <a:rPr lang="en-US" altLang="zh-CN" kern="0" dirty="0"/>
              <a:t>Cantaloupe</a:t>
            </a:r>
            <a:r>
              <a:rPr lang="zh-CN" altLang="en-US" kern="0" dirty="0"/>
              <a:t>：哈密瓜</a:t>
            </a:r>
            <a:endParaRPr lang="en-US" altLang="zh-CN" kern="0" dirty="0"/>
          </a:p>
          <a:p>
            <a:r>
              <a:rPr lang="en-US" altLang="zh-CN" kern="0" dirty="0"/>
              <a:t>Tangerine</a:t>
            </a:r>
            <a:r>
              <a:rPr lang="zh-CN" altLang="en-US" kern="0" dirty="0"/>
              <a:t>：橘子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50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4988"/>
            <a:ext cx="4725987" cy="2659062"/>
          </a:xfrm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858C853-593F-481C-8C11-4871F2DFBE62}" type="slidenum">
              <a:rPr lang="en-US" sz="1100" b="0">
                <a:solidFill>
                  <a:schemeClr val="tx1"/>
                </a:solidFill>
              </a:rPr>
              <a:pPr/>
              <a:t>35</a:t>
            </a:fld>
            <a:endParaRPr 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840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4988"/>
            <a:ext cx="4725987" cy="2659062"/>
          </a:xfrm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858C853-593F-481C-8C11-4871F2DFBE62}" type="slidenum">
              <a:rPr lang="en-US" sz="1100" b="0">
                <a:solidFill>
                  <a:schemeClr val="tx1"/>
                </a:solidFill>
              </a:rPr>
              <a:pPr/>
              <a:t>37</a:t>
            </a:fld>
            <a:endParaRPr 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126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4988"/>
            <a:ext cx="4725987" cy="2659062"/>
          </a:xfrm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787131A-76F8-49C1-A910-4F49ED022E26}" type="slidenum">
              <a:rPr lang="en-US" sz="1100" b="0">
                <a:solidFill>
                  <a:schemeClr val="tx1"/>
                </a:solidFill>
              </a:rPr>
              <a:pPr/>
              <a:t>38</a:t>
            </a:fld>
            <a:endParaRPr 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656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4988"/>
            <a:ext cx="4725987" cy="2659062"/>
          </a:xfrm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080E62E-52DA-4EAF-BCCB-4A9EA7CA0A29}" type="slidenum">
              <a:rPr lang="en-US" sz="1100" b="0">
                <a:solidFill>
                  <a:schemeClr val="tx1"/>
                </a:solidFill>
              </a:rPr>
              <a:pPr/>
              <a:t>39</a:t>
            </a:fld>
            <a:endParaRPr 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0610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54313" y="534988"/>
            <a:ext cx="4725987" cy="2659062"/>
          </a:xfrm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FC05DD6-6FF8-4008-9930-6B66B1A5B525}" type="slidenum">
              <a:rPr lang="en-US" sz="1100" b="0">
                <a:solidFill>
                  <a:schemeClr val="tx1"/>
                </a:solidFill>
              </a:rPr>
              <a:pPr/>
              <a:t>40</a:t>
            </a:fld>
            <a:endParaRPr 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037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54313" y="534988"/>
            <a:ext cx="4725987" cy="26590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29CEE7-0F02-44C1-8906-EC6CFDC65F2D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33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12E1F-CC9B-4A24-8835-E097471CC5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065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34" y="829994"/>
            <a:ext cx="11954933" cy="5731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 u="sn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B1FAA-A740-404F-BBC5-7C153B666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451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6E679-5245-4D04-9B5E-6F7A762A63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39137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152" y="1085850"/>
            <a:ext cx="5810249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85850"/>
            <a:ext cx="5810251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56877-A1FA-486C-970B-A787F06937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8821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21A5C-439D-4C05-8267-ECDE501361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1712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1E189-A5E4-460C-B525-E80730F3D2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66061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59007-A7D2-484D-B045-20F01AFEB2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68135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1680B-D5C9-49AC-83D2-20D4FD564E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8849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3C506-278B-4869-9411-0A8C8B40ED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90351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A3BD3-2509-4F01-9114-521231456D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6267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2984" y="96838"/>
            <a:ext cx="2954867" cy="6280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4152" y="96838"/>
            <a:ext cx="8665633" cy="6280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CF888-7503-4D3E-BC7A-0F436AE460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248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7189" y="6568158"/>
            <a:ext cx="5126567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2)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73700" y="6560220"/>
            <a:ext cx="38608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92733" y="6552284"/>
            <a:ext cx="25400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0BDDBD9-5CD3-45F3-80AE-704B15C07F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3500" y="96839"/>
            <a:ext cx="120650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997528"/>
            <a:ext cx="12065000" cy="558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46" r:id="rId1"/>
    <p:sldLayoutId id="214748405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itchFamily="34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75000"/>
        <a:buFont typeface="Monotype Sorts" charset="2"/>
        <a:buChar char="n"/>
        <a:defRPr sz="2800" b="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cs.gmu.edu:8080/offutt/coverage/GraphCoverage" TargetMode="External"/><Relationship Id="rId2" Type="http://schemas.openxmlformats.org/officeDocument/2006/relationships/hyperlink" Target="http://www.cs.gmu.edu/~offutt/softwaretest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Chapter 1 Introduction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zh-CN" sz="3200" dirty="0"/>
              <a:t>Test Activities 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zh-CN" sz="3200" dirty="0"/>
              <a:t>&amp; Model-Driven Test Design</a:t>
            </a:r>
            <a:endParaRPr 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1F09A-DA9D-4487-904E-516DDC9C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D16D44-7BFE-487A-B804-2C49BB255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描述软件测试的特点和测试活动；</a:t>
            </a:r>
          </a:p>
          <a:p>
            <a:endParaRPr lang="en-US" altLang="zh-CN" dirty="0"/>
          </a:p>
          <a:p>
            <a:r>
              <a:rPr lang="zh-CN" altLang="en-US" dirty="0"/>
              <a:t>明确模型驱动测试设计的过程和测试活动；</a:t>
            </a:r>
          </a:p>
          <a:p>
            <a:endParaRPr lang="en-US" altLang="zh-CN" dirty="0"/>
          </a:p>
          <a:p>
            <a:r>
              <a:rPr lang="zh-CN" altLang="en-US" dirty="0"/>
              <a:t>阐述常用的软件测试术语。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259122-E6E7-46A2-BCDE-FD574AC6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7295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Testing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other engineering field builds products as </a:t>
            </a:r>
            <a:r>
              <a:rPr lang="en-US" dirty="0">
                <a:solidFill>
                  <a:schemeClr val="tx2"/>
                </a:solidFill>
              </a:rPr>
              <a:t>complicated</a:t>
            </a:r>
            <a:r>
              <a:rPr lang="en-US" dirty="0"/>
              <a:t> as software</a:t>
            </a:r>
          </a:p>
          <a:p>
            <a:pPr lvl="2"/>
            <a:endParaRPr lang="en-US" dirty="0"/>
          </a:p>
          <a:p>
            <a:r>
              <a:rPr lang="en-US" dirty="0"/>
              <a:t>The term </a:t>
            </a:r>
            <a:r>
              <a:rPr lang="en-US" dirty="0">
                <a:solidFill>
                  <a:schemeClr val="tx2"/>
                </a:solidFill>
              </a:rPr>
              <a:t>correctness</a:t>
            </a:r>
            <a:r>
              <a:rPr lang="en-US" dirty="0"/>
              <a:t> has no meaning</a:t>
            </a:r>
          </a:p>
          <a:p>
            <a:pPr lvl="1"/>
            <a:r>
              <a:rPr lang="en-US" dirty="0"/>
              <a:t>Is a </a:t>
            </a:r>
            <a:r>
              <a:rPr lang="en-US" dirty="0">
                <a:solidFill>
                  <a:schemeClr val="tx2"/>
                </a:solidFill>
              </a:rPr>
              <a:t>building</a:t>
            </a:r>
            <a:r>
              <a:rPr lang="en-US" dirty="0"/>
              <a:t> correct?</a:t>
            </a:r>
          </a:p>
          <a:p>
            <a:pPr lvl="1"/>
            <a:r>
              <a:rPr lang="en-US" dirty="0"/>
              <a:t>Is a </a:t>
            </a:r>
            <a:r>
              <a:rPr lang="en-US" dirty="0">
                <a:solidFill>
                  <a:schemeClr val="tx2"/>
                </a:solidFill>
              </a:rPr>
              <a:t>car</a:t>
            </a:r>
            <a:r>
              <a:rPr lang="en-US" dirty="0"/>
              <a:t> correct?</a:t>
            </a:r>
          </a:p>
          <a:p>
            <a:pPr lvl="1"/>
            <a:r>
              <a:rPr lang="en-US" dirty="0"/>
              <a:t>Is a </a:t>
            </a:r>
            <a:r>
              <a:rPr lang="en-US" dirty="0">
                <a:solidFill>
                  <a:schemeClr val="tx2"/>
                </a:solidFill>
              </a:rPr>
              <a:t>subway</a:t>
            </a:r>
            <a:r>
              <a:rPr lang="en-US" dirty="0"/>
              <a:t> system correct?</a:t>
            </a:r>
          </a:p>
          <a:p>
            <a:pPr lvl="2"/>
            <a:endParaRPr lang="en-US" dirty="0"/>
          </a:p>
          <a:p>
            <a:r>
              <a:rPr lang="en-US" dirty="0"/>
              <a:t>Like other engineers, we must use </a:t>
            </a:r>
            <a:r>
              <a:rPr lang="en-US" dirty="0">
                <a:solidFill>
                  <a:schemeClr val="tx2"/>
                </a:solidFill>
              </a:rPr>
              <a:t>abstraction to manage complexity</a:t>
            </a:r>
          </a:p>
          <a:p>
            <a:pPr lvl="1"/>
            <a:r>
              <a:rPr lang="en-US" dirty="0"/>
              <a:t>This is the purpose of the </a:t>
            </a:r>
            <a:r>
              <a:rPr lang="en-US" dirty="0">
                <a:solidFill>
                  <a:schemeClr val="tx2"/>
                </a:solidFill>
              </a:rPr>
              <a:t>model-driven test design</a:t>
            </a:r>
            <a:r>
              <a:rPr lang="en-US" dirty="0"/>
              <a:t> process</a:t>
            </a:r>
          </a:p>
          <a:p>
            <a:pPr lvl="1"/>
            <a:r>
              <a:rPr lang="en-US" dirty="0"/>
              <a:t>The “model” is an abstract structure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062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 Foundations</a:t>
            </a:r>
            <a:r>
              <a:rPr lang="en-US" sz="2800" dirty="0"/>
              <a:t> (2.1)</a:t>
            </a:r>
            <a:endParaRPr lang="en-US" dirty="0"/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66EB8E7-A20D-45EE-BB93-29A7D168B8B9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4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548950" y="2387601"/>
            <a:ext cx="7083270" cy="2554545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Testing can only show the presence of failures</a:t>
            </a:r>
          </a:p>
          <a:p>
            <a:pPr algn="ctr">
              <a:spcBef>
                <a:spcPct val="50000"/>
              </a:spcBef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cs typeface="Arial" pitchFamily="34" charset="0"/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Not their absence</a:t>
            </a:r>
          </a:p>
        </p:txBody>
      </p:sp>
    </p:spTree>
    <p:extLst>
      <p:ext uri="{BB962C8B-B14F-4D97-AF65-F5344CB8AC3E}">
        <p14:creationId xmlns:p14="http://schemas.microsoft.com/office/powerpoint/2010/main" val="25621297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 Activities</a:t>
            </a:r>
            <a:r>
              <a:rPr lang="en-US" sz="2800" dirty="0"/>
              <a:t> (2.2)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/>
                </a:solidFill>
              </a:rPr>
              <a:t>Test Engineer</a:t>
            </a:r>
            <a:r>
              <a:rPr lang="en-US" dirty="0"/>
              <a:t> : An IT professional who is in charge of one or more technical test activities</a:t>
            </a:r>
          </a:p>
          <a:p>
            <a:pPr lvl="1"/>
            <a:r>
              <a:rPr lang="en-US" sz="1800" dirty="0"/>
              <a:t>Designing test inputs</a:t>
            </a:r>
          </a:p>
          <a:p>
            <a:pPr lvl="1"/>
            <a:r>
              <a:rPr lang="en-US" sz="1800" dirty="0"/>
              <a:t>Producing test values</a:t>
            </a:r>
          </a:p>
          <a:p>
            <a:pPr lvl="1"/>
            <a:r>
              <a:rPr lang="en-US" sz="1800" dirty="0"/>
              <a:t>Running test scripts</a:t>
            </a:r>
          </a:p>
          <a:p>
            <a:pPr lvl="1"/>
            <a:r>
              <a:rPr lang="en-US" sz="1800" dirty="0"/>
              <a:t>Analyzing results</a:t>
            </a:r>
          </a:p>
          <a:p>
            <a:pPr lvl="1"/>
            <a:r>
              <a:rPr lang="en-US" sz="1800" dirty="0"/>
              <a:t>Reporting results to developers and managers</a:t>
            </a:r>
          </a:p>
          <a:p>
            <a:pPr lvl="1"/>
            <a:endParaRPr lang="en-US" sz="1800" dirty="0"/>
          </a:p>
          <a:p>
            <a:r>
              <a:rPr lang="en-US" u="sng" dirty="0">
                <a:solidFill>
                  <a:schemeClr val="tx2"/>
                </a:solidFill>
              </a:rPr>
              <a:t>Test Manager</a:t>
            </a:r>
            <a:r>
              <a:rPr lang="en-US" dirty="0"/>
              <a:t> : In charge of one or more test engineers</a:t>
            </a:r>
          </a:p>
          <a:p>
            <a:pPr lvl="1"/>
            <a:r>
              <a:rPr lang="en-US" sz="1800" dirty="0"/>
              <a:t>Sets test policies and processes</a:t>
            </a:r>
          </a:p>
          <a:p>
            <a:pPr lvl="1"/>
            <a:r>
              <a:rPr lang="en-US" sz="1800" dirty="0"/>
              <a:t>Interacts with other managers on the project</a:t>
            </a:r>
          </a:p>
          <a:p>
            <a:pPr lvl="1"/>
            <a:r>
              <a:rPr lang="en-US" sz="1800" dirty="0"/>
              <a:t>Otherwise supports the engineers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4241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D0829B2-BDD6-4923-92C0-E9F6FC6106D3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6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Testing Levels</a:t>
            </a:r>
            <a:r>
              <a:rPr lang="en-US" sz="2800" dirty="0"/>
              <a:t> (2.3)</a:t>
            </a:r>
            <a:endParaRPr lang="en-US" dirty="0"/>
          </a:p>
        </p:txBody>
      </p:sp>
      <p:grpSp>
        <p:nvGrpSpPr>
          <p:cNvPr id="57350" name="Group 3"/>
          <p:cNvGrpSpPr>
            <a:grpSpLocks/>
          </p:cNvGrpSpPr>
          <p:nvPr/>
        </p:nvGrpSpPr>
        <p:grpSpPr bwMode="auto">
          <a:xfrm>
            <a:off x="1903413" y="2539662"/>
            <a:ext cx="2665412" cy="2935288"/>
            <a:chOff x="697" y="1163"/>
            <a:chExt cx="1679" cy="1849"/>
          </a:xfrm>
        </p:grpSpPr>
        <p:sp>
          <p:nvSpPr>
            <p:cNvPr id="57389" name="Rectangle 4"/>
            <p:cNvSpPr>
              <a:spLocks noChangeArrowheads="1"/>
            </p:cNvSpPr>
            <p:nvPr/>
          </p:nvSpPr>
          <p:spPr bwMode="auto">
            <a:xfrm>
              <a:off x="697" y="1163"/>
              <a:ext cx="1679" cy="1849"/>
            </a:xfrm>
            <a:prstGeom prst="rect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90" name="Text Box 5"/>
            <p:cNvSpPr txBox="1">
              <a:spLocks noChangeArrowheads="1"/>
            </p:cNvSpPr>
            <p:nvPr/>
          </p:nvSpPr>
          <p:spPr bwMode="auto">
            <a:xfrm>
              <a:off x="1219" y="1305"/>
              <a:ext cx="70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>
                  <a:latin typeface="Arial" pitchFamily="34" charset="0"/>
                  <a:cs typeface="Arial" pitchFamily="34" charset="0"/>
                </a:rPr>
                <a:t>Class A</a:t>
              </a:r>
            </a:p>
          </p:txBody>
        </p:sp>
        <p:sp>
          <p:nvSpPr>
            <p:cNvPr id="57391" name="Text Box 6"/>
            <p:cNvSpPr txBox="1">
              <a:spLocks noChangeArrowheads="1"/>
            </p:cNvSpPr>
            <p:nvPr/>
          </p:nvSpPr>
          <p:spPr bwMode="auto">
            <a:xfrm>
              <a:off x="756" y="1744"/>
              <a:ext cx="1203" cy="252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Arial" pitchFamily="34" charset="0"/>
                  <a:cs typeface="Arial" pitchFamily="34" charset="0"/>
                </a:rPr>
                <a:t>method mA1()</a:t>
              </a:r>
            </a:p>
          </p:txBody>
        </p:sp>
        <p:sp>
          <p:nvSpPr>
            <p:cNvPr id="57392" name="Text Box 7"/>
            <p:cNvSpPr txBox="1">
              <a:spLocks noChangeArrowheads="1"/>
            </p:cNvSpPr>
            <p:nvPr/>
          </p:nvSpPr>
          <p:spPr bwMode="auto">
            <a:xfrm>
              <a:off x="743" y="2160"/>
              <a:ext cx="1237" cy="252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method mA2()</a:t>
              </a:r>
            </a:p>
          </p:txBody>
        </p:sp>
      </p:grpSp>
      <p:grpSp>
        <p:nvGrpSpPr>
          <p:cNvPr id="57351" name="Group 8"/>
          <p:cNvGrpSpPr>
            <a:grpSpLocks/>
          </p:cNvGrpSpPr>
          <p:nvPr/>
        </p:nvGrpSpPr>
        <p:grpSpPr bwMode="auto">
          <a:xfrm>
            <a:off x="5129213" y="2539662"/>
            <a:ext cx="2665412" cy="2959100"/>
            <a:chOff x="2585" y="1163"/>
            <a:chExt cx="1679" cy="1864"/>
          </a:xfrm>
        </p:grpSpPr>
        <p:sp>
          <p:nvSpPr>
            <p:cNvPr id="57385" name="Rectangle 9"/>
            <p:cNvSpPr>
              <a:spLocks noChangeArrowheads="1"/>
            </p:cNvSpPr>
            <p:nvPr/>
          </p:nvSpPr>
          <p:spPr bwMode="auto">
            <a:xfrm>
              <a:off x="2585" y="1163"/>
              <a:ext cx="1679" cy="1864"/>
            </a:xfrm>
            <a:prstGeom prst="rect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86" name="Text Box 10"/>
            <p:cNvSpPr txBox="1">
              <a:spLocks noChangeArrowheads="1"/>
            </p:cNvSpPr>
            <p:nvPr/>
          </p:nvSpPr>
          <p:spPr bwMode="auto">
            <a:xfrm>
              <a:off x="3111" y="1304"/>
              <a:ext cx="70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>
                  <a:latin typeface="Arial" pitchFamily="34" charset="0"/>
                  <a:cs typeface="Arial" pitchFamily="34" charset="0"/>
                </a:rPr>
                <a:t>Class B</a:t>
              </a:r>
            </a:p>
          </p:txBody>
        </p:sp>
        <p:sp>
          <p:nvSpPr>
            <p:cNvPr id="57387" name="Text Box 11"/>
            <p:cNvSpPr txBox="1">
              <a:spLocks noChangeArrowheads="1"/>
            </p:cNvSpPr>
            <p:nvPr/>
          </p:nvSpPr>
          <p:spPr bwMode="auto">
            <a:xfrm>
              <a:off x="2667" y="1744"/>
              <a:ext cx="1209" cy="252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Arial" pitchFamily="34" charset="0"/>
                  <a:cs typeface="Arial" pitchFamily="34" charset="0"/>
                </a:rPr>
                <a:t>method mB1()</a:t>
              </a:r>
            </a:p>
          </p:txBody>
        </p:sp>
        <p:sp>
          <p:nvSpPr>
            <p:cNvPr id="57388" name="Text Box 12"/>
            <p:cNvSpPr txBox="1">
              <a:spLocks noChangeArrowheads="1"/>
            </p:cNvSpPr>
            <p:nvPr/>
          </p:nvSpPr>
          <p:spPr bwMode="auto">
            <a:xfrm>
              <a:off x="2667" y="2160"/>
              <a:ext cx="1255" cy="252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method mB2()</a:t>
              </a:r>
            </a:p>
          </p:txBody>
        </p:sp>
      </p:grpSp>
      <p:grpSp>
        <p:nvGrpSpPr>
          <p:cNvPr id="57352" name="Group 13"/>
          <p:cNvGrpSpPr>
            <a:grpSpLocks/>
          </p:cNvGrpSpPr>
          <p:nvPr/>
        </p:nvGrpSpPr>
        <p:grpSpPr bwMode="auto">
          <a:xfrm>
            <a:off x="3363914" y="1336338"/>
            <a:ext cx="2968625" cy="836613"/>
            <a:chOff x="1159" y="910"/>
            <a:chExt cx="1870" cy="527"/>
          </a:xfrm>
        </p:grpSpPr>
        <p:sp>
          <p:nvSpPr>
            <p:cNvPr id="57383" name="Rectangle 14"/>
            <p:cNvSpPr>
              <a:spLocks noChangeArrowheads="1"/>
            </p:cNvSpPr>
            <p:nvPr/>
          </p:nvSpPr>
          <p:spPr bwMode="auto">
            <a:xfrm>
              <a:off x="1159" y="910"/>
              <a:ext cx="1870" cy="527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84" name="Text Box 15"/>
            <p:cNvSpPr txBox="1">
              <a:spLocks noChangeArrowheads="1"/>
            </p:cNvSpPr>
            <p:nvPr/>
          </p:nvSpPr>
          <p:spPr bwMode="auto">
            <a:xfrm>
              <a:off x="1450" y="968"/>
              <a:ext cx="11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main Class P</a:t>
              </a:r>
            </a:p>
          </p:txBody>
        </p:sp>
      </p:grpSp>
      <p:sp>
        <p:nvSpPr>
          <p:cNvPr id="178192" name="Rectangle 16"/>
          <p:cNvSpPr>
            <a:spLocks noChangeArrowheads="1"/>
          </p:cNvSpPr>
          <p:nvPr/>
        </p:nvSpPr>
        <p:spPr bwMode="auto">
          <a:xfrm>
            <a:off x="7862889" y="1157116"/>
            <a:ext cx="2771775" cy="1019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Acceptance testing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 : Is the software acceptable to the user?</a:t>
            </a:r>
          </a:p>
        </p:txBody>
      </p:sp>
      <p:sp>
        <p:nvSpPr>
          <p:cNvPr id="57354" name="Line 17"/>
          <p:cNvSpPr>
            <a:spLocks noChangeShapeType="1"/>
          </p:cNvSpPr>
          <p:nvPr/>
        </p:nvSpPr>
        <p:spPr bwMode="auto">
          <a:xfrm flipV="1">
            <a:off x="3984626" y="2171363"/>
            <a:ext cx="214313" cy="373063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5" name="Line 18"/>
          <p:cNvSpPr>
            <a:spLocks noChangeShapeType="1"/>
          </p:cNvSpPr>
          <p:nvPr/>
        </p:nvSpPr>
        <p:spPr bwMode="auto">
          <a:xfrm flipH="1" flipV="1">
            <a:off x="5327650" y="2171363"/>
            <a:ext cx="114300" cy="373063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6" name="Line 19"/>
          <p:cNvSpPr>
            <a:spLocks noChangeShapeType="1"/>
          </p:cNvSpPr>
          <p:nvPr/>
        </p:nvSpPr>
        <p:spPr bwMode="auto">
          <a:xfrm>
            <a:off x="3025775" y="3876337"/>
            <a:ext cx="0" cy="249238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7" name="Line 20"/>
          <p:cNvSpPr>
            <a:spLocks noChangeShapeType="1"/>
          </p:cNvSpPr>
          <p:nvPr/>
        </p:nvSpPr>
        <p:spPr bwMode="auto">
          <a:xfrm>
            <a:off x="3894139" y="3673137"/>
            <a:ext cx="1366837" cy="655638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8" name="Line 21"/>
          <p:cNvSpPr>
            <a:spLocks noChangeShapeType="1"/>
          </p:cNvSpPr>
          <p:nvPr/>
        </p:nvSpPr>
        <p:spPr bwMode="auto">
          <a:xfrm flipV="1">
            <a:off x="3940175" y="4339887"/>
            <a:ext cx="1320800" cy="44450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9" name="Line 22"/>
          <p:cNvSpPr>
            <a:spLocks noChangeShapeType="1"/>
          </p:cNvSpPr>
          <p:nvPr/>
        </p:nvSpPr>
        <p:spPr bwMode="auto">
          <a:xfrm flipV="1">
            <a:off x="3905251" y="3662025"/>
            <a:ext cx="1355725" cy="11112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4121151" y="2374562"/>
            <a:ext cx="6513513" cy="2025650"/>
            <a:chOff x="1636" y="1564"/>
            <a:chExt cx="4103" cy="1276"/>
          </a:xfrm>
        </p:grpSpPr>
        <p:sp>
          <p:nvSpPr>
            <p:cNvPr id="57378" name="Rectangle 24"/>
            <p:cNvSpPr>
              <a:spLocks noChangeArrowheads="1"/>
            </p:cNvSpPr>
            <p:nvPr/>
          </p:nvSpPr>
          <p:spPr bwMode="auto">
            <a:xfrm>
              <a:off x="3993" y="2145"/>
              <a:ext cx="1746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285750" indent="-285750"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 charset="2"/>
                <a:buChar char="n"/>
              </a:pPr>
              <a:r>
                <a:rPr lang="en-US" sz="1800" dirty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Integration testing</a:t>
              </a:r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 : Test how modules interact with each other</a:t>
              </a:r>
            </a:p>
          </p:txBody>
        </p:sp>
        <p:grpSp>
          <p:nvGrpSpPr>
            <p:cNvPr id="57379" name="Group 25"/>
            <p:cNvGrpSpPr>
              <a:grpSpLocks/>
            </p:cNvGrpSpPr>
            <p:nvPr/>
          </p:nvGrpSpPr>
          <p:grpSpPr bwMode="auto">
            <a:xfrm>
              <a:off x="1636" y="1564"/>
              <a:ext cx="2406" cy="1053"/>
              <a:chOff x="1636" y="1564"/>
              <a:chExt cx="2406" cy="1053"/>
            </a:xfrm>
          </p:grpSpPr>
          <p:sp>
            <p:nvSpPr>
              <p:cNvPr id="49187" name="Line 26"/>
              <p:cNvSpPr>
                <a:spLocks noChangeShapeType="1"/>
              </p:cNvSpPr>
              <p:nvPr/>
            </p:nvSpPr>
            <p:spPr bwMode="auto">
              <a:xfrm flipH="1" flipV="1">
                <a:off x="2475" y="1564"/>
                <a:ext cx="1565" cy="704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88" name="Line 27"/>
              <p:cNvSpPr>
                <a:spLocks noChangeShapeType="1"/>
              </p:cNvSpPr>
              <p:nvPr/>
            </p:nvSpPr>
            <p:spPr bwMode="auto">
              <a:xfrm flipH="1" flipV="1">
                <a:off x="1636" y="1586"/>
                <a:ext cx="2406" cy="682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89" name="Line 28"/>
              <p:cNvSpPr>
                <a:spLocks noChangeShapeType="1"/>
              </p:cNvSpPr>
              <p:nvPr/>
            </p:nvSpPr>
            <p:spPr bwMode="auto">
              <a:xfrm flipH="1">
                <a:off x="2127" y="2263"/>
                <a:ext cx="1913" cy="354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5632451" y="856912"/>
            <a:ext cx="5002213" cy="2376488"/>
            <a:chOff x="2588" y="608"/>
            <a:chExt cx="3151" cy="1497"/>
          </a:xfrm>
        </p:grpSpPr>
        <p:sp>
          <p:nvSpPr>
            <p:cNvPr id="57376" name="Rectangle 30"/>
            <p:cNvSpPr>
              <a:spLocks noChangeArrowheads="1"/>
            </p:cNvSpPr>
            <p:nvPr/>
          </p:nvSpPr>
          <p:spPr bwMode="auto">
            <a:xfrm>
              <a:off x="3993" y="1439"/>
              <a:ext cx="1746" cy="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285750" indent="-285750"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 charset="2"/>
                <a:buChar char="n"/>
              </a:pPr>
              <a:r>
                <a:rPr lang="en-US" sz="1800" dirty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System testing </a:t>
              </a:r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: Test the overall functionality of the system</a:t>
              </a:r>
            </a:p>
          </p:txBody>
        </p:sp>
        <p:sp>
          <p:nvSpPr>
            <p:cNvPr id="49184" name="Freeform 31"/>
            <p:cNvSpPr>
              <a:spLocks/>
            </p:cNvSpPr>
            <p:nvPr/>
          </p:nvSpPr>
          <p:spPr bwMode="auto">
            <a:xfrm>
              <a:off x="2588" y="608"/>
              <a:ext cx="1458" cy="892"/>
            </a:xfrm>
            <a:custGeom>
              <a:avLst/>
              <a:gdLst>
                <a:gd name="T0" fmla="*/ 1458 w 1458"/>
                <a:gd name="T1" fmla="*/ 892 h 892"/>
                <a:gd name="T2" fmla="*/ 1174 w 1458"/>
                <a:gd name="T3" fmla="*/ 231 h 892"/>
                <a:gd name="T4" fmla="*/ 825 w 1458"/>
                <a:gd name="T5" fmla="*/ 24 h 892"/>
                <a:gd name="T6" fmla="*/ 356 w 1458"/>
                <a:gd name="T7" fmla="*/ 89 h 892"/>
                <a:gd name="T8" fmla="*/ 171 w 1458"/>
                <a:gd name="T9" fmla="*/ 160 h 892"/>
                <a:gd name="T10" fmla="*/ 0 w 1458"/>
                <a:gd name="T11" fmla="*/ 302 h 8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58"/>
                <a:gd name="T19" fmla="*/ 0 h 892"/>
                <a:gd name="T20" fmla="*/ 1458 w 1458"/>
                <a:gd name="T21" fmla="*/ 892 h 8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58" h="892">
                  <a:moveTo>
                    <a:pt x="1458" y="892"/>
                  </a:moveTo>
                  <a:cubicBezTo>
                    <a:pt x="1411" y="782"/>
                    <a:pt x="1279" y="376"/>
                    <a:pt x="1174" y="231"/>
                  </a:cubicBezTo>
                  <a:cubicBezTo>
                    <a:pt x="1069" y="86"/>
                    <a:pt x="961" y="48"/>
                    <a:pt x="825" y="24"/>
                  </a:cubicBezTo>
                  <a:cubicBezTo>
                    <a:pt x="689" y="0"/>
                    <a:pt x="465" y="66"/>
                    <a:pt x="356" y="89"/>
                  </a:cubicBezTo>
                  <a:cubicBezTo>
                    <a:pt x="247" y="112"/>
                    <a:pt x="230" y="125"/>
                    <a:pt x="171" y="160"/>
                  </a:cubicBezTo>
                  <a:cubicBezTo>
                    <a:pt x="112" y="195"/>
                    <a:pt x="36" y="273"/>
                    <a:pt x="0" y="302"/>
                  </a:cubicBezTo>
                </a:path>
              </a:pathLst>
            </a:cu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4573589" y="2020550"/>
            <a:ext cx="6061075" cy="3275012"/>
            <a:chOff x="1921" y="1341"/>
            <a:chExt cx="3818" cy="2063"/>
          </a:xfrm>
        </p:grpSpPr>
        <p:grpSp>
          <p:nvGrpSpPr>
            <p:cNvPr id="57371" name="Group 33"/>
            <p:cNvGrpSpPr>
              <a:grpSpLocks/>
            </p:cNvGrpSpPr>
            <p:nvPr/>
          </p:nvGrpSpPr>
          <p:grpSpPr bwMode="auto">
            <a:xfrm>
              <a:off x="1921" y="1341"/>
              <a:ext cx="2123" cy="1831"/>
              <a:chOff x="1921" y="1341"/>
              <a:chExt cx="2123" cy="1831"/>
            </a:xfrm>
          </p:grpSpPr>
          <p:sp>
            <p:nvSpPr>
              <p:cNvPr id="49180" name="Freeform 34"/>
              <p:cNvSpPr>
                <a:spLocks/>
              </p:cNvSpPr>
              <p:nvPr/>
            </p:nvSpPr>
            <p:spPr bwMode="auto">
              <a:xfrm>
                <a:off x="1921" y="2041"/>
                <a:ext cx="2121" cy="959"/>
              </a:xfrm>
              <a:custGeom>
                <a:avLst/>
                <a:gdLst>
                  <a:gd name="T0" fmla="*/ 2121 w 2121"/>
                  <a:gd name="T1" fmla="*/ 959 h 959"/>
                  <a:gd name="T2" fmla="*/ 0 w 2121"/>
                  <a:gd name="T3" fmla="*/ 0 h 959"/>
                  <a:gd name="T4" fmla="*/ 0 60000 65536"/>
                  <a:gd name="T5" fmla="*/ 0 60000 65536"/>
                  <a:gd name="T6" fmla="*/ 0 w 2121"/>
                  <a:gd name="T7" fmla="*/ 0 h 959"/>
                  <a:gd name="T8" fmla="*/ 2121 w 2121"/>
                  <a:gd name="T9" fmla="*/ 959 h 95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21" h="959">
                    <a:moveTo>
                      <a:pt x="2121" y="959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81" name="Freeform 35"/>
              <p:cNvSpPr>
                <a:spLocks/>
              </p:cNvSpPr>
              <p:nvPr/>
            </p:nvSpPr>
            <p:spPr bwMode="auto">
              <a:xfrm>
                <a:off x="3948" y="2996"/>
                <a:ext cx="96" cy="176"/>
              </a:xfrm>
              <a:custGeom>
                <a:avLst/>
                <a:gdLst>
                  <a:gd name="T0" fmla="*/ 96 w 96"/>
                  <a:gd name="T1" fmla="*/ 0 h 176"/>
                  <a:gd name="T2" fmla="*/ 0 w 96"/>
                  <a:gd name="T3" fmla="*/ 176 h 176"/>
                  <a:gd name="T4" fmla="*/ 0 60000 65536"/>
                  <a:gd name="T5" fmla="*/ 0 60000 65536"/>
                  <a:gd name="T6" fmla="*/ 0 w 96"/>
                  <a:gd name="T7" fmla="*/ 0 h 176"/>
                  <a:gd name="T8" fmla="*/ 96 w 96"/>
                  <a:gd name="T9" fmla="*/ 176 h 17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176">
                    <a:moveTo>
                      <a:pt x="96" y="0"/>
                    </a:moveTo>
                    <a:lnTo>
                      <a:pt x="0" y="176"/>
                    </a:lnTo>
                  </a:path>
                </a:pathLst>
              </a:cu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82" name="Freeform 36"/>
              <p:cNvSpPr>
                <a:spLocks/>
              </p:cNvSpPr>
              <p:nvPr/>
            </p:nvSpPr>
            <p:spPr bwMode="auto">
              <a:xfrm>
                <a:off x="3031" y="1341"/>
                <a:ext cx="1009" cy="1659"/>
              </a:xfrm>
              <a:custGeom>
                <a:avLst/>
                <a:gdLst>
                  <a:gd name="T0" fmla="*/ 1115 w 1003"/>
                  <a:gd name="T1" fmla="*/ 1498 h 1669"/>
                  <a:gd name="T2" fmla="*/ 0 w 1003"/>
                  <a:gd name="T3" fmla="*/ 0 h 1669"/>
                  <a:gd name="T4" fmla="*/ 0 60000 65536"/>
                  <a:gd name="T5" fmla="*/ 0 60000 65536"/>
                  <a:gd name="T6" fmla="*/ 0 w 1003"/>
                  <a:gd name="T7" fmla="*/ 0 h 1669"/>
                  <a:gd name="T8" fmla="*/ 1003 w 1003"/>
                  <a:gd name="T9" fmla="*/ 1669 h 166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03" h="1669">
                    <a:moveTo>
                      <a:pt x="1003" y="1669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  <p:sp>
          <p:nvSpPr>
            <p:cNvPr id="57372" name="Rectangle 37"/>
            <p:cNvSpPr>
              <a:spLocks noChangeArrowheads="1"/>
            </p:cNvSpPr>
            <p:nvPr/>
          </p:nvSpPr>
          <p:spPr bwMode="auto">
            <a:xfrm>
              <a:off x="3993" y="2880"/>
              <a:ext cx="1746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285750" indent="-285750"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 charset="2"/>
                <a:buChar char="n"/>
              </a:pPr>
              <a:r>
                <a:rPr lang="en-US" sz="1800" dirty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Module testing (developer testing)</a:t>
              </a:r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 : Test each class, file, module, component</a:t>
              </a:r>
            </a:p>
          </p:txBody>
        </p:sp>
      </p:grpSp>
      <p:grpSp>
        <p:nvGrpSpPr>
          <p:cNvPr id="10" name="Group 38"/>
          <p:cNvGrpSpPr>
            <a:grpSpLocks/>
          </p:cNvGrpSpPr>
          <p:nvPr/>
        </p:nvGrpSpPr>
        <p:grpSpPr bwMode="auto">
          <a:xfrm>
            <a:off x="3759201" y="3820784"/>
            <a:ext cx="6875463" cy="2587629"/>
            <a:chOff x="1408" y="2475"/>
            <a:chExt cx="4331" cy="1630"/>
          </a:xfrm>
        </p:grpSpPr>
        <p:sp>
          <p:nvSpPr>
            <p:cNvPr id="57365" name="Rectangle 39"/>
            <p:cNvSpPr>
              <a:spLocks noChangeArrowheads="1"/>
            </p:cNvSpPr>
            <p:nvPr/>
          </p:nvSpPr>
          <p:spPr bwMode="auto">
            <a:xfrm>
              <a:off x="3993" y="3602"/>
              <a:ext cx="174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285750" indent="-285750"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 charset="2"/>
                <a:buChar char="n"/>
              </a:pPr>
              <a:r>
                <a:rPr lang="en-US" sz="1800" dirty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Unit testing (developer testing) </a:t>
              </a:r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: Test each unit (method) individually</a:t>
              </a:r>
            </a:p>
          </p:txBody>
        </p:sp>
        <p:grpSp>
          <p:nvGrpSpPr>
            <p:cNvPr id="57366" name="Group 40"/>
            <p:cNvGrpSpPr>
              <a:grpSpLocks/>
            </p:cNvGrpSpPr>
            <p:nvPr/>
          </p:nvGrpSpPr>
          <p:grpSpPr bwMode="auto">
            <a:xfrm>
              <a:off x="1408" y="2475"/>
              <a:ext cx="2643" cy="1247"/>
              <a:chOff x="1408" y="2475"/>
              <a:chExt cx="2643" cy="1247"/>
            </a:xfrm>
          </p:grpSpPr>
          <p:sp>
            <p:nvSpPr>
              <p:cNvPr id="49174" name="Line 41"/>
              <p:cNvSpPr>
                <a:spLocks noChangeShapeType="1"/>
              </p:cNvSpPr>
              <p:nvPr/>
            </p:nvSpPr>
            <p:spPr bwMode="auto">
              <a:xfrm flipH="1" flipV="1">
                <a:off x="1408" y="2881"/>
                <a:ext cx="2643" cy="841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75" name="Line 42"/>
              <p:cNvSpPr>
                <a:spLocks noChangeShapeType="1"/>
              </p:cNvSpPr>
              <p:nvPr/>
            </p:nvSpPr>
            <p:spPr bwMode="auto">
              <a:xfrm flipH="1" flipV="1">
                <a:off x="1444" y="2489"/>
                <a:ext cx="341" cy="511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76" name="Line 43"/>
              <p:cNvSpPr>
                <a:spLocks noChangeShapeType="1"/>
              </p:cNvSpPr>
              <p:nvPr/>
            </p:nvSpPr>
            <p:spPr bwMode="auto">
              <a:xfrm flipV="1">
                <a:off x="2152" y="2475"/>
                <a:ext cx="273" cy="652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77" name="Line 44"/>
              <p:cNvSpPr>
                <a:spLocks noChangeShapeType="1"/>
              </p:cNvSpPr>
              <p:nvPr/>
            </p:nvSpPr>
            <p:spPr bwMode="auto">
              <a:xfrm flipV="1">
                <a:off x="2355" y="2866"/>
                <a:ext cx="148" cy="330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</p:grpSp>
      <p:sp>
        <p:nvSpPr>
          <p:cNvPr id="48" name="Text Box 6"/>
          <p:cNvSpPr txBox="1">
            <a:spLocks noChangeArrowheads="1"/>
          </p:cNvSpPr>
          <p:nvPr/>
        </p:nvSpPr>
        <p:spPr bwMode="auto">
          <a:xfrm>
            <a:off x="1954213" y="5748001"/>
            <a:ext cx="5764212" cy="461665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457200" indent="-457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2400" dirty="0">
                <a:latin typeface="Gill Sans MT" pitchFamily="34" charset="0"/>
              </a:rPr>
              <a:t>This view </a:t>
            </a:r>
            <a:r>
              <a:rPr lang="en-US" sz="2400" dirty="0">
                <a:solidFill>
                  <a:schemeClr val="tx2"/>
                </a:solidFill>
                <a:latin typeface="Gill Sans MT" pitchFamily="34" charset="0"/>
              </a:rPr>
              <a:t>obscures</a:t>
            </a:r>
            <a:r>
              <a:rPr lang="en-US" sz="2400" dirty="0">
                <a:latin typeface="Gill Sans MT" pitchFamily="34" charset="0"/>
              </a:rPr>
              <a:t> underlying similarities</a:t>
            </a:r>
          </a:p>
        </p:txBody>
      </p:sp>
    </p:spTree>
    <p:extLst>
      <p:ext uri="{BB962C8B-B14F-4D97-AF65-F5344CB8AC3E}">
        <p14:creationId xmlns:p14="http://schemas.microsoft.com/office/powerpoint/2010/main" val="31475995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92" grpId="0" autoUpdateAnimBg="0"/>
      <p:bldP spid="48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D0829B2-BDD6-4923-92C0-E9F6FC6106D3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7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Testing Levels</a:t>
            </a:r>
          </a:p>
        </p:txBody>
      </p:sp>
      <p:sp>
        <p:nvSpPr>
          <p:cNvPr id="57389" name="Rectangle 4"/>
          <p:cNvSpPr>
            <a:spLocks noChangeArrowheads="1"/>
          </p:cNvSpPr>
          <p:nvPr/>
        </p:nvSpPr>
        <p:spPr bwMode="auto">
          <a:xfrm>
            <a:off x="1903413" y="2647950"/>
            <a:ext cx="2665412" cy="2935288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90" name="Text Box 5"/>
          <p:cNvSpPr txBox="1">
            <a:spLocks noChangeArrowheads="1"/>
          </p:cNvSpPr>
          <p:nvPr/>
        </p:nvSpPr>
        <p:spPr bwMode="auto">
          <a:xfrm>
            <a:off x="2732089" y="2873375"/>
            <a:ext cx="11161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dirty="0">
                <a:latin typeface="Arial" pitchFamily="34" charset="0"/>
                <a:cs typeface="Arial" pitchFamily="34" charset="0"/>
              </a:rPr>
              <a:t>Class A</a:t>
            </a:r>
          </a:p>
        </p:txBody>
      </p:sp>
      <p:sp>
        <p:nvSpPr>
          <p:cNvPr id="57391" name="Text Box 6"/>
          <p:cNvSpPr txBox="1">
            <a:spLocks noChangeArrowheads="1"/>
          </p:cNvSpPr>
          <p:nvPr/>
        </p:nvSpPr>
        <p:spPr bwMode="auto">
          <a:xfrm>
            <a:off x="1975946" y="3570288"/>
            <a:ext cx="1930892" cy="400110"/>
          </a:xfrm>
          <a:prstGeom prst="rect">
            <a:avLst/>
          </a:prstGeom>
          <a:solidFill>
            <a:srgbClr val="0347F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method mA1()</a:t>
            </a:r>
          </a:p>
        </p:txBody>
      </p:sp>
      <p:sp>
        <p:nvSpPr>
          <p:cNvPr id="57392" name="Text Box 7"/>
          <p:cNvSpPr txBox="1">
            <a:spLocks noChangeArrowheads="1"/>
          </p:cNvSpPr>
          <p:nvPr/>
        </p:nvSpPr>
        <p:spPr bwMode="auto">
          <a:xfrm>
            <a:off x="1973176" y="4230688"/>
            <a:ext cx="1967000" cy="400110"/>
          </a:xfrm>
          <a:prstGeom prst="rect">
            <a:avLst/>
          </a:prstGeom>
          <a:solidFill>
            <a:srgbClr val="0347F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latin typeface="Arial" pitchFamily="34" charset="0"/>
                <a:cs typeface="Arial" pitchFamily="34" charset="0"/>
              </a:rPr>
              <a:t>method mA2()</a:t>
            </a:r>
          </a:p>
        </p:txBody>
      </p:sp>
      <p:sp>
        <p:nvSpPr>
          <p:cNvPr id="57385" name="Rectangle 9"/>
          <p:cNvSpPr>
            <a:spLocks noChangeArrowheads="1"/>
          </p:cNvSpPr>
          <p:nvPr/>
        </p:nvSpPr>
        <p:spPr bwMode="auto">
          <a:xfrm>
            <a:off x="5129213" y="2647950"/>
            <a:ext cx="2665412" cy="2959100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cs typeface="Arial" pitchFamily="34" charset="0"/>
            </a:endParaRPr>
          </a:p>
        </p:txBody>
      </p:sp>
      <p:sp>
        <p:nvSpPr>
          <p:cNvPr id="57386" name="Text Box 10"/>
          <p:cNvSpPr txBox="1">
            <a:spLocks noChangeArrowheads="1"/>
          </p:cNvSpPr>
          <p:nvPr/>
        </p:nvSpPr>
        <p:spPr bwMode="auto">
          <a:xfrm>
            <a:off x="5964239" y="2871788"/>
            <a:ext cx="11256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latin typeface="Arial" pitchFamily="34" charset="0"/>
                <a:cs typeface="Arial" pitchFamily="34" charset="0"/>
              </a:rPr>
              <a:t>Class B</a:t>
            </a:r>
          </a:p>
        </p:txBody>
      </p:sp>
      <p:sp>
        <p:nvSpPr>
          <p:cNvPr id="57387" name="Text Box 11"/>
          <p:cNvSpPr txBox="1">
            <a:spLocks noChangeArrowheads="1"/>
          </p:cNvSpPr>
          <p:nvPr/>
        </p:nvSpPr>
        <p:spPr bwMode="auto">
          <a:xfrm>
            <a:off x="5259389" y="3570288"/>
            <a:ext cx="2013771" cy="400110"/>
          </a:xfrm>
          <a:prstGeom prst="rect">
            <a:avLst/>
          </a:prstGeom>
          <a:solidFill>
            <a:srgbClr val="0347F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method mB1()</a:t>
            </a:r>
          </a:p>
        </p:txBody>
      </p:sp>
      <p:sp>
        <p:nvSpPr>
          <p:cNvPr id="57388" name="Text Box 12"/>
          <p:cNvSpPr txBox="1">
            <a:spLocks noChangeArrowheads="1"/>
          </p:cNvSpPr>
          <p:nvPr/>
        </p:nvSpPr>
        <p:spPr bwMode="auto">
          <a:xfrm>
            <a:off x="5259388" y="4230688"/>
            <a:ext cx="2090036" cy="400110"/>
          </a:xfrm>
          <a:prstGeom prst="rect">
            <a:avLst/>
          </a:prstGeom>
          <a:solidFill>
            <a:srgbClr val="0347F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latin typeface="Arial" pitchFamily="34" charset="0"/>
                <a:cs typeface="Arial" pitchFamily="34" charset="0"/>
              </a:rPr>
              <a:t>method mB2()</a:t>
            </a:r>
          </a:p>
        </p:txBody>
      </p:sp>
      <p:sp>
        <p:nvSpPr>
          <p:cNvPr id="57356" name="Line 19"/>
          <p:cNvSpPr>
            <a:spLocks noChangeShapeType="1"/>
          </p:cNvSpPr>
          <p:nvPr/>
        </p:nvSpPr>
        <p:spPr bwMode="auto">
          <a:xfrm>
            <a:off x="3025775" y="3984625"/>
            <a:ext cx="0" cy="249238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57" name="Line 20"/>
          <p:cNvSpPr>
            <a:spLocks noChangeShapeType="1"/>
          </p:cNvSpPr>
          <p:nvPr/>
        </p:nvSpPr>
        <p:spPr bwMode="auto">
          <a:xfrm>
            <a:off x="3894139" y="3781425"/>
            <a:ext cx="1366837" cy="655638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58" name="Line 21"/>
          <p:cNvSpPr>
            <a:spLocks noChangeShapeType="1"/>
          </p:cNvSpPr>
          <p:nvPr/>
        </p:nvSpPr>
        <p:spPr bwMode="auto">
          <a:xfrm flipV="1">
            <a:off x="3940175" y="4448175"/>
            <a:ext cx="1320800" cy="44450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59" name="Line 22"/>
          <p:cNvSpPr>
            <a:spLocks noChangeShapeType="1"/>
          </p:cNvSpPr>
          <p:nvPr/>
        </p:nvSpPr>
        <p:spPr bwMode="auto">
          <a:xfrm flipV="1">
            <a:off x="3905251" y="3770313"/>
            <a:ext cx="1355725" cy="11112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78" name="Rectangle 24"/>
          <p:cNvSpPr>
            <a:spLocks noChangeArrowheads="1"/>
          </p:cNvSpPr>
          <p:nvPr/>
        </p:nvSpPr>
        <p:spPr bwMode="auto">
          <a:xfrm>
            <a:off x="7810340" y="3405190"/>
            <a:ext cx="2857661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Intra-class testing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 : Test an entire class as sequences of calls</a:t>
            </a:r>
          </a:p>
        </p:txBody>
      </p:sp>
      <p:sp>
        <p:nvSpPr>
          <p:cNvPr id="49187" name="Line 26"/>
          <p:cNvSpPr>
            <a:spLocks noChangeShapeType="1"/>
          </p:cNvSpPr>
          <p:nvPr/>
        </p:nvSpPr>
        <p:spPr bwMode="auto">
          <a:xfrm flipH="1" flipV="1">
            <a:off x="6897689" y="3071814"/>
            <a:ext cx="1039813" cy="528638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188" name="Line 27"/>
          <p:cNvSpPr>
            <a:spLocks noChangeShapeType="1"/>
          </p:cNvSpPr>
          <p:nvPr/>
        </p:nvSpPr>
        <p:spPr bwMode="auto">
          <a:xfrm flipH="1" flipV="1">
            <a:off x="3684588" y="3071814"/>
            <a:ext cx="4256088" cy="528638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76" name="Rectangle 30"/>
          <p:cNvSpPr>
            <a:spLocks noChangeArrowheads="1"/>
          </p:cNvSpPr>
          <p:nvPr/>
        </p:nvSpPr>
        <p:spPr bwMode="auto">
          <a:xfrm>
            <a:off x="3517899" y="1144589"/>
            <a:ext cx="2771776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Inter-class testing 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: Test multiple classes together</a:t>
            </a:r>
          </a:p>
        </p:txBody>
      </p:sp>
      <p:sp>
        <p:nvSpPr>
          <p:cNvPr id="49180" name="Freeform 34"/>
          <p:cNvSpPr>
            <a:spLocks/>
          </p:cNvSpPr>
          <p:nvPr/>
        </p:nvSpPr>
        <p:spPr bwMode="auto">
          <a:xfrm>
            <a:off x="3032126" y="4110037"/>
            <a:ext cx="4908550" cy="652462"/>
          </a:xfrm>
          <a:custGeom>
            <a:avLst/>
            <a:gdLst>
              <a:gd name="T0" fmla="*/ 2121 w 2121"/>
              <a:gd name="T1" fmla="*/ 959 h 959"/>
              <a:gd name="T2" fmla="*/ 0 w 2121"/>
              <a:gd name="T3" fmla="*/ 0 h 959"/>
              <a:gd name="T4" fmla="*/ 0 60000 65536"/>
              <a:gd name="T5" fmla="*/ 0 60000 65536"/>
              <a:gd name="T6" fmla="*/ 0 w 2121"/>
              <a:gd name="T7" fmla="*/ 0 h 959"/>
              <a:gd name="T8" fmla="*/ 2121 w 2121"/>
              <a:gd name="T9" fmla="*/ 959 h 95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21" h="959">
                <a:moveTo>
                  <a:pt x="2121" y="959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72" name="Rectangle 37"/>
          <p:cNvSpPr>
            <a:spLocks noChangeArrowheads="1"/>
          </p:cNvSpPr>
          <p:nvPr/>
        </p:nvSpPr>
        <p:spPr bwMode="auto">
          <a:xfrm>
            <a:off x="7810340" y="4571999"/>
            <a:ext cx="2857661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Inter-method testing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 : Test pairs of methods in the same class</a:t>
            </a:r>
          </a:p>
        </p:txBody>
      </p:sp>
      <p:sp>
        <p:nvSpPr>
          <p:cNvPr id="57365" name="Rectangle 39"/>
          <p:cNvSpPr>
            <a:spLocks noChangeArrowheads="1"/>
          </p:cNvSpPr>
          <p:nvPr/>
        </p:nvSpPr>
        <p:spPr bwMode="auto">
          <a:xfrm>
            <a:off x="7810339" y="5467352"/>
            <a:ext cx="2857661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Intra-method testing 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: Test each method individually</a:t>
            </a:r>
          </a:p>
        </p:txBody>
      </p:sp>
      <p:sp>
        <p:nvSpPr>
          <p:cNvPr id="49174" name="Line 41"/>
          <p:cNvSpPr>
            <a:spLocks noChangeShapeType="1"/>
          </p:cNvSpPr>
          <p:nvPr/>
        </p:nvSpPr>
        <p:spPr bwMode="auto">
          <a:xfrm flipH="1" flipV="1">
            <a:off x="3759201" y="4573588"/>
            <a:ext cx="4168775" cy="1068388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175" name="Line 42"/>
          <p:cNvSpPr>
            <a:spLocks noChangeShapeType="1"/>
          </p:cNvSpPr>
          <p:nvPr/>
        </p:nvSpPr>
        <p:spPr bwMode="auto">
          <a:xfrm flipH="1" flipV="1">
            <a:off x="3816350" y="3951288"/>
            <a:ext cx="534988" cy="774700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176" name="Line 43"/>
          <p:cNvSpPr>
            <a:spLocks noChangeShapeType="1"/>
          </p:cNvSpPr>
          <p:nvPr/>
        </p:nvSpPr>
        <p:spPr bwMode="auto">
          <a:xfrm flipV="1">
            <a:off x="4967288" y="3929063"/>
            <a:ext cx="406400" cy="958850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177" name="Line 44"/>
          <p:cNvSpPr>
            <a:spLocks noChangeShapeType="1"/>
          </p:cNvSpPr>
          <p:nvPr/>
        </p:nvSpPr>
        <p:spPr bwMode="auto">
          <a:xfrm flipV="1">
            <a:off x="5305425" y="4549777"/>
            <a:ext cx="192088" cy="428625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Line 26"/>
          <p:cNvSpPr>
            <a:spLocks noChangeShapeType="1"/>
          </p:cNvSpPr>
          <p:nvPr/>
        </p:nvSpPr>
        <p:spPr bwMode="auto">
          <a:xfrm flipH="1">
            <a:off x="4836318" y="1772156"/>
            <a:ext cx="1" cy="1828296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78" grpId="0"/>
      <p:bldP spid="49187" grpId="0" animBg="1"/>
      <p:bldP spid="49188" grpId="0" animBg="1"/>
      <p:bldP spid="57376" grpId="0"/>
      <p:bldP spid="49180" grpId="0" animBg="1"/>
      <p:bldP spid="57372" grpId="0"/>
      <p:bldP spid="57365" grpId="0"/>
      <p:bldP spid="49174" grpId="0" animBg="1"/>
      <p:bldP spid="49175" grpId="0" animBg="1"/>
      <p:bldP spid="49176" grpId="0" animBg="1"/>
      <p:bldP spid="49177" grpId="0" animBg="1"/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02EF6D-C3E0-4CBC-B35B-67994316FF0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View : Colored Boxes</a:t>
            </a: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03288"/>
            <a:ext cx="8867775" cy="3833812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Black-box testing</a:t>
            </a:r>
            <a:r>
              <a:rPr lang="en-US" dirty="0"/>
              <a:t> : Derive tests from external descriptions of the software, including specifications, requirements, and design</a:t>
            </a:r>
          </a:p>
          <a:p>
            <a:r>
              <a:rPr lang="en-US" dirty="0">
                <a:solidFill>
                  <a:srgbClr val="FFFF00"/>
                </a:solidFill>
              </a:rPr>
              <a:t>White-box testing</a:t>
            </a:r>
            <a:r>
              <a:rPr lang="en-US" dirty="0"/>
              <a:t> : Derive tests from the source code internals of the software, specifically including branches, individual conditions, and statements</a:t>
            </a:r>
          </a:p>
          <a:p>
            <a:r>
              <a:rPr lang="en-US" dirty="0">
                <a:solidFill>
                  <a:schemeClr val="tx2"/>
                </a:solidFill>
              </a:rPr>
              <a:t>Model-based testing</a:t>
            </a:r>
            <a:r>
              <a:rPr lang="en-US" dirty="0"/>
              <a:t> : Derive tests from a model of the software (such as a UML diagram)</a:t>
            </a:r>
          </a:p>
        </p:txBody>
      </p:sp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1826699" y="4567957"/>
            <a:ext cx="8540510" cy="1588127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None/>
              <a:defRPr/>
            </a:pP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MDTD makes these distinctions less important.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None/>
              <a:defRPr/>
            </a:pP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The more general question is: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None/>
              <a:defRPr/>
            </a:pPr>
            <a:r>
              <a:rPr lang="en-US" sz="32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from what abstraction level do we derive tests</a:t>
            </a:r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?</a:t>
            </a:r>
            <a:endParaRPr lang="en-US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818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Model-Driven Test Design</a:t>
            </a:r>
            <a:r>
              <a:rPr lang="en-US" sz="2800" dirty="0"/>
              <a:t> (2.5)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0" y="1189529"/>
            <a:ext cx="8966200" cy="537169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i="1" dirty="0">
                <a:solidFill>
                  <a:schemeClr val="tx2"/>
                </a:solidFill>
              </a:rPr>
              <a:t>Test Design</a:t>
            </a:r>
            <a:r>
              <a:rPr lang="en-US" dirty="0"/>
              <a:t> is the process of designing input values that will effectively test software</a:t>
            </a:r>
          </a:p>
          <a:p>
            <a:endParaRPr lang="en-US" dirty="0"/>
          </a:p>
          <a:p>
            <a:r>
              <a:rPr lang="en-US" dirty="0"/>
              <a:t> Test design is one of </a:t>
            </a:r>
            <a:r>
              <a:rPr lang="en-US" dirty="0">
                <a:solidFill>
                  <a:schemeClr val="tx2"/>
                </a:solidFill>
              </a:rPr>
              <a:t>several activities</a:t>
            </a:r>
            <a:r>
              <a:rPr lang="en-US" dirty="0"/>
              <a:t> for testing software</a:t>
            </a:r>
          </a:p>
          <a:p>
            <a:pPr lvl="1"/>
            <a:r>
              <a:rPr lang="en-US" dirty="0"/>
              <a:t>Most </a:t>
            </a:r>
            <a:r>
              <a:rPr lang="en-US" dirty="0">
                <a:solidFill>
                  <a:schemeClr val="tx2"/>
                </a:solidFill>
              </a:rPr>
              <a:t>mathematical</a:t>
            </a:r>
          </a:p>
          <a:p>
            <a:pPr lvl="1"/>
            <a:r>
              <a:rPr lang="en-US" dirty="0"/>
              <a:t>Most </a:t>
            </a:r>
            <a:r>
              <a:rPr lang="en-US" dirty="0">
                <a:solidFill>
                  <a:schemeClr val="tx2"/>
                </a:solidFill>
              </a:rPr>
              <a:t>technically</a:t>
            </a:r>
            <a:r>
              <a:rPr lang="en-US" dirty="0"/>
              <a:t> challenging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32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Test Activities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1612900" y="739303"/>
            <a:ext cx="8966200" cy="560276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Testing can be broken up into </a:t>
            </a:r>
            <a:r>
              <a:rPr lang="en-US" dirty="0">
                <a:solidFill>
                  <a:srgbClr val="FFFF00"/>
                </a:solidFill>
              </a:rPr>
              <a:t>four</a:t>
            </a:r>
            <a:r>
              <a:rPr lang="en-US" dirty="0"/>
              <a:t> general types of activities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Test Design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Test Automation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Test Execution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Test Evaluation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Each type of activity requires different </a:t>
            </a:r>
            <a:r>
              <a:rPr lang="en-US" dirty="0">
                <a:solidFill>
                  <a:schemeClr val="tx2"/>
                </a:solidFill>
              </a:rPr>
              <a:t>skills</a:t>
            </a:r>
            <a:r>
              <a:rPr lang="en-US" dirty="0"/>
              <a:t>, background </a:t>
            </a:r>
            <a:r>
              <a:rPr lang="en-US" dirty="0">
                <a:solidFill>
                  <a:schemeClr val="tx2"/>
                </a:solidFill>
              </a:rPr>
              <a:t>knowledge</a:t>
            </a:r>
            <a:r>
              <a:rPr lang="en-US" dirty="0"/>
              <a:t>, </a:t>
            </a:r>
            <a:r>
              <a:rPr lang="en-US" dirty="0">
                <a:solidFill>
                  <a:schemeClr val="tx2"/>
                </a:solidFill>
              </a:rPr>
              <a:t>education</a:t>
            </a:r>
            <a:r>
              <a:rPr lang="en-US" dirty="0"/>
              <a:t> and </a:t>
            </a:r>
            <a:r>
              <a:rPr lang="en-US" dirty="0">
                <a:solidFill>
                  <a:schemeClr val="tx2"/>
                </a:solidFill>
              </a:rPr>
              <a:t>training</a:t>
            </a:r>
          </a:p>
          <a:p>
            <a:pPr>
              <a:spcBef>
                <a:spcPts val="600"/>
              </a:spcBef>
            </a:pPr>
            <a:r>
              <a:rPr lang="en-US" dirty="0"/>
              <a:t>No reasonable software development organization uses the same people  for requirements, design, implementation, integration and configuration control</a:t>
            </a:r>
          </a:p>
        </p:txBody>
      </p:sp>
      <p:sp>
        <p:nvSpPr>
          <p:cNvPr id="256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323E2DF-4872-448E-B4EC-6C2594732AA3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10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874839" y="5183335"/>
            <a:ext cx="8442325" cy="954087"/>
          </a:xfrm>
          <a:prstGeom prst="rect">
            <a:avLst/>
          </a:prstGeom>
          <a:solidFill>
            <a:srgbClr val="0000CC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Why do test organizations still use the same people for all four test activities??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352800" y="6100910"/>
            <a:ext cx="5486400" cy="523875"/>
          </a:xfrm>
          <a:prstGeom prst="rect">
            <a:avLst/>
          </a:prstGeom>
          <a:solidFill>
            <a:srgbClr val="0000CC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This clearly </a:t>
            </a:r>
            <a:r>
              <a:rPr lang="en-US" sz="2800" b="0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wastes</a:t>
            </a:r>
            <a:r>
              <a:rPr lang="en-US" sz="28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 resources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135313" y="6026296"/>
            <a:ext cx="5943600" cy="103188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5053013" y="1350244"/>
            <a:ext cx="4106862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1371600" lvl="2" indent="-457200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sz="2400" kern="0" dirty="0">
                <a:solidFill>
                  <a:schemeClr val="tx2"/>
                </a:solidFill>
                <a:latin typeface="Gill Sans MT" pitchFamily="34" charset="0"/>
              </a:rPr>
              <a:t>1.a) Criteria-based</a:t>
            </a:r>
          </a:p>
          <a:p>
            <a:pPr marL="1371600" lvl="2" indent="-457200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sz="2400" kern="0" dirty="0">
                <a:solidFill>
                  <a:schemeClr val="tx2"/>
                </a:solidFill>
                <a:latin typeface="Gill Sans MT" pitchFamily="34" charset="0"/>
              </a:rPr>
              <a:t>1.b) Human-based</a:t>
            </a:r>
          </a:p>
        </p:txBody>
      </p:sp>
      <p:cxnSp>
        <p:nvCxnSpPr>
          <p:cNvPr id="25611" name="Straight Arrow Connector 12"/>
          <p:cNvCxnSpPr>
            <a:cxnSpLocks noChangeShapeType="1"/>
          </p:cNvCxnSpPr>
          <p:nvPr/>
        </p:nvCxnSpPr>
        <p:spPr bwMode="auto">
          <a:xfrm>
            <a:off x="4460876" y="1785733"/>
            <a:ext cx="1577975" cy="1588"/>
          </a:xfrm>
          <a:prstGeom prst="straightConnector1">
            <a:avLst/>
          </a:prstGeom>
          <a:noFill/>
          <a:ln w="57150" algn="ctr">
            <a:solidFill>
              <a:srgbClr val="FFFF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064587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1. </a:t>
            </a:r>
            <a:r>
              <a:rPr lang="en-US" dirty="0"/>
              <a:t>Test Design—</a:t>
            </a:r>
            <a:r>
              <a:rPr lang="en-US" sz="3200" dirty="0"/>
              <a:t>(a) </a:t>
            </a:r>
            <a:r>
              <a:rPr lang="en-US" dirty="0"/>
              <a:t>Criteria-Based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612900" y="2001838"/>
            <a:ext cx="8966200" cy="437515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This is the </a:t>
            </a:r>
            <a:r>
              <a:rPr lang="en-US" dirty="0">
                <a:solidFill>
                  <a:schemeClr val="tx2"/>
                </a:solidFill>
              </a:rPr>
              <a:t>most technical</a:t>
            </a:r>
            <a:r>
              <a:rPr lang="en-US" dirty="0"/>
              <a:t> job in software testing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Requires </a:t>
            </a:r>
            <a:r>
              <a:rPr lang="en-US" dirty="0">
                <a:solidFill>
                  <a:schemeClr val="tx2"/>
                </a:solidFill>
              </a:rPr>
              <a:t>knowledge</a:t>
            </a:r>
            <a:r>
              <a:rPr lang="en-US" dirty="0"/>
              <a:t> of :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Discrete math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Programming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Testing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Requires much of a </a:t>
            </a:r>
            <a:r>
              <a:rPr lang="en-US" dirty="0">
                <a:solidFill>
                  <a:schemeClr val="tx2"/>
                </a:solidFill>
              </a:rPr>
              <a:t>traditional CS</a:t>
            </a:r>
            <a:r>
              <a:rPr lang="en-US" dirty="0"/>
              <a:t> degree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This is </a:t>
            </a:r>
            <a:r>
              <a:rPr lang="en-US" dirty="0">
                <a:solidFill>
                  <a:schemeClr val="tx2"/>
                </a:solidFill>
              </a:rPr>
              <a:t>intellectually</a:t>
            </a:r>
            <a:r>
              <a:rPr lang="en-US" dirty="0"/>
              <a:t> stimulating, rewarding, and challenging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Test design is analogous to </a:t>
            </a:r>
            <a:r>
              <a:rPr lang="en-US" dirty="0">
                <a:solidFill>
                  <a:schemeClr val="tx2"/>
                </a:solidFill>
              </a:rPr>
              <a:t>software architecture</a:t>
            </a:r>
            <a:r>
              <a:rPr lang="en-US" dirty="0"/>
              <a:t> on the development side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Using people who are not qualified to design tests is a sure way to get </a:t>
            </a:r>
            <a:r>
              <a:rPr lang="en-US" dirty="0">
                <a:solidFill>
                  <a:schemeClr val="tx2"/>
                </a:solidFill>
              </a:rPr>
              <a:t>ineffective tests</a:t>
            </a:r>
          </a:p>
        </p:txBody>
      </p:sp>
      <p:sp>
        <p:nvSpPr>
          <p:cNvPr id="266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CE03307-9B2A-4100-8BD2-1E34C9629308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11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470150" y="946150"/>
            <a:ext cx="7251700" cy="954088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Design test values to satisfy coverage criteria or other engineering goal</a:t>
            </a:r>
          </a:p>
        </p:txBody>
      </p:sp>
    </p:spTree>
    <p:extLst>
      <p:ext uri="{BB962C8B-B14F-4D97-AF65-F5344CB8AC3E}">
        <p14:creationId xmlns:p14="http://schemas.microsoft.com/office/powerpoint/2010/main" val="30611935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1. </a:t>
            </a:r>
            <a:r>
              <a:rPr lang="en-US" dirty="0"/>
              <a:t>Test Design—</a:t>
            </a:r>
            <a:r>
              <a:rPr lang="en-US" sz="3200" dirty="0"/>
              <a:t>(b) </a:t>
            </a:r>
            <a:r>
              <a:rPr lang="en-US" dirty="0"/>
              <a:t>Human-Based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612900" y="1920876"/>
            <a:ext cx="8966200" cy="4456113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This is much </a:t>
            </a:r>
            <a:r>
              <a:rPr lang="en-US" dirty="0">
                <a:solidFill>
                  <a:schemeClr val="tx2"/>
                </a:solidFill>
              </a:rPr>
              <a:t>harder</a:t>
            </a:r>
            <a:r>
              <a:rPr lang="en-US" dirty="0"/>
              <a:t> than it may seem to developers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Criteria-based approaches can be blind to special situations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Requires </a:t>
            </a:r>
            <a:r>
              <a:rPr lang="en-US" dirty="0">
                <a:solidFill>
                  <a:schemeClr val="tx2"/>
                </a:solidFill>
              </a:rPr>
              <a:t>knowledge</a:t>
            </a:r>
            <a:r>
              <a:rPr lang="en-US" dirty="0"/>
              <a:t> of :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Domain, testing, and user interfaces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Requires almost </a:t>
            </a:r>
            <a:r>
              <a:rPr lang="en-US" dirty="0">
                <a:solidFill>
                  <a:schemeClr val="tx2"/>
                </a:solidFill>
              </a:rPr>
              <a:t>no traditional CS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A background in the </a:t>
            </a:r>
            <a:r>
              <a:rPr lang="en-US" dirty="0">
                <a:solidFill>
                  <a:schemeClr val="tx2"/>
                </a:solidFill>
              </a:rPr>
              <a:t>domain</a:t>
            </a:r>
            <a:r>
              <a:rPr lang="en-US" dirty="0"/>
              <a:t> of the software is essential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An </a:t>
            </a:r>
            <a:r>
              <a:rPr lang="en-US" dirty="0">
                <a:solidFill>
                  <a:schemeClr val="tx2"/>
                </a:solidFill>
              </a:rPr>
              <a:t>empirical background</a:t>
            </a:r>
            <a:r>
              <a:rPr lang="en-US" dirty="0"/>
              <a:t> is very helpful (biology, psychology, …)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logic background</a:t>
            </a:r>
            <a:r>
              <a:rPr lang="en-US" dirty="0"/>
              <a:t> is very helpful (law, philosophy, math, …)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This is </a:t>
            </a:r>
            <a:r>
              <a:rPr lang="en-US" dirty="0">
                <a:solidFill>
                  <a:schemeClr val="tx2"/>
                </a:solidFill>
              </a:rPr>
              <a:t>intellectually</a:t>
            </a:r>
            <a:r>
              <a:rPr lang="en-US" dirty="0"/>
              <a:t> stimulating, rewarding, and challenging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But not to typical CS majors – they want to solve problems and build things</a:t>
            </a:r>
          </a:p>
        </p:txBody>
      </p:sp>
      <p:sp>
        <p:nvSpPr>
          <p:cNvPr id="276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EF76DA5-BAE9-470F-8D4F-A09CA009610E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12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815313" y="946151"/>
            <a:ext cx="8553282" cy="954107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Design test values based on domain knowledge of the program and human knowledge of testing</a:t>
            </a:r>
          </a:p>
        </p:txBody>
      </p:sp>
    </p:spTree>
    <p:extLst>
      <p:ext uri="{BB962C8B-B14F-4D97-AF65-F5344CB8AC3E}">
        <p14:creationId xmlns:p14="http://schemas.microsoft.com/office/powerpoint/2010/main" val="35139627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2. </a:t>
            </a:r>
            <a:r>
              <a:rPr lang="en-US" dirty="0"/>
              <a:t>Test Automation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612900" y="1543050"/>
            <a:ext cx="8966200" cy="48339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This is slightly </a:t>
            </a:r>
            <a:r>
              <a:rPr lang="en-US" dirty="0">
                <a:solidFill>
                  <a:schemeClr val="tx2"/>
                </a:solidFill>
              </a:rPr>
              <a:t>less technical</a:t>
            </a:r>
          </a:p>
          <a:p>
            <a:pPr>
              <a:lnSpc>
                <a:spcPct val="80000"/>
              </a:lnSpc>
            </a:pPr>
            <a:r>
              <a:rPr lang="en-US" dirty="0"/>
              <a:t>Requires knowledge of  </a:t>
            </a:r>
            <a:r>
              <a:rPr lang="en-US" dirty="0">
                <a:solidFill>
                  <a:schemeClr val="tx2"/>
                </a:solidFill>
              </a:rPr>
              <a:t>programming</a:t>
            </a:r>
          </a:p>
          <a:p>
            <a:pPr>
              <a:lnSpc>
                <a:spcPct val="80000"/>
              </a:lnSpc>
            </a:pPr>
            <a:r>
              <a:rPr lang="en-US" dirty="0"/>
              <a:t>Requires very </a:t>
            </a:r>
            <a:r>
              <a:rPr lang="en-US" dirty="0">
                <a:solidFill>
                  <a:schemeClr val="tx2"/>
                </a:solidFill>
              </a:rPr>
              <a:t>little theory</a:t>
            </a:r>
          </a:p>
          <a:p>
            <a:pPr>
              <a:lnSpc>
                <a:spcPct val="80000"/>
              </a:lnSpc>
            </a:pPr>
            <a:r>
              <a:rPr lang="en-US" dirty="0"/>
              <a:t>Often requires solutions to difficult problems related to </a:t>
            </a:r>
            <a:r>
              <a:rPr lang="en-US" dirty="0" err="1">
                <a:solidFill>
                  <a:schemeClr val="tx2"/>
                </a:solidFill>
              </a:rPr>
              <a:t>observability</a:t>
            </a:r>
            <a:r>
              <a:rPr lang="en-US" dirty="0"/>
              <a:t> and </a:t>
            </a:r>
            <a:r>
              <a:rPr lang="en-US" dirty="0">
                <a:solidFill>
                  <a:schemeClr val="tx2"/>
                </a:solidFill>
              </a:rPr>
              <a:t>controllability</a:t>
            </a:r>
          </a:p>
          <a:p>
            <a:pPr>
              <a:lnSpc>
                <a:spcPct val="80000"/>
              </a:lnSpc>
            </a:pPr>
            <a:r>
              <a:rPr lang="en-US" dirty="0"/>
              <a:t>Can be </a:t>
            </a:r>
            <a:r>
              <a:rPr lang="en-US" dirty="0">
                <a:solidFill>
                  <a:schemeClr val="tx2"/>
                </a:solidFill>
              </a:rPr>
              <a:t>boring</a:t>
            </a:r>
            <a:r>
              <a:rPr lang="en-US" dirty="0"/>
              <a:t> for test designers</a:t>
            </a:r>
          </a:p>
          <a:p>
            <a:pPr>
              <a:lnSpc>
                <a:spcPct val="80000"/>
              </a:lnSpc>
            </a:pPr>
            <a:r>
              <a:rPr lang="en-US" dirty="0"/>
              <a:t>Programming is out of reach for many </a:t>
            </a:r>
            <a:r>
              <a:rPr lang="en-US" dirty="0">
                <a:solidFill>
                  <a:schemeClr val="tx2"/>
                </a:solidFill>
              </a:rPr>
              <a:t>domain experts</a:t>
            </a:r>
          </a:p>
          <a:p>
            <a:pPr>
              <a:lnSpc>
                <a:spcPct val="80000"/>
              </a:lnSpc>
            </a:pPr>
            <a:r>
              <a:rPr lang="en-US" dirty="0"/>
              <a:t>Who is responsible for determining and embedding the </a:t>
            </a:r>
            <a:r>
              <a:rPr lang="en-US" dirty="0">
                <a:solidFill>
                  <a:schemeClr val="tx2"/>
                </a:solidFill>
              </a:rPr>
              <a:t>expected outputs</a:t>
            </a:r>
            <a:r>
              <a:rPr lang="en-US" dirty="0"/>
              <a:t> ?</a:t>
            </a:r>
          </a:p>
          <a:p>
            <a:pPr lvl="1">
              <a:lnSpc>
                <a:spcPct val="80000"/>
              </a:lnSpc>
            </a:pPr>
            <a:r>
              <a:rPr lang="en-US" dirty="0">
                <a:solidFill>
                  <a:schemeClr val="tx2"/>
                </a:solidFill>
              </a:rPr>
              <a:t>Test designers</a:t>
            </a:r>
            <a:r>
              <a:rPr lang="en-US" dirty="0"/>
              <a:t> may not always know the expected outputs</a:t>
            </a:r>
          </a:p>
          <a:p>
            <a:pPr lvl="1">
              <a:lnSpc>
                <a:spcPct val="80000"/>
              </a:lnSpc>
            </a:pPr>
            <a:r>
              <a:rPr lang="en-US" dirty="0">
                <a:solidFill>
                  <a:schemeClr val="tx2"/>
                </a:solidFill>
              </a:rPr>
              <a:t>Test evaluators</a:t>
            </a:r>
            <a:r>
              <a:rPr lang="en-US" dirty="0"/>
              <a:t> need to get involved early to help with this</a:t>
            </a: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A68F415-7DED-49E8-B097-16A4E2F3B880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13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470150" y="946151"/>
            <a:ext cx="7251700" cy="523875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Embed test values into executable scripts</a:t>
            </a:r>
          </a:p>
        </p:txBody>
      </p:sp>
    </p:spTree>
    <p:extLst>
      <p:ext uri="{BB962C8B-B14F-4D97-AF65-F5344CB8AC3E}">
        <p14:creationId xmlns:p14="http://schemas.microsoft.com/office/powerpoint/2010/main" val="32529138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0" y="3275635"/>
            <a:ext cx="8966200" cy="3285586"/>
          </a:xfrm>
        </p:spPr>
        <p:txBody>
          <a:bodyPr/>
          <a:lstStyle/>
          <a:p>
            <a:r>
              <a:rPr lang="en-US" dirty="0"/>
              <a:t>Reduces </a:t>
            </a:r>
            <a:r>
              <a:rPr lang="en-US" dirty="0">
                <a:solidFill>
                  <a:schemeClr val="tx2"/>
                </a:solidFill>
              </a:rPr>
              <a:t>cost</a:t>
            </a:r>
          </a:p>
          <a:p>
            <a:r>
              <a:rPr lang="en-US" dirty="0"/>
              <a:t>Reduces </a:t>
            </a:r>
            <a:r>
              <a:rPr lang="en-US" dirty="0">
                <a:solidFill>
                  <a:schemeClr val="tx2"/>
                </a:solidFill>
              </a:rPr>
              <a:t>human error</a:t>
            </a:r>
          </a:p>
          <a:p>
            <a:r>
              <a:rPr lang="en-US" dirty="0"/>
              <a:t>Reduces </a:t>
            </a:r>
            <a:r>
              <a:rPr lang="en-US" dirty="0">
                <a:solidFill>
                  <a:schemeClr val="tx2"/>
                </a:solidFill>
              </a:rPr>
              <a:t>variance</a:t>
            </a:r>
            <a:r>
              <a:rPr lang="en-US" dirty="0"/>
              <a:t> in test quality from different individuals</a:t>
            </a:r>
          </a:p>
          <a:p>
            <a:r>
              <a:rPr lang="en-US" dirty="0"/>
              <a:t>Significantly reduces the cost of </a:t>
            </a:r>
            <a:r>
              <a:rPr lang="en-US" dirty="0">
                <a:solidFill>
                  <a:schemeClr val="tx2"/>
                </a:solidFill>
              </a:rPr>
              <a:t>regression</a:t>
            </a:r>
            <a:r>
              <a:rPr lang="en-US" dirty="0"/>
              <a:t> testing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743919" y="1108295"/>
            <a:ext cx="8727311" cy="1815882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The use of software to control the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execution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of tests, the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comparison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of actual outcomes to predicted outcomes, the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setting up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of test preconditions, and other test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control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and test </a:t>
            </a:r>
            <a:r>
              <a:rPr lang="en-US" altLang="zh-CN" sz="2800" b="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reporting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 functions</a:t>
            </a:r>
          </a:p>
        </p:txBody>
      </p:sp>
    </p:spTree>
    <p:extLst>
      <p:ext uri="{BB962C8B-B14F-4D97-AF65-F5344CB8AC3E}">
        <p14:creationId xmlns:p14="http://schemas.microsoft.com/office/powerpoint/2010/main" val="33515220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/>
              <a:t>Automation Framework (3.3)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548991" y="1183628"/>
            <a:ext cx="7339693" cy="1077218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A set of assumptions, concepts, and tools that support test automation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539671-6D44-4547-A700-799B506A6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986" y="2755834"/>
            <a:ext cx="8966200" cy="3285586"/>
          </a:xfrm>
        </p:spPr>
        <p:txBody>
          <a:bodyPr/>
          <a:lstStyle/>
          <a:p>
            <a:r>
              <a:rPr lang="en-US" dirty="0"/>
              <a:t>Provides a standard design for test scripts and support for the test driver</a:t>
            </a:r>
          </a:p>
          <a:p>
            <a:r>
              <a:rPr lang="en-US" dirty="0"/>
              <a:t>Test driver</a:t>
            </a:r>
          </a:p>
          <a:p>
            <a:pPr lvl="1"/>
            <a:r>
              <a:rPr lang="en-US" dirty="0"/>
              <a:t>Runs a test set by executing the software repeatedly on each test</a:t>
            </a:r>
          </a:p>
          <a:p>
            <a:pPr lvl="1"/>
            <a:r>
              <a:rPr lang="en-US" dirty="0"/>
              <a:t>Supply the “main” method to run the software if it is not standalone (i.e., a method, class, or other component)</a:t>
            </a:r>
          </a:p>
          <a:p>
            <a:pPr lvl="1"/>
            <a:r>
              <a:rPr lang="en-US" dirty="0"/>
              <a:t>Compares the results of execution with the expected results (from the test case) and report the results to the tester</a:t>
            </a:r>
          </a:p>
        </p:txBody>
      </p:sp>
    </p:spTree>
    <p:extLst>
      <p:ext uri="{BB962C8B-B14F-4D97-AF65-F5344CB8AC3E}">
        <p14:creationId xmlns:p14="http://schemas.microsoft.com/office/powerpoint/2010/main" val="40641679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25" y="96839"/>
            <a:ext cx="9048750" cy="915987"/>
          </a:xfrm>
        </p:spPr>
        <p:txBody>
          <a:bodyPr/>
          <a:lstStyle/>
          <a:p>
            <a:r>
              <a:rPr lang="en-US" sz="3200" dirty="0"/>
              <a:t>Test Automation Framework (cont.)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539671-6D44-4547-A700-799B506A6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986" y="1012826"/>
            <a:ext cx="8966200" cy="5028595"/>
          </a:xfrm>
        </p:spPr>
        <p:txBody>
          <a:bodyPr/>
          <a:lstStyle/>
          <a:p>
            <a:r>
              <a:rPr lang="en-US" dirty="0"/>
              <a:t>Most test automation frameworks support</a:t>
            </a:r>
          </a:p>
          <a:p>
            <a:pPr lvl="1"/>
            <a:r>
              <a:rPr lang="en-US" dirty="0"/>
              <a:t> Assertions to evaluate expected results</a:t>
            </a:r>
          </a:p>
          <a:p>
            <a:pPr lvl="1"/>
            <a:r>
              <a:rPr lang="en-US" dirty="0"/>
              <a:t> The ability to share common test data among tests</a:t>
            </a:r>
          </a:p>
          <a:p>
            <a:pPr lvl="1"/>
            <a:r>
              <a:rPr lang="en-US" dirty="0"/>
              <a:t> Test sets to easily organize and run tests</a:t>
            </a:r>
          </a:p>
          <a:p>
            <a:pPr lvl="1"/>
            <a:r>
              <a:rPr lang="en-US" dirty="0"/>
              <a:t> The ability to run tests from either a command line or a GUI</a:t>
            </a:r>
          </a:p>
          <a:p>
            <a:r>
              <a:rPr lang="en-US" dirty="0"/>
              <a:t>Most test automation frameworks are designed for unit and integration testing, although some specifically support system testing, and some are built to support testing over the web</a:t>
            </a:r>
          </a:p>
          <a:p>
            <a:r>
              <a:rPr lang="en-US" dirty="0"/>
              <a:t>Example test automation frameworks</a:t>
            </a:r>
          </a:p>
          <a:p>
            <a:pPr lvl="1"/>
            <a:r>
              <a:rPr lang="en-US" dirty="0"/>
              <a:t>JUnit, </a:t>
            </a:r>
            <a:r>
              <a:rPr lang="en-US" dirty="0" err="1"/>
              <a:t>HttpUnit</a:t>
            </a:r>
            <a:r>
              <a:rPr lang="en-US" dirty="0"/>
              <a:t>, </a:t>
            </a:r>
            <a:r>
              <a:rPr lang="en-US" dirty="0" err="1"/>
              <a:t>HtmlUnit</a:t>
            </a:r>
            <a:r>
              <a:rPr lang="en-US" dirty="0"/>
              <a:t>, </a:t>
            </a:r>
            <a:r>
              <a:rPr lang="en-US" dirty="0" err="1"/>
              <a:t>JWebUnit</a:t>
            </a:r>
            <a:r>
              <a:rPr lang="en-US" dirty="0"/>
              <a:t>, Selenium, </a:t>
            </a:r>
            <a:r>
              <a:rPr lang="en-US" dirty="0" err="1"/>
              <a:t>unittest</a:t>
            </a:r>
            <a:r>
              <a:rPr lang="en-US" dirty="0"/>
              <a:t>, Jasmine, </a:t>
            </a:r>
            <a:r>
              <a:rPr lang="en-US" dirty="0" err="1"/>
              <a:t>PHPUnit</a:t>
            </a:r>
            <a:r>
              <a:rPr lang="en-US" dirty="0"/>
              <a:t>, </a:t>
            </a:r>
            <a:r>
              <a:rPr lang="en-US" dirty="0" err="1"/>
              <a:t>Robotium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0613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3. </a:t>
            </a:r>
            <a:r>
              <a:rPr lang="en-US" dirty="0"/>
              <a:t>Test Execution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612900" y="1554164"/>
            <a:ext cx="8966200" cy="4822825"/>
          </a:xfrm>
        </p:spPr>
        <p:txBody>
          <a:bodyPr/>
          <a:lstStyle/>
          <a:p>
            <a:r>
              <a:rPr lang="en-US" dirty="0"/>
              <a:t>This is </a:t>
            </a:r>
            <a:r>
              <a:rPr lang="en-US" dirty="0">
                <a:solidFill>
                  <a:schemeClr val="tx2"/>
                </a:solidFill>
              </a:rPr>
              <a:t>easy</a:t>
            </a:r>
            <a:r>
              <a:rPr lang="en-US" dirty="0"/>
              <a:t> – and trivial if the tests are well automated</a:t>
            </a:r>
          </a:p>
          <a:p>
            <a:r>
              <a:rPr lang="en-US" dirty="0"/>
              <a:t>Requires basic </a:t>
            </a:r>
            <a:r>
              <a:rPr lang="en-US" dirty="0">
                <a:solidFill>
                  <a:schemeClr val="tx2"/>
                </a:solidFill>
              </a:rPr>
              <a:t>computer skills</a:t>
            </a:r>
          </a:p>
          <a:p>
            <a:pPr lvl="1"/>
            <a:r>
              <a:rPr lang="en-US" dirty="0"/>
              <a:t>Interns</a:t>
            </a:r>
          </a:p>
          <a:p>
            <a:pPr lvl="1"/>
            <a:r>
              <a:rPr lang="en-US" dirty="0"/>
              <a:t>Employees with no technical background</a:t>
            </a:r>
          </a:p>
          <a:p>
            <a:r>
              <a:rPr lang="en-US" dirty="0"/>
              <a:t>Asking qualified test </a:t>
            </a:r>
            <a:r>
              <a:rPr lang="en-US" dirty="0">
                <a:solidFill>
                  <a:schemeClr val="tx2"/>
                </a:solidFill>
              </a:rPr>
              <a:t>designers</a:t>
            </a:r>
            <a:r>
              <a:rPr lang="en-US" dirty="0"/>
              <a:t> to execute tests is a sure way to convince them to look for a </a:t>
            </a:r>
            <a:r>
              <a:rPr lang="en-US" dirty="0">
                <a:solidFill>
                  <a:schemeClr val="tx2"/>
                </a:solidFill>
              </a:rPr>
              <a:t>development job</a:t>
            </a:r>
          </a:p>
          <a:p>
            <a:r>
              <a:rPr lang="en-US" dirty="0"/>
              <a:t>If, for example, GUI tests are not well automated, this requires a lot of </a:t>
            </a:r>
            <a:r>
              <a:rPr lang="en-US" dirty="0">
                <a:solidFill>
                  <a:schemeClr val="tx2"/>
                </a:solidFill>
              </a:rPr>
              <a:t>manual labor</a:t>
            </a:r>
          </a:p>
          <a:p>
            <a:r>
              <a:rPr lang="en-US" dirty="0"/>
              <a:t>Test executors have to be very </a:t>
            </a:r>
            <a:r>
              <a:rPr lang="en-US" dirty="0">
                <a:solidFill>
                  <a:schemeClr val="tx2"/>
                </a:solidFill>
              </a:rPr>
              <a:t>careful</a:t>
            </a:r>
            <a:r>
              <a:rPr lang="en-US" dirty="0"/>
              <a:t> and </a:t>
            </a:r>
            <a:r>
              <a:rPr lang="en-US" dirty="0">
                <a:solidFill>
                  <a:schemeClr val="tx2"/>
                </a:solidFill>
              </a:rPr>
              <a:t>meticulous</a:t>
            </a:r>
            <a:r>
              <a:rPr lang="en-US" dirty="0"/>
              <a:t> with bookkeeping</a:t>
            </a:r>
          </a:p>
        </p:txBody>
      </p:sp>
      <p:sp>
        <p:nvSpPr>
          <p:cNvPr id="297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0D5CD59-EDEE-47B0-AEF0-3B0FFD9548DA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17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28601" y="929966"/>
            <a:ext cx="8328531" cy="5232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Run tests on the software and record the results</a:t>
            </a:r>
          </a:p>
        </p:txBody>
      </p:sp>
    </p:spTree>
    <p:extLst>
      <p:ext uri="{BB962C8B-B14F-4D97-AF65-F5344CB8AC3E}">
        <p14:creationId xmlns:p14="http://schemas.microsoft.com/office/powerpoint/2010/main" val="41182606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4. </a:t>
            </a:r>
            <a:r>
              <a:rPr lang="en-US" dirty="0"/>
              <a:t>Test Evaluation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143000" y="1554164"/>
            <a:ext cx="10485120" cy="48228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This is much </a:t>
            </a:r>
            <a:r>
              <a:rPr lang="en-US" dirty="0">
                <a:solidFill>
                  <a:schemeClr val="tx2"/>
                </a:solidFill>
              </a:rPr>
              <a:t>harder</a:t>
            </a:r>
            <a:r>
              <a:rPr lang="en-US" dirty="0"/>
              <a:t> than it may seem</a:t>
            </a:r>
          </a:p>
          <a:p>
            <a:pPr>
              <a:spcBef>
                <a:spcPts val="600"/>
              </a:spcBef>
            </a:pPr>
            <a:r>
              <a:rPr lang="en-US" dirty="0"/>
              <a:t>Requires </a:t>
            </a:r>
            <a:r>
              <a:rPr lang="en-US" dirty="0">
                <a:solidFill>
                  <a:schemeClr val="tx2"/>
                </a:solidFill>
              </a:rPr>
              <a:t>knowledge</a:t>
            </a:r>
            <a:r>
              <a:rPr lang="en-US" dirty="0"/>
              <a:t> of 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Domain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Testing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User interfaces and psychology</a:t>
            </a:r>
          </a:p>
          <a:p>
            <a:pPr>
              <a:spcBef>
                <a:spcPts val="600"/>
              </a:spcBef>
            </a:pPr>
            <a:r>
              <a:rPr lang="en-US" dirty="0"/>
              <a:t>Usually requires almost </a:t>
            </a:r>
            <a:r>
              <a:rPr lang="en-US" dirty="0">
                <a:solidFill>
                  <a:schemeClr val="tx2"/>
                </a:solidFill>
              </a:rPr>
              <a:t>no traditional CS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A background in the </a:t>
            </a:r>
            <a:r>
              <a:rPr lang="en-US" dirty="0">
                <a:solidFill>
                  <a:schemeClr val="tx2"/>
                </a:solidFill>
              </a:rPr>
              <a:t>domain</a:t>
            </a:r>
            <a:r>
              <a:rPr lang="en-US" dirty="0"/>
              <a:t> of the software is essential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An </a:t>
            </a:r>
            <a:r>
              <a:rPr lang="en-US" dirty="0">
                <a:solidFill>
                  <a:schemeClr val="tx2"/>
                </a:solidFill>
              </a:rPr>
              <a:t>empirical background</a:t>
            </a:r>
            <a:r>
              <a:rPr lang="en-US" dirty="0"/>
              <a:t> is very helpful (biology, psychology, …)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A </a:t>
            </a:r>
            <a:r>
              <a:rPr lang="en-US" dirty="0">
                <a:solidFill>
                  <a:schemeClr val="tx2"/>
                </a:solidFill>
              </a:rPr>
              <a:t>logic background</a:t>
            </a:r>
            <a:r>
              <a:rPr lang="en-US" dirty="0"/>
              <a:t> is very helpful (law, philosophy, math, …)</a:t>
            </a:r>
          </a:p>
          <a:p>
            <a:pPr>
              <a:spcBef>
                <a:spcPts val="600"/>
              </a:spcBef>
            </a:pPr>
            <a:r>
              <a:rPr lang="en-US" dirty="0"/>
              <a:t>This is </a:t>
            </a:r>
            <a:r>
              <a:rPr lang="en-US" dirty="0">
                <a:solidFill>
                  <a:schemeClr val="tx2"/>
                </a:solidFill>
              </a:rPr>
              <a:t>intellectually</a:t>
            </a:r>
            <a:r>
              <a:rPr lang="en-US" dirty="0"/>
              <a:t> stimulating, rewarding, and challenging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But not to typical CS majors – they want to solve problems and build things</a:t>
            </a:r>
          </a:p>
        </p:txBody>
      </p:sp>
      <p:sp>
        <p:nvSpPr>
          <p:cNvPr id="307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056A0A1-73ED-4742-97BC-030AFA40FD2C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18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863864" y="946150"/>
            <a:ext cx="8465056" cy="5232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Evaluate results of testing, report to developers</a:t>
            </a:r>
          </a:p>
        </p:txBody>
      </p:sp>
    </p:spTree>
    <p:extLst>
      <p:ext uri="{BB962C8B-B14F-4D97-AF65-F5344CB8AC3E}">
        <p14:creationId xmlns:p14="http://schemas.microsoft.com/office/powerpoint/2010/main" val="20542850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Activities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612900" y="830264"/>
            <a:ext cx="8966200" cy="55467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FFFF00"/>
                </a:solidFill>
              </a:rPr>
              <a:t>Test management </a:t>
            </a:r>
            <a:r>
              <a:rPr lang="en-US" dirty="0"/>
              <a:t>: Sets policy, organizes team, interfaces with development,  chooses criteria, decides how much automation is needed, …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FFFF00"/>
                </a:solidFill>
              </a:rPr>
              <a:t>Test maintenance </a:t>
            </a:r>
            <a:r>
              <a:rPr lang="en-US" dirty="0"/>
              <a:t>: </a:t>
            </a:r>
            <a:r>
              <a:rPr lang="en-US" dirty="0">
                <a:solidFill>
                  <a:srgbClr val="FFFF00"/>
                </a:solidFill>
              </a:rPr>
              <a:t>Save tests for reuse </a:t>
            </a:r>
            <a:r>
              <a:rPr lang="en-US" dirty="0"/>
              <a:t>as software evolves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Requires cooperation of test </a:t>
            </a:r>
            <a:r>
              <a:rPr lang="en-US" dirty="0">
                <a:solidFill>
                  <a:srgbClr val="FFFF00"/>
                </a:solidFill>
              </a:rPr>
              <a:t>designers and </a:t>
            </a:r>
            <a:r>
              <a:rPr lang="en-US" dirty="0" err="1">
                <a:solidFill>
                  <a:srgbClr val="FFFF00"/>
                </a:solidFill>
              </a:rPr>
              <a:t>automators</a:t>
            </a:r>
            <a:endParaRPr lang="en-US" dirty="0">
              <a:solidFill>
                <a:srgbClr val="FFFF00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dirty="0"/>
              <a:t>Deciding when to trim the test suite is partly policy and partly technical – and in general, </a:t>
            </a:r>
            <a:r>
              <a:rPr lang="en-US" dirty="0">
                <a:solidFill>
                  <a:srgbClr val="FFFF00"/>
                </a:solidFill>
              </a:rPr>
              <a:t>very hard </a:t>
            </a:r>
            <a:r>
              <a:rPr lang="en-US" dirty="0"/>
              <a:t>!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Tests should be put in </a:t>
            </a:r>
            <a:r>
              <a:rPr lang="en-US" dirty="0">
                <a:solidFill>
                  <a:srgbClr val="FFFF00"/>
                </a:solidFill>
              </a:rPr>
              <a:t>configuration control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FFFF00"/>
                </a:solidFill>
              </a:rPr>
              <a:t>Test documentation </a:t>
            </a:r>
            <a:r>
              <a:rPr lang="en-US" dirty="0"/>
              <a:t>: All parties participate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Each test must document “</a:t>
            </a:r>
            <a:r>
              <a:rPr lang="en-US" dirty="0">
                <a:solidFill>
                  <a:srgbClr val="FFFF00"/>
                </a:solidFill>
              </a:rPr>
              <a:t>why</a:t>
            </a:r>
            <a:r>
              <a:rPr lang="en-US" dirty="0"/>
              <a:t>” – criterion and test requirement satisfied or a rationale for human-designed tests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Ensure </a:t>
            </a:r>
            <a:r>
              <a:rPr lang="en-US" dirty="0">
                <a:solidFill>
                  <a:srgbClr val="FFFF00"/>
                </a:solidFill>
              </a:rPr>
              <a:t>traceability</a:t>
            </a:r>
            <a:r>
              <a:rPr lang="en-US" dirty="0"/>
              <a:t> throughout the process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Keep </a:t>
            </a:r>
            <a:r>
              <a:rPr lang="en-US" dirty="0">
                <a:solidFill>
                  <a:srgbClr val="FFFF00"/>
                </a:solidFill>
              </a:rPr>
              <a:t>documentation</a:t>
            </a:r>
            <a:r>
              <a:rPr lang="en-US" dirty="0"/>
              <a:t> in the automated tests</a:t>
            </a:r>
          </a:p>
        </p:txBody>
      </p:sp>
      <p:sp>
        <p:nvSpPr>
          <p:cNvPr id="317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5E309BB-25E6-4D77-9050-B9DC9F9EBA2F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19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39211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Organizing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0" y="830264"/>
            <a:ext cx="8966200" cy="5546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/>
              <a:t>A mature test organization needs </a:t>
            </a:r>
            <a:r>
              <a:rPr lang="en-US" sz="2400" dirty="0">
                <a:solidFill>
                  <a:schemeClr val="tx2"/>
                </a:solidFill>
              </a:rPr>
              <a:t>only one test designer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</a:rPr>
              <a:t>to work with several test </a:t>
            </a:r>
            <a:r>
              <a:rPr lang="en-US" sz="2400" dirty="0" err="1">
                <a:solidFill>
                  <a:schemeClr val="tx1">
                    <a:lumMod val="95000"/>
                  </a:schemeClr>
                </a:solidFill>
              </a:rPr>
              <a:t>automators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</a:rPr>
              <a:t>, executors and evaluators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>
                <a:solidFill>
                  <a:schemeClr val="tx2"/>
                </a:solidFill>
              </a:rPr>
              <a:t>Improved automation</a:t>
            </a:r>
            <a:r>
              <a:rPr lang="en-US" sz="2400" dirty="0"/>
              <a:t> will reduce the number of test executors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/>
              <a:t>Theoretically to zero … but not in practice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/>
              <a:t>Putting the </a:t>
            </a:r>
            <a:r>
              <a:rPr lang="en-US" sz="2400" dirty="0">
                <a:solidFill>
                  <a:schemeClr val="tx2"/>
                </a:solidFill>
              </a:rPr>
              <a:t>wrong</a:t>
            </a:r>
            <a:r>
              <a:rPr lang="en-US" sz="2400" dirty="0"/>
              <a:t> people on the </a:t>
            </a:r>
            <a:r>
              <a:rPr lang="en-US" sz="2400" dirty="0">
                <a:solidFill>
                  <a:schemeClr val="tx2"/>
                </a:solidFill>
              </a:rPr>
              <a:t>wrong</a:t>
            </a:r>
            <a:r>
              <a:rPr lang="en-US" sz="2400" dirty="0"/>
              <a:t> tasks leads to </a:t>
            </a:r>
            <a:r>
              <a:rPr lang="en-US" sz="2400" dirty="0">
                <a:solidFill>
                  <a:schemeClr val="tx2"/>
                </a:solidFill>
              </a:rPr>
              <a:t>inefficiency</a:t>
            </a:r>
            <a:r>
              <a:rPr lang="en-US" sz="2400" dirty="0"/>
              <a:t>, low </a:t>
            </a:r>
            <a:r>
              <a:rPr lang="en-US" sz="2400" dirty="0">
                <a:solidFill>
                  <a:schemeClr val="tx2"/>
                </a:solidFill>
              </a:rPr>
              <a:t>job satisfaction</a:t>
            </a:r>
            <a:r>
              <a:rPr lang="en-US" sz="2400" dirty="0"/>
              <a:t> and low </a:t>
            </a:r>
            <a:r>
              <a:rPr lang="en-US" sz="2400" dirty="0">
                <a:solidFill>
                  <a:schemeClr val="tx2"/>
                </a:solidFill>
              </a:rPr>
              <a:t>job performance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/>
              <a:t>A qualified test designer will be </a:t>
            </a:r>
            <a:r>
              <a:rPr lang="en-US" sz="2000" dirty="0">
                <a:solidFill>
                  <a:schemeClr val="tx2"/>
                </a:solidFill>
              </a:rPr>
              <a:t>bored </a:t>
            </a:r>
            <a:r>
              <a:rPr lang="en-US" sz="2000" dirty="0"/>
              <a:t>with other tasks and look for a job in development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/>
              <a:t>A qualified test evaluator will </a:t>
            </a:r>
            <a:r>
              <a:rPr lang="en-US" sz="2000" dirty="0">
                <a:solidFill>
                  <a:schemeClr val="tx2"/>
                </a:solidFill>
              </a:rPr>
              <a:t>not understand</a:t>
            </a:r>
            <a:r>
              <a:rPr lang="en-US" sz="2000" dirty="0"/>
              <a:t> the benefits of test criteria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/>
              <a:t>Test evaluators have the </a:t>
            </a:r>
            <a:r>
              <a:rPr lang="en-US" sz="2400" dirty="0">
                <a:solidFill>
                  <a:schemeClr val="tx2"/>
                </a:solidFill>
              </a:rPr>
              <a:t>domain knowledge</a:t>
            </a:r>
            <a:r>
              <a:rPr lang="en-US" sz="2400" dirty="0"/>
              <a:t>, so they </a:t>
            </a:r>
            <a:r>
              <a:rPr lang="en-US" sz="2400" dirty="0">
                <a:solidFill>
                  <a:schemeClr val="tx2"/>
                </a:solidFill>
              </a:rPr>
              <a:t>must</a:t>
            </a:r>
            <a:r>
              <a:rPr lang="en-US" sz="2400" dirty="0"/>
              <a:t> be free to add tests that “blind” engineering processes will not think of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/>
              <a:t>The four test activities are </a:t>
            </a:r>
            <a:r>
              <a:rPr lang="en-US" sz="2400" dirty="0">
                <a:solidFill>
                  <a:schemeClr val="tx2"/>
                </a:solidFill>
              </a:rPr>
              <a:t>quite different</a:t>
            </a:r>
          </a:p>
        </p:txBody>
      </p:sp>
      <p:sp>
        <p:nvSpPr>
          <p:cNvPr id="337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E8198E2-952D-44F7-98F2-8F07A33F59CF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20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430308" y="5557839"/>
            <a:ext cx="7323292" cy="954087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Many test teams use the same people for ALL FOUR activities !!</a:t>
            </a:r>
          </a:p>
        </p:txBody>
      </p:sp>
    </p:spTree>
    <p:extLst>
      <p:ext uri="{BB962C8B-B14F-4D97-AF65-F5344CB8AC3E}">
        <p14:creationId xmlns:p14="http://schemas.microsoft.com/office/powerpoint/2010/main" val="29947972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986" y="43781"/>
            <a:ext cx="9048750" cy="915987"/>
          </a:xfrm>
        </p:spPr>
        <p:txBody>
          <a:bodyPr/>
          <a:lstStyle/>
          <a:p>
            <a:r>
              <a:rPr lang="en-US" dirty="0"/>
              <a:t>Do and Don’t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539671-6D44-4547-A700-799B506A6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986" y="888174"/>
            <a:ext cx="8966200" cy="508165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1. Test one thing (purpose, traceable)</a:t>
            </a:r>
          </a:p>
          <a:p>
            <a:pPr marL="0" indent="0">
              <a:buNone/>
            </a:pPr>
            <a:r>
              <a:rPr lang="en-US" sz="2400" dirty="0"/>
              <a:t> 	Should have one assertion per test</a:t>
            </a:r>
          </a:p>
          <a:p>
            <a:pPr marL="0" indent="0">
              <a:buNone/>
            </a:pPr>
            <a:r>
              <a:rPr lang="en-US" sz="2400" dirty="0"/>
              <a:t>2. Clear, easy to understand, precise, concise</a:t>
            </a:r>
          </a:p>
          <a:p>
            <a:pPr marL="0" indent="0">
              <a:buNone/>
            </a:pPr>
            <a:r>
              <a:rPr lang="en-US" sz="2400" dirty="0"/>
              <a:t>3. Keep it small (more small tests are better than few large tests)</a:t>
            </a:r>
          </a:p>
          <a:p>
            <a:pPr marL="0" indent="0">
              <a:buNone/>
            </a:pPr>
            <a:r>
              <a:rPr lang="en-US" sz="2400" dirty="0"/>
              <a:t> 	Tests are run many times, keep it small and fast</a:t>
            </a:r>
          </a:p>
          <a:p>
            <a:pPr marL="0" indent="0">
              <a:buNone/>
            </a:pPr>
            <a:r>
              <a:rPr lang="en-US" sz="2400" dirty="0"/>
              <a:t>4. Move repeated code to fixtures or shared methods</a:t>
            </a:r>
          </a:p>
          <a:p>
            <a:pPr marL="0" indent="0">
              <a:buNone/>
            </a:pPr>
            <a:r>
              <a:rPr lang="en-US" sz="2400" dirty="0"/>
              <a:t>5. Independent (test frameworks don’t guarantee order of execution)</a:t>
            </a:r>
          </a:p>
          <a:p>
            <a:pPr marL="0" indent="0">
              <a:buNone/>
            </a:pPr>
            <a:r>
              <a:rPr lang="en-US" sz="2400" dirty="0"/>
              <a:t>6. Repeatable</a:t>
            </a:r>
          </a:p>
          <a:p>
            <a:pPr marL="0" indent="0">
              <a:buNone/>
            </a:pPr>
            <a:r>
              <a:rPr lang="en-US" sz="2400" dirty="0"/>
              <a:t>7. Avoid complicated control flow in tests</a:t>
            </a:r>
          </a:p>
          <a:p>
            <a:pPr marL="0" indent="0">
              <a:buNone/>
            </a:pPr>
            <a:r>
              <a:rPr lang="en-US" sz="2400" dirty="0"/>
              <a:t>8. Remember to refactor test code</a:t>
            </a:r>
          </a:p>
          <a:p>
            <a:pPr marL="0" indent="0">
              <a:buNone/>
            </a:pPr>
            <a:r>
              <a:rPr lang="en-US" sz="2400" dirty="0"/>
              <a:t>9. Test oracles should check the right place (no need to check the entire output state) – think hard about what should be checked</a:t>
            </a:r>
          </a:p>
          <a:p>
            <a:pPr marL="0" indent="0">
              <a:buNone/>
            </a:pPr>
            <a:r>
              <a:rPr lang="en-US" sz="2400" dirty="0"/>
              <a:t>10. Use the right type of assertion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69700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Applying Test Activities</a:t>
            </a: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77F2CD7-D308-4102-B5C4-9735E70943E8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22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209800" y="1885950"/>
            <a:ext cx="7772400" cy="1816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To use our people effectively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and to test efficiently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we need a process that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209800" y="4348163"/>
            <a:ext cx="7772400" cy="11684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lets test designers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pitchFamily="34" charset="0"/>
              </a:rPr>
              <a:t>raise their level of abstraction</a:t>
            </a:r>
          </a:p>
        </p:txBody>
      </p:sp>
    </p:spTree>
    <p:extLst>
      <p:ext uri="{BB962C8B-B14F-4D97-AF65-F5344CB8AC3E}">
        <p14:creationId xmlns:p14="http://schemas.microsoft.com/office/powerpoint/2010/main" val="7112365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MDTD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0" y="1003300"/>
            <a:ext cx="8966200" cy="5602288"/>
          </a:xfrm>
        </p:spPr>
        <p:txBody>
          <a:bodyPr/>
          <a:lstStyle/>
          <a:p>
            <a:pPr>
              <a:defRPr/>
            </a:pPr>
            <a:r>
              <a:rPr lang="en-US" dirty="0"/>
              <a:t>This approach lets </a:t>
            </a:r>
            <a:r>
              <a:rPr lang="en-US" dirty="0">
                <a:solidFill>
                  <a:schemeClr val="tx2"/>
                </a:solidFill>
              </a:rPr>
              <a:t>one test designer </a:t>
            </a:r>
            <a:r>
              <a:rPr lang="en-US" dirty="0"/>
              <a:t>do the math</a:t>
            </a:r>
          </a:p>
          <a:p>
            <a:pPr>
              <a:defRPr/>
            </a:pPr>
            <a:r>
              <a:rPr lang="en-US" dirty="0"/>
              <a:t>Then traditional </a:t>
            </a:r>
            <a:r>
              <a:rPr lang="en-US" dirty="0">
                <a:solidFill>
                  <a:schemeClr val="tx2"/>
                </a:solidFill>
              </a:rPr>
              <a:t>testers</a:t>
            </a:r>
            <a:r>
              <a:rPr lang="en-US" dirty="0"/>
              <a:t> and </a:t>
            </a:r>
            <a:r>
              <a:rPr lang="en-US" dirty="0">
                <a:solidFill>
                  <a:schemeClr val="tx2"/>
                </a:solidFill>
              </a:rPr>
              <a:t>programmers</a:t>
            </a:r>
            <a:r>
              <a:rPr lang="en-US" dirty="0"/>
              <a:t> can do their parts</a:t>
            </a:r>
          </a:p>
          <a:p>
            <a:pPr lvl="1">
              <a:defRPr/>
            </a:pPr>
            <a:r>
              <a:rPr lang="en-US" dirty="0"/>
              <a:t>Find values</a:t>
            </a:r>
          </a:p>
          <a:p>
            <a:pPr lvl="1">
              <a:defRPr/>
            </a:pPr>
            <a:r>
              <a:rPr lang="en-US" dirty="0"/>
              <a:t>Automate the tests</a:t>
            </a:r>
          </a:p>
          <a:p>
            <a:pPr lvl="1">
              <a:defRPr/>
            </a:pPr>
            <a:r>
              <a:rPr lang="en-US" dirty="0"/>
              <a:t>Run the tests</a:t>
            </a:r>
          </a:p>
          <a:p>
            <a:pPr lvl="1">
              <a:defRPr/>
            </a:pPr>
            <a:r>
              <a:rPr lang="en-US" dirty="0"/>
              <a:t>Evaluate the tests</a:t>
            </a:r>
          </a:p>
          <a:p>
            <a:pPr marL="285750" lvl="1" indent="-285750">
              <a:buSzPct val="75000"/>
              <a:buFont typeface="Monotype Sorts" charset="2"/>
              <a:buChar char="n"/>
              <a:defRPr/>
            </a:pPr>
            <a:r>
              <a:rPr lang="en-US" dirty="0"/>
              <a:t>Just like in </a:t>
            </a:r>
            <a:r>
              <a:rPr lang="en-US" dirty="0">
                <a:solidFill>
                  <a:schemeClr val="tx2"/>
                </a:solidFill>
              </a:rPr>
              <a:t>traditional engineering</a:t>
            </a:r>
            <a:r>
              <a:rPr lang="en-US" dirty="0"/>
              <a:t> … an engineer constructs models with calculus, then gives direction to carpenters, electricians, technicians, …</a:t>
            </a:r>
          </a:p>
        </p:txBody>
      </p:sp>
      <p:sp>
        <p:nvSpPr>
          <p:cNvPr id="358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2184FAE-D55F-45C2-B757-44C540A26B8A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23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106784" y="5533814"/>
            <a:ext cx="7968358" cy="584775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Test designers become technical experts</a:t>
            </a:r>
            <a:endParaRPr 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17672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Model-Driven Test Design</a:t>
            </a: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76ADDB5-991C-401B-AE3D-4C4DE541E3E5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24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627188" y="3597276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software artifact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227388" y="1125539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Comic Sans MS" pitchFamily="66" charset="0"/>
                <a:cs typeface="Shruti" pitchFamily="34" charset="0"/>
              </a:rPr>
              <a:t>model / structure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27588" y="1125539"/>
            <a:ext cx="18018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366000" y="971550"/>
            <a:ext cx="2019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refined requirements / test specs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9083676" y="3960814"/>
            <a:ext cx="1382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input values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524751" y="5443539"/>
            <a:ext cx="100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cases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930901" y="5443539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scripts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337051" y="5443539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results</a:t>
            </a:r>
          </a:p>
        </p:txBody>
      </p:sp>
      <p:cxnSp>
        <p:nvCxnSpPr>
          <p:cNvPr id="16" name="Curved Connector 15"/>
          <p:cNvCxnSpPr>
            <a:stCxn id="7" idx="0"/>
            <a:endCxn id="8" idx="1"/>
          </p:cNvCxnSpPr>
          <p:nvPr/>
        </p:nvCxnSpPr>
        <p:spPr bwMode="auto">
          <a:xfrm rot="5400000" flipH="1" flipV="1">
            <a:off x="1713707" y="2083594"/>
            <a:ext cx="2117725" cy="909638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hape 24"/>
          <p:cNvCxnSpPr>
            <a:stCxn id="11" idx="2"/>
            <a:endCxn id="12" idx="3"/>
          </p:cNvCxnSpPr>
          <p:nvPr/>
        </p:nvCxnSpPr>
        <p:spPr bwMode="auto">
          <a:xfrm rot="5400000">
            <a:off x="8586788" y="4608513"/>
            <a:ext cx="1128712" cy="1249362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754313" y="5443539"/>
            <a:ext cx="1135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pass / fail</a:t>
            </a:r>
          </a:p>
        </p:txBody>
      </p:sp>
      <p:cxnSp>
        <p:nvCxnSpPr>
          <p:cNvPr id="50" name="Straight Arrow Connector 49"/>
          <p:cNvCxnSpPr/>
          <p:nvPr/>
        </p:nvCxnSpPr>
        <p:spPr bwMode="auto">
          <a:xfrm flipV="1">
            <a:off x="4529138" y="1479550"/>
            <a:ext cx="5191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3" name="Straight Arrow Connector 52"/>
          <p:cNvCxnSpPr>
            <a:stCxn id="9" idx="3"/>
            <a:endCxn id="10" idx="1"/>
          </p:cNvCxnSpPr>
          <p:nvPr/>
        </p:nvCxnSpPr>
        <p:spPr bwMode="auto">
          <a:xfrm flipV="1">
            <a:off x="6629400" y="1479550"/>
            <a:ext cx="7366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4" name="Straight Arrow Connector 53"/>
          <p:cNvCxnSpPr/>
          <p:nvPr/>
        </p:nvCxnSpPr>
        <p:spPr bwMode="auto">
          <a:xfrm rot="10800000">
            <a:off x="3824289" y="5795964"/>
            <a:ext cx="636587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0" name="Straight Arrow Connector 59"/>
          <p:cNvCxnSpPr/>
          <p:nvPr/>
        </p:nvCxnSpPr>
        <p:spPr bwMode="auto">
          <a:xfrm rot="10800000">
            <a:off x="5372100" y="5795964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1" name="Straight Arrow Connector 60"/>
          <p:cNvCxnSpPr/>
          <p:nvPr/>
        </p:nvCxnSpPr>
        <p:spPr bwMode="auto">
          <a:xfrm rot="10800000">
            <a:off x="6972300" y="5795964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3089276" y="3433763"/>
            <a:ext cx="2417763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Bradley Hand ITC" pitchFamily="66" charset="0"/>
              </a:rPr>
              <a:t>IMPLEMENTATION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LEVEL</a:t>
            </a: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7608889" y="2398713"/>
            <a:ext cx="1990725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Bradley Hand ITC" pitchFamily="66" charset="0"/>
              </a:rPr>
              <a:t>DESIGN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LEVEL</a:t>
            </a:r>
          </a:p>
        </p:txBody>
      </p:sp>
      <p:cxnSp>
        <p:nvCxnSpPr>
          <p:cNvPr id="20" name="Shape 19"/>
          <p:cNvCxnSpPr>
            <a:stCxn id="10" idx="3"/>
            <a:endCxn id="11" idx="0"/>
          </p:cNvCxnSpPr>
          <p:nvPr/>
        </p:nvCxnSpPr>
        <p:spPr bwMode="auto">
          <a:xfrm>
            <a:off x="9385301" y="1479551"/>
            <a:ext cx="390525" cy="2481263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3" name="Straight Connector 62"/>
          <p:cNvCxnSpPr>
            <a:cxnSpLocks noChangeShapeType="1"/>
          </p:cNvCxnSpPr>
          <p:nvPr/>
        </p:nvCxnSpPr>
        <p:spPr bwMode="auto">
          <a:xfrm>
            <a:off x="1673225" y="3479800"/>
            <a:ext cx="8845550" cy="1588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Curved Connector 15"/>
          <p:cNvCxnSpPr>
            <a:cxnSpLocks noChangeShapeType="1"/>
            <a:endCxn id="28" idx="1"/>
          </p:cNvCxnSpPr>
          <p:nvPr/>
        </p:nvCxnSpPr>
        <p:spPr bwMode="auto">
          <a:xfrm flipV="1">
            <a:off x="2646363" y="2432050"/>
            <a:ext cx="2100262" cy="1143000"/>
          </a:xfrm>
          <a:prstGeom prst="curvedConnector3">
            <a:avLst>
              <a:gd name="adj1" fmla="val 17338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4746626" y="2078039"/>
            <a:ext cx="1801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solidFill>
                  <a:schemeClr val="tx2"/>
                </a:solidFill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cxnSp>
        <p:nvCxnSpPr>
          <p:cNvPr id="30" name="Curved Connector 15"/>
          <p:cNvCxnSpPr>
            <a:cxnSpLocks noChangeShapeType="1"/>
            <a:stCxn id="28" idx="3"/>
            <a:endCxn id="10" idx="1"/>
          </p:cNvCxnSpPr>
          <p:nvPr/>
        </p:nvCxnSpPr>
        <p:spPr bwMode="auto">
          <a:xfrm flipV="1">
            <a:off x="6548438" y="1479550"/>
            <a:ext cx="817562" cy="952500"/>
          </a:xfrm>
          <a:prstGeom prst="curvedConnector3">
            <a:avLst>
              <a:gd name="adj1" fmla="val 50000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9265514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26" grpId="0"/>
      <p:bldP spid="67" grpId="0" animBg="1"/>
      <p:bldP spid="68" grpId="0" animBg="1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Model-Driven Test Design – Steps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1CF7990-6E07-4E07-BF05-9379BEC9FF31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25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894" name="TextBox 6"/>
          <p:cNvSpPr txBox="1">
            <a:spLocks noChangeArrowheads="1"/>
          </p:cNvSpPr>
          <p:nvPr/>
        </p:nvSpPr>
        <p:spPr bwMode="auto">
          <a:xfrm>
            <a:off x="1627188" y="3597276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software artifact</a:t>
            </a:r>
          </a:p>
        </p:txBody>
      </p:sp>
      <p:sp>
        <p:nvSpPr>
          <p:cNvPr id="37895" name="TextBox 7"/>
          <p:cNvSpPr txBox="1">
            <a:spLocks noChangeArrowheads="1"/>
          </p:cNvSpPr>
          <p:nvPr/>
        </p:nvSpPr>
        <p:spPr bwMode="auto">
          <a:xfrm>
            <a:off x="3113088" y="1125539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model / structure</a:t>
            </a:r>
          </a:p>
        </p:txBody>
      </p:sp>
      <p:sp>
        <p:nvSpPr>
          <p:cNvPr id="37896" name="TextBox 8"/>
          <p:cNvSpPr txBox="1">
            <a:spLocks noChangeArrowheads="1"/>
          </p:cNvSpPr>
          <p:nvPr/>
        </p:nvSpPr>
        <p:spPr bwMode="auto">
          <a:xfrm>
            <a:off x="4884738" y="1125539"/>
            <a:ext cx="18018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sp>
        <p:nvSpPr>
          <p:cNvPr id="37897" name="TextBox 9"/>
          <p:cNvSpPr txBox="1">
            <a:spLocks noChangeArrowheads="1"/>
          </p:cNvSpPr>
          <p:nvPr/>
        </p:nvSpPr>
        <p:spPr bwMode="auto">
          <a:xfrm>
            <a:off x="7088188" y="971550"/>
            <a:ext cx="2019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refined requirements / test specs</a:t>
            </a:r>
          </a:p>
        </p:txBody>
      </p:sp>
      <p:sp>
        <p:nvSpPr>
          <p:cNvPr id="37898" name="TextBox 10"/>
          <p:cNvSpPr txBox="1">
            <a:spLocks noChangeArrowheads="1"/>
          </p:cNvSpPr>
          <p:nvPr/>
        </p:nvSpPr>
        <p:spPr bwMode="auto">
          <a:xfrm>
            <a:off x="9083676" y="3952876"/>
            <a:ext cx="1382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input values</a:t>
            </a:r>
          </a:p>
        </p:txBody>
      </p:sp>
      <p:sp>
        <p:nvSpPr>
          <p:cNvPr id="37899" name="TextBox 11"/>
          <p:cNvSpPr txBox="1">
            <a:spLocks noChangeArrowheads="1"/>
          </p:cNvSpPr>
          <p:nvPr/>
        </p:nvSpPr>
        <p:spPr bwMode="auto">
          <a:xfrm>
            <a:off x="7524751" y="5449889"/>
            <a:ext cx="100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cases</a:t>
            </a:r>
          </a:p>
        </p:txBody>
      </p:sp>
      <p:sp>
        <p:nvSpPr>
          <p:cNvPr id="37900" name="TextBox 12"/>
          <p:cNvSpPr txBox="1">
            <a:spLocks noChangeArrowheads="1"/>
          </p:cNvSpPr>
          <p:nvPr/>
        </p:nvSpPr>
        <p:spPr bwMode="auto">
          <a:xfrm>
            <a:off x="5930901" y="5449889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scripts</a:t>
            </a:r>
          </a:p>
        </p:txBody>
      </p:sp>
      <p:sp>
        <p:nvSpPr>
          <p:cNvPr id="37901" name="TextBox 13"/>
          <p:cNvSpPr txBox="1">
            <a:spLocks noChangeArrowheads="1"/>
          </p:cNvSpPr>
          <p:nvPr/>
        </p:nvSpPr>
        <p:spPr bwMode="auto">
          <a:xfrm>
            <a:off x="4337051" y="5449889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results</a:t>
            </a:r>
          </a:p>
        </p:txBody>
      </p:sp>
      <p:cxnSp>
        <p:nvCxnSpPr>
          <p:cNvPr id="16" name="Curved Connector 15"/>
          <p:cNvCxnSpPr>
            <a:stCxn id="37894" idx="0"/>
            <a:endCxn id="37895" idx="1"/>
          </p:cNvCxnSpPr>
          <p:nvPr/>
        </p:nvCxnSpPr>
        <p:spPr bwMode="auto">
          <a:xfrm rot="5400000" flipH="1" flipV="1">
            <a:off x="1656557" y="2140744"/>
            <a:ext cx="2117725" cy="795338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hape 24"/>
          <p:cNvCxnSpPr>
            <a:stCxn id="37898" idx="2"/>
            <a:endCxn id="37899" idx="3"/>
          </p:cNvCxnSpPr>
          <p:nvPr/>
        </p:nvCxnSpPr>
        <p:spPr bwMode="auto">
          <a:xfrm rot="5400000">
            <a:off x="8579644" y="4607719"/>
            <a:ext cx="1143000" cy="1249362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7904" name="TextBox 25"/>
          <p:cNvSpPr txBox="1">
            <a:spLocks noChangeArrowheads="1"/>
          </p:cNvSpPr>
          <p:nvPr/>
        </p:nvSpPr>
        <p:spPr bwMode="auto">
          <a:xfrm>
            <a:off x="2754313" y="5449889"/>
            <a:ext cx="1135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pass / fail</a:t>
            </a:r>
          </a:p>
        </p:txBody>
      </p:sp>
      <p:cxnSp>
        <p:nvCxnSpPr>
          <p:cNvPr id="50" name="Straight Arrow Connector 49"/>
          <p:cNvCxnSpPr/>
          <p:nvPr/>
        </p:nvCxnSpPr>
        <p:spPr bwMode="auto">
          <a:xfrm flipV="1">
            <a:off x="4357689" y="1463676"/>
            <a:ext cx="663575" cy="1587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3" name="Straight Arrow Connector 52"/>
          <p:cNvCxnSpPr>
            <a:endCxn id="37897" idx="1"/>
          </p:cNvCxnSpPr>
          <p:nvPr/>
        </p:nvCxnSpPr>
        <p:spPr bwMode="auto">
          <a:xfrm>
            <a:off x="6400800" y="1479550"/>
            <a:ext cx="687388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4" name="Straight Arrow Connector 53"/>
          <p:cNvCxnSpPr/>
          <p:nvPr/>
        </p:nvCxnSpPr>
        <p:spPr bwMode="auto">
          <a:xfrm rot="10800000">
            <a:off x="3824289" y="5802314"/>
            <a:ext cx="636587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0" name="Straight Arrow Connector 59"/>
          <p:cNvCxnSpPr/>
          <p:nvPr/>
        </p:nvCxnSpPr>
        <p:spPr bwMode="auto">
          <a:xfrm rot="10800000">
            <a:off x="5372100" y="5802314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1" name="Straight Arrow Connector 60"/>
          <p:cNvCxnSpPr/>
          <p:nvPr/>
        </p:nvCxnSpPr>
        <p:spPr bwMode="auto">
          <a:xfrm rot="10800000">
            <a:off x="6972300" y="5802314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7910" name="TextBox 66"/>
          <p:cNvSpPr txBox="1">
            <a:spLocks noChangeArrowheads="1"/>
          </p:cNvSpPr>
          <p:nvPr/>
        </p:nvSpPr>
        <p:spPr bwMode="auto">
          <a:xfrm>
            <a:off x="3089276" y="3435350"/>
            <a:ext cx="2417763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Bradley Hand ITC" pitchFamily="66" charset="0"/>
              </a:rPr>
              <a:t>IMPLEMENTATION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LEVEL</a:t>
            </a:r>
          </a:p>
        </p:txBody>
      </p:sp>
      <p:sp>
        <p:nvSpPr>
          <p:cNvPr id="37911" name="TextBox 67"/>
          <p:cNvSpPr txBox="1">
            <a:spLocks noChangeArrowheads="1"/>
          </p:cNvSpPr>
          <p:nvPr/>
        </p:nvSpPr>
        <p:spPr bwMode="auto">
          <a:xfrm>
            <a:off x="7608889" y="2524125"/>
            <a:ext cx="1990725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Bradley Hand ITC" pitchFamily="66" charset="0"/>
              </a:rPr>
              <a:t>DESIGN</a:t>
            </a:r>
          </a:p>
          <a:p>
            <a:pPr algn="ctr"/>
            <a:r>
              <a:rPr lang="en-US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>
                <a:latin typeface="Bradley Hand ITC" pitchFamily="66" charset="0"/>
              </a:rPr>
              <a:t>LEVEL</a:t>
            </a:r>
          </a:p>
        </p:txBody>
      </p:sp>
      <p:cxnSp>
        <p:nvCxnSpPr>
          <p:cNvPr id="20" name="Shape 19"/>
          <p:cNvCxnSpPr>
            <a:stCxn id="37897" idx="3"/>
            <a:endCxn id="37898" idx="0"/>
          </p:cNvCxnSpPr>
          <p:nvPr/>
        </p:nvCxnSpPr>
        <p:spPr bwMode="auto">
          <a:xfrm>
            <a:off x="9107489" y="1479551"/>
            <a:ext cx="668337" cy="2473325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7913" name="Straight Connector 62"/>
          <p:cNvCxnSpPr>
            <a:cxnSpLocks noChangeShapeType="1"/>
          </p:cNvCxnSpPr>
          <p:nvPr/>
        </p:nvCxnSpPr>
        <p:spPr bwMode="auto">
          <a:xfrm>
            <a:off x="1673225" y="3481389"/>
            <a:ext cx="8845550" cy="1587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Box 38"/>
          <p:cNvSpPr txBox="1"/>
          <p:nvPr/>
        </p:nvSpPr>
        <p:spPr>
          <a:xfrm>
            <a:off x="2163763" y="2057400"/>
            <a:ext cx="1052512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6413" y="960438"/>
            <a:ext cx="1136650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8238" y="960438"/>
            <a:ext cx="819150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refine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7175" y="1589088"/>
            <a:ext cx="1123950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generate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7464" y="5038726"/>
            <a:ext cx="1138237" cy="1014413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prefix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postfix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expected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4489" y="5167313"/>
            <a:ext cx="1208087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automate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1" y="5126038"/>
            <a:ext cx="995363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1739" y="5153025"/>
            <a:ext cx="1095375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evaluate</a:t>
            </a:r>
          </a:p>
        </p:txBody>
      </p:sp>
      <p:cxnSp>
        <p:nvCxnSpPr>
          <p:cNvPr id="37922" name="Curved Connector 15"/>
          <p:cNvCxnSpPr>
            <a:cxnSpLocks noChangeShapeType="1"/>
            <a:endCxn id="37923" idx="1"/>
          </p:cNvCxnSpPr>
          <p:nvPr/>
        </p:nvCxnSpPr>
        <p:spPr bwMode="auto">
          <a:xfrm flipV="1">
            <a:off x="2646363" y="2432050"/>
            <a:ext cx="2100262" cy="1143000"/>
          </a:xfrm>
          <a:prstGeom prst="curvedConnector3">
            <a:avLst>
              <a:gd name="adj1" fmla="val 17338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3" name="TextBox 34"/>
          <p:cNvSpPr txBox="1">
            <a:spLocks noChangeArrowheads="1"/>
          </p:cNvSpPr>
          <p:nvPr/>
        </p:nvSpPr>
        <p:spPr bwMode="auto">
          <a:xfrm>
            <a:off x="4746626" y="2078039"/>
            <a:ext cx="1801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solidFill>
                  <a:schemeClr val="tx2"/>
                </a:solidFill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9289" y="2532064"/>
            <a:ext cx="1285875" cy="70802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domain analysis</a:t>
            </a:r>
          </a:p>
        </p:txBody>
      </p:sp>
      <p:cxnSp>
        <p:nvCxnSpPr>
          <p:cNvPr id="37925" name="Curved Connector 15"/>
          <p:cNvCxnSpPr>
            <a:cxnSpLocks noChangeShapeType="1"/>
            <a:stCxn id="37923" idx="3"/>
            <a:endCxn id="37897" idx="1"/>
          </p:cNvCxnSpPr>
          <p:nvPr/>
        </p:nvCxnSpPr>
        <p:spPr bwMode="auto">
          <a:xfrm flipV="1">
            <a:off x="6548438" y="1479550"/>
            <a:ext cx="539750" cy="952500"/>
          </a:xfrm>
          <a:prstGeom prst="curvedConnector3">
            <a:avLst>
              <a:gd name="adj1" fmla="val 50000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565651" y="2562225"/>
            <a:ext cx="4600575" cy="2070100"/>
            <a:chOff x="3041822" y="2562130"/>
            <a:chExt cx="4600955" cy="2069438"/>
          </a:xfrm>
        </p:grpSpPr>
        <p:sp>
          <p:nvSpPr>
            <p:cNvPr id="49" name="Left Brace 48"/>
            <p:cNvSpPr/>
            <p:nvPr/>
          </p:nvSpPr>
          <p:spPr>
            <a:xfrm rot="4719087">
              <a:off x="4974912" y="1963702"/>
              <a:ext cx="734777" cy="4600955"/>
            </a:xfrm>
            <a:prstGeom prst="leftBrace">
              <a:avLst>
                <a:gd name="adj1" fmla="val 8333"/>
                <a:gd name="adj2" fmla="val 4969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37929" name="Group 89"/>
            <p:cNvGrpSpPr>
              <a:grpSpLocks/>
            </p:cNvGrpSpPr>
            <p:nvPr/>
          </p:nvGrpSpPr>
          <p:grpSpPr bwMode="auto">
            <a:xfrm rot="-677690">
              <a:off x="4562954" y="2562130"/>
              <a:ext cx="999582" cy="1367073"/>
              <a:chOff x="4698749" y="2544024"/>
              <a:chExt cx="999582" cy="1367073"/>
            </a:xfrm>
          </p:grpSpPr>
          <p:sp>
            <p:nvSpPr>
              <p:cNvPr id="52" name="Freeform 51"/>
              <p:cNvSpPr/>
              <p:nvPr/>
            </p:nvSpPr>
            <p:spPr>
              <a:xfrm>
                <a:off x="5284424" y="2641478"/>
                <a:ext cx="411197" cy="1245789"/>
              </a:xfrm>
              <a:custGeom>
                <a:avLst/>
                <a:gdLst>
                  <a:gd name="connsiteX0" fmla="*/ 0 w 411108"/>
                  <a:gd name="connsiteY0" fmla="*/ 1252009 h 1252009"/>
                  <a:gd name="connsiteX1" fmla="*/ 9054 w 411108"/>
                  <a:gd name="connsiteY1" fmla="*/ 790282 h 1252009"/>
                  <a:gd name="connsiteX2" fmla="*/ 18107 w 411108"/>
                  <a:gd name="connsiteY2" fmla="*/ 672587 h 1252009"/>
                  <a:gd name="connsiteX3" fmla="*/ 45268 w 411108"/>
                  <a:gd name="connsiteY3" fmla="*/ 582053 h 1252009"/>
                  <a:gd name="connsiteX4" fmla="*/ 63375 w 411108"/>
                  <a:gd name="connsiteY4" fmla="*/ 518678 h 1252009"/>
                  <a:gd name="connsiteX5" fmla="*/ 99588 w 411108"/>
                  <a:gd name="connsiteY5" fmla="*/ 455304 h 1252009"/>
                  <a:gd name="connsiteX6" fmla="*/ 108642 w 411108"/>
                  <a:gd name="connsiteY6" fmla="*/ 428144 h 1252009"/>
                  <a:gd name="connsiteX7" fmla="*/ 135802 w 411108"/>
                  <a:gd name="connsiteY7" fmla="*/ 391930 h 1252009"/>
                  <a:gd name="connsiteX8" fmla="*/ 181070 w 411108"/>
                  <a:gd name="connsiteY8" fmla="*/ 328556 h 1252009"/>
                  <a:gd name="connsiteX9" fmla="*/ 244444 w 411108"/>
                  <a:gd name="connsiteY9" fmla="*/ 228967 h 1252009"/>
                  <a:gd name="connsiteX10" fmla="*/ 325925 w 411108"/>
                  <a:gd name="connsiteY10" fmla="*/ 111272 h 1252009"/>
                  <a:gd name="connsiteX11" fmla="*/ 353085 w 411108"/>
                  <a:gd name="connsiteY11" fmla="*/ 75059 h 1252009"/>
                  <a:gd name="connsiteX12" fmla="*/ 371192 w 411108"/>
                  <a:gd name="connsiteY12" fmla="*/ 47898 h 1252009"/>
                  <a:gd name="connsiteX13" fmla="*/ 407406 w 411108"/>
                  <a:gd name="connsiteY13" fmla="*/ 2631 h 125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1108" h="1252009">
                    <a:moveTo>
                      <a:pt x="0" y="1252009"/>
                    </a:moveTo>
                    <a:cubicBezTo>
                      <a:pt x="3018" y="1098100"/>
                      <a:pt x="4246" y="944145"/>
                      <a:pt x="9054" y="790282"/>
                    </a:cubicBezTo>
                    <a:cubicBezTo>
                      <a:pt x="10283" y="750954"/>
                      <a:pt x="13510" y="711665"/>
                      <a:pt x="18107" y="672587"/>
                    </a:cubicBezTo>
                    <a:cubicBezTo>
                      <a:pt x="21300" y="645447"/>
                      <a:pt x="39317" y="605857"/>
                      <a:pt x="45268" y="582053"/>
                    </a:cubicBezTo>
                    <a:cubicBezTo>
                      <a:pt x="48170" y="570445"/>
                      <a:pt x="56879" y="531670"/>
                      <a:pt x="63375" y="518678"/>
                    </a:cubicBezTo>
                    <a:cubicBezTo>
                      <a:pt x="74256" y="496916"/>
                      <a:pt x="88707" y="477066"/>
                      <a:pt x="99588" y="455304"/>
                    </a:cubicBezTo>
                    <a:cubicBezTo>
                      <a:pt x="103856" y="446768"/>
                      <a:pt x="103907" y="436430"/>
                      <a:pt x="108642" y="428144"/>
                    </a:cubicBezTo>
                    <a:cubicBezTo>
                      <a:pt x="116128" y="415043"/>
                      <a:pt x="127805" y="404726"/>
                      <a:pt x="135802" y="391930"/>
                    </a:cubicBezTo>
                    <a:cubicBezTo>
                      <a:pt x="175521" y="328378"/>
                      <a:pt x="129294" y="380330"/>
                      <a:pt x="181070" y="328556"/>
                    </a:cubicBezTo>
                    <a:cubicBezTo>
                      <a:pt x="204412" y="258524"/>
                      <a:pt x="169387" y="354063"/>
                      <a:pt x="244444" y="228967"/>
                    </a:cubicBezTo>
                    <a:cubicBezTo>
                      <a:pt x="287130" y="157823"/>
                      <a:pt x="261047" y="197776"/>
                      <a:pt x="325925" y="111272"/>
                    </a:cubicBezTo>
                    <a:cubicBezTo>
                      <a:pt x="334978" y="99201"/>
                      <a:pt x="344715" y="87614"/>
                      <a:pt x="353085" y="75059"/>
                    </a:cubicBezTo>
                    <a:cubicBezTo>
                      <a:pt x="359121" y="66005"/>
                      <a:pt x="364226" y="56257"/>
                      <a:pt x="371192" y="47898"/>
                    </a:cubicBezTo>
                    <a:cubicBezTo>
                      <a:pt x="411108" y="0"/>
                      <a:pt x="388420" y="40605"/>
                      <a:pt x="407406" y="2631"/>
                    </a:cubicBezTo>
                  </a:path>
                </a:pathLst>
              </a:cu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" name="Freeform 54"/>
              <p:cNvSpPr/>
              <p:nvPr/>
            </p:nvSpPr>
            <p:spPr>
              <a:xfrm flipH="1">
                <a:off x="4689534" y="2732137"/>
                <a:ext cx="592186" cy="1122004"/>
              </a:xfrm>
              <a:custGeom>
                <a:avLst/>
                <a:gdLst>
                  <a:gd name="connsiteX0" fmla="*/ 0 w 411108"/>
                  <a:gd name="connsiteY0" fmla="*/ 1252009 h 1252009"/>
                  <a:gd name="connsiteX1" fmla="*/ 9054 w 411108"/>
                  <a:gd name="connsiteY1" fmla="*/ 790282 h 1252009"/>
                  <a:gd name="connsiteX2" fmla="*/ 18107 w 411108"/>
                  <a:gd name="connsiteY2" fmla="*/ 672587 h 1252009"/>
                  <a:gd name="connsiteX3" fmla="*/ 45268 w 411108"/>
                  <a:gd name="connsiteY3" fmla="*/ 582053 h 1252009"/>
                  <a:gd name="connsiteX4" fmla="*/ 63375 w 411108"/>
                  <a:gd name="connsiteY4" fmla="*/ 518678 h 1252009"/>
                  <a:gd name="connsiteX5" fmla="*/ 99588 w 411108"/>
                  <a:gd name="connsiteY5" fmla="*/ 455304 h 1252009"/>
                  <a:gd name="connsiteX6" fmla="*/ 108642 w 411108"/>
                  <a:gd name="connsiteY6" fmla="*/ 428144 h 1252009"/>
                  <a:gd name="connsiteX7" fmla="*/ 135802 w 411108"/>
                  <a:gd name="connsiteY7" fmla="*/ 391930 h 1252009"/>
                  <a:gd name="connsiteX8" fmla="*/ 181070 w 411108"/>
                  <a:gd name="connsiteY8" fmla="*/ 328556 h 1252009"/>
                  <a:gd name="connsiteX9" fmla="*/ 244444 w 411108"/>
                  <a:gd name="connsiteY9" fmla="*/ 228967 h 1252009"/>
                  <a:gd name="connsiteX10" fmla="*/ 325925 w 411108"/>
                  <a:gd name="connsiteY10" fmla="*/ 111272 h 1252009"/>
                  <a:gd name="connsiteX11" fmla="*/ 353085 w 411108"/>
                  <a:gd name="connsiteY11" fmla="*/ 75059 h 1252009"/>
                  <a:gd name="connsiteX12" fmla="*/ 371192 w 411108"/>
                  <a:gd name="connsiteY12" fmla="*/ 47898 h 1252009"/>
                  <a:gd name="connsiteX13" fmla="*/ 407406 w 411108"/>
                  <a:gd name="connsiteY13" fmla="*/ 2631 h 125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1108" h="1252009">
                    <a:moveTo>
                      <a:pt x="0" y="1252009"/>
                    </a:moveTo>
                    <a:cubicBezTo>
                      <a:pt x="3018" y="1098100"/>
                      <a:pt x="4246" y="944145"/>
                      <a:pt x="9054" y="790282"/>
                    </a:cubicBezTo>
                    <a:cubicBezTo>
                      <a:pt x="10283" y="750954"/>
                      <a:pt x="13510" y="711665"/>
                      <a:pt x="18107" y="672587"/>
                    </a:cubicBezTo>
                    <a:cubicBezTo>
                      <a:pt x="21300" y="645447"/>
                      <a:pt x="39317" y="605857"/>
                      <a:pt x="45268" y="582053"/>
                    </a:cubicBezTo>
                    <a:cubicBezTo>
                      <a:pt x="48170" y="570445"/>
                      <a:pt x="56879" y="531670"/>
                      <a:pt x="63375" y="518678"/>
                    </a:cubicBezTo>
                    <a:cubicBezTo>
                      <a:pt x="74256" y="496916"/>
                      <a:pt x="88707" y="477066"/>
                      <a:pt x="99588" y="455304"/>
                    </a:cubicBezTo>
                    <a:cubicBezTo>
                      <a:pt x="103856" y="446768"/>
                      <a:pt x="103907" y="436430"/>
                      <a:pt x="108642" y="428144"/>
                    </a:cubicBezTo>
                    <a:cubicBezTo>
                      <a:pt x="116128" y="415043"/>
                      <a:pt x="127805" y="404726"/>
                      <a:pt x="135802" y="391930"/>
                    </a:cubicBezTo>
                    <a:cubicBezTo>
                      <a:pt x="175521" y="328378"/>
                      <a:pt x="129294" y="380330"/>
                      <a:pt x="181070" y="328556"/>
                    </a:cubicBezTo>
                    <a:cubicBezTo>
                      <a:pt x="204412" y="258524"/>
                      <a:pt x="169387" y="354063"/>
                      <a:pt x="244444" y="228967"/>
                    </a:cubicBezTo>
                    <a:cubicBezTo>
                      <a:pt x="287130" y="157823"/>
                      <a:pt x="261047" y="197776"/>
                      <a:pt x="325925" y="111272"/>
                    </a:cubicBezTo>
                    <a:cubicBezTo>
                      <a:pt x="334978" y="99201"/>
                      <a:pt x="344715" y="87614"/>
                      <a:pt x="353085" y="75059"/>
                    </a:cubicBezTo>
                    <a:cubicBezTo>
                      <a:pt x="359121" y="66005"/>
                      <a:pt x="364226" y="56257"/>
                      <a:pt x="371192" y="47898"/>
                    </a:cubicBezTo>
                    <a:cubicBezTo>
                      <a:pt x="411108" y="0"/>
                      <a:pt x="388420" y="40605"/>
                      <a:pt x="407406" y="2631"/>
                    </a:cubicBezTo>
                  </a:path>
                </a:pathLst>
              </a:cu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6" name="Straight Arrow Connector 55"/>
              <p:cNvCxnSpPr>
                <a:stCxn id="52" idx="0"/>
              </p:cNvCxnSpPr>
              <p:nvPr/>
            </p:nvCxnSpPr>
            <p:spPr>
              <a:xfrm flipH="1" flipV="1">
                <a:off x="5235025" y="2528355"/>
                <a:ext cx="46041" cy="1363226"/>
              </a:xfrm>
              <a:prstGeom prst="straightConnector1">
                <a:avLst/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/>
          <p:cNvSpPr txBox="1"/>
          <p:nvPr/>
        </p:nvSpPr>
        <p:spPr>
          <a:xfrm rot="21030169">
            <a:off x="6356351" y="4314825"/>
            <a:ext cx="1166813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5484718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36" grpId="0" animBg="1"/>
      <p:bldP spid="5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Model-Driven Test</a:t>
            </a:r>
            <a:r>
              <a:rPr lang="en-US" sz="2800" dirty="0"/>
              <a:t> </a:t>
            </a:r>
            <a:r>
              <a:rPr lang="en-US" sz="3200" dirty="0"/>
              <a:t>Design</a:t>
            </a:r>
            <a:r>
              <a:rPr lang="en-US" dirty="0"/>
              <a:t>–Activities</a:t>
            </a:r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E7908CA-400A-474A-8048-4F6CD4E807E1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26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8918" name="TextBox 6"/>
          <p:cNvSpPr txBox="1">
            <a:spLocks noChangeArrowheads="1"/>
          </p:cNvSpPr>
          <p:nvPr/>
        </p:nvSpPr>
        <p:spPr bwMode="auto">
          <a:xfrm>
            <a:off x="1627188" y="3597276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software artifact</a:t>
            </a:r>
          </a:p>
        </p:txBody>
      </p:sp>
      <p:sp>
        <p:nvSpPr>
          <p:cNvPr id="38919" name="TextBox 7"/>
          <p:cNvSpPr txBox="1">
            <a:spLocks noChangeArrowheads="1"/>
          </p:cNvSpPr>
          <p:nvPr/>
        </p:nvSpPr>
        <p:spPr bwMode="auto">
          <a:xfrm>
            <a:off x="3227388" y="1125539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model / structure</a:t>
            </a:r>
          </a:p>
        </p:txBody>
      </p:sp>
      <p:sp>
        <p:nvSpPr>
          <p:cNvPr id="38920" name="TextBox 8"/>
          <p:cNvSpPr txBox="1">
            <a:spLocks noChangeArrowheads="1"/>
          </p:cNvSpPr>
          <p:nvPr/>
        </p:nvSpPr>
        <p:spPr bwMode="auto">
          <a:xfrm>
            <a:off x="4827588" y="1125539"/>
            <a:ext cx="18018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sp>
        <p:nvSpPr>
          <p:cNvPr id="38921" name="TextBox 9"/>
          <p:cNvSpPr txBox="1">
            <a:spLocks noChangeArrowheads="1"/>
          </p:cNvSpPr>
          <p:nvPr/>
        </p:nvSpPr>
        <p:spPr bwMode="auto">
          <a:xfrm>
            <a:off x="6846888" y="971550"/>
            <a:ext cx="2019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refined requirements / test specs</a:t>
            </a:r>
          </a:p>
        </p:txBody>
      </p:sp>
      <p:sp>
        <p:nvSpPr>
          <p:cNvPr id="38922" name="TextBox 10"/>
          <p:cNvSpPr txBox="1">
            <a:spLocks noChangeArrowheads="1"/>
          </p:cNvSpPr>
          <p:nvPr/>
        </p:nvSpPr>
        <p:spPr bwMode="auto">
          <a:xfrm>
            <a:off x="9083676" y="3597276"/>
            <a:ext cx="1382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input values</a:t>
            </a:r>
          </a:p>
        </p:txBody>
      </p:sp>
      <p:sp>
        <p:nvSpPr>
          <p:cNvPr id="38923" name="TextBox 11"/>
          <p:cNvSpPr txBox="1">
            <a:spLocks noChangeArrowheads="1"/>
          </p:cNvSpPr>
          <p:nvPr/>
        </p:nvSpPr>
        <p:spPr bwMode="auto">
          <a:xfrm>
            <a:off x="7524751" y="5132389"/>
            <a:ext cx="100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cases</a:t>
            </a:r>
          </a:p>
        </p:txBody>
      </p:sp>
      <p:sp>
        <p:nvSpPr>
          <p:cNvPr id="38924" name="TextBox 12"/>
          <p:cNvSpPr txBox="1">
            <a:spLocks noChangeArrowheads="1"/>
          </p:cNvSpPr>
          <p:nvPr/>
        </p:nvSpPr>
        <p:spPr bwMode="auto">
          <a:xfrm>
            <a:off x="5930901" y="5132389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scripts</a:t>
            </a:r>
          </a:p>
        </p:txBody>
      </p:sp>
      <p:sp>
        <p:nvSpPr>
          <p:cNvPr id="38925" name="TextBox 13"/>
          <p:cNvSpPr txBox="1">
            <a:spLocks noChangeArrowheads="1"/>
          </p:cNvSpPr>
          <p:nvPr/>
        </p:nvSpPr>
        <p:spPr bwMode="auto">
          <a:xfrm>
            <a:off x="4337051" y="5132389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results</a:t>
            </a:r>
          </a:p>
        </p:txBody>
      </p:sp>
      <p:cxnSp>
        <p:nvCxnSpPr>
          <p:cNvPr id="16" name="Curved Connector 15"/>
          <p:cNvCxnSpPr>
            <a:stCxn id="38918" idx="0"/>
            <a:endCxn id="38919" idx="1"/>
          </p:cNvCxnSpPr>
          <p:nvPr/>
        </p:nvCxnSpPr>
        <p:spPr bwMode="auto">
          <a:xfrm rot="5400000" flipH="1" flipV="1">
            <a:off x="1713707" y="2083594"/>
            <a:ext cx="2117725" cy="909638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hape 24"/>
          <p:cNvCxnSpPr>
            <a:stCxn id="38922" idx="2"/>
            <a:endCxn id="38923" idx="3"/>
          </p:cNvCxnSpPr>
          <p:nvPr/>
        </p:nvCxnSpPr>
        <p:spPr bwMode="auto">
          <a:xfrm rot="5400000">
            <a:off x="8559801" y="4271963"/>
            <a:ext cx="1181100" cy="1247775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8928" name="TextBox 25"/>
          <p:cNvSpPr txBox="1">
            <a:spLocks noChangeArrowheads="1"/>
          </p:cNvSpPr>
          <p:nvPr/>
        </p:nvSpPr>
        <p:spPr bwMode="auto">
          <a:xfrm>
            <a:off x="2754313" y="5132389"/>
            <a:ext cx="1135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pass / fail</a:t>
            </a:r>
          </a:p>
        </p:txBody>
      </p:sp>
      <p:cxnSp>
        <p:nvCxnSpPr>
          <p:cNvPr id="50" name="Straight Arrow Connector 49"/>
          <p:cNvCxnSpPr/>
          <p:nvPr/>
        </p:nvCxnSpPr>
        <p:spPr bwMode="auto">
          <a:xfrm flipV="1">
            <a:off x="4529138" y="1479550"/>
            <a:ext cx="5191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3" name="Straight Arrow Connector 52"/>
          <p:cNvCxnSpPr/>
          <p:nvPr/>
        </p:nvCxnSpPr>
        <p:spPr bwMode="auto">
          <a:xfrm flipV="1">
            <a:off x="6400801" y="1479550"/>
            <a:ext cx="51911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4" name="Straight Arrow Connector 53"/>
          <p:cNvCxnSpPr/>
          <p:nvPr/>
        </p:nvCxnSpPr>
        <p:spPr bwMode="auto">
          <a:xfrm rot="10800000">
            <a:off x="3824289" y="5484814"/>
            <a:ext cx="636587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0" name="Straight Arrow Connector 59"/>
          <p:cNvCxnSpPr/>
          <p:nvPr/>
        </p:nvCxnSpPr>
        <p:spPr bwMode="auto">
          <a:xfrm rot="10800000">
            <a:off x="5372100" y="5484814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1" name="Straight Arrow Connector 60"/>
          <p:cNvCxnSpPr/>
          <p:nvPr/>
        </p:nvCxnSpPr>
        <p:spPr bwMode="auto">
          <a:xfrm rot="10800000">
            <a:off x="6972300" y="5484814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8934" name="TextBox 66"/>
          <p:cNvSpPr txBox="1">
            <a:spLocks noChangeArrowheads="1"/>
          </p:cNvSpPr>
          <p:nvPr/>
        </p:nvSpPr>
        <p:spPr bwMode="auto">
          <a:xfrm>
            <a:off x="3089276" y="3028950"/>
            <a:ext cx="2417763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Bradley Hand ITC" pitchFamily="66" charset="0"/>
              </a:rPr>
              <a:t>IMPLEMENTATION</a:t>
            </a:r>
          </a:p>
          <a:p>
            <a:pPr algn="ctr"/>
            <a:r>
              <a:rPr lang="en-US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>
                <a:latin typeface="Bradley Hand ITC" pitchFamily="66" charset="0"/>
              </a:rPr>
              <a:t>LEVEL</a:t>
            </a:r>
          </a:p>
        </p:txBody>
      </p:sp>
      <p:sp>
        <p:nvSpPr>
          <p:cNvPr id="38935" name="TextBox 67"/>
          <p:cNvSpPr txBox="1">
            <a:spLocks noChangeArrowheads="1"/>
          </p:cNvSpPr>
          <p:nvPr/>
        </p:nvSpPr>
        <p:spPr bwMode="auto">
          <a:xfrm>
            <a:off x="7608889" y="2117725"/>
            <a:ext cx="1990725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Bradley Hand ITC" pitchFamily="66" charset="0"/>
              </a:rPr>
              <a:t>DESIGN</a:t>
            </a:r>
          </a:p>
          <a:p>
            <a:pPr algn="ctr"/>
            <a:r>
              <a:rPr lang="en-US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>
                <a:latin typeface="Bradley Hand ITC" pitchFamily="66" charset="0"/>
              </a:rPr>
              <a:t>LEVEL</a:t>
            </a:r>
          </a:p>
        </p:txBody>
      </p:sp>
      <p:cxnSp>
        <p:nvCxnSpPr>
          <p:cNvPr id="20" name="Shape 19"/>
          <p:cNvCxnSpPr>
            <a:stCxn id="38921" idx="3"/>
            <a:endCxn id="38922" idx="0"/>
          </p:cNvCxnSpPr>
          <p:nvPr/>
        </p:nvCxnSpPr>
        <p:spPr bwMode="auto">
          <a:xfrm>
            <a:off x="8866188" y="1479551"/>
            <a:ext cx="908050" cy="2117725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8937" name="Straight Connector 62"/>
          <p:cNvCxnSpPr>
            <a:cxnSpLocks noChangeShapeType="1"/>
          </p:cNvCxnSpPr>
          <p:nvPr/>
        </p:nvCxnSpPr>
        <p:spPr bwMode="auto">
          <a:xfrm>
            <a:off x="1673225" y="3074989"/>
            <a:ext cx="8845550" cy="1587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849563" y="1039814"/>
            <a:ext cx="5967412" cy="1354137"/>
            <a:chOff x="1325880" y="1040130"/>
            <a:chExt cx="5966460" cy="1353205"/>
          </a:xfrm>
        </p:grpSpPr>
        <p:sp>
          <p:nvSpPr>
            <p:cNvPr id="38949" name="Rounded Rectangle 26"/>
            <p:cNvSpPr>
              <a:spLocks noChangeArrowheads="1"/>
            </p:cNvSpPr>
            <p:nvPr/>
          </p:nvSpPr>
          <p:spPr bwMode="auto">
            <a:xfrm>
              <a:off x="1325880" y="1040130"/>
              <a:ext cx="5966460" cy="1337310"/>
            </a:xfrm>
            <a:prstGeom prst="roundRect">
              <a:avLst>
                <a:gd name="adj" fmla="val 16667"/>
              </a:avLst>
            </a:prstGeom>
            <a:solidFill>
              <a:srgbClr val="66CCFF">
                <a:alpha val="30196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65489" y="1931691"/>
              <a:ext cx="1687243" cy="4616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Test Design</a:t>
              </a:r>
            </a:p>
          </p:txBody>
        </p:sp>
      </p:grp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5921375" y="4079875"/>
            <a:ext cx="4711700" cy="1657350"/>
            <a:chOff x="4396740" y="4080510"/>
            <a:chExt cx="4712970" cy="1657350"/>
          </a:xfrm>
        </p:grpSpPr>
        <p:sp>
          <p:nvSpPr>
            <p:cNvPr id="30" name="Rounded Rectangle 29"/>
            <p:cNvSpPr/>
            <p:nvPr/>
          </p:nvSpPr>
          <p:spPr bwMode="auto">
            <a:xfrm>
              <a:off x="4396740" y="4137660"/>
              <a:ext cx="4712970" cy="1600200"/>
            </a:xfrm>
            <a:prstGeom prst="roundRect">
              <a:avLst/>
            </a:prstGeom>
            <a:solidFill>
              <a:srgbClr val="66CCFF">
                <a:alpha val="30196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scene3d>
              <a:camera prst="orthographicFront">
                <a:rot lat="0" lon="0" rev="1800000"/>
              </a:camera>
              <a:lightRig rig="threePt" dir="t"/>
            </a:scene3d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45322" y="4080510"/>
              <a:ext cx="2752808" cy="523220"/>
            </a:xfrm>
            <a:prstGeom prst="rect">
              <a:avLst/>
            </a:prstGeom>
            <a:noFill/>
            <a:scene3d>
              <a:camera prst="orthographicFront">
                <a:rot lat="0" lon="0" rev="1800000"/>
              </a:camera>
              <a:lightRig rig="threePt" dir="t"/>
            </a:scene3d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Test Automation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4397376" y="5102225"/>
            <a:ext cx="1527175" cy="1423988"/>
            <a:chOff x="2872740" y="5101590"/>
            <a:chExt cx="1527810" cy="1425357"/>
          </a:xfrm>
        </p:grpSpPr>
        <p:sp>
          <p:nvSpPr>
            <p:cNvPr id="38945" name="Rounded Rectangle 31"/>
            <p:cNvSpPr>
              <a:spLocks noChangeArrowheads="1"/>
            </p:cNvSpPr>
            <p:nvPr/>
          </p:nvSpPr>
          <p:spPr bwMode="auto">
            <a:xfrm>
              <a:off x="2907030" y="5101590"/>
              <a:ext cx="1459230" cy="1424940"/>
            </a:xfrm>
            <a:prstGeom prst="roundRect">
              <a:avLst>
                <a:gd name="adj" fmla="val 16667"/>
              </a:avLst>
            </a:prstGeom>
            <a:solidFill>
              <a:srgbClr val="66CCFF">
                <a:alpha val="30196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72740" y="5695886"/>
              <a:ext cx="1527810" cy="8310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Test Execution</a:t>
              </a:r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460626" y="5116513"/>
            <a:ext cx="1624013" cy="1447800"/>
            <a:chOff x="1188720" y="5025390"/>
            <a:chExt cx="1623060" cy="1448217"/>
          </a:xfrm>
        </p:grpSpPr>
        <p:sp>
          <p:nvSpPr>
            <p:cNvPr id="38943" name="Rounded Rectangle 33"/>
            <p:cNvSpPr>
              <a:spLocks noChangeArrowheads="1"/>
            </p:cNvSpPr>
            <p:nvPr/>
          </p:nvSpPr>
          <p:spPr bwMode="auto">
            <a:xfrm>
              <a:off x="1196340" y="5025390"/>
              <a:ext cx="1615440" cy="1424940"/>
            </a:xfrm>
            <a:prstGeom prst="roundRect">
              <a:avLst>
                <a:gd name="adj" fmla="val 16667"/>
              </a:avLst>
            </a:prstGeom>
            <a:solidFill>
              <a:srgbClr val="66CCFF">
                <a:alpha val="30196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88720" y="5643105"/>
              <a:ext cx="1623060" cy="83050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Test Evaluation</a:t>
              </a:r>
            </a:p>
          </p:txBody>
        </p:sp>
      </p:grpSp>
      <p:sp>
        <p:nvSpPr>
          <p:cNvPr id="40" name="AutoShape 15"/>
          <p:cNvSpPr>
            <a:spLocks noChangeArrowheads="1"/>
          </p:cNvSpPr>
          <p:nvPr/>
        </p:nvSpPr>
        <p:spPr bwMode="auto">
          <a:xfrm>
            <a:off x="2647951" y="2428875"/>
            <a:ext cx="6088063" cy="2154238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Papyrus" pitchFamily="66" charset="0"/>
              </a:rPr>
              <a:t>Raising our abstraction level makes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Papyrus" pitchFamily="66" charset="0"/>
              </a:rPr>
              <a:t>test design MUCH easier</a:t>
            </a:r>
          </a:p>
        </p:txBody>
      </p:sp>
    </p:spTree>
    <p:extLst>
      <p:ext uri="{BB962C8B-B14F-4D97-AF65-F5344CB8AC3E}">
        <p14:creationId xmlns:p14="http://schemas.microsoft.com/office/powerpoint/2010/main" val="32950337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8CBA-39A4-FB15-0ABB-D39A4D6C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5DE917A-1654-D45E-460E-925C3C31251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Chapter 1 Introduction</a:t>
            </a:r>
            <a:endParaRPr 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2DABC24-C1E7-9EDE-19A3-438D4F0149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zh-CN" sz="3200" dirty="0"/>
              <a:t>Coverage Criteria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49030672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75262-C33D-4BF2-B945-AA4A55BA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E4DB0-E506-498E-A025-41AFB4DD7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【重点】描述覆盖标准、测试需求、测试集合的含义及它们之间的关系；理解覆盖标准作为风险控制工具的作用，而非质量充分性的直接证明。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【难点】根据给定的覆盖标准写出相应的测试需求，根据给定的测试集合判断其是否满足相应的覆盖标准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【难点】分析覆盖标准之间的包含关系。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了解典型的静态分析工具，使用学院科研团队自主研发的嵌入式软件自动化测试平台</a:t>
            </a:r>
            <a:r>
              <a:rPr lang="en-US" altLang="zh-CN" dirty="0" err="1"/>
              <a:t>SmartRocket</a:t>
            </a:r>
            <a:r>
              <a:rPr lang="en-US" altLang="zh-CN" dirty="0"/>
              <a:t> </a:t>
            </a:r>
            <a:r>
              <a:rPr lang="en-US" altLang="zh-CN" dirty="0" err="1"/>
              <a:t>TestGrid</a:t>
            </a:r>
            <a:r>
              <a:rPr lang="zh-CN" altLang="zh-CN" dirty="0"/>
              <a:t>教育版中的静态分析工具对被测代码进行分析。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76B6AE-CCE3-4F5F-BB8A-BD72FCAD6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5155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 Criteria</a:t>
            </a:r>
            <a:r>
              <a:rPr lang="en-US" sz="2800" dirty="0"/>
              <a:t> (2.4)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small programs have </a:t>
            </a:r>
            <a:r>
              <a:rPr lang="en-US" dirty="0">
                <a:solidFill>
                  <a:schemeClr val="tx2"/>
                </a:solidFill>
              </a:rPr>
              <a:t>too many inputs</a:t>
            </a:r>
            <a:r>
              <a:rPr lang="en-US" dirty="0"/>
              <a:t> to fully test them all</a:t>
            </a:r>
          </a:p>
          <a:p>
            <a:pPr lvl="1"/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private static double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computeAverage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A,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B,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C)</a:t>
            </a:r>
          </a:p>
          <a:p>
            <a:pPr lvl="1"/>
            <a:r>
              <a:rPr lang="en-US" dirty="0"/>
              <a:t>On a 32-bit machine, each variable has over </a:t>
            </a:r>
            <a:r>
              <a:rPr lang="en-US" dirty="0">
                <a:solidFill>
                  <a:schemeClr val="tx2"/>
                </a:solidFill>
              </a:rPr>
              <a:t>4 billion</a:t>
            </a:r>
            <a:r>
              <a:rPr lang="en-US" dirty="0"/>
              <a:t> possible values</a:t>
            </a:r>
          </a:p>
          <a:p>
            <a:pPr lvl="1"/>
            <a:r>
              <a:rPr lang="en-US" dirty="0"/>
              <a:t>Over </a:t>
            </a:r>
            <a:r>
              <a:rPr lang="en-US" dirty="0">
                <a:solidFill>
                  <a:schemeClr val="tx2"/>
                </a:solidFill>
              </a:rPr>
              <a:t>80 octillion possible tests</a:t>
            </a:r>
            <a:r>
              <a:rPr lang="en-US" dirty="0"/>
              <a:t>!!</a:t>
            </a:r>
          </a:p>
          <a:p>
            <a:pPr lvl="1"/>
            <a:r>
              <a:rPr lang="en-US" dirty="0"/>
              <a:t>Input space might as well be infinite</a:t>
            </a:r>
          </a:p>
          <a:p>
            <a:r>
              <a:rPr lang="en-US" dirty="0"/>
              <a:t>Testers </a:t>
            </a:r>
            <a:r>
              <a:rPr lang="en-US" dirty="0">
                <a:solidFill>
                  <a:schemeClr val="tx2"/>
                </a:solidFill>
              </a:rPr>
              <a:t>search</a:t>
            </a:r>
            <a:r>
              <a:rPr lang="en-US" dirty="0"/>
              <a:t> a huge input space</a:t>
            </a:r>
          </a:p>
          <a:p>
            <a:pPr lvl="1"/>
            <a:r>
              <a:rPr lang="en-US" dirty="0"/>
              <a:t>Trying to find the </a:t>
            </a:r>
            <a:r>
              <a:rPr lang="en-US" dirty="0">
                <a:solidFill>
                  <a:schemeClr val="tx2"/>
                </a:solidFill>
              </a:rPr>
              <a:t>fewest inputs</a:t>
            </a:r>
            <a:r>
              <a:rPr lang="en-US" dirty="0"/>
              <a:t> that will find the </a:t>
            </a:r>
            <a:r>
              <a:rPr lang="en-US" dirty="0">
                <a:solidFill>
                  <a:schemeClr val="tx2"/>
                </a:solidFill>
              </a:rPr>
              <a:t>most problems</a:t>
            </a:r>
          </a:p>
          <a:p>
            <a:r>
              <a:rPr lang="en-US" dirty="0">
                <a:solidFill>
                  <a:schemeClr val="tx2"/>
                </a:solidFill>
              </a:rPr>
              <a:t>Coverage criteria</a:t>
            </a:r>
            <a:r>
              <a:rPr lang="en-US" dirty="0"/>
              <a:t> give structured, practical ways to search the input space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Search</a:t>
            </a:r>
            <a:r>
              <a:rPr lang="en-US" dirty="0"/>
              <a:t> the input space thoroughly</a:t>
            </a:r>
          </a:p>
          <a:p>
            <a:pPr lvl="1"/>
            <a:r>
              <a:rPr lang="en-US" dirty="0"/>
              <a:t>Not much </a:t>
            </a:r>
            <a:r>
              <a:rPr lang="en-US" dirty="0">
                <a:solidFill>
                  <a:schemeClr val="tx2"/>
                </a:solidFill>
              </a:rPr>
              <a:t>overlap</a:t>
            </a:r>
            <a:r>
              <a:rPr lang="en-US" dirty="0"/>
              <a:t> in the tests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4351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Coverage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Maximize the “</a:t>
            </a:r>
            <a:r>
              <a:rPr lang="en-US" dirty="0">
                <a:solidFill>
                  <a:schemeClr val="tx2"/>
                </a:solidFill>
              </a:rPr>
              <a:t>bang for the buck</a:t>
            </a:r>
            <a:r>
              <a:rPr lang="en-US" dirty="0"/>
              <a:t>”</a:t>
            </a:r>
          </a:p>
          <a:p>
            <a:pPr lvl="2"/>
            <a:endParaRPr lang="en-US" dirty="0"/>
          </a:p>
          <a:p>
            <a:r>
              <a:rPr lang="en-US" dirty="0"/>
              <a:t>Provide </a:t>
            </a:r>
            <a:r>
              <a:rPr lang="en-US" dirty="0">
                <a:solidFill>
                  <a:schemeClr val="tx2"/>
                </a:solidFill>
              </a:rPr>
              <a:t>traceability</a:t>
            </a:r>
            <a:r>
              <a:rPr lang="en-US" dirty="0"/>
              <a:t> from software artifacts to tests</a:t>
            </a:r>
          </a:p>
          <a:p>
            <a:pPr lvl="1"/>
            <a:r>
              <a:rPr lang="en-US" dirty="0"/>
              <a:t>Source, requirements, design models, …</a:t>
            </a:r>
          </a:p>
          <a:p>
            <a:pPr lvl="2"/>
            <a:endParaRPr lang="en-US" dirty="0"/>
          </a:p>
          <a:p>
            <a:r>
              <a:rPr lang="en-US" dirty="0"/>
              <a:t>Make </a:t>
            </a:r>
            <a:r>
              <a:rPr lang="en-US" dirty="0">
                <a:solidFill>
                  <a:schemeClr val="tx2"/>
                </a:solidFill>
              </a:rPr>
              <a:t>regression testing</a:t>
            </a:r>
            <a:r>
              <a:rPr lang="en-US" dirty="0"/>
              <a:t> easier</a:t>
            </a:r>
          </a:p>
          <a:p>
            <a:pPr lvl="2"/>
            <a:endParaRPr lang="en-US" dirty="0"/>
          </a:p>
          <a:p>
            <a:r>
              <a:rPr lang="en-US" dirty="0"/>
              <a:t>Gives testers a “</a:t>
            </a:r>
            <a:r>
              <a:rPr lang="en-US" dirty="0">
                <a:solidFill>
                  <a:schemeClr val="tx2"/>
                </a:solidFill>
              </a:rPr>
              <a:t>stopping rule</a:t>
            </a:r>
            <a:r>
              <a:rPr lang="en-US" dirty="0"/>
              <a:t>” … when testing is finished</a:t>
            </a:r>
          </a:p>
          <a:p>
            <a:pPr lvl="2"/>
            <a:endParaRPr lang="en-US" dirty="0"/>
          </a:p>
          <a:p>
            <a:r>
              <a:rPr lang="en-US" dirty="0"/>
              <a:t>Can be well supported with powerful </a:t>
            </a:r>
            <a:r>
              <a:rPr lang="en-US" dirty="0">
                <a:solidFill>
                  <a:schemeClr val="tx2"/>
                </a:solidFill>
              </a:rPr>
              <a:t>tools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6417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Requirements and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Test Criterion</a:t>
            </a:r>
            <a:r>
              <a:rPr lang="en-US" dirty="0"/>
              <a:t> : A collection of rules and a process that define test requirements</a:t>
            </a:r>
          </a:p>
          <a:p>
            <a:pPr lvl="1">
              <a:buClr>
                <a:schemeClr val="tx1"/>
              </a:buClr>
              <a:buFont typeface="Times New Roman" pitchFamily="18" charset="0"/>
              <a:buChar char="̶"/>
            </a:pPr>
            <a:r>
              <a:rPr lang="en-US" dirty="0"/>
              <a:t>Cover every statement</a:t>
            </a:r>
          </a:p>
          <a:p>
            <a:pPr lvl="1">
              <a:buClr>
                <a:schemeClr val="tx1"/>
              </a:buClr>
              <a:buFont typeface="Times New Roman" pitchFamily="18" charset="0"/>
              <a:buChar char="̶"/>
            </a:pPr>
            <a:r>
              <a:rPr lang="en-US" dirty="0"/>
              <a:t>Cover every functional requirement</a:t>
            </a:r>
          </a:p>
          <a:p>
            <a:r>
              <a:rPr lang="en-US" dirty="0">
                <a:solidFill>
                  <a:srgbClr val="FFFF00"/>
                </a:solidFill>
              </a:rPr>
              <a:t>Test Requirements</a:t>
            </a:r>
            <a:r>
              <a:rPr lang="en-US" dirty="0"/>
              <a:t> : Specific things that must be satisfied or covered during testing</a:t>
            </a:r>
          </a:p>
          <a:p>
            <a:pPr lvl="1"/>
            <a:r>
              <a:rPr lang="en-US" dirty="0"/>
              <a:t>Each statement might be a test requirement</a:t>
            </a:r>
          </a:p>
          <a:p>
            <a:pPr lvl="1"/>
            <a:r>
              <a:rPr lang="en-US" dirty="0"/>
              <a:t>Each functional requirement might be a test requirement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965325" y="4493259"/>
            <a:ext cx="8262938" cy="830997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Testing researchers have defined dozens of criteria, but they are all really just a few criteria on four types of structures …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117726" y="5696074"/>
            <a:ext cx="3023415" cy="784830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Input domains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Graphs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530684" y="5696074"/>
            <a:ext cx="3023415" cy="784830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 startAt="3"/>
              <a:defRPr/>
            </a:pPr>
            <a:r>
              <a:rPr 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Logic expressions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  <a:defRPr/>
            </a:pPr>
            <a:r>
              <a:rPr 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Syntax descriptions</a:t>
            </a:r>
          </a:p>
        </p:txBody>
      </p:sp>
    </p:spTree>
    <p:extLst>
      <p:ext uri="{BB962C8B-B14F-4D97-AF65-F5344CB8AC3E}">
        <p14:creationId xmlns:p14="http://schemas.microsoft.com/office/powerpoint/2010/main" val="21046009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 of Structures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structures can be </a:t>
            </a:r>
            <a:r>
              <a:rPr lang="en-US" dirty="0">
                <a:solidFill>
                  <a:srgbClr val="FFFF00"/>
                </a:solidFill>
              </a:rPr>
              <a:t>extracted</a:t>
            </a:r>
            <a:r>
              <a:rPr lang="en-US" dirty="0"/>
              <a:t> from lots of software artifacts</a:t>
            </a:r>
          </a:p>
          <a:p>
            <a:pPr lvl="1"/>
            <a:r>
              <a:rPr lang="en-US" dirty="0">
                <a:solidFill>
                  <a:srgbClr val="FFFF00"/>
                </a:solidFill>
              </a:rPr>
              <a:t>Graphs</a:t>
            </a:r>
            <a:r>
              <a:rPr lang="en-US" dirty="0"/>
              <a:t> can be extracted from UML use cases, finite state machines, source code, …</a:t>
            </a:r>
          </a:p>
          <a:p>
            <a:pPr lvl="1"/>
            <a:r>
              <a:rPr lang="en-US" dirty="0">
                <a:solidFill>
                  <a:srgbClr val="FFFF00"/>
                </a:solidFill>
              </a:rPr>
              <a:t>Logical expressions</a:t>
            </a:r>
            <a:r>
              <a:rPr lang="en-US" dirty="0"/>
              <a:t> can be extracted from decisions in program source, guards on transitions, conditionals in use cases,  …</a:t>
            </a:r>
          </a:p>
          <a:p>
            <a:r>
              <a:rPr lang="en-US" dirty="0"/>
              <a:t>This is not the same as “</a:t>
            </a:r>
            <a:r>
              <a:rPr lang="en-US" i="1" dirty="0">
                <a:solidFill>
                  <a:srgbClr val="FFFF00"/>
                </a:solidFill>
              </a:rPr>
              <a:t>model-based testing</a:t>
            </a:r>
            <a:r>
              <a:rPr lang="en-US" dirty="0"/>
              <a:t>,” which derives tests from a model that describes some  aspects of the system under test</a:t>
            </a:r>
          </a:p>
          <a:p>
            <a:pPr lvl="1"/>
            <a:r>
              <a:rPr lang="en-US" dirty="0"/>
              <a:t>The model usually describes part of the </a:t>
            </a:r>
            <a:r>
              <a:rPr lang="en-US" dirty="0">
                <a:solidFill>
                  <a:srgbClr val="FFFF00"/>
                </a:solidFill>
              </a:rPr>
              <a:t>behavior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FF00"/>
                </a:solidFill>
              </a:rPr>
              <a:t>source</a:t>
            </a:r>
            <a:r>
              <a:rPr lang="en-US" dirty="0"/>
              <a:t> is explicitly </a:t>
            </a:r>
            <a:r>
              <a:rPr lang="en-US" i="1" u="sng" dirty="0">
                <a:solidFill>
                  <a:srgbClr val="FFFF00"/>
                </a:solidFill>
              </a:rPr>
              <a:t>not</a:t>
            </a:r>
            <a:r>
              <a:rPr lang="en-US" dirty="0"/>
              <a:t> considered a model</a:t>
            </a:r>
          </a:p>
        </p:txBody>
      </p:sp>
      <p:sp>
        <p:nvSpPr>
          <p:cNvPr id="624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A237112-027E-4574-BCFF-436A87A0BC6E}" type="slidenum">
              <a:rPr lang="en-US" sz="900" b="0">
                <a:solidFill>
                  <a:schemeClr val="tx1"/>
                </a:solidFill>
              </a:rPr>
              <a:pPr/>
              <a:t>32</a:t>
            </a:fld>
            <a:endParaRPr lang="en-US" sz="9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45118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 Based on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A1E189-A5E4-460C-B525-E80730F3D25C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2403475" y="950913"/>
            <a:ext cx="7385050" cy="519112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800" u="sng" dirty="0">
                <a:solidFill>
                  <a:srgbClr val="FFFF00"/>
                </a:solidFill>
                <a:latin typeface="Gill Sans MT" panose="020B0502020104020203" pitchFamily="34" charset="0"/>
                <a:cs typeface="Arial" pitchFamily="34" charset="0"/>
              </a:rPr>
              <a:t>Structures</a:t>
            </a:r>
            <a:r>
              <a:rPr lang="en-US" sz="2800" dirty="0">
                <a:solidFill>
                  <a:schemeClr val="tx1"/>
                </a:solidFill>
                <a:latin typeface="Gill Sans MT" panose="020B0502020104020203" pitchFamily="34" charset="0"/>
                <a:cs typeface="Arial" pitchFamily="34" charset="0"/>
              </a:rPr>
              <a:t> : Four ways to model software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149476" y="1736489"/>
            <a:ext cx="4017963" cy="1336321"/>
          </a:xfrm>
          <a:prstGeom prst="rect">
            <a:avLst/>
          </a:prstGeom>
        </p:spPr>
        <p:txBody>
          <a:bodyPr anchor="ctr"/>
          <a:lstStyle/>
          <a:p>
            <a:pPr marL="514350" indent="-5143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Font typeface="+mj-lt"/>
              <a:buAutoNum type="arabicPeriod"/>
              <a:defRPr/>
            </a:pPr>
            <a:r>
              <a:rPr lang="en-US" sz="3200" b="0" kern="0" dirty="0">
                <a:solidFill>
                  <a:schemeClr val="tx1"/>
                </a:solidFill>
                <a:latin typeface="Gill Sans MT" panose="020B0502020104020203" pitchFamily="34" charset="0"/>
              </a:rPr>
              <a:t>Input Domain Characterization (sets)</a:t>
            </a: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6473826" y="1728984"/>
            <a:ext cx="2995613" cy="966355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A: {0, 1, &gt;1}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B: {600, 700, 800}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C: {</a:t>
            </a:r>
            <a:r>
              <a:rPr lang="en-US" dirty="0" err="1">
                <a:solidFill>
                  <a:schemeClr val="tx1"/>
                </a:solidFill>
                <a:latin typeface="Helvetica" charset="0"/>
                <a:cs typeface="Arial" pitchFamily="34" charset="0"/>
              </a:rPr>
              <a:t>swe</a:t>
            </a: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Helvetica" charset="0"/>
                <a:cs typeface="Arial" pitchFamily="34" charset="0"/>
              </a:rPr>
              <a:t>cs</a:t>
            </a: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Helvetica" charset="0"/>
                <a:cs typeface="Arial" pitchFamily="34" charset="0"/>
              </a:rPr>
              <a:t>isa</a:t>
            </a: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Helvetica" charset="0"/>
                <a:cs typeface="Arial" pitchFamily="34" charset="0"/>
              </a:rPr>
              <a:t>infs</a:t>
            </a: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}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106613" y="3212490"/>
            <a:ext cx="4017962" cy="584200"/>
          </a:xfrm>
          <a:prstGeom prst="rect">
            <a:avLst/>
          </a:prstGeom>
        </p:spPr>
        <p:txBody>
          <a:bodyPr anchor="ctr"/>
          <a:lstStyle/>
          <a:p>
            <a:pPr marL="514350" indent="-5143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Font typeface="+mj-lt"/>
              <a:buAutoNum type="arabicPeriod" startAt="2"/>
              <a:defRPr/>
            </a:pPr>
            <a:r>
              <a:rPr lang="en-US" sz="3200" b="0" kern="0" dirty="0">
                <a:solidFill>
                  <a:schemeClr val="tx1"/>
                </a:solidFill>
                <a:latin typeface="Gill Sans MT" panose="020B0502020104020203" pitchFamily="34" charset="0"/>
              </a:rPr>
              <a:t>Graphs</a:t>
            </a:r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6473826" y="2996590"/>
            <a:ext cx="1497013" cy="1016000"/>
            <a:chOff x="2211" y="818"/>
            <a:chExt cx="943" cy="640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2211" y="818"/>
              <a:ext cx="242" cy="242"/>
            </a:xfrm>
            <a:prstGeom prst="ellipse">
              <a:avLst/>
            </a:prstGeom>
            <a:solidFill>
              <a:srgbClr val="66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2912" y="949"/>
              <a:ext cx="242" cy="242"/>
            </a:xfrm>
            <a:prstGeom prst="ellipse">
              <a:avLst/>
            </a:prstGeom>
            <a:solidFill>
              <a:srgbClr val="66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auto">
            <a:xfrm>
              <a:off x="2495" y="1216"/>
              <a:ext cx="242" cy="242"/>
            </a:xfrm>
            <a:prstGeom prst="ellipse">
              <a:avLst/>
            </a:prstGeom>
            <a:solidFill>
              <a:srgbClr val="66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2460" y="939"/>
              <a:ext cx="456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2361" y="1052"/>
              <a:ext cx="179" cy="1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 flipV="1">
              <a:off x="2731" y="1166"/>
              <a:ext cx="215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2106613" y="4235430"/>
            <a:ext cx="4017962" cy="739775"/>
          </a:xfrm>
          <a:prstGeom prst="rect">
            <a:avLst/>
          </a:prstGeom>
        </p:spPr>
        <p:txBody>
          <a:bodyPr anchor="ctr"/>
          <a:lstStyle/>
          <a:p>
            <a:pPr marL="514350" indent="-5143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Font typeface="+mj-lt"/>
              <a:buAutoNum type="arabicPeriod" startAt="3"/>
              <a:defRPr/>
            </a:pPr>
            <a:r>
              <a:rPr lang="en-US" sz="3200" b="0" kern="0" dirty="0">
                <a:solidFill>
                  <a:schemeClr val="tx1"/>
                </a:solidFill>
                <a:latin typeface="Gill Sans MT" panose="020B0502020104020203" pitchFamily="34" charset="0"/>
              </a:rPr>
              <a:t>Logical Expressions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6473825" y="4406880"/>
            <a:ext cx="3703638" cy="396875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(not X or not Y) and A and B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2106613" y="5407003"/>
            <a:ext cx="4017962" cy="1062832"/>
          </a:xfrm>
          <a:prstGeom prst="rect">
            <a:avLst/>
          </a:prstGeom>
        </p:spPr>
        <p:txBody>
          <a:bodyPr anchor="ctr"/>
          <a:lstStyle/>
          <a:p>
            <a:pPr marL="514350" indent="-514350"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Font typeface="+mj-lt"/>
              <a:buAutoNum type="arabicPeriod" startAt="4"/>
              <a:defRPr/>
            </a:pPr>
            <a:r>
              <a:rPr lang="en-US" sz="3200" b="0" kern="0" dirty="0">
                <a:solidFill>
                  <a:schemeClr val="tx1"/>
                </a:solidFill>
                <a:latin typeface="Gill Sans MT" panose="020B0502020104020203" pitchFamily="34" charset="0"/>
              </a:rPr>
              <a:t>Syntactic Structures (grammars)</a:t>
            </a: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6473825" y="5139511"/>
            <a:ext cx="2063750" cy="1330325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b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if (x &gt; y)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    z = x - y;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else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   z = 2 * x;</a:t>
            </a:r>
          </a:p>
        </p:txBody>
      </p:sp>
    </p:spTree>
    <p:extLst>
      <p:ext uri="{BB962C8B-B14F-4D97-AF65-F5344CB8AC3E}">
        <p14:creationId xmlns:p14="http://schemas.microsoft.com/office/powerpoint/2010/main" val="2074563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 autoUpdateAnimBg="0"/>
      <p:bldP spid="9" grpId="0"/>
      <p:bldP spid="17" grpId="0"/>
      <p:bldP spid="18" grpId="0" animBg="1" autoUpdateAnimBg="0"/>
      <p:bldP spid="19" grpId="0"/>
      <p:bldP spid="20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Jelly Bean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0" y="876823"/>
            <a:ext cx="4435366" cy="31765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Flavors</a:t>
            </a:r>
            <a:r>
              <a:rPr lang="en-US" dirty="0"/>
              <a:t>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Lemon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Pistachio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Cantaloupe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Pear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Tangerine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Apricot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1026" name="Picture 2" descr="http://www.oldtimecandy.com/assets/images/singles/jelly_beans_assort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340" y="1095186"/>
            <a:ext cx="1596850" cy="119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491785" y="876823"/>
            <a:ext cx="4144246" cy="317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 charset="2"/>
              <a:buChar char="n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   </a:t>
            </a:r>
            <a:r>
              <a:rPr lang="en-US" kern="0" dirty="0">
                <a:solidFill>
                  <a:schemeClr val="tx2"/>
                </a:solidFill>
              </a:rPr>
              <a:t>Colors</a:t>
            </a:r>
            <a:r>
              <a:rPr lang="en-US" kern="0" dirty="0"/>
              <a:t> :</a:t>
            </a:r>
          </a:p>
          <a:p>
            <a:pPr marL="731520" lvl="1" indent="-365760">
              <a:buFont typeface="+mj-lt"/>
              <a:buAutoNum type="arabicPeriod"/>
            </a:pPr>
            <a:r>
              <a:rPr lang="en-US" kern="0" dirty="0"/>
              <a:t>Yellow (Lemon, Apricot)</a:t>
            </a:r>
          </a:p>
          <a:p>
            <a:pPr marL="731520" lvl="1" indent="-365760">
              <a:buFont typeface="+mj-lt"/>
              <a:buAutoNum type="arabicPeriod"/>
            </a:pPr>
            <a:r>
              <a:rPr lang="en-US" kern="0" dirty="0"/>
              <a:t>Green (Pistachio)</a:t>
            </a:r>
          </a:p>
          <a:p>
            <a:pPr marL="731520" lvl="1" indent="-365760">
              <a:buFont typeface="+mj-lt"/>
              <a:buAutoNum type="arabicPeriod"/>
            </a:pPr>
            <a:r>
              <a:rPr lang="en-US" kern="0" dirty="0"/>
              <a:t>Orange (Cantaloupe, Tangerine)</a:t>
            </a:r>
          </a:p>
          <a:p>
            <a:pPr marL="731520" lvl="1" indent="-365760">
              <a:buFont typeface="+mj-lt"/>
              <a:buAutoNum type="arabicPeriod"/>
            </a:pPr>
            <a:r>
              <a:rPr lang="en-US" kern="0" dirty="0"/>
              <a:t>White (Pear)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612900" y="3930555"/>
            <a:ext cx="8754849" cy="2608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 charset="2"/>
              <a:buChar char="n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Possible coverage criteria 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kern="0" dirty="0"/>
              <a:t>Taste one jelly bean of </a:t>
            </a:r>
            <a:r>
              <a:rPr lang="en-US" kern="0" dirty="0">
                <a:solidFill>
                  <a:schemeClr val="tx2"/>
                </a:solidFill>
              </a:rPr>
              <a:t>each flavor</a:t>
            </a:r>
          </a:p>
          <a:p>
            <a:pPr lvl="2"/>
            <a:r>
              <a:rPr lang="en-US" kern="0" dirty="0"/>
              <a:t>Deciding if yellow jelly bean is Lemon or Apricot is a controllability problem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kern="0" dirty="0"/>
              <a:t>Taste one jelly bean of </a:t>
            </a:r>
            <a:r>
              <a:rPr lang="en-US" kern="0" dirty="0">
                <a:solidFill>
                  <a:schemeClr val="tx2"/>
                </a:solidFill>
              </a:rPr>
              <a:t>each color</a:t>
            </a:r>
          </a:p>
        </p:txBody>
      </p:sp>
    </p:spTree>
    <p:extLst>
      <p:ext uri="{BB962C8B-B14F-4D97-AF65-F5344CB8AC3E}">
        <p14:creationId xmlns:p14="http://schemas.microsoft.com/office/powerpoint/2010/main" val="14184290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0DD0FB2-688D-4A83-A4E6-B9CE6EF0222C}" type="slidenum">
              <a:rPr lang="en-US" sz="900" b="0">
                <a:solidFill>
                  <a:schemeClr val="tx1"/>
                </a:solidFill>
              </a:rPr>
              <a:pPr/>
              <a:t>35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Coverage</a:t>
            </a:r>
          </a:p>
        </p:txBody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3262314"/>
            <a:ext cx="8867775" cy="311467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Infeasible test requirements</a:t>
            </a:r>
            <a:r>
              <a:rPr lang="en-US" dirty="0"/>
              <a:t> : test requirements that cannot be satisfied</a:t>
            </a:r>
          </a:p>
          <a:p>
            <a:pPr lvl="1"/>
            <a:r>
              <a:rPr lang="en-US" sz="2000" dirty="0"/>
              <a:t>No test case values exist that meet the test requirements</a:t>
            </a:r>
          </a:p>
          <a:p>
            <a:pPr lvl="1"/>
            <a:r>
              <a:rPr lang="en-US" sz="2000" dirty="0"/>
              <a:t>Example: Dead code</a:t>
            </a:r>
          </a:p>
          <a:p>
            <a:pPr lvl="1"/>
            <a:r>
              <a:rPr lang="en-US" sz="2000" dirty="0"/>
              <a:t>Detection of infeasible test requirements is formally </a:t>
            </a:r>
            <a:r>
              <a:rPr lang="en-US" sz="2000" dirty="0" err="1"/>
              <a:t>undecidable</a:t>
            </a:r>
            <a:r>
              <a:rPr lang="en-US" sz="2000" dirty="0"/>
              <a:t> for most test criteria</a:t>
            </a:r>
            <a:endParaRPr lang="en-US" sz="1800" dirty="0"/>
          </a:p>
          <a:p>
            <a:r>
              <a:rPr lang="en-US" dirty="0"/>
              <a:t>Thus, 100% coverage is </a:t>
            </a:r>
            <a:r>
              <a:rPr lang="en-US" dirty="0">
                <a:solidFill>
                  <a:srgbClr val="FFFF00"/>
                </a:solidFill>
              </a:rPr>
              <a:t>impossible</a:t>
            </a:r>
            <a:r>
              <a:rPr lang="en-US" dirty="0"/>
              <a:t> in practice</a:t>
            </a:r>
          </a:p>
        </p:txBody>
      </p:sp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2114550" y="926265"/>
            <a:ext cx="7962900" cy="1815882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Given a set of test requirements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TR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for coverage criterion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C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, a test set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satisfies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C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coverage if and only if for every test requirement </a:t>
            </a:r>
            <a:r>
              <a:rPr lang="en-US" sz="2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tr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in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TR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, there is at least one test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in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such that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satisfies </a:t>
            </a:r>
            <a:r>
              <a:rPr lang="en-US" sz="2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tr</a:t>
            </a:r>
            <a:endParaRPr lang="en-US" sz="2800" i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29832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Jelly Beans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0" y="1746915"/>
            <a:ext cx="8966200" cy="832513"/>
          </a:xfrm>
        </p:spPr>
        <p:txBody>
          <a:bodyPr/>
          <a:lstStyle/>
          <a:p>
            <a:r>
              <a:rPr lang="en-US" dirty="0"/>
              <a:t>Does test set T1 satisfy the </a:t>
            </a:r>
            <a:r>
              <a:rPr lang="en-US" dirty="0">
                <a:solidFill>
                  <a:schemeClr val="tx2"/>
                </a:solidFill>
              </a:rPr>
              <a:t>flavor criterion </a:t>
            </a:r>
            <a:r>
              <a:rPr lang="en-US" dirty="0"/>
              <a:t>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878843" y="828937"/>
            <a:ext cx="7970291" cy="830997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T1 = { three Lemons, one Pistachio, two Cantaloupes, one Pear, one Tangerine, four Apricots }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612900" y="3550723"/>
            <a:ext cx="8966200" cy="572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 charset="2"/>
              <a:buChar char="n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Does test set T2 satisfy the </a:t>
            </a:r>
            <a:r>
              <a:rPr lang="en-US" kern="0" dirty="0">
                <a:solidFill>
                  <a:schemeClr val="tx2"/>
                </a:solidFill>
              </a:rPr>
              <a:t>flavor criterion </a:t>
            </a:r>
            <a:r>
              <a:rPr lang="en-US" kern="0" dirty="0"/>
              <a:t>?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894763" y="2519457"/>
            <a:ext cx="7970291" cy="830997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tx1"/>
                </a:solidFill>
                <a:latin typeface="Helvetica" charset="0"/>
                <a:cs typeface="Arial" pitchFamily="34" charset="0"/>
              </a:rPr>
              <a:t>T2 = { One Lemon, two Pistachios, one Pear, three Tangerines }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1612900" y="4135278"/>
            <a:ext cx="8966200" cy="572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 charset="2"/>
              <a:buChar char="n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Does test set T2 satisfy the </a:t>
            </a:r>
            <a:r>
              <a:rPr lang="en-US" kern="0" dirty="0">
                <a:solidFill>
                  <a:schemeClr val="tx2"/>
                </a:solidFill>
              </a:rPr>
              <a:t>color criterion </a:t>
            </a:r>
            <a:r>
              <a:rPr lang="en-US" kern="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62385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/>
      <p:bldP spid="9" grpId="0" animBg="1" autoUpdateAnimBg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0DD0FB2-688D-4A83-A4E6-B9CE6EF0222C}" type="slidenum">
              <a:rPr lang="en-US" sz="900" b="0">
                <a:solidFill>
                  <a:schemeClr val="tx1"/>
                </a:solidFill>
              </a:rPr>
              <a:pPr/>
              <a:t>37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 Level</a:t>
            </a:r>
          </a:p>
        </p:txBody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3262314"/>
            <a:ext cx="8867775" cy="3114675"/>
          </a:xfrm>
        </p:spPr>
        <p:txBody>
          <a:bodyPr/>
          <a:lstStyle/>
          <a:p>
            <a:r>
              <a:rPr lang="en-US" dirty="0"/>
              <a:t>T2 on the previous slide satisfies 4 of 6 test requirements</a:t>
            </a:r>
          </a:p>
        </p:txBody>
      </p:sp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2114550" y="1281114"/>
            <a:ext cx="7962900" cy="954107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The ratio of the number of test requirements satisfied by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to the size of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TR</a:t>
            </a:r>
          </a:p>
        </p:txBody>
      </p:sp>
    </p:spTree>
    <p:extLst>
      <p:ext uri="{BB962C8B-B14F-4D97-AF65-F5344CB8AC3E}">
        <p14:creationId xmlns:p14="http://schemas.microsoft.com/office/powerpoint/2010/main" val="124655312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5EBC936-9FF8-4D90-95B6-FCF503B2F735}" type="slidenum">
              <a:rPr lang="en-US" sz="900" b="0">
                <a:solidFill>
                  <a:schemeClr val="tx1"/>
                </a:solidFill>
              </a:rPr>
              <a:pPr/>
              <a:t>38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Ways to Use Test Criteria</a:t>
            </a:r>
          </a:p>
        </p:txBody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04875"/>
            <a:ext cx="8867775" cy="4197350"/>
          </a:xfrm>
        </p:spPr>
        <p:txBody>
          <a:bodyPr/>
          <a:lstStyle/>
          <a:p>
            <a:pPr marL="457200" indent="-457200">
              <a:buClr>
                <a:schemeClr val="tx1"/>
              </a:buClr>
              <a:buSzTx/>
              <a:buFont typeface="Monotype Sorts" charset="2"/>
              <a:buAutoNum type="arabicPeriod"/>
            </a:pPr>
            <a:r>
              <a:rPr lang="en-US" dirty="0">
                <a:solidFill>
                  <a:srgbClr val="FFFF00"/>
                </a:solidFill>
              </a:rPr>
              <a:t>Directly generate</a:t>
            </a:r>
            <a:r>
              <a:rPr lang="en-US" dirty="0"/>
              <a:t> test values </a:t>
            </a:r>
            <a:r>
              <a:rPr lang="en-US" dirty="0">
                <a:solidFill>
                  <a:srgbClr val="FFFF00"/>
                </a:solidFill>
              </a:rPr>
              <a:t>to satisfy</a:t>
            </a:r>
            <a:r>
              <a:rPr lang="en-US" dirty="0"/>
              <a:t> the criterion</a:t>
            </a:r>
          </a:p>
          <a:p>
            <a:pPr marL="857250" lvl="1" indent="-457200">
              <a:buClr>
                <a:schemeClr val="tx1"/>
              </a:buClr>
              <a:buSzTx/>
            </a:pPr>
            <a:r>
              <a:rPr lang="en-US" dirty="0"/>
              <a:t>Often assumed by the research community</a:t>
            </a:r>
          </a:p>
          <a:p>
            <a:pPr marL="857250" lvl="1" indent="-457200">
              <a:buClr>
                <a:schemeClr val="tx1"/>
              </a:buClr>
              <a:buSzTx/>
            </a:pPr>
            <a:r>
              <a:rPr lang="en-US" dirty="0"/>
              <a:t>Most obvious way to use criteria</a:t>
            </a:r>
          </a:p>
          <a:p>
            <a:pPr marL="857250" lvl="1" indent="-457200">
              <a:buClr>
                <a:schemeClr val="tx1"/>
              </a:buClr>
              <a:buSzTx/>
            </a:pPr>
            <a:r>
              <a:rPr lang="en-US" dirty="0"/>
              <a:t>Very hard without automated tools</a:t>
            </a:r>
          </a:p>
          <a:p>
            <a:pPr marL="457200" indent="-457200">
              <a:buClr>
                <a:schemeClr val="tx1"/>
              </a:buClr>
              <a:buSzTx/>
              <a:buFont typeface="Monotype Sorts" charset="2"/>
              <a:buAutoNum type="arabicPeriod"/>
            </a:pPr>
            <a:r>
              <a:rPr lang="en-US" dirty="0"/>
              <a:t>Generate test values </a:t>
            </a:r>
            <a:r>
              <a:rPr lang="en-US" dirty="0">
                <a:solidFill>
                  <a:srgbClr val="FFFF00"/>
                </a:solidFill>
              </a:rPr>
              <a:t>externally</a:t>
            </a:r>
            <a:r>
              <a:rPr lang="en-US" dirty="0"/>
              <a:t> and </a:t>
            </a:r>
            <a:r>
              <a:rPr lang="en-US" dirty="0">
                <a:solidFill>
                  <a:srgbClr val="FFFF00"/>
                </a:solidFill>
              </a:rPr>
              <a:t>measure</a:t>
            </a:r>
            <a:r>
              <a:rPr lang="en-US" dirty="0"/>
              <a:t> against the criterion</a:t>
            </a:r>
          </a:p>
          <a:p>
            <a:pPr marL="838200" lvl="1" indent="-381000">
              <a:buClr>
                <a:schemeClr val="tx1"/>
              </a:buClr>
            </a:pPr>
            <a:r>
              <a:rPr lang="en-US" sz="2800" dirty="0"/>
              <a:t>Usually favored by industry</a:t>
            </a:r>
          </a:p>
          <a:p>
            <a:pPr marL="838200" lvl="1" indent="-381000">
              <a:buClr>
                <a:schemeClr val="tx1"/>
              </a:buClr>
            </a:pPr>
            <a:r>
              <a:rPr lang="en-US" sz="2800" dirty="0"/>
              <a:t>Sometimes misleading</a:t>
            </a:r>
          </a:p>
          <a:p>
            <a:pPr marL="838200" lvl="1" indent="-381000">
              <a:buClr>
                <a:schemeClr val="tx1"/>
              </a:buClr>
            </a:pPr>
            <a:r>
              <a:rPr lang="en-US" sz="2800" dirty="0"/>
              <a:t>If tests do not reach 100% coverage, what does that mean?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349501" y="5514694"/>
            <a:ext cx="7472363" cy="584775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457200" indent="-457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en-US" sz="3200" dirty="0">
                <a:latin typeface="Gill Sans MT" panose="020B0502020104020203" pitchFamily="34" charset="0"/>
              </a:rPr>
              <a:t>Test criteria are sometimes called </a:t>
            </a:r>
            <a:r>
              <a:rPr lang="en-US" sz="3200" u="sng" dirty="0">
                <a:solidFill>
                  <a:srgbClr val="FFFF00"/>
                </a:solidFill>
                <a:latin typeface="Gill Sans MT" panose="020B0502020104020203" pitchFamily="34" charset="0"/>
              </a:rPr>
              <a:t>metrics</a:t>
            </a:r>
          </a:p>
        </p:txBody>
      </p:sp>
    </p:spTree>
    <p:extLst>
      <p:ext uri="{BB962C8B-B14F-4D97-AF65-F5344CB8AC3E}">
        <p14:creationId xmlns:p14="http://schemas.microsoft.com/office/powerpoint/2010/main" val="23999012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BD42C09-832A-4A00-93DF-7CD5099D4879}" type="slidenum">
              <a:rPr lang="en-US" sz="900" b="0">
                <a:solidFill>
                  <a:schemeClr val="tx1"/>
                </a:solidFill>
              </a:rPr>
              <a:pPr/>
              <a:t>39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Generators and Recognizers</a:t>
            </a:r>
          </a:p>
        </p:txBody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815976"/>
            <a:ext cx="8867775" cy="556101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Generator</a:t>
            </a:r>
            <a:r>
              <a:rPr lang="en-US" dirty="0"/>
              <a:t> : A procedure that automatically generates values to satisfy a criterion</a:t>
            </a:r>
          </a:p>
          <a:p>
            <a:r>
              <a:rPr lang="en-US" dirty="0">
                <a:solidFill>
                  <a:schemeClr val="tx2"/>
                </a:solidFill>
              </a:rPr>
              <a:t>Recognizer</a:t>
            </a:r>
            <a:r>
              <a:rPr lang="en-US" dirty="0"/>
              <a:t> : A procedure that decides whether a given set of test values satisfies a criterion</a:t>
            </a:r>
          </a:p>
          <a:p>
            <a:endParaRPr lang="en-US" dirty="0"/>
          </a:p>
          <a:p>
            <a:r>
              <a:rPr lang="en-US" dirty="0"/>
              <a:t>Both problems are provably </a:t>
            </a:r>
            <a:r>
              <a:rPr lang="en-US" dirty="0" err="1">
                <a:solidFill>
                  <a:schemeClr val="tx2"/>
                </a:solidFill>
              </a:rPr>
              <a:t>undecidable</a:t>
            </a:r>
            <a:r>
              <a:rPr lang="en-US" dirty="0"/>
              <a:t> for most criteria</a:t>
            </a:r>
          </a:p>
          <a:p>
            <a:r>
              <a:rPr lang="en-US" dirty="0"/>
              <a:t>It is possible to recognize whether test cases satisfy a criterion far more often than it is possible to generate tests that satisfy the criterion</a:t>
            </a:r>
          </a:p>
          <a:p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Coverage analysis tools</a:t>
            </a:r>
            <a:r>
              <a:rPr lang="en-US" dirty="0"/>
              <a:t> are quite plentiful</a:t>
            </a:r>
          </a:p>
        </p:txBody>
      </p:sp>
    </p:spTree>
    <p:extLst>
      <p:ext uri="{BB962C8B-B14F-4D97-AF65-F5344CB8AC3E}">
        <p14:creationId xmlns:p14="http://schemas.microsoft.com/office/powerpoint/2010/main" val="1905332714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AE6AAB0-7F1E-4EF5-A1A8-404EFC1BBC4A}" type="slidenum">
              <a:rPr lang="en-US" sz="900" b="0">
                <a:solidFill>
                  <a:schemeClr val="tx1"/>
                </a:solidFill>
              </a:rPr>
              <a:pPr/>
              <a:t>40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25" y="96838"/>
            <a:ext cx="9048750" cy="1322888"/>
          </a:xfrm>
        </p:spPr>
        <p:txBody>
          <a:bodyPr/>
          <a:lstStyle/>
          <a:p>
            <a:r>
              <a:rPr lang="en-US" dirty="0"/>
              <a:t>Comparing Criteria with </a:t>
            </a:r>
            <a:r>
              <a:rPr lang="en-US" dirty="0" err="1"/>
              <a:t>Subsumption</a:t>
            </a:r>
            <a:r>
              <a:rPr lang="en-US" dirty="0"/>
              <a:t> (</a:t>
            </a:r>
            <a:r>
              <a:rPr lang="en-US" altLang="zh-CN" dirty="0"/>
              <a:t>5.2)</a:t>
            </a:r>
            <a:endParaRPr lang="en-US" dirty="0"/>
          </a:p>
        </p:txBody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467853"/>
            <a:ext cx="8867775" cy="4909135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Criteria </a:t>
            </a:r>
            <a:r>
              <a:rPr lang="en-US" dirty="0" err="1">
                <a:solidFill>
                  <a:schemeClr val="tx2"/>
                </a:solidFill>
              </a:rPr>
              <a:t>Subsumption</a:t>
            </a:r>
            <a:r>
              <a:rPr lang="en-US" dirty="0"/>
              <a:t> : A test criterion </a:t>
            </a:r>
            <a:r>
              <a:rPr lang="en-US" i="1" dirty="0"/>
              <a:t>C1</a:t>
            </a:r>
            <a:r>
              <a:rPr lang="en-US" dirty="0"/>
              <a:t> subsumes </a:t>
            </a:r>
            <a:r>
              <a:rPr lang="en-US" i="1" dirty="0"/>
              <a:t>C2</a:t>
            </a:r>
            <a:r>
              <a:rPr lang="en-US" dirty="0"/>
              <a:t> if and only if every set of test cases that satisfies criterion </a:t>
            </a:r>
            <a:r>
              <a:rPr lang="en-US" i="1" dirty="0"/>
              <a:t>C1</a:t>
            </a:r>
            <a:r>
              <a:rPr lang="en-US" dirty="0"/>
              <a:t> also satisfies </a:t>
            </a:r>
            <a:r>
              <a:rPr lang="en-US" i="1" dirty="0"/>
              <a:t>C2</a:t>
            </a:r>
            <a:endParaRPr lang="en-US" dirty="0"/>
          </a:p>
          <a:p>
            <a:r>
              <a:rPr lang="en-US" dirty="0"/>
              <a:t>Must be true for </a:t>
            </a:r>
            <a:r>
              <a:rPr lang="en-US" dirty="0">
                <a:solidFill>
                  <a:schemeClr val="tx2"/>
                </a:solidFill>
              </a:rPr>
              <a:t>every set</a:t>
            </a:r>
            <a:r>
              <a:rPr lang="en-US" dirty="0"/>
              <a:t> of test cases</a:t>
            </a:r>
          </a:p>
          <a:p>
            <a:r>
              <a:rPr lang="en-US" i="1" dirty="0">
                <a:solidFill>
                  <a:schemeClr val="tx2"/>
                </a:solidFill>
              </a:rPr>
              <a:t>Examples</a:t>
            </a:r>
            <a:r>
              <a:rPr lang="en-US" dirty="0"/>
              <a:t> :</a:t>
            </a:r>
          </a:p>
          <a:p>
            <a:pPr lvl="1"/>
            <a:r>
              <a:rPr lang="en-US" dirty="0"/>
              <a:t>The flavor criterion on jelly beans subsumes the color criterion … if we taste every flavor we taste one of every color</a:t>
            </a:r>
          </a:p>
          <a:p>
            <a:pPr lvl="1"/>
            <a:r>
              <a:rPr lang="en-US" dirty="0"/>
              <a:t>If a test set has covered every branch in a program (satisfied the branch criterion), then the test set is guaranteed to also have covered every statement</a:t>
            </a:r>
          </a:p>
        </p:txBody>
      </p:sp>
    </p:spTree>
    <p:extLst>
      <p:ext uri="{BB962C8B-B14F-4D97-AF65-F5344CB8AC3E}">
        <p14:creationId xmlns:p14="http://schemas.microsoft.com/office/powerpoint/2010/main" val="3281496003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25" y="96839"/>
            <a:ext cx="9048750" cy="1336177"/>
          </a:xfrm>
        </p:spPr>
        <p:txBody>
          <a:bodyPr/>
          <a:lstStyle/>
          <a:p>
            <a:r>
              <a:rPr lang="en-US" dirty="0"/>
              <a:t>Characteristics of a Good Coverage Criterion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0" y="1542197"/>
            <a:ext cx="8966200" cy="216999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It should be fairly easy to compute test requirements </a:t>
            </a:r>
            <a:r>
              <a:rPr lang="en-US" dirty="0">
                <a:solidFill>
                  <a:schemeClr val="tx2"/>
                </a:solidFill>
              </a:rPr>
              <a:t>automatically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should be </a:t>
            </a:r>
            <a:r>
              <a:rPr lang="en-US" dirty="0">
                <a:solidFill>
                  <a:schemeClr val="tx2"/>
                </a:solidFill>
              </a:rPr>
              <a:t>efficient to generate</a:t>
            </a:r>
            <a:r>
              <a:rPr lang="en-US" dirty="0"/>
              <a:t> test values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resulting tests should reveal as many </a:t>
            </a:r>
            <a:r>
              <a:rPr lang="en-US" dirty="0">
                <a:solidFill>
                  <a:schemeClr val="tx2"/>
                </a:solidFill>
              </a:rPr>
              <a:t>faults</a:t>
            </a:r>
            <a:r>
              <a:rPr lang="en-US" dirty="0"/>
              <a:t> as possible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605888" y="4162567"/>
            <a:ext cx="8966200" cy="185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 charset="2"/>
              <a:buChar char="n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 err="1"/>
              <a:t>Subsumption</a:t>
            </a:r>
            <a:r>
              <a:rPr lang="en-US" kern="0" dirty="0"/>
              <a:t> is only a </a:t>
            </a:r>
            <a:r>
              <a:rPr lang="en-US" kern="0" dirty="0">
                <a:solidFill>
                  <a:schemeClr val="tx2"/>
                </a:solidFill>
              </a:rPr>
              <a:t>rough approximation </a:t>
            </a:r>
            <a:r>
              <a:rPr lang="en-US" kern="0" dirty="0"/>
              <a:t>of fault revealing capability</a:t>
            </a:r>
          </a:p>
          <a:p>
            <a:r>
              <a:rPr lang="en-US" kern="0" dirty="0"/>
              <a:t>Researchers still need to gives us more data on how to </a:t>
            </a:r>
            <a:r>
              <a:rPr lang="en-US" kern="0" dirty="0">
                <a:solidFill>
                  <a:schemeClr val="tx2"/>
                </a:solidFill>
              </a:rPr>
              <a:t>compare</a:t>
            </a:r>
            <a:r>
              <a:rPr lang="en-US" kern="0" dirty="0"/>
              <a:t> coverage criteria</a:t>
            </a:r>
          </a:p>
        </p:txBody>
      </p:sp>
    </p:spTree>
    <p:extLst>
      <p:ext uri="{BB962C8B-B14F-4D97-AF65-F5344CB8AC3E}">
        <p14:creationId xmlns:p14="http://schemas.microsoft.com/office/powerpoint/2010/main" val="3570080219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>
          <a:xfrm>
            <a:off x="373380" y="96839"/>
            <a:ext cx="11696700" cy="1376855"/>
          </a:xfrm>
        </p:spPr>
        <p:txBody>
          <a:bodyPr/>
          <a:lstStyle/>
          <a:p>
            <a:r>
              <a:rPr lang="en-US" dirty="0"/>
              <a:t>Advantages of Criteria-Based Test Design (5.3)</a:t>
            </a:r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>
          <a:xfrm>
            <a:off x="1619250" y="1349894"/>
            <a:ext cx="8966200" cy="5029451"/>
          </a:xfrm>
        </p:spPr>
        <p:txBody>
          <a:bodyPr/>
          <a:lstStyle/>
          <a:p>
            <a:r>
              <a:rPr lang="en-US" dirty="0"/>
              <a:t> Criteria maximize the “</a:t>
            </a:r>
            <a:r>
              <a:rPr lang="en-US" dirty="0">
                <a:solidFill>
                  <a:schemeClr val="tx2"/>
                </a:solidFill>
              </a:rPr>
              <a:t>bang for the buck</a:t>
            </a:r>
            <a:r>
              <a:rPr lang="en-US" dirty="0"/>
              <a:t>”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Fewer</a:t>
            </a:r>
            <a:r>
              <a:rPr lang="en-US" dirty="0"/>
              <a:t> tests that are </a:t>
            </a:r>
            <a:r>
              <a:rPr lang="en-US" dirty="0">
                <a:solidFill>
                  <a:schemeClr val="tx2"/>
                </a:solidFill>
              </a:rPr>
              <a:t>more effective</a:t>
            </a:r>
            <a:r>
              <a:rPr lang="en-US" dirty="0"/>
              <a:t> at finding faults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Comprehensive</a:t>
            </a:r>
            <a:r>
              <a:rPr lang="en-US" dirty="0"/>
              <a:t> test set with minimal overlap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chemeClr val="tx2"/>
                </a:solidFill>
              </a:rPr>
              <a:t>Traceability</a:t>
            </a:r>
            <a:r>
              <a:rPr lang="en-US" dirty="0"/>
              <a:t> from software artifacts to tests</a:t>
            </a:r>
          </a:p>
          <a:p>
            <a:pPr lvl="1"/>
            <a:r>
              <a:rPr lang="en-US" altLang="zh-CN" dirty="0"/>
              <a:t>Source, requirements, design models, …</a:t>
            </a:r>
          </a:p>
          <a:p>
            <a:pPr lvl="1"/>
            <a:r>
              <a:rPr lang="en-US" dirty="0"/>
              <a:t>The “</a:t>
            </a:r>
            <a:r>
              <a:rPr lang="en-US" dirty="0">
                <a:solidFill>
                  <a:schemeClr val="tx2"/>
                </a:solidFill>
              </a:rPr>
              <a:t>why</a:t>
            </a:r>
            <a:r>
              <a:rPr lang="en-US" dirty="0"/>
              <a:t>” for each test is answered</a:t>
            </a:r>
          </a:p>
          <a:p>
            <a:pPr lvl="1"/>
            <a:r>
              <a:rPr lang="en-US" dirty="0"/>
              <a:t>Built-in support for </a:t>
            </a:r>
            <a:r>
              <a:rPr lang="en-US" dirty="0">
                <a:solidFill>
                  <a:schemeClr val="tx2"/>
                </a:solidFill>
              </a:rPr>
              <a:t>regression testing</a:t>
            </a:r>
          </a:p>
          <a:p>
            <a:r>
              <a:rPr lang="en-US" dirty="0"/>
              <a:t> A “</a:t>
            </a:r>
            <a:r>
              <a:rPr lang="en-US" dirty="0">
                <a:solidFill>
                  <a:schemeClr val="tx2"/>
                </a:solidFill>
              </a:rPr>
              <a:t>stopping rule</a:t>
            </a:r>
            <a:r>
              <a:rPr lang="en-US" dirty="0"/>
              <a:t>” for testing—advance knowledge of </a:t>
            </a:r>
            <a:r>
              <a:rPr lang="en-US" dirty="0">
                <a:solidFill>
                  <a:schemeClr val="tx2"/>
                </a:solidFill>
              </a:rPr>
              <a:t>how many tests</a:t>
            </a:r>
            <a:r>
              <a:rPr lang="en-US" dirty="0"/>
              <a:t> are needed</a:t>
            </a:r>
          </a:p>
          <a:p>
            <a:r>
              <a:rPr lang="en-US" dirty="0"/>
              <a:t> Natural to </a:t>
            </a:r>
            <a:r>
              <a:rPr lang="en-US" dirty="0">
                <a:solidFill>
                  <a:schemeClr val="tx2"/>
                </a:solidFill>
              </a:rPr>
              <a:t>automate</a:t>
            </a:r>
          </a:p>
          <a:p>
            <a:pPr lvl="1"/>
            <a:r>
              <a:rPr lang="en-US" altLang="zh-CN" dirty="0"/>
              <a:t>Can be well supported with powerful tools</a:t>
            </a:r>
          </a:p>
        </p:txBody>
      </p:sp>
      <p:sp>
        <p:nvSpPr>
          <p:cNvPr id="921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FF04DF6-E707-4B02-9D0E-1A35812AA008}" type="slidenum">
              <a:rPr lang="en-US" sz="900" b="0">
                <a:solidFill>
                  <a:schemeClr val="tx1"/>
                </a:solidFill>
              </a:rPr>
              <a:pPr/>
              <a:t>42</a:t>
            </a:fld>
            <a:endParaRPr lang="en-US" sz="9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85798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Small Illustrative Example</a:t>
            </a: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7945C97-E72E-4B32-BAA0-F266F83C4D0D}" type="slidenum">
              <a:rPr lang="zh-CN" altLang="en-US" sz="800" b="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rPr>
              <a:pPr/>
              <a:t>43</a:t>
            </a:fld>
            <a:endParaRPr lang="en-US" altLang="zh-CN" sz="800" b="0" dirty="0">
              <a:solidFill>
                <a:schemeClr val="tx1"/>
              </a:solidFill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62320" y="1659345"/>
            <a:ext cx="5366565" cy="431958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2"/>
                </a:solidFill>
                <a:latin typeface="Comic Sans MS" pitchFamily="66" charset="0"/>
              </a:rPr>
              <a:t>Software Artifact : Java Method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/**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* Return index of node n at the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* first position it appears,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* -1 if it is not present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*/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indexOf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(Node n)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for 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=0;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&lt;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path.size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();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++)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if 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path.get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).equals(n))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       return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return -1;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7187162" y="1637121"/>
            <a:ext cx="3275013" cy="4302383"/>
            <a:chOff x="5558790" y="1680210"/>
            <a:chExt cx="3516630" cy="4301464"/>
          </a:xfrm>
        </p:grpSpPr>
        <p:sp>
          <p:nvSpPr>
            <p:cNvPr id="26" name="Oval 25"/>
            <p:cNvSpPr/>
            <p:nvPr/>
          </p:nvSpPr>
          <p:spPr>
            <a:xfrm>
              <a:off x="5669591" y="5051339"/>
              <a:ext cx="593207" cy="617406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7822524" y="5056101"/>
              <a:ext cx="593207" cy="617405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7897528" y="5143394"/>
              <a:ext cx="434678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749707" y="5143394"/>
              <a:ext cx="434678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113403" y="4245062"/>
              <a:ext cx="434678" cy="43329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6365075" y="3299114"/>
              <a:ext cx="434677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6365075" y="2376974"/>
              <a:ext cx="434677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1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rot="5400000">
              <a:off x="6337991" y="3055426"/>
              <a:ext cx="488845" cy="17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2" idx="3"/>
              <a:endCxn id="10" idx="0"/>
            </p:cNvCxnSpPr>
            <p:nvPr/>
          </p:nvCxnSpPr>
          <p:spPr>
            <a:xfrm rot="5400000">
              <a:off x="5460728" y="4175976"/>
              <a:ext cx="1472885" cy="461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1" idx="5"/>
              <a:endCxn id="9" idx="1"/>
            </p:cNvCxnSpPr>
            <p:nvPr/>
          </p:nvCxnSpPr>
          <p:spPr>
            <a:xfrm rot="16200000" flipH="1">
              <a:off x="7426799" y="4671377"/>
              <a:ext cx="592010" cy="4789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" idx="5"/>
              <a:endCxn id="11" idx="1"/>
            </p:cNvCxnSpPr>
            <p:nvPr/>
          </p:nvCxnSpPr>
          <p:spPr>
            <a:xfrm rot="16200000" flipH="1">
              <a:off x="6636706" y="3768780"/>
              <a:ext cx="638039" cy="4414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55" name="TextBox 27"/>
            <p:cNvSpPr txBox="1">
              <a:spLocks noChangeArrowheads="1"/>
            </p:cNvSpPr>
            <p:nvPr/>
          </p:nvSpPr>
          <p:spPr bwMode="auto">
            <a:xfrm>
              <a:off x="6777990" y="2377440"/>
              <a:ext cx="960120" cy="4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i = 0</a:t>
              </a:r>
            </a:p>
          </p:txBody>
        </p:sp>
        <p:sp>
          <p:nvSpPr>
            <p:cNvPr id="39956" name="TextBox 29"/>
            <p:cNvSpPr txBox="1">
              <a:spLocks noChangeArrowheads="1"/>
            </p:cNvSpPr>
            <p:nvPr/>
          </p:nvSpPr>
          <p:spPr bwMode="auto">
            <a:xfrm>
              <a:off x="6762750" y="3425190"/>
              <a:ext cx="2312670" cy="4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i &lt; path.size()</a:t>
              </a:r>
            </a:p>
          </p:txBody>
        </p:sp>
        <p:sp>
          <p:nvSpPr>
            <p:cNvPr id="39957" name="TextBox 30"/>
            <p:cNvSpPr txBox="1">
              <a:spLocks noChangeArrowheads="1"/>
            </p:cNvSpPr>
            <p:nvPr/>
          </p:nvSpPr>
          <p:spPr bwMode="auto">
            <a:xfrm>
              <a:off x="7452360" y="4171950"/>
              <a:ext cx="617220" cy="4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if</a:t>
              </a:r>
            </a:p>
          </p:txBody>
        </p:sp>
        <p:sp>
          <p:nvSpPr>
            <p:cNvPr id="39958" name="TextBox 31"/>
            <p:cNvSpPr txBox="1">
              <a:spLocks noChangeArrowheads="1"/>
            </p:cNvSpPr>
            <p:nvPr/>
          </p:nvSpPr>
          <p:spPr bwMode="auto">
            <a:xfrm>
              <a:off x="7418071" y="5581650"/>
              <a:ext cx="1440180" cy="4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return i</a:t>
              </a:r>
            </a:p>
          </p:txBody>
        </p:sp>
        <p:sp>
          <p:nvSpPr>
            <p:cNvPr id="39959" name="TextBox 32"/>
            <p:cNvSpPr txBox="1">
              <a:spLocks noChangeArrowheads="1"/>
            </p:cNvSpPr>
            <p:nvPr/>
          </p:nvSpPr>
          <p:spPr bwMode="auto">
            <a:xfrm>
              <a:off x="5558790" y="5574030"/>
              <a:ext cx="1630680" cy="4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return -1</a:t>
              </a:r>
            </a:p>
          </p:txBody>
        </p:sp>
        <p:cxnSp>
          <p:nvCxnSpPr>
            <p:cNvPr id="35" name="Curved Connector 34"/>
            <p:cNvCxnSpPr>
              <a:stCxn id="11" idx="4"/>
            </p:cNvCxnSpPr>
            <p:nvPr/>
          </p:nvCxnSpPr>
          <p:spPr>
            <a:xfrm rot="5400000" flipH="1">
              <a:off x="6509000" y="3857465"/>
              <a:ext cx="895159" cy="746623"/>
            </a:xfrm>
            <a:prstGeom prst="curvedConnector3">
              <a:avLst>
                <a:gd name="adj1" fmla="val -2553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61" name="TextBox 35"/>
            <p:cNvSpPr txBox="1">
              <a:spLocks noChangeArrowheads="1"/>
            </p:cNvSpPr>
            <p:nvPr/>
          </p:nvSpPr>
          <p:spPr bwMode="auto">
            <a:xfrm>
              <a:off x="5711190" y="1680210"/>
              <a:ext cx="3009900" cy="40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solidFill>
                    <a:schemeClr val="tx2"/>
                  </a:solidFill>
                  <a:latin typeface="Comic Sans MS" pitchFamily="66" charset="0"/>
                </a:rPr>
                <a:t>Control Flow Graph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52957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(2)</a:t>
            </a:r>
          </a:p>
        </p:txBody>
      </p:sp>
      <p:sp>
        <p:nvSpPr>
          <p:cNvPr id="409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F82D078-A5B8-49E3-A03F-1C792F8537DA}" type="slidenum">
              <a:rPr lang="zh-CN" altLang="en-US" sz="800" b="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rPr>
              <a:pPr/>
              <a:t>44</a:t>
            </a:fld>
            <a:endParaRPr lang="en-US" altLang="zh-CN" sz="800" b="0">
              <a:solidFill>
                <a:schemeClr val="tx1"/>
              </a:solidFill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0966" name="TextBox 6"/>
          <p:cNvSpPr txBox="1">
            <a:spLocks noChangeArrowheads="1"/>
          </p:cNvSpPr>
          <p:nvPr/>
        </p:nvSpPr>
        <p:spPr bwMode="auto">
          <a:xfrm>
            <a:off x="2495550" y="914401"/>
            <a:ext cx="7200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2400" dirty="0"/>
              <a:t>Support tool for graph coverage</a:t>
            </a:r>
          </a:p>
          <a:p>
            <a:r>
              <a:rPr lang="en-US" sz="2400" u="sng" dirty="0">
                <a:hlinkClick r:id="rId2"/>
              </a:rPr>
              <a:t>http://www.cs.gmu.edu/~offutt/softwaretest/</a:t>
            </a:r>
            <a:endParaRPr lang="en-US" sz="2400" u="sng" dirty="0">
              <a:hlinkClick r:id="rId3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692276" y="2274889"/>
            <a:ext cx="3413125" cy="4129087"/>
            <a:chOff x="167640" y="2274570"/>
            <a:chExt cx="3413760" cy="4130040"/>
          </a:xfrm>
        </p:grpSpPr>
        <p:sp>
          <p:nvSpPr>
            <p:cNvPr id="9" name="Oval 8"/>
            <p:cNvSpPr/>
            <p:nvPr/>
          </p:nvSpPr>
          <p:spPr>
            <a:xfrm>
              <a:off x="834514" y="5783755"/>
              <a:ext cx="593835" cy="617680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987565" y="5786930"/>
              <a:ext cx="593835" cy="617680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063779" y="5874263"/>
              <a:ext cx="433469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913904" y="5874263"/>
              <a:ext cx="435056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277821" y="4975530"/>
              <a:ext cx="435056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529968" y="4030750"/>
              <a:ext cx="433469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29968" y="3108199"/>
              <a:ext cx="433469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1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rot="5400000">
              <a:off x="1502965" y="3787806"/>
              <a:ext cx="487474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4" idx="3"/>
              <a:endCxn id="12" idx="0"/>
            </p:cNvCxnSpPr>
            <p:nvPr/>
          </p:nvCxnSpPr>
          <p:spPr>
            <a:xfrm rot="5400000">
              <a:off x="626480" y="4907263"/>
              <a:ext cx="1471952" cy="46204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3" idx="5"/>
              <a:endCxn id="11" idx="1"/>
            </p:cNvCxnSpPr>
            <p:nvPr/>
          </p:nvCxnSpPr>
          <p:spPr>
            <a:xfrm rot="16200000" flipH="1">
              <a:off x="2592191" y="5404265"/>
              <a:ext cx="592275" cy="4779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4" idx="5"/>
              <a:endCxn id="13" idx="1"/>
            </p:cNvCxnSpPr>
            <p:nvPr/>
          </p:nvCxnSpPr>
          <p:spPr>
            <a:xfrm rot="16200000" flipH="1">
              <a:off x="1802262" y="4499974"/>
              <a:ext cx="636734" cy="4414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urved Connector 24"/>
            <p:cNvCxnSpPr>
              <a:stCxn id="13" idx="4"/>
            </p:cNvCxnSpPr>
            <p:nvPr/>
          </p:nvCxnSpPr>
          <p:spPr>
            <a:xfrm rot="5400000" flipH="1">
              <a:off x="1674438" y="4589695"/>
              <a:ext cx="895557" cy="746264"/>
            </a:xfrm>
            <a:prstGeom prst="curvedConnector3">
              <a:avLst>
                <a:gd name="adj1" fmla="val -2553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4" name="TextBox 25"/>
            <p:cNvSpPr txBox="1">
              <a:spLocks noChangeArrowheads="1"/>
            </p:cNvSpPr>
            <p:nvPr/>
          </p:nvSpPr>
          <p:spPr bwMode="auto">
            <a:xfrm>
              <a:off x="167640" y="2274570"/>
              <a:ext cx="30099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tx2"/>
                  </a:solidFill>
                  <a:latin typeface="Comic Sans MS" pitchFamily="66" charset="0"/>
                </a:rPr>
                <a:t>Graph</a:t>
              </a:r>
            </a:p>
            <a:p>
              <a:pPr algn="ctr"/>
              <a:r>
                <a:rPr lang="en-US" sz="2400">
                  <a:solidFill>
                    <a:schemeClr val="tx2"/>
                  </a:solidFill>
                  <a:latin typeface="Comic Sans MS" pitchFamily="66" charset="0"/>
                </a:rPr>
                <a:t>Abstract version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818064" y="1866900"/>
            <a:ext cx="2420937" cy="304800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Edges</a:t>
            </a:r>
          </a:p>
          <a:p>
            <a:pPr>
              <a:defRPr/>
            </a:pPr>
            <a:r>
              <a:rPr lang="en-US" sz="2400" dirty="0"/>
              <a:t>1 2</a:t>
            </a:r>
          </a:p>
          <a:p>
            <a:pPr>
              <a:defRPr/>
            </a:pPr>
            <a:r>
              <a:rPr lang="en-US" sz="2400" dirty="0"/>
              <a:t>2 3</a:t>
            </a:r>
          </a:p>
          <a:p>
            <a:pPr>
              <a:defRPr/>
            </a:pPr>
            <a:r>
              <a:rPr lang="en-US" sz="2400" dirty="0"/>
              <a:t>3 2</a:t>
            </a:r>
          </a:p>
          <a:p>
            <a:pPr>
              <a:defRPr/>
            </a:pPr>
            <a:r>
              <a:rPr lang="en-US" sz="2400" dirty="0"/>
              <a:t>3 4</a:t>
            </a:r>
          </a:p>
          <a:p>
            <a:pPr>
              <a:defRPr/>
            </a:pPr>
            <a:r>
              <a:rPr lang="en-US" sz="2400" dirty="0"/>
              <a:t>2 5</a:t>
            </a:r>
          </a:p>
          <a:p>
            <a:pPr>
              <a:defRPr/>
            </a:pPr>
            <a:r>
              <a:rPr lang="en-US" sz="2400" dirty="0"/>
              <a:t>Initial Node: 1</a:t>
            </a:r>
          </a:p>
          <a:p>
            <a:pPr>
              <a:defRPr/>
            </a:pPr>
            <a:r>
              <a:rPr lang="en-US" sz="2400" dirty="0"/>
              <a:t>Final Nodes: 4,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6976" y="1855788"/>
            <a:ext cx="2874963" cy="304641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6 requirements for Edge-Pair Coverage</a:t>
            </a:r>
            <a:br>
              <a:rPr lang="en-US" sz="2400" dirty="0"/>
            </a:br>
            <a:r>
              <a:rPr lang="en-US" sz="2400" dirty="0"/>
              <a:t>1. [1, 2, 3]</a:t>
            </a:r>
            <a:br>
              <a:rPr lang="en-US" sz="2400" dirty="0"/>
            </a:br>
            <a:r>
              <a:rPr lang="en-US" sz="2400" dirty="0"/>
              <a:t>2. [1, 2, 5]</a:t>
            </a:r>
            <a:br>
              <a:rPr lang="en-US" sz="2400" dirty="0"/>
            </a:br>
            <a:r>
              <a:rPr lang="en-US" sz="2400" dirty="0"/>
              <a:t>3. [2, 3, 4]</a:t>
            </a:r>
            <a:br>
              <a:rPr lang="en-US" sz="2400" dirty="0"/>
            </a:br>
            <a:r>
              <a:rPr lang="en-US" sz="2400" dirty="0"/>
              <a:t>4. [2, 3, 2]</a:t>
            </a:r>
            <a:br>
              <a:rPr lang="en-US" sz="2400" dirty="0"/>
            </a:br>
            <a:r>
              <a:rPr lang="en-US" sz="2400" dirty="0"/>
              <a:t>5. [3, 2, 3]</a:t>
            </a:r>
            <a:br>
              <a:rPr lang="en-US" sz="2400" dirty="0"/>
            </a:br>
            <a:r>
              <a:rPr lang="en-US" sz="2400" dirty="0"/>
              <a:t>6. [3, 2, 5]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97575" y="5018089"/>
            <a:ext cx="2133600" cy="157003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Test Paths</a:t>
            </a:r>
          </a:p>
          <a:p>
            <a:pPr>
              <a:defRPr/>
            </a:pPr>
            <a:r>
              <a:rPr lang="en-US" sz="2400" dirty="0"/>
              <a:t>[1, 2, 5]</a:t>
            </a:r>
          </a:p>
          <a:p>
            <a:pPr>
              <a:defRPr/>
            </a:pPr>
            <a:r>
              <a:rPr lang="en-US" sz="2400" dirty="0"/>
              <a:t>[1, 2, 3, 2, 5]</a:t>
            </a:r>
          </a:p>
          <a:p>
            <a:pPr>
              <a:defRPr/>
            </a:pPr>
            <a:r>
              <a:rPr lang="en-US" sz="2400" dirty="0"/>
              <a:t>[1, 2, 3, 2, 3, 4]</a:t>
            </a:r>
          </a:p>
        </p:txBody>
      </p:sp>
      <p:sp>
        <p:nvSpPr>
          <p:cNvPr id="31" name="AutoShape 15"/>
          <p:cNvSpPr>
            <a:spLocks noChangeArrowheads="1"/>
          </p:cNvSpPr>
          <p:nvPr/>
        </p:nvSpPr>
        <p:spPr bwMode="auto">
          <a:xfrm>
            <a:off x="7902576" y="5497513"/>
            <a:ext cx="2708275" cy="742950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>
                <a:solidFill>
                  <a:schemeClr val="tx2"/>
                </a:solidFill>
                <a:latin typeface="Papyrus" pitchFamily="66" charset="0"/>
              </a:rPr>
              <a:t>Find values …</a:t>
            </a:r>
          </a:p>
        </p:txBody>
      </p:sp>
    </p:spTree>
    <p:extLst>
      <p:ext uri="{BB962C8B-B14F-4D97-AF65-F5344CB8AC3E}">
        <p14:creationId xmlns:p14="http://schemas.microsoft.com/office/powerpoint/2010/main" val="11122016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Activities in the Book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66EB8E7-A20D-45EE-BB93-29A7D168B8B9}" type="slidenum">
              <a:rPr lang="en-US" sz="800" b="0">
                <a:solidFill>
                  <a:schemeClr val="tx1"/>
                </a:solidFill>
                <a:latin typeface="Arial" panose="020B0604020202020204" pitchFamily="34" charset="0"/>
              </a:rPr>
              <a:pPr/>
              <a:t>45</a:t>
            </a:fld>
            <a:endParaRPr lang="en-US" sz="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396360" y="2387601"/>
            <a:ext cx="7388771" cy="1169551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Most of this book is about test design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Other activities are well covered elsewhere</a:t>
            </a:r>
          </a:p>
        </p:txBody>
      </p:sp>
    </p:spTree>
    <p:extLst>
      <p:ext uri="{BB962C8B-B14F-4D97-AF65-F5344CB8AC3E}">
        <p14:creationId xmlns:p14="http://schemas.microsoft.com/office/powerpoint/2010/main" val="41918633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intro">
  <a:themeElements>
    <a:clrScheme name="Custom 4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10811</TotalTime>
  <Pages>49</Pages>
  <Words>3390</Words>
  <Application>Microsoft Office PowerPoint</Application>
  <PresentationFormat>宽屏</PresentationFormat>
  <Paragraphs>536</Paragraphs>
  <Slides>45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8" baseType="lpstr">
      <vt:lpstr>Arial Unicode MS</vt:lpstr>
      <vt:lpstr>Gill Sans MT</vt:lpstr>
      <vt:lpstr>Monotype Sorts</vt:lpstr>
      <vt:lpstr>Arial</vt:lpstr>
      <vt:lpstr>Bradley Hand ITC</vt:lpstr>
      <vt:lpstr>Comic Sans MS</vt:lpstr>
      <vt:lpstr>Courier New</vt:lpstr>
      <vt:lpstr>Helvetica</vt:lpstr>
      <vt:lpstr>Papyrus</vt:lpstr>
      <vt:lpstr>Times New Roman</vt:lpstr>
      <vt:lpstr>Verdana</vt:lpstr>
      <vt:lpstr>Wingdings</vt:lpstr>
      <vt:lpstr>intro</vt:lpstr>
      <vt:lpstr>Chapter 1 Introduction</vt:lpstr>
      <vt:lpstr>本节课程目标</vt:lpstr>
      <vt:lpstr>Complexity of Testing Software</vt:lpstr>
      <vt:lpstr>Software Testing Foundations (2.1)</vt:lpstr>
      <vt:lpstr>Software Testing Activities (2.2)</vt:lpstr>
      <vt:lpstr>Traditional Testing Levels (2.3)</vt:lpstr>
      <vt:lpstr>Object-Oriented Testing Levels</vt:lpstr>
      <vt:lpstr>Old View : Colored Boxes</vt:lpstr>
      <vt:lpstr>Model-Driven Test Design (2.5)</vt:lpstr>
      <vt:lpstr>Types of Test Activities</vt:lpstr>
      <vt:lpstr>1. Test Design—(a) Criteria-Based</vt:lpstr>
      <vt:lpstr>1. Test Design—(b) Human-Based</vt:lpstr>
      <vt:lpstr>2. Test Automation</vt:lpstr>
      <vt:lpstr>Test Automation</vt:lpstr>
      <vt:lpstr>Test Automation Framework (3.3)</vt:lpstr>
      <vt:lpstr>Test Automation Framework (cont.)</vt:lpstr>
      <vt:lpstr>3. Test Execution</vt:lpstr>
      <vt:lpstr>4. Test Evaluation</vt:lpstr>
      <vt:lpstr>Other Activities</vt:lpstr>
      <vt:lpstr>Organizing the Team</vt:lpstr>
      <vt:lpstr>Do and Don’t</vt:lpstr>
      <vt:lpstr>Applying Test Activities</vt:lpstr>
      <vt:lpstr>Using MDTD in Practice</vt:lpstr>
      <vt:lpstr>Model-Driven Test Design</vt:lpstr>
      <vt:lpstr>Model-Driven Test Design – Steps</vt:lpstr>
      <vt:lpstr>Model-Driven Test Design–Activities</vt:lpstr>
      <vt:lpstr>Chapter 1 Introduction</vt:lpstr>
      <vt:lpstr>本节课程目标</vt:lpstr>
      <vt:lpstr>Coverage Criteria (2.4)</vt:lpstr>
      <vt:lpstr>Advantages of Coverage Criteria</vt:lpstr>
      <vt:lpstr>Test Requirements and Criteria</vt:lpstr>
      <vt:lpstr>Source of Structures</vt:lpstr>
      <vt:lpstr>Criteria Based on Structures</vt:lpstr>
      <vt:lpstr>Example : Jelly Bean Coverage</vt:lpstr>
      <vt:lpstr>Coverage</vt:lpstr>
      <vt:lpstr>More Jelly Beans</vt:lpstr>
      <vt:lpstr>Coverage Level</vt:lpstr>
      <vt:lpstr>Two Ways to Use Test Criteria</vt:lpstr>
      <vt:lpstr>Generators and Recognizers</vt:lpstr>
      <vt:lpstr>Comparing Criteria with Subsumption (5.2)</vt:lpstr>
      <vt:lpstr>Characteristics of a Good Coverage Criterion</vt:lpstr>
      <vt:lpstr>Advantages of Criteria-Based Test Design (5.3)</vt:lpstr>
      <vt:lpstr>Small Illustrative Example</vt:lpstr>
      <vt:lpstr>Example (2)</vt:lpstr>
      <vt:lpstr>Types of Activities in the Book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creator>Jeff Offutt</dc:creator>
  <cp:lastModifiedBy>Yue Zhang</cp:lastModifiedBy>
  <cp:revision>313</cp:revision>
  <cp:lastPrinted>2017-02-27T08:40:20Z</cp:lastPrinted>
  <dcterms:created xsi:type="dcterms:W3CDTF">1996-06-15T03:21:08Z</dcterms:created>
  <dcterms:modified xsi:type="dcterms:W3CDTF">2026-03-02T11:39:58Z</dcterms:modified>
</cp:coreProperties>
</file>