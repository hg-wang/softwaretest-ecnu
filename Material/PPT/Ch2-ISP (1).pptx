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7"/>
  </p:notesMasterIdLst>
  <p:handoutMasterIdLst>
    <p:handoutMasterId r:id="rId68"/>
  </p:handoutMasterIdLst>
  <p:sldIdLst>
    <p:sldId id="443" r:id="rId2"/>
    <p:sldId id="479" r:id="rId3"/>
    <p:sldId id="457" r:id="rId4"/>
    <p:sldId id="458" r:id="rId5"/>
    <p:sldId id="418" r:id="rId6"/>
    <p:sldId id="411" r:id="rId7"/>
    <p:sldId id="468" r:id="rId8"/>
    <p:sldId id="416" r:id="rId9"/>
    <p:sldId id="415" r:id="rId10"/>
    <p:sldId id="476" r:id="rId11"/>
    <p:sldId id="419" r:id="rId12"/>
    <p:sldId id="442" r:id="rId13"/>
    <p:sldId id="455" r:id="rId14"/>
    <p:sldId id="449" r:id="rId15"/>
    <p:sldId id="445" r:id="rId16"/>
    <p:sldId id="471" r:id="rId17"/>
    <p:sldId id="477" r:id="rId18"/>
    <p:sldId id="462" r:id="rId19"/>
    <p:sldId id="428" r:id="rId20"/>
    <p:sldId id="474" r:id="rId21"/>
    <p:sldId id="475" r:id="rId22"/>
    <p:sldId id="431" r:id="rId23"/>
    <p:sldId id="451" r:id="rId24"/>
    <p:sldId id="453" r:id="rId25"/>
    <p:sldId id="454" r:id="rId26"/>
    <p:sldId id="433" r:id="rId27"/>
    <p:sldId id="464" r:id="rId28"/>
    <p:sldId id="465" r:id="rId29"/>
    <p:sldId id="503" r:id="rId30"/>
    <p:sldId id="485" r:id="rId31"/>
    <p:sldId id="504" r:id="rId32"/>
    <p:sldId id="466" r:id="rId33"/>
    <p:sldId id="505" r:id="rId34"/>
    <p:sldId id="506" r:id="rId35"/>
    <p:sldId id="436" r:id="rId36"/>
    <p:sldId id="513" r:id="rId37"/>
    <p:sldId id="514" r:id="rId38"/>
    <p:sldId id="435" r:id="rId39"/>
    <p:sldId id="467" r:id="rId40"/>
    <p:sldId id="456" r:id="rId41"/>
    <p:sldId id="509" r:id="rId42"/>
    <p:sldId id="510" r:id="rId43"/>
    <p:sldId id="438" r:id="rId44"/>
    <p:sldId id="512" r:id="rId45"/>
    <p:sldId id="511" r:id="rId46"/>
    <p:sldId id="439" r:id="rId47"/>
    <p:sldId id="412" r:id="rId48"/>
    <p:sldId id="463" r:id="rId49"/>
    <p:sldId id="408" r:id="rId50"/>
    <p:sldId id="257" r:id="rId51"/>
    <p:sldId id="258" r:id="rId52"/>
    <p:sldId id="259" r:id="rId53"/>
    <p:sldId id="260" r:id="rId54"/>
    <p:sldId id="480" r:id="rId55"/>
    <p:sldId id="261" r:id="rId56"/>
    <p:sldId id="262" r:id="rId57"/>
    <p:sldId id="263" r:id="rId58"/>
    <p:sldId id="481" r:id="rId59"/>
    <p:sldId id="264" r:id="rId60"/>
    <p:sldId id="482" r:id="rId61"/>
    <p:sldId id="266" r:id="rId62"/>
    <p:sldId id="267" r:id="rId63"/>
    <p:sldId id="265" r:id="rId64"/>
    <p:sldId id="268" r:id="rId65"/>
    <p:sldId id="269" r:id="rId66"/>
  </p:sldIdLst>
  <p:sldSz cx="12192000" cy="6858000"/>
  <p:notesSz cx="6881813" cy="9296400"/>
  <p:defaultTextStyle>
    <a:defPPr>
      <a:defRPr lang="en-US"/>
    </a:defPPr>
    <a:lvl1pPr algn="l" rtl="0" eaLnBrk="0" fontAlgn="base" hangingPunct="0">
      <a:spcBef>
        <a:spcPct val="0"/>
      </a:spcBef>
      <a:spcAft>
        <a:spcPct val="0"/>
      </a:spcAft>
      <a:defRPr sz="2000" b="1" kern="1200">
        <a:solidFill>
          <a:srgbClr val="FAFD00"/>
        </a:solidFill>
        <a:latin typeface="Times New Roman" pitchFamily="18" charset="0"/>
        <a:ea typeface="+mn-ea"/>
        <a:cs typeface="+mn-cs"/>
      </a:defRPr>
    </a:lvl1pPr>
    <a:lvl2pPr marL="457200" algn="l" rtl="0" eaLnBrk="0" fontAlgn="base" hangingPunct="0">
      <a:spcBef>
        <a:spcPct val="0"/>
      </a:spcBef>
      <a:spcAft>
        <a:spcPct val="0"/>
      </a:spcAft>
      <a:defRPr sz="2000" b="1" kern="1200">
        <a:solidFill>
          <a:srgbClr val="FAFD00"/>
        </a:solidFill>
        <a:latin typeface="Times New Roman" pitchFamily="18" charset="0"/>
        <a:ea typeface="+mn-ea"/>
        <a:cs typeface="+mn-cs"/>
      </a:defRPr>
    </a:lvl2pPr>
    <a:lvl3pPr marL="914400" algn="l" rtl="0" eaLnBrk="0" fontAlgn="base" hangingPunct="0">
      <a:spcBef>
        <a:spcPct val="0"/>
      </a:spcBef>
      <a:spcAft>
        <a:spcPct val="0"/>
      </a:spcAft>
      <a:defRPr sz="2000" b="1" kern="1200">
        <a:solidFill>
          <a:srgbClr val="FAFD00"/>
        </a:solidFill>
        <a:latin typeface="Times New Roman" pitchFamily="18" charset="0"/>
        <a:ea typeface="+mn-ea"/>
        <a:cs typeface="+mn-cs"/>
      </a:defRPr>
    </a:lvl3pPr>
    <a:lvl4pPr marL="1371600" algn="l" rtl="0" eaLnBrk="0" fontAlgn="base" hangingPunct="0">
      <a:spcBef>
        <a:spcPct val="0"/>
      </a:spcBef>
      <a:spcAft>
        <a:spcPct val="0"/>
      </a:spcAft>
      <a:defRPr sz="2000" b="1" kern="1200">
        <a:solidFill>
          <a:srgbClr val="FAFD00"/>
        </a:solidFill>
        <a:latin typeface="Times New Roman" pitchFamily="18" charset="0"/>
        <a:ea typeface="+mn-ea"/>
        <a:cs typeface="+mn-cs"/>
      </a:defRPr>
    </a:lvl4pPr>
    <a:lvl5pPr marL="1828800" algn="l" rtl="0" eaLnBrk="0" fontAlgn="base" hangingPunct="0">
      <a:spcBef>
        <a:spcPct val="0"/>
      </a:spcBef>
      <a:spcAft>
        <a:spcPct val="0"/>
      </a:spcAft>
      <a:defRPr sz="2000" b="1" kern="1200">
        <a:solidFill>
          <a:srgbClr val="FAFD00"/>
        </a:solidFill>
        <a:latin typeface="Times New Roman" pitchFamily="18" charset="0"/>
        <a:ea typeface="+mn-ea"/>
        <a:cs typeface="+mn-cs"/>
      </a:defRPr>
    </a:lvl5pPr>
    <a:lvl6pPr marL="2286000" algn="l" defTabSz="914400" rtl="0" eaLnBrk="1" latinLnBrk="0" hangingPunct="1">
      <a:defRPr sz="2000" b="1" kern="1200">
        <a:solidFill>
          <a:srgbClr val="FAFD00"/>
        </a:solidFill>
        <a:latin typeface="Times New Roman" pitchFamily="18" charset="0"/>
        <a:ea typeface="+mn-ea"/>
        <a:cs typeface="+mn-cs"/>
      </a:defRPr>
    </a:lvl6pPr>
    <a:lvl7pPr marL="2743200" algn="l" defTabSz="914400" rtl="0" eaLnBrk="1" latinLnBrk="0" hangingPunct="1">
      <a:defRPr sz="2000" b="1" kern="1200">
        <a:solidFill>
          <a:srgbClr val="FAFD00"/>
        </a:solidFill>
        <a:latin typeface="Times New Roman" pitchFamily="18" charset="0"/>
        <a:ea typeface="+mn-ea"/>
        <a:cs typeface="+mn-cs"/>
      </a:defRPr>
    </a:lvl7pPr>
    <a:lvl8pPr marL="3200400" algn="l" defTabSz="914400" rtl="0" eaLnBrk="1" latinLnBrk="0" hangingPunct="1">
      <a:defRPr sz="2000" b="1" kern="1200">
        <a:solidFill>
          <a:srgbClr val="FAFD00"/>
        </a:solidFill>
        <a:latin typeface="Times New Roman" pitchFamily="18" charset="0"/>
        <a:ea typeface="+mn-ea"/>
        <a:cs typeface="+mn-cs"/>
      </a:defRPr>
    </a:lvl8pPr>
    <a:lvl9pPr marL="3657600" algn="l" defTabSz="914400" rtl="0" eaLnBrk="1" latinLnBrk="0" hangingPunct="1">
      <a:defRPr sz="2000" b="1" kern="1200">
        <a:solidFill>
          <a:srgbClr val="FAFD00"/>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280" userDrawn="1">
          <p15:clr>
            <a:srgbClr val="A4A3A4"/>
          </p15:clr>
        </p15:guide>
        <p15:guide id="2" pos="3697" userDrawn="1">
          <p15:clr>
            <a:srgbClr val="A4A3A4"/>
          </p15:clr>
        </p15:guide>
      </p15:sldGuideLst>
    </p:ext>
    <p:ext uri="{2D200454-40CA-4A62-9FC3-DE9A4176ACB9}">
      <p15:notesGuideLst xmlns:p15="http://schemas.microsoft.com/office/powerpoint/2012/main">
        <p15:guide id="1" orient="horz" pos="2928">
          <p15:clr>
            <a:srgbClr val="A4A3A4"/>
          </p15:clr>
        </p15:guide>
        <p15:guide id="2" pos="216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99"/>
    <a:srgbClr val="003399"/>
    <a:srgbClr val="99FFCC"/>
    <a:srgbClr val="66FFFF"/>
    <a:srgbClr val="0033CC"/>
    <a:srgbClr val="333399"/>
    <a:srgbClr val="3333CC"/>
    <a:srgbClr val="3333FF"/>
    <a:srgbClr val="CC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773" autoAdjust="0"/>
    <p:restoredTop sz="89396" autoAdjust="0"/>
  </p:normalViewPr>
  <p:slideViewPr>
    <p:cSldViewPr snapToGrid="0">
      <p:cViewPr varScale="1">
        <p:scale>
          <a:sx n="61" d="100"/>
          <a:sy n="61" d="100"/>
        </p:scale>
        <p:origin x="620" y="60"/>
      </p:cViewPr>
      <p:guideLst>
        <p:guide orient="horz" pos="2280"/>
        <p:guide pos="369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30" d="100"/>
        <a:sy n="130" d="100"/>
      </p:scale>
      <p:origin x="0" y="7710"/>
    </p:cViewPr>
  </p:sorterViewPr>
  <p:notesViewPr>
    <p:cSldViewPr snapToGrid="0">
      <p:cViewPr varScale="1">
        <p:scale>
          <a:sx n="99" d="100"/>
          <a:sy n="99" d="100"/>
        </p:scale>
        <p:origin x="-1488" y="-90"/>
      </p:cViewPr>
      <p:guideLst>
        <p:guide orient="horz" pos="2928"/>
        <p:guide pos="216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1"/>
            <a:ext cx="2982418" cy="464205"/>
          </a:xfrm>
          <a:prstGeom prst="rect">
            <a:avLst/>
          </a:prstGeom>
          <a:noFill/>
          <a:ln w="9525">
            <a:noFill/>
            <a:miter lim="800000"/>
            <a:headEnd/>
            <a:tailEnd/>
          </a:ln>
        </p:spPr>
        <p:txBody>
          <a:bodyPr vert="horz" wrap="square" lIns="19252" tIns="0" rIns="19252" bIns="0" numCol="1" anchor="t" anchorCtr="0" compatLnSpc="1">
            <a:prstTxWarp prst="textNoShape">
              <a:avLst/>
            </a:prstTxWarp>
          </a:bodyPr>
          <a:lstStyle>
            <a:lvl1pPr defTabSz="924404">
              <a:defRPr sz="1100" b="0" i="1"/>
            </a:lvl1pPr>
          </a:lstStyle>
          <a:p>
            <a:pPr>
              <a:defRPr/>
            </a:pPr>
            <a:endParaRPr lang="en-US"/>
          </a:p>
        </p:txBody>
      </p:sp>
      <p:sp>
        <p:nvSpPr>
          <p:cNvPr id="3075" name="Rectangle 3"/>
          <p:cNvSpPr>
            <a:spLocks noGrp="1" noChangeArrowheads="1"/>
          </p:cNvSpPr>
          <p:nvPr>
            <p:ph type="dt" sz="quarter" idx="1"/>
          </p:nvPr>
        </p:nvSpPr>
        <p:spPr bwMode="auto">
          <a:xfrm>
            <a:off x="3899396" y="1"/>
            <a:ext cx="2982417" cy="464205"/>
          </a:xfrm>
          <a:prstGeom prst="rect">
            <a:avLst/>
          </a:prstGeom>
          <a:noFill/>
          <a:ln w="9525">
            <a:noFill/>
            <a:miter lim="800000"/>
            <a:headEnd/>
            <a:tailEnd/>
          </a:ln>
        </p:spPr>
        <p:txBody>
          <a:bodyPr vert="horz" wrap="square" lIns="19252" tIns="0" rIns="19252" bIns="0" numCol="1" anchor="t" anchorCtr="0" compatLnSpc="1">
            <a:prstTxWarp prst="textNoShape">
              <a:avLst/>
            </a:prstTxWarp>
          </a:bodyPr>
          <a:lstStyle>
            <a:lvl1pPr algn="r" defTabSz="924404">
              <a:defRPr sz="1100" b="0" i="1"/>
            </a:lvl1pPr>
          </a:lstStyle>
          <a:p>
            <a:pPr>
              <a:defRPr/>
            </a:pPr>
            <a:endParaRPr lang="en-US"/>
          </a:p>
        </p:txBody>
      </p:sp>
      <p:sp>
        <p:nvSpPr>
          <p:cNvPr id="3076" name="Rectangle 4"/>
          <p:cNvSpPr>
            <a:spLocks noGrp="1" noChangeArrowheads="1"/>
          </p:cNvSpPr>
          <p:nvPr>
            <p:ph type="ftr" sz="quarter" idx="2"/>
          </p:nvPr>
        </p:nvSpPr>
        <p:spPr bwMode="auto">
          <a:xfrm>
            <a:off x="0" y="8832195"/>
            <a:ext cx="2982418" cy="464205"/>
          </a:xfrm>
          <a:prstGeom prst="rect">
            <a:avLst/>
          </a:prstGeom>
          <a:noFill/>
          <a:ln w="9525">
            <a:noFill/>
            <a:miter lim="800000"/>
            <a:headEnd/>
            <a:tailEnd/>
          </a:ln>
        </p:spPr>
        <p:txBody>
          <a:bodyPr vert="horz" wrap="square" lIns="19252" tIns="0" rIns="19252" bIns="0" numCol="1" anchor="b" anchorCtr="0" compatLnSpc="1">
            <a:prstTxWarp prst="textNoShape">
              <a:avLst/>
            </a:prstTxWarp>
          </a:bodyPr>
          <a:lstStyle>
            <a:lvl1pPr defTabSz="924404">
              <a:defRPr sz="1100" b="0" i="1"/>
            </a:lvl1pPr>
          </a:lstStyle>
          <a:p>
            <a:pPr>
              <a:defRPr/>
            </a:pPr>
            <a:endParaRPr lang="en-US"/>
          </a:p>
        </p:txBody>
      </p:sp>
      <p:sp>
        <p:nvSpPr>
          <p:cNvPr id="3077" name="Rectangle 5"/>
          <p:cNvSpPr>
            <a:spLocks noGrp="1" noChangeArrowheads="1"/>
          </p:cNvSpPr>
          <p:nvPr>
            <p:ph type="sldNum" sz="quarter" idx="3"/>
          </p:nvPr>
        </p:nvSpPr>
        <p:spPr bwMode="auto">
          <a:xfrm>
            <a:off x="3899396" y="8832195"/>
            <a:ext cx="2982417" cy="464205"/>
          </a:xfrm>
          <a:prstGeom prst="rect">
            <a:avLst/>
          </a:prstGeom>
          <a:noFill/>
          <a:ln w="9525">
            <a:noFill/>
            <a:miter lim="800000"/>
            <a:headEnd/>
            <a:tailEnd/>
          </a:ln>
        </p:spPr>
        <p:txBody>
          <a:bodyPr vert="horz" wrap="square" lIns="19252" tIns="0" rIns="19252" bIns="0" numCol="1" anchor="b" anchorCtr="0" compatLnSpc="1">
            <a:prstTxWarp prst="textNoShape">
              <a:avLst/>
            </a:prstTxWarp>
          </a:bodyPr>
          <a:lstStyle>
            <a:lvl1pPr algn="r" defTabSz="924404">
              <a:defRPr sz="1100" b="0" i="1"/>
            </a:lvl1pPr>
          </a:lstStyle>
          <a:p>
            <a:pPr>
              <a:defRPr/>
            </a:pPr>
            <a:fld id="{F9C8C24C-BE24-4E11-9CA3-0DA618028487}" type="slidenum">
              <a:rPr lang="en-US"/>
              <a:pPr>
                <a:defRPr/>
              </a:pPr>
              <a:t>‹#›</a:t>
            </a:fld>
            <a:endParaRPr lang="en-US"/>
          </a:p>
        </p:txBody>
      </p:sp>
    </p:spTree>
    <p:extLst>
      <p:ext uri="{BB962C8B-B14F-4D97-AF65-F5344CB8AC3E}">
        <p14:creationId xmlns:p14="http://schemas.microsoft.com/office/powerpoint/2010/main" val="17200013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1"/>
            <a:ext cx="2982418" cy="464205"/>
          </a:xfrm>
          <a:prstGeom prst="rect">
            <a:avLst/>
          </a:prstGeom>
          <a:noFill/>
          <a:ln w="9525">
            <a:noFill/>
            <a:miter lim="800000"/>
            <a:headEnd/>
            <a:tailEnd/>
          </a:ln>
        </p:spPr>
        <p:txBody>
          <a:bodyPr vert="horz" wrap="square" lIns="19252" tIns="0" rIns="19252" bIns="0" numCol="1" anchor="t" anchorCtr="0" compatLnSpc="1">
            <a:prstTxWarp prst="textNoShape">
              <a:avLst/>
            </a:prstTxWarp>
          </a:bodyPr>
          <a:lstStyle>
            <a:lvl1pPr defTabSz="924404">
              <a:defRPr sz="1100" b="0" i="1">
                <a:solidFill>
                  <a:schemeClr val="tx1"/>
                </a:solidFill>
              </a:defRPr>
            </a:lvl1pPr>
          </a:lstStyle>
          <a:p>
            <a:pPr>
              <a:defRPr/>
            </a:pPr>
            <a:endParaRPr lang="en-US"/>
          </a:p>
        </p:txBody>
      </p:sp>
      <p:sp>
        <p:nvSpPr>
          <p:cNvPr id="2051" name="Rectangle 3"/>
          <p:cNvSpPr>
            <a:spLocks noGrp="1" noChangeArrowheads="1"/>
          </p:cNvSpPr>
          <p:nvPr>
            <p:ph type="dt" idx="1"/>
          </p:nvPr>
        </p:nvSpPr>
        <p:spPr bwMode="auto">
          <a:xfrm>
            <a:off x="3899396" y="1"/>
            <a:ext cx="2982417" cy="464205"/>
          </a:xfrm>
          <a:prstGeom prst="rect">
            <a:avLst/>
          </a:prstGeom>
          <a:noFill/>
          <a:ln w="9525">
            <a:noFill/>
            <a:miter lim="800000"/>
            <a:headEnd/>
            <a:tailEnd/>
          </a:ln>
        </p:spPr>
        <p:txBody>
          <a:bodyPr vert="horz" wrap="square" lIns="19252" tIns="0" rIns="19252" bIns="0" numCol="1" anchor="t" anchorCtr="0" compatLnSpc="1">
            <a:prstTxWarp prst="textNoShape">
              <a:avLst/>
            </a:prstTxWarp>
          </a:bodyPr>
          <a:lstStyle>
            <a:lvl1pPr algn="r" defTabSz="924404">
              <a:defRPr sz="1100" b="0" i="1">
                <a:solidFill>
                  <a:schemeClr val="tx1"/>
                </a:solidFill>
              </a:defRPr>
            </a:lvl1pPr>
          </a:lstStyle>
          <a:p>
            <a:pPr>
              <a:defRPr/>
            </a:pPr>
            <a:endParaRPr lang="en-US"/>
          </a:p>
        </p:txBody>
      </p:sp>
      <p:sp>
        <p:nvSpPr>
          <p:cNvPr id="2052" name="Rectangle 4"/>
          <p:cNvSpPr>
            <a:spLocks noGrp="1" noChangeArrowheads="1"/>
          </p:cNvSpPr>
          <p:nvPr>
            <p:ph type="ftr" sz="quarter" idx="4"/>
          </p:nvPr>
        </p:nvSpPr>
        <p:spPr bwMode="auto">
          <a:xfrm>
            <a:off x="0" y="8832195"/>
            <a:ext cx="2982418" cy="464205"/>
          </a:xfrm>
          <a:prstGeom prst="rect">
            <a:avLst/>
          </a:prstGeom>
          <a:noFill/>
          <a:ln w="9525">
            <a:noFill/>
            <a:miter lim="800000"/>
            <a:headEnd/>
            <a:tailEnd/>
          </a:ln>
        </p:spPr>
        <p:txBody>
          <a:bodyPr vert="horz" wrap="square" lIns="19252" tIns="0" rIns="19252" bIns="0" numCol="1" anchor="b" anchorCtr="0" compatLnSpc="1">
            <a:prstTxWarp prst="textNoShape">
              <a:avLst/>
            </a:prstTxWarp>
          </a:bodyPr>
          <a:lstStyle>
            <a:lvl1pPr defTabSz="924404">
              <a:defRPr sz="1100" b="0" i="1">
                <a:solidFill>
                  <a:schemeClr val="tx1"/>
                </a:solidFill>
              </a:defRPr>
            </a:lvl1pPr>
          </a:lstStyle>
          <a:p>
            <a:pPr>
              <a:defRPr/>
            </a:pPr>
            <a:endParaRPr lang="en-US"/>
          </a:p>
        </p:txBody>
      </p:sp>
      <p:sp>
        <p:nvSpPr>
          <p:cNvPr id="2053" name="Rectangle 5"/>
          <p:cNvSpPr>
            <a:spLocks noGrp="1" noChangeArrowheads="1"/>
          </p:cNvSpPr>
          <p:nvPr>
            <p:ph type="sldNum" sz="quarter" idx="5"/>
          </p:nvPr>
        </p:nvSpPr>
        <p:spPr bwMode="auto">
          <a:xfrm>
            <a:off x="3899396" y="8832195"/>
            <a:ext cx="2982417" cy="464205"/>
          </a:xfrm>
          <a:prstGeom prst="rect">
            <a:avLst/>
          </a:prstGeom>
          <a:noFill/>
          <a:ln w="9525">
            <a:noFill/>
            <a:miter lim="800000"/>
            <a:headEnd/>
            <a:tailEnd/>
          </a:ln>
        </p:spPr>
        <p:txBody>
          <a:bodyPr vert="horz" wrap="square" lIns="19252" tIns="0" rIns="19252" bIns="0" numCol="1" anchor="b" anchorCtr="0" compatLnSpc="1">
            <a:prstTxWarp prst="textNoShape">
              <a:avLst/>
            </a:prstTxWarp>
          </a:bodyPr>
          <a:lstStyle>
            <a:lvl1pPr algn="r" defTabSz="924404">
              <a:defRPr sz="1100" b="0" i="1">
                <a:solidFill>
                  <a:schemeClr val="tx1"/>
                </a:solidFill>
              </a:defRPr>
            </a:lvl1pPr>
          </a:lstStyle>
          <a:p>
            <a:pPr>
              <a:defRPr/>
            </a:pPr>
            <a:fld id="{7E09078A-DA42-41CC-BB1B-525C8DEDBC3A}" type="slidenum">
              <a:rPr lang="en-US"/>
              <a:pPr>
                <a:defRPr/>
              </a:pPr>
              <a:t>‹#›</a:t>
            </a:fld>
            <a:endParaRPr lang="en-US"/>
          </a:p>
        </p:txBody>
      </p:sp>
      <p:sp>
        <p:nvSpPr>
          <p:cNvPr id="2054" name="Rectangle 6"/>
          <p:cNvSpPr>
            <a:spLocks noGrp="1" noChangeArrowheads="1"/>
          </p:cNvSpPr>
          <p:nvPr>
            <p:ph type="body" sz="quarter" idx="3"/>
          </p:nvPr>
        </p:nvSpPr>
        <p:spPr bwMode="auto">
          <a:xfrm>
            <a:off x="916978" y="4414560"/>
            <a:ext cx="5047858" cy="4182458"/>
          </a:xfrm>
          <a:prstGeom prst="rect">
            <a:avLst/>
          </a:prstGeom>
          <a:noFill/>
          <a:ln w="9525">
            <a:noFill/>
            <a:miter lim="800000"/>
            <a:headEnd/>
            <a:tailEnd/>
          </a:ln>
        </p:spPr>
        <p:txBody>
          <a:bodyPr vert="horz" wrap="square" lIns="93053" tIns="46528" rIns="93053" bIns="4652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5847" name="Rectangle 7"/>
          <p:cNvSpPr>
            <a:spLocks noGrp="1" noRot="1" noChangeAspect="1" noChangeArrowheads="1" noTextEdit="1"/>
          </p:cNvSpPr>
          <p:nvPr>
            <p:ph type="sldImg" idx="2"/>
          </p:nvPr>
        </p:nvSpPr>
        <p:spPr bwMode="auto">
          <a:xfrm>
            <a:off x="347663" y="698500"/>
            <a:ext cx="6186487" cy="34813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34824" name="Rectangle 8"/>
          <p:cNvSpPr>
            <a:spLocks noChangeArrowheads="1"/>
          </p:cNvSpPr>
          <p:nvPr/>
        </p:nvSpPr>
        <p:spPr bwMode="auto">
          <a:xfrm>
            <a:off x="3092171" y="8853714"/>
            <a:ext cx="695977" cy="256923"/>
          </a:xfrm>
          <a:prstGeom prst="rect">
            <a:avLst/>
          </a:prstGeom>
          <a:noFill/>
          <a:ln w="9525">
            <a:noFill/>
            <a:miter lim="800000"/>
            <a:headEnd/>
            <a:tailEnd/>
          </a:ln>
        </p:spPr>
        <p:txBody>
          <a:bodyPr wrap="none" lIns="88242" tIns="44923" rIns="88242" bIns="44923">
            <a:spAutoFit/>
          </a:bodyPr>
          <a:lstStyle/>
          <a:p>
            <a:pPr algn="ctr" defTabSz="875959">
              <a:lnSpc>
                <a:spcPct val="90000"/>
              </a:lnSpc>
              <a:defRPr/>
            </a:pPr>
            <a:r>
              <a:rPr lang="en-US" sz="1200" b="0">
                <a:solidFill>
                  <a:schemeClr val="tx1"/>
                </a:solidFill>
              </a:rPr>
              <a:t>Page </a:t>
            </a:r>
            <a:fld id="{55A994DA-5822-45BB-A29F-19B39562C88B}" type="slidenum">
              <a:rPr lang="en-US" sz="1200" b="0">
                <a:solidFill>
                  <a:schemeClr val="tx1"/>
                </a:solidFill>
              </a:rPr>
              <a:pPr algn="ctr" defTabSz="875959">
                <a:lnSpc>
                  <a:spcPct val="90000"/>
                </a:lnSpc>
                <a:defRPr/>
              </a:pPr>
              <a:t>‹#›</a:t>
            </a:fld>
            <a:endParaRPr lang="en-US" sz="1200" b="0">
              <a:solidFill>
                <a:schemeClr val="tx1"/>
              </a:solidFill>
            </a:endParaRPr>
          </a:p>
        </p:txBody>
      </p:sp>
    </p:spTree>
    <p:extLst>
      <p:ext uri="{BB962C8B-B14F-4D97-AF65-F5344CB8AC3E}">
        <p14:creationId xmlns:p14="http://schemas.microsoft.com/office/powerpoint/2010/main" val="243532458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xfrm>
            <a:off x="347663" y="698500"/>
            <a:ext cx="6186487" cy="3481388"/>
          </a:xfrm>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68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021">
              <a:defRPr sz="1900" b="1">
                <a:solidFill>
                  <a:srgbClr val="FAFD00"/>
                </a:solidFill>
                <a:latin typeface="Times New Roman" pitchFamily="18" charset="0"/>
              </a:defRPr>
            </a:lvl1pPr>
            <a:lvl2pPr marL="710483" indent="-273263" defTabSz="923021">
              <a:defRPr sz="1900" b="1">
                <a:solidFill>
                  <a:srgbClr val="FAFD00"/>
                </a:solidFill>
                <a:latin typeface="Times New Roman" pitchFamily="18" charset="0"/>
              </a:defRPr>
            </a:lvl2pPr>
            <a:lvl3pPr marL="1093051" indent="-218610" defTabSz="923021">
              <a:defRPr sz="1900" b="1">
                <a:solidFill>
                  <a:srgbClr val="FAFD00"/>
                </a:solidFill>
                <a:latin typeface="Times New Roman" pitchFamily="18" charset="0"/>
              </a:defRPr>
            </a:lvl3pPr>
            <a:lvl4pPr marL="1530271" indent="-218610" defTabSz="923021">
              <a:defRPr sz="1900" b="1">
                <a:solidFill>
                  <a:srgbClr val="FAFD00"/>
                </a:solidFill>
                <a:latin typeface="Times New Roman" pitchFamily="18" charset="0"/>
              </a:defRPr>
            </a:lvl4pPr>
            <a:lvl5pPr marL="1967492" indent="-218610" defTabSz="923021">
              <a:defRPr sz="1900" b="1">
                <a:solidFill>
                  <a:srgbClr val="FAFD00"/>
                </a:solidFill>
                <a:latin typeface="Times New Roman" pitchFamily="18" charset="0"/>
              </a:defRPr>
            </a:lvl5pPr>
            <a:lvl6pPr marL="2404712" indent="-218610" defTabSz="923021" eaLnBrk="0" fontAlgn="base" hangingPunct="0">
              <a:spcBef>
                <a:spcPct val="0"/>
              </a:spcBef>
              <a:spcAft>
                <a:spcPct val="0"/>
              </a:spcAft>
              <a:defRPr sz="1900" b="1">
                <a:solidFill>
                  <a:srgbClr val="FAFD00"/>
                </a:solidFill>
                <a:latin typeface="Times New Roman" pitchFamily="18" charset="0"/>
              </a:defRPr>
            </a:lvl6pPr>
            <a:lvl7pPr marL="2841932" indent="-218610" defTabSz="923021" eaLnBrk="0" fontAlgn="base" hangingPunct="0">
              <a:spcBef>
                <a:spcPct val="0"/>
              </a:spcBef>
              <a:spcAft>
                <a:spcPct val="0"/>
              </a:spcAft>
              <a:defRPr sz="1900" b="1">
                <a:solidFill>
                  <a:srgbClr val="FAFD00"/>
                </a:solidFill>
                <a:latin typeface="Times New Roman" pitchFamily="18" charset="0"/>
              </a:defRPr>
            </a:lvl7pPr>
            <a:lvl8pPr marL="3279153" indent="-218610" defTabSz="923021" eaLnBrk="0" fontAlgn="base" hangingPunct="0">
              <a:spcBef>
                <a:spcPct val="0"/>
              </a:spcBef>
              <a:spcAft>
                <a:spcPct val="0"/>
              </a:spcAft>
              <a:defRPr sz="1900" b="1">
                <a:solidFill>
                  <a:srgbClr val="FAFD00"/>
                </a:solidFill>
                <a:latin typeface="Times New Roman" pitchFamily="18" charset="0"/>
              </a:defRPr>
            </a:lvl8pPr>
            <a:lvl9pPr marL="3716373" indent="-218610" defTabSz="923021" eaLnBrk="0" fontAlgn="base" hangingPunct="0">
              <a:spcBef>
                <a:spcPct val="0"/>
              </a:spcBef>
              <a:spcAft>
                <a:spcPct val="0"/>
              </a:spcAft>
              <a:defRPr sz="1900" b="1">
                <a:solidFill>
                  <a:srgbClr val="FAFD00"/>
                </a:solidFill>
                <a:latin typeface="Times New Roman" pitchFamily="18" charset="0"/>
              </a:defRPr>
            </a:lvl9pPr>
          </a:lstStyle>
          <a:p>
            <a:fld id="{02D00990-A5B2-41C8-83DA-768256BDE711}" type="slidenum">
              <a:rPr lang="en-US" altLang="en-US" sz="1100" b="0">
                <a:solidFill>
                  <a:schemeClr val="tx1"/>
                </a:solidFill>
              </a:rPr>
              <a:pPr/>
              <a:t>1</a:t>
            </a:fld>
            <a:endParaRPr lang="en-US" altLang="en-US" sz="1100" b="0">
              <a:solidFill>
                <a:schemeClr val="tx1"/>
              </a:solidFill>
            </a:endParaRPr>
          </a:p>
        </p:txBody>
      </p:sp>
    </p:spTree>
    <p:extLst>
      <p:ext uri="{BB962C8B-B14F-4D97-AF65-F5344CB8AC3E}">
        <p14:creationId xmlns:p14="http://schemas.microsoft.com/office/powerpoint/2010/main" val="2336409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47663" y="698500"/>
            <a:ext cx="6186487" cy="34813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7E09078A-DA42-41CC-BB1B-525C8DEDBC3A}" type="slidenum">
              <a:rPr lang="en-US" smtClean="0"/>
              <a:pPr>
                <a:defRPr/>
              </a:pPr>
              <a:t>3</a:t>
            </a:fld>
            <a:endParaRPr lang="en-US"/>
          </a:p>
        </p:txBody>
      </p:sp>
    </p:spTree>
    <p:extLst>
      <p:ext uri="{BB962C8B-B14F-4D97-AF65-F5344CB8AC3E}">
        <p14:creationId xmlns:p14="http://schemas.microsoft.com/office/powerpoint/2010/main" val="1724950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47663" y="698500"/>
            <a:ext cx="6186487" cy="34813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E09078A-DA42-41CC-BB1B-525C8DEDBC3A}" type="slidenum">
              <a:rPr lang="en-US" smtClean="0"/>
              <a:pPr>
                <a:defRPr/>
              </a:pPr>
              <a:t>4</a:t>
            </a:fld>
            <a:endParaRPr lang="en-US"/>
          </a:p>
        </p:txBody>
      </p:sp>
    </p:spTree>
    <p:extLst>
      <p:ext uri="{BB962C8B-B14F-4D97-AF65-F5344CB8AC3E}">
        <p14:creationId xmlns:p14="http://schemas.microsoft.com/office/powerpoint/2010/main" val="23126960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xfrm>
            <a:off x="347663" y="698500"/>
            <a:ext cx="6186487" cy="3481388"/>
          </a:xfrm>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021">
              <a:defRPr sz="1900" b="1">
                <a:solidFill>
                  <a:srgbClr val="FAFD00"/>
                </a:solidFill>
                <a:latin typeface="Times New Roman" pitchFamily="18" charset="0"/>
              </a:defRPr>
            </a:lvl1pPr>
            <a:lvl2pPr marL="710483" indent="-273263" defTabSz="923021">
              <a:defRPr sz="1900" b="1">
                <a:solidFill>
                  <a:srgbClr val="FAFD00"/>
                </a:solidFill>
                <a:latin typeface="Times New Roman" pitchFamily="18" charset="0"/>
              </a:defRPr>
            </a:lvl2pPr>
            <a:lvl3pPr marL="1093051" indent="-218610" defTabSz="923021">
              <a:defRPr sz="1900" b="1">
                <a:solidFill>
                  <a:srgbClr val="FAFD00"/>
                </a:solidFill>
                <a:latin typeface="Times New Roman" pitchFamily="18" charset="0"/>
              </a:defRPr>
            </a:lvl3pPr>
            <a:lvl4pPr marL="1530271" indent="-218610" defTabSz="923021">
              <a:defRPr sz="1900" b="1">
                <a:solidFill>
                  <a:srgbClr val="FAFD00"/>
                </a:solidFill>
                <a:latin typeface="Times New Roman" pitchFamily="18" charset="0"/>
              </a:defRPr>
            </a:lvl4pPr>
            <a:lvl5pPr marL="1967492" indent="-218610" defTabSz="923021">
              <a:defRPr sz="1900" b="1">
                <a:solidFill>
                  <a:srgbClr val="FAFD00"/>
                </a:solidFill>
                <a:latin typeface="Times New Roman" pitchFamily="18" charset="0"/>
              </a:defRPr>
            </a:lvl5pPr>
            <a:lvl6pPr marL="2404712" indent="-218610" defTabSz="923021" eaLnBrk="0" fontAlgn="base" hangingPunct="0">
              <a:spcBef>
                <a:spcPct val="0"/>
              </a:spcBef>
              <a:spcAft>
                <a:spcPct val="0"/>
              </a:spcAft>
              <a:defRPr sz="1900" b="1">
                <a:solidFill>
                  <a:srgbClr val="FAFD00"/>
                </a:solidFill>
                <a:latin typeface="Times New Roman" pitchFamily="18" charset="0"/>
              </a:defRPr>
            </a:lvl6pPr>
            <a:lvl7pPr marL="2841932" indent="-218610" defTabSz="923021" eaLnBrk="0" fontAlgn="base" hangingPunct="0">
              <a:spcBef>
                <a:spcPct val="0"/>
              </a:spcBef>
              <a:spcAft>
                <a:spcPct val="0"/>
              </a:spcAft>
              <a:defRPr sz="1900" b="1">
                <a:solidFill>
                  <a:srgbClr val="FAFD00"/>
                </a:solidFill>
                <a:latin typeface="Times New Roman" pitchFamily="18" charset="0"/>
              </a:defRPr>
            </a:lvl7pPr>
            <a:lvl8pPr marL="3279153" indent="-218610" defTabSz="923021" eaLnBrk="0" fontAlgn="base" hangingPunct="0">
              <a:spcBef>
                <a:spcPct val="0"/>
              </a:spcBef>
              <a:spcAft>
                <a:spcPct val="0"/>
              </a:spcAft>
              <a:defRPr sz="1900" b="1">
                <a:solidFill>
                  <a:srgbClr val="FAFD00"/>
                </a:solidFill>
                <a:latin typeface="Times New Roman" pitchFamily="18" charset="0"/>
              </a:defRPr>
            </a:lvl8pPr>
            <a:lvl9pPr marL="3716373" indent="-218610" defTabSz="923021" eaLnBrk="0" fontAlgn="base" hangingPunct="0">
              <a:spcBef>
                <a:spcPct val="0"/>
              </a:spcBef>
              <a:spcAft>
                <a:spcPct val="0"/>
              </a:spcAft>
              <a:defRPr sz="1900" b="1">
                <a:solidFill>
                  <a:srgbClr val="FAFD00"/>
                </a:solidFill>
                <a:latin typeface="Times New Roman" pitchFamily="18" charset="0"/>
              </a:defRPr>
            </a:lvl9pPr>
          </a:lstStyle>
          <a:p>
            <a:fld id="{B5F1625D-91BF-4737-9F05-69B2C8081BC0}" type="slidenum">
              <a:rPr lang="en-US" altLang="en-US" sz="1100" b="0">
                <a:solidFill>
                  <a:schemeClr val="tx1"/>
                </a:solidFill>
              </a:rPr>
              <a:pPr/>
              <a:t>5</a:t>
            </a:fld>
            <a:endParaRPr lang="en-US" altLang="en-US" sz="1100" b="0">
              <a:solidFill>
                <a:schemeClr val="tx1"/>
              </a:solidFill>
            </a:endParaRPr>
          </a:p>
        </p:txBody>
      </p:sp>
    </p:spTree>
    <p:extLst>
      <p:ext uri="{BB962C8B-B14F-4D97-AF65-F5344CB8AC3E}">
        <p14:creationId xmlns:p14="http://schemas.microsoft.com/office/powerpoint/2010/main" val="4018892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47663" y="698500"/>
            <a:ext cx="6186487" cy="3481388"/>
          </a:xfrm>
        </p:spPr>
      </p:sp>
      <p:sp>
        <p:nvSpPr>
          <p:cNvPr id="3" name="备注占位符 2"/>
          <p:cNvSpPr>
            <a:spLocks noGrp="1"/>
          </p:cNvSpPr>
          <p:nvPr>
            <p:ph type="body" idx="1"/>
          </p:nvPr>
        </p:nvSpPr>
        <p:spPr/>
        <p:txBody>
          <a:bodyPr/>
          <a:lstStyle/>
          <a:p>
            <a:r>
              <a:rPr lang="en-US" altLang="zh-CN" dirty="0"/>
              <a:t>Choose a value from each partition and each value is assumed to be </a:t>
            </a:r>
            <a:r>
              <a:rPr lang="en-US" altLang="zh-CN" dirty="0">
                <a:solidFill>
                  <a:srgbClr val="FF0000"/>
                </a:solidFill>
              </a:rPr>
              <a:t>equally useful for testing.</a:t>
            </a:r>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7E09078A-DA42-41CC-BB1B-525C8DEDBC3A}" type="slidenum">
              <a:rPr lang="en-US" smtClean="0"/>
              <a:pPr>
                <a:defRPr/>
              </a:pPr>
              <a:t>6</a:t>
            </a:fld>
            <a:endParaRPr lang="en-US"/>
          </a:p>
        </p:txBody>
      </p:sp>
    </p:spTree>
    <p:extLst>
      <p:ext uri="{BB962C8B-B14F-4D97-AF65-F5344CB8AC3E}">
        <p14:creationId xmlns:p14="http://schemas.microsoft.com/office/powerpoint/2010/main" val="1775737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xfrm>
            <a:off x="347663" y="698500"/>
            <a:ext cx="6186487" cy="3481388"/>
          </a:xfrm>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021">
              <a:defRPr sz="1900" b="1">
                <a:solidFill>
                  <a:srgbClr val="FAFD00"/>
                </a:solidFill>
                <a:latin typeface="Times New Roman" pitchFamily="18" charset="0"/>
              </a:defRPr>
            </a:lvl1pPr>
            <a:lvl2pPr marL="710483" indent="-273263" defTabSz="923021">
              <a:defRPr sz="1900" b="1">
                <a:solidFill>
                  <a:srgbClr val="FAFD00"/>
                </a:solidFill>
                <a:latin typeface="Times New Roman" pitchFamily="18" charset="0"/>
              </a:defRPr>
            </a:lvl2pPr>
            <a:lvl3pPr marL="1093051" indent="-218610" defTabSz="923021">
              <a:defRPr sz="1900" b="1">
                <a:solidFill>
                  <a:srgbClr val="FAFD00"/>
                </a:solidFill>
                <a:latin typeface="Times New Roman" pitchFamily="18" charset="0"/>
              </a:defRPr>
            </a:lvl3pPr>
            <a:lvl4pPr marL="1530271" indent="-218610" defTabSz="923021">
              <a:defRPr sz="1900" b="1">
                <a:solidFill>
                  <a:srgbClr val="FAFD00"/>
                </a:solidFill>
                <a:latin typeface="Times New Roman" pitchFamily="18" charset="0"/>
              </a:defRPr>
            </a:lvl4pPr>
            <a:lvl5pPr marL="1967492" indent="-218610" defTabSz="923021">
              <a:defRPr sz="1900" b="1">
                <a:solidFill>
                  <a:srgbClr val="FAFD00"/>
                </a:solidFill>
                <a:latin typeface="Times New Roman" pitchFamily="18" charset="0"/>
              </a:defRPr>
            </a:lvl5pPr>
            <a:lvl6pPr marL="2404712" indent="-218610" defTabSz="923021" eaLnBrk="0" fontAlgn="base" hangingPunct="0">
              <a:spcBef>
                <a:spcPct val="0"/>
              </a:spcBef>
              <a:spcAft>
                <a:spcPct val="0"/>
              </a:spcAft>
              <a:defRPr sz="1900" b="1">
                <a:solidFill>
                  <a:srgbClr val="FAFD00"/>
                </a:solidFill>
                <a:latin typeface="Times New Roman" pitchFamily="18" charset="0"/>
              </a:defRPr>
            </a:lvl6pPr>
            <a:lvl7pPr marL="2841932" indent="-218610" defTabSz="923021" eaLnBrk="0" fontAlgn="base" hangingPunct="0">
              <a:spcBef>
                <a:spcPct val="0"/>
              </a:spcBef>
              <a:spcAft>
                <a:spcPct val="0"/>
              </a:spcAft>
              <a:defRPr sz="1900" b="1">
                <a:solidFill>
                  <a:srgbClr val="FAFD00"/>
                </a:solidFill>
                <a:latin typeface="Times New Roman" pitchFamily="18" charset="0"/>
              </a:defRPr>
            </a:lvl7pPr>
            <a:lvl8pPr marL="3279153" indent="-218610" defTabSz="923021" eaLnBrk="0" fontAlgn="base" hangingPunct="0">
              <a:spcBef>
                <a:spcPct val="0"/>
              </a:spcBef>
              <a:spcAft>
                <a:spcPct val="0"/>
              </a:spcAft>
              <a:defRPr sz="1900" b="1">
                <a:solidFill>
                  <a:srgbClr val="FAFD00"/>
                </a:solidFill>
                <a:latin typeface="Times New Roman" pitchFamily="18" charset="0"/>
              </a:defRPr>
            </a:lvl8pPr>
            <a:lvl9pPr marL="3716373" indent="-218610" defTabSz="923021" eaLnBrk="0" fontAlgn="base" hangingPunct="0">
              <a:spcBef>
                <a:spcPct val="0"/>
              </a:spcBef>
              <a:spcAft>
                <a:spcPct val="0"/>
              </a:spcAft>
              <a:defRPr sz="1900" b="1">
                <a:solidFill>
                  <a:srgbClr val="FAFD00"/>
                </a:solidFill>
                <a:latin typeface="Times New Roman" pitchFamily="18" charset="0"/>
              </a:defRPr>
            </a:lvl9pPr>
          </a:lstStyle>
          <a:p>
            <a:fld id="{F3E4B85D-D790-4FDC-9292-4D9DDD607C7F}" type="slidenum">
              <a:rPr lang="en-US" altLang="en-US" sz="1100" b="0">
                <a:solidFill>
                  <a:schemeClr val="tx1"/>
                </a:solidFill>
              </a:rPr>
              <a:pPr/>
              <a:t>8</a:t>
            </a:fld>
            <a:endParaRPr lang="en-US" altLang="en-US" sz="1100" b="0">
              <a:solidFill>
                <a:schemeClr val="tx1"/>
              </a:solidFill>
            </a:endParaRPr>
          </a:p>
        </p:txBody>
      </p:sp>
    </p:spTree>
    <p:extLst>
      <p:ext uri="{BB962C8B-B14F-4D97-AF65-F5344CB8AC3E}">
        <p14:creationId xmlns:p14="http://schemas.microsoft.com/office/powerpoint/2010/main" val="7750574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xfrm>
            <a:off x="347663" y="698500"/>
            <a:ext cx="6186487" cy="3481388"/>
          </a:xfrm>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021">
              <a:defRPr sz="1900" b="1">
                <a:solidFill>
                  <a:srgbClr val="FAFD00"/>
                </a:solidFill>
                <a:latin typeface="Times New Roman" pitchFamily="18" charset="0"/>
              </a:defRPr>
            </a:lvl1pPr>
            <a:lvl2pPr marL="710483" indent="-273263" defTabSz="923021">
              <a:defRPr sz="1900" b="1">
                <a:solidFill>
                  <a:srgbClr val="FAFD00"/>
                </a:solidFill>
                <a:latin typeface="Times New Roman" pitchFamily="18" charset="0"/>
              </a:defRPr>
            </a:lvl2pPr>
            <a:lvl3pPr marL="1093051" indent="-218610" defTabSz="923021">
              <a:defRPr sz="1900" b="1">
                <a:solidFill>
                  <a:srgbClr val="FAFD00"/>
                </a:solidFill>
                <a:latin typeface="Times New Roman" pitchFamily="18" charset="0"/>
              </a:defRPr>
            </a:lvl3pPr>
            <a:lvl4pPr marL="1530271" indent="-218610" defTabSz="923021">
              <a:defRPr sz="1900" b="1">
                <a:solidFill>
                  <a:srgbClr val="FAFD00"/>
                </a:solidFill>
                <a:latin typeface="Times New Roman" pitchFamily="18" charset="0"/>
              </a:defRPr>
            </a:lvl4pPr>
            <a:lvl5pPr marL="1967492" indent="-218610" defTabSz="923021">
              <a:defRPr sz="1900" b="1">
                <a:solidFill>
                  <a:srgbClr val="FAFD00"/>
                </a:solidFill>
                <a:latin typeface="Times New Roman" pitchFamily="18" charset="0"/>
              </a:defRPr>
            </a:lvl5pPr>
            <a:lvl6pPr marL="2404712" indent="-218610" defTabSz="923021" eaLnBrk="0" fontAlgn="base" hangingPunct="0">
              <a:spcBef>
                <a:spcPct val="0"/>
              </a:spcBef>
              <a:spcAft>
                <a:spcPct val="0"/>
              </a:spcAft>
              <a:defRPr sz="1900" b="1">
                <a:solidFill>
                  <a:srgbClr val="FAFD00"/>
                </a:solidFill>
                <a:latin typeface="Times New Roman" pitchFamily="18" charset="0"/>
              </a:defRPr>
            </a:lvl6pPr>
            <a:lvl7pPr marL="2841932" indent="-218610" defTabSz="923021" eaLnBrk="0" fontAlgn="base" hangingPunct="0">
              <a:spcBef>
                <a:spcPct val="0"/>
              </a:spcBef>
              <a:spcAft>
                <a:spcPct val="0"/>
              </a:spcAft>
              <a:defRPr sz="1900" b="1">
                <a:solidFill>
                  <a:srgbClr val="FAFD00"/>
                </a:solidFill>
                <a:latin typeface="Times New Roman" pitchFamily="18" charset="0"/>
              </a:defRPr>
            </a:lvl7pPr>
            <a:lvl8pPr marL="3279153" indent="-218610" defTabSz="923021" eaLnBrk="0" fontAlgn="base" hangingPunct="0">
              <a:spcBef>
                <a:spcPct val="0"/>
              </a:spcBef>
              <a:spcAft>
                <a:spcPct val="0"/>
              </a:spcAft>
              <a:defRPr sz="1900" b="1">
                <a:solidFill>
                  <a:srgbClr val="FAFD00"/>
                </a:solidFill>
                <a:latin typeface="Times New Roman" pitchFamily="18" charset="0"/>
              </a:defRPr>
            </a:lvl8pPr>
            <a:lvl9pPr marL="3716373" indent="-218610" defTabSz="923021" eaLnBrk="0" fontAlgn="base" hangingPunct="0">
              <a:spcBef>
                <a:spcPct val="0"/>
              </a:spcBef>
              <a:spcAft>
                <a:spcPct val="0"/>
              </a:spcAft>
              <a:defRPr sz="1900" b="1">
                <a:solidFill>
                  <a:srgbClr val="FAFD00"/>
                </a:solidFill>
                <a:latin typeface="Times New Roman" pitchFamily="18" charset="0"/>
              </a:defRPr>
            </a:lvl9pPr>
          </a:lstStyle>
          <a:p>
            <a:fld id="{9B59B24E-4427-489D-BF06-52078FF53C1B}" type="slidenum">
              <a:rPr lang="en-US" altLang="en-US" sz="1100" b="0">
                <a:solidFill>
                  <a:schemeClr val="tx1"/>
                </a:solidFill>
              </a:rPr>
              <a:pPr/>
              <a:t>9</a:t>
            </a:fld>
            <a:endParaRPr lang="en-US" altLang="en-US" sz="1100" b="0">
              <a:solidFill>
                <a:schemeClr val="tx1"/>
              </a:solidFill>
            </a:endParaRPr>
          </a:p>
        </p:txBody>
      </p:sp>
    </p:spTree>
    <p:extLst>
      <p:ext uri="{BB962C8B-B14F-4D97-AF65-F5344CB8AC3E}">
        <p14:creationId xmlns:p14="http://schemas.microsoft.com/office/powerpoint/2010/main" val="19389677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xfrm>
            <a:off x="347663" y="698500"/>
            <a:ext cx="6186487" cy="3481388"/>
          </a:xfrm>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021">
              <a:defRPr sz="1900" b="1">
                <a:solidFill>
                  <a:srgbClr val="FAFD00"/>
                </a:solidFill>
                <a:latin typeface="Times New Roman" pitchFamily="18" charset="0"/>
              </a:defRPr>
            </a:lvl1pPr>
            <a:lvl2pPr marL="710483" indent="-273263" defTabSz="923021">
              <a:defRPr sz="1900" b="1">
                <a:solidFill>
                  <a:srgbClr val="FAFD00"/>
                </a:solidFill>
                <a:latin typeface="Times New Roman" pitchFamily="18" charset="0"/>
              </a:defRPr>
            </a:lvl2pPr>
            <a:lvl3pPr marL="1093051" indent="-218610" defTabSz="923021">
              <a:defRPr sz="1900" b="1">
                <a:solidFill>
                  <a:srgbClr val="FAFD00"/>
                </a:solidFill>
                <a:latin typeface="Times New Roman" pitchFamily="18" charset="0"/>
              </a:defRPr>
            </a:lvl3pPr>
            <a:lvl4pPr marL="1530271" indent="-218610" defTabSz="923021">
              <a:defRPr sz="1900" b="1">
                <a:solidFill>
                  <a:srgbClr val="FAFD00"/>
                </a:solidFill>
                <a:latin typeface="Times New Roman" pitchFamily="18" charset="0"/>
              </a:defRPr>
            </a:lvl4pPr>
            <a:lvl5pPr marL="1967492" indent="-218610" defTabSz="923021">
              <a:defRPr sz="1900" b="1">
                <a:solidFill>
                  <a:srgbClr val="FAFD00"/>
                </a:solidFill>
                <a:latin typeface="Times New Roman" pitchFamily="18" charset="0"/>
              </a:defRPr>
            </a:lvl5pPr>
            <a:lvl6pPr marL="2404712" indent="-218610" defTabSz="923021" eaLnBrk="0" fontAlgn="base" hangingPunct="0">
              <a:spcBef>
                <a:spcPct val="0"/>
              </a:spcBef>
              <a:spcAft>
                <a:spcPct val="0"/>
              </a:spcAft>
              <a:defRPr sz="1900" b="1">
                <a:solidFill>
                  <a:srgbClr val="FAFD00"/>
                </a:solidFill>
                <a:latin typeface="Times New Roman" pitchFamily="18" charset="0"/>
              </a:defRPr>
            </a:lvl6pPr>
            <a:lvl7pPr marL="2841932" indent="-218610" defTabSz="923021" eaLnBrk="0" fontAlgn="base" hangingPunct="0">
              <a:spcBef>
                <a:spcPct val="0"/>
              </a:spcBef>
              <a:spcAft>
                <a:spcPct val="0"/>
              </a:spcAft>
              <a:defRPr sz="1900" b="1">
                <a:solidFill>
                  <a:srgbClr val="FAFD00"/>
                </a:solidFill>
                <a:latin typeface="Times New Roman" pitchFamily="18" charset="0"/>
              </a:defRPr>
            </a:lvl7pPr>
            <a:lvl8pPr marL="3279153" indent="-218610" defTabSz="923021" eaLnBrk="0" fontAlgn="base" hangingPunct="0">
              <a:spcBef>
                <a:spcPct val="0"/>
              </a:spcBef>
              <a:spcAft>
                <a:spcPct val="0"/>
              </a:spcAft>
              <a:defRPr sz="1900" b="1">
                <a:solidFill>
                  <a:srgbClr val="FAFD00"/>
                </a:solidFill>
                <a:latin typeface="Times New Roman" pitchFamily="18" charset="0"/>
              </a:defRPr>
            </a:lvl8pPr>
            <a:lvl9pPr marL="3716373" indent="-218610" defTabSz="923021" eaLnBrk="0" fontAlgn="base" hangingPunct="0">
              <a:spcBef>
                <a:spcPct val="0"/>
              </a:spcBef>
              <a:spcAft>
                <a:spcPct val="0"/>
              </a:spcAft>
              <a:defRPr sz="1900" b="1">
                <a:solidFill>
                  <a:srgbClr val="FAFD00"/>
                </a:solidFill>
                <a:latin typeface="Times New Roman" pitchFamily="18" charset="0"/>
              </a:defRPr>
            </a:lvl9pPr>
          </a:lstStyle>
          <a:p>
            <a:fld id="{AD4CB685-1048-424B-BE88-5F3BEAC4F5A3}" type="slidenum">
              <a:rPr lang="en-US" altLang="en-US" sz="1100" b="0">
                <a:solidFill>
                  <a:schemeClr val="tx1"/>
                </a:solidFill>
              </a:rPr>
              <a:pPr/>
              <a:t>10</a:t>
            </a:fld>
            <a:endParaRPr lang="en-US" altLang="en-US" sz="1100" b="0">
              <a:solidFill>
                <a:schemeClr val="tx1"/>
              </a:solidFill>
            </a:endParaRPr>
          </a:p>
        </p:txBody>
      </p:sp>
    </p:spTree>
    <p:extLst>
      <p:ext uri="{BB962C8B-B14F-4D97-AF65-F5344CB8AC3E}">
        <p14:creationId xmlns:p14="http://schemas.microsoft.com/office/powerpoint/2010/main" val="17584945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xfrm>
            <a:off x="347663" y="698500"/>
            <a:ext cx="6186487" cy="3481388"/>
          </a:xfrm>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021">
              <a:defRPr sz="1900" b="1">
                <a:solidFill>
                  <a:srgbClr val="FAFD00"/>
                </a:solidFill>
                <a:latin typeface="Times New Roman" pitchFamily="18" charset="0"/>
              </a:defRPr>
            </a:lvl1pPr>
            <a:lvl2pPr marL="710483" indent="-273263" defTabSz="923021">
              <a:defRPr sz="1900" b="1">
                <a:solidFill>
                  <a:srgbClr val="FAFD00"/>
                </a:solidFill>
                <a:latin typeface="Times New Roman" pitchFamily="18" charset="0"/>
              </a:defRPr>
            </a:lvl2pPr>
            <a:lvl3pPr marL="1093051" indent="-218610" defTabSz="923021">
              <a:defRPr sz="1900" b="1">
                <a:solidFill>
                  <a:srgbClr val="FAFD00"/>
                </a:solidFill>
                <a:latin typeface="Times New Roman" pitchFamily="18" charset="0"/>
              </a:defRPr>
            </a:lvl3pPr>
            <a:lvl4pPr marL="1530271" indent="-218610" defTabSz="923021">
              <a:defRPr sz="1900" b="1">
                <a:solidFill>
                  <a:srgbClr val="FAFD00"/>
                </a:solidFill>
                <a:latin typeface="Times New Roman" pitchFamily="18" charset="0"/>
              </a:defRPr>
            </a:lvl4pPr>
            <a:lvl5pPr marL="1967492" indent="-218610" defTabSz="923021">
              <a:defRPr sz="1900" b="1">
                <a:solidFill>
                  <a:srgbClr val="FAFD00"/>
                </a:solidFill>
                <a:latin typeface="Times New Roman" pitchFamily="18" charset="0"/>
              </a:defRPr>
            </a:lvl5pPr>
            <a:lvl6pPr marL="2404712" indent="-218610" defTabSz="923021" eaLnBrk="0" fontAlgn="base" hangingPunct="0">
              <a:spcBef>
                <a:spcPct val="0"/>
              </a:spcBef>
              <a:spcAft>
                <a:spcPct val="0"/>
              </a:spcAft>
              <a:defRPr sz="1900" b="1">
                <a:solidFill>
                  <a:srgbClr val="FAFD00"/>
                </a:solidFill>
                <a:latin typeface="Times New Roman" pitchFamily="18" charset="0"/>
              </a:defRPr>
            </a:lvl6pPr>
            <a:lvl7pPr marL="2841932" indent="-218610" defTabSz="923021" eaLnBrk="0" fontAlgn="base" hangingPunct="0">
              <a:spcBef>
                <a:spcPct val="0"/>
              </a:spcBef>
              <a:spcAft>
                <a:spcPct val="0"/>
              </a:spcAft>
              <a:defRPr sz="1900" b="1">
                <a:solidFill>
                  <a:srgbClr val="FAFD00"/>
                </a:solidFill>
                <a:latin typeface="Times New Roman" pitchFamily="18" charset="0"/>
              </a:defRPr>
            </a:lvl7pPr>
            <a:lvl8pPr marL="3279153" indent="-218610" defTabSz="923021" eaLnBrk="0" fontAlgn="base" hangingPunct="0">
              <a:spcBef>
                <a:spcPct val="0"/>
              </a:spcBef>
              <a:spcAft>
                <a:spcPct val="0"/>
              </a:spcAft>
              <a:defRPr sz="1900" b="1">
                <a:solidFill>
                  <a:srgbClr val="FAFD00"/>
                </a:solidFill>
                <a:latin typeface="Times New Roman" pitchFamily="18" charset="0"/>
              </a:defRPr>
            </a:lvl8pPr>
            <a:lvl9pPr marL="3716373" indent="-218610" defTabSz="923021" eaLnBrk="0" fontAlgn="base" hangingPunct="0">
              <a:spcBef>
                <a:spcPct val="0"/>
              </a:spcBef>
              <a:spcAft>
                <a:spcPct val="0"/>
              </a:spcAft>
              <a:defRPr sz="1900" b="1">
                <a:solidFill>
                  <a:srgbClr val="FAFD00"/>
                </a:solidFill>
                <a:latin typeface="Times New Roman" pitchFamily="18" charset="0"/>
              </a:defRPr>
            </a:lvl9pPr>
          </a:lstStyle>
          <a:p>
            <a:fld id="{AD4CB685-1048-424B-BE88-5F3BEAC4F5A3}" type="slidenum">
              <a:rPr lang="en-US" altLang="en-US" sz="1100" b="0">
                <a:solidFill>
                  <a:schemeClr val="tx1"/>
                </a:solidFill>
              </a:rPr>
              <a:pPr/>
              <a:t>11</a:t>
            </a:fld>
            <a:endParaRPr lang="en-US" altLang="en-US" sz="1100" b="0">
              <a:solidFill>
                <a:schemeClr val="tx1"/>
              </a:solidFill>
            </a:endParaRPr>
          </a:p>
        </p:txBody>
      </p:sp>
    </p:spTree>
    <p:extLst>
      <p:ext uri="{BB962C8B-B14F-4D97-AF65-F5344CB8AC3E}">
        <p14:creationId xmlns:p14="http://schemas.microsoft.com/office/powerpoint/2010/main" val="1656485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xfrm>
            <a:off x="347663" y="698500"/>
            <a:ext cx="6186487" cy="3481388"/>
          </a:xfrm>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3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021">
              <a:defRPr sz="1900" b="1">
                <a:solidFill>
                  <a:srgbClr val="FAFD00"/>
                </a:solidFill>
                <a:latin typeface="Times New Roman" pitchFamily="18" charset="0"/>
              </a:defRPr>
            </a:lvl1pPr>
            <a:lvl2pPr marL="710483" indent="-273263" defTabSz="923021">
              <a:defRPr sz="1900" b="1">
                <a:solidFill>
                  <a:srgbClr val="FAFD00"/>
                </a:solidFill>
                <a:latin typeface="Times New Roman" pitchFamily="18" charset="0"/>
              </a:defRPr>
            </a:lvl2pPr>
            <a:lvl3pPr marL="1093051" indent="-218610" defTabSz="923021">
              <a:defRPr sz="1900" b="1">
                <a:solidFill>
                  <a:srgbClr val="FAFD00"/>
                </a:solidFill>
                <a:latin typeface="Times New Roman" pitchFamily="18" charset="0"/>
              </a:defRPr>
            </a:lvl3pPr>
            <a:lvl4pPr marL="1530271" indent="-218610" defTabSz="923021">
              <a:defRPr sz="1900" b="1">
                <a:solidFill>
                  <a:srgbClr val="FAFD00"/>
                </a:solidFill>
                <a:latin typeface="Times New Roman" pitchFamily="18" charset="0"/>
              </a:defRPr>
            </a:lvl4pPr>
            <a:lvl5pPr marL="1967492" indent="-218610" defTabSz="923021">
              <a:defRPr sz="1900" b="1">
                <a:solidFill>
                  <a:srgbClr val="FAFD00"/>
                </a:solidFill>
                <a:latin typeface="Times New Roman" pitchFamily="18" charset="0"/>
              </a:defRPr>
            </a:lvl5pPr>
            <a:lvl6pPr marL="2404712" indent="-218610" defTabSz="923021" eaLnBrk="0" fontAlgn="base" hangingPunct="0">
              <a:spcBef>
                <a:spcPct val="0"/>
              </a:spcBef>
              <a:spcAft>
                <a:spcPct val="0"/>
              </a:spcAft>
              <a:defRPr sz="1900" b="1">
                <a:solidFill>
                  <a:srgbClr val="FAFD00"/>
                </a:solidFill>
                <a:latin typeface="Times New Roman" pitchFamily="18" charset="0"/>
              </a:defRPr>
            </a:lvl6pPr>
            <a:lvl7pPr marL="2841932" indent="-218610" defTabSz="923021" eaLnBrk="0" fontAlgn="base" hangingPunct="0">
              <a:spcBef>
                <a:spcPct val="0"/>
              </a:spcBef>
              <a:spcAft>
                <a:spcPct val="0"/>
              </a:spcAft>
              <a:defRPr sz="1900" b="1">
                <a:solidFill>
                  <a:srgbClr val="FAFD00"/>
                </a:solidFill>
                <a:latin typeface="Times New Roman" pitchFamily="18" charset="0"/>
              </a:defRPr>
            </a:lvl7pPr>
            <a:lvl8pPr marL="3279153" indent="-218610" defTabSz="923021" eaLnBrk="0" fontAlgn="base" hangingPunct="0">
              <a:spcBef>
                <a:spcPct val="0"/>
              </a:spcBef>
              <a:spcAft>
                <a:spcPct val="0"/>
              </a:spcAft>
              <a:defRPr sz="1900" b="1">
                <a:solidFill>
                  <a:srgbClr val="FAFD00"/>
                </a:solidFill>
                <a:latin typeface="Times New Roman" pitchFamily="18" charset="0"/>
              </a:defRPr>
            </a:lvl8pPr>
            <a:lvl9pPr marL="3716373" indent="-218610" defTabSz="923021" eaLnBrk="0" fontAlgn="base" hangingPunct="0">
              <a:spcBef>
                <a:spcPct val="0"/>
              </a:spcBef>
              <a:spcAft>
                <a:spcPct val="0"/>
              </a:spcAft>
              <a:defRPr sz="1900" b="1">
                <a:solidFill>
                  <a:srgbClr val="FAFD00"/>
                </a:solidFill>
                <a:latin typeface="Times New Roman" pitchFamily="18" charset="0"/>
              </a:defRPr>
            </a:lvl9pPr>
          </a:lstStyle>
          <a:p>
            <a:fld id="{16D21108-F8C5-44E4-BF7A-780A454679C2}" type="slidenum">
              <a:rPr lang="en-US" altLang="en-US" sz="1100" b="0">
                <a:solidFill>
                  <a:schemeClr val="tx1"/>
                </a:solidFill>
              </a:rPr>
              <a:pPr/>
              <a:t>12</a:t>
            </a:fld>
            <a:endParaRPr lang="en-US" altLang="en-US" sz="1100" b="0">
              <a:solidFill>
                <a:schemeClr val="tx1"/>
              </a:solidFill>
            </a:endParaRPr>
          </a:p>
        </p:txBody>
      </p:sp>
    </p:spTree>
    <p:extLst>
      <p:ext uri="{BB962C8B-B14F-4D97-AF65-F5344CB8AC3E}">
        <p14:creationId xmlns:p14="http://schemas.microsoft.com/office/powerpoint/2010/main" val="38075499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xfrm>
            <a:off x="347663" y="698500"/>
            <a:ext cx="6186487" cy="3481388"/>
          </a:xfrm>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021">
              <a:defRPr sz="1900" b="1">
                <a:solidFill>
                  <a:srgbClr val="FAFD00"/>
                </a:solidFill>
                <a:latin typeface="Times New Roman" pitchFamily="18" charset="0"/>
              </a:defRPr>
            </a:lvl1pPr>
            <a:lvl2pPr marL="710483" indent="-273263" defTabSz="923021">
              <a:defRPr sz="1900" b="1">
                <a:solidFill>
                  <a:srgbClr val="FAFD00"/>
                </a:solidFill>
                <a:latin typeface="Times New Roman" pitchFamily="18" charset="0"/>
              </a:defRPr>
            </a:lvl2pPr>
            <a:lvl3pPr marL="1093051" indent="-218610" defTabSz="923021">
              <a:defRPr sz="1900" b="1">
                <a:solidFill>
                  <a:srgbClr val="FAFD00"/>
                </a:solidFill>
                <a:latin typeface="Times New Roman" pitchFamily="18" charset="0"/>
              </a:defRPr>
            </a:lvl3pPr>
            <a:lvl4pPr marL="1530271" indent="-218610" defTabSz="923021">
              <a:defRPr sz="1900" b="1">
                <a:solidFill>
                  <a:srgbClr val="FAFD00"/>
                </a:solidFill>
                <a:latin typeface="Times New Roman" pitchFamily="18" charset="0"/>
              </a:defRPr>
            </a:lvl4pPr>
            <a:lvl5pPr marL="1967492" indent="-218610" defTabSz="923021">
              <a:defRPr sz="1900" b="1">
                <a:solidFill>
                  <a:srgbClr val="FAFD00"/>
                </a:solidFill>
                <a:latin typeface="Times New Roman" pitchFamily="18" charset="0"/>
              </a:defRPr>
            </a:lvl5pPr>
            <a:lvl6pPr marL="2404712" indent="-218610" defTabSz="923021" eaLnBrk="0" fontAlgn="base" hangingPunct="0">
              <a:spcBef>
                <a:spcPct val="0"/>
              </a:spcBef>
              <a:spcAft>
                <a:spcPct val="0"/>
              </a:spcAft>
              <a:defRPr sz="1900" b="1">
                <a:solidFill>
                  <a:srgbClr val="FAFD00"/>
                </a:solidFill>
                <a:latin typeface="Times New Roman" pitchFamily="18" charset="0"/>
              </a:defRPr>
            </a:lvl6pPr>
            <a:lvl7pPr marL="2841932" indent="-218610" defTabSz="923021" eaLnBrk="0" fontAlgn="base" hangingPunct="0">
              <a:spcBef>
                <a:spcPct val="0"/>
              </a:spcBef>
              <a:spcAft>
                <a:spcPct val="0"/>
              </a:spcAft>
              <a:defRPr sz="1900" b="1">
                <a:solidFill>
                  <a:srgbClr val="FAFD00"/>
                </a:solidFill>
                <a:latin typeface="Times New Roman" pitchFamily="18" charset="0"/>
              </a:defRPr>
            </a:lvl7pPr>
            <a:lvl8pPr marL="3279153" indent="-218610" defTabSz="923021" eaLnBrk="0" fontAlgn="base" hangingPunct="0">
              <a:spcBef>
                <a:spcPct val="0"/>
              </a:spcBef>
              <a:spcAft>
                <a:spcPct val="0"/>
              </a:spcAft>
              <a:defRPr sz="1900" b="1">
                <a:solidFill>
                  <a:srgbClr val="FAFD00"/>
                </a:solidFill>
                <a:latin typeface="Times New Roman" pitchFamily="18" charset="0"/>
              </a:defRPr>
            </a:lvl8pPr>
            <a:lvl9pPr marL="3716373" indent="-218610" defTabSz="923021" eaLnBrk="0" fontAlgn="base" hangingPunct="0">
              <a:spcBef>
                <a:spcPct val="0"/>
              </a:spcBef>
              <a:spcAft>
                <a:spcPct val="0"/>
              </a:spcAft>
              <a:defRPr sz="1900" b="1">
                <a:solidFill>
                  <a:srgbClr val="FAFD00"/>
                </a:solidFill>
                <a:latin typeface="Times New Roman" pitchFamily="18" charset="0"/>
              </a:defRPr>
            </a:lvl9pPr>
          </a:lstStyle>
          <a:p>
            <a:fld id="{08811324-4604-4613-8968-87E43253B815}" type="slidenum">
              <a:rPr lang="en-US" altLang="en-US" sz="1100" b="0">
                <a:solidFill>
                  <a:schemeClr val="tx1"/>
                </a:solidFill>
              </a:rPr>
              <a:pPr/>
              <a:t>13</a:t>
            </a:fld>
            <a:endParaRPr lang="en-US" altLang="en-US" sz="1100" b="0">
              <a:solidFill>
                <a:schemeClr val="tx1"/>
              </a:solidFill>
            </a:endParaRPr>
          </a:p>
        </p:txBody>
      </p:sp>
    </p:spTree>
    <p:extLst>
      <p:ext uri="{BB962C8B-B14F-4D97-AF65-F5344CB8AC3E}">
        <p14:creationId xmlns:p14="http://schemas.microsoft.com/office/powerpoint/2010/main" val="25978565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xfrm>
            <a:off x="347663" y="698500"/>
            <a:ext cx="6186487" cy="3481388"/>
          </a:xfrm>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8132" name="Slide Number Placeholder 3"/>
          <p:cNvSpPr txBox="1">
            <a:spLocks noGrp="1"/>
          </p:cNvSpPr>
          <p:nvPr/>
        </p:nvSpPr>
        <p:spPr bwMode="auto">
          <a:xfrm>
            <a:off x="3899396" y="8832195"/>
            <a:ext cx="2982417" cy="464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252" tIns="0" rIns="19252" bIns="0" anchor="b"/>
          <a:lstStyle>
            <a:lvl1pPr defTabSz="965200">
              <a:defRPr sz="2000" b="1">
                <a:solidFill>
                  <a:srgbClr val="FAFD00"/>
                </a:solidFill>
                <a:latin typeface="Times New Roman" pitchFamily="18" charset="0"/>
              </a:defRPr>
            </a:lvl1pPr>
            <a:lvl2pPr marL="742950" indent="-285750" defTabSz="965200">
              <a:defRPr sz="2000" b="1">
                <a:solidFill>
                  <a:srgbClr val="FAFD00"/>
                </a:solidFill>
                <a:latin typeface="Times New Roman" pitchFamily="18" charset="0"/>
              </a:defRPr>
            </a:lvl2pPr>
            <a:lvl3pPr marL="1143000" indent="-228600" defTabSz="965200">
              <a:defRPr sz="2000" b="1">
                <a:solidFill>
                  <a:srgbClr val="FAFD00"/>
                </a:solidFill>
                <a:latin typeface="Times New Roman" pitchFamily="18" charset="0"/>
              </a:defRPr>
            </a:lvl3pPr>
            <a:lvl4pPr marL="1600200" indent="-228600" defTabSz="965200">
              <a:defRPr sz="2000" b="1">
                <a:solidFill>
                  <a:srgbClr val="FAFD00"/>
                </a:solidFill>
                <a:latin typeface="Times New Roman" pitchFamily="18" charset="0"/>
              </a:defRPr>
            </a:lvl4pPr>
            <a:lvl5pPr marL="2057400" indent="-228600" defTabSz="965200">
              <a:defRPr sz="2000" b="1">
                <a:solidFill>
                  <a:srgbClr val="FAFD00"/>
                </a:solidFill>
                <a:latin typeface="Times New Roman" pitchFamily="18" charset="0"/>
              </a:defRPr>
            </a:lvl5pPr>
            <a:lvl6pPr marL="2514600" indent="-228600" defTabSz="965200" eaLnBrk="0" fontAlgn="base" hangingPunct="0">
              <a:spcBef>
                <a:spcPct val="0"/>
              </a:spcBef>
              <a:spcAft>
                <a:spcPct val="0"/>
              </a:spcAft>
              <a:defRPr sz="2000" b="1">
                <a:solidFill>
                  <a:srgbClr val="FAFD00"/>
                </a:solidFill>
                <a:latin typeface="Times New Roman" pitchFamily="18" charset="0"/>
              </a:defRPr>
            </a:lvl6pPr>
            <a:lvl7pPr marL="2971800" indent="-228600" defTabSz="965200" eaLnBrk="0" fontAlgn="base" hangingPunct="0">
              <a:spcBef>
                <a:spcPct val="0"/>
              </a:spcBef>
              <a:spcAft>
                <a:spcPct val="0"/>
              </a:spcAft>
              <a:defRPr sz="2000" b="1">
                <a:solidFill>
                  <a:srgbClr val="FAFD00"/>
                </a:solidFill>
                <a:latin typeface="Times New Roman" pitchFamily="18" charset="0"/>
              </a:defRPr>
            </a:lvl7pPr>
            <a:lvl8pPr marL="3429000" indent="-228600" defTabSz="965200" eaLnBrk="0" fontAlgn="base" hangingPunct="0">
              <a:spcBef>
                <a:spcPct val="0"/>
              </a:spcBef>
              <a:spcAft>
                <a:spcPct val="0"/>
              </a:spcAft>
              <a:defRPr sz="2000" b="1">
                <a:solidFill>
                  <a:srgbClr val="FAFD00"/>
                </a:solidFill>
                <a:latin typeface="Times New Roman" pitchFamily="18" charset="0"/>
              </a:defRPr>
            </a:lvl8pPr>
            <a:lvl9pPr marL="3886200" indent="-228600" defTabSz="965200" eaLnBrk="0" fontAlgn="base" hangingPunct="0">
              <a:spcBef>
                <a:spcPct val="0"/>
              </a:spcBef>
              <a:spcAft>
                <a:spcPct val="0"/>
              </a:spcAft>
              <a:defRPr sz="2000" b="1">
                <a:solidFill>
                  <a:srgbClr val="FAFD00"/>
                </a:solidFill>
                <a:latin typeface="Times New Roman" pitchFamily="18" charset="0"/>
              </a:defRPr>
            </a:lvl9pPr>
          </a:lstStyle>
          <a:p>
            <a:pPr algn="r"/>
            <a:fld id="{B0ABA578-C52A-446F-8DB1-E99D8EFDEFBA}" type="slidenum">
              <a:rPr lang="en-US" altLang="en-US" sz="1100" b="0" i="1">
                <a:solidFill>
                  <a:schemeClr val="tx1"/>
                </a:solidFill>
              </a:rPr>
              <a:pPr algn="r"/>
              <a:t>14</a:t>
            </a:fld>
            <a:endParaRPr lang="en-US" altLang="en-US" sz="1100" b="0" i="1">
              <a:solidFill>
                <a:schemeClr val="tx1"/>
              </a:solidFill>
            </a:endParaRPr>
          </a:p>
        </p:txBody>
      </p:sp>
    </p:spTree>
    <p:extLst>
      <p:ext uri="{BB962C8B-B14F-4D97-AF65-F5344CB8AC3E}">
        <p14:creationId xmlns:p14="http://schemas.microsoft.com/office/powerpoint/2010/main" val="42411346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xfrm>
            <a:off x="347663" y="698500"/>
            <a:ext cx="6186487" cy="3481388"/>
          </a:xfrm>
          <a:ln/>
        </p:spPr>
      </p:sp>
      <p:sp>
        <p:nvSpPr>
          <p:cNvPr id="50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01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021">
              <a:defRPr sz="1900" b="1">
                <a:solidFill>
                  <a:srgbClr val="FAFD00"/>
                </a:solidFill>
                <a:latin typeface="Times New Roman" pitchFamily="18" charset="0"/>
              </a:defRPr>
            </a:lvl1pPr>
            <a:lvl2pPr marL="710483" indent="-273263" defTabSz="923021">
              <a:defRPr sz="1900" b="1">
                <a:solidFill>
                  <a:srgbClr val="FAFD00"/>
                </a:solidFill>
                <a:latin typeface="Times New Roman" pitchFamily="18" charset="0"/>
              </a:defRPr>
            </a:lvl2pPr>
            <a:lvl3pPr marL="1093051" indent="-218610" defTabSz="923021">
              <a:defRPr sz="1900" b="1">
                <a:solidFill>
                  <a:srgbClr val="FAFD00"/>
                </a:solidFill>
                <a:latin typeface="Times New Roman" pitchFamily="18" charset="0"/>
              </a:defRPr>
            </a:lvl3pPr>
            <a:lvl4pPr marL="1530271" indent="-218610" defTabSz="923021">
              <a:defRPr sz="1900" b="1">
                <a:solidFill>
                  <a:srgbClr val="FAFD00"/>
                </a:solidFill>
                <a:latin typeface="Times New Roman" pitchFamily="18" charset="0"/>
              </a:defRPr>
            </a:lvl4pPr>
            <a:lvl5pPr marL="1967492" indent="-218610" defTabSz="923021">
              <a:defRPr sz="1900" b="1">
                <a:solidFill>
                  <a:srgbClr val="FAFD00"/>
                </a:solidFill>
                <a:latin typeface="Times New Roman" pitchFamily="18" charset="0"/>
              </a:defRPr>
            </a:lvl5pPr>
            <a:lvl6pPr marL="2404712" indent="-218610" defTabSz="923021" eaLnBrk="0" fontAlgn="base" hangingPunct="0">
              <a:spcBef>
                <a:spcPct val="0"/>
              </a:spcBef>
              <a:spcAft>
                <a:spcPct val="0"/>
              </a:spcAft>
              <a:defRPr sz="1900" b="1">
                <a:solidFill>
                  <a:srgbClr val="FAFD00"/>
                </a:solidFill>
                <a:latin typeface="Times New Roman" pitchFamily="18" charset="0"/>
              </a:defRPr>
            </a:lvl6pPr>
            <a:lvl7pPr marL="2841932" indent="-218610" defTabSz="923021" eaLnBrk="0" fontAlgn="base" hangingPunct="0">
              <a:spcBef>
                <a:spcPct val="0"/>
              </a:spcBef>
              <a:spcAft>
                <a:spcPct val="0"/>
              </a:spcAft>
              <a:defRPr sz="1900" b="1">
                <a:solidFill>
                  <a:srgbClr val="FAFD00"/>
                </a:solidFill>
                <a:latin typeface="Times New Roman" pitchFamily="18" charset="0"/>
              </a:defRPr>
            </a:lvl7pPr>
            <a:lvl8pPr marL="3279153" indent="-218610" defTabSz="923021" eaLnBrk="0" fontAlgn="base" hangingPunct="0">
              <a:spcBef>
                <a:spcPct val="0"/>
              </a:spcBef>
              <a:spcAft>
                <a:spcPct val="0"/>
              </a:spcAft>
              <a:defRPr sz="1900" b="1">
                <a:solidFill>
                  <a:srgbClr val="FAFD00"/>
                </a:solidFill>
                <a:latin typeface="Times New Roman" pitchFamily="18" charset="0"/>
              </a:defRPr>
            </a:lvl8pPr>
            <a:lvl9pPr marL="3716373" indent="-218610" defTabSz="923021" eaLnBrk="0" fontAlgn="base" hangingPunct="0">
              <a:spcBef>
                <a:spcPct val="0"/>
              </a:spcBef>
              <a:spcAft>
                <a:spcPct val="0"/>
              </a:spcAft>
              <a:defRPr sz="1900" b="1">
                <a:solidFill>
                  <a:srgbClr val="FAFD00"/>
                </a:solidFill>
                <a:latin typeface="Times New Roman" pitchFamily="18" charset="0"/>
              </a:defRPr>
            </a:lvl9pPr>
          </a:lstStyle>
          <a:p>
            <a:fld id="{A38FBABA-935F-4BB6-809A-DEBCE7CB69D5}" type="slidenum">
              <a:rPr lang="en-US" altLang="en-US" sz="1100" b="0">
                <a:solidFill>
                  <a:schemeClr val="tx1"/>
                </a:solidFill>
              </a:rPr>
              <a:pPr/>
              <a:t>15</a:t>
            </a:fld>
            <a:endParaRPr lang="en-US" altLang="en-US" sz="1100" b="0">
              <a:solidFill>
                <a:schemeClr val="tx1"/>
              </a:solidFill>
            </a:endParaRPr>
          </a:p>
        </p:txBody>
      </p:sp>
    </p:spTree>
    <p:extLst>
      <p:ext uri="{BB962C8B-B14F-4D97-AF65-F5344CB8AC3E}">
        <p14:creationId xmlns:p14="http://schemas.microsoft.com/office/powerpoint/2010/main" val="2846721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347663" y="698500"/>
            <a:ext cx="6186487" cy="3481388"/>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021">
              <a:defRPr sz="1900" b="1">
                <a:solidFill>
                  <a:srgbClr val="FAFD00"/>
                </a:solidFill>
                <a:latin typeface="Times New Roman" pitchFamily="18" charset="0"/>
              </a:defRPr>
            </a:lvl1pPr>
            <a:lvl2pPr marL="710483" indent="-273263" defTabSz="923021">
              <a:defRPr sz="1900" b="1">
                <a:solidFill>
                  <a:srgbClr val="FAFD00"/>
                </a:solidFill>
                <a:latin typeface="Times New Roman" pitchFamily="18" charset="0"/>
              </a:defRPr>
            </a:lvl2pPr>
            <a:lvl3pPr marL="1093051" indent="-218610" defTabSz="923021">
              <a:defRPr sz="1900" b="1">
                <a:solidFill>
                  <a:srgbClr val="FAFD00"/>
                </a:solidFill>
                <a:latin typeface="Times New Roman" pitchFamily="18" charset="0"/>
              </a:defRPr>
            </a:lvl3pPr>
            <a:lvl4pPr marL="1530271" indent="-218610" defTabSz="923021">
              <a:defRPr sz="1900" b="1">
                <a:solidFill>
                  <a:srgbClr val="FAFD00"/>
                </a:solidFill>
                <a:latin typeface="Times New Roman" pitchFamily="18" charset="0"/>
              </a:defRPr>
            </a:lvl4pPr>
            <a:lvl5pPr marL="1967492" indent="-218610" defTabSz="923021">
              <a:defRPr sz="1900" b="1">
                <a:solidFill>
                  <a:srgbClr val="FAFD00"/>
                </a:solidFill>
                <a:latin typeface="Times New Roman" pitchFamily="18" charset="0"/>
              </a:defRPr>
            </a:lvl5pPr>
            <a:lvl6pPr marL="2404712" indent="-218610" defTabSz="923021" eaLnBrk="0" fontAlgn="base" hangingPunct="0">
              <a:spcBef>
                <a:spcPct val="0"/>
              </a:spcBef>
              <a:spcAft>
                <a:spcPct val="0"/>
              </a:spcAft>
              <a:defRPr sz="1900" b="1">
                <a:solidFill>
                  <a:srgbClr val="FAFD00"/>
                </a:solidFill>
                <a:latin typeface="Times New Roman" pitchFamily="18" charset="0"/>
              </a:defRPr>
            </a:lvl6pPr>
            <a:lvl7pPr marL="2841932" indent="-218610" defTabSz="923021" eaLnBrk="0" fontAlgn="base" hangingPunct="0">
              <a:spcBef>
                <a:spcPct val="0"/>
              </a:spcBef>
              <a:spcAft>
                <a:spcPct val="0"/>
              </a:spcAft>
              <a:defRPr sz="1900" b="1">
                <a:solidFill>
                  <a:srgbClr val="FAFD00"/>
                </a:solidFill>
                <a:latin typeface="Times New Roman" pitchFamily="18" charset="0"/>
              </a:defRPr>
            </a:lvl7pPr>
            <a:lvl8pPr marL="3279153" indent="-218610" defTabSz="923021" eaLnBrk="0" fontAlgn="base" hangingPunct="0">
              <a:spcBef>
                <a:spcPct val="0"/>
              </a:spcBef>
              <a:spcAft>
                <a:spcPct val="0"/>
              </a:spcAft>
              <a:defRPr sz="1900" b="1">
                <a:solidFill>
                  <a:srgbClr val="FAFD00"/>
                </a:solidFill>
                <a:latin typeface="Times New Roman" pitchFamily="18" charset="0"/>
              </a:defRPr>
            </a:lvl8pPr>
            <a:lvl9pPr marL="3716373" indent="-218610" defTabSz="923021" eaLnBrk="0" fontAlgn="base" hangingPunct="0">
              <a:spcBef>
                <a:spcPct val="0"/>
              </a:spcBef>
              <a:spcAft>
                <a:spcPct val="0"/>
              </a:spcAft>
              <a:defRPr sz="1900" b="1">
                <a:solidFill>
                  <a:srgbClr val="FAFD00"/>
                </a:solidFill>
                <a:latin typeface="Times New Roman" pitchFamily="18" charset="0"/>
              </a:defRPr>
            </a:lvl9pPr>
          </a:lstStyle>
          <a:p>
            <a:fld id="{7DCF2EBD-5AA8-4956-9223-C8B6F91D6005}" type="slidenum">
              <a:rPr lang="en-US" altLang="en-US" sz="1100" b="0">
                <a:solidFill>
                  <a:schemeClr val="tx1"/>
                </a:solidFill>
              </a:rPr>
              <a:pPr/>
              <a:t>16</a:t>
            </a:fld>
            <a:endParaRPr lang="en-US" altLang="en-US" sz="1100" b="0">
              <a:solidFill>
                <a:schemeClr val="tx1"/>
              </a:solidFill>
            </a:endParaRPr>
          </a:p>
        </p:txBody>
      </p:sp>
    </p:spTree>
    <p:extLst>
      <p:ext uri="{BB962C8B-B14F-4D97-AF65-F5344CB8AC3E}">
        <p14:creationId xmlns:p14="http://schemas.microsoft.com/office/powerpoint/2010/main" val="32455599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xfrm>
            <a:off x="347663" y="698500"/>
            <a:ext cx="6186487" cy="3481388"/>
          </a:xfrm>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altLang="zh-CN" sz="1200" b="0" dirty="0">
                <a:solidFill>
                  <a:schemeClr val="tx1"/>
                </a:solidFill>
                <a:latin typeface="Arial" panose="020B0604020202020204" pitchFamily="34" charset="0"/>
                <a:ea typeface="楷体_GB2312" pitchFamily="49" charset="-122"/>
                <a:cs typeface="Arial" panose="020B0604020202020204" pitchFamily="34" charset="0"/>
              </a:rPr>
              <a:t>Scalene</a:t>
            </a:r>
            <a:r>
              <a:rPr lang="en-US" altLang="zh-CN" sz="1200" b="0" i="0" kern="1200" dirty="0">
                <a:solidFill>
                  <a:schemeClr val="tx1"/>
                </a:solidFill>
                <a:effectLst/>
                <a:latin typeface="Times New Roman" pitchFamily="18" charset="0"/>
                <a:ea typeface="+mn-ea"/>
                <a:cs typeface="+mn-cs"/>
              </a:rPr>
              <a:t>['</a:t>
            </a:r>
            <a:r>
              <a:rPr lang="en-US" altLang="zh-CN" sz="1200" b="0" i="0" kern="1200" dirty="0" err="1">
                <a:solidFill>
                  <a:schemeClr val="tx1"/>
                </a:solidFill>
                <a:effectLst/>
                <a:latin typeface="Times New Roman" pitchFamily="18" charset="0"/>
                <a:ea typeface="+mn-ea"/>
                <a:cs typeface="+mn-cs"/>
              </a:rPr>
              <a:t>skeɪliːn</a:t>
            </a:r>
            <a:r>
              <a:rPr lang="en-US" altLang="zh-CN" sz="1200" b="0" i="0" kern="1200" dirty="0">
                <a:solidFill>
                  <a:schemeClr val="tx1"/>
                </a:solidFill>
                <a:effectLst/>
                <a:latin typeface="Times New Roman" pitchFamily="18" charset="0"/>
                <a:ea typeface="+mn-ea"/>
                <a:cs typeface="+mn-cs"/>
              </a:rPr>
              <a:t>]</a:t>
            </a:r>
            <a:r>
              <a:rPr kumimoji="1" lang="zh-CN" altLang="en-US" sz="1200" b="0" dirty="0">
                <a:solidFill>
                  <a:schemeClr val="tx1"/>
                </a:solidFill>
                <a:latin typeface="Arial" panose="020B0604020202020204" pitchFamily="34" charset="0"/>
                <a:ea typeface="楷体_GB2312" pitchFamily="49" charset="-122"/>
                <a:cs typeface="Arial" panose="020B0604020202020204" pitchFamily="34" charset="0"/>
              </a:rPr>
              <a:t>：不等边</a:t>
            </a:r>
            <a:endParaRPr kumimoji="1" lang="en-US" altLang="zh-CN" sz="1200" b="0" dirty="0">
              <a:solidFill>
                <a:schemeClr val="tx1"/>
              </a:solidFill>
              <a:latin typeface="Arial" panose="020B0604020202020204" pitchFamily="34" charset="0"/>
              <a:ea typeface="楷体_GB2312" pitchFamily="49" charset="-122"/>
              <a:cs typeface="Arial" panose="020B0604020202020204" pitchFamily="34" charset="0"/>
            </a:endParaRPr>
          </a:p>
          <a:p>
            <a:r>
              <a:rPr kumimoji="1" lang="en-US" altLang="zh-CN" sz="1200" b="0" dirty="0">
                <a:solidFill>
                  <a:schemeClr val="tx1"/>
                </a:solidFill>
                <a:latin typeface="Arial" panose="020B0604020202020204" pitchFamily="34" charset="0"/>
                <a:ea typeface="楷体_GB2312" pitchFamily="49" charset="-122"/>
                <a:cs typeface="Arial" panose="020B0604020202020204" pitchFamily="34" charset="0"/>
              </a:rPr>
              <a:t>Isosceles</a:t>
            </a:r>
            <a:r>
              <a:rPr lang="en-US" altLang="zh-CN" sz="1200" b="0" i="0" kern="1200" dirty="0">
                <a:solidFill>
                  <a:schemeClr val="tx1"/>
                </a:solidFill>
                <a:effectLst/>
                <a:latin typeface="Times New Roman" pitchFamily="18" charset="0"/>
                <a:ea typeface="+mn-ea"/>
                <a:cs typeface="+mn-cs"/>
              </a:rPr>
              <a:t>[</a:t>
            </a:r>
            <a:r>
              <a:rPr lang="en-US" altLang="zh-CN" sz="1200" b="0" i="0" kern="1200" dirty="0" err="1">
                <a:solidFill>
                  <a:schemeClr val="tx1"/>
                </a:solidFill>
                <a:effectLst/>
                <a:latin typeface="Times New Roman" pitchFamily="18" charset="0"/>
                <a:ea typeface="+mn-ea"/>
                <a:cs typeface="+mn-cs"/>
              </a:rPr>
              <a:t>aɪ'sɒsɪliːz</a:t>
            </a:r>
            <a:r>
              <a:rPr lang="en-US" altLang="zh-CN" sz="1200" b="0" i="0" kern="1200" dirty="0">
                <a:solidFill>
                  <a:schemeClr val="tx1"/>
                </a:solidFill>
                <a:effectLst/>
                <a:latin typeface="Times New Roman" pitchFamily="18" charset="0"/>
                <a:ea typeface="+mn-ea"/>
                <a:cs typeface="+mn-cs"/>
              </a:rPr>
              <a:t>]</a:t>
            </a:r>
            <a:r>
              <a:rPr kumimoji="1" lang="zh-CN" altLang="en-US" sz="1200" b="0" dirty="0">
                <a:solidFill>
                  <a:schemeClr val="tx1"/>
                </a:solidFill>
                <a:latin typeface="Arial" panose="020B0604020202020204" pitchFamily="34" charset="0"/>
                <a:ea typeface="楷体_GB2312" pitchFamily="49" charset="-122"/>
                <a:cs typeface="Arial" panose="020B0604020202020204" pitchFamily="34" charset="0"/>
              </a:rPr>
              <a:t>：等腰</a:t>
            </a:r>
            <a:endParaRPr kumimoji="1" lang="en-US" altLang="zh-CN" sz="1200" b="0" dirty="0">
              <a:solidFill>
                <a:schemeClr val="tx1"/>
              </a:solidFill>
              <a:latin typeface="Arial" panose="020B0604020202020204" pitchFamily="34" charset="0"/>
              <a:ea typeface="楷体_GB2312" pitchFamily="49" charset="-122"/>
              <a:cs typeface="Arial" panose="020B0604020202020204" pitchFamily="34" charset="0"/>
            </a:endParaRPr>
          </a:p>
          <a:p>
            <a:r>
              <a:rPr kumimoji="1" lang="en-US" altLang="zh-CN" sz="1200" b="0" dirty="0">
                <a:solidFill>
                  <a:schemeClr val="tx1"/>
                </a:solidFill>
                <a:latin typeface="Arial" panose="020B0604020202020204" pitchFamily="34" charset="0"/>
                <a:ea typeface="楷体_GB2312" pitchFamily="49" charset="-122"/>
                <a:cs typeface="Arial" panose="020B0604020202020204" pitchFamily="34" charset="0"/>
              </a:rPr>
              <a:t>Equilateral</a:t>
            </a:r>
            <a:r>
              <a:rPr kumimoji="1" lang="zh-CN" altLang="en-US" sz="1200" b="0" dirty="0">
                <a:solidFill>
                  <a:schemeClr val="tx1"/>
                </a:solidFill>
                <a:latin typeface="Arial" panose="020B0604020202020204" pitchFamily="34" charset="0"/>
                <a:ea typeface="楷体_GB2312" pitchFamily="49" charset="-122"/>
                <a:cs typeface="Arial" panose="020B0604020202020204" pitchFamily="34" charset="0"/>
              </a:rPr>
              <a:t>：等边</a:t>
            </a:r>
            <a:endParaRPr lang="zh-CN" altLang="en-US" dirty="0"/>
          </a:p>
          <a:p>
            <a:endParaRPr lang="en-US" altLang="en-US" dirty="0"/>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021">
              <a:defRPr sz="1900" b="1">
                <a:solidFill>
                  <a:srgbClr val="FAFD00"/>
                </a:solidFill>
                <a:latin typeface="Times New Roman" pitchFamily="18" charset="0"/>
              </a:defRPr>
            </a:lvl1pPr>
            <a:lvl2pPr marL="710483" indent="-273263" defTabSz="923021">
              <a:defRPr sz="1900" b="1">
                <a:solidFill>
                  <a:srgbClr val="FAFD00"/>
                </a:solidFill>
                <a:latin typeface="Times New Roman" pitchFamily="18" charset="0"/>
              </a:defRPr>
            </a:lvl2pPr>
            <a:lvl3pPr marL="1093051" indent="-218610" defTabSz="923021">
              <a:defRPr sz="1900" b="1">
                <a:solidFill>
                  <a:srgbClr val="FAFD00"/>
                </a:solidFill>
                <a:latin typeface="Times New Roman" pitchFamily="18" charset="0"/>
              </a:defRPr>
            </a:lvl3pPr>
            <a:lvl4pPr marL="1530271" indent="-218610" defTabSz="923021">
              <a:defRPr sz="1900" b="1">
                <a:solidFill>
                  <a:srgbClr val="FAFD00"/>
                </a:solidFill>
                <a:latin typeface="Times New Roman" pitchFamily="18" charset="0"/>
              </a:defRPr>
            </a:lvl4pPr>
            <a:lvl5pPr marL="1967492" indent="-218610" defTabSz="923021">
              <a:defRPr sz="1900" b="1">
                <a:solidFill>
                  <a:srgbClr val="FAFD00"/>
                </a:solidFill>
                <a:latin typeface="Times New Roman" pitchFamily="18" charset="0"/>
              </a:defRPr>
            </a:lvl5pPr>
            <a:lvl6pPr marL="2404712" indent="-218610" defTabSz="923021" eaLnBrk="0" fontAlgn="base" hangingPunct="0">
              <a:spcBef>
                <a:spcPct val="0"/>
              </a:spcBef>
              <a:spcAft>
                <a:spcPct val="0"/>
              </a:spcAft>
              <a:defRPr sz="1900" b="1">
                <a:solidFill>
                  <a:srgbClr val="FAFD00"/>
                </a:solidFill>
                <a:latin typeface="Times New Roman" pitchFamily="18" charset="0"/>
              </a:defRPr>
            </a:lvl6pPr>
            <a:lvl7pPr marL="2841932" indent="-218610" defTabSz="923021" eaLnBrk="0" fontAlgn="base" hangingPunct="0">
              <a:spcBef>
                <a:spcPct val="0"/>
              </a:spcBef>
              <a:spcAft>
                <a:spcPct val="0"/>
              </a:spcAft>
              <a:defRPr sz="1900" b="1">
                <a:solidFill>
                  <a:srgbClr val="FAFD00"/>
                </a:solidFill>
                <a:latin typeface="Times New Roman" pitchFamily="18" charset="0"/>
              </a:defRPr>
            </a:lvl7pPr>
            <a:lvl8pPr marL="3279153" indent="-218610" defTabSz="923021" eaLnBrk="0" fontAlgn="base" hangingPunct="0">
              <a:spcBef>
                <a:spcPct val="0"/>
              </a:spcBef>
              <a:spcAft>
                <a:spcPct val="0"/>
              </a:spcAft>
              <a:defRPr sz="1900" b="1">
                <a:solidFill>
                  <a:srgbClr val="FAFD00"/>
                </a:solidFill>
                <a:latin typeface="Times New Roman" pitchFamily="18" charset="0"/>
              </a:defRPr>
            </a:lvl8pPr>
            <a:lvl9pPr marL="3716373" indent="-218610" defTabSz="923021" eaLnBrk="0" fontAlgn="base" hangingPunct="0">
              <a:spcBef>
                <a:spcPct val="0"/>
              </a:spcBef>
              <a:spcAft>
                <a:spcPct val="0"/>
              </a:spcAft>
              <a:defRPr sz="1900" b="1">
                <a:solidFill>
                  <a:srgbClr val="FAFD00"/>
                </a:solidFill>
                <a:latin typeface="Times New Roman" pitchFamily="18" charset="0"/>
              </a:defRPr>
            </a:lvl9pPr>
          </a:lstStyle>
          <a:p>
            <a:fld id="{7BB5C9F0-13CD-4EA8-91FD-4DF677709E2C}" type="slidenum">
              <a:rPr lang="en-US" altLang="en-US" sz="1100" b="0">
                <a:solidFill>
                  <a:schemeClr val="tx1"/>
                </a:solidFill>
              </a:rPr>
              <a:pPr/>
              <a:t>17</a:t>
            </a:fld>
            <a:endParaRPr lang="en-US" altLang="en-US" sz="1100" b="0">
              <a:solidFill>
                <a:schemeClr val="tx1"/>
              </a:solidFill>
            </a:endParaRPr>
          </a:p>
        </p:txBody>
      </p:sp>
    </p:spTree>
    <p:extLst>
      <p:ext uri="{BB962C8B-B14F-4D97-AF65-F5344CB8AC3E}">
        <p14:creationId xmlns:p14="http://schemas.microsoft.com/office/powerpoint/2010/main" val="39957159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xfrm>
            <a:off x="347663" y="698500"/>
            <a:ext cx="6186487" cy="3481388"/>
          </a:xfrm>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021">
              <a:defRPr sz="1900" b="1">
                <a:solidFill>
                  <a:srgbClr val="FAFD00"/>
                </a:solidFill>
                <a:latin typeface="Times New Roman" pitchFamily="18" charset="0"/>
              </a:defRPr>
            </a:lvl1pPr>
            <a:lvl2pPr marL="710483" indent="-273263" defTabSz="923021">
              <a:defRPr sz="1900" b="1">
                <a:solidFill>
                  <a:srgbClr val="FAFD00"/>
                </a:solidFill>
                <a:latin typeface="Times New Roman" pitchFamily="18" charset="0"/>
              </a:defRPr>
            </a:lvl2pPr>
            <a:lvl3pPr marL="1093051" indent="-218610" defTabSz="923021">
              <a:defRPr sz="1900" b="1">
                <a:solidFill>
                  <a:srgbClr val="FAFD00"/>
                </a:solidFill>
                <a:latin typeface="Times New Roman" pitchFamily="18" charset="0"/>
              </a:defRPr>
            </a:lvl3pPr>
            <a:lvl4pPr marL="1530271" indent="-218610" defTabSz="923021">
              <a:defRPr sz="1900" b="1">
                <a:solidFill>
                  <a:srgbClr val="FAFD00"/>
                </a:solidFill>
                <a:latin typeface="Times New Roman" pitchFamily="18" charset="0"/>
              </a:defRPr>
            </a:lvl4pPr>
            <a:lvl5pPr marL="1967492" indent="-218610" defTabSz="923021">
              <a:defRPr sz="1900" b="1">
                <a:solidFill>
                  <a:srgbClr val="FAFD00"/>
                </a:solidFill>
                <a:latin typeface="Times New Roman" pitchFamily="18" charset="0"/>
              </a:defRPr>
            </a:lvl5pPr>
            <a:lvl6pPr marL="2404712" indent="-218610" defTabSz="923021" eaLnBrk="0" fontAlgn="base" hangingPunct="0">
              <a:spcBef>
                <a:spcPct val="0"/>
              </a:spcBef>
              <a:spcAft>
                <a:spcPct val="0"/>
              </a:spcAft>
              <a:defRPr sz="1900" b="1">
                <a:solidFill>
                  <a:srgbClr val="FAFD00"/>
                </a:solidFill>
                <a:latin typeface="Times New Roman" pitchFamily="18" charset="0"/>
              </a:defRPr>
            </a:lvl6pPr>
            <a:lvl7pPr marL="2841932" indent="-218610" defTabSz="923021" eaLnBrk="0" fontAlgn="base" hangingPunct="0">
              <a:spcBef>
                <a:spcPct val="0"/>
              </a:spcBef>
              <a:spcAft>
                <a:spcPct val="0"/>
              </a:spcAft>
              <a:defRPr sz="1900" b="1">
                <a:solidFill>
                  <a:srgbClr val="FAFD00"/>
                </a:solidFill>
                <a:latin typeface="Times New Roman" pitchFamily="18" charset="0"/>
              </a:defRPr>
            </a:lvl7pPr>
            <a:lvl8pPr marL="3279153" indent="-218610" defTabSz="923021" eaLnBrk="0" fontAlgn="base" hangingPunct="0">
              <a:spcBef>
                <a:spcPct val="0"/>
              </a:spcBef>
              <a:spcAft>
                <a:spcPct val="0"/>
              </a:spcAft>
              <a:defRPr sz="1900" b="1">
                <a:solidFill>
                  <a:srgbClr val="FAFD00"/>
                </a:solidFill>
                <a:latin typeface="Times New Roman" pitchFamily="18" charset="0"/>
              </a:defRPr>
            </a:lvl8pPr>
            <a:lvl9pPr marL="3716373" indent="-218610" defTabSz="923021" eaLnBrk="0" fontAlgn="base" hangingPunct="0">
              <a:spcBef>
                <a:spcPct val="0"/>
              </a:spcBef>
              <a:spcAft>
                <a:spcPct val="0"/>
              </a:spcAft>
              <a:defRPr sz="1900" b="1">
                <a:solidFill>
                  <a:srgbClr val="FAFD00"/>
                </a:solidFill>
                <a:latin typeface="Times New Roman" pitchFamily="18" charset="0"/>
              </a:defRPr>
            </a:lvl9pPr>
          </a:lstStyle>
          <a:p>
            <a:fld id="{5785E3CB-140F-498E-8C97-169F0FA8CAF5}" type="slidenum">
              <a:rPr lang="en-US" altLang="en-US" sz="1100" b="0">
                <a:solidFill>
                  <a:schemeClr val="tx1"/>
                </a:solidFill>
              </a:rPr>
              <a:pPr/>
              <a:t>19</a:t>
            </a:fld>
            <a:endParaRPr lang="en-US" altLang="en-US" sz="1100" b="0">
              <a:solidFill>
                <a:schemeClr val="tx1"/>
              </a:solidFill>
            </a:endParaRPr>
          </a:p>
        </p:txBody>
      </p:sp>
    </p:spTree>
    <p:extLst>
      <p:ext uri="{BB962C8B-B14F-4D97-AF65-F5344CB8AC3E}">
        <p14:creationId xmlns:p14="http://schemas.microsoft.com/office/powerpoint/2010/main" val="34304100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xfrm>
            <a:off x="347663" y="698500"/>
            <a:ext cx="6186487" cy="3481388"/>
          </a:xfrm>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021">
              <a:defRPr sz="1900" b="1">
                <a:solidFill>
                  <a:srgbClr val="FAFD00"/>
                </a:solidFill>
                <a:latin typeface="Times New Roman" pitchFamily="18" charset="0"/>
              </a:defRPr>
            </a:lvl1pPr>
            <a:lvl2pPr marL="710483" indent="-273263" defTabSz="923021">
              <a:defRPr sz="1900" b="1">
                <a:solidFill>
                  <a:srgbClr val="FAFD00"/>
                </a:solidFill>
                <a:latin typeface="Times New Roman" pitchFamily="18" charset="0"/>
              </a:defRPr>
            </a:lvl2pPr>
            <a:lvl3pPr marL="1093051" indent="-218610" defTabSz="923021">
              <a:defRPr sz="1900" b="1">
                <a:solidFill>
                  <a:srgbClr val="FAFD00"/>
                </a:solidFill>
                <a:latin typeface="Times New Roman" pitchFamily="18" charset="0"/>
              </a:defRPr>
            </a:lvl3pPr>
            <a:lvl4pPr marL="1530271" indent="-218610" defTabSz="923021">
              <a:defRPr sz="1900" b="1">
                <a:solidFill>
                  <a:srgbClr val="FAFD00"/>
                </a:solidFill>
                <a:latin typeface="Times New Roman" pitchFamily="18" charset="0"/>
              </a:defRPr>
            </a:lvl4pPr>
            <a:lvl5pPr marL="1967492" indent="-218610" defTabSz="923021">
              <a:defRPr sz="1900" b="1">
                <a:solidFill>
                  <a:srgbClr val="FAFD00"/>
                </a:solidFill>
                <a:latin typeface="Times New Roman" pitchFamily="18" charset="0"/>
              </a:defRPr>
            </a:lvl5pPr>
            <a:lvl6pPr marL="2404712" indent="-218610" defTabSz="923021" eaLnBrk="0" fontAlgn="base" hangingPunct="0">
              <a:spcBef>
                <a:spcPct val="0"/>
              </a:spcBef>
              <a:spcAft>
                <a:spcPct val="0"/>
              </a:spcAft>
              <a:defRPr sz="1900" b="1">
                <a:solidFill>
                  <a:srgbClr val="FAFD00"/>
                </a:solidFill>
                <a:latin typeface="Times New Roman" pitchFamily="18" charset="0"/>
              </a:defRPr>
            </a:lvl6pPr>
            <a:lvl7pPr marL="2841932" indent="-218610" defTabSz="923021" eaLnBrk="0" fontAlgn="base" hangingPunct="0">
              <a:spcBef>
                <a:spcPct val="0"/>
              </a:spcBef>
              <a:spcAft>
                <a:spcPct val="0"/>
              </a:spcAft>
              <a:defRPr sz="1900" b="1">
                <a:solidFill>
                  <a:srgbClr val="FAFD00"/>
                </a:solidFill>
                <a:latin typeface="Times New Roman" pitchFamily="18" charset="0"/>
              </a:defRPr>
            </a:lvl7pPr>
            <a:lvl8pPr marL="3279153" indent="-218610" defTabSz="923021" eaLnBrk="0" fontAlgn="base" hangingPunct="0">
              <a:spcBef>
                <a:spcPct val="0"/>
              </a:spcBef>
              <a:spcAft>
                <a:spcPct val="0"/>
              </a:spcAft>
              <a:defRPr sz="1900" b="1">
                <a:solidFill>
                  <a:srgbClr val="FAFD00"/>
                </a:solidFill>
                <a:latin typeface="Times New Roman" pitchFamily="18" charset="0"/>
              </a:defRPr>
            </a:lvl8pPr>
            <a:lvl9pPr marL="3716373" indent="-218610" defTabSz="923021" eaLnBrk="0" fontAlgn="base" hangingPunct="0">
              <a:spcBef>
                <a:spcPct val="0"/>
              </a:spcBef>
              <a:spcAft>
                <a:spcPct val="0"/>
              </a:spcAft>
              <a:defRPr sz="1900" b="1">
                <a:solidFill>
                  <a:srgbClr val="FAFD00"/>
                </a:solidFill>
                <a:latin typeface="Times New Roman" pitchFamily="18" charset="0"/>
              </a:defRPr>
            </a:lvl9pPr>
          </a:lstStyle>
          <a:p>
            <a:fld id="{F7172181-5664-4E3D-9E32-9FA05104AFEF}" type="slidenum">
              <a:rPr lang="en-US" altLang="en-US" sz="1100" b="0">
                <a:solidFill>
                  <a:schemeClr val="tx1"/>
                </a:solidFill>
              </a:rPr>
              <a:pPr/>
              <a:t>20</a:t>
            </a:fld>
            <a:endParaRPr lang="en-US" altLang="en-US" sz="1100" b="0">
              <a:solidFill>
                <a:schemeClr val="tx1"/>
              </a:solidFill>
            </a:endParaRPr>
          </a:p>
        </p:txBody>
      </p:sp>
    </p:spTree>
    <p:extLst>
      <p:ext uri="{BB962C8B-B14F-4D97-AF65-F5344CB8AC3E}">
        <p14:creationId xmlns:p14="http://schemas.microsoft.com/office/powerpoint/2010/main" val="19235861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xfrm>
            <a:off x="347663" y="698500"/>
            <a:ext cx="6186487" cy="3481388"/>
          </a:xfrm>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021">
              <a:defRPr sz="1900" b="1">
                <a:solidFill>
                  <a:srgbClr val="FAFD00"/>
                </a:solidFill>
                <a:latin typeface="Times New Roman" pitchFamily="18" charset="0"/>
              </a:defRPr>
            </a:lvl1pPr>
            <a:lvl2pPr marL="710483" indent="-273263" defTabSz="923021">
              <a:defRPr sz="1900" b="1">
                <a:solidFill>
                  <a:srgbClr val="FAFD00"/>
                </a:solidFill>
                <a:latin typeface="Times New Roman" pitchFamily="18" charset="0"/>
              </a:defRPr>
            </a:lvl2pPr>
            <a:lvl3pPr marL="1093051" indent="-218610" defTabSz="923021">
              <a:defRPr sz="1900" b="1">
                <a:solidFill>
                  <a:srgbClr val="FAFD00"/>
                </a:solidFill>
                <a:latin typeface="Times New Roman" pitchFamily="18" charset="0"/>
              </a:defRPr>
            </a:lvl3pPr>
            <a:lvl4pPr marL="1530271" indent="-218610" defTabSz="923021">
              <a:defRPr sz="1900" b="1">
                <a:solidFill>
                  <a:srgbClr val="FAFD00"/>
                </a:solidFill>
                <a:latin typeface="Times New Roman" pitchFamily="18" charset="0"/>
              </a:defRPr>
            </a:lvl4pPr>
            <a:lvl5pPr marL="1967492" indent="-218610" defTabSz="923021">
              <a:defRPr sz="1900" b="1">
                <a:solidFill>
                  <a:srgbClr val="FAFD00"/>
                </a:solidFill>
                <a:latin typeface="Times New Roman" pitchFamily="18" charset="0"/>
              </a:defRPr>
            </a:lvl5pPr>
            <a:lvl6pPr marL="2404712" indent="-218610" defTabSz="923021" eaLnBrk="0" fontAlgn="base" hangingPunct="0">
              <a:spcBef>
                <a:spcPct val="0"/>
              </a:spcBef>
              <a:spcAft>
                <a:spcPct val="0"/>
              </a:spcAft>
              <a:defRPr sz="1900" b="1">
                <a:solidFill>
                  <a:srgbClr val="FAFD00"/>
                </a:solidFill>
                <a:latin typeface="Times New Roman" pitchFamily="18" charset="0"/>
              </a:defRPr>
            </a:lvl6pPr>
            <a:lvl7pPr marL="2841932" indent="-218610" defTabSz="923021" eaLnBrk="0" fontAlgn="base" hangingPunct="0">
              <a:spcBef>
                <a:spcPct val="0"/>
              </a:spcBef>
              <a:spcAft>
                <a:spcPct val="0"/>
              </a:spcAft>
              <a:defRPr sz="1900" b="1">
                <a:solidFill>
                  <a:srgbClr val="FAFD00"/>
                </a:solidFill>
                <a:latin typeface="Times New Roman" pitchFamily="18" charset="0"/>
              </a:defRPr>
            </a:lvl7pPr>
            <a:lvl8pPr marL="3279153" indent="-218610" defTabSz="923021" eaLnBrk="0" fontAlgn="base" hangingPunct="0">
              <a:spcBef>
                <a:spcPct val="0"/>
              </a:spcBef>
              <a:spcAft>
                <a:spcPct val="0"/>
              </a:spcAft>
              <a:defRPr sz="1900" b="1">
                <a:solidFill>
                  <a:srgbClr val="FAFD00"/>
                </a:solidFill>
                <a:latin typeface="Times New Roman" pitchFamily="18" charset="0"/>
              </a:defRPr>
            </a:lvl8pPr>
            <a:lvl9pPr marL="3716373" indent="-218610" defTabSz="923021" eaLnBrk="0" fontAlgn="base" hangingPunct="0">
              <a:spcBef>
                <a:spcPct val="0"/>
              </a:spcBef>
              <a:spcAft>
                <a:spcPct val="0"/>
              </a:spcAft>
              <a:defRPr sz="1900" b="1">
                <a:solidFill>
                  <a:srgbClr val="FAFD00"/>
                </a:solidFill>
                <a:latin typeface="Times New Roman" pitchFamily="18" charset="0"/>
              </a:defRPr>
            </a:lvl9pPr>
          </a:lstStyle>
          <a:p>
            <a:fld id="{733D8C59-CA53-4B85-8408-3C34A66E3C93}" type="slidenum">
              <a:rPr lang="en-US" altLang="en-US" sz="1100" b="0">
                <a:solidFill>
                  <a:schemeClr val="tx1"/>
                </a:solidFill>
              </a:rPr>
              <a:pPr/>
              <a:t>22</a:t>
            </a:fld>
            <a:endParaRPr lang="en-US" altLang="en-US" sz="1100" b="0">
              <a:solidFill>
                <a:schemeClr val="tx1"/>
              </a:solidFill>
            </a:endParaRPr>
          </a:p>
        </p:txBody>
      </p:sp>
    </p:spTree>
    <p:extLst>
      <p:ext uri="{BB962C8B-B14F-4D97-AF65-F5344CB8AC3E}">
        <p14:creationId xmlns:p14="http://schemas.microsoft.com/office/powerpoint/2010/main" val="41424054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xfrm>
            <a:off x="347663" y="698500"/>
            <a:ext cx="6186487" cy="3481388"/>
          </a:xfrm>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021">
              <a:defRPr sz="1900" b="1">
                <a:solidFill>
                  <a:srgbClr val="FAFD00"/>
                </a:solidFill>
                <a:latin typeface="Times New Roman" pitchFamily="18" charset="0"/>
              </a:defRPr>
            </a:lvl1pPr>
            <a:lvl2pPr marL="710483" indent="-273263" defTabSz="923021">
              <a:defRPr sz="1900" b="1">
                <a:solidFill>
                  <a:srgbClr val="FAFD00"/>
                </a:solidFill>
                <a:latin typeface="Times New Roman" pitchFamily="18" charset="0"/>
              </a:defRPr>
            </a:lvl2pPr>
            <a:lvl3pPr marL="1093051" indent="-218610" defTabSz="923021">
              <a:defRPr sz="1900" b="1">
                <a:solidFill>
                  <a:srgbClr val="FAFD00"/>
                </a:solidFill>
                <a:latin typeface="Times New Roman" pitchFamily="18" charset="0"/>
              </a:defRPr>
            </a:lvl3pPr>
            <a:lvl4pPr marL="1530271" indent="-218610" defTabSz="923021">
              <a:defRPr sz="1900" b="1">
                <a:solidFill>
                  <a:srgbClr val="FAFD00"/>
                </a:solidFill>
                <a:latin typeface="Times New Roman" pitchFamily="18" charset="0"/>
              </a:defRPr>
            </a:lvl4pPr>
            <a:lvl5pPr marL="1967492" indent="-218610" defTabSz="923021">
              <a:defRPr sz="1900" b="1">
                <a:solidFill>
                  <a:srgbClr val="FAFD00"/>
                </a:solidFill>
                <a:latin typeface="Times New Roman" pitchFamily="18" charset="0"/>
              </a:defRPr>
            </a:lvl5pPr>
            <a:lvl6pPr marL="2404712" indent="-218610" defTabSz="923021" eaLnBrk="0" fontAlgn="base" hangingPunct="0">
              <a:spcBef>
                <a:spcPct val="0"/>
              </a:spcBef>
              <a:spcAft>
                <a:spcPct val="0"/>
              </a:spcAft>
              <a:defRPr sz="1900" b="1">
                <a:solidFill>
                  <a:srgbClr val="FAFD00"/>
                </a:solidFill>
                <a:latin typeface="Times New Roman" pitchFamily="18" charset="0"/>
              </a:defRPr>
            </a:lvl6pPr>
            <a:lvl7pPr marL="2841932" indent="-218610" defTabSz="923021" eaLnBrk="0" fontAlgn="base" hangingPunct="0">
              <a:spcBef>
                <a:spcPct val="0"/>
              </a:spcBef>
              <a:spcAft>
                <a:spcPct val="0"/>
              </a:spcAft>
              <a:defRPr sz="1900" b="1">
                <a:solidFill>
                  <a:srgbClr val="FAFD00"/>
                </a:solidFill>
                <a:latin typeface="Times New Roman" pitchFamily="18" charset="0"/>
              </a:defRPr>
            </a:lvl7pPr>
            <a:lvl8pPr marL="3279153" indent="-218610" defTabSz="923021" eaLnBrk="0" fontAlgn="base" hangingPunct="0">
              <a:spcBef>
                <a:spcPct val="0"/>
              </a:spcBef>
              <a:spcAft>
                <a:spcPct val="0"/>
              </a:spcAft>
              <a:defRPr sz="1900" b="1">
                <a:solidFill>
                  <a:srgbClr val="FAFD00"/>
                </a:solidFill>
                <a:latin typeface="Times New Roman" pitchFamily="18" charset="0"/>
              </a:defRPr>
            </a:lvl8pPr>
            <a:lvl9pPr marL="3716373" indent="-218610" defTabSz="923021" eaLnBrk="0" fontAlgn="base" hangingPunct="0">
              <a:spcBef>
                <a:spcPct val="0"/>
              </a:spcBef>
              <a:spcAft>
                <a:spcPct val="0"/>
              </a:spcAft>
              <a:defRPr sz="1900" b="1">
                <a:solidFill>
                  <a:srgbClr val="FAFD00"/>
                </a:solidFill>
                <a:latin typeface="Times New Roman" pitchFamily="18" charset="0"/>
              </a:defRPr>
            </a:lvl9pPr>
          </a:lstStyle>
          <a:p>
            <a:fld id="{C168A822-7104-4A43-BDBB-4CDF972915B2}" type="slidenum">
              <a:rPr lang="en-US" altLang="en-US" sz="1100" b="0">
                <a:solidFill>
                  <a:schemeClr val="tx1"/>
                </a:solidFill>
              </a:rPr>
              <a:pPr/>
              <a:t>23</a:t>
            </a:fld>
            <a:endParaRPr lang="en-US" altLang="en-US" sz="1100" b="0">
              <a:solidFill>
                <a:schemeClr val="tx1"/>
              </a:solidFill>
            </a:endParaRPr>
          </a:p>
        </p:txBody>
      </p:sp>
    </p:spTree>
    <p:extLst>
      <p:ext uri="{BB962C8B-B14F-4D97-AF65-F5344CB8AC3E}">
        <p14:creationId xmlns:p14="http://schemas.microsoft.com/office/powerpoint/2010/main" val="12784869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xfrm>
            <a:off x="347663" y="698500"/>
            <a:ext cx="6186487" cy="3481388"/>
          </a:xfrm>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5300" name="Slide Number Placeholder 3"/>
          <p:cNvSpPr txBox="1">
            <a:spLocks noGrp="1"/>
          </p:cNvSpPr>
          <p:nvPr/>
        </p:nvSpPr>
        <p:spPr bwMode="auto">
          <a:xfrm>
            <a:off x="3899396" y="8832195"/>
            <a:ext cx="2982417" cy="464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252" tIns="0" rIns="19252" bIns="0" anchor="b"/>
          <a:lstStyle>
            <a:lvl1pPr defTabSz="965200">
              <a:defRPr sz="2000" b="1">
                <a:solidFill>
                  <a:srgbClr val="FAFD00"/>
                </a:solidFill>
                <a:latin typeface="Times New Roman" pitchFamily="18" charset="0"/>
              </a:defRPr>
            </a:lvl1pPr>
            <a:lvl2pPr marL="742950" indent="-285750" defTabSz="965200">
              <a:defRPr sz="2000" b="1">
                <a:solidFill>
                  <a:srgbClr val="FAFD00"/>
                </a:solidFill>
                <a:latin typeface="Times New Roman" pitchFamily="18" charset="0"/>
              </a:defRPr>
            </a:lvl2pPr>
            <a:lvl3pPr marL="1143000" indent="-228600" defTabSz="965200">
              <a:defRPr sz="2000" b="1">
                <a:solidFill>
                  <a:srgbClr val="FAFD00"/>
                </a:solidFill>
                <a:latin typeface="Times New Roman" pitchFamily="18" charset="0"/>
              </a:defRPr>
            </a:lvl3pPr>
            <a:lvl4pPr marL="1600200" indent="-228600" defTabSz="965200">
              <a:defRPr sz="2000" b="1">
                <a:solidFill>
                  <a:srgbClr val="FAFD00"/>
                </a:solidFill>
                <a:latin typeface="Times New Roman" pitchFamily="18" charset="0"/>
              </a:defRPr>
            </a:lvl4pPr>
            <a:lvl5pPr marL="2057400" indent="-228600" defTabSz="965200">
              <a:defRPr sz="2000" b="1">
                <a:solidFill>
                  <a:srgbClr val="FAFD00"/>
                </a:solidFill>
                <a:latin typeface="Times New Roman" pitchFamily="18" charset="0"/>
              </a:defRPr>
            </a:lvl5pPr>
            <a:lvl6pPr marL="2514600" indent="-228600" defTabSz="965200" eaLnBrk="0" fontAlgn="base" hangingPunct="0">
              <a:spcBef>
                <a:spcPct val="0"/>
              </a:spcBef>
              <a:spcAft>
                <a:spcPct val="0"/>
              </a:spcAft>
              <a:defRPr sz="2000" b="1">
                <a:solidFill>
                  <a:srgbClr val="FAFD00"/>
                </a:solidFill>
                <a:latin typeface="Times New Roman" pitchFamily="18" charset="0"/>
              </a:defRPr>
            </a:lvl6pPr>
            <a:lvl7pPr marL="2971800" indent="-228600" defTabSz="965200" eaLnBrk="0" fontAlgn="base" hangingPunct="0">
              <a:spcBef>
                <a:spcPct val="0"/>
              </a:spcBef>
              <a:spcAft>
                <a:spcPct val="0"/>
              </a:spcAft>
              <a:defRPr sz="2000" b="1">
                <a:solidFill>
                  <a:srgbClr val="FAFD00"/>
                </a:solidFill>
                <a:latin typeface="Times New Roman" pitchFamily="18" charset="0"/>
              </a:defRPr>
            </a:lvl7pPr>
            <a:lvl8pPr marL="3429000" indent="-228600" defTabSz="965200" eaLnBrk="0" fontAlgn="base" hangingPunct="0">
              <a:spcBef>
                <a:spcPct val="0"/>
              </a:spcBef>
              <a:spcAft>
                <a:spcPct val="0"/>
              </a:spcAft>
              <a:defRPr sz="2000" b="1">
                <a:solidFill>
                  <a:srgbClr val="FAFD00"/>
                </a:solidFill>
                <a:latin typeface="Times New Roman" pitchFamily="18" charset="0"/>
              </a:defRPr>
            </a:lvl8pPr>
            <a:lvl9pPr marL="3886200" indent="-228600" defTabSz="965200" eaLnBrk="0" fontAlgn="base" hangingPunct="0">
              <a:spcBef>
                <a:spcPct val="0"/>
              </a:spcBef>
              <a:spcAft>
                <a:spcPct val="0"/>
              </a:spcAft>
              <a:defRPr sz="2000" b="1">
                <a:solidFill>
                  <a:srgbClr val="FAFD00"/>
                </a:solidFill>
                <a:latin typeface="Times New Roman" pitchFamily="18" charset="0"/>
              </a:defRPr>
            </a:lvl9pPr>
          </a:lstStyle>
          <a:p>
            <a:pPr algn="r"/>
            <a:fld id="{A8717B5B-8948-43F3-896E-5E45BA7F2BC9}" type="slidenum">
              <a:rPr lang="en-US" altLang="en-US" sz="1100" b="0" i="1">
                <a:solidFill>
                  <a:schemeClr val="tx1"/>
                </a:solidFill>
              </a:rPr>
              <a:pPr algn="r"/>
              <a:t>24</a:t>
            </a:fld>
            <a:endParaRPr lang="en-US" altLang="en-US" sz="1100" b="0" i="1">
              <a:solidFill>
                <a:schemeClr val="tx1"/>
              </a:solidFill>
            </a:endParaRPr>
          </a:p>
        </p:txBody>
      </p:sp>
    </p:spTree>
    <p:extLst>
      <p:ext uri="{BB962C8B-B14F-4D97-AF65-F5344CB8AC3E}">
        <p14:creationId xmlns:p14="http://schemas.microsoft.com/office/powerpoint/2010/main" val="15408738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xfrm>
            <a:off x="347663" y="698500"/>
            <a:ext cx="6186487" cy="3481388"/>
          </a:xfrm>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63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021">
              <a:defRPr sz="1900" b="1">
                <a:solidFill>
                  <a:srgbClr val="FAFD00"/>
                </a:solidFill>
                <a:latin typeface="Times New Roman" pitchFamily="18" charset="0"/>
              </a:defRPr>
            </a:lvl1pPr>
            <a:lvl2pPr marL="710483" indent="-273263" defTabSz="923021">
              <a:defRPr sz="1900" b="1">
                <a:solidFill>
                  <a:srgbClr val="FAFD00"/>
                </a:solidFill>
                <a:latin typeface="Times New Roman" pitchFamily="18" charset="0"/>
              </a:defRPr>
            </a:lvl2pPr>
            <a:lvl3pPr marL="1093051" indent="-218610" defTabSz="923021">
              <a:defRPr sz="1900" b="1">
                <a:solidFill>
                  <a:srgbClr val="FAFD00"/>
                </a:solidFill>
                <a:latin typeface="Times New Roman" pitchFamily="18" charset="0"/>
              </a:defRPr>
            </a:lvl3pPr>
            <a:lvl4pPr marL="1530271" indent="-218610" defTabSz="923021">
              <a:defRPr sz="1900" b="1">
                <a:solidFill>
                  <a:srgbClr val="FAFD00"/>
                </a:solidFill>
                <a:latin typeface="Times New Roman" pitchFamily="18" charset="0"/>
              </a:defRPr>
            </a:lvl4pPr>
            <a:lvl5pPr marL="1967492" indent="-218610" defTabSz="923021">
              <a:defRPr sz="1900" b="1">
                <a:solidFill>
                  <a:srgbClr val="FAFD00"/>
                </a:solidFill>
                <a:latin typeface="Times New Roman" pitchFamily="18" charset="0"/>
              </a:defRPr>
            </a:lvl5pPr>
            <a:lvl6pPr marL="2404712" indent="-218610" defTabSz="923021" eaLnBrk="0" fontAlgn="base" hangingPunct="0">
              <a:spcBef>
                <a:spcPct val="0"/>
              </a:spcBef>
              <a:spcAft>
                <a:spcPct val="0"/>
              </a:spcAft>
              <a:defRPr sz="1900" b="1">
                <a:solidFill>
                  <a:srgbClr val="FAFD00"/>
                </a:solidFill>
                <a:latin typeface="Times New Roman" pitchFamily="18" charset="0"/>
              </a:defRPr>
            </a:lvl6pPr>
            <a:lvl7pPr marL="2841932" indent="-218610" defTabSz="923021" eaLnBrk="0" fontAlgn="base" hangingPunct="0">
              <a:spcBef>
                <a:spcPct val="0"/>
              </a:spcBef>
              <a:spcAft>
                <a:spcPct val="0"/>
              </a:spcAft>
              <a:defRPr sz="1900" b="1">
                <a:solidFill>
                  <a:srgbClr val="FAFD00"/>
                </a:solidFill>
                <a:latin typeface="Times New Roman" pitchFamily="18" charset="0"/>
              </a:defRPr>
            </a:lvl7pPr>
            <a:lvl8pPr marL="3279153" indent="-218610" defTabSz="923021" eaLnBrk="0" fontAlgn="base" hangingPunct="0">
              <a:spcBef>
                <a:spcPct val="0"/>
              </a:spcBef>
              <a:spcAft>
                <a:spcPct val="0"/>
              </a:spcAft>
              <a:defRPr sz="1900" b="1">
                <a:solidFill>
                  <a:srgbClr val="FAFD00"/>
                </a:solidFill>
                <a:latin typeface="Times New Roman" pitchFamily="18" charset="0"/>
              </a:defRPr>
            </a:lvl8pPr>
            <a:lvl9pPr marL="3716373" indent="-218610" defTabSz="923021" eaLnBrk="0" fontAlgn="base" hangingPunct="0">
              <a:spcBef>
                <a:spcPct val="0"/>
              </a:spcBef>
              <a:spcAft>
                <a:spcPct val="0"/>
              </a:spcAft>
              <a:defRPr sz="1900" b="1">
                <a:solidFill>
                  <a:srgbClr val="FAFD00"/>
                </a:solidFill>
                <a:latin typeface="Times New Roman" pitchFamily="18" charset="0"/>
              </a:defRPr>
            </a:lvl9pPr>
          </a:lstStyle>
          <a:p>
            <a:fld id="{0A89BD8B-2013-4868-BC6F-5EB480BA6A34}" type="slidenum">
              <a:rPr lang="en-US" altLang="en-US" sz="1100" b="0">
                <a:solidFill>
                  <a:schemeClr val="tx1"/>
                </a:solidFill>
              </a:rPr>
              <a:pPr/>
              <a:t>25</a:t>
            </a:fld>
            <a:endParaRPr lang="en-US" altLang="en-US" sz="1100" b="0">
              <a:solidFill>
                <a:schemeClr val="tx1"/>
              </a:solidFill>
            </a:endParaRPr>
          </a:p>
        </p:txBody>
      </p:sp>
    </p:spTree>
    <p:extLst>
      <p:ext uri="{BB962C8B-B14F-4D97-AF65-F5344CB8AC3E}">
        <p14:creationId xmlns:p14="http://schemas.microsoft.com/office/powerpoint/2010/main" val="38647855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47663" y="698500"/>
            <a:ext cx="6186487" cy="34813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E09078A-DA42-41CC-BB1B-525C8DEDBC3A}" type="slidenum">
              <a:rPr lang="en-US" smtClean="0"/>
              <a:pPr>
                <a:defRPr/>
              </a:pPr>
              <a:t>32</a:t>
            </a:fld>
            <a:endParaRPr lang="en-US"/>
          </a:p>
        </p:txBody>
      </p:sp>
    </p:spTree>
    <p:extLst>
      <p:ext uri="{BB962C8B-B14F-4D97-AF65-F5344CB8AC3E}">
        <p14:creationId xmlns:p14="http://schemas.microsoft.com/office/powerpoint/2010/main" val="2850395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7663" y="698500"/>
            <a:ext cx="6186487" cy="3481388"/>
          </a:xfrm>
        </p:spPr>
      </p:sp>
      <p:sp>
        <p:nvSpPr>
          <p:cNvPr id="3" name="Notes Placeholder 2"/>
          <p:cNvSpPr>
            <a:spLocks noGrp="1"/>
          </p:cNvSpPr>
          <p:nvPr>
            <p:ph type="body" idx="1"/>
          </p:nvPr>
        </p:nvSpPr>
        <p:spPr/>
        <p:txBody>
          <a:bodyPr/>
          <a:lstStyle/>
          <a:p>
            <a:r>
              <a:rPr lang="en-US" dirty="0"/>
              <a:t>The book has the formula incorrect. </a:t>
            </a:r>
            <a:r>
              <a:rPr lang="en-US"/>
              <a:t>Thanks </a:t>
            </a:r>
            <a:r>
              <a:rPr lang="en-US" dirty="0" err="1"/>
              <a:t>t</a:t>
            </a:r>
            <a:r>
              <a:rPr lang="en-US"/>
              <a:t>o </a:t>
            </a:r>
            <a:r>
              <a:rPr lang="en-US" dirty="0"/>
              <a:t>Seth Hirsch (Mason</a:t>
            </a:r>
            <a:r>
              <a:rPr lang="en-US" baseline="0" dirty="0"/>
              <a:t> MS-SWE major) for spotting the mistake.</a:t>
            </a:r>
            <a:endParaRPr lang="en-US" dirty="0"/>
          </a:p>
        </p:txBody>
      </p:sp>
      <p:sp>
        <p:nvSpPr>
          <p:cNvPr id="4" name="Slide Number Placeholder 3"/>
          <p:cNvSpPr>
            <a:spLocks noGrp="1"/>
          </p:cNvSpPr>
          <p:nvPr>
            <p:ph type="sldNum" sz="quarter" idx="10"/>
          </p:nvPr>
        </p:nvSpPr>
        <p:spPr/>
        <p:txBody>
          <a:bodyPr/>
          <a:lstStyle/>
          <a:p>
            <a:pPr>
              <a:defRPr/>
            </a:pPr>
            <a:fld id="{7E09078A-DA42-41CC-BB1B-525C8DEDBC3A}" type="slidenum">
              <a:rPr lang="en-US" smtClean="0"/>
              <a:pPr>
                <a:defRPr/>
              </a:pPr>
              <a:t>35</a:t>
            </a:fld>
            <a:endParaRPr lang="en-US"/>
          </a:p>
        </p:txBody>
      </p:sp>
    </p:spTree>
    <p:extLst>
      <p:ext uri="{BB962C8B-B14F-4D97-AF65-F5344CB8AC3E}">
        <p14:creationId xmlns:p14="http://schemas.microsoft.com/office/powerpoint/2010/main" val="7062046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47663" y="698500"/>
            <a:ext cx="6186487" cy="34813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Times New Roman" pitchFamily="18" charset="0"/>
                <a:ea typeface="+mn-ea"/>
                <a:cs typeface="+mn-cs"/>
              </a:rPr>
              <a:t>Happy Path testing is a procedure where the test uses the known input and executes without any exception and produce expected output. </a:t>
            </a:r>
            <a:endParaRPr lang="zh-CN" altLang="en-US"/>
          </a:p>
          <a:p>
            <a:endParaRPr lang="zh-CN" altLang="en-US"/>
          </a:p>
        </p:txBody>
      </p:sp>
      <p:sp>
        <p:nvSpPr>
          <p:cNvPr id="4" name="灯片编号占位符 3"/>
          <p:cNvSpPr>
            <a:spLocks noGrp="1"/>
          </p:cNvSpPr>
          <p:nvPr>
            <p:ph type="sldNum" sz="quarter" idx="5"/>
          </p:nvPr>
        </p:nvSpPr>
        <p:spPr/>
        <p:txBody>
          <a:bodyPr/>
          <a:lstStyle/>
          <a:p>
            <a:pPr>
              <a:defRPr/>
            </a:pPr>
            <a:fld id="{7E09078A-DA42-41CC-BB1B-525C8DEDBC3A}" type="slidenum">
              <a:rPr lang="en-US" smtClean="0"/>
              <a:pPr>
                <a:defRPr/>
              </a:pPr>
              <a:t>40</a:t>
            </a:fld>
            <a:endParaRPr lang="en-US"/>
          </a:p>
        </p:txBody>
      </p:sp>
    </p:spTree>
    <p:extLst>
      <p:ext uri="{BB962C8B-B14F-4D97-AF65-F5344CB8AC3E}">
        <p14:creationId xmlns:p14="http://schemas.microsoft.com/office/powerpoint/2010/main" val="9646757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xfrm>
            <a:off x="347663" y="698500"/>
            <a:ext cx="6186487" cy="3481388"/>
          </a:xfrm>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021">
              <a:defRPr sz="1900" b="1">
                <a:solidFill>
                  <a:srgbClr val="FAFD00"/>
                </a:solidFill>
                <a:latin typeface="Times New Roman" pitchFamily="18" charset="0"/>
              </a:defRPr>
            </a:lvl1pPr>
            <a:lvl2pPr marL="710483" indent="-273263" defTabSz="923021">
              <a:defRPr sz="1900" b="1">
                <a:solidFill>
                  <a:srgbClr val="FAFD00"/>
                </a:solidFill>
                <a:latin typeface="Times New Roman" pitchFamily="18" charset="0"/>
              </a:defRPr>
            </a:lvl2pPr>
            <a:lvl3pPr marL="1093051" indent="-218610" defTabSz="923021">
              <a:defRPr sz="1900" b="1">
                <a:solidFill>
                  <a:srgbClr val="FAFD00"/>
                </a:solidFill>
                <a:latin typeface="Times New Roman" pitchFamily="18" charset="0"/>
              </a:defRPr>
            </a:lvl3pPr>
            <a:lvl4pPr marL="1530271" indent="-218610" defTabSz="923021">
              <a:defRPr sz="1900" b="1">
                <a:solidFill>
                  <a:srgbClr val="FAFD00"/>
                </a:solidFill>
                <a:latin typeface="Times New Roman" pitchFamily="18" charset="0"/>
              </a:defRPr>
            </a:lvl4pPr>
            <a:lvl5pPr marL="1967492" indent="-218610" defTabSz="923021">
              <a:defRPr sz="1900" b="1">
                <a:solidFill>
                  <a:srgbClr val="FAFD00"/>
                </a:solidFill>
                <a:latin typeface="Times New Roman" pitchFamily="18" charset="0"/>
              </a:defRPr>
            </a:lvl5pPr>
            <a:lvl6pPr marL="2404712" indent="-218610" defTabSz="923021" eaLnBrk="0" fontAlgn="base" hangingPunct="0">
              <a:spcBef>
                <a:spcPct val="0"/>
              </a:spcBef>
              <a:spcAft>
                <a:spcPct val="0"/>
              </a:spcAft>
              <a:defRPr sz="1900" b="1">
                <a:solidFill>
                  <a:srgbClr val="FAFD00"/>
                </a:solidFill>
                <a:latin typeface="Times New Roman" pitchFamily="18" charset="0"/>
              </a:defRPr>
            </a:lvl6pPr>
            <a:lvl7pPr marL="2841932" indent="-218610" defTabSz="923021" eaLnBrk="0" fontAlgn="base" hangingPunct="0">
              <a:spcBef>
                <a:spcPct val="0"/>
              </a:spcBef>
              <a:spcAft>
                <a:spcPct val="0"/>
              </a:spcAft>
              <a:defRPr sz="1900" b="1">
                <a:solidFill>
                  <a:srgbClr val="FAFD00"/>
                </a:solidFill>
                <a:latin typeface="Times New Roman" pitchFamily="18" charset="0"/>
              </a:defRPr>
            </a:lvl7pPr>
            <a:lvl8pPr marL="3279153" indent="-218610" defTabSz="923021" eaLnBrk="0" fontAlgn="base" hangingPunct="0">
              <a:spcBef>
                <a:spcPct val="0"/>
              </a:spcBef>
              <a:spcAft>
                <a:spcPct val="0"/>
              </a:spcAft>
              <a:defRPr sz="1900" b="1">
                <a:solidFill>
                  <a:srgbClr val="FAFD00"/>
                </a:solidFill>
                <a:latin typeface="Times New Roman" pitchFamily="18" charset="0"/>
              </a:defRPr>
            </a:lvl8pPr>
            <a:lvl9pPr marL="3716373" indent="-218610" defTabSz="923021" eaLnBrk="0" fontAlgn="base" hangingPunct="0">
              <a:spcBef>
                <a:spcPct val="0"/>
              </a:spcBef>
              <a:spcAft>
                <a:spcPct val="0"/>
              </a:spcAft>
              <a:defRPr sz="1900" b="1">
                <a:solidFill>
                  <a:srgbClr val="FAFD00"/>
                </a:solidFill>
                <a:latin typeface="Times New Roman" pitchFamily="18" charset="0"/>
              </a:defRPr>
            </a:lvl9pPr>
          </a:lstStyle>
          <a:p>
            <a:fld id="{B6160DFD-8A9B-410C-9421-C80DF9158843}" type="slidenum">
              <a:rPr lang="en-US" altLang="en-US" sz="1100" b="0">
                <a:solidFill>
                  <a:schemeClr val="tx1"/>
                </a:solidFill>
              </a:rPr>
              <a:pPr/>
              <a:t>47</a:t>
            </a:fld>
            <a:endParaRPr lang="en-US" altLang="en-US" sz="1100" b="0">
              <a:solidFill>
                <a:schemeClr val="tx1"/>
              </a:solidFill>
            </a:endParaRPr>
          </a:p>
        </p:txBody>
      </p:sp>
    </p:spTree>
    <p:extLst>
      <p:ext uri="{BB962C8B-B14F-4D97-AF65-F5344CB8AC3E}">
        <p14:creationId xmlns:p14="http://schemas.microsoft.com/office/powerpoint/2010/main" val="6473577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xfrm>
            <a:off x="347663" y="698500"/>
            <a:ext cx="6186487" cy="3481388"/>
          </a:xfrm>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021">
              <a:defRPr sz="1900" b="1">
                <a:solidFill>
                  <a:srgbClr val="FAFD00"/>
                </a:solidFill>
                <a:latin typeface="Times New Roman" pitchFamily="18" charset="0"/>
              </a:defRPr>
            </a:lvl1pPr>
            <a:lvl2pPr marL="710483" indent="-273263" defTabSz="923021">
              <a:defRPr sz="1900" b="1">
                <a:solidFill>
                  <a:srgbClr val="FAFD00"/>
                </a:solidFill>
                <a:latin typeface="Times New Roman" pitchFamily="18" charset="0"/>
              </a:defRPr>
            </a:lvl2pPr>
            <a:lvl3pPr marL="1093051" indent="-218610" defTabSz="923021">
              <a:defRPr sz="1900" b="1">
                <a:solidFill>
                  <a:srgbClr val="FAFD00"/>
                </a:solidFill>
                <a:latin typeface="Times New Roman" pitchFamily="18" charset="0"/>
              </a:defRPr>
            </a:lvl3pPr>
            <a:lvl4pPr marL="1530271" indent="-218610" defTabSz="923021">
              <a:defRPr sz="1900" b="1">
                <a:solidFill>
                  <a:srgbClr val="FAFD00"/>
                </a:solidFill>
                <a:latin typeface="Times New Roman" pitchFamily="18" charset="0"/>
              </a:defRPr>
            </a:lvl4pPr>
            <a:lvl5pPr marL="1967492" indent="-218610" defTabSz="923021">
              <a:defRPr sz="1900" b="1">
                <a:solidFill>
                  <a:srgbClr val="FAFD00"/>
                </a:solidFill>
                <a:latin typeface="Times New Roman" pitchFamily="18" charset="0"/>
              </a:defRPr>
            </a:lvl5pPr>
            <a:lvl6pPr marL="2404712" indent="-218610" defTabSz="923021" eaLnBrk="0" fontAlgn="base" hangingPunct="0">
              <a:spcBef>
                <a:spcPct val="0"/>
              </a:spcBef>
              <a:spcAft>
                <a:spcPct val="0"/>
              </a:spcAft>
              <a:defRPr sz="1900" b="1">
                <a:solidFill>
                  <a:srgbClr val="FAFD00"/>
                </a:solidFill>
                <a:latin typeface="Times New Roman" pitchFamily="18" charset="0"/>
              </a:defRPr>
            </a:lvl6pPr>
            <a:lvl7pPr marL="2841932" indent="-218610" defTabSz="923021" eaLnBrk="0" fontAlgn="base" hangingPunct="0">
              <a:spcBef>
                <a:spcPct val="0"/>
              </a:spcBef>
              <a:spcAft>
                <a:spcPct val="0"/>
              </a:spcAft>
              <a:defRPr sz="1900" b="1">
                <a:solidFill>
                  <a:srgbClr val="FAFD00"/>
                </a:solidFill>
                <a:latin typeface="Times New Roman" pitchFamily="18" charset="0"/>
              </a:defRPr>
            </a:lvl7pPr>
            <a:lvl8pPr marL="3279153" indent="-218610" defTabSz="923021" eaLnBrk="0" fontAlgn="base" hangingPunct="0">
              <a:spcBef>
                <a:spcPct val="0"/>
              </a:spcBef>
              <a:spcAft>
                <a:spcPct val="0"/>
              </a:spcAft>
              <a:defRPr sz="1900" b="1">
                <a:solidFill>
                  <a:srgbClr val="FAFD00"/>
                </a:solidFill>
                <a:latin typeface="Times New Roman" pitchFamily="18" charset="0"/>
              </a:defRPr>
            </a:lvl8pPr>
            <a:lvl9pPr marL="3716373" indent="-218610" defTabSz="923021" eaLnBrk="0" fontAlgn="base" hangingPunct="0">
              <a:spcBef>
                <a:spcPct val="0"/>
              </a:spcBef>
              <a:spcAft>
                <a:spcPct val="0"/>
              </a:spcAft>
              <a:defRPr sz="1900" b="1">
                <a:solidFill>
                  <a:srgbClr val="FAFD00"/>
                </a:solidFill>
                <a:latin typeface="Times New Roman" pitchFamily="18" charset="0"/>
              </a:defRPr>
            </a:lvl9pPr>
          </a:lstStyle>
          <a:p>
            <a:fld id="{38E42207-4223-474A-8A60-CDF18C8248BC}" type="slidenum">
              <a:rPr lang="en-US" altLang="en-US" sz="1100" b="0">
                <a:solidFill>
                  <a:schemeClr val="tx1"/>
                </a:solidFill>
              </a:rPr>
              <a:pPr/>
              <a:t>48</a:t>
            </a:fld>
            <a:endParaRPr lang="en-US" altLang="en-US" sz="1100" b="0">
              <a:solidFill>
                <a:schemeClr val="tx1"/>
              </a:solidFill>
            </a:endParaRPr>
          </a:p>
        </p:txBody>
      </p:sp>
    </p:spTree>
    <p:extLst>
      <p:ext uri="{BB962C8B-B14F-4D97-AF65-F5344CB8AC3E}">
        <p14:creationId xmlns:p14="http://schemas.microsoft.com/office/powerpoint/2010/main" val="2850877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xfrm>
            <a:off x="347663" y="698500"/>
            <a:ext cx="6186487" cy="3481388"/>
          </a:xfrm>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021">
              <a:defRPr sz="1900" b="1">
                <a:solidFill>
                  <a:srgbClr val="FAFD00"/>
                </a:solidFill>
                <a:latin typeface="Times New Roman" pitchFamily="18" charset="0"/>
              </a:defRPr>
            </a:lvl1pPr>
            <a:lvl2pPr marL="710483" indent="-273263" defTabSz="923021">
              <a:defRPr sz="1900" b="1">
                <a:solidFill>
                  <a:srgbClr val="FAFD00"/>
                </a:solidFill>
                <a:latin typeface="Times New Roman" pitchFamily="18" charset="0"/>
              </a:defRPr>
            </a:lvl2pPr>
            <a:lvl3pPr marL="1093051" indent="-218610" defTabSz="923021">
              <a:defRPr sz="1900" b="1">
                <a:solidFill>
                  <a:srgbClr val="FAFD00"/>
                </a:solidFill>
                <a:latin typeface="Times New Roman" pitchFamily="18" charset="0"/>
              </a:defRPr>
            </a:lvl3pPr>
            <a:lvl4pPr marL="1530271" indent="-218610" defTabSz="923021">
              <a:defRPr sz="1900" b="1">
                <a:solidFill>
                  <a:srgbClr val="FAFD00"/>
                </a:solidFill>
                <a:latin typeface="Times New Roman" pitchFamily="18" charset="0"/>
              </a:defRPr>
            </a:lvl4pPr>
            <a:lvl5pPr marL="1967492" indent="-218610" defTabSz="923021">
              <a:defRPr sz="1900" b="1">
                <a:solidFill>
                  <a:srgbClr val="FAFD00"/>
                </a:solidFill>
                <a:latin typeface="Times New Roman" pitchFamily="18" charset="0"/>
              </a:defRPr>
            </a:lvl5pPr>
            <a:lvl6pPr marL="2404712" indent="-218610" defTabSz="923021" eaLnBrk="0" fontAlgn="base" hangingPunct="0">
              <a:spcBef>
                <a:spcPct val="0"/>
              </a:spcBef>
              <a:spcAft>
                <a:spcPct val="0"/>
              </a:spcAft>
              <a:defRPr sz="1900" b="1">
                <a:solidFill>
                  <a:srgbClr val="FAFD00"/>
                </a:solidFill>
                <a:latin typeface="Times New Roman" pitchFamily="18" charset="0"/>
              </a:defRPr>
            </a:lvl6pPr>
            <a:lvl7pPr marL="2841932" indent="-218610" defTabSz="923021" eaLnBrk="0" fontAlgn="base" hangingPunct="0">
              <a:spcBef>
                <a:spcPct val="0"/>
              </a:spcBef>
              <a:spcAft>
                <a:spcPct val="0"/>
              </a:spcAft>
              <a:defRPr sz="1900" b="1">
                <a:solidFill>
                  <a:srgbClr val="FAFD00"/>
                </a:solidFill>
                <a:latin typeface="Times New Roman" pitchFamily="18" charset="0"/>
              </a:defRPr>
            </a:lvl7pPr>
            <a:lvl8pPr marL="3279153" indent="-218610" defTabSz="923021" eaLnBrk="0" fontAlgn="base" hangingPunct="0">
              <a:spcBef>
                <a:spcPct val="0"/>
              </a:spcBef>
              <a:spcAft>
                <a:spcPct val="0"/>
              </a:spcAft>
              <a:defRPr sz="1900" b="1">
                <a:solidFill>
                  <a:srgbClr val="FAFD00"/>
                </a:solidFill>
                <a:latin typeface="Times New Roman" pitchFamily="18" charset="0"/>
              </a:defRPr>
            </a:lvl8pPr>
            <a:lvl9pPr marL="3716373" indent="-218610" defTabSz="923021" eaLnBrk="0" fontAlgn="base" hangingPunct="0">
              <a:spcBef>
                <a:spcPct val="0"/>
              </a:spcBef>
              <a:spcAft>
                <a:spcPct val="0"/>
              </a:spcAft>
              <a:defRPr sz="1900" b="1">
                <a:solidFill>
                  <a:srgbClr val="FAFD00"/>
                </a:solidFill>
                <a:latin typeface="Times New Roman" pitchFamily="18" charset="0"/>
              </a:defRPr>
            </a:lvl9pPr>
          </a:lstStyle>
          <a:p>
            <a:fld id="{55242C03-CDBE-4062-BF92-835B9330F681}" type="slidenum">
              <a:rPr lang="en-US" altLang="en-US" sz="1100" b="0">
                <a:solidFill>
                  <a:schemeClr val="tx1"/>
                </a:solidFill>
              </a:rPr>
              <a:pPr/>
              <a:t>49</a:t>
            </a:fld>
            <a:endParaRPr lang="en-US" altLang="en-US" sz="1100" b="0">
              <a:solidFill>
                <a:schemeClr val="tx1"/>
              </a:solidFill>
            </a:endParaRPr>
          </a:p>
        </p:txBody>
      </p:sp>
    </p:spTree>
    <p:extLst>
      <p:ext uri="{BB962C8B-B14F-4D97-AF65-F5344CB8AC3E}">
        <p14:creationId xmlns:p14="http://schemas.microsoft.com/office/powerpoint/2010/main" val="35532276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47663" y="698500"/>
            <a:ext cx="6186487" cy="3481388"/>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Suppose we have a domain {1, 2, ..., 15, 16}, which is split into three valid equivalence classes: {1, ..., 6}, {7, ..., 13}, and {14, ..., 16}</a:t>
            </a:r>
          </a:p>
          <a:p>
            <a:r>
              <a:rPr lang="en-US" altLang="zh-CN" dirty="0"/>
              <a:t>The boundary values:</a:t>
            </a:r>
            <a:endParaRPr lang="zh-CN" altLang="zh-CN" dirty="0"/>
          </a:p>
          <a:p>
            <a:pPr lvl="1"/>
            <a:r>
              <a:rPr lang="en-US" altLang="zh-CN" dirty="0"/>
              <a:t>For the class {1, 2, 3, 4, 5, 6}, the boundary values are 1 and 6.</a:t>
            </a:r>
            <a:endParaRPr lang="zh-CN" altLang="zh-CN" dirty="0"/>
          </a:p>
          <a:p>
            <a:pPr lvl="1"/>
            <a:r>
              <a:rPr lang="en-US" altLang="zh-CN" dirty="0"/>
              <a:t>For the class {7, 8, 9, 10, 11, 12, 13}, the boundary values are 7 and 13.</a:t>
            </a:r>
            <a:endParaRPr lang="zh-CN" altLang="zh-CN" dirty="0"/>
          </a:p>
          <a:p>
            <a:pPr lvl="1"/>
            <a:r>
              <a:rPr lang="en-US" altLang="zh-CN" dirty="0"/>
              <a:t>For the class {14, 15, 16}, the boundary values are 14 and 16.</a:t>
            </a:r>
            <a:endParaRPr lang="zh-CN" altLang="zh-CN" dirty="0"/>
          </a:p>
          <a:p>
            <a:endParaRPr lang="zh-CN" altLang="en-US" dirty="0"/>
          </a:p>
        </p:txBody>
      </p:sp>
      <p:sp>
        <p:nvSpPr>
          <p:cNvPr id="4" name="灯片编号占位符 3"/>
          <p:cNvSpPr>
            <a:spLocks noGrp="1"/>
          </p:cNvSpPr>
          <p:nvPr>
            <p:ph type="sldNum" sz="quarter" idx="5"/>
          </p:nvPr>
        </p:nvSpPr>
        <p:spPr/>
        <p:txBody>
          <a:bodyPr/>
          <a:lstStyle/>
          <a:p>
            <a:fld id="{3BBF6624-7901-44EE-ABAB-410A5552900B}" type="slidenum">
              <a:rPr lang="zh-CN" altLang="en-US" smtClean="0"/>
              <a:t>55</a:t>
            </a:fld>
            <a:endParaRPr lang="zh-CN" altLang="en-US"/>
          </a:p>
        </p:txBody>
      </p:sp>
    </p:spTree>
    <p:extLst>
      <p:ext uri="{BB962C8B-B14F-4D97-AF65-F5344CB8AC3E}">
        <p14:creationId xmlns:p14="http://schemas.microsoft.com/office/powerpoint/2010/main" val="19968288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47663" y="698500"/>
            <a:ext cx="6186487" cy="34813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BBF6624-7901-44EE-ABAB-410A5552900B}" type="slidenum">
              <a:rPr lang="zh-CN" altLang="en-US" smtClean="0"/>
              <a:t>61</a:t>
            </a:fld>
            <a:endParaRPr lang="zh-CN" altLang="en-US"/>
          </a:p>
        </p:txBody>
      </p:sp>
    </p:spTree>
    <p:extLst>
      <p:ext uri="{BB962C8B-B14F-4D97-AF65-F5344CB8AC3E}">
        <p14:creationId xmlns:p14="http://schemas.microsoft.com/office/powerpoint/2010/main" val="15072088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47663" y="698500"/>
            <a:ext cx="6186487" cy="34813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BBF6624-7901-44EE-ABAB-410A5552900B}" type="slidenum">
              <a:rPr lang="zh-CN" altLang="en-US" smtClean="0"/>
              <a:t>62</a:t>
            </a:fld>
            <a:endParaRPr lang="zh-CN" altLang="en-US"/>
          </a:p>
        </p:txBody>
      </p:sp>
    </p:spTree>
    <p:extLst>
      <p:ext uri="{BB962C8B-B14F-4D97-AF65-F5344CB8AC3E}">
        <p14:creationId xmlns:p14="http://schemas.microsoft.com/office/powerpoint/2010/main" val="42772178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47663" y="698500"/>
            <a:ext cx="6186487" cy="34813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7897DEA-2E69-4BC8-BEE2-FA6F5C19BF57}" type="slidenum">
              <a:rPr lang="zh-CN" altLang="en-US" smtClean="0"/>
              <a:t>64</a:t>
            </a:fld>
            <a:endParaRPr lang="zh-CN" altLang="en-US"/>
          </a:p>
        </p:txBody>
      </p:sp>
    </p:spTree>
    <p:extLst>
      <p:ext uri="{BB962C8B-B14F-4D97-AF65-F5344CB8AC3E}">
        <p14:creationId xmlns:p14="http://schemas.microsoft.com/office/powerpoint/2010/main" val="32284339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47663" y="698500"/>
            <a:ext cx="6186487" cy="34813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7897DEA-2E69-4BC8-BEE2-FA6F5C19BF57}" type="slidenum">
              <a:rPr lang="zh-CN" altLang="en-US" smtClean="0"/>
              <a:t>65</a:t>
            </a:fld>
            <a:endParaRPr lang="zh-CN" altLang="en-US"/>
          </a:p>
        </p:txBody>
      </p:sp>
    </p:spTree>
    <p:extLst>
      <p:ext uri="{BB962C8B-B14F-4D97-AF65-F5344CB8AC3E}">
        <p14:creationId xmlns:p14="http://schemas.microsoft.com/office/powerpoint/2010/main" val="991433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2"/>
          <p:cNvSpPr>
            <a:spLocks noGrp="1" noChangeArrowheads="1"/>
          </p:cNvSpPr>
          <p:nvPr>
            <p:ph type="dt" sz="half" idx="10"/>
          </p:nvPr>
        </p:nvSpPr>
        <p:spPr>
          <a:ln/>
        </p:spPr>
        <p:txBody>
          <a:bodyPr/>
          <a:lstStyle>
            <a:lvl1pPr>
              <a:defRPr/>
            </a:lvl1pPr>
          </a:lstStyle>
          <a:p>
            <a:pPr>
              <a:defRPr/>
            </a:pPr>
            <a:r>
              <a:rPr lang="en-US" altLang="zh-CN"/>
              <a:t>Introduction to Software Testing, Edition 2  (Ch 6)</a:t>
            </a:r>
            <a:endParaRPr lang="en-US" dirty="0"/>
          </a:p>
        </p:txBody>
      </p:sp>
      <p:sp>
        <p:nvSpPr>
          <p:cNvPr id="5"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6" name="Rectangle 4"/>
          <p:cNvSpPr>
            <a:spLocks noGrp="1" noChangeArrowheads="1"/>
          </p:cNvSpPr>
          <p:nvPr>
            <p:ph type="sldNum" sz="quarter" idx="12"/>
          </p:nvPr>
        </p:nvSpPr>
        <p:spPr>
          <a:ln/>
        </p:spPr>
        <p:txBody>
          <a:bodyPr/>
          <a:lstStyle>
            <a:lvl1pPr>
              <a:defRPr/>
            </a:lvl1pPr>
          </a:lstStyle>
          <a:p>
            <a:pPr>
              <a:defRPr/>
            </a:pPr>
            <a:fld id="{B84FFFE1-D810-416F-A3E2-D10752B33DA7}" type="slidenum">
              <a:rPr lang="en-US"/>
              <a:pPr>
                <a:defRPr/>
              </a:pPr>
              <a:t>‹#›</a:t>
            </a:fld>
            <a:endParaRPr lang="en-US"/>
          </a:p>
        </p:txBody>
      </p:sp>
    </p:spTree>
    <p:extLst>
      <p:ext uri="{BB962C8B-B14F-4D97-AF65-F5344CB8AC3E}">
        <p14:creationId xmlns:p14="http://schemas.microsoft.com/office/powerpoint/2010/main" val="1968680915"/>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2"/>
          <p:cNvSpPr>
            <a:spLocks noGrp="1" noChangeArrowheads="1"/>
          </p:cNvSpPr>
          <p:nvPr>
            <p:ph type="dt" sz="half" idx="10"/>
          </p:nvPr>
        </p:nvSpPr>
        <p:spPr>
          <a:ln/>
        </p:spPr>
        <p:txBody>
          <a:bodyPr/>
          <a:lstStyle>
            <a:lvl1pPr>
              <a:defRPr/>
            </a:lvl1pPr>
          </a:lstStyle>
          <a:p>
            <a:pPr>
              <a:defRPr/>
            </a:pPr>
            <a:r>
              <a:rPr lang="en-US" altLang="zh-CN"/>
              <a:t>Introduction to Software Testing, Edition 2  (Ch 6)</a:t>
            </a:r>
            <a:endParaRPr lang="en-US" dirty="0"/>
          </a:p>
        </p:txBody>
      </p:sp>
      <p:sp>
        <p:nvSpPr>
          <p:cNvPr id="5"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6" name="Rectangle 4"/>
          <p:cNvSpPr>
            <a:spLocks noGrp="1" noChangeArrowheads="1"/>
          </p:cNvSpPr>
          <p:nvPr>
            <p:ph type="sldNum" sz="quarter" idx="12"/>
          </p:nvPr>
        </p:nvSpPr>
        <p:spPr>
          <a:ln/>
        </p:spPr>
        <p:txBody>
          <a:bodyPr/>
          <a:lstStyle>
            <a:lvl1pPr>
              <a:defRPr/>
            </a:lvl1pPr>
          </a:lstStyle>
          <a:p>
            <a:pPr>
              <a:defRPr/>
            </a:pPr>
            <a:fld id="{FE742154-05E0-4FD4-B04E-B92FD3670A3A}" type="slidenum">
              <a:rPr lang="en-US"/>
              <a:pPr>
                <a:defRPr/>
              </a:pPr>
              <a:t>‹#›</a:t>
            </a:fld>
            <a:endParaRPr lang="en-US"/>
          </a:p>
        </p:txBody>
      </p:sp>
    </p:spTree>
    <p:extLst>
      <p:ext uri="{BB962C8B-B14F-4D97-AF65-F5344CB8AC3E}">
        <p14:creationId xmlns:p14="http://schemas.microsoft.com/office/powerpoint/2010/main" val="161039238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p:cNvSpPr>
            <a:spLocks noGrp="1" noChangeArrowheads="1"/>
          </p:cNvSpPr>
          <p:nvPr>
            <p:ph type="dt" sz="half" idx="10"/>
          </p:nvPr>
        </p:nvSpPr>
        <p:spPr>
          <a:ln/>
        </p:spPr>
        <p:txBody>
          <a:bodyPr/>
          <a:lstStyle>
            <a:lvl1pPr>
              <a:defRPr/>
            </a:lvl1pPr>
          </a:lstStyle>
          <a:p>
            <a:pPr>
              <a:defRPr/>
            </a:pPr>
            <a:r>
              <a:rPr lang="en-US" altLang="zh-CN"/>
              <a:t>Introduction to Software Testing, Edition 2  (Ch 6)</a:t>
            </a:r>
            <a:endParaRPr lang="en-US" dirty="0"/>
          </a:p>
        </p:txBody>
      </p:sp>
      <p:sp>
        <p:nvSpPr>
          <p:cNvPr id="5"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6" name="Rectangle 4"/>
          <p:cNvSpPr>
            <a:spLocks noGrp="1" noChangeArrowheads="1"/>
          </p:cNvSpPr>
          <p:nvPr>
            <p:ph type="sldNum" sz="quarter" idx="12"/>
          </p:nvPr>
        </p:nvSpPr>
        <p:spPr>
          <a:ln/>
        </p:spPr>
        <p:txBody>
          <a:bodyPr/>
          <a:lstStyle>
            <a:lvl1pPr>
              <a:defRPr/>
            </a:lvl1pPr>
          </a:lstStyle>
          <a:p>
            <a:pPr>
              <a:defRPr/>
            </a:pPr>
            <a:fld id="{2CEBA5C4-2C6B-4FB3-A7FA-0A0D59EC093E}" type="slidenum">
              <a:rPr lang="en-US"/>
              <a:pPr>
                <a:defRPr/>
              </a:pPr>
              <a:t>‹#›</a:t>
            </a:fld>
            <a:endParaRPr lang="en-US"/>
          </a:p>
        </p:txBody>
      </p:sp>
    </p:spTree>
    <p:extLst>
      <p:ext uri="{BB962C8B-B14F-4D97-AF65-F5344CB8AC3E}">
        <p14:creationId xmlns:p14="http://schemas.microsoft.com/office/powerpoint/2010/main" val="849926014"/>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84152" y="1085851"/>
            <a:ext cx="5810249" cy="52689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085851"/>
            <a:ext cx="5810251" cy="52689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dt" sz="half" idx="10"/>
          </p:nvPr>
        </p:nvSpPr>
        <p:spPr>
          <a:ln/>
        </p:spPr>
        <p:txBody>
          <a:bodyPr/>
          <a:lstStyle>
            <a:lvl1pPr>
              <a:defRPr/>
            </a:lvl1pPr>
          </a:lstStyle>
          <a:p>
            <a:pPr>
              <a:defRPr/>
            </a:pPr>
            <a:r>
              <a:rPr lang="en-US" altLang="zh-CN"/>
              <a:t>Introduction to Software Testing, Edition 2  (Ch 6)</a:t>
            </a:r>
            <a:endParaRPr lang="en-US" dirty="0"/>
          </a:p>
        </p:txBody>
      </p:sp>
      <p:sp>
        <p:nvSpPr>
          <p:cNvPr id="6"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7" name="Rectangle 4"/>
          <p:cNvSpPr>
            <a:spLocks noGrp="1" noChangeArrowheads="1"/>
          </p:cNvSpPr>
          <p:nvPr>
            <p:ph type="sldNum" sz="quarter" idx="12"/>
          </p:nvPr>
        </p:nvSpPr>
        <p:spPr>
          <a:ln/>
        </p:spPr>
        <p:txBody>
          <a:bodyPr/>
          <a:lstStyle>
            <a:lvl1pPr>
              <a:defRPr/>
            </a:lvl1pPr>
          </a:lstStyle>
          <a:p>
            <a:pPr>
              <a:defRPr/>
            </a:pPr>
            <a:fld id="{D8807DF2-5C44-4609-A426-67227D6D5D72}" type="slidenum">
              <a:rPr lang="en-US"/>
              <a:pPr>
                <a:defRPr/>
              </a:pPr>
              <a:t>‹#›</a:t>
            </a:fld>
            <a:endParaRPr lang="en-US"/>
          </a:p>
        </p:txBody>
      </p:sp>
    </p:spTree>
    <p:extLst>
      <p:ext uri="{BB962C8B-B14F-4D97-AF65-F5344CB8AC3E}">
        <p14:creationId xmlns:p14="http://schemas.microsoft.com/office/powerpoint/2010/main" val="3630864478"/>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dt" sz="half" idx="10"/>
          </p:nvPr>
        </p:nvSpPr>
        <p:spPr>
          <a:ln/>
        </p:spPr>
        <p:txBody>
          <a:bodyPr/>
          <a:lstStyle>
            <a:lvl1pPr>
              <a:defRPr/>
            </a:lvl1pPr>
          </a:lstStyle>
          <a:p>
            <a:pPr>
              <a:defRPr/>
            </a:pPr>
            <a:r>
              <a:rPr lang="en-US" altLang="zh-CN"/>
              <a:t>Introduction to Software Testing, Edition 2  (Ch 6)</a:t>
            </a:r>
            <a:endParaRPr lang="en-US" dirty="0"/>
          </a:p>
        </p:txBody>
      </p:sp>
      <p:sp>
        <p:nvSpPr>
          <p:cNvPr id="8"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9" name="Rectangle 4"/>
          <p:cNvSpPr>
            <a:spLocks noGrp="1" noChangeArrowheads="1"/>
          </p:cNvSpPr>
          <p:nvPr>
            <p:ph type="sldNum" sz="quarter" idx="12"/>
          </p:nvPr>
        </p:nvSpPr>
        <p:spPr>
          <a:ln/>
        </p:spPr>
        <p:txBody>
          <a:bodyPr/>
          <a:lstStyle>
            <a:lvl1pPr>
              <a:defRPr/>
            </a:lvl1pPr>
          </a:lstStyle>
          <a:p>
            <a:pPr>
              <a:defRPr/>
            </a:pPr>
            <a:fld id="{6F9E8786-DF9E-46F4-BF84-782505769AF0}" type="slidenum">
              <a:rPr lang="en-US"/>
              <a:pPr>
                <a:defRPr/>
              </a:pPr>
              <a:t>‹#›</a:t>
            </a:fld>
            <a:endParaRPr lang="en-US"/>
          </a:p>
        </p:txBody>
      </p:sp>
    </p:spTree>
    <p:extLst>
      <p:ext uri="{BB962C8B-B14F-4D97-AF65-F5344CB8AC3E}">
        <p14:creationId xmlns:p14="http://schemas.microsoft.com/office/powerpoint/2010/main" val="4008309022"/>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dt" sz="half" idx="10"/>
          </p:nvPr>
        </p:nvSpPr>
        <p:spPr>
          <a:ln/>
        </p:spPr>
        <p:txBody>
          <a:bodyPr/>
          <a:lstStyle>
            <a:lvl1pPr>
              <a:defRPr/>
            </a:lvl1pPr>
          </a:lstStyle>
          <a:p>
            <a:pPr>
              <a:defRPr/>
            </a:pPr>
            <a:r>
              <a:rPr lang="en-US" altLang="zh-CN"/>
              <a:t>Introduction to Software Testing, Edition 2  (Ch 6)</a:t>
            </a:r>
            <a:endParaRPr lang="en-US" dirty="0"/>
          </a:p>
        </p:txBody>
      </p:sp>
      <p:sp>
        <p:nvSpPr>
          <p:cNvPr id="4"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5" name="Rectangle 4"/>
          <p:cNvSpPr>
            <a:spLocks noGrp="1" noChangeArrowheads="1"/>
          </p:cNvSpPr>
          <p:nvPr>
            <p:ph type="sldNum" sz="quarter" idx="12"/>
          </p:nvPr>
        </p:nvSpPr>
        <p:spPr>
          <a:ln/>
        </p:spPr>
        <p:txBody>
          <a:bodyPr/>
          <a:lstStyle>
            <a:lvl1pPr>
              <a:defRPr/>
            </a:lvl1pPr>
          </a:lstStyle>
          <a:p>
            <a:pPr>
              <a:defRPr/>
            </a:pPr>
            <a:fld id="{CD300CF4-DC6B-40C5-8C9F-9806B31E798A}" type="slidenum">
              <a:rPr lang="en-US"/>
              <a:pPr>
                <a:defRPr/>
              </a:pPr>
              <a:t>‹#›</a:t>
            </a:fld>
            <a:endParaRPr lang="en-US"/>
          </a:p>
        </p:txBody>
      </p:sp>
    </p:spTree>
    <p:extLst>
      <p:ext uri="{BB962C8B-B14F-4D97-AF65-F5344CB8AC3E}">
        <p14:creationId xmlns:p14="http://schemas.microsoft.com/office/powerpoint/2010/main" val="325812664"/>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a:ln/>
        </p:spPr>
        <p:txBody>
          <a:bodyPr/>
          <a:lstStyle>
            <a:lvl1pPr>
              <a:defRPr/>
            </a:lvl1pPr>
          </a:lstStyle>
          <a:p>
            <a:pPr>
              <a:defRPr/>
            </a:pPr>
            <a:r>
              <a:rPr lang="en-US" altLang="zh-CN"/>
              <a:t>Introduction to Software Testing, Edition 2  (Ch 6)</a:t>
            </a:r>
            <a:endParaRPr lang="en-US" dirty="0"/>
          </a:p>
        </p:txBody>
      </p:sp>
      <p:sp>
        <p:nvSpPr>
          <p:cNvPr id="3"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4" name="Rectangle 4"/>
          <p:cNvSpPr>
            <a:spLocks noGrp="1" noChangeArrowheads="1"/>
          </p:cNvSpPr>
          <p:nvPr>
            <p:ph type="sldNum" sz="quarter" idx="12"/>
          </p:nvPr>
        </p:nvSpPr>
        <p:spPr>
          <a:ln/>
        </p:spPr>
        <p:txBody>
          <a:bodyPr/>
          <a:lstStyle>
            <a:lvl1pPr>
              <a:defRPr/>
            </a:lvl1pPr>
          </a:lstStyle>
          <a:p>
            <a:pPr>
              <a:defRPr/>
            </a:pPr>
            <a:fld id="{19EBF952-56E0-4DCE-9361-DBE2A288F007}" type="slidenum">
              <a:rPr lang="en-US"/>
              <a:pPr>
                <a:defRPr/>
              </a:pPr>
              <a:t>‹#›</a:t>
            </a:fld>
            <a:endParaRPr lang="en-US"/>
          </a:p>
        </p:txBody>
      </p:sp>
    </p:spTree>
    <p:extLst>
      <p:ext uri="{BB962C8B-B14F-4D97-AF65-F5344CB8AC3E}">
        <p14:creationId xmlns:p14="http://schemas.microsoft.com/office/powerpoint/2010/main" val="127367374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dt" sz="half" idx="10"/>
          </p:nvPr>
        </p:nvSpPr>
        <p:spPr>
          <a:ln/>
        </p:spPr>
        <p:txBody>
          <a:bodyPr/>
          <a:lstStyle>
            <a:lvl1pPr>
              <a:defRPr/>
            </a:lvl1pPr>
          </a:lstStyle>
          <a:p>
            <a:pPr>
              <a:defRPr/>
            </a:pPr>
            <a:r>
              <a:rPr lang="en-US" altLang="zh-CN"/>
              <a:t>Introduction to Software Testing, Edition 2  (Ch 6)</a:t>
            </a:r>
            <a:endParaRPr lang="en-US" dirty="0"/>
          </a:p>
        </p:txBody>
      </p:sp>
      <p:sp>
        <p:nvSpPr>
          <p:cNvPr id="6"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7" name="Rectangle 4"/>
          <p:cNvSpPr>
            <a:spLocks noGrp="1" noChangeArrowheads="1"/>
          </p:cNvSpPr>
          <p:nvPr>
            <p:ph type="sldNum" sz="quarter" idx="12"/>
          </p:nvPr>
        </p:nvSpPr>
        <p:spPr>
          <a:ln/>
        </p:spPr>
        <p:txBody>
          <a:bodyPr/>
          <a:lstStyle>
            <a:lvl1pPr>
              <a:defRPr/>
            </a:lvl1pPr>
          </a:lstStyle>
          <a:p>
            <a:pPr>
              <a:defRPr/>
            </a:pPr>
            <a:fld id="{CACEA21D-0B43-4D3A-AB2C-0E960A4273E8}" type="slidenum">
              <a:rPr lang="en-US"/>
              <a:pPr>
                <a:defRPr/>
              </a:pPr>
              <a:t>‹#›</a:t>
            </a:fld>
            <a:endParaRPr lang="en-US"/>
          </a:p>
        </p:txBody>
      </p:sp>
    </p:spTree>
    <p:extLst>
      <p:ext uri="{BB962C8B-B14F-4D97-AF65-F5344CB8AC3E}">
        <p14:creationId xmlns:p14="http://schemas.microsoft.com/office/powerpoint/2010/main" val="4170320639"/>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dt" sz="half" idx="10"/>
          </p:nvPr>
        </p:nvSpPr>
        <p:spPr>
          <a:ln/>
        </p:spPr>
        <p:txBody>
          <a:bodyPr/>
          <a:lstStyle>
            <a:lvl1pPr>
              <a:defRPr/>
            </a:lvl1pPr>
          </a:lstStyle>
          <a:p>
            <a:pPr>
              <a:defRPr/>
            </a:pPr>
            <a:r>
              <a:rPr lang="en-US" altLang="zh-CN"/>
              <a:t>Introduction to Software Testing, Edition 2  (Ch 6)</a:t>
            </a:r>
            <a:endParaRPr lang="en-US" dirty="0"/>
          </a:p>
        </p:txBody>
      </p:sp>
      <p:sp>
        <p:nvSpPr>
          <p:cNvPr id="6"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7" name="Rectangle 4"/>
          <p:cNvSpPr>
            <a:spLocks noGrp="1" noChangeArrowheads="1"/>
          </p:cNvSpPr>
          <p:nvPr>
            <p:ph type="sldNum" sz="quarter" idx="12"/>
          </p:nvPr>
        </p:nvSpPr>
        <p:spPr>
          <a:ln/>
        </p:spPr>
        <p:txBody>
          <a:bodyPr/>
          <a:lstStyle>
            <a:lvl1pPr>
              <a:defRPr/>
            </a:lvl1pPr>
          </a:lstStyle>
          <a:p>
            <a:pPr>
              <a:defRPr/>
            </a:pPr>
            <a:fld id="{8B489B97-0DAA-42F6-B536-A4480BC55F46}" type="slidenum">
              <a:rPr lang="en-US"/>
              <a:pPr>
                <a:defRPr/>
              </a:pPr>
              <a:t>‹#›</a:t>
            </a:fld>
            <a:endParaRPr lang="en-US"/>
          </a:p>
        </p:txBody>
      </p:sp>
    </p:spTree>
    <p:extLst>
      <p:ext uri="{BB962C8B-B14F-4D97-AF65-F5344CB8AC3E}">
        <p14:creationId xmlns:p14="http://schemas.microsoft.com/office/powerpoint/2010/main" val="1356065186"/>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dt" sz="half" idx="10"/>
          </p:nvPr>
        </p:nvSpPr>
        <p:spPr>
          <a:ln/>
        </p:spPr>
        <p:txBody>
          <a:bodyPr/>
          <a:lstStyle>
            <a:lvl1pPr>
              <a:defRPr/>
            </a:lvl1pPr>
          </a:lstStyle>
          <a:p>
            <a:pPr>
              <a:defRPr/>
            </a:pPr>
            <a:r>
              <a:rPr lang="en-US" altLang="zh-CN"/>
              <a:t>Introduction to Software Testing, Edition 2  (Ch 6)</a:t>
            </a:r>
            <a:endParaRPr lang="en-US" dirty="0"/>
          </a:p>
        </p:txBody>
      </p:sp>
      <p:sp>
        <p:nvSpPr>
          <p:cNvPr id="5"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6" name="Rectangle 4"/>
          <p:cNvSpPr>
            <a:spLocks noGrp="1" noChangeArrowheads="1"/>
          </p:cNvSpPr>
          <p:nvPr>
            <p:ph type="sldNum" sz="quarter" idx="12"/>
          </p:nvPr>
        </p:nvSpPr>
        <p:spPr>
          <a:ln/>
        </p:spPr>
        <p:txBody>
          <a:bodyPr/>
          <a:lstStyle>
            <a:lvl1pPr>
              <a:defRPr/>
            </a:lvl1pPr>
          </a:lstStyle>
          <a:p>
            <a:pPr>
              <a:defRPr/>
            </a:pPr>
            <a:fld id="{32E42540-4A52-49ED-B823-25CDCA602A8C}" type="slidenum">
              <a:rPr lang="en-US"/>
              <a:pPr>
                <a:defRPr/>
              </a:pPr>
              <a:t>‹#›</a:t>
            </a:fld>
            <a:endParaRPr lang="en-US"/>
          </a:p>
        </p:txBody>
      </p:sp>
    </p:spTree>
    <p:extLst>
      <p:ext uri="{BB962C8B-B14F-4D97-AF65-F5344CB8AC3E}">
        <p14:creationId xmlns:p14="http://schemas.microsoft.com/office/powerpoint/2010/main" val="2475251660"/>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52984" y="96839"/>
            <a:ext cx="2954867" cy="62579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84152" y="96839"/>
            <a:ext cx="8665633" cy="62579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dt" sz="half" idx="10"/>
          </p:nvPr>
        </p:nvSpPr>
        <p:spPr>
          <a:ln/>
        </p:spPr>
        <p:txBody>
          <a:bodyPr/>
          <a:lstStyle>
            <a:lvl1pPr>
              <a:defRPr/>
            </a:lvl1pPr>
          </a:lstStyle>
          <a:p>
            <a:pPr>
              <a:defRPr/>
            </a:pPr>
            <a:r>
              <a:rPr lang="en-US" altLang="zh-CN"/>
              <a:t>Introduction to Software Testing, Edition 2  (Ch 6)</a:t>
            </a:r>
            <a:endParaRPr lang="en-US" dirty="0"/>
          </a:p>
        </p:txBody>
      </p:sp>
      <p:sp>
        <p:nvSpPr>
          <p:cNvPr id="5"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6" name="Rectangle 4"/>
          <p:cNvSpPr>
            <a:spLocks noGrp="1" noChangeArrowheads="1"/>
          </p:cNvSpPr>
          <p:nvPr>
            <p:ph type="sldNum" sz="quarter" idx="12"/>
          </p:nvPr>
        </p:nvSpPr>
        <p:spPr>
          <a:ln/>
        </p:spPr>
        <p:txBody>
          <a:bodyPr/>
          <a:lstStyle>
            <a:lvl1pPr>
              <a:defRPr/>
            </a:lvl1pPr>
          </a:lstStyle>
          <a:p>
            <a:pPr>
              <a:defRPr/>
            </a:pPr>
            <a:fld id="{812BEFFC-2FD2-483A-842E-CF3B63D209FB}" type="slidenum">
              <a:rPr lang="en-US"/>
              <a:pPr>
                <a:defRPr/>
              </a:pPr>
              <a:t>‹#›</a:t>
            </a:fld>
            <a:endParaRPr lang="en-US"/>
          </a:p>
        </p:txBody>
      </p:sp>
    </p:spTree>
    <p:extLst>
      <p:ext uri="{BB962C8B-B14F-4D97-AF65-F5344CB8AC3E}">
        <p14:creationId xmlns:p14="http://schemas.microsoft.com/office/powerpoint/2010/main" val="614596154"/>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96839"/>
            <a:ext cx="10363200" cy="915987"/>
          </a:xfrm>
        </p:spPr>
        <p:txBody>
          <a:bodyPr/>
          <a:lstStyle/>
          <a:p>
            <a:r>
              <a:rPr lang="en-US"/>
              <a:t>Click to edit Master title style</a:t>
            </a:r>
          </a:p>
        </p:txBody>
      </p:sp>
      <p:sp>
        <p:nvSpPr>
          <p:cNvPr id="3" name="Text Placeholder 2"/>
          <p:cNvSpPr>
            <a:spLocks noGrp="1"/>
          </p:cNvSpPr>
          <p:nvPr>
            <p:ph type="body" sz="half" idx="1"/>
          </p:nvPr>
        </p:nvSpPr>
        <p:spPr>
          <a:xfrm>
            <a:off x="184152" y="1085851"/>
            <a:ext cx="5810249" cy="5268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085851"/>
            <a:ext cx="5810251" cy="5268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dt" sz="half" idx="10"/>
          </p:nvPr>
        </p:nvSpPr>
        <p:spPr>
          <a:ln/>
        </p:spPr>
        <p:txBody>
          <a:bodyPr/>
          <a:lstStyle>
            <a:lvl1pPr>
              <a:defRPr/>
            </a:lvl1pPr>
          </a:lstStyle>
          <a:p>
            <a:pPr>
              <a:defRPr/>
            </a:pPr>
            <a:r>
              <a:rPr lang="en-US" altLang="zh-CN"/>
              <a:t>Introduction to Software Testing, Edition 2  (Ch 6)</a:t>
            </a:r>
            <a:endParaRPr lang="en-US" dirty="0"/>
          </a:p>
        </p:txBody>
      </p:sp>
      <p:sp>
        <p:nvSpPr>
          <p:cNvPr id="6" name="Rectangle 3"/>
          <p:cNvSpPr>
            <a:spLocks noGrp="1" noChangeArrowheads="1"/>
          </p:cNvSpPr>
          <p:nvPr>
            <p:ph type="ftr" sz="quarter" idx="11"/>
          </p:nvPr>
        </p:nvSpPr>
        <p:spPr>
          <a:ln/>
        </p:spPr>
        <p:txBody>
          <a:bodyPr/>
          <a:lstStyle>
            <a:lvl1pPr>
              <a:defRPr/>
            </a:lvl1pPr>
          </a:lstStyle>
          <a:p>
            <a:pPr>
              <a:defRPr/>
            </a:pPr>
            <a:r>
              <a:rPr lang="en-US"/>
              <a:t>© Ammann &amp; Offutt</a:t>
            </a:r>
          </a:p>
        </p:txBody>
      </p:sp>
      <p:sp>
        <p:nvSpPr>
          <p:cNvPr id="7" name="Rectangle 4"/>
          <p:cNvSpPr>
            <a:spLocks noGrp="1" noChangeArrowheads="1"/>
          </p:cNvSpPr>
          <p:nvPr>
            <p:ph type="sldNum" sz="quarter" idx="12"/>
          </p:nvPr>
        </p:nvSpPr>
        <p:spPr>
          <a:ln/>
        </p:spPr>
        <p:txBody>
          <a:bodyPr/>
          <a:lstStyle>
            <a:lvl1pPr>
              <a:defRPr/>
            </a:lvl1pPr>
          </a:lstStyle>
          <a:p>
            <a:pPr>
              <a:defRPr/>
            </a:pPr>
            <a:fld id="{1B7BF41F-CA4C-46DC-BCF8-2313E1C53129}" type="slidenum">
              <a:rPr lang="en-US"/>
              <a:pPr>
                <a:defRPr/>
              </a:pPr>
              <a:t>‹#›</a:t>
            </a:fld>
            <a:endParaRPr lang="en-US"/>
          </a:p>
        </p:txBody>
      </p:sp>
    </p:spTree>
    <p:extLst>
      <p:ext uri="{BB962C8B-B14F-4D97-AF65-F5344CB8AC3E}">
        <p14:creationId xmlns:p14="http://schemas.microsoft.com/office/powerpoint/2010/main" val="17469247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1F68D4A-438A-44B0-89B7-7FB89967B011}"/>
              </a:ext>
            </a:extLst>
          </p:cNvPr>
          <p:cNvSpPr>
            <a:spLocks noGrp="1"/>
          </p:cNvSpPr>
          <p:nvPr>
            <p:ph idx="1"/>
          </p:nvPr>
        </p:nvSpPr>
        <p:spPr>
          <a:xfrm>
            <a:off x="838200" y="557120"/>
            <a:ext cx="10515600" cy="561984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B5ABA10-3FC2-4E38-A9D0-8EF138784CA3}"/>
              </a:ext>
            </a:extLst>
          </p:cNvPr>
          <p:cNvSpPr>
            <a:spLocks noGrp="1"/>
          </p:cNvSpPr>
          <p:nvPr>
            <p:ph type="dt" sz="half" idx="10"/>
          </p:nvPr>
        </p:nvSpPr>
        <p:spPr/>
        <p:txBody>
          <a:bodyPr/>
          <a:lstStyle/>
          <a:p>
            <a:fld id="{56AAF368-9D10-41F7-90C9-2D5A0FA6575C}" type="datetimeFigureOut">
              <a:rPr lang="zh-CN" altLang="en-US" smtClean="0"/>
              <a:t>2026/3/10</a:t>
            </a:fld>
            <a:endParaRPr lang="zh-CN" altLang="en-US"/>
          </a:p>
        </p:txBody>
      </p:sp>
      <p:sp>
        <p:nvSpPr>
          <p:cNvPr id="5" name="页脚占位符 4">
            <a:extLst>
              <a:ext uri="{FF2B5EF4-FFF2-40B4-BE49-F238E27FC236}">
                <a16:creationId xmlns:a16="http://schemas.microsoft.com/office/drawing/2014/main" id="{E30B6FAD-B1E9-472B-A5D0-389BE2A6574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7181EAA-D4D0-4A45-A9D5-6445D8526854}"/>
              </a:ext>
            </a:extLst>
          </p:cNvPr>
          <p:cNvSpPr>
            <a:spLocks noGrp="1"/>
          </p:cNvSpPr>
          <p:nvPr>
            <p:ph type="sldNum" sz="quarter" idx="12"/>
          </p:nvPr>
        </p:nvSpPr>
        <p:spPr/>
        <p:txBody>
          <a:bodyPr/>
          <a:lstStyle/>
          <a:p>
            <a:fld id="{F70A093C-639C-462E-8BE9-7EB2C8C7842D}" type="slidenum">
              <a:rPr lang="zh-CN" altLang="en-US" smtClean="0"/>
              <a:t>‹#›</a:t>
            </a:fld>
            <a:endParaRPr lang="zh-CN" altLang="en-US"/>
          </a:p>
        </p:txBody>
      </p:sp>
    </p:spTree>
    <p:extLst>
      <p:ext uri="{BB962C8B-B14F-4D97-AF65-F5344CB8AC3E}">
        <p14:creationId xmlns:p14="http://schemas.microsoft.com/office/powerpoint/2010/main" val="558226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000047"/>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dt" sz="half" idx="2"/>
          </p:nvPr>
        </p:nvSpPr>
        <p:spPr bwMode="auto">
          <a:xfrm>
            <a:off x="131233" y="6564973"/>
            <a:ext cx="5257800" cy="240640"/>
          </a:xfrm>
          <a:prstGeom prst="rect">
            <a:avLst/>
          </a:prstGeom>
          <a:noFill/>
          <a:ln w="9525">
            <a:noFill/>
            <a:miter lim="800000"/>
            <a:headEnd/>
            <a:tailEnd/>
          </a:ln>
          <a:effectLst/>
        </p:spPr>
        <p:txBody>
          <a:bodyPr vert="horz" wrap="none" lIns="92075" tIns="46038" rIns="92075" bIns="46038" numCol="1" anchor="b" anchorCtr="0" compatLnSpc="1">
            <a:prstTxWarp prst="textNoShape">
              <a:avLst/>
            </a:prstTxWarp>
          </a:bodyPr>
          <a:lstStyle>
            <a:lvl1pPr>
              <a:defRPr sz="900" b="0">
                <a:solidFill>
                  <a:schemeClr val="tx1"/>
                </a:solidFill>
                <a:latin typeface="Arial" panose="020B0604020202020204" pitchFamily="34" charset="0"/>
                <a:cs typeface="Arial" pitchFamily="34" charset="0"/>
              </a:defRPr>
            </a:lvl1pPr>
          </a:lstStyle>
          <a:p>
            <a:pPr>
              <a:defRPr/>
            </a:pPr>
            <a:r>
              <a:rPr lang="en-US" altLang="zh-CN"/>
              <a:t>Introduction to Software Testing, Edition 2  (Ch 6)</a:t>
            </a:r>
            <a:endParaRPr lang="en-US" dirty="0"/>
          </a:p>
        </p:txBody>
      </p:sp>
      <p:sp>
        <p:nvSpPr>
          <p:cNvPr id="1027" name="Rectangle 3"/>
          <p:cNvSpPr>
            <a:spLocks noGrp="1" noChangeArrowheads="1"/>
          </p:cNvSpPr>
          <p:nvPr>
            <p:ph type="ftr" sz="quarter" idx="3"/>
          </p:nvPr>
        </p:nvSpPr>
        <p:spPr bwMode="auto">
          <a:xfrm>
            <a:off x="5630333" y="6557211"/>
            <a:ext cx="3860800" cy="248402"/>
          </a:xfrm>
          <a:prstGeom prst="rect">
            <a:avLst/>
          </a:prstGeom>
          <a:noFill/>
          <a:ln w="9525">
            <a:noFill/>
            <a:miter lim="800000"/>
            <a:headEnd/>
            <a:tailEnd/>
          </a:ln>
          <a:effectLst/>
        </p:spPr>
        <p:txBody>
          <a:bodyPr vert="horz" wrap="none" lIns="92075" tIns="46038" rIns="92075" bIns="46038" numCol="1" anchor="b" anchorCtr="0" compatLnSpc="1">
            <a:prstTxWarp prst="textNoShape">
              <a:avLst/>
            </a:prstTxWarp>
          </a:bodyPr>
          <a:lstStyle>
            <a:lvl1pPr algn="ctr">
              <a:defRPr sz="900" b="0">
                <a:solidFill>
                  <a:schemeClr val="tx1"/>
                </a:solidFill>
                <a:latin typeface="Arial" panose="020B0604020202020204" pitchFamily="34" charset="0"/>
                <a:cs typeface="Arial" pitchFamily="34" charset="0"/>
              </a:defRPr>
            </a:lvl1pPr>
          </a:lstStyle>
          <a:p>
            <a:pPr>
              <a:defRPr/>
            </a:pPr>
            <a:r>
              <a:rPr lang="en-US"/>
              <a:t>© Ammann &amp; Offutt</a:t>
            </a:r>
            <a:endParaRPr lang="en-US" dirty="0"/>
          </a:p>
        </p:txBody>
      </p:sp>
      <p:sp>
        <p:nvSpPr>
          <p:cNvPr id="1028" name="Rectangle 4"/>
          <p:cNvSpPr>
            <a:spLocks noGrp="1" noChangeArrowheads="1"/>
          </p:cNvSpPr>
          <p:nvPr>
            <p:ph type="sldNum" sz="quarter" idx="4"/>
          </p:nvPr>
        </p:nvSpPr>
        <p:spPr bwMode="auto">
          <a:xfrm>
            <a:off x="9652000" y="6549449"/>
            <a:ext cx="2540000" cy="256165"/>
          </a:xfrm>
          <a:prstGeom prst="rect">
            <a:avLst/>
          </a:prstGeom>
          <a:noFill/>
          <a:ln w="9525">
            <a:noFill/>
            <a:miter lim="800000"/>
            <a:headEnd/>
            <a:tailEnd/>
          </a:ln>
          <a:effectLst/>
        </p:spPr>
        <p:txBody>
          <a:bodyPr vert="horz" wrap="none" lIns="92075" tIns="46038" rIns="92075" bIns="46038" numCol="1" anchor="b" anchorCtr="0" compatLnSpc="1">
            <a:prstTxWarp prst="textNoShape">
              <a:avLst/>
            </a:prstTxWarp>
          </a:bodyPr>
          <a:lstStyle>
            <a:lvl1pPr algn="r">
              <a:defRPr sz="900" b="0">
                <a:solidFill>
                  <a:schemeClr val="tx1"/>
                </a:solidFill>
                <a:latin typeface="Arial" panose="020B0604020202020204" pitchFamily="34" charset="0"/>
                <a:cs typeface="Arial" pitchFamily="34" charset="0"/>
              </a:defRPr>
            </a:lvl1pPr>
          </a:lstStyle>
          <a:p>
            <a:pPr>
              <a:defRPr/>
            </a:pPr>
            <a:fld id="{39672749-6BFD-437F-ABFE-B000B4DD38E4}" type="slidenum">
              <a:rPr lang="en-US" smtClean="0"/>
              <a:pPr>
                <a:defRPr/>
              </a:pPr>
              <a:t>‹#›</a:t>
            </a:fld>
            <a:endParaRPr lang="en-US"/>
          </a:p>
        </p:txBody>
      </p:sp>
      <p:sp>
        <p:nvSpPr>
          <p:cNvPr id="1029" name="Rectangle 5"/>
          <p:cNvSpPr>
            <a:spLocks noGrp="1" noChangeArrowheads="1"/>
          </p:cNvSpPr>
          <p:nvPr>
            <p:ph type="title"/>
          </p:nvPr>
        </p:nvSpPr>
        <p:spPr bwMode="auto">
          <a:xfrm>
            <a:off x="8467" y="96839"/>
            <a:ext cx="12149976" cy="86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dirty="0"/>
              <a:t>Click to edit Master title style</a:t>
            </a:r>
          </a:p>
        </p:txBody>
      </p:sp>
      <p:sp>
        <p:nvSpPr>
          <p:cNvPr id="1030" name="Rectangle 6"/>
          <p:cNvSpPr>
            <a:spLocks noGrp="1" noChangeArrowheads="1"/>
          </p:cNvSpPr>
          <p:nvPr>
            <p:ph type="body" idx="1"/>
          </p:nvPr>
        </p:nvSpPr>
        <p:spPr bwMode="auto">
          <a:xfrm>
            <a:off x="8468" y="878305"/>
            <a:ext cx="12149976" cy="5630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dirty="0"/>
              <a:t>Click to edit Master text styles</a:t>
            </a:r>
          </a:p>
          <a:p>
            <a:pPr lvl="1"/>
            <a:r>
              <a:rPr lang="en-US" altLang="en-US" dirty="0"/>
              <a:t>Second level </a:t>
            </a:r>
          </a:p>
          <a:p>
            <a:pPr lvl="2"/>
            <a:r>
              <a:rPr lang="en-US" altLang="en-US" dirty="0"/>
              <a:t>Third level</a:t>
            </a:r>
          </a:p>
          <a:p>
            <a:pPr lvl="3"/>
            <a:r>
              <a:rPr lang="en-US" altLang="en-US" dirty="0"/>
              <a:t>Fourth level </a:t>
            </a:r>
          </a:p>
          <a:p>
            <a:pPr lvl="4"/>
            <a:r>
              <a:rPr lang="en-US" altLang="en-US" dirty="0"/>
              <a:t>Fifth level </a:t>
            </a:r>
          </a:p>
        </p:txBody>
      </p:sp>
      <p:sp>
        <p:nvSpPr>
          <p:cNvPr id="8" name="Line 10"/>
          <p:cNvSpPr>
            <a:spLocks noChangeShapeType="1"/>
          </p:cNvSpPr>
          <p:nvPr userDrawn="1"/>
        </p:nvSpPr>
        <p:spPr bwMode="auto">
          <a:xfrm>
            <a:off x="-1" y="729143"/>
            <a:ext cx="12158444" cy="0"/>
          </a:xfrm>
          <a:prstGeom prst="line">
            <a:avLst/>
          </a:prstGeom>
          <a:noFill/>
          <a:ln w="57150">
            <a:solidFill>
              <a:srgbClr val="009900"/>
            </a:solidFill>
            <a:round/>
            <a:headEnd/>
            <a:tailEnd/>
          </a:ln>
          <a:effectLst/>
        </p:spPr>
        <p:txBody>
          <a:bodyPr/>
          <a:lstStyle/>
          <a:p>
            <a:pPr>
              <a:defRPr/>
            </a:pPr>
            <a:endParaRPr lang="en-US" sz="2000"/>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med"/>
  <p:hf hdr="0" ftr="0" dt="0"/>
  <p:txStyles>
    <p:titleStyle>
      <a:lvl1pPr algn="ctr" rtl="0" eaLnBrk="0" fontAlgn="base" hangingPunct="0">
        <a:lnSpc>
          <a:spcPct val="90000"/>
        </a:lnSpc>
        <a:spcBef>
          <a:spcPct val="0"/>
        </a:spcBef>
        <a:spcAft>
          <a:spcPct val="0"/>
        </a:spcAft>
        <a:defRPr sz="3600" b="1">
          <a:solidFill>
            <a:schemeClr val="tx2"/>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defRPr>
      </a:lvl1pPr>
      <a:lvl2pPr algn="ctr" rtl="0" eaLnBrk="0" fontAlgn="base" hangingPunct="0">
        <a:lnSpc>
          <a:spcPct val="90000"/>
        </a:lnSpc>
        <a:spcBef>
          <a:spcPct val="0"/>
        </a:spcBef>
        <a:spcAft>
          <a:spcPct val="0"/>
        </a:spcAft>
        <a:defRPr sz="3600" b="1">
          <a:solidFill>
            <a:schemeClr val="tx2"/>
          </a:solidFill>
          <a:latin typeface="Times New Roman" pitchFamily="18" charset="0"/>
        </a:defRPr>
      </a:lvl2pPr>
      <a:lvl3pPr algn="ctr" rtl="0" eaLnBrk="0" fontAlgn="base" hangingPunct="0">
        <a:lnSpc>
          <a:spcPct val="90000"/>
        </a:lnSpc>
        <a:spcBef>
          <a:spcPct val="0"/>
        </a:spcBef>
        <a:spcAft>
          <a:spcPct val="0"/>
        </a:spcAft>
        <a:defRPr sz="3600" b="1">
          <a:solidFill>
            <a:schemeClr val="tx2"/>
          </a:solidFill>
          <a:latin typeface="Times New Roman" pitchFamily="18" charset="0"/>
        </a:defRPr>
      </a:lvl3pPr>
      <a:lvl4pPr algn="ctr" rtl="0" eaLnBrk="0" fontAlgn="base" hangingPunct="0">
        <a:lnSpc>
          <a:spcPct val="90000"/>
        </a:lnSpc>
        <a:spcBef>
          <a:spcPct val="0"/>
        </a:spcBef>
        <a:spcAft>
          <a:spcPct val="0"/>
        </a:spcAft>
        <a:defRPr sz="3600" b="1">
          <a:solidFill>
            <a:schemeClr val="tx2"/>
          </a:solidFill>
          <a:latin typeface="Times New Roman" pitchFamily="18" charset="0"/>
        </a:defRPr>
      </a:lvl4pPr>
      <a:lvl5pPr algn="ctr" rtl="0" eaLnBrk="0" fontAlgn="base" hangingPunct="0">
        <a:lnSpc>
          <a:spcPct val="90000"/>
        </a:lnSpc>
        <a:spcBef>
          <a:spcPct val="0"/>
        </a:spcBef>
        <a:spcAft>
          <a:spcPct val="0"/>
        </a:spcAft>
        <a:defRPr sz="3600" b="1">
          <a:solidFill>
            <a:schemeClr val="tx2"/>
          </a:solidFill>
          <a:latin typeface="Times New Roman" pitchFamily="18" charset="0"/>
        </a:defRPr>
      </a:lvl5pPr>
      <a:lvl6pPr marL="457200" algn="ctr" rtl="0" eaLnBrk="0" fontAlgn="base" hangingPunct="0">
        <a:lnSpc>
          <a:spcPct val="90000"/>
        </a:lnSpc>
        <a:spcBef>
          <a:spcPct val="0"/>
        </a:spcBef>
        <a:spcAft>
          <a:spcPct val="0"/>
        </a:spcAft>
        <a:defRPr sz="3600" b="1">
          <a:solidFill>
            <a:schemeClr val="tx2"/>
          </a:solidFill>
          <a:latin typeface="Times New Roman" pitchFamily="18" charset="0"/>
        </a:defRPr>
      </a:lvl6pPr>
      <a:lvl7pPr marL="914400" algn="ctr" rtl="0" eaLnBrk="0" fontAlgn="base" hangingPunct="0">
        <a:lnSpc>
          <a:spcPct val="90000"/>
        </a:lnSpc>
        <a:spcBef>
          <a:spcPct val="0"/>
        </a:spcBef>
        <a:spcAft>
          <a:spcPct val="0"/>
        </a:spcAft>
        <a:defRPr sz="3600" b="1">
          <a:solidFill>
            <a:schemeClr val="tx2"/>
          </a:solidFill>
          <a:latin typeface="Times New Roman" pitchFamily="18" charset="0"/>
        </a:defRPr>
      </a:lvl7pPr>
      <a:lvl8pPr marL="1371600" algn="ctr" rtl="0" eaLnBrk="0" fontAlgn="base" hangingPunct="0">
        <a:lnSpc>
          <a:spcPct val="90000"/>
        </a:lnSpc>
        <a:spcBef>
          <a:spcPct val="0"/>
        </a:spcBef>
        <a:spcAft>
          <a:spcPct val="0"/>
        </a:spcAft>
        <a:defRPr sz="3600" b="1">
          <a:solidFill>
            <a:schemeClr val="tx2"/>
          </a:solidFill>
          <a:latin typeface="Times New Roman" pitchFamily="18" charset="0"/>
        </a:defRPr>
      </a:lvl8pPr>
      <a:lvl9pPr marL="1828800" algn="ctr" rtl="0" eaLnBrk="0" fontAlgn="base" hangingPunct="0">
        <a:lnSpc>
          <a:spcPct val="90000"/>
        </a:lnSpc>
        <a:spcBef>
          <a:spcPct val="0"/>
        </a:spcBef>
        <a:spcAft>
          <a:spcPct val="0"/>
        </a:spcAft>
        <a:defRPr sz="3600" b="1">
          <a:solidFill>
            <a:schemeClr val="tx2"/>
          </a:solidFill>
          <a:latin typeface="Times New Roman" pitchFamily="18" charset="0"/>
        </a:defRPr>
      </a:lvl9pPr>
    </p:titleStyle>
    <p:bodyStyle>
      <a:lvl1pPr marL="285750" indent="-285750" algn="l" rtl="0" eaLnBrk="0" fontAlgn="base" hangingPunct="0">
        <a:lnSpc>
          <a:spcPct val="90000"/>
        </a:lnSpc>
        <a:spcBef>
          <a:spcPct val="30000"/>
        </a:spcBef>
        <a:spcAft>
          <a:spcPct val="0"/>
        </a:spcAft>
        <a:buSzPct val="85000"/>
        <a:buChar char="•"/>
        <a:defRPr sz="2800" b="0">
          <a:solidFill>
            <a:schemeClr val="tx1"/>
          </a:solidFill>
          <a:latin typeface="Gill Sans MT" panose="020B0502020104020203" pitchFamily="34" charset="0"/>
          <a:ea typeface="+mn-ea"/>
          <a:cs typeface="+mn-cs"/>
        </a:defRPr>
      </a:lvl1pPr>
      <a:lvl2pPr marL="685800" indent="-228600" algn="l" rtl="0" eaLnBrk="0" fontAlgn="base" hangingPunct="0">
        <a:lnSpc>
          <a:spcPct val="90000"/>
        </a:lnSpc>
        <a:spcBef>
          <a:spcPct val="30000"/>
        </a:spcBef>
        <a:spcAft>
          <a:spcPct val="0"/>
        </a:spcAft>
        <a:buSzPct val="100000"/>
        <a:buChar char="–"/>
        <a:defRPr sz="2400" b="0">
          <a:solidFill>
            <a:schemeClr val="tx1"/>
          </a:solidFill>
          <a:latin typeface="Gill Sans MT" panose="020B0502020104020203" pitchFamily="34" charset="0"/>
        </a:defRPr>
      </a:lvl2pPr>
      <a:lvl3pPr marL="1143000" indent="-228600" algn="l" rtl="0" eaLnBrk="0" fontAlgn="base" hangingPunct="0">
        <a:lnSpc>
          <a:spcPct val="90000"/>
        </a:lnSpc>
        <a:spcBef>
          <a:spcPct val="30000"/>
        </a:spcBef>
        <a:spcAft>
          <a:spcPct val="0"/>
        </a:spcAft>
        <a:buSzPct val="100000"/>
        <a:buChar char="•"/>
        <a:defRPr sz="2000" b="0">
          <a:solidFill>
            <a:schemeClr val="tx1"/>
          </a:solidFill>
          <a:latin typeface="Gill Sans MT" panose="020B0502020104020203" pitchFamily="34" charset="0"/>
        </a:defRPr>
      </a:lvl3pPr>
      <a:lvl4pPr marL="1543050" indent="-171450" algn="l" rtl="0" eaLnBrk="0" fontAlgn="base" hangingPunct="0">
        <a:lnSpc>
          <a:spcPct val="90000"/>
        </a:lnSpc>
        <a:spcBef>
          <a:spcPct val="30000"/>
        </a:spcBef>
        <a:spcAft>
          <a:spcPct val="0"/>
        </a:spcAft>
        <a:buSzPct val="100000"/>
        <a:buChar char="–"/>
        <a:defRPr sz="2000" b="0">
          <a:solidFill>
            <a:schemeClr val="tx1"/>
          </a:solidFill>
          <a:latin typeface="Gill Sans MT" panose="020B0502020104020203" pitchFamily="34" charset="0"/>
        </a:defRPr>
      </a:lvl4pPr>
      <a:lvl5pPr marL="2000250" indent="-171450" algn="l" rtl="0" eaLnBrk="0" fontAlgn="base" hangingPunct="0">
        <a:lnSpc>
          <a:spcPct val="90000"/>
        </a:lnSpc>
        <a:spcBef>
          <a:spcPct val="30000"/>
        </a:spcBef>
        <a:spcAft>
          <a:spcPct val="0"/>
        </a:spcAft>
        <a:buSzPct val="100000"/>
        <a:buFont typeface="Wingdings" pitchFamily="2" charset="2"/>
        <a:buChar char="Ø"/>
        <a:defRPr sz="2000" b="0">
          <a:solidFill>
            <a:schemeClr val="tx1"/>
          </a:solidFill>
          <a:latin typeface="Gill Sans MT" panose="020B0502020104020203" pitchFamily="34" charset="0"/>
        </a:defRPr>
      </a:lvl5pPr>
      <a:lvl6pPr marL="24574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6pPr>
      <a:lvl7pPr marL="29146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7pPr>
      <a:lvl8pPr marL="33718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8pPr>
      <a:lvl9pPr marL="38290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4"/>
          <p:cNvSpPr>
            <a:spLocks noGrp="1" noChangeArrowheads="1"/>
          </p:cNvSpPr>
          <p:nvPr>
            <p:ph type="ctrTitle"/>
          </p:nvPr>
        </p:nvSpPr>
        <p:spPr/>
        <p:txBody>
          <a:bodyPr/>
          <a:lstStyle/>
          <a:p>
            <a:r>
              <a:rPr lang="en-US" altLang="en-US" dirty="0"/>
              <a:t>Chapter 2</a:t>
            </a:r>
            <a:br>
              <a:rPr lang="en-US" altLang="en-US" dirty="0"/>
            </a:br>
            <a:r>
              <a:rPr lang="en-US" altLang="en-US" dirty="0"/>
              <a:t> Input Space Partition</a:t>
            </a:r>
          </a:p>
        </p:txBody>
      </p:sp>
      <p:sp>
        <p:nvSpPr>
          <p:cNvPr id="2051" name="Rectangle 5"/>
          <p:cNvSpPr>
            <a:spLocks noGrp="1" noChangeArrowheads="1"/>
          </p:cNvSpPr>
          <p:nvPr>
            <p:ph type="subTitle" idx="1"/>
          </p:nvPr>
        </p:nvSpPr>
        <p:spPr/>
        <p:txBody>
          <a:bodyPr/>
          <a:lstStyle/>
          <a:p>
            <a:endParaRPr lang="en-US" altLang="en-US" b="0"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082540-C020-4A4A-891A-86E859460FC4}"/>
              </a:ext>
            </a:extLst>
          </p:cNvPr>
          <p:cNvSpPr>
            <a:spLocks noGrp="1"/>
          </p:cNvSpPr>
          <p:nvPr>
            <p:ph type="title"/>
          </p:nvPr>
        </p:nvSpPr>
        <p:spPr/>
        <p:txBody>
          <a:bodyPr/>
          <a:lstStyle/>
          <a:p>
            <a:r>
              <a:rPr lang="zh-CN" altLang="en-US" dirty="0"/>
              <a:t>本节课程目标</a:t>
            </a:r>
          </a:p>
        </p:txBody>
      </p:sp>
      <p:sp>
        <p:nvSpPr>
          <p:cNvPr id="3" name="内容占位符 2">
            <a:extLst>
              <a:ext uri="{FF2B5EF4-FFF2-40B4-BE49-F238E27FC236}">
                <a16:creationId xmlns:a16="http://schemas.microsoft.com/office/drawing/2014/main" id="{889CFF1E-74AD-4380-B599-512D512CAE79}"/>
              </a:ext>
            </a:extLst>
          </p:cNvPr>
          <p:cNvSpPr>
            <a:spLocks noGrp="1"/>
          </p:cNvSpPr>
          <p:nvPr>
            <p:ph idx="1"/>
          </p:nvPr>
        </p:nvSpPr>
        <p:spPr/>
        <p:txBody>
          <a:bodyPr/>
          <a:lstStyle/>
          <a:p>
            <a:r>
              <a:rPr lang="zh-CN" altLang="en-US" sz="2400" dirty="0"/>
              <a:t>明确输入空间划分技术的好处及划分时需要满足的特性；</a:t>
            </a:r>
          </a:p>
          <a:p>
            <a:r>
              <a:rPr lang="en-US" altLang="zh-CN" sz="2400" dirty="0"/>
              <a:t>【</a:t>
            </a:r>
            <a:r>
              <a:rPr lang="zh-CN" altLang="en-US" sz="2400" dirty="0"/>
              <a:t>难点</a:t>
            </a:r>
            <a:r>
              <a:rPr lang="en-US" altLang="zh-CN" sz="2400" dirty="0"/>
              <a:t>】</a:t>
            </a:r>
            <a:r>
              <a:rPr lang="zh-CN" altLang="en-US" sz="2400" dirty="0"/>
              <a:t>明确输入域建模的步骤，能使用基于接口和基于功能两种方法进行输入域建模；理解输入域建模在识别潜在风险触发条件中的作用；</a:t>
            </a:r>
          </a:p>
          <a:p>
            <a:r>
              <a:rPr lang="en-US" altLang="zh-CN" sz="2400" dirty="0"/>
              <a:t>【</a:t>
            </a:r>
            <a:r>
              <a:rPr lang="zh-CN" altLang="en-US" sz="2400" dirty="0"/>
              <a:t>重点</a:t>
            </a:r>
            <a:r>
              <a:rPr lang="en-US" altLang="zh-CN" sz="2400" dirty="0"/>
              <a:t>】</a:t>
            </a:r>
            <a:r>
              <a:rPr lang="zh-CN" altLang="en-US" sz="2400" dirty="0"/>
              <a:t>掌握常见的特征块组合标准及它们之间的包含关系，包括</a:t>
            </a:r>
            <a:r>
              <a:rPr lang="en-US" altLang="zh-CN" sz="2400" dirty="0" err="1"/>
              <a:t>ACoC</a:t>
            </a:r>
            <a:r>
              <a:rPr lang="zh-CN" altLang="en-US" sz="2400" dirty="0"/>
              <a:t>、</a:t>
            </a:r>
            <a:r>
              <a:rPr lang="en-US" altLang="zh-CN" sz="2400" dirty="0"/>
              <a:t>ECC</a:t>
            </a:r>
            <a:r>
              <a:rPr lang="zh-CN" altLang="en-US" sz="2400" dirty="0"/>
              <a:t>、</a:t>
            </a:r>
            <a:r>
              <a:rPr lang="en-US" altLang="zh-CN" sz="2400" dirty="0"/>
              <a:t>PWC</a:t>
            </a:r>
            <a:r>
              <a:rPr lang="zh-CN" altLang="en-US" sz="2400" dirty="0"/>
              <a:t>、</a:t>
            </a:r>
            <a:r>
              <a:rPr lang="en-US" altLang="zh-CN" sz="2400" dirty="0"/>
              <a:t>TWC</a:t>
            </a:r>
            <a:r>
              <a:rPr lang="zh-CN" altLang="en-US" sz="2400" dirty="0"/>
              <a:t>、</a:t>
            </a:r>
            <a:r>
              <a:rPr lang="en-US" altLang="zh-CN" sz="2400" dirty="0"/>
              <a:t>BCC</a:t>
            </a:r>
            <a:r>
              <a:rPr lang="zh-CN" altLang="en-US" sz="2400" dirty="0"/>
              <a:t>、</a:t>
            </a:r>
            <a:r>
              <a:rPr lang="en-US" altLang="zh-CN" sz="2400" dirty="0"/>
              <a:t>MBCC</a:t>
            </a:r>
            <a:r>
              <a:rPr lang="zh-CN" altLang="en-US" sz="2400" dirty="0"/>
              <a:t>等，能计算满足组合标准的测试的数目，能根据给定的组合标准构造对应的测试用例。理解不同组合标准在测试资源受限情况下的适用场景及成本差异。</a:t>
            </a:r>
          </a:p>
          <a:p>
            <a:r>
              <a:rPr lang="en-US" altLang="zh-CN" sz="2400" dirty="0"/>
              <a:t>【</a:t>
            </a:r>
            <a:r>
              <a:rPr lang="zh-CN" altLang="en-US" sz="2400" dirty="0"/>
              <a:t>重点</a:t>
            </a:r>
            <a:r>
              <a:rPr lang="en-US" altLang="zh-CN" sz="2400" dirty="0"/>
              <a:t>】</a:t>
            </a:r>
            <a:r>
              <a:rPr lang="zh-CN" altLang="en-US" sz="2400" dirty="0"/>
              <a:t>解释等价类划分与边界值分析技术，明确边界值分析技术的使用场景</a:t>
            </a:r>
          </a:p>
          <a:p>
            <a:r>
              <a:rPr lang="en-US" altLang="zh-CN" sz="2400" dirty="0"/>
              <a:t>【</a:t>
            </a:r>
            <a:r>
              <a:rPr lang="zh-CN" altLang="en-US" sz="2400" dirty="0"/>
              <a:t>重点</a:t>
            </a:r>
            <a:r>
              <a:rPr lang="en-US" altLang="zh-CN" sz="2400" dirty="0"/>
              <a:t>】</a:t>
            </a:r>
            <a:r>
              <a:rPr lang="zh-CN" altLang="en-US" sz="2400" dirty="0"/>
              <a:t>应用等价类划分技术和</a:t>
            </a:r>
            <a:r>
              <a:rPr lang="en-US" altLang="zh-CN" sz="2400" dirty="0"/>
              <a:t>2-value</a:t>
            </a:r>
            <a:r>
              <a:rPr lang="zh-CN" altLang="en-US" sz="2400" dirty="0"/>
              <a:t>和</a:t>
            </a:r>
            <a:r>
              <a:rPr lang="en-US" altLang="zh-CN" sz="2400" dirty="0"/>
              <a:t>3-value</a:t>
            </a:r>
            <a:r>
              <a:rPr lang="zh-CN" altLang="en-US" sz="2400" dirty="0"/>
              <a:t>方法进行边界值分析</a:t>
            </a:r>
          </a:p>
          <a:p>
            <a:r>
              <a:rPr lang="zh-CN" altLang="en-US" sz="2400" dirty="0"/>
              <a:t>基于具体的接口说明文档，应用输入空间划分技术，包括确定特征、定义测试需求、精化测试需求。</a:t>
            </a:r>
          </a:p>
          <a:p>
            <a:r>
              <a:rPr lang="zh-CN" altLang="en-US" sz="2400" dirty="0"/>
              <a:t>掌握典型组合测试工具的用法，使用组合测试工具</a:t>
            </a:r>
            <a:r>
              <a:rPr lang="en-US" altLang="zh-CN" sz="2400" dirty="0"/>
              <a:t>PICT</a:t>
            </a:r>
            <a:r>
              <a:rPr lang="zh-CN" altLang="en-US" sz="2400" dirty="0"/>
              <a:t>生成满足</a:t>
            </a:r>
            <a:r>
              <a:rPr lang="en-US" altLang="zh-CN" sz="2400" dirty="0"/>
              <a:t>pairwise</a:t>
            </a:r>
            <a:r>
              <a:rPr lang="zh-CN" altLang="en-US" sz="2400" dirty="0"/>
              <a:t>组合标准的测试用例。</a:t>
            </a:r>
          </a:p>
        </p:txBody>
      </p:sp>
      <p:sp>
        <p:nvSpPr>
          <p:cNvPr id="4" name="灯片编号占位符 3">
            <a:extLst>
              <a:ext uri="{FF2B5EF4-FFF2-40B4-BE49-F238E27FC236}">
                <a16:creationId xmlns:a16="http://schemas.microsoft.com/office/drawing/2014/main" id="{C2BFB6F9-404E-4AD2-A280-B2D3545CC6BF}"/>
              </a:ext>
            </a:extLst>
          </p:cNvPr>
          <p:cNvSpPr>
            <a:spLocks noGrp="1"/>
          </p:cNvSpPr>
          <p:nvPr>
            <p:ph type="sldNum" sz="quarter" idx="12"/>
          </p:nvPr>
        </p:nvSpPr>
        <p:spPr/>
        <p:txBody>
          <a:bodyPr/>
          <a:lstStyle/>
          <a:p>
            <a:pPr>
              <a:defRPr/>
            </a:pPr>
            <a:fld id="{FE742154-05E0-4FD4-B04E-B92FD3670A3A}" type="slidenum">
              <a:rPr lang="en-US" smtClean="0"/>
              <a:pPr>
                <a:defRPr/>
              </a:pPr>
              <a:t>2</a:t>
            </a:fld>
            <a:endParaRPr lang="en-US"/>
          </a:p>
        </p:txBody>
      </p:sp>
    </p:spTree>
    <p:extLst>
      <p:ext uri="{BB962C8B-B14F-4D97-AF65-F5344CB8AC3E}">
        <p14:creationId xmlns:p14="http://schemas.microsoft.com/office/powerpoint/2010/main" val="362245109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Ch. 2 : Input Space Coverage</a:t>
            </a:r>
            <a:endParaRPr lang="en-US" dirty="0"/>
          </a:p>
        </p:txBody>
      </p:sp>
      <p:sp>
        <p:nvSpPr>
          <p:cNvPr id="5" name="Slide Number Placeholder 4"/>
          <p:cNvSpPr>
            <a:spLocks noGrp="1"/>
          </p:cNvSpPr>
          <p:nvPr>
            <p:ph type="sldNum" sz="quarter" idx="12"/>
          </p:nvPr>
        </p:nvSpPr>
        <p:spPr/>
        <p:txBody>
          <a:bodyPr/>
          <a:lstStyle/>
          <a:p>
            <a:pPr>
              <a:defRPr/>
            </a:pPr>
            <a:fld id="{7CA1E189-A5E4-460C-B525-E80730F3D25C}" type="slidenum">
              <a:rPr lang="en-US" smtClean="0"/>
              <a:pPr>
                <a:defRPr/>
              </a:pPr>
              <a:t>3</a:t>
            </a:fld>
            <a:endParaRPr lang="en-US" dirty="0"/>
          </a:p>
        </p:txBody>
      </p:sp>
      <p:sp>
        <p:nvSpPr>
          <p:cNvPr id="6" name="Text Box 3"/>
          <p:cNvSpPr txBox="1">
            <a:spLocks noChangeArrowheads="1"/>
          </p:cNvSpPr>
          <p:nvPr/>
        </p:nvSpPr>
        <p:spPr bwMode="auto">
          <a:xfrm>
            <a:off x="4038600" y="914401"/>
            <a:ext cx="4114800" cy="974725"/>
          </a:xfrm>
          <a:prstGeom prst="rect">
            <a:avLst/>
          </a:prstGeom>
          <a:gradFill rotWithShape="1">
            <a:gsLst>
              <a:gs pos="0">
                <a:srgbClr val="FAF400"/>
              </a:gs>
              <a:gs pos="100000">
                <a:srgbClr val="FAF400">
                  <a:gamma/>
                  <a:shade val="46275"/>
                  <a:invGamma/>
                </a:srgbClr>
              </a:gs>
            </a:gsLst>
            <a:path path="shape">
              <a:fillToRect l="50000" t="50000" r="50000" b="50000"/>
            </a:path>
          </a:gradFill>
          <a:ln w="28575">
            <a:solidFill>
              <a:srgbClr val="C0C0C0"/>
            </a:solidFill>
            <a:miter lim="800000"/>
            <a:headEnd/>
            <a:tailEnd/>
          </a:ln>
          <a:effectLst/>
        </p:spPr>
        <p:txBody>
          <a:bodyPr>
            <a:spAutoFit/>
          </a:bodyPr>
          <a:lstStyle/>
          <a:p>
            <a:pPr algn="ctr" eaLnBrk="1" hangingPunct="1">
              <a:spcBef>
                <a:spcPct val="50000"/>
              </a:spcBef>
              <a:defRPr/>
            </a:pPr>
            <a:r>
              <a:rPr lang="en-US" sz="2800" dirty="0">
                <a:solidFill>
                  <a:srgbClr val="000000"/>
                </a:solidFill>
                <a:effectLst>
                  <a:outerShdw blurRad="38100" dist="38100" dir="2700000" algn="tl">
                    <a:srgbClr val="FFFFFF"/>
                  </a:outerShdw>
                </a:effectLst>
                <a:latin typeface="Comic Sans MS" pitchFamily="66" charset="0"/>
                <a:cs typeface="Arial" pitchFamily="34" charset="0"/>
              </a:rPr>
              <a:t>Four Structures for Modeling Software</a:t>
            </a:r>
          </a:p>
        </p:txBody>
      </p:sp>
      <p:grpSp>
        <p:nvGrpSpPr>
          <p:cNvPr id="60" name="Group 59"/>
          <p:cNvGrpSpPr/>
          <p:nvPr/>
        </p:nvGrpSpPr>
        <p:grpSpPr>
          <a:xfrm>
            <a:off x="1728789" y="1905001"/>
            <a:ext cx="8682037" cy="1102287"/>
            <a:chOff x="204788" y="1905000"/>
            <a:chExt cx="8682037" cy="1102287"/>
          </a:xfrm>
        </p:grpSpPr>
        <p:sp>
          <p:nvSpPr>
            <p:cNvPr id="8" name="Text Box 5"/>
            <p:cNvSpPr txBox="1">
              <a:spLocks noChangeArrowheads="1"/>
            </p:cNvSpPr>
            <p:nvPr/>
          </p:nvSpPr>
          <p:spPr bwMode="auto">
            <a:xfrm>
              <a:off x="3139017" y="2484067"/>
              <a:ext cx="1498600" cy="523220"/>
            </a:xfrm>
            <a:prstGeom prst="rect">
              <a:avLst/>
            </a:prstGeom>
            <a:gradFill rotWithShape="1">
              <a:gsLst>
                <a:gs pos="0">
                  <a:srgbClr val="FAF400"/>
                </a:gs>
                <a:gs pos="100000">
                  <a:srgbClr val="FAF400">
                    <a:gamma/>
                    <a:shade val="46275"/>
                    <a:invGamma/>
                  </a:srgbClr>
                </a:gs>
              </a:gsLst>
              <a:path path="shape">
                <a:fillToRect l="50000" t="50000" r="50000" b="50000"/>
              </a:path>
            </a:gradFill>
            <a:ln w="28575">
              <a:solidFill>
                <a:srgbClr val="C0C0C0"/>
              </a:solidFill>
              <a:miter lim="800000"/>
              <a:headEnd/>
              <a:tailEnd/>
            </a:ln>
            <a:effectLst/>
          </p:spPr>
          <p:txBody>
            <a:bodyPr>
              <a:spAutoFit/>
            </a:bodyPr>
            <a:lstStyle/>
            <a:p>
              <a:pPr algn="ctr" eaLnBrk="1" hangingPunct="1">
                <a:spcBef>
                  <a:spcPct val="50000"/>
                </a:spcBef>
                <a:defRPr/>
              </a:pPr>
              <a:r>
                <a:rPr lang="en-US" sz="2800">
                  <a:solidFill>
                    <a:srgbClr val="000000"/>
                  </a:solidFill>
                  <a:effectLst>
                    <a:outerShdw blurRad="38100" dist="38100" dir="2700000" algn="tl">
                      <a:srgbClr val="FFFFFF"/>
                    </a:outerShdw>
                  </a:effectLst>
                  <a:latin typeface="Comic Sans MS" pitchFamily="66" charset="0"/>
                  <a:cs typeface="Arial" pitchFamily="34" charset="0"/>
                </a:rPr>
                <a:t>Graphs</a:t>
              </a:r>
            </a:p>
          </p:txBody>
        </p:sp>
        <p:sp>
          <p:nvSpPr>
            <p:cNvPr id="9" name="Text Box 6"/>
            <p:cNvSpPr txBox="1">
              <a:spLocks noChangeArrowheads="1"/>
            </p:cNvSpPr>
            <p:nvPr/>
          </p:nvSpPr>
          <p:spPr bwMode="auto">
            <a:xfrm>
              <a:off x="5262034" y="2484067"/>
              <a:ext cx="1500187" cy="523220"/>
            </a:xfrm>
            <a:prstGeom prst="rect">
              <a:avLst/>
            </a:prstGeom>
            <a:gradFill rotWithShape="1">
              <a:gsLst>
                <a:gs pos="0">
                  <a:srgbClr val="FAF400"/>
                </a:gs>
                <a:gs pos="100000">
                  <a:srgbClr val="FAF400">
                    <a:gamma/>
                    <a:shade val="46275"/>
                    <a:invGamma/>
                  </a:srgbClr>
                </a:gs>
              </a:gsLst>
              <a:path path="shape">
                <a:fillToRect l="50000" t="50000" r="50000" b="50000"/>
              </a:path>
            </a:gradFill>
            <a:ln w="28575">
              <a:solidFill>
                <a:srgbClr val="C0C0C0"/>
              </a:solidFill>
              <a:miter lim="800000"/>
              <a:headEnd/>
              <a:tailEnd/>
            </a:ln>
            <a:effectLst/>
          </p:spPr>
          <p:txBody>
            <a:bodyPr>
              <a:spAutoFit/>
            </a:bodyPr>
            <a:lstStyle/>
            <a:p>
              <a:pPr algn="ctr" eaLnBrk="1" hangingPunct="1">
                <a:spcBef>
                  <a:spcPct val="50000"/>
                </a:spcBef>
                <a:defRPr/>
              </a:pPr>
              <a:r>
                <a:rPr lang="en-US" sz="2800">
                  <a:solidFill>
                    <a:srgbClr val="000000"/>
                  </a:solidFill>
                  <a:effectLst>
                    <a:outerShdw blurRad="38100" dist="38100" dir="2700000" algn="tl">
                      <a:srgbClr val="FFFFFF"/>
                    </a:outerShdw>
                  </a:effectLst>
                  <a:latin typeface="Comic Sans MS" pitchFamily="66" charset="0"/>
                  <a:cs typeface="Arial" pitchFamily="34" charset="0"/>
                </a:rPr>
                <a:t>Logic</a:t>
              </a:r>
            </a:p>
          </p:txBody>
        </p:sp>
        <p:sp>
          <p:nvSpPr>
            <p:cNvPr id="10" name="Text Box 7"/>
            <p:cNvSpPr txBox="1">
              <a:spLocks noChangeArrowheads="1"/>
            </p:cNvSpPr>
            <p:nvPr/>
          </p:nvSpPr>
          <p:spPr bwMode="auto">
            <a:xfrm>
              <a:off x="204788" y="2484067"/>
              <a:ext cx="2309812" cy="523220"/>
            </a:xfrm>
            <a:prstGeom prst="rect">
              <a:avLst/>
            </a:prstGeom>
            <a:gradFill rotWithShape="1">
              <a:gsLst>
                <a:gs pos="0">
                  <a:srgbClr val="FAF400"/>
                </a:gs>
                <a:gs pos="100000">
                  <a:srgbClr val="FAF400">
                    <a:gamma/>
                    <a:shade val="46275"/>
                    <a:invGamma/>
                  </a:srgbClr>
                </a:gs>
              </a:gsLst>
              <a:path path="shape">
                <a:fillToRect l="50000" t="50000" r="50000" b="50000"/>
              </a:path>
            </a:gradFill>
            <a:ln w="28575">
              <a:solidFill>
                <a:srgbClr val="C0C0C0"/>
              </a:solidFill>
              <a:miter lim="800000"/>
              <a:headEnd/>
              <a:tailEnd/>
            </a:ln>
            <a:effectLst/>
          </p:spPr>
          <p:txBody>
            <a:bodyPr>
              <a:spAutoFit/>
            </a:bodyPr>
            <a:lstStyle/>
            <a:p>
              <a:pPr algn="ctr" eaLnBrk="1" hangingPunct="1">
                <a:spcBef>
                  <a:spcPct val="50000"/>
                </a:spcBef>
                <a:defRPr/>
              </a:pPr>
              <a:r>
                <a:rPr lang="en-US" sz="2800" dirty="0">
                  <a:solidFill>
                    <a:srgbClr val="000000"/>
                  </a:solidFill>
                  <a:effectLst>
                    <a:outerShdw blurRad="38100" dist="38100" dir="2700000" algn="tl">
                      <a:srgbClr val="FFFFFF"/>
                    </a:outerShdw>
                  </a:effectLst>
                  <a:latin typeface="Comic Sans MS" pitchFamily="66" charset="0"/>
                  <a:cs typeface="Arial" pitchFamily="34" charset="0"/>
                </a:rPr>
                <a:t>Input Space</a:t>
              </a:r>
            </a:p>
          </p:txBody>
        </p:sp>
        <p:sp>
          <p:nvSpPr>
            <p:cNvPr id="11" name="Text Box 8"/>
            <p:cNvSpPr txBox="1">
              <a:spLocks noChangeArrowheads="1"/>
            </p:cNvSpPr>
            <p:nvPr/>
          </p:nvSpPr>
          <p:spPr bwMode="auto">
            <a:xfrm>
              <a:off x="7386638" y="2484067"/>
              <a:ext cx="1500187" cy="523220"/>
            </a:xfrm>
            <a:prstGeom prst="rect">
              <a:avLst/>
            </a:prstGeom>
            <a:gradFill rotWithShape="1">
              <a:gsLst>
                <a:gs pos="0">
                  <a:srgbClr val="FAF400"/>
                </a:gs>
                <a:gs pos="100000">
                  <a:srgbClr val="FAF400">
                    <a:gamma/>
                    <a:shade val="46275"/>
                    <a:invGamma/>
                  </a:srgbClr>
                </a:gs>
              </a:gsLst>
              <a:path path="shape">
                <a:fillToRect l="50000" t="50000" r="50000" b="50000"/>
              </a:path>
            </a:gradFill>
            <a:ln w="28575">
              <a:solidFill>
                <a:srgbClr val="C0C0C0"/>
              </a:solidFill>
              <a:miter lim="800000"/>
              <a:headEnd/>
              <a:tailEnd/>
            </a:ln>
            <a:effectLst/>
          </p:spPr>
          <p:txBody>
            <a:bodyPr>
              <a:spAutoFit/>
            </a:bodyPr>
            <a:lstStyle/>
            <a:p>
              <a:pPr algn="ctr" eaLnBrk="1" hangingPunct="1">
                <a:spcBef>
                  <a:spcPct val="50000"/>
                </a:spcBef>
                <a:defRPr/>
              </a:pPr>
              <a:r>
                <a:rPr lang="en-US" sz="2800">
                  <a:solidFill>
                    <a:srgbClr val="000000"/>
                  </a:solidFill>
                  <a:effectLst>
                    <a:outerShdw blurRad="38100" dist="38100" dir="2700000" algn="tl">
                      <a:srgbClr val="FFFFFF"/>
                    </a:outerShdw>
                  </a:effectLst>
                  <a:latin typeface="Comic Sans MS" pitchFamily="66" charset="0"/>
                  <a:cs typeface="Arial" pitchFamily="34" charset="0"/>
                </a:rPr>
                <a:t>Syntax</a:t>
              </a:r>
            </a:p>
          </p:txBody>
        </p:sp>
        <p:sp>
          <p:nvSpPr>
            <p:cNvPr id="12" name="Line 9"/>
            <p:cNvSpPr>
              <a:spLocks noChangeShapeType="1"/>
            </p:cNvSpPr>
            <p:nvPr/>
          </p:nvSpPr>
          <p:spPr bwMode="auto">
            <a:xfrm flipV="1">
              <a:off x="1359694" y="2184400"/>
              <a:ext cx="6787356" cy="11114"/>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3" name="Line 10"/>
            <p:cNvSpPr>
              <a:spLocks noChangeShapeType="1"/>
            </p:cNvSpPr>
            <p:nvPr/>
          </p:nvSpPr>
          <p:spPr bwMode="auto">
            <a:xfrm>
              <a:off x="1357535" y="2184400"/>
              <a:ext cx="0" cy="28416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4" name="Line 11"/>
            <p:cNvSpPr>
              <a:spLocks noChangeShapeType="1"/>
            </p:cNvSpPr>
            <p:nvPr/>
          </p:nvSpPr>
          <p:spPr bwMode="auto">
            <a:xfrm>
              <a:off x="6007105" y="2195514"/>
              <a:ext cx="0" cy="28416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6" name="Line 13"/>
            <p:cNvSpPr>
              <a:spLocks noChangeShapeType="1"/>
            </p:cNvSpPr>
            <p:nvPr/>
          </p:nvSpPr>
          <p:spPr bwMode="auto">
            <a:xfrm>
              <a:off x="4551363" y="1905000"/>
              <a:ext cx="0" cy="28416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7" name="Line 14"/>
            <p:cNvSpPr>
              <a:spLocks noChangeShapeType="1"/>
            </p:cNvSpPr>
            <p:nvPr/>
          </p:nvSpPr>
          <p:spPr bwMode="auto">
            <a:xfrm>
              <a:off x="8137525" y="2171700"/>
              <a:ext cx="0" cy="28416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8" name="Line 10"/>
            <p:cNvSpPr>
              <a:spLocks noChangeShapeType="1"/>
            </p:cNvSpPr>
            <p:nvPr/>
          </p:nvSpPr>
          <p:spPr bwMode="auto">
            <a:xfrm>
              <a:off x="3889110" y="2194718"/>
              <a:ext cx="0" cy="28416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grpSp>
        <p:nvGrpSpPr>
          <p:cNvPr id="65" name="Group 64"/>
          <p:cNvGrpSpPr/>
          <p:nvPr/>
        </p:nvGrpSpPr>
        <p:grpSpPr>
          <a:xfrm>
            <a:off x="7340766" y="3024702"/>
            <a:ext cx="3201988" cy="3611563"/>
            <a:chOff x="5816766" y="3024701"/>
            <a:chExt cx="3201988" cy="3611563"/>
          </a:xfrm>
        </p:grpSpPr>
        <p:sp>
          <p:nvSpPr>
            <p:cNvPr id="22" name="AutoShape 42"/>
            <p:cNvSpPr>
              <a:spLocks noChangeArrowheads="1"/>
            </p:cNvSpPr>
            <p:nvPr/>
          </p:nvSpPr>
          <p:spPr bwMode="auto">
            <a:xfrm>
              <a:off x="5816766" y="5296414"/>
              <a:ext cx="3201988" cy="1339850"/>
            </a:xfrm>
            <a:prstGeom prst="roundRect">
              <a:avLst>
                <a:gd name="adj" fmla="val 16667"/>
              </a:avLst>
            </a:prstGeom>
            <a:solidFill>
              <a:srgbClr val="333399"/>
            </a:solidFill>
            <a:ln w="12700">
              <a:solidFill>
                <a:srgbClr val="000000"/>
              </a:solidFill>
              <a:round/>
              <a:headEnd type="none" w="sm" len="sm"/>
              <a:tailEnd type="none" w="sm" len="sm"/>
            </a:ln>
          </p:spPr>
          <p:txBody>
            <a:bodyPr wrap="none" anchor="ctr"/>
            <a:lstStyle/>
            <a:p>
              <a:endParaRPr lang="en-US"/>
            </a:p>
          </p:txBody>
        </p:sp>
        <p:sp>
          <p:nvSpPr>
            <p:cNvPr id="23" name="Text Box 43"/>
            <p:cNvSpPr txBox="1">
              <a:spLocks noChangeArrowheads="1"/>
            </p:cNvSpPr>
            <p:nvPr/>
          </p:nvSpPr>
          <p:spPr bwMode="auto">
            <a:xfrm>
              <a:off x="7867816" y="6079051"/>
              <a:ext cx="1063625" cy="400110"/>
            </a:xfrm>
            <a:prstGeom prst="rect">
              <a:avLst/>
            </a:prstGeom>
            <a:gradFill rotWithShape="1">
              <a:gsLst>
                <a:gs pos="0">
                  <a:srgbClr val="FAF400"/>
                </a:gs>
                <a:gs pos="100000">
                  <a:srgbClr val="FAF400">
                    <a:gamma/>
                    <a:shade val="46275"/>
                    <a:invGamma/>
                  </a:srgbClr>
                </a:gs>
              </a:gsLst>
              <a:path path="shape">
                <a:fillToRect l="50000" t="50000" r="50000" b="50000"/>
              </a:path>
            </a:gradFill>
            <a:ln w="28575">
              <a:solidFill>
                <a:srgbClr val="C0C0C0"/>
              </a:solidFill>
              <a:miter lim="800000"/>
              <a:headEnd/>
              <a:tailEnd/>
            </a:ln>
            <a:effectLst/>
          </p:spPr>
          <p:txBody>
            <a:bodyPr>
              <a:spAutoFit/>
            </a:bodyPr>
            <a:lstStyle/>
            <a:p>
              <a:pPr algn="ctr" eaLnBrk="1" hangingPunct="1">
                <a:spcBef>
                  <a:spcPct val="50000"/>
                </a:spcBef>
                <a:defRPr/>
              </a:pPr>
              <a:r>
                <a:rPr lang="en-US">
                  <a:solidFill>
                    <a:srgbClr val="000000"/>
                  </a:solidFill>
                  <a:effectLst>
                    <a:outerShdw blurRad="38100" dist="38100" dir="2700000" algn="tl">
                      <a:srgbClr val="FFFFFF"/>
                    </a:outerShdw>
                  </a:effectLst>
                  <a:latin typeface="Comic Sans MS" pitchFamily="66" charset="0"/>
                  <a:cs typeface="Arial" pitchFamily="34" charset="0"/>
                </a:rPr>
                <a:t>Input</a:t>
              </a:r>
            </a:p>
          </p:txBody>
        </p:sp>
        <p:sp>
          <p:nvSpPr>
            <p:cNvPr id="24" name="Text Box 44"/>
            <p:cNvSpPr txBox="1">
              <a:spLocks noChangeArrowheads="1"/>
            </p:cNvSpPr>
            <p:nvPr/>
          </p:nvSpPr>
          <p:spPr bwMode="auto">
            <a:xfrm>
              <a:off x="7205829" y="5428176"/>
              <a:ext cx="1063625" cy="400110"/>
            </a:xfrm>
            <a:prstGeom prst="rect">
              <a:avLst/>
            </a:prstGeom>
            <a:gradFill rotWithShape="1">
              <a:gsLst>
                <a:gs pos="0">
                  <a:srgbClr val="FAF400"/>
                </a:gs>
                <a:gs pos="100000">
                  <a:srgbClr val="FAF400">
                    <a:gamma/>
                    <a:shade val="46275"/>
                    <a:invGamma/>
                  </a:srgbClr>
                </a:gs>
              </a:gsLst>
              <a:path path="shape">
                <a:fillToRect l="50000" t="50000" r="50000" b="50000"/>
              </a:path>
            </a:gradFill>
            <a:ln w="28575">
              <a:solidFill>
                <a:srgbClr val="C0C0C0"/>
              </a:solidFill>
              <a:miter lim="800000"/>
              <a:headEnd/>
              <a:tailEnd/>
            </a:ln>
            <a:effectLst/>
          </p:spPr>
          <p:txBody>
            <a:bodyPr>
              <a:spAutoFit/>
            </a:bodyPr>
            <a:lstStyle/>
            <a:p>
              <a:pPr algn="ctr" eaLnBrk="1" hangingPunct="1">
                <a:spcBef>
                  <a:spcPct val="50000"/>
                </a:spcBef>
                <a:defRPr/>
              </a:pPr>
              <a:r>
                <a:rPr lang="en-US">
                  <a:solidFill>
                    <a:srgbClr val="000000"/>
                  </a:solidFill>
                  <a:effectLst>
                    <a:outerShdw blurRad="38100" dist="38100" dir="2700000" algn="tl">
                      <a:srgbClr val="FFFFFF"/>
                    </a:outerShdw>
                  </a:effectLst>
                  <a:latin typeface="Comic Sans MS" pitchFamily="66" charset="0"/>
                  <a:cs typeface="Arial" pitchFamily="34" charset="0"/>
                </a:rPr>
                <a:t>Models</a:t>
              </a:r>
            </a:p>
          </p:txBody>
        </p:sp>
        <p:sp>
          <p:nvSpPr>
            <p:cNvPr id="25" name="Text Box 45"/>
            <p:cNvSpPr txBox="1">
              <a:spLocks noChangeArrowheads="1"/>
            </p:cNvSpPr>
            <p:nvPr/>
          </p:nvSpPr>
          <p:spPr bwMode="auto">
            <a:xfrm>
              <a:off x="6545429" y="6079051"/>
              <a:ext cx="1063625" cy="400110"/>
            </a:xfrm>
            <a:prstGeom prst="rect">
              <a:avLst/>
            </a:prstGeom>
            <a:gradFill rotWithShape="1">
              <a:gsLst>
                <a:gs pos="0">
                  <a:srgbClr val="FAF400"/>
                </a:gs>
                <a:gs pos="100000">
                  <a:srgbClr val="FAF400">
                    <a:gamma/>
                    <a:shade val="46275"/>
                    <a:invGamma/>
                  </a:srgbClr>
                </a:gs>
              </a:gsLst>
              <a:path path="shape">
                <a:fillToRect l="50000" t="50000" r="50000" b="50000"/>
              </a:path>
            </a:gradFill>
            <a:ln w="28575">
              <a:solidFill>
                <a:srgbClr val="C0C0C0"/>
              </a:solidFill>
              <a:miter lim="800000"/>
              <a:headEnd/>
              <a:tailEnd/>
            </a:ln>
            <a:effectLst/>
          </p:spPr>
          <p:txBody>
            <a:bodyPr>
              <a:spAutoFit/>
            </a:bodyPr>
            <a:lstStyle/>
            <a:p>
              <a:pPr algn="ctr" eaLnBrk="1" hangingPunct="1">
                <a:spcBef>
                  <a:spcPct val="50000"/>
                </a:spcBef>
                <a:defRPr/>
              </a:pPr>
              <a:r>
                <a:rPr lang="en-US">
                  <a:solidFill>
                    <a:srgbClr val="000000"/>
                  </a:solidFill>
                  <a:effectLst>
                    <a:outerShdw blurRad="38100" dist="38100" dir="2700000" algn="tl">
                      <a:srgbClr val="FFFFFF"/>
                    </a:outerShdw>
                  </a:effectLst>
                  <a:latin typeface="Comic Sans MS" pitchFamily="66" charset="0"/>
                  <a:cs typeface="Arial" pitchFamily="34" charset="0"/>
                </a:rPr>
                <a:t>Integ</a:t>
              </a:r>
            </a:p>
          </p:txBody>
        </p:sp>
        <p:sp>
          <p:nvSpPr>
            <p:cNvPr id="26" name="Text Box 46"/>
            <p:cNvSpPr txBox="1">
              <a:spLocks noChangeArrowheads="1"/>
            </p:cNvSpPr>
            <p:nvPr/>
          </p:nvSpPr>
          <p:spPr bwMode="auto">
            <a:xfrm>
              <a:off x="5904079" y="5426589"/>
              <a:ext cx="1063625" cy="400110"/>
            </a:xfrm>
            <a:prstGeom prst="rect">
              <a:avLst/>
            </a:prstGeom>
            <a:gradFill rotWithShape="1">
              <a:gsLst>
                <a:gs pos="0">
                  <a:srgbClr val="FAF400"/>
                </a:gs>
                <a:gs pos="100000">
                  <a:srgbClr val="FAF400">
                    <a:gamma/>
                    <a:shade val="46275"/>
                    <a:invGamma/>
                  </a:srgbClr>
                </a:gs>
              </a:gsLst>
              <a:path path="shape">
                <a:fillToRect l="50000" t="50000" r="50000" b="50000"/>
              </a:path>
            </a:gradFill>
            <a:ln w="28575">
              <a:solidFill>
                <a:srgbClr val="C0C0C0"/>
              </a:solidFill>
              <a:miter lim="800000"/>
              <a:headEnd/>
              <a:tailEnd/>
            </a:ln>
            <a:effectLst/>
          </p:spPr>
          <p:txBody>
            <a:bodyPr>
              <a:spAutoFit/>
            </a:bodyPr>
            <a:lstStyle/>
            <a:p>
              <a:pPr algn="ctr" eaLnBrk="1" hangingPunct="1">
                <a:spcBef>
                  <a:spcPct val="50000"/>
                </a:spcBef>
                <a:defRPr/>
              </a:pPr>
              <a:r>
                <a:rPr lang="en-US">
                  <a:solidFill>
                    <a:srgbClr val="000000"/>
                  </a:solidFill>
                  <a:effectLst>
                    <a:outerShdw blurRad="38100" dist="38100" dir="2700000" algn="tl">
                      <a:srgbClr val="FFFFFF"/>
                    </a:outerShdw>
                  </a:effectLst>
                  <a:latin typeface="Comic Sans MS" pitchFamily="66" charset="0"/>
                  <a:cs typeface="Arial" pitchFamily="34" charset="0"/>
                </a:rPr>
                <a:t>Source</a:t>
              </a:r>
            </a:p>
          </p:txBody>
        </p:sp>
        <p:sp>
          <p:nvSpPr>
            <p:cNvPr id="27" name="Line 47"/>
            <p:cNvSpPr>
              <a:spLocks noChangeShapeType="1"/>
            </p:cNvSpPr>
            <p:nvPr/>
          </p:nvSpPr>
          <p:spPr bwMode="auto">
            <a:xfrm>
              <a:off x="6421604" y="5026539"/>
              <a:ext cx="19939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8" name="Line 48"/>
            <p:cNvSpPr>
              <a:spLocks noChangeShapeType="1"/>
            </p:cNvSpPr>
            <p:nvPr/>
          </p:nvSpPr>
          <p:spPr bwMode="auto">
            <a:xfrm flipV="1">
              <a:off x="6435891" y="5026539"/>
              <a:ext cx="0" cy="39211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9" name="Line 49"/>
            <p:cNvSpPr>
              <a:spLocks noChangeShapeType="1"/>
            </p:cNvSpPr>
            <p:nvPr/>
          </p:nvSpPr>
          <p:spPr bwMode="auto">
            <a:xfrm flipV="1">
              <a:off x="7737641" y="5026539"/>
              <a:ext cx="0" cy="39846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 name="Line 50"/>
            <p:cNvSpPr>
              <a:spLocks noChangeShapeType="1"/>
            </p:cNvSpPr>
            <p:nvPr/>
          </p:nvSpPr>
          <p:spPr bwMode="auto">
            <a:xfrm flipV="1">
              <a:off x="7077241" y="5036064"/>
              <a:ext cx="0" cy="104616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1" name="Line 51"/>
            <p:cNvSpPr>
              <a:spLocks noChangeShapeType="1"/>
            </p:cNvSpPr>
            <p:nvPr/>
          </p:nvSpPr>
          <p:spPr bwMode="auto">
            <a:xfrm flipV="1">
              <a:off x="8399629" y="5026539"/>
              <a:ext cx="0" cy="103981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2" name="Line 52"/>
            <p:cNvSpPr>
              <a:spLocks noChangeShapeType="1"/>
            </p:cNvSpPr>
            <p:nvPr/>
          </p:nvSpPr>
          <p:spPr bwMode="auto">
            <a:xfrm>
              <a:off x="8150391" y="3024701"/>
              <a:ext cx="0" cy="1990725"/>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3" name="Text Box 53"/>
            <p:cNvSpPr txBox="1">
              <a:spLocks noChangeArrowheads="1"/>
            </p:cNvSpPr>
            <p:nvPr/>
          </p:nvSpPr>
          <p:spPr bwMode="auto">
            <a:xfrm>
              <a:off x="7415379" y="3575564"/>
              <a:ext cx="11207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dirty="0">
                  <a:latin typeface="Comic Sans MS" pitchFamily="66" charset="0"/>
                  <a:cs typeface="Arial" pitchFamily="34" charset="0"/>
                </a:rPr>
                <a:t>Applied to</a:t>
              </a:r>
            </a:p>
          </p:txBody>
        </p:sp>
      </p:grpSp>
      <p:grpSp>
        <p:nvGrpSpPr>
          <p:cNvPr id="64" name="Group 63"/>
          <p:cNvGrpSpPr/>
          <p:nvPr/>
        </p:nvGrpSpPr>
        <p:grpSpPr>
          <a:xfrm>
            <a:off x="5129063" y="2989264"/>
            <a:ext cx="3305175" cy="1971675"/>
            <a:chOff x="3605062" y="2989263"/>
            <a:chExt cx="3305175" cy="1971675"/>
          </a:xfrm>
        </p:grpSpPr>
        <p:sp>
          <p:nvSpPr>
            <p:cNvPr id="35" name="AutoShape 29"/>
            <p:cNvSpPr>
              <a:spLocks noChangeArrowheads="1"/>
            </p:cNvSpPr>
            <p:nvPr/>
          </p:nvSpPr>
          <p:spPr bwMode="auto">
            <a:xfrm>
              <a:off x="3605062" y="3621088"/>
              <a:ext cx="3305175" cy="1339850"/>
            </a:xfrm>
            <a:prstGeom prst="roundRect">
              <a:avLst>
                <a:gd name="adj" fmla="val 16667"/>
              </a:avLst>
            </a:prstGeom>
            <a:solidFill>
              <a:srgbClr val="333399"/>
            </a:solidFill>
            <a:ln w="12700">
              <a:solidFill>
                <a:srgbClr val="000000"/>
              </a:solidFill>
              <a:round/>
              <a:headEnd type="none" w="sm" len="sm"/>
              <a:tailEnd type="none" w="sm" len="sm"/>
            </a:ln>
          </p:spPr>
          <p:txBody>
            <a:bodyPr wrap="none" anchor="ctr"/>
            <a:lstStyle/>
            <a:p>
              <a:endParaRPr lang="en-US"/>
            </a:p>
          </p:txBody>
        </p:sp>
        <p:sp>
          <p:nvSpPr>
            <p:cNvPr id="36" name="Text Box 30"/>
            <p:cNvSpPr txBox="1">
              <a:spLocks noChangeArrowheads="1"/>
            </p:cNvSpPr>
            <p:nvPr/>
          </p:nvSpPr>
          <p:spPr bwMode="auto">
            <a:xfrm>
              <a:off x="5727550" y="4383088"/>
              <a:ext cx="1087438" cy="400110"/>
            </a:xfrm>
            <a:prstGeom prst="rect">
              <a:avLst/>
            </a:prstGeom>
            <a:gradFill rotWithShape="1">
              <a:gsLst>
                <a:gs pos="0">
                  <a:srgbClr val="FAF400"/>
                </a:gs>
                <a:gs pos="100000">
                  <a:srgbClr val="FAF400">
                    <a:gamma/>
                    <a:shade val="46275"/>
                    <a:invGamma/>
                  </a:srgbClr>
                </a:gs>
              </a:gsLst>
              <a:path path="shape">
                <a:fillToRect l="50000" t="50000" r="50000" b="50000"/>
              </a:path>
            </a:gradFill>
            <a:ln w="28575">
              <a:solidFill>
                <a:srgbClr val="C0C0C0"/>
              </a:solidFill>
              <a:miter lim="800000"/>
              <a:headEnd/>
              <a:tailEnd/>
            </a:ln>
            <a:effectLst/>
          </p:spPr>
          <p:txBody>
            <a:bodyPr>
              <a:spAutoFit/>
            </a:bodyPr>
            <a:lstStyle/>
            <a:p>
              <a:pPr algn="ctr" eaLnBrk="1" hangingPunct="1">
                <a:spcBef>
                  <a:spcPct val="50000"/>
                </a:spcBef>
                <a:defRPr/>
              </a:pPr>
              <a:r>
                <a:rPr lang="en-US">
                  <a:solidFill>
                    <a:srgbClr val="000000"/>
                  </a:solidFill>
                  <a:effectLst>
                    <a:outerShdw blurRad="38100" dist="38100" dir="2700000" algn="tl">
                      <a:srgbClr val="FFFFFF"/>
                    </a:outerShdw>
                  </a:effectLst>
                  <a:latin typeface="Comic Sans MS" pitchFamily="66" charset="0"/>
                  <a:cs typeface="Arial" pitchFamily="34" charset="0"/>
                </a:rPr>
                <a:t>DNF</a:t>
              </a:r>
            </a:p>
          </p:txBody>
        </p:sp>
        <p:sp>
          <p:nvSpPr>
            <p:cNvPr id="37" name="Text Box 31"/>
            <p:cNvSpPr txBox="1">
              <a:spLocks noChangeArrowheads="1"/>
            </p:cNvSpPr>
            <p:nvPr/>
          </p:nvSpPr>
          <p:spPr bwMode="auto">
            <a:xfrm>
              <a:off x="4387700" y="4402138"/>
              <a:ext cx="1087438" cy="400110"/>
            </a:xfrm>
            <a:prstGeom prst="rect">
              <a:avLst/>
            </a:prstGeom>
            <a:gradFill rotWithShape="1">
              <a:gsLst>
                <a:gs pos="0">
                  <a:srgbClr val="FAF400"/>
                </a:gs>
                <a:gs pos="100000">
                  <a:srgbClr val="FAF400">
                    <a:gamma/>
                    <a:shade val="46275"/>
                    <a:invGamma/>
                  </a:srgbClr>
                </a:gs>
              </a:gsLst>
              <a:path path="shape">
                <a:fillToRect l="50000" t="50000" r="50000" b="50000"/>
              </a:path>
            </a:gradFill>
            <a:ln w="28575">
              <a:solidFill>
                <a:srgbClr val="C0C0C0"/>
              </a:solidFill>
              <a:miter lim="800000"/>
              <a:headEnd/>
              <a:tailEnd/>
            </a:ln>
            <a:effectLst/>
          </p:spPr>
          <p:txBody>
            <a:bodyPr>
              <a:spAutoFit/>
            </a:bodyPr>
            <a:lstStyle/>
            <a:p>
              <a:pPr algn="ctr" eaLnBrk="1" hangingPunct="1">
                <a:spcBef>
                  <a:spcPct val="50000"/>
                </a:spcBef>
                <a:defRPr/>
              </a:pPr>
              <a:r>
                <a:rPr lang="en-US">
                  <a:solidFill>
                    <a:srgbClr val="000000"/>
                  </a:solidFill>
                  <a:effectLst>
                    <a:outerShdw blurRad="38100" dist="38100" dir="2700000" algn="tl">
                      <a:srgbClr val="FFFFFF"/>
                    </a:outerShdw>
                  </a:effectLst>
                  <a:latin typeface="Comic Sans MS" pitchFamily="66" charset="0"/>
                  <a:cs typeface="Arial" pitchFamily="34" charset="0"/>
                </a:rPr>
                <a:t>Specs</a:t>
              </a:r>
            </a:p>
          </p:txBody>
        </p:sp>
        <p:sp>
          <p:nvSpPr>
            <p:cNvPr id="38" name="Text Box 32"/>
            <p:cNvSpPr txBox="1">
              <a:spLocks noChangeArrowheads="1"/>
            </p:cNvSpPr>
            <p:nvPr/>
          </p:nvSpPr>
          <p:spPr bwMode="auto">
            <a:xfrm>
              <a:off x="5089375" y="3706813"/>
              <a:ext cx="1087438" cy="400110"/>
            </a:xfrm>
            <a:prstGeom prst="rect">
              <a:avLst/>
            </a:prstGeom>
            <a:gradFill rotWithShape="1">
              <a:gsLst>
                <a:gs pos="0">
                  <a:srgbClr val="FAF400"/>
                </a:gs>
                <a:gs pos="100000">
                  <a:srgbClr val="FAF400">
                    <a:gamma/>
                    <a:shade val="46275"/>
                    <a:invGamma/>
                  </a:srgbClr>
                </a:gs>
              </a:gsLst>
              <a:path path="shape">
                <a:fillToRect l="50000" t="50000" r="50000" b="50000"/>
              </a:path>
            </a:gradFill>
            <a:ln w="28575">
              <a:solidFill>
                <a:srgbClr val="C0C0C0"/>
              </a:solidFill>
              <a:miter lim="800000"/>
              <a:headEnd/>
              <a:tailEnd/>
            </a:ln>
            <a:effectLst/>
          </p:spPr>
          <p:txBody>
            <a:bodyPr>
              <a:spAutoFit/>
            </a:bodyPr>
            <a:lstStyle/>
            <a:p>
              <a:pPr algn="ctr" eaLnBrk="1" hangingPunct="1">
                <a:spcBef>
                  <a:spcPct val="50000"/>
                </a:spcBef>
                <a:defRPr/>
              </a:pPr>
              <a:r>
                <a:rPr lang="en-US" dirty="0">
                  <a:solidFill>
                    <a:srgbClr val="000000"/>
                  </a:solidFill>
                  <a:effectLst>
                    <a:outerShdw blurRad="38100" dist="38100" dir="2700000" algn="tl">
                      <a:srgbClr val="FFFFFF"/>
                    </a:outerShdw>
                  </a:effectLst>
                  <a:latin typeface="Comic Sans MS" pitchFamily="66" charset="0"/>
                  <a:cs typeface="Arial" pitchFamily="34" charset="0"/>
                </a:rPr>
                <a:t>FSMs</a:t>
              </a:r>
            </a:p>
          </p:txBody>
        </p:sp>
        <p:sp>
          <p:nvSpPr>
            <p:cNvPr id="39" name="Text Box 33"/>
            <p:cNvSpPr txBox="1">
              <a:spLocks noChangeArrowheads="1"/>
            </p:cNvSpPr>
            <p:nvPr/>
          </p:nvSpPr>
          <p:spPr bwMode="auto">
            <a:xfrm>
              <a:off x="3749525" y="3727451"/>
              <a:ext cx="1087438" cy="400110"/>
            </a:xfrm>
            <a:prstGeom prst="rect">
              <a:avLst/>
            </a:prstGeom>
            <a:gradFill rotWithShape="1">
              <a:gsLst>
                <a:gs pos="0">
                  <a:srgbClr val="FAF400"/>
                </a:gs>
                <a:gs pos="100000">
                  <a:srgbClr val="FAF400">
                    <a:gamma/>
                    <a:shade val="46275"/>
                    <a:invGamma/>
                  </a:srgbClr>
                </a:gs>
              </a:gsLst>
              <a:path path="shape">
                <a:fillToRect l="50000" t="50000" r="50000" b="50000"/>
              </a:path>
            </a:gradFill>
            <a:ln w="28575">
              <a:solidFill>
                <a:srgbClr val="C0C0C0"/>
              </a:solidFill>
              <a:miter lim="800000"/>
              <a:headEnd/>
              <a:tailEnd/>
            </a:ln>
            <a:effectLst/>
          </p:spPr>
          <p:txBody>
            <a:bodyPr>
              <a:spAutoFit/>
            </a:bodyPr>
            <a:lstStyle/>
            <a:p>
              <a:pPr algn="ctr" eaLnBrk="1" hangingPunct="1">
                <a:spcBef>
                  <a:spcPct val="50000"/>
                </a:spcBef>
                <a:defRPr/>
              </a:pPr>
              <a:r>
                <a:rPr lang="en-US">
                  <a:solidFill>
                    <a:srgbClr val="000000"/>
                  </a:solidFill>
                  <a:effectLst>
                    <a:outerShdw blurRad="38100" dist="38100" dir="2700000" algn="tl">
                      <a:srgbClr val="FFFFFF"/>
                    </a:outerShdw>
                  </a:effectLst>
                  <a:latin typeface="Comic Sans MS" pitchFamily="66" charset="0"/>
                  <a:cs typeface="Arial" pitchFamily="34" charset="0"/>
                </a:rPr>
                <a:t>Source</a:t>
              </a:r>
            </a:p>
          </p:txBody>
        </p:sp>
        <p:sp>
          <p:nvSpPr>
            <p:cNvPr id="41" name="Line 35"/>
            <p:cNvSpPr>
              <a:spLocks noChangeShapeType="1"/>
            </p:cNvSpPr>
            <p:nvPr/>
          </p:nvSpPr>
          <p:spPr bwMode="auto">
            <a:xfrm>
              <a:off x="4292450" y="3336926"/>
              <a:ext cx="19939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2" name="Line 36"/>
            <p:cNvSpPr>
              <a:spLocks noChangeShapeType="1"/>
            </p:cNvSpPr>
            <p:nvPr/>
          </p:nvSpPr>
          <p:spPr bwMode="auto">
            <a:xfrm flipV="1">
              <a:off x="4294037" y="3336926"/>
              <a:ext cx="0" cy="37306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 name="Line 37"/>
            <p:cNvSpPr>
              <a:spLocks noChangeShapeType="1"/>
            </p:cNvSpPr>
            <p:nvPr/>
          </p:nvSpPr>
          <p:spPr bwMode="auto">
            <a:xfrm flipV="1">
              <a:off x="5633887" y="3336926"/>
              <a:ext cx="0" cy="37941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4" name="Line 38"/>
            <p:cNvSpPr>
              <a:spLocks noChangeShapeType="1"/>
            </p:cNvSpPr>
            <p:nvPr/>
          </p:nvSpPr>
          <p:spPr bwMode="auto">
            <a:xfrm flipV="1">
              <a:off x="4932212" y="3346451"/>
              <a:ext cx="0" cy="104616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5" name="Line 39"/>
            <p:cNvSpPr>
              <a:spLocks noChangeShapeType="1"/>
            </p:cNvSpPr>
            <p:nvPr/>
          </p:nvSpPr>
          <p:spPr bwMode="auto">
            <a:xfrm flipV="1">
              <a:off x="6272062" y="3336926"/>
              <a:ext cx="0" cy="103981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6" name="Text Box 40"/>
            <p:cNvSpPr txBox="1">
              <a:spLocks noChangeArrowheads="1"/>
            </p:cNvSpPr>
            <p:nvPr/>
          </p:nvSpPr>
          <p:spPr bwMode="auto">
            <a:xfrm>
              <a:off x="4871887" y="2989263"/>
              <a:ext cx="1589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dirty="0">
                  <a:latin typeface="Comic Sans MS" pitchFamily="66" charset="0"/>
                  <a:cs typeface="Arial" pitchFamily="34" charset="0"/>
                </a:rPr>
                <a:t>Applied to</a:t>
              </a:r>
            </a:p>
          </p:txBody>
        </p:sp>
        <p:sp>
          <p:nvSpPr>
            <p:cNvPr id="54" name="Line 22"/>
            <p:cNvSpPr>
              <a:spLocks noChangeShapeType="1"/>
            </p:cNvSpPr>
            <p:nvPr/>
          </p:nvSpPr>
          <p:spPr bwMode="auto">
            <a:xfrm>
              <a:off x="6008312" y="3024188"/>
              <a:ext cx="0" cy="320675"/>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grpSp>
        <p:nvGrpSpPr>
          <p:cNvPr id="63" name="Group 62"/>
          <p:cNvGrpSpPr/>
          <p:nvPr/>
        </p:nvGrpSpPr>
        <p:grpSpPr>
          <a:xfrm>
            <a:off x="1699838" y="3005139"/>
            <a:ext cx="4138612" cy="3598863"/>
            <a:chOff x="175838" y="3005138"/>
            <a:chExt cx="4138612" cy="3598863"/>
          </a:xfrm>
        </p:grpSpPr>
        <p:sp>
          <p:nvSpPr>
            <p:cNvPr id="40" name="Line 34"/>
            <p:cNvSpPr>
              <a:spLocks noChangeShapeType="1"/>
            </p:cNvSpPr>
            <p:nvPr/>
          </p:nvSpPr>
          <p:spPr bwMode="auto">
            <a:xfrm>
              <a:off x="4030512" y="3035301"/>
              <a:ext cx="0" cy="30956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8" name="AutoShape 16"/>
            <p:cNvSpPr>
              <a:spLocks noChangeArrowheads="1"/>
            </p:cNvSpPr>
            <p:nvPr/>
          </p:nvSpPr>
          <p:spPr bwMode="auto">
            <a:xfrm>
              <a:off x="175838" y="5264151"/>
              <a:ext cx="4138612" cy="1339850"/>
            </a:xfrm>
            <a:prstGeom prst="roundRect">
              <a:avLst>
                <a:gd name="adj" fmla="val 16667"/>
              </a:avLst>
            </a:prstGeom>
            <a:solidFill>
              <a:srgbClr val="333399"/>
            </a:solidFill>
            <a:ln w="12700">
              <a:solidFill>
                <a:srgbClr val="000000"/>
              </a:solidFill>
              <a:round/>
              <a:headEnd type="none" w="sm" len="sm"/>
              <a:tailEnd type="none" w="sm" len="sm"/>
            </a:ln>
          </p:spPr>
          <p:txBody>
            <a:bodyPr wrap="none" anchor="ctr"/>
            <a:lstStyle/>
            <a:p>
              <a:endParaRPr lang="en-US"/>
            </a:p>
          </p:txBody>
        </p:sp>
        <p:sp>
          <p:nvSpPr>
            <p:cNvPr id="49" name="Text Box 17"/>
            <p:cNvSpPr txBox="1">
              <a:spLocks noChangeArrowheads="1"/>
            </p:cNvSpPr>
            <p:nvPr/>
          </p:nvSpPr>
          <p:spPr bwMode="auto">
            <a:xfrm>
              <a:off x="2798388" y="6054726"/>
              <a:ext cx="1441450" cy="400110"/>
            </a:xfrm>
            <a:prstGeom prst="rect">
              <a:avLst/>
            </a:prstGeom>
            <a:gradFill rotWithShape="1">
              <a:gsLst>
                <a:gs pos="0">
                  <a:srgbClr val="FAF400"/>
                </a:gs>
                <a:gs pos="100000">
                  <a:srgbClr val="FAF400">
                    <a:gamma/>
                    <a:shade val="46275"/>
                    <a:invGamma/>
                  </a:srgbClr>
                </a:gs>
              </a:gsLst>
              <a:path path="shape">
                <a:fillToRect l="50000" t="50000" r="50000" b="50000"/>
              </a:path>
            </a:gradFill>
            <a:ln w="28575">
              <a:solidFill>
                <a:srgbClr val="C0C0C0"/>
              </a:solidFill>
              <a:miter lim="800000"/>
              <a:headEnd/>
              <a:tailEnd/>
            </a:ln>
            <a:effectLst/>
          </p:spPr>
          <p:txBody>
            <a:bodyPr>
              <a:spAutoFit/>
            </a:bodyPr>
            <a:lstStyle/>
            <a:p>
              <a:pPr algn="ctr" eaLnBrk="1" hangingPunct="1">
                <a:spcBef>
                  <a:spcPct val="50000"/>
                </a:spcBef>
                <a:defRPr/>
              </a:pPr>
              <a:r>
                <a:rPr lang="en-US">
                  <a:solidFill>
                    <a:srgbClr val="000000"/>
                  </a:solidFill>
                  <a:effectLst>
                    <a:outerShdw blurRad="38100" dist="38100" dir="2700000" algn="tl">
                      <a:srgbClr val="FFFFFF"/>
                    </a:outerShdw>
                  </a:effectLst>
                  <a:latin typeface="Comic Sans MS" pitchFamily="66" charset="0"/>
                  <a:cs typeface="Arial" pitchFamily="34" charset="0"/>
                </a:rPr>
                <a:t>Use cases</a:t>
              </a:r>
            </a:p>
          </p:txBody>
        </p:sp>
        <p:sp>
          <p:nvSpPr>
            <p:cNvPr id="50" name="Text Box 18"/>
            <p:cNvSpPr txBox="1">
              <a:spLocks noChangeArrowheads="1"/>
            </p:cNvSpPr>
            <p:nvPr/>
          </p:nvSpPr>
          <p:spPr bwMode="auto">
            <a:xfrm>
              <a:off x="1968125" y="5381626"/>
              <a:ext cx="1441450" cy="400110"/>
            </a:xfrm>
            <a:prstGeom prst="rect">
              <a:avLst/>
            </a:prstGeom>
            <a:gradFill rotWithShape="1">
              <a:gsLst>
                <a:gs pos="0">
                  <a:srgbClr val="FAF400"/>
                </a:gs>
                <a:gs pos="100000">
                  <a:srgbClr val="FAF400">
                    <a:gamma/>
                    <a:shade val="46275"/>
                    <a:invGamma/>
                  </a:srgbClr>
                </a:gs>
              </a:gsLst>
              <a:path path="shape">
                <a:fillToRect l="50000" t="50000" r="50000" b="50000"/>
              </a:path>
            </a:gradFill>
            <a:ln w="28575">
              <a:solidFill>
                <a:srgbClr val="C0C0C0"/>
              </a:solidFill>
              <a:miter lim="800000"/>
              <a:headEnd/>
              <a:tailEnd/>
            </a:ln>
            <a:effectLst/>
          </p:spPr>
          <p:txBody>
            <a:bodyPr>
              <a:spAutoFit/>
            </a:bodyPr>
            <a:lstStyle/>
            <a:p>
              <a:pPr algn="ctr" eaLnBrk="1" hangingPunct="1">
                <a:spcBef>
                  <a:spcPct val="50000"/>
                </a:spcBef>
                <a:defRPr/>
              </a:pPr>
              <a:r>
                <a:rPr lang="en-US">
                  <a:solidFill>
                    <a:srgbClr val="000000"/>
                  </a:solidFill>
                  <a:effectLst>
                    <a:outerShdw blurRad="38100" dist="38100" dir="2700000" algn="tl">
                      <a:srgbClr val="FFFFFF"/>
                    </a:outerShdw>
                  </a:effectLst>
                  <a:latin typeface="Comic Sans MS" pitchFamily="66" charset="0"/>
                  <a:cs typeface="Arial" pitchFamily="34" charset="0"/>
                </a:rPr>
                <a:t>Specs</a:t>
              </a:r>
            </a:p>
          </p:txBody>
        </p:sp>
        <p:sp>
          <p:nvSpPr>
            <p:cNvPr id="51" name="Text Box 19"/>
            <p:cNvSpPr txBox="1">
              <a:spLocks noChangeArrowheads="1"/>
            </p:cNvSpPr>
            <p:nvPr/>
          </p:nvSpPr>
          <p:spPr bwMode="auto">
            <a:xfrm>
              <a:off x="1109288" y="6054726"/>
              <a:ext cx="1441450" cy="400110"/>
            </a:xfrm>
            <a:prstGeom prst="rect">
              <a:avLst/>
            </a:prstGeom>
            <a:gradFill rotWithShape="1">
              <a:gsLst>
                <a:gs pos="0">
                  <a:srgbClr val="FAF400"/>
                </a:gs>
                <a:gs pos="100000">
                  <a:srgbClr val="FAF400">
                    <a:gamma/>
                    <a:shade val="46275"/>
                    <a:invGamma/>
                  </a:srgbClr>
                </a:gs>
              </a:gsLst>
              <a:path path="shape">
                <a:fillToRect l="50000" t="50000" r="50000" b="50000"/>
              </a:path>
            </a:gradFill>
            <a:ln w="28575">
              <a:solidFill>
                <a:srgbClr val="C0C0C0"/>
              </a:solidFill>
              <a:miter lim="800000"/>
              <a:headEnd/>
              <a:tailEnd/>
            </a:ln>
            <a:effectLst/>
          </p:spPr>
          <p:txBody>
            <a:bodyPr>
              <a:spAutoFit/>
            </a:bodyPr>
            <a:lstStyle/>
            <a:p>
              <a:pPr algn="ctr" eaLnBrk="1" hangingPunct="1">
                <a:spcBef>
                  <a:spcPct val="50000"/>
                </a:spcBef>
                <a:defRPr/>
              </a:pPr>
              <a:r>
                <a:rPr lang="en-US">
                  <a:solidFill>
                    <a:srgbClr val="000000"/>
                  </a:solidFill>
                  <a:effectLst>
                    <a:outerShdw blurRad="38100" dist="38100" dir="2700000" algn="tl">
                      <a:srgbClr val="FFFFFF"/>
                    </a:outerShdw>
                  </a:effectLst>
                  <a:latin typeface="Comic Sans MS" pitchFamily="66" charset="0"/>
                  <a:cs typeface="Arial" pitchFamily="34" charset="0"/>
                </a:rPr>
                <a:t>Design</a:t>
              </a:r>
            </a:p>
          </p:txBody>
        </p:sp>
        <p:sp>
          <p:nvSpPr>
            <p:cNvPr id="52" name="Text Box 20"/>
            <p:cNvSpPr txBox="1">
              <a:spLocks noChangeArrowheads="1"/>
            </p:cNvSpPr>
            <p:nvPr/>
          </p:nvSpPr>
          <p:spPr bwMode="auto">
            <a:xfrm>
              <a:off x="272675" y="5381626"/>
              <a:ext cx="1441450" cy="400110"/>
            </a:xfrm>
            <a:prstGeom prst="rect">
              <a:avLst/>
            </a:prstGeom>
            <a:gradFill rotWithShape="1">
              <a:gsLst>
                <a:gs pos="0">
                  <a:srgbClr val="FAF400"/>
                </a:gs>
                <a:gs pos="100000">
                  <a:srgbClr val="FAF400">
                    <a:gamma/>
                    <a:shade val="46275"/>
                    <a:invGamma/>
                  </a:srgbClr>
                </a:gs>
              </a:gsLst>
              <a:path path="shape">
                <a:fillToRect l="50000" t="50000" r="50000" b="50000"/>
              </a:path>
            </a:gradFill>
            <a:ln w="28575">
              <a:solidFill>
                <a:srgbClr val="C0C0C0"/>
              </a:solidFill>
              <a:miter lim="800000"/>
              <a:headEnd/>
              <a:tailEnd/>
            </a:ln>
            <a:effectLst/>
          </p:spPr>
          <p:txBody>
            <a:bodyPr>
              <a:spAutoFit/>
            </a:bodyPr>
            <a:lstStyle/>
            <a:p>
              <a:pPr algn="ctr" eaLnBrk="1" hangingPunct="1">
                <a:spcBef>
                  <a:spcPct val="50000"/>
                </a:spcBef>
                <a:defRPr/>
              </a:pPr>
              <a:r>
                <a:rPr lang="en-US">
                  <a:solidFill>
                    <a:srgbClr val="000000"/>
                  </a:solidFill>
                  <a:effectLst>
                    <a:outerShdw blurRad="38100" dist="38100" dir="2700000" algn="tl">
                      <a:srgbClr val="FFFFFF"/>
                    </a:outerShdw>
                  </a:effectLst>
                  <a:latin typeface="Comic Sans MS" pitchFamily="66" charset="0"/>
                  <a:cs typeface="Arial" pitchFamily="34" charset="0"/>
                </a:rPr>
                <a:t>Source</a:t>
              </a:r>
            </a:p>
          </p:txBody>
        </p:sp>
        <p:sp>
          <p:nvSpPr>
            <p:cNvPr id="53" name="Line 21"/>
            <p:cNvSpPr>
              <a:spLocks noChangeShapeType="1"/>
            </p:cNvSpPr>
            <p:nvPr/>
          </p:nvSpPr>
          <p:spPr bwMode="auto">
            <a:xfrm>
              <a:off x="972763" y="3355976"/>
              <a:ext cx="3068637"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5" name="Line 23"/>
            <p:cNvSpPr>
              <a:spLocks noChangeShapeType="1"/>
            </p:cNvSpPr>
            <p:nvPr/>
          </p:nvSpPr>
          <p:spPr bwMode="auto">
            <a:xfrm flipV="1">
              <a:off x="988638" y="3336926"/>
              <a:ext cx="0" cy="203993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6" name="Line 24"/>
            <p:cNvSpPr>
              <a:spLocks noChangeShapeType="1"/>
            </p:cNvSpPr>
            <p:nvPr/>
          </p:nvSpPr>
          <p:spPr bwMode="auto">
            <a:xfrm flipV="1">
              <a:off x="2690438" y="3346451"/>
              <a:ext cx="0" cy="203676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7" name="Line 25"/>
            <p:cNvSpPr>
              <a:spLocks noChangeShapeType="1"/>
            </p:cNvSpPr>
            <p:nvPr/>
          </p:nvSpPr>
          <p:spPr bwMode="auto">
            <a:xfrm flipV="1">
              <a:off x="1833188" y="3346451"/>
              <a:ext cx="0" cy="269081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8" name="Line 26"/>
            <p:cNvSpPr>
              <a:spLocks noChangeShapeType="1"/>
            </p:cNvSpPr>
            <p:nvPr/>
          </p:nvSpPr>
          <p:spPr bwMode="auto">
            <a:xfrm flipV="1">
              <a:off x="3522287" y="3355976"/>
              <a:ext cx="0" cy="268763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59" name="Text Box 27"/>
            <p:cNvSpPr txBox="1">
              <a:spLocks noChangeArrowheads="1"/>
            </p:cNvSpPr>
            <p:nvPr/>
          </p:nvSpPr>
          <p:spPr bwMode="auto">
            <a:xfrm>
              <a:off x="2398338" y="3005138"/>
              <a:ext cx="11207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dirty="0">
                  <a:latin typeface="Comic Sans MS" pitchFamily="66" charset="0"/>
                  <a:cs typeface="Arial" pitchFamily="34" charset="0"/>
                </a:rPr>
                <a:t>Applied to</a:t>
              </a:r>
            </a:p>
          </p:txBody>
        </p:sp>
      </p:grpSp>
      <p:sp>
        <p:nvSpPr>
          <p:cNvPr id="61" name="Rectangle 55"/>
          <p:cNvSpPr>
            <a:spLocks noChangeArrowheads="1"/>
          </p:cNvSpPr>
          <p:nvPr/>
        </p:nvSpPr>
        <p:spPr bwMode="auto">
          <a:xfrm>
            <a:off x="1568450" y="3357563"/>
            <a:ext cx="9099550" cy="3327400"/>
          </a:xfrm>
          <a:prstGeom prst="rect">
            <a:avLst/>
          </a:prstGeom>
          <a:solidFill>
            <a:srgbClr val="C0C0C0">
              <a:alpha val="43921"/>
            </a:srgbClr>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62" name="Rectangle 56"/>
          <p:cNvSpPr>
            <a:spLocks noChangeArrowheads="1"/>
          </p:cNvSpPr>
          <p:nvPr/>
        </p:nvSpPr>
        <p:spPr bwMode="auto">
          <a:xfrm>
            <a:off x="4212850" y="2038351"/>
            <a:ext cx="6455150" cy="1325563"/>
          </a:xfrm>
          <a:prstGeom prst="rect">
            <a:avLst/>
          </a:prstGeom>
          <a:solidFill>
            <a:srgbClr val="C0C0C0">
              <a:alpha val="43921"/>
            </a:srgbClr>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Tree>
    <p:extLst>
      <p:ext uri="{BB962C8B-B14F-4D97-AF65-F5344CB8AC3E}">
        <p14:creationId xmlns:p14="http://schemas.microsoft.com/office/powerpoint/2010/main" val="135490228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2000"/>
                                        <p:tgtEl>
                                          <p:spTgt spid="6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2"/>
                                        </p:tgtEl>
                                        <p:attrNameLst>
                                          <p:attrName>style.visibility</p:attrName>
                                        </p:attrNameLst>
                                      </p:cBhvr>
                                      <p:to>
                                        <p:strVal val="visible"/>
                                      </p:to>
                                    </p:set>
                                    <p:animEffect transition="in" filter="fade">
                                      <p:cBhvr>
                                        <p:cTn id="10" dur="20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Input Domains</a:t>
            </a:r>
            <a:endParaRPr lang="en-US" dirty="0"/>
          </a:p>
        </p:txBody>
      </p:sp>
      <p:sp>
        <p:nvSpPr>
          <p:cNvPr id="3" name="Content Placeholder 2"/>
          <p:cNvSpPr>
            <a:spLocks noGrp="1"/>
          </p:cNvSpPr>
          <p:nvPr>
            <p:ph idx="1"/>
          </p:nvPr>
        </p:nvSpPr>
        <p:spPr>
          <a:xfrm>
            <a:off x="1530351" y="768097"/>
            <a:ext cx="9112482" cy="5740988"/>
          </a:xfrm>
        </p:spPr>
        <p:txBody>
          <a:bodyPr/>
          <a:lstStyle/>
          <a:p>
            <a:r>
              <a:rPr lang="en-US" altLang="en-US" dirty="0"/>
              <a:t>The </a:t>
            </a:r>
            <a:r>
              <a:rPr lang="en-US" altLang="en-US" dirty="0">
                <a:solidFill>
                  <a:schemeClr val="tx2"/>
                </a:solidFill>
              </a:rPr>
              <a:t>input domain</a:t>
            </a:r>
            <a:r>
              <a:rPr lang="en-US" altLang="en-US" dirty="0"/>
              <a:t> for a program contains all the possible inputs to that program</a:t>
            </a:r>
          </a:p>
          <a:p>
            <a:r>
              <a:rPr lang="en-US" altLang="en-US" dirty="0"/>
              <a:t>For even small programs, the input domain is so large that it might as well be </a:t>
            </a:r>
            <a:r>
              <a:rPr lang="en-US" altLang="en-US" dirty="0">
                <a:solidFill>
                  <a:schemeClr val="tx2"/>
                </a:solidFill>
              </a:rPr>
              <a:t>infinite</a:t>
            </a:r>
          </a:p>
          <a:p>
            <a:r>
              <a:rPr lang="en-US" altLang="en-US" dirty="0"/>
              <a:t>Testing is fundamentally about </a:t>
            </a:r>
            <a:r>
              <a:rPr lang="en-US" altLang="en-US" dirty="0">
                <a:solidFill>
                  <a:schemeClr val="tx2"/>
                </a:solidFill>
              </a:rPr>
              <a:t>choosing finite sets</a:t>
            </a:r>
            <a:r>
              <a:rPr lang="en-US" altLang="en-US" dirty="0"/>
              <a:t> of values from the input domain</a:t>
            </a:r>
          </a:p>
          <a:p>
            <a:r>
              <a:rPr lang="en-US" altLang="en-US" i="1" dirty="0">
                <a:solidFill>
                  <a:schemeClr val="tx2"/>
                </a:solidFill>
              </a:rPr>
              <a:t>Input parameters</a:t>
            </a:r>
            <a:r>
              <a:rPr lang="en-US" altLang="en-US" dirty="0"/>
              <a:t> define the scope of the input domain</a:t>
            </a:r>
          </a:p>
          <a:p>
            <a:pPr lvl="1">
              <a:lnSpc>
                <a:spcPct val="80000"/>
              </a:lnSpc>
            </a:pPr>
            <a:r>
              <a:rPr lang="en-US" altLang="en-US" dirty="0"/>
              <a:t>Parameters to a method</a:t>
            </a:r>
          </a:p>
          <a:p>
            <a:pPr lvl="1">
              <a:lnSpc>
                <a:spcPct val="80000"/>
              </a:lnSpc>
            </a:pPr>
            <a:r>
              <a:rPr lang="en-US" altLang="en-US" dirty="0"/>
              <a:t>Data read from a file</a:t>
            </a:r>
          </a:p>
          <a:p>
            <a:pPr lvl="1">
              <a:lnSpc>
                <a:spcPct val="80000"/>
              </a:lnSpc>
            </a:pPr>
            <a:r>
              <a:rPr lang="en-US" altLang="en-US" dirty="0"/>
              <a:t>Global variables</a:t>
            </a:r>
          </a:p>
          <a:p>
            <a:pPr lvl="1">
              <a:lnSpc>
                <a:spcPct val="80000"/>
              </a:lnSpc>
            </a:pPr>
            <a:r>
              <a:rPr lang="en-US" altLang="en-US" dirty="0"/>
              <a:t>User level inputs</a:t>
            </a:r>
          </a:p>
          <a:p>
            <a:r>
              <a:rPr lang="en-US" altLang="en-US" dirty="0"/>
              <a:t>Domains for input parameters are </a:t>
            </a:r>
            <a:r>
              <a:rPr lang="en-US" altLang="en-US" dirty="0">
                <a:solidFill>
                  <a:schemeClr val="tx2"/>
                </a:solidFill>
              </a:rPr>
              <a:t>partitioned into regions</a:t>
            </a:r>
          </a:p>
          <a:p>
            <a:r>
              <a:rPr lang="en-US" altLang="en-US" dirty="0"/>
              <a:t>At least </a:t>
            </a:r>
            <a:r>
              <a:rPr lang="en-US" altLang="en-US" dirty="0">
                <a:solidFill>
                  <a:schemeClr val="tx2"/>
                </a:solidFill>
              </a:rPr>
              <a:t>one value</a:t>
            </a:r>
            <a:r>
              <a:rPr lang="en-US" altLang="en-US" dirty="0"/>
              <a:t> is chosen from each region</a:t>
            </a:r>
            <a:endParaRPr lang="en-US" dirty="0"/>
          </a:p>
        </p:txBody>
      </p:sp>
      <p:sp>
        <p:nvSpPr>
          <p:cNvPr id="6" name="Slide Number Placeholder 5"/>
          <p:cNvSpPr>
            <a:spLocks noGrp="1"/>
          </p:cNvSpPr>
          <p:nvPr>
            <p:ph type="sldNum" sz="quarter" idx="12"/>
          </p:nvPr>
        </p:nvSpPr>
        <p:spPr/>
        <p:txBody>
          <a:bodyPr/>
          <a:lstStyle/>
          <a:p>
            <a:pPr>
              <a:defRPr/>
            </a:pPr>
            <a:fld id="{FE742154-05E0-4FD4-B04E-B92FD3670A3A}" type="slidenum">
              <a:rPr lang="en-US" smtClean="0"/>
              <a:pPr>
                <a:defRPr/>
              </a:pPr>
              <a:t>4</a:t>
            </a:fld>
            <a:endParaRPr lang="en-US"/>
          </a:p>
        </p:txBody>
      </p:sp>
    </p:spTree>
    <p:extLst>
      <p:ext uri="{BB962C8B-B14F-4D97-AF65-F5344CB8AC3E}">
        <p14:creationId xmlns:p14="http://schemas.microsoft.com/office/powerpoint/2010/main" val="179763005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7BE1463B-C8BB-4FC0-847A-9DA342C071CD}" type="slidenum">
              <a:rPr lang="en-US" altLang="en-US" sz="900" b="0">
                <a:solidFill>
                  <a:schemeClr val="tx1"/>
                </a:solidFill>
                <a:latin typeface="Arial" charset="0"/>
                <a:cs typeface="Arial" charset="0"/>
              </a:rPr>
              <a:pPr/>
              <a:t>5</a:t>
            </a:fld>
            <a:endParaRPr lang="en-US" altLang="en-US" sz="900" b="0">
              <a:solidFill>
                <a:schemeClr val="tx1"/>
              </a:solidFill>
              <a:latin typeface="Arial" charset="0"/>
              <a:cs typeface="Arial" charset="0"/>
            </a:endParaRPr>
          </a:p>
        </p:txBody>
      </p:sp>
      <p:sp>
        <p:nvSpPr>
          <p:cNvPr id="5124" name="Rectangle 2"/>
          <p:cNvSpPr>
            <a:spLocks noGrp="1" noChangeArrowheads="1"/>
          </p:cNvSpPr>
          <p:nvPr>
            <p:ph type="title"/>
          </p:nvPr>
        </p:nvSpPr>
        <p:spPr/>
        <p:txBody>
          <a:bodyPr/>
          <a:lstStyle/>
          <a:p>
            <a:r>
              <a:rPr lang="en-US" altLang="en-US"/>
              <a:t>Benefits of ISP</a:t>
            </a:r>
          </a:p>
        </p:txBody>
      </p:sp>
      <p:sp>
        <p:nvSpPr>
          <p:cNvPr id="5125" name="Rectangle 3"/>
          <p:cNvSpPr>
            <a:spLocks noGrp="1" noChangeArrowheads="1"/>
          </p:cNvSpPr>
          <p:nvPr>
            <p:ph type="body" idx="1"/>
          </p:nvPr>
        </p:nvSpPr>
        <p:spPr/>
        <p:txBody>
          <a:bodyPr/>
          <a:lstStyle/>
          <a:p>
            <a:pPr>
              <a:spcBef>
                <a:spcPts val="1800"/>
              </a:spcBef>
            </a:pPr>
            <a:r>
              <a:rPr lang="en-US" altLang="en-US" dirty="0"/>
              <a:t>Can be </a:t>
            </a:r>
            <a:r>
              <a:rPr lang="en-US" altLang="en-US" dirty="0">
                <a:solidFill>
                  <a:schemeClr val="tx2"/>
                </a:solidFill>
              </a:rPr>
              <a:t>equally applied </a:t>
            </a:r>
            <a:r>
              <a:rPr lang="en-US" altLang="en-US" dirty="0"/>
              <a:t>at several levels of testing</a:t>
            </a:r>
          </a:p>
          <a:p>
            <a:pPr lvl="1"/>
            <a:r>
              <a:rPr lang="en-US" altLang="en-US" dirty="0"/>
              <a:t>Unit</a:t>
            </a:r>
          </a:p>
          <a:p>
            <a:pPr lvl="1"/>
            <a:r>
              <a:rPr lang="en-US" altLang="en-US" dirty="0"/>
              <a:t>Integration</a:t>
            </a:r>
          </a:p>
          <a:p>
            <a:pPr lvl="1"/>
            <a:r>
              <a:rPr lang="en-US" altLang="en-US" dirty="0"/>
              <a:t>System</a:t>
            </a:r>
          </a:p>
          <a:p>
            <a:pPr>
              <a:spcBef>
                <a:spcPts val="1800"/>
              </a:spcBef>
            </a:pPr>
            <a:r>
              <a:rPr lang="en-US" altLang="en-US" dirty="0"/>
              <a:t>Relatively easy to apply with </a:t>
            </a:r>
            <a:r>
              <a:rPr lang="en-US" altLang="en-US" dirty="0">
                <a:solidFill>
                  <a:schemeClr val="tx2"/>
                </a:solidFill>
              </a:rPr>
              <a:t>no automation</a:t>
            </a:r>
            <a:endParaRPr lang="en-US" altLang="en-US" dirty="0"/>
          </a:p>
          <a:p>
            <a:pPr>
              <a:spcBef>
                <a:spcPts val="1800"/>
              </a:spcBef>
            </a:pPr>
            <a:r>
              <a:rPr lang="en-US" altLang="en-US" dirty="0"/>
              <a:t>Easy to </a:t>
            </a:r>
            <a:r>
              <a:rPr lang="en-US" altLang="en-US" dirty="0">
                <a:solidFill>
                  <a:schemeClr val="tx2"/>
                </a:solidFill>
              </a:rPr>
              <a:t>adjust</a:t>
            </a:r>
            <a:r>
              <a:rPr lang="en-US" altLang="en-US" dirty="0"/>
              <a:t> the procedure to get more or fewer tests</a:t>
            </a:r>
          </a:p>
          <a:p>
            <a:pPr>
              <a:spcBef>
                <a:spcPts val="1800"/>
              </a:spcBef>
            </a:pPr>
            <a:r>
              <a:rPr lang="en-US" altLang="en-US" dirty="0"/>
              <a:t>No </a:t>
            </a:r>
            <a:r>
              <a:rPr lang="en-US" altLang="en-US" dirty="0">
                <a:solidFill>
                  <a:schemeClr val="tx2"/>
                </a:solidFill>
              </a:rPr>
              <a:t>implementation knowledge</a:t>
            </a:r>
            <a:r>
              <a:rPr lang="en-US" altLang="en-US" dirty="0"/>
              <a:t> is needed</a:t>
            </a:r>
          </a:p>
          <a:p>
            <a:pPr lvl="1"/>
            <a:r>
              <a:rPr lang="en-US" altLang="en-US" dirty="0"/>
              <a:t>Just the input space</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7C382211-D2BF-49C3-B0A7-F6367212C61F}" type="slidenum">
              <a:rPr lang="en-US" altLang="en-US" sz="900" b="0">
                <a:solidFill>
                  <a:schemeClr val="tx1"/>
                </a:solidFill>
                <a:latin typeface="Arial" charset="0"/>
                <a:cs typeface="Arial" charset="0"/>
              </a:rPr>
              <a:pPr/>
              <a:t>6</a:t>
            </a:fld>
            <a:endParaRPr lang="en-US" altLang="en-US" sz="900" b="0">
              <a:solidFill>
                <a:schemeClr val="tx1"/>
              </a:solidFill>
              <a:latin typeface="Arial" charset="0"/>
              <a:cs typeface="Arial" charset="0"/>
            </a:endParaRPr>
          </a:p>
        </p:txBody>
      </p:sp>
      <p:sp>
        <p:nvSpPr>
          <p:cNvPr id="6148" name="Rectangle 2"/>
          <p:cNvSpPr>
            <a:spLocks noGrp="1" noChangeArrowheads="1"/>
          </p:cNvSpPr>
          <p:nvPr>
            <p:ph type="title"/>
          </p:nvPr>
        </p:nvSpPr>
        <p:spPr/>
        <p:txBody>
          <a:bodyPr/>
          <a:lstStyle/>
          <a:p>
            <a:r>
              <a:rPr lang="en-US" altLang="en-US"/>
              <a:t>Partitioning Domains</a:t>
            </a:r>
          </a:p>
        </p:txBody>
      </p:sp>
      <p:sp>
        <p:nvSpPr>
          <p:cNvPr id="6149" name="Rectangle 3"/>
          <p:cNvSpPr>
            <a:spLocks noGrp="1" noChangeArrowheads="1"/>
          </p:cNvSpPr>
          <p:nvPr>
            <p:ph type="body" idx="1"/>
          </p:nvPr>
        </p:nvSpPr>
        <p:spPr>
          <a:xfrm>
            <a:off x="1662114" y="1085850"/>
            <a:ext cx="8867775" cy="3194050"/>
          </a:xfrm>
        </p:spPr>
        <p:txBody>
          <a:bodyPr/>
          <a:lstStyle/>
          <a:p>
            <a:pPr marL="457200" indent="-457200">
              <a:spcBef>
                <a:spcPts val="1800"/>
              </a:spcBef>
            </a:pPr>
            <a:r>
              <a:rPr kumimoji="1" lang="en-US" altLang="zh-CN" i="1" dirty="0">
                <a:ea typeface="宋体" charset="-122"/>
              </a:rPr>
              <a:t>Domain</a:t>
            </a:r>
            <a:r>
              <a:rPr kumimoji="1" lang="en-US" altLang="zh-CN" dirty="0">
                <a:ea typeface="宋体" charset="-122"/>
              </a:rPr>
              <a:t> </a:t>
            </a:r>
            <a:r>
              <a:rPr kumimoji="1" lang="en-US" altLang="zh-CN" i="1" dirty="0">
                <a:solidFill>
                  <a:schemeClr val="tx2"/>
                </a:solidFill>
                <a:ea typeface="宋体" charset="-122"/>
              </a:rPr>
              <a:t>D</a:t>
            </a:r>
          </a:p>
          <a:p>
            <a:pPr marL="457200" indent="-457200">
              <a:spcBef>
                <a:spcPts val="1800"/>
              </a:spcBef>
            </a:pPr>
            <a:r>
              <a:rPr kumimoji="1" lang="en-US" altLang="zh-CN" i="1" dirty="0">
                <a:ea typeface="宋体" charset="-122"/>
              </a:rPr>
              <a:t>Partition scheme</a:t>
            </a:r>
            <a:r>
              <a:rPr kumimoji="1" lang="en-US" altLang="zh-CN" dirty="0">
                <a:ea typeface="宋体" charset="-122"/>
              </a:rPr>
              <a:t> </a:t>
            </a:r>
            <a:r>
              <a:rPr kumimoji="1" lang="en-US" altLang="zh-CN" i="1" dirty="0">
                <a:solidFill>
                  <a:schemeClr val="tx2"/>
                </a:solidFill>
                <a:ea typeface="宋体" charset="-122"/>
              </a:rPr>
              <a:t>q</a:t>
            </a:r>
            <a:r>
              <a:rPr kumimoji="1" lang="en-US" altLang="zh-CN" dirty="0">
                <a:ea typeface="宋体" charset="-122"/>
              </a:rPr>
              <a:t> of </a:t>
            </a:r>
            <a:r>
              <a:rPr kumimoji="1" lang="en-US" altLang="zh-CN" i="1" dirty="0">
                <a:solidFill>
                  <a:schemeClr val="tx2"/>
                </a:solidFill>
                <a:ea typeface="宋体" charset="-122"/>
              </a:rPr>
              <a:t>D</a:t>
            </a:r>
          </a:p>
          <a:p>
            <a:pPr marL="457200" indent="-457200">
              <a:spcBef>
                <a:spcPts val="1800"/>
              </a:spcBef>
            </a:pPr>
            <a:r>
              <a:rPr kumimoji="1" lang="en-US" altLang="zh-CN" dirty="0">
                <a:ea typeface="宋体" charset="-122"/>
              </a:rPr>
              <a:t>The partition </a:t>
            </a:r>
            <a:r>
              <a:rPr kumimoji="1" lang="en-US" altLang="zh-CN" i="1" dirty="0">
                <a:solidFill>
                  <a:schemeClr val="tx2"/>
                </a:solidFill>
                <a:ea typeface="宋体" charset="-122"/>
              </a:rPr>
              <a:t>q</a:t>
            </a:r>
            <a:r>
              <a:rPr kumimoji="1" lang="en-US" altLang="zh-CN" dirty="0">
                <a:ea typeface="宋体" charset="-122"/>
              </a:rPr>
              <a:t> defines a </a:t>
            </a:r>
            <a:r>
              <a:rPr kumimoji="1" lang="en-US" altLang="zh-CN" i="1" dirty="0">
                <a:ea typeface="宋体" charset="-122"/>
              </a:rPr>
              <a:t>set of blocks</a:t>
            </a:r>
            <a:r>
              <a:rPr kumimoji="1" lang="en-US" altLang="zh-CN" dirty="0">
                <a:ea typeface="宋体" charset="-122"/>
              </a:rPr>
              <a:t>, </a:t>
            </a:r>
            <a:r>
              <a:rPr kumimoji="1" lang="en-US" altLang="zh-CN" i="1" dirty="0" err="1">
                <a:solidFill>
                  <a:schemeClr val="tx2"/>
                </a:solidFill>
                <a:ea typeface="宋体" charset="-122"/>
              </a:rPr>
              <a:t>Bq</a:t>
            </a:r>
            <a:r>
              <a:rPr kumimoji="1" lang="en-US" altLang="zh-CN" i="1" dirty="0">
                <a:solidFill>
                  <a:schemeClr val="tx2"/>
                </a:solidFill>
                <a:ea typeface="宋体" charset="-122"/>
              </a:rPr>
              <a:t> = b</a:t>
            </a:r>
            <a:r>
              <a:rPr kumimoji="1" lang="en-US" altLang="zh-CN" sz="3200" i="1" baseline="-25000" dirty="0">
                <a:solidFill>
                  <a:schemeClr val="tx2"/>
                </a:solidFill>
                <a:ea typeface="宋体" charset="-122"/>
              </a:rPr>
              <a:t>1 </a:t>
            </a:r>
            <a:r>
              <a:rPr kumimoji="1" lang="en-US" altLang="zh-CN" i="1" dirty="0">
                <a:solidFill>
                  <a:schemeClr val="tx2"/>
                </a:solidFill>
                <a:ea typeface="宋体" charset="-122"/>
              </a:rPr>
              <a:t>, b</a:t>
            </a:r>
            <a:r>
              <a:rPr kumimoji="1" lang="en-US" altLang="zh-CN" sz="3200" i="1" baseline="-25000" dirty="0">
                <a:solidFill>
                  <a:schemeClr val="tx2"/>
                </a:solidFill>
                <a:ea typeface="宋体" charset="-122"/>
              </a:rPr>
              <a:t>2 </a:t>
            </a:r>
            <a:r>
              <a:rPr kumimoji="1" lang="en-US" altLang="zh-CN" i="1" dirty="0">
                <a:solidFill>
                  <a:schemeClr val="tx2"/>
                </a:solidFill>
                <a:ea typeface="宋体" charset="-122"/>
              </a:rPr>
              <a:t>, …, </a:t>
            </a:r>
            <a:r>
              <a:rPr kumimoji="1" lang="en-US" altLang="zh-CN" i="1" dirty="0" err="1">
                <a:solidFill>
                  <a:schemeClr val="tx2"/>
                </a:solidFill>
                <a:ea typeface="宋体" charset="-122"/>
              </a:rPr>
              <a:t>b</a:t>
            </a:r>
            <a:r>
              <a:rPr kumimoji="1" lang="en-US" altLang="zh-CN" sz="3200" i="1" baseline="-25000" dirty="0" err="1">
                <a:solidFill>
                  <a:schemeClr val="tx2"/>
                </a:solidFill>
                <a:ea typeface="宋体" charset="-122"/>
              </a:rPr>
              <a:t>Q</a:t>
            </a:r>
            <a:endParaRPr kumimoji="1" lang="en-US" altLang="zh-CN" sz="3200" i="1" baseline="-25000" dirty="0">
              <a:solidFill>
                <a:schemeClr val="tx2"/>
              </a:solidFill>
              <a:ea typeface="宋体" charset="-122"/>
            </a:endParaRPr>
          </a:p>
          <a:p>
            <a:pPr marL="457200" indent="-457200">
              <a:spcBef>
                <a:spcPts val="1800"/>
              </a:spcBef>
            </a:pPr>
            <a:r>
              <a:rPr kumimoji="1" lang="en-US" altLang="zh-CN" dirty="0">
                <a:ea typeface="宋体" charset="-122"/>
              </a:rPr>
              <a:t>The partition must satisfy two </a:t>
            </a:r>
            <a:r>
              <a:rPr kumimoji="1" lang="en-US" altLang="zh-CN" dirty="0">
                <a:solidFill>
                  <a:schemeClr val="tx2"/>
                </a:solidFill>
                <a:ea typeface="宋体" charset="-122"/>
              </a:rPr>
              <a:t>properties</a:t>
            </a:r>
            <a:r>
              <a:rPr kumimoji="1" lang="en-US" altLang="zh-CN" dirty="0">
                <a:ea typeface="宋体" charset="-122"/>
              </a:rPr>
              <a:t> :</a:t>
            </a:r>
          </a:p>
          <a:p>
            <a:pPr marL="838200" lvl="1" indent="-381000">
              <a:buFontTx/>
              <a:buAutoNum type="arabicPeriod"/>
            </a:pPr>
            <a:r>
              <a:rPr kumimoji="1" lang="en-US" altLang="zh-CN" dirty="0">
                <a:ea typeface="宋体" charset="-122"/>
              </a:rPr>
              <a:t>Blocks must be </a:t>
            </a:r>
            <a:r>
              <a:rPr kumimoji="1" lang="en-US" altLang="zh-CN" i="1" dirty="0">
                <a:solidFill>
                  <a:schemeClr val="tx2"/>
                </a:solidFill>
                <a:ea typeface="宋体" charset="-122"/>
              </a:rPr>
              <a:t>pairwise disjoint </a:t>
            </a:r>
            <a:r>
              <a:rPr kumimoji="1" lang="en-US" altLang="zh-CN" dirty="0">
                <a:ea typeface="宋体" charset="-122"/>
              </a:rPr>
              <a:t>(no overlap)</a:t>
            </a:r>
          </a:p>
          <a:p>
            <a:pPr marL="838200" lvl="1" indent="-381000">
              <a:buFontTx/>
              <a:buAutoNum type="arabicPeriod"/>
            </a:pPr>
            <a:r>
              <a:rPr kumimoji="1" lang="en-US" altLang="zh-CN" dirty="0">
                <a:ea typeface="宋体" charset="-122"/>
              </a:rPr>
              <a:t>Together the blocks </a:t>
            </a:r>
            <a:r>
              <a:rPr kumimoji="1" lang="en-US" altLang="zh-CN" i="1" dirty="0">
                <a:solidFill>
                  <a:schemeClr val="tx2"/>
                </a:solidFill>
                <a:ea typeface="宋体" charset="-122"/>
              </a:rPr>
              <a:t>cover</a:t>
            </a:r>
            <a:r>
              <a:rPr kumimoji="1" lang="en-US" altLang="zh-CN" dirty="0">
                <a:ea typeface="宋体" charset="-122"/>
              </a:rPr>
              <a:t> the domain </a:t>
            </a:r>
            <a:r>
              <a:rPr kumimoji="1" lang="en-US" altLang="zh-CN" i="1" dirty="0">
                <a:solidFill>
                  <a:schemeClr val="tx2"/>
                </a:solidFill>
                <a:ea typeface="宋体" charset="-122"/>
              </a:rPr>
              <a:t>D</a:t>
            </a:r>
            <a:r>
              <a:rPr kumimoji="1" lang="en-US" altLang="zh-CN" dirty="0">
                <a:ea typeface="宋体" charset="-122"/>
              </a:rPr>
              <a:t> (complete)</a:t>
            </a:r>
            <a:endParaRPr kumimoji="1" lang="en-US" altLang="en-US" dirty="0"/>
          </a:p>
        </p:txBody>
      </p:sp>
      <p:sp>
        <p:nvSpPr>
          <p:cNvPr id="248836" name="Text Box 4"/>
          <p:cNvSpPr txBox="1">
            <a:spLocks noChangeArrowheads="1"/>
          </p:cNvSpPr>
          <p:nvPr/>
        </p:nvSpPr>
        <p:spPr bwMode="auto">
          <a:xfrm>
            <a:off x="5816600" y="4367722"/>
            <a:ext cx="4191000" cy="537263"/>
          </a:xfrm>
          <a:prstGeom prst="rect">
            <a:avLst/>
          </a:prstGeom>
          <a:solidFill>
            <a:srgbClr val="0000FF"/>
          </a:solidFill>
          <a:ln w="19050">
            <a:solidFill>
              <a:schemeClr val="tx1"/>
            </a:solidFill>
            <a:miter lim="800000"/>
            <a:headEnd/>
            <a:tailEnd/>
          </a:ln>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lnSpc>
                <a:spcPct val="135000"/>
              </a:lnSpc>
              <a:spcBef>
                <a:spcPct val="50000"/>
              </a:spcBef>
            </a:pPr>
            <a:r>
              <a:rPr kumimoji="1" lang="en-US" altLang="zh-CN" sz="2400">
                <a:solidFill>
                  <a:schemeClr val="tx2"/>
                </a:solidFill>
                <a:ea typeface="楷体_GB2312" pitchFamily="49" charset="-122"/>
              </a:rPr>
              <a:t>b</a:t>
            </a:r>
            <a:r>
              <a:rPr kumimoji="1" lang="en-US" altLang="zh-CN" sz="2400" baseline="-25000">
                <a:solidFill>
                  <a:schemeClr val="tx2"/>
                </a:solidFill>
                <a:ea typeface="楷体_GB2312" pitchFamily="49" charset="-122"/>
              </a:rPr>
              <a:t>i</a:t>
            </a:r>
            <a:r>
              <a:rPr kumimoji="1" lang="en-US" altLang="zh-CN" sz="2400">
                <a:solidFill>
                  <a:schemeClr val="tx2"/>
                </a:solidFill>
                <a:ea typeface="楷体_GB2312" pitchFamily="49" charset="-122"/>
              </a:rPr>
              <a:t> </a:t>
            </a:r>
            <a:r>
              <a:rPr kumimoji="1" lang="en-US" altLang="zh-CN" sz="2400">
                <a:solidFill>
                  <a:schemeClr val="tx2"/>
                </a:solidFill>
                <a:ea typeface="楷体_GB2312" pitchFamily="49" charset="-122"/>
                <a:sym typeface="Symbol" pitchFamily="18" charset="2"/>
              </a:rPr>
              <a:t> b</a:t>
            </a:r>
            <a:r>
              <a:rPr kumimoji="1" lang="en-US" altLang="zh-CN" sz="2400" baseline="-25000">
                <a:solidFill>
                  <a:schemeClr val="tx2"/>
                </a:solidFill>
                <a:ea typeface="楷体_GB2312" pitchFamily="49" charset="-122"/>
                <a:sym typeface="Symbol" pitchFamily="18" charset="2"/>
              </a:rPr>
              <a:t>j</a:t>
            </a:r>
            <a:r>
              <a:rPr kumimoji="1" lang="en-US" altLang="zh-CN" sz="2400">
                <a:solidFill>
                  <a:schemeClr val="tx2"/>
                </a:solidFill>
                <a:ea typeface="楷体_GB2312" pitchFamily="49" charset="-122"/>
                <a:sym typeface="Symbol" pitchFamily="18" charset="2"/>
              </a:rPr>
              <a:t> = , </a:t>
            </a:r>
            <a:r>
              <a:rPr lang="en-US" altLang="en-US" sz="2400">
                <a:sym typeface="Symbol" pitchFamily="18" charset="2"/>
              </a:rPr>
              <a:t></a:t>
            </a:r>
            <a:r>
              <a:rPr lang="en-US" altLang="en-US">
                <a:sym typeface="Symbol" pitchFamily="18" charset="2"/>
              </a:rPr>
              <a:t> </a:t>
            </a:r>
            <a:r>
              <a:rPr kumimoji="1" lang="en-US" altLang="zh-CN" sz="2400">
                <a:solidFill>
                  <a:schemeClr val="tx2"/>
                </a:solidFill>
                <a:ea typeface="楷体_GB2312" pitchFamily="49" charset="-122"/>
                <a:sym typeface="Symbol" pitchFamily="18" charset="2"/>
              </a:rPr>
              <a:t>i  j, b</a:t>
            </a:r>
            <a:r>
              <a:rPr kumimoji="1" lang="en-US" altLang="zh-CN" sz="2400" baseline="-25000">
                <a:solidFill>
                  <a:schemeClr val="tx2"/>
                </a:solidFill>
                <a:ea typeface="楷体_GB2312" pitchFamily="49" charset="-122"/>
                <a:sym typeface="Symbol" pitchFamily="18" charset="2"/>
              </a:rPr>
              <a:t>i</a:t>
            </a:r>
            <a:r>
              <a:rPr kumimoji="1" lang="en-US" altLang="zh-CN" sz="2400">
                <a:solidFill>
                  <a:schemeClr val="tx2"/>
                </a:solidFill>
                <a:ea typeface="楷体_GB2312" pitchFamily="49" charset="-122"/>
                <a:sym typeface="Symbol" pitchFamily="18" charset="2"/>
              </a:rPr>
              <a:t>, b</a:t>
            </a:r>
            <a:r>
              <a:rPr kumimoji="1" lang="en-US" altLang="zh-CN" sz="2400" baseline="-25000">
                <a:solidFill>
                  <a:schemeClr val="tx2"/>
                </a:solidFill>
                <a:ea typeface="楷体_GB2312" pitchFamily="49" charset="-122"/>
                <a:sym typeface="Symbol" pitchFamily="18" charset="2"/>
              </a:rPr>
              <a:t>j </a:t>
            </a:r>
            <a:r>
              <a:rPr kumimoji="1" lang="en-US" altLang="zh-CN" sz="2400">
                <a:solidFill>
                  <a:schemeClr val="tx2"/>
                </a:solidFill>
                <a:ea typeface="楷体_GB2312" pitchFamily="49" charset="-122"/>
                <a:sym typeface="Symbol" pitchFamily="18" charset="2"/>
              </a:rPr>
              <a:t> B</a:t>
            </a:r>
            <a:r>
              <a:rPr kumimoji="1" lang="en-US" altLang="zh-CN" sz="2400" baseline="-25000">
                <a:solidFill>
                  <a:schemeClr val="tx2"/>
                </a:solidFill>
                <a:ea typeface="楷体_GB2312" pitchFamily="49" charset="-122"/>
                <a:sym typeface="Symbol" pitchFamily="18" charset="2"/>
              </a:rPr>
              <a:t>q</a:t>
            </a:r>
          </a:p>
        </p:txBody>
      </p:sp>
      <p:grpSp>
        <p:nvGrpSpPr>
          <p:cNvPr id="2" name="Group 12"/>
          <p:cNvGrpSpPr>
            <a:grpSpLocks/>
          </p:cNvGrpSpPr>
          <p:nvPr/>
        </p:nvGrpSpPr>
        <p:grpSpPr bwMode="auto">
          <a:xfrm>
            <a:off x="2184400" y="4367721"/>
            <a:ext cx="2971800" cy="1676400"/>
            <a:chOff x="3560" y="2997"/>
            <a:chExt cx="1872" cy="1056"/>
          </a:xfrm>
        </p:grpSpPr>
        <p:sp>
          <p:nvSpPr>
            <p:cNvPr id="6154" name="Rectangle 6"/>
            <p:cNvSpPr>
              <a:spLocks noChangeArrowheads="1"/>
            </p:cNvSpPr>
            <p:nvPr/>
          </p:nvSpPr>
          <p:spPr bwMode="auto">
            <a:xfrm>
              <a:off x="3560" y="2997"/>
              <a:ext cx="1872" cy="1056"/>
            </a:xfrm>
            <a:prstGeom prst="rect">
              <a:avLst/>
            </a:prstGeom>
            <a:solidFill>
              <a:srgbClr val="0000FF"/>
            </a:solidFill>
            <a:ln w="19050">
              <a:solidFill>
                <a:schemeClr val="tx1"/>
              </a:solidFill>
              <a:miter lim="800000"/>
              <a:headEnd/>
              <a:tailEnd/>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6155" name="Freeform 7"/>
            <p:cNvSpPr>
              <a:spLocks/>
            </p:cNvSpPr>
            <p:nvPr/>
          </p:nvSpPr>
          <p:spPr bwMode="auto">
            <a:xfrm>
              <a:off x="3560" y="2998"/>
              <a:ext cx="624" cy="528"/>
            </a:xfrm>
            <a:custGeom>
              <a:avLst/>
              <a:gdLst>
                <a:gd name="T0" fmla="*/ 624 w 624"/>
                <a:gd name="T1" fmla="*/ 0 h 528"/>
                <a:gd name="T2" fmla="*/ 576 w 624"/>
                <a:gd name="T3" fmla="*/ 240 h 528"/>
                <a:gd name="T4" fmla="*/ 336 w 624"/>
                <a:gd name="T5" fmla="*/ 480 h 528"/>
                <a:gd name="T6" fmla="*/ 0 w 624"/>
                <a:gd name="T7" fmla="*/ 528 h 528"/>
                <a:gd name="T8" fmla="*/ 0 60000 65536"/>
                <a:gd name="T9" fmla="*/ 0 60000 65536"/>
                <a:gd name="T10" fmla="*/ 0 60000 65536"/>
                <a:gd name="T11" fmla="*/ 0 60000 65536"/>
                <a:gd name="T12" fmla="*/ 0 w 624"/>
                <a:gd name="T13" fmla="*/ 0 h 528"/>
                <a:gd name="T14" fmla="*/ 624 w 624"/>
                <a:gd name="T15" fmla="*/ 528 h 528"/>
              </a:gdLst>
              <a:ahLst/>
              <a:cxnLst>
                <a:cxn ang="T8">
                  <a:pos x="T0" y="T1"/>
                </a:cxn>
                <a:cxn ang="T9">
                  <a:pos x="T2" y="T3"/>
                </a:cxn>
                <a:cxn ang="T10">
                  <a:pos x="T4" y="T5"/>
                </a:cxn>
                <a:cxn ang="T11">
                  <a:pos x="T6" y="T7"/>
                </a:cxn>
              </a:cxnLst>
              <a:rect l="T12" t="T13" r="T14" b="T15"/>
              <a:pathLst>
                <a:path w="624" h="528">
                  <a:moveTo>
                    <a:pt x="624" y="0"/>
                  </a:moveTo>
                  <a:cubicBezTo>
                    <a:pt x="624" y="80"/>
                    <a:pt x="624" y="160"/>
                    <a:pt x="576" y="240"/>
                  </a:cubicBezTo>
                  <a:cubicBezTo>
                    <a:pt x="528" y="320"/>
                    <a:pt x="432" y="432"/>
                    <a:pt x="336" y="480"/>
                  </a:cubicBezTo>
                  <a:cubicBezTo>
                    <a:pt x="240" y="528"/>
                    <a:pt x="56" y="520"/>
                    <a:pt x="0" y="528"/>
                  </a:cubicBez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56" name="Freeform 8"/>
            <p:cNvSpPr>
              <a:spLocks/>
            </p:cNvSpPr>
            <p:nvPr/>
          </p:nvSpPr>
          <p:spPr bwMode="auto">
            <a:xfrm>
              <a:off x="4040" y="3354"/>
              <a:ext cx="1392" cy="208"/>
            </a:xfrm>
            <a:custGeom>
              <a:avLst/>
              <a:gdLst>
                <a:gd name="T0" fmla="*/ 0 w 1392"/>
                <a:gd name="T1" fmla="*/ 0 h 208"/>
                <a:gd name="T2" fmla="*/ 288 w 1392"/>
                <a:gd name="T3" fmla="*/ 96 h 208"/>
                <a:gd name="T4" fmla="*/ 912 w 1392"/>
                <a:gd name="T5" fmla="*/ 192 h 208"/>
                <a:gd name="T6" fmla="*/ 1200 w 1392"/>
                <a:gd name="T7" fmla="*/ 192 h 208"/>
                <a:gd name="T8" fmla="*/ 1392 w 1392"/>
                <a:gd name="T9" fmla="*/ 192 h 208"/>
                <a:gd name="T10" fmla="*/ 0 60000 65536"/>
                <a:gd name="T11" fmla="*/ 0 60000 65536"/>
                <a:gd name="T12" fmla="*/ 0 60000 65536"/>
                <a:gd name="T13" fmla="*/ 0 60000 65536"/>
                <a:gd name="T14" fmla="*/ 0 60000 65536"/>
                <a:gd name="T15" fmla="*/ 0 w 1392"/>
                <a:gd name="T16" fmla="*/ 0 h 208"/>
                <a:gd name="T17" fmla="*/ 1392 w 1392"/>
                <a:gd name="T18" fmla="*/ 208 h 208"/>
              </a:gdLst>
              <a:ahLst/>
              <a:cxnLst>
                <a:cxn ang="T10">
                  <a:pos x="T0" y="T1"/>
                </a:cxn>
                <a:cxn ang="T11">
                  <a:pos x="T2" y="T3"/>
                </a:cxn>
                <a:cxn ang="T12">
                  <a:pos x="T4" y="T5"/>
                </a:cxn>
                <a:cxn ang="T13">
                  <a:pos x="T6" y="T7"/>
                </a:cxn>
                <a:cxn ang="T14">
                  <a:pos x="T8" y="T9"/>
                </a:cxn>
              </a:cxnLst>
              <a:rect l="T15" t="T16" r="T17" b="T18"/>
              <a:pathLst>
                <a:path w="1392" h="208">
                  <a:moveTo>
                    <a:pt x="0" y="0"/>
                  </a:moveTo>
                  <a:cubicBezTo>
                    <a:pt x="68" y="32"/>
                    <a:pt x="136" y="64"/>
                    <a:pt x="288" y="96"/>
                  </a:cubicBezTo>
                  <a:cubicBezTo>
                    <a:pt x="440" y="128"/>
                    <a:pt x="760" y="176"/>
                    <a:pt x="912" y="192"/>
                  </a:cubicBezTo>
                  <a:cubicBezTo>
                    <a:pt x="1064" y="208"/>
                    <a:pt x="1120" y="192"/>
                    <a:pt x="1200" y="192"/>
                  </a:cubicBezTo>
                  <a:cubicBezTo>
                    <a:pt x="1280" y="192"/>
                    <a:pt x="1360" y="192"/>
                    <a:pt x="1392" y="192"/>
                  </a:cubicBez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57" name="Text Box 9"/>
            <p:cNvSpPr txBox="1">
              <a:spLocks noChangeArrowheads="1"/>
            </p:cNvSpPr>
            <p:nvPr/>
          </p:nvSpPr>
          <p:spPr bwMode="auto">
            <a:xfrm>
              <a:off x="3600" y="3030"/>
              <a:ext cx="43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spcBef>
                  <a:spcPct val="50000"/>
                </a:spcBef>
              </a:pPr>
              <a:r>
                <a:rPr kumimoji="1" lang="en-US" altLang="zh-CN" sz="2800">
                  <a:solidFill>
                    <a:schemeClr val="tx2"/>
                  </a:solidFill>
                  <a:ea typeface="楷体_GB2312" pitchFamily="49" charset="-122"/>
                </a:rPr>
                <a:t>b</a:t>
              </a:r>
              <a:r>
                <a:rPr kumimoji="1" lang="en-US" altLang="zh-CN" sz="2800" baseline="-25000">
                  <a:solidFill>
                    <a:schemeClr val="tx2"/>
                  </a:solidFill>
                  <a:ea typeface="楷体_GB2312" pitchFamily="49" charset="-122"/>
                </a:rPr>
                <a:t>1</a:t>
              </a:r>
            </a:p>
          </p:txBody>
        </p:sp>
        <p:sp>
          <p:nvSpPr>
            <p:cNvPr id="6158" name="Text Box 10"/>
            <p:cNvSpPr txBox="1">
              <a:spLocks noChangeArrowheads="1"/>
            </p:cNvSpPr>
            <p:nvPr/>
          </p:nvSpPr>
          <p:spPr bwMode="auto">
            <a:xfrm>
              <a:off x="4464" y="3030"/>
              <a:ext cx="43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spcBef>
                  <a:spcPct val="50000"/>
                </a:spcBef>
              </a:pPr>
              <a:r>
                <a:rPr kumimoji="1" lang="en-US" altLang="zh-CN" sz="2800">
                  <a:solidFill>
                    <a:schemeClr val="tx2"/>
                  </a:solidFill>
                  <a:ea typeface="楷体_GB2312" pitchFamily="49" charset="-122"/>
                </a:rPr>
                <a:t>b</a:t>
              </a:r>
              <a:r>
                <a:rPr kumimoji="1" lang="en-US" altLang="zh-CN" sz="2800" baseline="-25000">
                  <a:solidFill>
                    <a:schemeClr val="tx2"/>
                  </a:solidFill>
                  <a:ea typeface="楷体_GB2312" pitchFamily="49" charset="-122"/>
                </a:rPr>
                <a:t>2</a:t>
              </a:r>
            </a:p>
          </p:txBody>
        </p:sp>
        <p:sp>
          <p:nvSpPr>
            <p:cNvPr id="6159" name="Text Box 11"/>
            <p:cNvSpPr txBox="1">
              <a:spLocks noChangeArrowheads="1"/>
            </p:cNvSpPr>
            <p:nvPr/>
          </p:nvSpPr>
          <p:spPr bwMode="auto">
            <a:xfrm>
              <a:off x="3888" y="3510"/>
              <a:ext cx="43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spcBef>
                  <a:spcPct val="50000"/>
                </a:spcBef>
              </a:pPr>
              <a:r>
                <a:rPr kumimoji="1" lang="en-US" altLang="zh-CN" sz="2800">
                  <a:solidFill>
                    <a:schemeClr val="tx2"/>
                  </a:solidFill>
                  <a:ea typeface="楷体_GB2312" pitchFamily="49" charset="-122"/>
                </a:rPr>
                <a:t>b</a:t>
              </a:r>
              <a:r>
                <a:rPr kumimoji="1" lang="en-US" altLang="zh-CN" sz="2800" baseline="-25000">
                  <a:solidFill>
                    <a:schemeClr val="tx2"/>
                  </a:solidFill>
                  <a:ea typeface="楷体_GB2312" pitchFamily="49" charset="-122"/>
                </a:rPr>
                <a:t>3</a:t>
              </a:r>
            </a:p>
          </p:txBody>
        </p:sp>
      </p:grpSp>
      <p:sp>
        <p:nvSpPr>
          <p:cNvPr id="248845" name="Text Box 13"/>
          <p:cNvSpPr txBox="1">
            <a:spLocks noChangeArrowheads="1"/>
          </p:cNvSpPr>
          <p:nvPr/>
        </p:nvSpPr>
        <p:spPr bwMode="auto">
          <a:xfrm>
            <a:off x="6940550" y="5293234"/>
            <a:ext cx="1943100" cy="763479"/>
          </a:xfrm>
          <a:prstGeom prst="rect">
            <a:avLst/>
          </a:prstGeom>
          <a:solidFill>
            <a:srgbClr val="0000FF"/>
          </a:solidFill>
          <a:ln w="19050">
            <a:solidFill>
              <a:schemeClr val="tx1"/>
            </a:solidFill>
            <a:miter lim="800000"/>
            <a:headEnd type="none" w="sm" len="sm"/>
            <a:tailEnd type="none" w="sm" len="sm"/>
          </a:ln>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50000"/>
              </a:lnSpc>
              <a:spcBef>
                <a:spcPct val="50000"/>
              </a:spcBef>
            </a:pPr>
            <a:r>
              <a:rPr lang="en-US" altLang="en-US" sz="3600">
                <a:sym typeface="Symbol" pitchFamily="18" charset="2"/>
              </a:rPr>
              <a:t>  </a:t>
            </a:r>
            <a:r>
              <a:rPr lang="en-US" altLang="en-US" sz="2800"/>
              <a:t>   b = D</a:t>
            </a:r>
          </a:p>
          <a:p>
            <a:pPr>
              <a:lnSpc>
                <a:spcPct val="50000"/>
              </a:lnSpc>
              <a:spcBef>
                <a:spcPct val="50000"/>
              </a:spcBef>
            </a:pPr>
            <a:r>
              <a:rPr lang="en-US" altLang="en-US" sz="2400"/>
              <a:t>b </a:t>
            </a:r>
            <a:r>
              <a:rPr lang="en-US" altLang="en-US" sz="2400">
                <a:sym typeface="Symbol" pitchFamily="18" charset="2"/>
              </a:rPr>
              <a:t> Bq</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48836"/>
                                        </p:tgtEl>
                                        <p:attrNameLst>
                                          <p:attrName>style.visibility</p:attrName>
                                        </p:attrNameLst>
                                      </p:cBhvr>
                                      <p:to>
                                        <p:strVal val="visible"/>
                                      </p:to>
                                    </p:set>
                                    <p:animEffect transition="in" filter="dissolve">
                                      <p:cBhvr>
                                        <p:cTn id="12" dur="500"/>
                                        <p:tgtEl>
                                          <p:spTgt spid="2488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48845"/>
                                        </p:tgtEl>
                                        <p:attrNameLst>
                                          <p:attrName>style.visibility</p:attrName>
                                        </p:attrNameLst>
                                      </p:cBhvr>
                                      <p:to>
                                        <p:strVal val="visible"/>
                                      </p:to>
                                    </p:set>
                                    <p:animEffect transition="in" filter="dissolve">
                                      <p:cBhvr>
                                        <p:cTn id="17" dur="500"/>
                                        <p:tgtEl>
                                          <p:spTgt spid="248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6" grpId="0" animBg="1"/>
      <p:bldP spid="24884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p>
        </p:txBody>
      </p:sp>
      <p:sp>
        <p:nvSpPr>
          <p:cNvPr id="6" name="Slide Number Placeholder 5"/>
          <p:cNvSpPr>
            <a:spLocks noGrp="1"/>
          </p:cNvSpPr>
          <p:nvPr>
            <p:ph type="sldNum" sz="quarter" idx="12"/>
          </p:nvPr>
        </p:nvSpPr>
        <p:spPr/>
        <p:txBody>
          <a:bodyPr/>
          <a:lstStyle/>
          <a:p>
            <a:pPr>
              <a:defRPr/>
            </a:pPr>
            <a:fld id="{FE742154-05E0-4FD4-B04E-B92FD3670A3A}" type="slidenum">
              <a:rPr lang="en-US" smtClean="0"/>
              <a:pPr>
                <a:defRPr/>
              </a:pPr>
              <a:t>7</a:t>
            </a:fld>
            <a:endParaRPr lang="en-US"/>
          </a:p>
        </p:txBody>
      </p:sp>
      <p:sp>
        <p:nvSpPr>
          <p:cNvPr id="7" name="TextBox 6"/>
          <p:cNvSpPr txBox="1"/>
          <p:nvPr/>
        </p:nvSpPr>
        <p:spPr>
          <a:xfrm>
            <a:off x="4475441" y="1394106"/>
            <a:ext cx="3228291" cy="954107"/>
          </a:xfrm>
          <a:prstGeom prst="rect">
            <a:avLst/>
          </a:prstGeom>
          <a:solidFill>
            <a:schemeClr val="bg1">
              <a:lumMod val="40000"/>
              <a:lumOff val="60000"/>
            </a:schemeClr>
          </a:solidFill>
        </p:spPr>
        <p:txBody>
          <a:bodyPr wrap="square" rtlCol="0">
            <a:spAutoFit/>
          </a:bodyPr>
          <a:lstStyle/>
          <a:p>
            <a:pPr algn="ctr"/>
            <a:r>
              <a:rPr lang="en-US" sz="2800" b="0" i="1" dirty="0">
                <a:solidFill>
                  <a:schemeClr val="tx1"/>
                </a:solidFill>
                <a:latin typeface="Gill Sans MT" panose="020B0502020104020203" pitchFamily="34" charset="0"/>
              </a:rPr>
              <a:t>Design a partitioning for all integers</a:t>
            </a:r>
          </a:p>
        </p:txBody>
      </p:sp>
      <p:sp>
        <p:nvSpPr>
          <p:cNvPr id="8" name="TextBox 7"/>
          <p:cNvSpPr txBox="1"/>
          <p:nvPr/>
        </p:nvSpPr>
        <p:spPr>
          <a:xfrm>
            <a:off x="3342753" y="2752598"/>
            <a:ext cx="5506495" cy="1384995"/>
          </a:xfrm>
          <a:prstGeom prst="rect">
            <a:avLst/>
          </a:prstGeom>
          <a:solidFill>
            <a:schemeClr val="bg1">
              <a:lumMod val="40000"/>
              <a:lumOff val="60000"/>
            </a:schemeClr>
          </a:solidFill>
        </p:spPr>
        <p:txBody>
          <a:bodyPr wrap="square" rtlCol="0">
            <a:spAutoFit/>
          </a:bodyPr>
          <a:lstStyle/>
          <a:p>
            <a:pPr algn="ctr"/>
            <a:r>
              <a:rPr lang="en-US" sz="2800" b="0" i="1" dirty="0">
                <a:solidFill>
                  <a:schemeClr val="tx1"/>
                </a:solidFill>
                <a:latin typeface="Gill Sans MT" panose="020B0502020104020203" pitchFamily="34" charset="0"/>
              </a:rPr>
              <a:t>That is, partition integers into blocks such that each block seems to be equivalent in terms of testing </a:t>
            </a:r>
          </a:p>
        </p:txBody>
      </p:sp>
      <p:sp>
        <p:nvSpPr>
          <p:cNvPr id="9" name="TextBox 8"/>
          <p:cNvSpPr txBox="1"/>
          <p:nvPr/>
        </p:nvSpPr>
        <p:spPr>
          <a:xfrm>
            <a:off x="4257153" y="4541978"/>
            <a:ext cx="3657599" cy="1815882"/>
          </a:xfrm>
          <a:prstGeom prst="rect">
            <a:avLst/>
          </a:prstGeom>
          <a:solidFill>
            <a:schemeClr val="bg1">
              <a:lumMod val="40000"/>
              <a:lumOff val="60000"/>
            </a:schemeClr>
          </a:solidFill>
        </p:spPr>
        <p:txBody>
          <a:bodyPr wrap="square" rtlCol="0">
            <a:spAutoFit/>
          </a:bodyPr>
          <a:lstStyle/>
          <a:p>
            <a:pPr algn="ctr"/>
            <a:r>
              <a:rPr lang="en-US" sz="2800" b="0" i="1" dirty="0">
                <a:solidFill>
                  <a:schemeClr val="tx1"/>
                </a:solidFill>
                <a:latin typeface="Gill Sans MT" panose="020B0502020104020203" pitchFamily="34" charset="0"/>
              </a:rPr>
              <a:t>Make sure your partition is valid:</a:t>
            </a:r>
          </a:p>
          <a:p>
            <a:pPr marL="514350" indent="-514350" algn="ctr">
              <a:buAutoNum type="arabicParenR"/>
            </a:pPr>
            <a:r>
              <a:rPr lang="en-US" sz="2800" b="0" i="1" dirty="0">
                <a:solidFill>
                  <a:schemeClr val="tx1"/>
                </a:solidFill>
                <a:latin typeface="Gill Sans MT" panose="020B0502020104020203" pitchFamily="34" charset="0"/>
              </a:rPr>
              <a:t>Pairwise disjoint</a:t>
            </a:r>
          </a:p>
          <a:p>
            <a:pPr marL="514350" indent="-514350" algn="ctr">
              <a:buAutoNum type="arabicParenR"/>
            </a:pPr>
            <a:r>
              <a:rPr lang="en-US" sz="2800" b="0" i="1" dirty="0">
                <a:solidFill>
                  <a:schemeClr val="tx1"/>
                </a:solidFill>
                <a:latin typeface="Gill Sans MT" panose="020B0502020104020203" pitchFamily="34" charset="0"/>
              </a:rPr>
              <a:t>Complete</a:t>
            </a:r>
          </a:p>
        </p:txBody>
      </p:sp>
    </p:spTree>
    <p:extLst>
      <p:ext uri="{BB962C8B-B14F-4D97-AF65-F5344CB8AC3E}">
        <p14:creationId xmlns:p14="http://schemas.microsoft.com/office/powerpoint/2010/main" val="259906751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000"/>
                                        <p:tgtEl>
                                          <p:spTgt spid="8"/>
                                        </p:tgtEl>
                                      </p:cBhvr>
                                    </p:animEffect>
                                  </p:childTnLst>
                                </p:cTn>
                              </p:par>
                            </p:childTnLst>
                          </p:cTn>
                        </p:par>
                        <p:par>
                          <p:cTn id="12" fill="hold">
                            <p:stCondLst>
                              <p:cond delay="40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8B3E592C-93E0-4EA2-8A8E-885DA3A09416}" type="slidenum">
              <a:rPr lang="en-US" altLang="en-US" sz="900" b="0">
                <a:solidFill>
                  <a:schemeClr val="tx1"/>
                </a:solidFill>
                <a:latin typeface="Arial" charset="0"/>
                <a:cs typeface="Arial" charset="0"/>
              </a:rPr>
              <a:pPr/>
              <a:t>8</a:t>
            </a:fld>
            <a:endParaRPr lang="en-US" altLang="en-US" sz="900" b="0">
              <a:solidFill>
                <a:schemeClr val="tx1"/>
              </a:solidFill>
              <a:latin typeface="Arial" charset="0"/>
              <a:cs typeface="Arial" charset="0"/>
            </a:endParaRPr>
          </a:p>
        </p:txBody>
      </p:sp>
      <p:sp>
        <p:nvSpPr>
          <p:cNvPr id="7172" name="Rectangle 2"/>
          <p:cNvSpPr>
            <a:spLocks noGrp="1" noChangeArrowheads="1"/>
          </p:cNvSpPr>
          <p:nvPr>
            <p:ph type="title"/>
          </p:nvPr>
        </p:nvSpPr>
        <p:spPr/>
        <p:txBody>
          <a:bodyPr/>
          <a:lstStyle/>
          <a:p>
            <a:r>
              <a:rPr lang="en-US" altLang="en-US"/>
              <a:t>Using Partitions – Assumptions</a:t>
            </a:r>
          </a:p>
        </p:txBody>
      </p:sp>
      <p:sp>
        <p:nvSpPr>
          <p:cNvPr id="7173" name="Rectangle 3"/>
          <p:cNvSpPr>
            <a:spLocks noGrp="1" noChangeArrowheads="1"/>
          </p:cNvSpPr>
          <p:nvPr>
            <p:ph type="body" idx="1"/>
          </p:nvPr>
        </p:nvSpPr>
        <p:spPr/>
        <p:txBody>
          <a:bodyPr/>
          <a:lstStyle/>
          <a:p>
            <a:r>
              <a:rPr lang="en-US" altLang="en-US"/>
              <a:t>Choose a </a:t>
            </a:r>
            <a:r>
              <a:rPr lang="en-US" altLang="en-US">
                <a:solidFill>
                  <a:schemeClr val="tx2"/>
                </a:solidFill>
              </a:rPr>
              <a:t>value</a:t>
            </a:r>
            <a:r>
              <a:rPr lang="en-US" altLang="en-US"/>
              <a:t> from each block</a:t>
            </a:r>
          </a:p>
          <a:p>
            <a:r>
              <a:rPr lang="en-US" altLang="en-US"/>
              <a:t>Each value is assumed to be </a:t>
            </a:r>
            <a:r>
              <a:rPr lang="en-US" altLang="en-US">
                <a:solidFill>
                  <a:schemeClr val="tx2"/>
                </a:solidFill>
              </a:rPr>
              <a:t>equally useful</a:t>
            </a:r>
            <a:r>
              <a:rPr lang="en-US" altLang="en-US"/>
              <a:t> for testing</a:t>
            </a:r>
          </a:p>
          <a:p>
            <a:r>
              <a:rPr lang="en-US" altLang="en-US"/>
              <a:t>Application to testing</a:t>
            </a:r>
          </a:p>
          <a:p>
            <a:pPr lvl="1"/>
            <a:r>
              <a:rPr lang="en-US" altLang="en-US"/>
              <a:t>Find </a:t>
            </a:r>
            <a:r>
              <a:rPr lang="en-US" altLang="en-US">
                <a:solidFill>
                  <a:schemeClr val="tx2"/>
                </a:solidFill>
              </a:rPr>
              <a:t>characteristics</a:t>
            </a:r>
            <a:r>
              <a:rPr lang="en-US" altLang="en-US"/>
              <a:t> in the inputs : parameters, semantic descriptions, …</a:t>
            </a:r>
          </a:p>
          <a:p>
            <a:pPr lvl="1"/>
            <a:r>
              <a:rPr lang="en-US" altLang="en-US">
                <a:solidFill>
                  <a:schemeClr val="tx2"/>
                </a:solidFill>
              </a:rPr>
              <a:t>Partition</a:t>
            </a:r>
            <a:r>
              <a:rPr lang="en-US" altLang="en-US"/>
              <a:t> each characteristic</a:t>
            </a:r>
          </a:p>
          <a:p>
            <a:pPr lvl="1"/>
            <a:r>
              <a:rPr lang="en-US" altLang="en-US">
                <a:solidFill>
                  <a:schemeClr val="tx2"/>
                </a:solidFill>
              </a:rPr>
              <a:t>Choose tests</a:t>
            </a:r>
            <a:r>
              <a:rPr lang="en-US" altLang="en-US"/>
              <a:t> by combining values from characteristics</a:t>
            </a:r>
          </a:p>
          <a:p>
            <a:r>
              <a:rPr lang="en-US" altLang="en-US"/>
              <a:t>Example </a:t>
            </a:r>
            <a:r>
              <a:rPr lang="en-US" altLang="en-US">
                <a:solidFill>
                  <a:schemeClr val="tx2"/>
                </a:solidFill>
              </a:rPr>
              <a:t>Characteristics</a:t>
            </a:r>
          </a:p>
          <a:p>
            <a:pPr lvl="1"/>
            <a:r>
              <a:rPr lang="en-US" altLang="en-US"/>
              <a:t>Input X is null</a:t>
            </a:r>
          </a:p>
          <a:p>
            <a:pPr lvl="1"/>
            <a:r>
              <a:rPr lang="en-US" altLang="en-US"/>
              <a:t>Order of the input file F (sorted, inverse sorted, arbitrary, …)</a:t>
            </a:r>
          </a:p>
          <a:p>
            <a:pPr lvl="1"/>
            <a:r>
              <a:rPr lang="en-US" altLang="en-US"/>
              <a:t>Min separation of two aircraft</a:t>
            </a:r>
          </a:p>
          <a:p>
            <a:pPr lvl="1"/>
            <a:r>
              <a:rPr lang="en-US" altLang="en-US"/>
              <a:t>Input device (DVD, CD, VCR, computer, …)</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4C8CEECA-11C5-4946-9CA8-EEEFAE1C6C8C}" type="slidenum">
              <a:rPr lang="en-US" altLang="en-US" sz="900" b="0">
                <a:solidFill>
                  <a:schemeClr val="tx1"/>
                </a:solidFill>
                <a:latin typeface="Arial" charset="0"/>
                <a:cs typeface="Arial" charset="0"/>
              </a:rPr>
              <a:pPr/>
              <a:t>9</a:t>
            </a:fld>
            <a:endParaRPr lang="en-US" altLang="en-US" sz="900" b="0">
              <a:solidFill>
                <a:schemeClr val="tx1"/>
              </a:solidFill>
              <a:latin typeface="Arial" charset="0"/>
              <a:cs typeface="Arial" charset="0"/>
            </a:endParaRPr>
          </a:p>
        </p:txBody>
      </p:sp>
      <p:sp>
        <p:nvSpPr>
          <p:cNvPr id="8196" name="Rectangle 2"/>
          <p:cNvSpPr>
            <a:spLocks noGrp="1" noChangeArrowheads="1"/>
          </p:cNvSpPr>
          <p:nvPr>
            <p:ph type="title"/>
          </p:nvPr>
        </p:nvSpPr>
        <p:spPr/>
        <p:txBody>
          <a:bodyPr/>
          <a:lstStyle/>
          <a:p>
            <a:r>
              <a:rPr lang="en-US" altLang="en-US"/>
              <a:t>Choosing Partitions</a:t>
            </a:r>
          </a:p>
        </p:txBody>
      </p:sp>
      <p:sp>
        <p:nvSpPr>
          <p:cNvPr id="8197" name="Rectangle 3"/>
          <p:cNvSpPr>
            <a:spLocks noGrp="1" noChangeArrowheads="1"/>
          </p:cNvSpPr>
          <p:nvPr>
            <p:ph type="body" idx="1"/>
          </p:nvPr>
        </p:nvSpPr>
        <p:spPr>
          <a:xfrm>
            <a:off x="1662114" y="1085851"/>
            <a:ext cx="8867775" cy="1484313"/>
          </a:xfrm>
        </p:spPr>
        <p:txBody>
          <a:bodyPr/>
          <a:lstStyle/>
          <a:p>
            <a:r>
              <a:rPr lang="en-US" altLang="en-US" dirty="0"/>
              <a:t>Choosing (or defining) </a:t>
            </a:r>
            <a:r>
              <a:rPr lang="en-US" altLang="en-US" dirty="0">
                <a:solidFill>
                  <a:schemeClr val="tx2"/>
                </a:solidFill>
              </a:rPr>
              <a:t>partitions</a:t>
            </a:r>
            <a:r>
              <a:rPr lang="en-US" altLang="en-US" dirty="0"/>
              <a:t> seems easy, but is easy to get wrong</a:t>
            </a:r>
          </a:p>
          <a:p>
            <a:r>
              <a:rPr lang="en-US" altLang="en-US" dirty="0"/>
              <a:t>Consider the characteristic “</a:t>
            </a:r>
            <a:r>
              <a:rPr lang="en-US" altLang="en-US" i="1" dirty="0">
                <a:solidFill>
                  <a:schemeClr val="tx2"/>
                </a:solidFill>
              </a:rPr>
              <a:t>order of file F</a:t>
            </a:r>
            <a:r>
              <a:rPr lang="en-US" altLang="en-US" dirty="0"/>
              <a:t>”</a:t>
            </a:r>
          </a:p>
        </p:txBody>
      </p:sp>
      <p:sp>
        <p:nvSpPr>
          <p:cNvPr id="252932" name="Text Box 4"/>
          <p:cNvSpPr txBox="1">
            <a:spLocks noChangeArrowheads="1"/>
          </p:cNvSpPr>
          <p:nvPr/>
        </p:nvSpPr>
        <p:spPr bwMode="auto">
          <a:xfrm>
            <a:off x="1703585" y="2538413"/>
            <a:ext cx="4379912" cy="1300162"/>
          </a:xfrm>
          <a:prstGeom prst="rect">
            <a:avLst/>
          </a:prstGeom>
          <a:solidFill>
            <a:srgbClr val="0000FF"/>
          </a:solidFill>
          <a:ln w="19050">
            <a:solidFill>
              <a:schemeClr val="tx2"/>
            </a:solidFill>
            <a:miter lim="800000"/>
            <a:headEnd type="none" w="sm" len="sm"/>
            <a:tailEnd type="none" w="sm" len="sm"/>
          </a:ln>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75000"/>
              </a:lnSpc>
              <a:spcBef>
                <a:spcPct val="50000"/>
              </a:spcBef>
            </a:pPr>
            <a:r>
              <a:rPr lang="en-US" altLang="en-US" sz="2400" dirty="0"/>
              <a:t>b</a:t>
            </a:r>
            <a:r>
              <a:rPr lang="en-US" altLang="en-US" sz="2400" baseline="-25000" dirty="0"/>
              <a:t>1</a:t>
            </a:r>
            <a:r>
              <a:rPr lang="en-US" altLang="en-US" sz="2400" dirty="0"/>
              <a:t> = sorted in ascending order</a:t>
            </a:r>
          </a:p>
          <a:p>
            <a:pPr>
              <a:lnSpc>
                <a:spcPct val="75000"/>
              </a:lnSpc>
              <a:spcBef>
                <a:spcPct val="50000"/>
              </a:spcBef>
            </a:pPr>
            <a:r>
              <a:rPr lang="en-US" altLang="en-US" sz="2400" dirty="0"/>
              <a:t>b</a:t>
            </a:r>
            <a:r>
              <a:rPr lang="en-US" altLang="en-US" sz="2400" baseline="-25000" dirty="0"/>
              <a:t>2</a:t>
            </a:r>
            <a:r>
              <a:rPr lang="en-US" altLang="en-US" sz="2400" dirty="0"/>
              <a:t> = sorted in descending order</a:t>
            </a:r>
          </a:p>
          <a:p>
            <a:pPr>
              <a:lnSpc>
                <a:spcPct val="75000"/>
              </a:lnSpc>
              <a:spcBef>
                <a:spcPct val="50000"/>
              </a:spcBef>
            </a:pPr>
            <a:r>
              <a:rPr lang="en-US" altLang="en-US" sz="2400" dirty="0"/>
              <a:t>b</a:t>
            </a:r>
            <a:r>
              <a:rPr lang="en-US" altLang="en-US" sz="2400" baseline="-25000" dirty="0"/>
              <a:t>3</a:t>
            </a:r>
            <a:r>
              <a:rPr lang="en-US" altLang="en-US" sz="2400" dirty="0"/>
              <a:t> = arbitrary order</a:t>
            </a:r>
          </a:p>
        </p:txBody>
      </p:sp>
      <p:sp>
        <p:nvSpPr>
          <p:cNvPr id="252933" name="Text Box 5"/>
          <p:cNvSpPr txBox="1">
            <a:spLocks noChangeArrowheads="1"/>
          </p:cNvSpPr>
          <p:nvPr/>
        </p:nvSpPr>
        <p:spPr bwMode="auto">
          <a:xfrm>
            <a:off x="1703586" y="4146828"/>
            <a:ext cx="3889375" cy="369332"/>
          </a:xfrm>
          <a:prstGeom prst="rect">
            <a:avLst/>
          </a:prstGeom>
          <a:solidFill>
            <a:srgbClr val="0000FF"/>
          </a:solidFill>
          <a:ln w="19050">
            <a:solidFill>
              <a:schemeClr val="tx2"/>
            </a:solidFill>
            <a:miter lim="800000"/>
            <a:headEnd type="none" w="sm" len="sm"/>
            <a:tailEnd type="none" w="sm" len="sm"/>
          </a:ln>
        </p:spPr>
        <p:txBody>
          <a:bodyPr anchor="ct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75000"/>
              </a:lnSpc>
              <a:spcBef>
                <a:spcPct val="50000"/>
              </a:spcBef>
            </a:pPr>
            <a:r>
              <a:rPr lang="en-US" altLang="en-US" sz="2400"/>
              <a:t>but … something’s fishy …</a:t>
            </a:r>
          </a:p>
        </p:txBody>
      </p:sp>
      <p:sp>
        <p:nvSpPr>
          <p:cNvPr id="252934" name="Text Box 6"/>
          <p:cNvSpPr txBox="1">
            <a:spLocks noChangeArrowheads="1"/>
          </p:cNvSpPr>
          <p:nvPr/>
        </p:nvSpPr>
        <p:spPr bwMode="auto">
          <a:xfrm>
            <a:off x="1703586" y="4832628"/>
            <a:ext cx="4060825" cy="369332"/>
          </a:xfrm>
          <a:prstGeom prst="rect">
            <a:avLst/>
          </a:prstGeom>
          <a:solidFill>
            <a:srgbClr val="0000FF"/>
          </a:solidFill>
          <a:ln w="19050">
            <a:solidFill>
              <a:schemeClr val="tx2"/>
            </a:solidFill>
            <a:miter lim="800000"/>
            <a:headEnd type="none" w="sm" len="sm"/>
            <a:tailEnd type="none" w="sm" len="sm"/>
          </a:ln>
        </p:spPr>
        <p:txBody>
          <a:bodyPr anchor="ct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75000"/>
              </a:lnSpc>
              <a:spcBef>
                <a:spcPct val="50000"/>
              </a:spcBef>
            </a:pPr>
            <a:r>
              <a:rPr lang="en-US" altLang="en-US" sz="2400" dirty="0"/>
              <a:t>What if the file is of length 1?</a:t>
            </a:r>
          </a:p>
        </p:txBody>
      </p:sp>
      <p:sp>
        <p:nvSpPr>
          <p:cNvPr id="252935" name="Text Box 7"/>
          <p:cNvSpPr txBox="1">
            <a:spLocks noChangeArrowheads="1"/>
          </p:cNvSpPr>
          <p:nvPr/>
        </p:nvSpPr>
        <p:spPr bwMode="auto">
          <a:xfrm>
            <a:off x="1703586" y="5510213"/>
            <a:ext cx="4930775" cy="842962"/>
          </a:xfrm>
          <a:prstGeom prst="rect">
            <a:avLst/>
          </a:prstGeom>
          <a:solidFill>
            <a:srgbClr val="0000FF"/>
          </a:solidFill>
          <a:ln w="19050">
            <a:solidFill>
              <a:schemeClr val="tx2"/>
            </a:solidFill>
            <a:miter lim="800000"/>
            <a:headEnd type="none" w="sm" len="sm"/>
            <a:tailEnd type="none" w="sm" len="sm"/>
          </a:ln>
        </p:spPr>
        <p:txBody>
          <a:bodyPr anchor="ct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75000"/>
              </a:lnSpc>
              <a:spcBef>
                <a:spcPct val="50000"/>
              </a:spcBef>
            </a:pPr>
            <a:r>
              <a:rPr lang="en-US" altLang="en-US" sz="2400" dirty="0"/>
              <a:t>The file will be in all three blocks …</a:t>
            </a:r>
          </a:p>
          <a:p>
            <a:pPr>
              <a:lnSpc>
                <a:spcPct val="75000"/>
              </a:lnSpc>
              <a:spcBef>
                <a:spcPct val="50000"/>
              </a:spcBef>
            </a:pPr>
            <a:r>
              <a:rPr lang="en-US" altLang="en-US" sz="2400" dirty="0"/>
              <a:t>That is, </a:t>
            </a:r>
            <a:r>
              <a:rPr lang="en-US" altLang="en-US" sz="2400" dirty="0" err="1"/>
              <a:t>disjointness</a:t>
            </a:r>
            <a:r>
              <a:rPr lang="en-US" altLang="en-US" sz="2400" dirty="0"/>
              <a:t> is not satisfied</a:t>
            </a:r>
          </a:p>
        </p:txBody>
      </p:sp>
      <p:sp>
        <p:nvSpPr>
          <p:cNvPr id="252936" name="Text Box 8"/>
          <p:cNvSpPr txBox="1">
            <a:spLocks noChangeArrowheads="1"/>
          </p:cNvSpPr>
          <p:nvPr/>
        </p:nvSpPr>
        <p:spPr bwMode="auto">
          <a:xfrm>
            <a:off x="6851650" y="2597150"/>
            <a:ext cx="3716338" cy="1117600"/>
          </a:xfrm>
          <a:prstGeom prst="rect">
            <a:avLst/>
          </a:prstGeom>
          <a:solidFill>
            <a:srgbClr val="003399"/>
          </a:solidFill>
          <a:ln w="19050">
            <a:solidFill>
              <a:schemeClr val="tx2"/>
            </a:solidFill>
            <a:miter lim="800000"/>
            <a:headEnd type="none" w="sm" len="sm"/>
            <a:tailEnd type="none" w="sm" len="sm"/>
          </a:ln>
          <a:effectLst/>
        </p:spPr>
        <p:txBody>
          <a:bodyPr>
            <a:spAutoFit/>
          </a:bodyPr>
          <a:lstStyle/>
          <a:p>
            <a:pPr algn="ctr">
              <a:lnSpc>
                <a:spcPct val="75000"/>
              </a:lnSpc>
              <a:spcBef>
                <a:spcPct val="50000"/>
              </a:spcBef>
              <a:defRPr/>
            </a:pPr>
            <a:r>
              <a:rPr lang="en-US" sz="2400" dirty="0">
                <a:effectLst>
                  <a:outerShdw blurRad="38100" dist="38100" dir="2700000" algn="tl">
                    <a:srgbClr val="000000"/>
                  </a:outerShdw>
                </a:effectLst>
              </a:rPr>
              <a:t>Solution:</a:t>
            </a:r>
          </a:p>
          <a:p>
            <a:pPr>
              <a:lnSpc>
                <a:spcPct val="75000"/>
              </a:lnSpc>
              <a:spcBef>
                <a:spcPct val="50000"/>
              </a:spcBef>
              <a:defRPr/>
            </a:pPr>
            <a:r>
              <a:rPr lang="en-US" sz="2400" dirty="0">
                <a:effectLst>
                  <a:outerShdw blurRad="38100" dist="38100" dir="2700000" algn="tl">
                    <a:srgbClr val="000000"/>
                  </a:outerShdw>
                </a:effectLst>
              </a:rPr>
              <a:t>Each characteristic should address just one property</a:t>
            </a:r>
          </a:p>
        </p:txBody>
      </p:sp>
      <p:sp>
        <p:nvSpPr>
          <p:cNvPr id="252937" name="Text Box 9"/>
          <p:cNvSpPr txBox="1">
            <a:spLocks noChangeArrowheads="1"/>
          </p:cNvSpPr>
          <p:nvPr/>
        </p:nvSpPr>
        <p:spPr bwMode="auto">
          <a:xfrm>
            <a:off x="6670937" y="4087814"/>
            <a:ext cx="3933629" cy="1988237"/>
          </a:xfrm>
          <a:prstGeom prst="rect">
            <a:avLst/>
          </a:prstGeom>
          <a:solidFill>
            <a:srgbClr val="003399"/>
          </a:solidFill>
          <a:ln w="19050">
            <a:solidFill>
              <a:schemeClr val="tx2"/>
            </a:solidFill>
            <a:miter lim="800000"/>
            <a:headEnd type="none" w="sm" len="sm"/>
            <a:tailEnd type="none" w="sm" len="sm"/>
          </a:ln>
          <a:effectLst/>
        </p:spPr>
        <p:txBody>
          <a:bodyPr wrap="square">
            <a:spAutoFit/>
          </a:bodyPr>
          <a:lstStyle/>
          <a:p>
            <a:pPr>
              <a:lnSpc>
                <a:spcPct val="70000"/>
              </a:lnSpc>
              <a:spcBef>
                <a:spcPct val="25000"/>
              </a:spcBef>
              <a:defRPr/>
            </a:pPr>
            <a:r>
              <a:rPr lang="en-US" sz="2400" dirty="0">
                <a:effectLst>
                  <a:outerShdw blurRad="38100" dist="38100" dir="2700000" algn="tl">
                    <a:srgbClr val="000000"/>
                  </a:outerShdw>
                </a:effectLst>
              </a:rPr>
              <a:t>C1: File F sorted ascending</a:t>
            </a:r>
          </a:p>
          <a:p>
            <a:pPr>
              <a:lnSpc>
                <a:spcPct val="70000"/>
              </a:lnSpc>
              <a:spcBef>
                <a:spcPct val="25000"/>
              </a:spcBef>
              <a:defRPr/>
            </a:pPr>
            <a:r>
              <a:rPr lang="en-US" sz="2400" dirty="0">
                <a:effectLst>
                  <a:outerShdw blurRad="38100" dist="38100" dir="2700000" algn="tl">
                    <a:srgbClr val="000000"/>
                  </a:outerShdw>
                </a:effectLst>
              </a:rPr>
              <a:t>  </a:t>
            </a:r>
            <a:r>
              <a:rPr lang="en-US" dirty="0">
                <a:effectLst>
                  <a:outerShdw blurRad="38100" dist="38100" dir="2700000" algn="tl">
                    <a:srgbClr val="000000"/>
                  </a:outerShdw>
                </a:effectLst>
              </a:rPr>
              <a:t>- c1.b1 = true</a:t>
            </a:r>
          </a:p>
          <a:p>
            <a:pPr>
              <a:lnSpc>
                <a:spcPct val="70000"/>
              </a:lnSpc>
              <a:spcBef>
                <a:spcPct val="25000"/>
              </a:spcBef>
              <a:defRPr/>
            </a:pPr>
            <a:r>
              <a:rPr lang="en-US" dirty="0">
                <a:effectLst>
                  <a:outerShdw blurRad="38100" dist="38100" dir="2700000" algn="tl">
                    <a:srgbClr val="000000"/>
                  </a:outerShdw>
                </a:effectLst>
              </a:rPr>
              <a:t>   - c1.b2 = false</a:t>
            </a:r>
          </a:p>
          <a:p>
            <a:pPr>
              <a:lnSpc>
                <a:spcPct val="70000"/>
              </a:lnSpc>
              <a:spcBef>
                <a:spcPct val="25000"/>
              </a:spcBef>
              <a:defRPr/>
            </a:pPr>
            <a:r>
              <a:rPr lang="en-US" sz="2400" dirty="0">
                <a:effectLst>
                  <a:outerShdw blurRad="38100" dist="38100" dir="2700000" algn="tl">
                    <a:srgbClr val="000000"/>
                  </a:outerShdw>
                </a:effectLst>
              </a:rPr>
              <a:t>C2: File F sorted descending</a:t>
            </a:r>
          </a:p>
          <a:p>
            <a:pPr>
              <a:lnSpc>
                <a:spcPct val="70000"/>
              </a:lnSpc>
              <a:spcBef>
                <a:spcPct val="25000"/>
              </a:spcBef>
              <a:defRPr/>
            </a:pPr>
            <a:r>
              <a:rPr lang="en-US" sz="2400" dirty="0">
                <a:effectLst>
                  <a:outerShdw blurRad="38100" dist="38100" dir="2700000" algn="tl">
                    <a:srgbClr val="000000"/>
                  </a:outerShdw>
                </a:effectLst>
              </a:rPr>
              <a:t>  </a:t>
            </a:r>
            <a:r>
              <a:rPr lang="en-US" dirty="0">
                <a:effectLst>
                  <a:outerShdw blurRad="38100" dist="38100" dir="2700000" algn="tl">
                    <a:srgbClr val="000000"/>
                  </a:outerShdw>
                </a:effectLst>
              </a:rPr>
              <a:t>- c2.b1 = true</a:t>
            </a:r>
          </a:p>
          <a:p>
            <a:pPr>
              <a:lnSpc>
                <a:spcPct val="70000"/>
              </a:lnSpc>
              <a:spcBef>
                <a:spcPct val="25000"/>
              </a:spcBef>
              <a:defRPr/>
            </a:pPr>
            <a:r>
              <a:rPr lang="en-US" dirty="0">
                <a:effectLst>
                  <a:outerShdw blurRad="38100" dist="38100" dir="2700000" algn="tl">
                    <a:srgbClr val="000000"/>
                  </a:outerShdw>
                </a:effectLst>
              </a:rPr>
              <a:t>   - c2.b2 = false</a:t>
            </a:r>
          </a:p>
        </p:txBody>
      </p:sp>
      <p:sp>
        <p:nvSpPr>
          <p:cNvPr id="13" name="TextBox 12"/>
          <p:cNvSpPr txBox="1"/>
          <p:nvPr/>
        </p:nvSpPr>
        <p:spPr>
          <a:xfrm>
            <a:off x="2774634" y="2711441"/>
            <a:ext cx="2643635" cy="1384995"/>
          </a:xfrm>
          <a:prstGeom prst="rect">
            <a:avLst/>
          </a:prstGeom>
          <a:solidFill>
            <a:schemeClr val="bg1">
              <a:lumMod val="40000"/>
              <a:lumOff val="60000"/>
            </a:schemeClr>
          </a:solidFill>
        </p:spPr>
        <p:txBody>
          <a:bodyPr wrap="square" rtlCol="0">
            <a:spAutoFit/>
          </a:bodyPr>
          <a:lstStyle/>
          <a:p>
            <a:r>
              <a:rPr lang="en-US" sz="2800" b="0" i="1" dirty="0">
                <a:solidFill>
                  <a:schemeClr val="tx1"/>
                </a:solidFill>
                <a:latin typeface="Gill Sans MT" panose="020B0502020104020203" pitchFamily="34" charset="0"/>
              </a:rPr>
              <a:t>Design blocks for that characteristic</a:t>
            </a:r>
          </a:p>
        </p:txBody>
      </p:sp>
      <p:sp>
        <p:nvSpPr>
          <p:cNvPr id="14" name="TextBox 13"/>
          <p:cNvSpPr txBox="1"/>
          <p:nvPr/>
        </p:nvSpPr>
        <p:spPr>
          <a:xfrm>
            <a:off x="2774633" y="5033160"/>
            <a:ext cx="2406968" cy="954107"/>
          </a:xfrm>
          <a:prstGeom prst="rect">
            <a:avLst/>
          </a:prstGeom>
          <a:solidFill>
            <a:schemeClr val="bg1">
              <a:lumMod val="40000"/>
              <a:lumOff val="60000"/>
            </a:schemeClr>
          </a:solidFill>
        </p:spPr>
        <p:txBody>
          <a:bodyPr wrap="square" rtlCol="0">
            <a:spAutoFit/>
          </a:bodyPr>
          <a:lstStyle/>
          <a:p>
            <a:r>
              <a:rPr lang="en-US" sz="2800" b="0" i="1" dirty="0">
                <a:solidFill>
                  <a:schemeClr val="tx1"/>
                </a:solidFill>
                <a:latin typeface="Gill Sans MT" panose="020B0502020104020203" pitchFamily="34" charset="0"/>
              </a:rPr>
              <a:t>Can you find the problem?</a:t>
            </a:r>
          </a:p>
        </p:txBody>
      </p:sp>
      <p:sp>
        <p:nvSpPr>
          <p:cNvPr id="15" name="TextBox 14"/>
          <p:cNvSpPr txBox="1"/>
          <p:nvPr/>
        </p:nvSpPr>
        <p:spPr>
          <a:xfrm>
            <a:off x="7315933" y="3379694"/>
            <a:ext cx="2643635" cy="954107"/>
          </a:xfrm>
          <a:prstGeom prst="rect">
            <a:avLst/>
          </a:prstGeom>
          <a:solidFill>
            <a:schemeClr val="bg1">
              <a:lumMod val="40000"/>
              <a:lumOff val="60000"/>
            </a:schemeClr>
          </a:solidFill>
        </p:spPr>
        <p:txBody>
          <a:bodyPr wrap="square" rtlCol="0">
            <a:spAutoFit/>
          </a:bodyPr>
          <a:lstStyle/>
          <a:p>
            <a:r>
              <a:rPr lang="en-US" sz="2800" b="0" i="1" dirty="0">
                <a:solidFill>
                  <a:schemeClr val="tx1"/>
                </a:solidFill>
                <a:latin typeface="Gill Sans MT" panose="020B0502020104020203" pitchFamily="34" charset="0"/>
              </a:rPr>
              <a:t>Can you think of a solution?</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1000"/>
                                        <p:tgtEl>
                                          <p:spTgt spid="13"/>
                                        </p:tgtEl>
                                      </p:cBhvr>
                                    </p:animEffect>
                                    <p:set>
                                      <p:cBhvr>
                                        <p:cTn id="12" dur="1" fill="hold">
                                          <p:stCondLst>
                                            <p:cond delay="999"/>
                                          </p:stCondLst>
                                        </p:cTn>
                                        <p:tgtEl>
                                          <p:spTgt spid="13"/>
                                        </p:tgtEl>
                                        <p:attrNameLst>
                                          <p:attrName>style.visibility</p:attrName>
                                        </p:attrNameLst>
                                      </p:cBhvr>
                                      <p:to>
                                        <p:strVal val="hidden"/>
                                      </p:to>
                                    </p:set>
                                  </p:childTnLst>
                                </p:cTn>
                              </p:par>
                            </p:childTnLst>
                          </p:cTn>
                        </p:par>
                        <p:par>
                          <p:cTn id="13" fill="hold">
                            <p:stCondLst>
                              <p:cond delay="1000"/>
                            </p:stCondLst>
                            <p:childTnLst>
                              <p:par>
                                <p:cTn id="14" presetID="9" presetClass="entr" presetSubtype="0" fill="hold" grpId="0" nodeType="afterEffect">
                                  <p:stCondLst>
                                    <p:cond delay="0"/>
                                  </p:stCondLst>
                                  <p:childTnLst>
                                    <p:set>
                                      <p:cBhvr>
                                        <p:cTn id="15" dur="1" fill="hold">
                                          <p:stCondLst>
                                            <p:cond delay="0"/>
                                          </p:stCondLst>
                                        </p:cTn>
                                        <p:tgtEl>
                                          <p:spTgt spid="252932"/>
                                        </p:tgtEl>
                                        <p:attrNameLst>
                                          <p:attrName>style.visibility</p:attrName>
                                        </p:attrNameLst>
                                      </p:cBhvr>
                                      <p:to>
                                        <p:strVal val="visible"/>
                                      </p:to>
                                    </p:set>
                                    <p:animEffect transition="in" filter="dissolve">
                                      <p:cBhvr>
                                        <p:cTn id="16" dur="500"/>
                                        <p:tgtEl>
                                          <p:spTgt spid="252932"/>
                                        </p:tgtEl>
                                      </p:cBhvr>
                                    </p:animEffect>
                                  </p:childTnLst>
                                </p:cTn>
                              </p:par>
                            </p:childTnLst>
                          </p:cTn>
                        </p:par>
                        <p:par>
                          <p:cTn id="17" fill="hold" nodeType="withGroup">
                            <p:stCondLst>
                              <p:cond delay="1500"/>
                            </p:stCondLst>
                            <p:childTnLst>
                              <p:par>
                                <p:cTn id="18" presetID="9" presetClass="entr" presetSubtype="0" fill="hold" grpId="0" nodeType="afterEffect">
                                  <p:stCondLst>
                                    <p:cond delay="0"/>
                                  </p:stCondLst>
                                  <p:childTnLst>
                                    <p:set>
                                      <p:cBhvr>
                                        <p:cTn id="19" dur="1" fill="hold">
                                          <p:stCondLst>
                                            <p:cond delay="0"/>
                                          </p:stCondLst>
                                        </p:cTn>
                                        <p:tgtEl>
                                          <p:spTgt spid="252933"/>
                                        </p:tgtEl>
                                        <p:attrNameLst>
                                          <p:attrName>style.visibility</p:attrName>
                                        </p:attrNameLst>
                                      </p:cBhvr>
                                      <p:to>
                                        <p:strVal val="visible"/>
                                      </p:to>
                                    </p:set>
                                    <p:animEffect transition="in" filter="dissolve">
                                      <p:cBhvr>
                                        <p:cTn id="20" dur="500"/>
                                        <p:tgtEl>
                                          <p:spTgt spid="252933"/>
                                        </p:tgtEl>
                                      </p:cBhvr>
                                    </p:animEffect>
                                  </p:childTnLst>
                                </p:cTn>
                              </p:par>
                            </p:childTnLst>
                          </p:cTn>
                        </p:par>
                        <p:par>
                          <p:cTn id="21" fill="hold" nodeType="withGroup">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20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1" nodeType="clickEffect">
                                  <p:stCondLst>
                                    <p:cond delay="0"/>
                                  </p:stCondLst>
                                  <p:childTnLst>
                                    <p:animEffect transition="out" filter="fade">
                                      <p:cBhvr>
                                        <p:cTn id="28" dur="1000"/>
                                        <p:tgtEl>
                                          <p:spTgt spid="14"/>
                                        </p:tgtEl>
                                      </p:cBhvr>
                                    </p:animEffect>
                                    <p:set>
                                      <p:cBhvr>
                                        <p:cTn id="29" dur="1" fill="hold">
                                          <p:stCondLst>
                                            <p:cond delay="999"/>
                                          </p:stCondLst>
                                        </p:cTn>
                                        <p:tgtEl>
                                          <p:spTgt spid="14"/>
                                        </p:tgtEl>
                                        <p:attrNameLst>
                                          <p:attrName>style.visibility</p:attrName>
                                        </p:attrNameLst>
                                      </p:cBhvr>
                                      <p:to>
                                        <p:strVal val="hidden"/>
                                      </p:to>
                                    </p:set>
                                  </p:childTnLst>
                                </p:cTn>
                              </p:par>
                            </p:childTnLst>
                          </p:cTn>
                        </p:par>
                        <p:par>
                          <p:cTn id="30" fill="hold">
                            <p:stCondLst>
                              <p:cond delay="1000"/>
                            </p:stCondLst>
                            <p:childTnLst>
                              <p:par>
                                <p:cTn id="31" presetID="9" presetClass="entr" presetSubtype="0" fill="hold" grpId="0" nodeType="afterEffect">
                                  <p:stCondLst>
                                    <p:cond delay="0"/>
                                  </p:stCondLst>
                                  <p:childTnLst>
                                    <p:set>
                                      <p:cBhvr>
                                        <p:cTn id="32" dur="1" fill="hold">
                                          <p:stCondLst>
                                            <p:cond delay="0"/>
                                          </p:stCondLst>
                                        </p:cTn>
                                        <p:tgtEl>
                                          <p:spTgt spid="252934"/>
                                        </p:tgtEl>
                                        <p:attrNameLst>
                                          <p:attrName>style.visibility</p:attrName>
                                        </p:attrNameLst>
                                      </p:cBhvr>
                                      <p:to>
                                        <p:strVal val="visible"/>
                                      </p:to>
                                    </p:set>
                                    <p:animEffect transition="in" filter="dissolve">
                                      <p:cBhvr>
                                        <p:cTn id="33" dur="500"/>
                                        <p:tgtEl>
                                          <p:spTgt spid="252934"/>
                                        </p:tgtEl>
                                      </p:cBhvr>
                                    </p:animEffect>
                                  </p:childTnLst>
                                </p:cTn>
                              </p:par>
                            </p:childTnLst>
                          </p:cTn>
                        </p:par>
                        <p:par>
                          <p:cTn id="34" fill="hold" nodeType="withGroup">
                            <p:stCondLst>
                              <p:cond delay="1500"/>
                            </p:stCondLst>
                            <p:childTnLst>
                              <p:par>
                                <p:cTn id="35" presetID="9" presetClass="entr" presetSubtype="0" fill="hold" grpId="0" nodeType="afterEffect">
                                  <p:stCondLst>
                                    <p:cond delay="0"/>
                                  </p:stCondLst>
                                  <p:childTnLst>
                                    <p:set>
                                      <p:cBhvr>
                                        <p:cTn id="36" dur="1" fill="hold">
                                          <p:stCondLst>
                                            <p:cond delay="0"/>
                                          </p:stCondLst>
                                        </p:cTn>
                                        <p:tgtEl>
                                          <p:spTgt spid="252935"/>
                                        </p:tgtEl>
                                        <p:attrNameLst>
                                          <p:attrName>style.visibility</p:attrName>
                                        </p:attrNameLst>
                                      </p:cBhvr>
                                      <p:to>
                                        <p:strVal val="visible"/>
                                      </p:to>
                                    </p:set>
                                    <p:animEffect transition="in" filter="dissolve">
                                      <p:cBhvr>
                                        <p:cTn id="37" dur="500"/>
                                        <p:tgtEl>
                                          <p:spTgt spid="252935"/>
                                        </p:tgtEl>
                                      </p:cBhvr>
                                    </p:animEffect>
                                  </p:childTnLst>
                                </p:cTn>
                              </p:par>
                            </p:childTnLst>
                          </p:cTn>
                        </p:par>
                        <p:par>
                          <p:cTn id="38" fill="hold" nodeType="withGroup">
                            <p:stCondLst>
                              <p:cond delay="2000"/>
                            </p:stCondLst>
                            <p:childTnLst>
                              <p:par>
                                <p:cTn id="39" presetID="10" presetClass="entr" presetSubtype="0" fill="hold" grpId="0" nodeType="after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20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1" nodeType="clickEffect">
                                  <p:stCondLst>
                                    <p:cond delay="0"/>
                                  </p:stCondLst>
                                  <p:childTnLst>
                                    <p:animEffect transition="out" filter="fade">
                                      <p:cBhvr>
                                        <p:cTn id="45" dur="1000"/>
                                        <p:tgtEl>
                                          <p:spTgt spid="15"/>
                                        </p:tgtEl>
                                      </p:cBhvr>
                                    </p:animEffect>
                                    <p:set>
                                      <p:cBhvr>
                                        <p:cTn id="46" dur="1" fill="hold">
                                          <p:stCondLst>
                                            <p:cond delay="999"/>
                                          </p:stCondLst>
                                        </p:cTn>
                                        <p:tgtEl>
                                          <p:spTgt spid="15"/>
                                        </p:tgtEl>
                                        <p:attrNameLst>
                                          <p:attrName>style.visibility</p:attrName>
                                        </p:attrNameLst>
                                      </p:cBhvr>
                                      <p:to>
                                        <p:strVal val="hidden"/>
                                      </p:to>
                                    </p:set>
                                  </p:childTnLst>
                                </p:cTn>
                              </p:par>
                            </p:childTnLst>
                          </p:cTn>
                        </p:par>
                        <p:par>
                          <p:cTn id="47" fill="hold">
                            <p:stCondLst>
                              <p:cond delay="1000"/>
                            </p:stCondLst>
                            <p:childTnLst>
                              <p:par>
                                <p:cTn id="48" presetID="9" presetClass="entr" presetSubtype="0" fill="hold" grpId="0" nodeType="afterEffect">
                                  <p:stCondLst>
                                    <p:cond delay="0"/>
                                  </p:stCondLst>
                                  <p:childTnLst>
                                    <p:set>
                                      <p:cBhvr>
                                        <p:cTn id="49" dur="1" fill="hold">
                                          <p:stCondLst>
                                            <p:cond delay="0"/>
                                          </p:stCondLst>
                                        </p:cTn>
                                        <p:tgtEl>
                                          <p:spTgt spid="252936"/>
                                        </p:tgtEl>
                                        <p:attrNameLst>
                                          <p:attrName>style.visibility</p:attrName>
                                        </p:attrNameLst>
                                      </p:cBhvr>
                                      <p:to>
                                        <p:strVal val="visible"/>
                                      </p:to>
                                    </p:set>
                                    <p:animEffect transition="in" filter="dissolve">
                                      <p:cBhvr>
                                        <p:cTn id="50" dur="500"/>
                                        <p:tgtEl>
                                          <p:spTgt spid="252936"/>
                                        </p:tgtEl>
                                      </p:cBhvr>
                                    </p:animEffect>
                                  </p:childTnLst>
                                </p:cTn>
                              </p:par>
                            </p:childTnLst>
                          </p:cTn>
                        </p:par>
                        <p:par>
                          <p:cTn id="51" fill="hold" nodeType="withGroup">
                            <p:stCondLst>
                              <p:cond delay="1500"/>
                            </p:stCondLst>
                            <p:childTnLst>
                              <p:par>
                                <p:cTn id="52" presetID="9" presetClass="entr" presetSubtype="0" fill="hold" grpId="0" nodeType="afterEffect">
                                  <p:stCondLst>
                                    <p:cond delay="0"/>
                                  </p:stCondLst>
                                  <p:childTnLst>
                                    <p:set>
                                      <p:cBhvr>
                                        <p:cTn id="53" dur="1" fill="hold">
                                          <p:stCondLst>
                                            <p:cond delay="0"/>
                                          </p:stCondLst>
                                        </p:cTn>
                                        <p:tgtEl>
                                          <p:spTgt spid="252937"/>
                                        </p:tgtEl>
                                        <p:attrNameLst>
                                          <p:attrName>style.visibility</p:attrName>
                                        </p:attrNameLst>
                                      </p:cBhvr>
                                      <p:to>
                                        <p:strVal val="visible"/>
                                      </p:to>
                                    </p:set>
                                    <p:animEffect transition="in" filter="dissolve">
                                      <p:cBhvr>
                                        <p:cTn id="54" dur="500"/>
                                        <p:tgtEl>
                                          <p:spTgt spid="2529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2" grpId="0" animBg="1"/>
      <p:bldP spid="252933" grpId="0" animBg="1"/>
      <p:bldP spid="252934" grpId="0" animBg="1"/>
      <p:bldP spid="252935" grpId="0" animBg="1"/>
      <p:bldP spid="252936" grpId="0" animBg="1"/>
      <p:bldP spid="252937" grpId="0" animBg="1"/>
      <p:bldP spid="13" grpId="0" animBg="1"/>
      <p:bldP spid="13" grpId="1" animBg="1"/>
      <p:bldP spid="14" grpId="0" animBg="1"/>
      <p:bldP spid="14" grpId="1" animBg="1"/>
      <p:bldP spid="15" grpId="0" animBg="1"/>
      <p:bldP spid="15"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29CF8E81-114D-4FA9-B273-DC58AF84DF11}" type="slidenum">
              <a:rPr lang="en-US" altLang="en-US" sz="900" b="0">
                <a:solidFill>
                  <a:schemeClr val="tx1"/>
                </a:solidFill>
                <a:latin typeface="Arial" charset="0"/>
                <a:cs typeface="Arial" charset="0"/>
              </a:rPr>
              <a:pPr/>
              <a:t>10</a:t>
            </a:fld>
            <a:endParaRPr lang="en-US" altLang="en-US" sz="900" b="0">
              <a:solidFill>
                <a:schemeClr val="tx1"/>
              </a:solidFill>
              <a:latin typeface="Arial" charset="0"/>
              <a:cs typeface="Arial" charset="0"/>
            </a:endParaRPr>
          </a:p>
        </p:txBody>
      </p:sp>
      <p:sp>
        <p:nvSpPr>
          <p:cNvPr id="9220" name="Rectangle 2"/>
          <p:cNvSpPr>
            <a:spLocks noGrp="1" noChangeArrowheads="1"/>
          </p:cNvSpPr>
          <p:nvPr>
            <p:ph type="title"/>
          </p:nvPr>
        </p:nvSpPr>
        <p:spPr/>
        <p:txBody>
          <a:bodyPr/>
          <a:lstStyle/>
          <a:p>
            <a:r>
              <a:rPr lang="en-US" altLang="en-US"/>
              <a:t>Properties of Partitions</a:t>
            </a:r>
          </a:p>
        </p:txBody>
      </p:sp>
      <p:sp>
        <p:nvSpPr>
          <p:cNvPr id="9221" name="Rectangle 3"/>
          <p:cNvSpPr>
            <a:spLocks noGrp="1" noChangeArrowheads="1"/>
          </p:cNvSpPr>
          <p:nvPr>
            <p:ph type="body" idx="1"/>
          </p:nvPr>
        </p:nvSpPr>
        <p:spPr/>
        <p:txBody>
          <a:bodyPr/>
          <a:lstStyle/>
          <a:p>
            <a:pPr>
              <a:spcBef>
                <a:spcPts val="1800"/>
              </a:spcBef>
            </a:pPr>
            <a:r>
              <a:rPr lang="en-US" altLang="en-US" dirty="0"/>
              <a:t>If the partitions are not </a:t>
            </a:r>
            <a:r>
              <a:rPr lang="en-US" altLang="en-US" dirty="0">
                <a:solidFill>
                  <a:schemeClr val="tx2"/>
                </a:solidFill>
              </a:rPr>
              <a:t>complete</a:t>
            </a:r>
            <a:r>
              <a:rPr lang="en-US" altLang="en-US" dirty="0"/>
              <a:t> or </a:t>
            </a:r>
            <a:r>
              <a:rPr lang="en-US" altLang="en-US" dirty="0">
                <a:solidFill>
                  <a:schemeClr val="tx2"/>
                </a:solidFill>
              </a:rPr>
              <a:t>disjoint</a:t>
            </a:r>
            <a:r>
              <a:rPr lang="en-US" altLang="en-US" dirty="0"/>
              <a:t>, that means the partitions have not been considered carefully enough</a:t>
            </a:r>
          </a:p>
          <a:p>
            <a:pPr>
              <a:spcBef>
                <a:spcPts val="1800"/>
              </a:spcBef>
            </a:pPr>
            <a:r>
              <a:rPr lang="en-US" altLang="en-US" dirty="0"/>
              <a:t>They should be reviewed carefully, like any </a:t>
            </a:r>
            <a:r>
              <a:rPr lang="en-US" altLang="en-US" dirty="0">
                <a:solidFill>
                  <a:schemeClr val="tx2"/>
                </a:solidFill>
              </a:rPr>
              <a:t>design</a:t>
            </a:r>
            <a:endParaRPr lang="en-US" altLang="en-US" dirty="0"/>
          </a:p>
          <a:p>
            <a:pPr>
              <a:spcBef>
                <a:spcPts val="1800"/>
              </a:spcBef>
            </a:pPr>
            <a:r>
              <a:rPr lang="en-US" altLang="en-US" dirty="0"/>
              <a:t>Different </a:t>
            </a:r>
            <a:r>
              <a:rPr lang="en-US" altLang="en-US" dirty="0">
                <a:solidFill>
                  <a:schemeClr val="tx2"/>
                </a:solidFill>
              </a:rPr>
              <a:t>alternatives</a:t>
            </a:r>
            <a:r>
              <a:rPr lang="en-US" altLang="en-US" dirty="0"/>
              <a:t> should be considered</a:t>
            </a:r>
          </a:p>
        </p:txBody>
      </p:sp>
    </p:spTree>
    <p:extLst>
      <p:ext uri="{BB962C8B-B14F-4D97-AF65-F5344CB8AC3E}">
        <p14:creationId xmlns:p14="http://schemas.microsoft.com/office/powerpoint/2010/main" val="172576142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29CF8E81-114D-4FA9-B273-DC58AF84DF11}" type="slidenum">
              <a:rPr lang="en-US" altLang="en-US" sz="900" b="0">
                <a:solidFill>
                  <a:schemeClr val="tx1"/>
                </a:solidFill>
                <a:latin typeface="Arial" charset="0"/>
                <a:cs typeface="Arial" charset="0"/>
              </a:rPr>
              <a:pPr/>
              <a:t>11</a:t>
            </a:fld>
            <a:endParaRPr lang="en-US" altLang="en-US" sz="900" b="0">
              <a:solidFill>
                <a:schemeClr val="tx1"/>
              </a:solidFill>
              <a:latin typeface="Arial" charset="0"/>
              <a:cs typeface="Arial" charset="0"/>
            </a:endParaRPr>
          </a:p>
        </p:txBody>
      </p:sp>
      <p:sp>
        <p:nvSpPr>
          <p:cNvPr id="9220" name="Rectangle 2"/>
          <p:cNvSpPr>
            <a:spLocks noGrp="1" noChangeArrowheads="1"/>
          </p:cNvSpPr>
          <p:nvPr>
            <p:ph type="title"/>
          </p:nvPr>
        </p:nvSpPr>
        <p:spPr/>
        <p:txBody>
          <a:bodyPr/>
          <a:lstStyle/>
          <a:p>
            <a:r>
              <a:rPr lang="en-US" altLang="en-US" dirty="0"/>
              <a:t>Modeling the Input Domain</a:t>
            </a:r>
          </a:p>
        </p:txBody>
      </p:sp>
      <p:sp>
        <p:nvSpPr>
          <p:cNvPr id="9221" name="Rectangle 3"/>
          <p:cNvSpPr>
            <a:spLocks noGrp="1" noChangeArrowheads="1"/>
          </p:cNvSpPr>
          <p:nvPr>
            <p:ph type="body" idx="1"/>
          </p:nvPr>
        </p:nvSpPr>
        <p:spPr/>
        <p:txBody>
          <a:bodyPr/>
          <a:lstStyle/>
          <a:p>
            <a:pPr>
              <a:spcBef>
                <a:spcPts val="1800"/>
              </a:spcBef>
            </a:pPr>
            <a:r>
              <a:rPr lang="en-US" altLang="en-US" dirty="0"/>
              <a:t>We model the input domain in </a:t>
            </a:r>
            <a:r>
              <a:rPr lang="en-US" altLang="en-US" dirty="0">
                <a:solidFill>
                  <a:schemeClr val="tx2"/>
                </a:solidFill>
              </a:rPr>
              <a:t>five steps</a:t>
            </a:r>
            <a:r>
              <a:rPr lang="en-US" altLang="en-US" dirty="0"/>
              <a:t> …</a:t>
            </a:r>
          </a:p>
          <a:p>
            <a:pPr lvl="1"/>
            <a:r>
              <a:rPr lang="en-US" altLang="en-US" dirty="0">
                <a:solidFill>
                  <a:schemeClr val="tx2"/>
                </a:solidFill>
              </a:rPr>
              <a:t>Step 1</a:t>
            </a:r>
            <a:r>
              <a:rPr lang="en-US" altLang="en-US" dirty="0"/>
              <a:t> : Identify testable </a:t>
            </a:r>
            <a:r>
              <a:rPr lang="en-US" altLang="en-US" dirty="0">
                <a:solidFill>
                  <a:schemeClr val="tx2"/>
                </a:solidFill>
              </a:rPr>
              <a:t>functions</a:t>
            </a:r>
          </a:p>
          <a:p>
            <a:pPr lvl="1"/>
            <a:r>
              <a:rPr lang="en-US" altLang="zh-CN" dirty="0">
                <a:solidFill>
                  <a:schemeClr val="tx2"/>
                </a:solidFill>
              </a:rPr>
              <a:t>Step 2</a:t>
            </a:r>
            <a:r>
              <a:rPr lang="en-US" altLang="zh-CN" dirty="0"/>
              <a:t> : Find all the </a:t>
            </a:r>
            <a:r>
              <a:rPr lang="en-US" altLang="zh-CN" dirty="0">
                <a:solidFill>
                  <a:schemeClr val="tx2"/>
                </a:solidFill>
              </a:rPr>
              <a:t>parameters</a:t>
            </a:r>
          </a:p>
          <a:p>
            <a:pPr lvl="1"/>
            <a:r>
              <a:rPr lang="en-US" altLang="en-US" dirty="0">
                <a:solidFill>
                  <a:schemeClr val="tx2"/>
                </a:solidFill>
              </a:rPr>
              <a:t>Step 3</a:t>
            </a:r>
            <a:r>
              <a:rPr lang="en-US" altLang="en-US" dirty="0"/>
              <a:t> : Model the </a:t>
            </a:r>
            <a:r>
              <a:rPr lang="en-US" altLang="en-US" dirty="0">
                <a:solidFill>
                  <a:schemeClr val="tx2"/>
                </a:solidFill>
              </a:rPr>
              <a:t>input domain</a:t>
            </a:r>
          </a:p>
          <a:p>
            <a:pPr lvl="1"/>
            <a:r>
              <a:rPr lang="en-US" altLang="zh-CN" dirty="0">
                <a:solidFill>
                  <a:schemeClr val="tx2"/>
                </a:solidFill>
              </a:rPr>
              <a:t>Step 4</a:t>
            </a:r>
            <a:r>
              <a:rPr lang="en-US" altLang="zh-CN" dirty="0"/>
              <a:t> : Apply a test </a:t>
            </a:r>
            <a:r>
              <a:rPr lang="en-US" altLang="zh-CN" dirty="0">
                <a:solidFill>
                  <a:schemeClr val="tx2"/>
                </a:solidFill>
              </a:rPr>
              <a:t>criterion</a:t>
            </a:r>
            <a:r>
              <a:rPr lang="en-US" altLang="zh-CN" dirty="0"/>
              <a:t> to choose </a:t>
            </a:r>
            <a:r>
              <a:rPr lang="en-US" altLang="zh-CN" dirty="0">
                <a:solidFill>
                  <a:schemeClr val="tx2"/>
                </a:solidFill>
              </a:rPr>
              <a:t>combinations</a:t>
            </a:r>
            <a:r>
              <a:rPr lang="en-US" altLang="zh-CN" dirty="0"/>
              <a:t> of values</a:t>
            </a:r>
          </a:p>
          <a:p>
            <a:pPr lvl="1"/>
            <a:r>
              <a:rPr lang="en-US" altLang="zh-CN" dirty="0">
                <a:solidFill>
                  <a:schemeClr val="tx2"/>
                </a:solidFill>
              </a:rPr>
              <a:t>Step 5</a:t>
            </a:r>
            <a:r>
              <a:rPr lang="en-US" altLang="zh-CN" dirty="0"/>
              <a:t> : Refine combinations of blocks into </a:t>
            </a:r>
            <a:r>
              <a:rPr lang="en-US" altLang="zh-CN" dirty="0">
                <a:solidFill>
                  <a:schemeClr val="tx2"/>
                </a:solidFill>
              </a:rPr>
              <a:t>test inputs</a:t>
            </a:r>
          </a:p>
        </p:txBody>
      </p:sp>
      <p:sp>
        <p:nvSpPr>
          <p:cNvPr id="2" name="矩形 1"/>
          <p:cNvSpPr/>
          <p:nvPr/>
        </p:nvSpPr>
        <p:spPr>
          <a:xfrm>
            <a:off x="2237249" y="4266690"/>
            <a:ext cx="2483309" cy="830997"/>
          </a:xfrm>
          <a:prstGeom prst="rect">
            <a:avLst/>
          </a:prstGeom>
          <a:solidFill>
            <a:schemeClr val="bg1">
              <a:lumMod val="60000"/>
              <a:lumOff val="40000"/>
            </a:schemeClr>
          </a:solidFill>
          <a:ln w="19050">
            <a:solidFill>
              <a:schemeClr val="tx2"/>
            </a:solidFill>
          </a:ln>
        </p:spPr>
        <p:txBody>
          <a:bodyPr wrap="square">
            <a:spAutoFit/>
          </a:bodyPr>
          <a:lstStyle/>
          <a:p>
            <a:pPr algn="ctr"/>
            <a:r>
              <a:rPr lang="zh-CN" altLang="en-US" sz="2400" b="0" i="1" dirty="0">
                <a:solidFill>
                  <a:schemeClr val="tx1"/>
                </a:solidFill>
                <a:latin typeface="Gill Sans MT" panose="020B0502020104020203" pitchFamily="34" charset="0"/>
              </a:rPr>
              <a:t>implementation abstraction level </a:t>
            </a:r>
          </a:p>
        </p:txBody>
      </p:sp>
      <p:sp>
        <p:nvSpPr>
          <p:cNvPr id="3" name="矩形 2"/>
          <p:cNvSpPr/>
          <p:nvPr/>
        </p:nvSpPr>
        <p:spPr>
          <a:xfrm>
            <a:off x="6997847" y="4266690"/>
            <a:ext cx="2538981" cy="830997"/>
          </a:xfrm>
          <a:prstGeom prst="rect">
            <a:avLst/>
          </a:prstGeom>
          <a:solidFill>
            <a:schemeClr val="bg1">
              <a:lumMod val="60000"/>
              <a:lumOff val="40000"/>
            </a:schemeClr>
          </a:solidFill>
          <a:ln w="19050">
            <a:solidFill>
              <a:schemeClr val="tx2"/>
            </a:solidFill>
          </a:ln>
        </p:spPr>
        <p:txBody>
          <a:bodyPr wrap="square">
            <a:spAutoFit/>
          </a:bodyPr>
          <a:lstStyle/>
          <a:p>
            <a:pPr algn="ctr"/>
            <a:r>
              <a:rPr lang="zh-CN" altLang="en-US" sz="2400" b="0" i="1" dirty="0">
                <a:solidFill>
                  <a:schemeClr val="tx1"/>
                </a:solidFill>
                <a:latin typeface="Gill Sans MT" panose="020B0502020104020203" pitchFamily="34" charset="0"/>
              </a:rPr>
              <a:t>design abstraction level</a:t>
            </a:r>
          </a:p>
        </p:txBody>
      </p:sp>
      <p:cxnSp>
        <p:nvCxnSpPr>
          <p:cNvPr id="5" name="直接箭头连接符 4"/>
          <p:cNvCxnSpPr/>
          <p:nvPr/>
        </p:nvCxnSpPr>
        <p:spPr bwMode="auto">
          <a:xfrm>
            <a:off x="4720558" y="4624552"/>
            <a:ext cx="2277289" cy="0"/>
          </a:xfrm>
          <a:prstGeom prst="straightConnector1">
            <a:avLst/>
          </a:prstGeom>
          <a:ln>
            <a:headEnd type="none" w="sm" len="sm"/>
            <a:tailEnd type="triangle"/>
          </a:ln>
        </p:spPr>
        <p:style>
          <a:lnRef idx="3">
            <a:schemeClr val="accent4"/>
          </a:lnRef>
          <a:fillRef idx="0">
            <a:schemeClr val="accent4"/>
          </a:fillRef>
          <a:effectRef idx="2">
            <a:schemeClr val="accent4"/>
          </a:effectRef>
          <a:fontRef idx="minor">
            <a:schemeClr val="tx1"/>
          </a:fontRef>
        </p:style>
      </p:cxnSp>
      <p:cxnSp>
        <p:nvCxnSpPr>
          <p:cNvPr id="9" name="直接箭头连接符 8"/>
          <p:cNvCxnSpPr/>
          <p:nvPr/>
        </p:nvCxnSpPr>
        <p:spPr bwMode="auto">
          <a:xfrm flipH="1">
            <a:off x="4720558" y="4897821"/>
            <a:ext cx="2277289" cy="0"/>
          </a:xfrm>
          <a:prstGeom prst="straightConnector1">
            <a:avLst/>
          </a:prstGeom>
          <a:ln>
            <a:headEnd type="none" w="sm" len="sm"/>
            <a:tailEnd type="triangle"/>
          </a:ln>
        </p:spPr>
        <p:style>
          <a:lnRef idx="3">
            <a:schemeClr val="accent4"/>
          </a:lnRef>
          <a:fillRef idx="0">
            <a:schemeClr val="accent4"/>
          </a:fillRef>
          <a:effectRef idx="2">
            <a:schemeClr val="accent4"/>
          </a:effectRef>
          <a:fontRef idx="minor">
            <a:schemeClr val="tx1"/>
          </a:fontRef>
        </p:style>
      </p:cxnSp>
      <p:sp>
        <p:nvSpPr>
          <p:cNvPr id="10" name="文本框 9"/>
          <p:cNvSpPr txBox="1"/>
          <p:nvPr/>
        </p:nvSpPr>
        <p:spPr>
          <a:xfrm>
            <a:off x="5139243" y="4266689"/>
            <a:ext cx="1439917" cy="400110"/>
          </a:xfrm>
          <a:prstGeom prst="rect">
            <a:avLst/>
          </a:prstGeom>
          <a:noFill/>
        </p:spPr>
        <p:txBody>
          <a:bodyPr wrap="square" rtlCol="0">
            <a:spAutoFit/>
          </a:bodyPr>
          <a:lstStyle/>
          <a:p>
            <a:r>
              <a:rPr lang="en-US" altLang="zh-CN" dirty="0"/>
              <a:t>Step 1&amp;2</a:t>
            </a:r>
            <a:endParaRPr lang="zh-CN" altLang="en-US" dirty="0"/>
          </a:p>
        </p:txBody>
      </p:sp>
      <p:sp>
        <p:nvSpPr>
          <p:cNvPr id="14" name="文本框 13"/>
          <p:cNvSpPr txBox="1"/>
          <p:nvPr/>
        </p:nvSpPr>
        <p:spPr>
          <a:xfrm>
            <a:off x="8648456" y="4682187"/>
            <a:ext cx="1307059" cy="400110"/>
          </a:xfrm>
          <a:prstGeom prst="rect">
            <a:avLst/>
          </a:prstGeom>
          <a:noFill/>
        </p:spPr>
        <p:txBody>
          <a:bodyPr wrap="square" rtlCol="0">
            <a:spAutoFit/>
          </a:bodyPr>
          <a:lstStyle/>
          <a:p>
            <a:r>
              <a:rPr lang="en-US" altLang="zh-CN" dirty="0"/>
              <a:t>Step 3&amp;4</a:t>
            </a:r>
            <a:endParaRPr lang="zh-CN" altLang="en-US" dirty="0"/>
          </a:p>
        </p:txBody>
      </p:sp>
      <p:sp>
        <p:nvSpPr>
          <p:cNvPr id="15" name="文本框 14"/>
          <p:cNvSpPr txBox="1"/>
          <p:nvPr/>
        </p:nvSpPr>
        <p:spPr>
          <a:xfrm>
            <a:off x="5308480" y="4835904"/>
            <a:ext cx="973666" cy="400110"/>
          </a:xfrm>
          <a:prstGeom prst="rect">
            <a:avLst/>
          </a:prstGeom>
          <a:noFill/>
        </p:spPr>
        <p:txBody>
          <a:bodyPr wrap="square" rtlCol="0">
            <a:spAutoFit/>
          </a:bodyPr>
          <a:lstStyle/>
          <a:p>
            <a:r>
              <a:rPr lang="en-US" altLang="zh-CN" dirty="0"/>
              <a:t>Step 5</a:t>
            </a:r>
            <a:endParaRPr lang="zh-CN" altLang="en-US" dirty="0"/>
          </a:p>
        </p:txBody>
      </p:sp>
    </p:spTree>
    <p:extLst>
      <p:ext uri="{BB962C8B-B14F-4D97-AF65-F5344CB8AC3E}">
        <p14:creationId xmlns:p14="http://schemas.microsoft.com/office/powerpoint/2010/main" val="284358889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2388FECB-A166-478D-9791-5582E90E2CD1}" type="slidenum">
              <a:rPr lang="en-US" altLang="en-US" sz="900" b="0">
                <a:solidFill>
                  <a:schemeClr val="tx1"/>
                </a:solidFill>
                <a:latin typeface="Arial" charset="0"/>
                <a:cs typeface="Arial" charset="0"/>
              </a:rPr>
              <a:pPr/>
              <a:t>12</a:t>
            </a:fld>
            <a:endParaRPr lang="en-US" altLang="en-US" sz="900" b="0">
              <a:solidFill>
                <a:schemeClr val="tx1"/>
              </a:solidFill>
              <a:latin typeface="Arial" charset="0"/>
              <a:cs typeface="Arial" charset="0"/>
            </a:endParaRPr>
          </a:p>
        </p:txBody>
      </p:sp>
      <p:sp>
        <p:nvSpPr>
          <p:cNvPr id="10244" name="Title 1"/>
          <p:cNvSpPr>
            <a:spLocks noGrp="1"/>
          </p:cNvSpPr>
          <p:nvPr>
            <p:ph type="title"/>
          </p:nvPr>
        </p:nvSpPr>
        <p:spPr/>
        <p:txBody>
          <a:bodyPr/>
          <a:lstStyle/>
          <a:p>
            <a:r>
              <a:rPr lang="en-US" altLang="en-US" dirty="0"/>
              <a:t>Modeling the Input Domain</a:t>
            </a:r>
          </a:p>
        </p:txBody>
      </p:sp>
      <p:sp>
        <p:nvSpPr>
          <p:cNvPr id="22533" name="Content Placeholder 2"/>
          <p:cNvSpPr>
            <a:spLocks noGrp="1"/>
          </p:cNvSpPr>
          <p:nvPr>
            <p:ph idx="1"/>
          </p:nvPr>
        </p:nvSpPr>
        <p:spPr>
          <a:xfrm>
            <a:off x="1662114" y="863601"/>
            <a:ext cx="8867775" cy="2659063"/>
          </a:xfrm>
        </p:spPr>
        <p:txBody>
          <a:bodyPr/>
          <a:lstStyle/>
          <a:p>
            <a:r>
              <a:rPr lang="en-US" altLang="en-US" dirty="0">
                <a:solidFill>
                  <a:schemeClr val="tx2"/>
                </a:solidFill>
              </a:rPr>
              <a:t>Step 1</a:t>
            </a:r>
            <a:r>
              <a:rPr lang="en-US" altLang="en-US" dirty="0"/>
              <a:t> : Identify testable </a:t>
            </a:r>
            <a:r>
              <a:rPr lang="en-US" altLang="en-US" dirty="0">
                <a:solidFill>
                  <a:schemeClr val="tx2"/>
                </a:solidFill>
              </a:rPr>
              <a:t>functions</a:t>
            </a:r>
          </a:p>
          <a:p>
            <a:pPr lvl="1">
              <a:lnSpc>
                <a:spcPct val="80000"/>
              </a:lnSpc>
            </a:pPr>
            <a:r>
              <a:rPr lang="en-US" altLang="en-US" dirty="0"/>
              <a:t>Individual </a:t>
            </a:r>
            <a:r>
              <a:rPr lang="en-US" altLang="en-US" dirty="0">
                <a:solidFill>
                  <a:schemeClr val="tx2"/>
                </a:solidFill>
              </a:rPr>
              <a:t>methods</a:t>
            </a:r>
            <a:r>
              <a:rPr lang="en-US" altLang="en-US" dirty="0"/>
              <a:t> have one testable function</a:t>
            </a:r>
          </a:p>
          <a:p>
            <a:pPr lvl="1">
              <a:lnSpc>
                <a:spcPct val="80000"/>
              </a:lnSpc>
            </a:pPr>
            <a:r>
              <a:rPr lang="en-US" altLang="en-US" dirty="0"/>
              <a:t>Methods in a </a:t>
            </a:r>
            <a:r>
              <a:rPr lang="en-US" altLang="en-US" dirty="0">
                <a:solidFill>
                  <a:schemeClr val="tx2"/>
                </a:solidFill>
              </a:rPr>
              <a:t>class</a:t>
            </a:r>
            <a:r>
              <a:rPr lang="en-US" altLang="en-US" dirty="0"/>
              <a:t> often have the same characteristics</a:t>
            </a:r>
          </a:p>
          <a:p>
            <a:pPr lvl="1">
              <a:lnSpc>
                <a:spcPct val="80000"/>
              </a:lnSpc>
            </a:pPr>
            <a:r>
              <a:rPr lang="en-US" altLang="en-US" dirty="0">
                <a:solidFill>
                  <a:schemeClr val="tx2"/>
                </a:solidFill>
              </a:rPr>
              <a:t>Programs</a:t>
            </a:r>
            <a:r>
              <a:rPr lang="en-US" altLang="en-US" dirty="0"/>
              <a:t> have more complicated characteristics—modeling documents such as UML can be used to design characteristics</a:t>
            </a:r>
          </a:p>
          <a:p>
            <a:pPr lvl="1">
              <a:lnSpc>
                <a:spcPct val="80000"/>
              </a:lnSpc>
            </a:pPr>
            <a:r>
              <a:rPr lang="en-US" altLang="en-US" dirty="0">
                <a:solidFill>
                  <a:schemeClr val="tx2"/>
                </a:solidFill>
              </a:rPr>
              <a:t>Systems</a:t>
            </a:r>
            <a:r>
              <a:rPr lang="en-US" altLang="en-US" dirty="0"/>
              <a:t> of integrated hardware and software components can use devices, operating systems, hardware platforms, browsers, etc.</a:t>
            </a:r>
          </a:p>
        </p:txBody>
      </p:sp>
      <p:sp>
        <p:nvSpPr>
          <p:cNvPr id="7" name="Content Placeholder 2"/>
          <p:cNvSpPr txBox="1">
            <a:spLocks/>
          </p:cNvSpPr>
          <p:nvPr/>
        </p:nvSpPr>
        <p:spPr bwMode="auto">
          <a:xfrm>
            <a:off x="1662114" y="3901440"/>
            <a:ext cx="8867775" cy="2564448"/>
          </a:xfrm>
          <a:prstGeom prst="rect">
            <a:avLst/>
          </a:prstGeom>
          <a:noFill/>
          <a:ln w="9525">
            <a:noFill/>
            <a:miter lim="800000"/>
            <a:headEnd/>
            <a:tailEnd/>
          </a:ln>
        </p:spPr>
        <p:txBody>
          <a:bodyPr lIns="92075" tIns="46038" rIns="92075" bIns="46038"/>
          <a:lstStyle/>
          <a:p>
            <a:pPr marL="285750" indent="-285750">
              <a:lnSpc>
                <a:spcPct val="90000"/>
              </a:lnSpc>
              <a:spcBef>
                <a:spcPct val="30000"/>
              </a:spcBef>
              <a:buSzPct val="85000"/>
              <a:buFontTx/>
              <a:buChar char="•"/>
              <a:defRPr/>
            </a:pPr>
            <a:r>
              <a:rPr lang="en-US" sz="2800" b="0" kern="0" dirty="0">
                <a:solidFill>
                  <a:schemeClr val="tx2"/>
                </a:solidFill>
                <a:latin typeface="Gill Sans MT" panose="020B0502020104020203" pitchFamily="34" charset="0"/>
              </a:rPr>
              <a:t>Step 2</a:t>
            </a:r>
            <a:r>
              <a:rPr lang="en-US" sz="2800" b="0" kern="0" dirty="0">
                <a:solidFill>
                  <a:schemeClr val="tx1"/>
                </a:solidFill>
                <a:latin typeface="Gill Sans MT" panose="020B0502020104020203" pitchFamily="34" charset="0"/>
              </a:rPr>
              <a:t> : Find all the </a:t>
            </a:r>
            <a:r>
              <a:rPr lang="en-US" sz="2800" b="0" kern="0" dirty="0">
                <a:solidFill>
                  <a:schemeClr val="tx2"/>
                </a:solidFill>
                <a:latin typeface="Gill Sans MT" panose="020B0502020104020203" pitchFamily="34" charset="0"/>
              </a:rPr>
              <a:t>parameters</a:t>
            </a:r>
          </a:p>
          <a:p>
            <a:pPr marL="685800" lvl="1" indent="-228600">
              <a:lnSpc>
                <a:spcPct val="80000"/>
              </a:lnSpc>
              <a:spcBef>
                <a:spcPct val="30000"/>
              </a:spcBef>
              <a:buSzPct val="100000"/>
              <a:buFontTx/>
              <a:buChar char="–"/>
              <a:defRPr/>
            </a:pPr>
            <a:r>
              <a:rPr lang="en-US" sz="2400" b="0" kern="0" dirty="0">
                <a:solidFill>
                  <a:schemeClr val="tx1"/>
                </a:solidFill>
                <a:latin typeface="Gill Sans MT" panose="020B0502020104020203" pitchFamily="34" charset="0"/>
              </a:rPr>
              <a:t>Often fairly </a:t>
            </a:r>
            <a:r>
              <a:rPr lang="en-US" sz="2400" b="0" kern="0" dirty="0">
                <a:solidFill>
                  <a:schemeClr val="tx2"/>
                </a:solidFill>
                <a:latin typeface="Gill Sans MT" panose="020B0502020104020203" pitchFamily="34" charset="0"/>
              </a:rPr>
              <a:t>straightforward</a:t>
            </a:r>
            <a:r>
              <a:rPr lang="en-US" sz="2400" b="0" kern="0" dirty="0">
                <a:solidFill>
                  <a:schemeClr val="tx1"/>
                </a:solidFill>
                <a:latin typeface="Gill Sans MT" panose="020B0502020104020203" pitchFamily="34" charset="0"/>
              </a:rPr>
              <a:t>, even mechanical</a:t>
            </a:r>
          </a:p>
          <a:p>
            <a:pPr marL="685800" lvl="1" indent="-228600">
              <a:lnSpc>
                <a:spcPct val="80000"/>
              </a:lnSpc>
              <a:spcBef>
                <a:spcPct val="30000"/>
              </a:spcBef>
              <a:buSzPct val="100000"/>
              <a:buFontTx/>
              <a:buChar char="–"/>
              <a:defRPr/>
            </a:pPr>
            <a:r>
              <a:rPr lang="en-US" sz="2400" b="0" kern="0" dirty="0">
                <a:solidFill>
                  <a:schemeClr val="tx1"/>
                </a:solidFill>
                <a:latin typeface="Gill Sans MT" panose="020B0502020104020203" pitchFamily="34" charset="0"/>
              </a:rPr>
              <a:t>Important to be </a:t>
            </a:r>
            <a:r>
              <a:rPr lang="en-US" sz="2400" b="0" kern="0" dirty="0">
                <a:solidFill>
                  <a:schemeClr val="tx2"/>
                </a:solidFill>
                <a:latin typeface="Gill Sans MT" panose="020B0502020104020203" pitchFamily="34" charset="0"/>
              </a:rPr>
              <a:t>complete</a:t>
            </a:r>
          </a:p>
          <a:p>
            <a:pPr marL="685800" lvl="1" indent="-228600">
              <a:lnSpc>
                <a:spcPct val="80000"/>
              </a:lnSpc>
              <a:spcBef>
                <a:spcPct val="30000"/>
              </a:spcBef>
              <a:buSzPct val="100000"/>
              <a:buFontTx/>
              <a:buChar char="–"/>
              <a:defRPr/>
            </a:pPr>
            <a:r>
              <a:rPr lang="en-US" sz="2400" b="0" kern="0" dirty="0">
                <a:solidFill>
                  <a:schemeClr val="tx2"/>
                </a:solidFill>
                <a:latin typeface="Gill Sans MT" panose="020B0502020104020203" pitchFamily="34" charset="0"/>
              </a:rPr>
              <a:t>Methods</a:t>
            </a:r>
            <a:r>
              <a:rPr lang="en-US" sz="2400" b="0" kern="0" dirty="0">
                <a:solidFill>
                  <a:schemeClr val="tx1"/>
                </a:solidFill>
                <a:latin typeface="Gill Sans MT" panose="020B0502020104020203" pitchFamily="34" charset="0"/>
              </a:rPr>
              <a:t> : Parameters and state (non-local) variables used</a:t>
            </a:r>
          </a:p>
          <a:p>
            <a:pPr marL="685800" lvl="1" indent="-228600">
              <a:lnSpc>
                <a:spcPct val="80000"/>
              </a:lnSpc>
              <a:spcBef>
                <a:spcPct val="30000"/>
              </a:spcBef>
              <a:buSzPct val="100000"/>
              <a:buFontTx/>
              <a:buChar char="–"/>
              <a:defRPr/>
            </a:pPr>
            <a:r>
              <a:rPr lang="en-US" sz="2400" b="0" kern="0" dirty="0">
                <a:solidFill>
                  <a:schemeClr val="tx2"/>
                </a:solidFill>
                <a:latin typeface="Gill Sans MT" panose="020B0502020104020203" pitchFamily="34" charset="0"/>
              </a:rPr>
              <a:t>Components</a:t>
            </a:r>
            <a:r>
              <a:rPr lang="en-US" sz="2400" b="0" kern="0" dirty="0">
                <a:solidFill>
                  <a:schemeClr val="tx1"/>
                </a:solidFill>
                <a:latin typeface="Gill Sans MT" panose="020B0502020104020203" pitchFamily="34" charset="0"/>
              </a:rPr>
              <a:t> : Parameters to methods and state variables</a:t>
            </a:r>
          </a:p>
          <a:p>
            <a:pPr marL="685800" lvl="1" indent="-228600">
              <a:lnSpc>
                <a:spcPct val="80000"/>
              </a:lnSpc>
              <a:spcBef>
                <a:spcPct val="30000"/>
              </a:spcBef>
              <a:buSzPct val="100000"/>
              <a:buFontTx/>
              <a:buChar char="–"/>
              <a:defRPr/>
            </a:pPr>
            <a:r>
              <a:rPr lang="en-US" sz="2400" b="0" kern="0" dirty="0">
                <a:solidFill>
                  <a:schemeClr val="tx2"/>
                </a:solidFill>
                <a:latin typeface="Gill Sans MT" panose="020B0502020104020203" pitchFamily="34" charset="0"/>
              </a:rPr>
              <a:t>System</a:t>
            </a:r>
            <a:r>
              <a:rPr lang="en-US" sz="2400" b="0" kern="0" dirty="0">
                <a:solidFill>
                  <a:schemeClr val="tx1"/>
                </a:solidFill>
                <a:latin typeface="Gill Sans MT" panose="020B0502020104020203" pitchFamily="34" charset="0"/>
              </a:rPr>
              <a:t> : All inputs, including files and databases</a:t>
            </a:r>
          </a:p>
        </p:txBody>
      </p:sp>
    </p:spTree>
    <p:extLst>
      <p:ext uri="{BB962C8B-B14F-4D97-AF65-F5344CB8AC3E}">
        <p14:creationId xmlns:p14="http://schemas.microsoft.com/office/powerpoint/2010/main" val="2422271366"/>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2533"/>
                                        </p:tgtEl>
                                        <p:attrNameLst>
                                          <p:attrName>style.visibility</p:attrName>
                                        </p:attrNameLst>
                                      </p:cBhvr>
                                      <p:to>
                                        <p:strVal val="visible"/>
                                      </p:to>
                                    </p:set>
                                    <p:animEffect transition="in" filter="wipe(up)">
                                      <p:cBhvr>
                                        <p:cTn id="7" dur="500"/>
                                        <p:tgtEl>
                                          <p:spTgt spid="225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ACEC94F8-98C2-4086-8D8E-A6465E693178}" type="slidenum">
              <a:rPr lang="en-US" altLang="en-US" sz="900" b="0">
                <a:solidFill>
                  <a:schemeClr val="tx1"/>
                </a:solidFill>
                <a:latin typeface="Arial" charset="0"/>
                <a:cs typeface="Arial" charset="0"/>
              </a:rPr>
              <a:pPr/>
              <a:t>13</a:t>
            </a:fld>
            <a:endParaRPr lang="en-US" altLang="en-US" sz="900" b="0">
              <a:solidFill>
                <a:schemeClr val="tx1"/>
              </a:solidFill>
              <a:latin typeface="Arial" charset="0"/>
              <a:cs typeface="Arial" charset="0"/>
            </a:endParaRPr>
          </a:p>
        </p:txBody>
      </p:sp>
      <p:sp>
        <p:nvSpPr>
          <p:cNvPr id="11268" name="Rectangle 2"/>
          <p:cNvSpPr>
            <a:spLocks noGrp="1" noChangeArrowheads="1"/>
          </p:cNvSpPr>
          <p:nvPr>
            <p:ph type="title"/>
          </p:nvPr>
        </p:nvSpPr>
        <p:spPr/>
        <p:txBody>
          <a:bodyPr/>
          <a:lstStyle/>
          <a:p>
            <a:r>
              <a:rPr lang="en-US" altLang="en-US"/>
              <a:t>Modeling the Input Domain (</a:t>
            </a:r>
            <a:r>
              <a:rPr lang="en-US" altLang="en-US" i="1"/>
              <a:t>cont</a:t>
            </a:r>
            <a:r>
              <a:rPr lang="en-US" altLang="en-US"/>
              <a:t>)</a:t>
            </a:r>
          </a:p>
        </p:txBody>
      </p:sp>
      <p:sp>
        <p:nvSpPr>
          <p:cNvPr id="23557" name="Rectangle 3"/>
          <p:cNvSpPr>
            <a:spLocks noGrp="1" noChangeArrowheads="1"/>
          </p:cNvSpPr>
          <p:nvPr>
            <p:ph type="body" idx="1"/>
          </p:nvPr>
        </p:nvSpPr>
        <p:spPr>
          <a:xfrm>
            <a:off x="1662114" y="954089"/>
            <a:ext cx="8867775" cy="2276475"/>
          </a:xfrm>
        </p:spPr>
        <p:txBody>
          <a:bodyPr/>
          <a:lstStyle/>
          <a:p>
            <a:pPr>
              <a:lnSpc>
                <a:spcPct val="80000"/>
              </a:lnSpc>
            </a:pPr>
            <a:r>
              <a:rPr lang="en-US" altLang="en-US" dirty="0">
                <a:solidFill>
                  <a:schemeClr val="tx2"/>
                </a:solidFill>
              </a:rPr>
              <a:t>Step 3</a:t>
            </a:r>
            <a:r>
              <a:rPr lang="en-US" altLang="en-US" dirty="0"/>
              <a:t> : Model the </a:t>
            </a:r>
            <a:r>
              <a:rPr lang="en-US" altLang="en-US" dirty="0">
                <a:solidFill>
                  <a:schemeClr val="tx2"/>
                </a:solidFill>
              </a:rPr>
              <a:t>input domain</a:t>
            </a:r>
          </a:p>
          <a:p>
            <a:pPr lvl="1">
              <a:lnSpc>
                <a:spcPct val="80000"/>
              </a:lnSpc>
            </a:pPr>
            <a:r>
              <a:rPr lang="en-US" altLang="en-US" dirty="0"/>
              <a:t>The domain is scoped by the </a:t>
            </a:r>
            <a:r>
              <a:rPr lang="en-US" altLang="en-US" dirty="0">
                <a:solidFill>
                  <a:schemeClr val="tx2"/>
                </a:solidFill>
              </a:rPr>
              <a:t>parameters</a:t>
            </a:r>
          </a:p>
          <a:p>
            <a:pPr lvl="1">
              <a:lnSpc>
                <a:spcPct val="80000"/>
              </a:lnSpc>
            </a:pPr>
            <a:r>
              <a:rPr lang="en-US" altLang="en-US" dirty="0"/>
              <a:t>The structure is defined in terms of </a:t>
            </a:r>
            <a:r>
              <a:rPr lang="en-US" altLang="en-US" dirty="0">
                <a:solidFill>
                  <a:schemeClr val="tx2"/>
                </a:solidFill>
              </a:rPr>
              <a:t>characteristics</a:t>
            </a:r>
          </a:p>
          <a:p>
            <a:pPr lvl="1">
              <a:lnSpc>
                <a:spcPct val="80000"/>
              </a:lnSpc>
            </a:pPr>
            <a:r>
              <a:rPr lang="en-US" altLang="en-US" dirty="0"/>
              <a:t>Each characteristic is </a:t>
            </a:r>
            <a:r>
              <a:rPr lang="en-US" altLang="en-US" dirty="0">
                <a:solidFill>
                  <a:schemeClr val="tx2"/>
                </a:solidFill>
              </a:rPr>
              <a:t>partitioned</a:t>
            </a:r>
            <a:r>
              <a:rPr lang="en-US" altLang="en-US" dirty="0"/>
              <a:t> into sets of </a:t>
            </a:r>
            <a:r>
              <a:rPr lang="en-US" altLang="en-US" dirty="0">
                <a:solidFill>
                  <a:schemeClr val="tx2"/>
                </a:solidFill>
              </a:rPr>
              <a:t>blocks</a:t>
            </a:r>
          </a:p>
          <a:p>
            <a:pPr lvl="1">
              <a:lnSpc>
                <a:spcPct val="80000"/>
              </a:lnSpc>
            </a:pPr>
            <a:r>
              <a:rPr lang="en-US" altLang="en-US" dirty="0"/>
              <a:t>Each block represents  a set of </a:t>
            </a:r>
            <a:r>
              <a:rPr lang="en-US" altLang="en-US" dirty="0">
                <a:solidFill>
                  <a:schemeClr val="tx2"/>
                </a:solidFill>
              </a:rPr>
              <a:t>values</a:t>
            </a:r>
          </a:p>
          <a:p>
            <a:pPr lvl="1">
              <a:lnSpc>
                <a:spcPct val="80000"/>
              </a:lnSpc>
            </a:pPr>
            <a:r>
              <a:rPr lang="en-US" altLang="en-US" dirty="0"/>
              <a:t>This is the most </a:t>
            </a:r>
            <a:r>
              <a:rPr lang="en-US" altLang="en-US" dirty="0">
                <a:solidFill>
                  <a:schemeClr val="tx2"/>
                </a:solidFill>
              </a:rPr>
              <a:t>creative design step</a:t>
            </a:r>
            <a:r>
              <a:rPr lang="en-US" altLang="en-US" dirty="0"/>
              <a:t> in using ISP</a:t>
            </a:r>
          </a:p>
        </p:txBody>
      </p:sp>
      <p:sp>
        <p:nvSpPr>
          <p:cNvPr id="7" name="Rectangle 3"/>
          <p:cNvSpPr txBox="1">
            <a:spLocks noChangeArrowheads="1"/>
          </p:cNvSpPr>
          <p:nvPr/>
        </p:nvSpPr>
        <p:spPr bwMode="auto">
          <a:xfrm>
            <a:off x="1662114" y="3409950"/>
            <a:ext cx="8867775" cy="1836738"/>
          </a:xfrm>
          <a:prstGeom prst="rect">
            <a:avLst/>
          </a:prstGeom>
          <a:noFill/>
          <a:ln w="9525">
            <a:noFill/>
            <a:miter lim="800000"/>
            <a:headEnd/>
            <a:tailEnd/>
          </a:ln>
        </p:spPr>
        <p:txBody>
          <a:bodyPr lIns="92075" tIns="46038" rIns="92075" bIns="46038"/>
          <a:lstStyle/>
          <a:p>
            <a:pPr marL="285750" indent="-285750">
              <a:lnSpc>
                <a:spcPct val="80000"/>
              </a:lnSpc>
              <a:spcBef>
                <a:spcPct val="30000"/>
              </a:spcBef>
              <a:buSzPct val="85000"/>
              <a:buFontTx/>
              <a:buChar char="•"/>
              <a:defRPr/>
            </a:pPr>
            <a:r>
              <a:rPr lang="en-US" sz="2800" b="0" kern="0" dirty="0">
                <a:solidFill>
                  <a:schemeClr val="tx2"/>
                </a:solidFill>
                <a:latin typeface="Gill Sans MT" panose="020B0502020104020203" pitchFamily="34" charset="0"/>
              </a:rPr>
              <a:t>Step 4</a:t>
            </a:r>
            <a:r>
              <a:rPr lang="en-US" sz="2800" b="0" kern="0" dirty="0">
                <a:solidFill>
                  <a:schemeClr val="tx1"/>
                </a:solidFill>
                <a:latin typeface="Gill Sans MT" panose="020B0502020104020203" pitchFamily="34" charset="0"/>
              </a:rPr>
              <a:t> : Apply a test </a:t>
            </a:r>
            <a:r>
              <a:rPr lang="en-US" sz="2800" b="0" kern="0" dirty="0">
                <a:solidFill>
                  <a:schemeClr val="tx2"/>
                </a:solidFill>
                <a:latin typeface="Gill Sans MT" panose="020B0502020104020203" pitchFamily="34" charset="0"/>
              </a:rPr>
              <a:t>criterion</a:t>
            </a:r>
            <a:r>
              <a:rPr lang="en-US" sz="2800" b="0" kern="0" dirty="0">
                <a:solidFill>
                  <a:schemeClr val="tx1"/>
                </a:solidFill>
                <a:latin typeface="Gill Sans MT" panose="020B0502020104020203" pitchFamily="34" charset="0"/>
              </a:rPr>
              <a:t> to choose </a:t>
            </a:r>
            <a:r>
              <a:rPr lang="en-US" sz="2800" b="0" kern="0" dirty="0">
                <a:solidFill>
                  <a:schemeClr val="tx2"/>
                </a:solidFill>
                <a:latin typeface="Gill Sans MT" panose="020B0502020104020203" pitchFamily="34" charset="0"/>
              </a:rPr>
              <a:t>combinations</a:t>
            </a:r>
            <a:r>
              <a:rPr lang="en-US" sz="2800" b="0" kern="0" dirty="0">
                <a:solidFill>
                  <a:schemeClr val="tx1"/>
                </a:solidFill>
                <a:latin typeface="Gill Sans MT" panose="020B0502020104020203" pitchFamily="34" charset="0"/>
              </a:rPr>
              <a:t> of values</a:t>
            </a:r>
          </a:p>
          <a:p>
            <a:pPr marL="685800" lvl="1" indent="-228600">
              <a:lnSpc>
                <a:spcPct val="80000"/>
              </a:lnSpc>
              <a:spcBef>
                <a:spcPct val="30000"/>
              </a:spcBef>
              <a:buSzPct val="100000"/>
              <a:buFontTx/>
              <a:buChar char="–"/>
              <a:defRPr/>
            </a:pPr>
            <a:r>
              <a:rPr lang="en-US" sz="2400" b="0" kern="0" dirty="0">
                <a:solidFill>
                  <a:schemeClr val="tx1"/>
                </a:solidFill>
                <a:latin typeface="Gill Sans MT" panose="020B0502020104020203" pitchFamily="34" charset="0"/>
              </a:rPr>
              <a:t>A test input has a </a:t>
            </a:r>
            <a:r>
              <a:rPr lang="en-US" sz="2400" b="0" kern="0" dirty="0">
                <a:solidFill>
                  <a:schemeClr val="tx2"/>
                </a:solidFill>
                <a:latin typeface="Gill Sans MT" panose="020B0502020104020203" pitchFamily="34" charset="0"/>
              </a:rPr>
              <a:t>value</a:t>
            </a:r>
            <a:r>
              <a:rPr lang="en-US" sz="2400" b="0" kern="0" dirty="0">
                <a:solidFill>
                  <a:schemeClr val="tx1"/>
                </a:solidFill>
                <a:latin typeface="Gill Sans MT" panose="020B0502020104020203" pitchFamily="34" charset="0"/>
              </a:rPr>
              <a:t> for each parameter</a:t>
            </a:r>
          </a:p>
          <a:p>
            <a:pPr marL="685800" lvl="1" indent="-228600">
              <a:lnSpc>
                <a:spcPct val="80000"/>
              </a:lnSpc>
              <a:spcBef>
                <a:spcPct val="30000"/>
              </a:spcBef>
              <a:buSzPct val="100000"/>
              <a:buFontTx/>
              <a:buChar char="–"/>
              <a:defRPr/>
            </a:pPr>
            <a:r>
              <a:rPr lang="en-US" sz="2400" b="0" kern="0" dirty="0">
                <a:solidFill>
                  <a:schemeClr val="tx1"/>
                </a:solidFill>
                <a:latin typeface="Gill Sans MT" panose="020B0502020104020203" pitchFamily="34" charset="0"/>
              </a:rPr>
              <a:t>One </a:t>
            </a:r>
            <a:r>
              <a:rPr lang="en-US" sz="2400" b="0" kern="0" dirty="0">
                <a:solidFill>
                  <a:schemeClr val="tx2"/>
                </a:solidFill>
                <a:latin typeface="Gill Sans MT" panose="020B0502020104020203" pitchFamily="34" charset="0"/>
              </a:rPr>
              <a:t>block</a:t>
            </a:r>
            <a:r>
              <a:rPr lang="en-US" sz="2400" b="0" kern="0" dirty="0">
                <a:solidFill>
                  <a:schemeClr val="tx1"/>
                </a:solidFill>
                <a:latin typeface="Gill Sans MT" panose="020B0502020104020203" pitchFamily="34" charset="0"/>
              </a:rPr>
              <a:t> for each characteristic</a:t>
            </a:r>
          </a:p>
          <a:p>
            <a:pPr marL="685800" lvl="1" indent="-228600">
              <a:lnSpc>
                <a:spcPct val="80000"/>
              </a:lnSpc>
              <a:spcBef>
                <a:spcPct val="30000"/>
              </a:spcBef>
              <a:buSzPct val="100000"/>
              <a:buFontTx/>
              <a:buChar char="–"/>
              <a:defRPr/>
            </a:pPr>
            <a:r>
              <a:rPr lang="en-US" sz="2400" b="0" kern="0" dirty="0">
                <a:solidFill>
                  <a:schemeClr val="tx1"/>
                </a:solidFill>
                <a:latin typeface="Gill Sans MT" panose="020B0502020104020203" pitchFamily="34" charset="0"/>
              </a:rPr>
              <a:t>Choosing </a:t>
            </a:r>
            <a:r>
              <a:rPr lang="en-US" sz="2400" b="0" kern="0" dirty="0">
                <a:solidFill>
                  <a:schemeClr val="tx2"/>
                </a:solidFill>
                <a:latin typeface="Gill Sans MT" panose="020B0502020104020203" pitchFamily="34" charset="0"/>
              </a:rPr>
              <a:t>all combinations</a:t>
            </a:r>
            <a:r>
              <a:rPr lang="en-US" sz="2400" b="0" kern="0" dirty="0">
                <a:solidFill>
                  <a:schemeClr val="tx1"/>
                </a:solidFill>
                <a:latin typeface="Gill Sans MT" panose="020B0502020104020203" pitchFamily="34" charset="0"/>
              </a:rPr>
              <a:t> is usually infeasible</a:t>
            </a:r>
          </a:p>
          <a:p>
            <a:pPr marL="685800" lvl="1" indent="-228600">
              <a:lnSpc>
                <a:spcPct val="80000"/>
              </a:lnSpc>
              <a:spcBef>
                <a:spcPct val="30000"/>
              </a:spcBef>
              <a:buSzPct val="100000"/>
              <a:buFontTx/>
              <a:buChar char="–"/>
              <a:defRPr/>
            </a:pPr>
            <a:r>
              <a:rPr lang="en-US" sz="2400" b="0" kern="0" dirty="0">
                <a:solidFill>
                  <a:schemeClr val="tx1"/>
                </a:solidFill>
                <a:latin typeface="Gill Sans MT" panose="020B0502020104020203" pitchFamily="34" charset="0"/>
              </a:rPr>
              <a:t>Coverage criteria allow </a:t>
            </a:r>
            <a:r>
              <a:rPr lang="en-US" sz="2400" b="0" kern="0" dirty="0">
                <a:solidFill>
                  <a:schemeClr val="tx2"/>
                </a:solidFill>
                <a:latin typeface="Gill Sans MT" panose="020B0502020104020203" pitchFamily="34" charset="0"/>
              </a:rPr>
              <a:t>subsets</a:t>
            </a:r>
            <a:r>
              <a:rPr lang="en-US" sz="2400" b="0" kern="0" dirty="0">
                <a:solidFill>
                  <a:schemeClr val="tx1"/>
                </a:solidFill>
                <a:latin typeface="Gill Sans MT" panose="020B0502020104020203" pitchFamily="34" charset="0"/>
              </a:rPr>
              <a:t> to be chosen</a:t>
            </a:r>
          </a:p>
        </p:txBody>
      </p:sp>
      <p:sp>
        <p:nvSpPr>
          <p:cNvPr id="8" name="Rectangle 3"/>
          <p:cNvSpPr txBox="1">
            <a:spLocks noChangeArrowheads="1"/>
          </p:cNvSpPr>
          <p:nvPr/>
        </p:nvSpPr>
        <p:spPr bwMode="auto">
          <a:xfrm>
            <a:off x="1662114" y="5758879"/>
            <a:ext cx="8867775" cy="944562"/>
          </a:xfrm>
          <a:prstGeom prst="rect">
            <a:avLst/>
          </a:prstGeom>
          <a:noFill/>
          <a:ln w="9525">
            <a:noFill/>
            <a:miter lim="800000"/>
            <a:headEnd/>
            <a:tailEnd/>
          </a:ln>
        </p:spPr>
        <p:txBody>
          <a:bodyPr lIns="92075" tIns="46038" rIns="92075" bIns="46038"/>
          <a:lstStyle/>
          <a:p>
            <a:pPr marL="285750" indent="-285750">
              <a:lnSpc>
                <a:spcPct val="80000"/>
              </a:lnSpc>
              <a:spcBef>
                <a:spcPct val="30000"/>
              </a:spcBef>
              <a:buSzPct val="85000"/>
              <a:buFontTx/>
              <a:buChar char="•"/>
              <a:defRPr/>
            </a:pPr>
            <a:r>
              <a:rPr lang="en-US" sz="2800" b="0" kern="0" dirty="0">
                <a:solidFill>
                  <a:schemeClr val="tx2"/>
                </a:solidFill>
                <a:latin typeface="Gill Sans MT" panose="020B0502020104020203" pitchFamily="34" charset="0"/>
              </a:rPr>
              <a:t>Step 5</a:t>
            </a:r>
            <a:r>
              <a:rPr lang="en-US" sz="2800" b="0" kern="0" dirty="0">
                <a:solidFill>
                  <a:schemeClr val="tx1"/>
                </a:solidFill>
                <a:latin typeface="Gill Sans MT" panose="020B0502020104020203" pitchFamily="34" charset="0"/>
              </a:rPr>
              <a:t> : Refine combinations of blocks into </a:t>
            </a:r>
            <a:r>
              <a:rPr lang="en-US" sz="2800" b="0" kern="0" dirty="0">
                <a:solidFill>
                  <a:schemeClr val="tx2"/>
                </a:solidFill>
                <a:latin typeface="Gill Sans MT" panose="020B0502020104020203" pitchFamily="34" charset="0"/>
              </a:rPr>
              <a:t>test inputs</a:t>
            </a:r>
          </a:p>
          <a:p>
            <a:pPr marL="685800" lvl="1" indent="-228600">
              <a:lnSpc>
                <a:spcPct val="80000"/>
              </a:lnSpc>
              <a:spcBef>
                <a:spcPct val="30000"/>
              </a:spcBef>
              <a:buSzPct val="100000"/>
              <a:buFontTx/>
              <a:buChar char="–"/>
              <a:defRPr/>
            </a:pPr>
            <a:r>
              <a:rPr lang="en-US" sz="2400" b="0" kern="0" dirty="0">
                <a:solidFill>
                  <a:schemeClr val="tx1"/>
                </a:solidFill>
                <a:latin typeface="Gill Sans MT" panose="020B0502020104020203" pitchFamily="34" charset="0"/>
              </a:rPr>
              <a:t>Choose </a:t>
            </a:r>
            <a:r>
              <a:rPr lang="en-US" sz="2400" b="0" kern="0" dirty="0">
                <a:solidFill>
                  <a:schemeClr val="tx2"/>
                </a:solidFill>
                <a:latin typeface="Gill Sans MT" panose="020B0502020104020203" pitchFamily="34" charset="0"/>
              </a:rPr>
              <a:t>appropriate values</a:t>
            </a:r>
            <a:r>
              <a:rPr lang="en-US" sz="2400" b="0" kern="0" dirty="0">
                <a:solidFill>
                  <a:schemeClr val="tx1"/>
                </a:solidFill>
                <a:latin typeface="Gill Sans MT" panose="020B0502020104020203" pitchFamily="34" charset="0"/>
              </a:rPr>
              <a:t> from each block</a:t>
            </a:r>
          </a:p>
        </p:txBody>
      </p:sp>
    </p:spTree>
    <p:extLst>
      <p:ext uri="{BB962C8B-B14F-4D97-AF65-F5344CB8AC3E}">
        <p14:creationId xmlns:p14="http://schemas.microsoft.com/office/powerpoint/2010/main" val="2513195273"/>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3557"/>
                                        </p:tgtEl>
                                        <p:attrNameLst>
                                          <p:attrName>style.visibility</p:attrName>
                                        </p:attrNameLst>
                                      </p:cBhvr>
                                      <p:to>
                                        <p:strVal val="visible"/>
                                      </p:to>
                                    </p:set>
                                    <p:animEffect transition="in" filter="wipe(up)">
                                      <p:cBhvr>
                                        <p:cTn id="7" dur="500"/>
                                        <p:tgtEl>
                                          <p:spTgt spid="235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F6FC1FFD-6B50-4A8B-BC5E-A5AFB9E11DBF}" type="slidenum">
              <a:rPr lang="en-US" altLang="en-US" sz="900" b="0">
                <a:solidFill>
                  <a:schemeClr val="tx1"/>
                </a:solidFill>
                <a:latin typeface="Arial" charset="0"/>
                <a:cs typeface="Arial" charset="0"/>
              </a:rPr>
              <a:pPr/>
              <a:t>14</a:t>
            </a:fld>
            <a:endParaRPr lang="en-US" altLang="en-US" sz="900" b="0">
              <a:solidFill>
                <a:schemeClr val="tx1"/>
              </a:solidFill>
              <a:latin typeface="Arial" charset="0"/>
              <a:cs typeface="Arial" charset="0"/>
            </a:endParaRPr>
          </a:p>
        </p:txBody>
      </p:sp>
      <p:sp>
        <p:nvSpPr>
          <p:cNvPr id="15364" name="Rectangle 2"/>
          <p:cNvSpPr>
            <a:spLocks noGrp="1" noChangeArrowheads="1"/>
          </p:cNvSpPr>
          <p:nvPr>
            <p:ph type="title" idx="4294967295"/>
          </p:nvPr>
        </p:nvSpPr>
        <p:spPr>
          <a:xfrm>
            <a:off x="1530350" y="96838"/>
            <a:ext cx="9112482" cy="1268666"/>
          </a:xfrm>
        </p:spPr>
        <p:txBody>
          <a:bodyPr/>
          <a:lstStyle/>
          <a:p>
            <a:r>
              <a:rPr lang="en-US" altLang="en-US" sz="2800" dirty="0"/>
              <a:t>Steps 1 &amp; 2</a:t>
            </a:r>
            <a:r>
              <a:rPr lang="en-US" altLang="en-US" sz="3200" dirty="0"/>
              <a:t>—Identifying Functionalities, Parameters and  Characteristics</a:t>
            </a:r>
          </a:p>
        </p:txBody>
      </p:sp>
      <p:sp>
        <p:nvSpPr>
          <p:cNvPr id="15365" name="Rectangle 3"/>
          <p:cNvSpPr>
            <a:spLocks noGrp="1" noChangeArrowheads="1"/>
          </p:cNvSpPr>
          <p:nvPr>
            <p:ph type="body" idx="4294967295"/>
          </p:nvPr>
        </p:nvSpPr>
        <p:spPr>
          <a:xfrm>
            <a:off x="1530351" y="1109472"/>
            <a:ext cx="9112482" cy="5399612"/>
          </a:xfrm>
        </p:spPr>
        <p:txBody>
          <a:bodyPr/>
          <a:lstStyle/>
          <a:p>
            <a:r>
              <a:rPr lang="en-US" altLang="en-US" dirty="0"/>
              <a:t>A </a:t>
            </a:r>
            <a:r>
              <a:rPr lang="en-US" altLang="en-US" dirty="0">
                <a:solidFill>
                  <a:schemeClr val="tx2"/>
                </a:solidFill>
              </a:rPr>
              <a:t>creative engineering</a:t>
            </a:r>
            <a:r>
              <a:rPr lang="en-US" altLang="en-US" dirty="0"/>
              <a:t> step</a:t>
            </a:r>
          </a:p>
          <a:p>
            <a:r>
              <a:rPr lang="en-US" altLang="en-US" dirty="0">
                <a:solidFill>
                  <a:schemeClr val="tx2"/>
                </a:solidFill>
              </a:rPr>
              <a:t>More</a:t>
            </a:r>
            <a:r>
              <a:rPr lang="en-US" altLang="en-US" dirty="0"/>
              <a:t> characteristics means more tests</a:t>
            </a:r>
          </a:p>
          <a:p>
            <a:r>
              <a:rPr lang="en-US" altLang="en-US" dirty="0">
                <a:solidFill>
                  <a:schemeClr val="tx2"/>
                </a:solidFill>
              </a:rPr>
              <a:t>Interface-based</a:t>
            </a:r>
            <a:r>
              <a:rPr lang="en-US" altLang="en-US" dirty="0"/>
              <a:t> : Translate parameters to characteristics</a:t>
            </a:r>
          </a:p>
          <a:p>
            <a:r>
              <a:rPr lang="en-US" altLang="en-US" dirty="0">
                <a:solidFill>
                  <a:schemeClr val="tx2"/>
                </a:solidFill>
              </a:rPr>
              <a:t>Candidates</a:t>
            </a:r>
            <a:r>
              <a:rPr lang="en-US" altLang="en-US" dirty="0"/>
              <a:t> for characteristics :</a:t>
            </a:r>
          </a:p>
          <a:p>
            <a:pPr lvl="1">
              <a:lnSpc>
                <a:spcPct val="80000"/>
              </a:lnSpc>
            </a:pPr>
            <a:r>
              <a:rPr lang="en-US" altLang="en-US" dirty="0">
                <a:solidFill>
                  <a:schemeClr val="tx2"/>
                </a:solidFill>
              </a:rPr>
              <a:t>Preconditions</a:t>
            </a:r>
            <a:r>
              <a:rPr lang="en-US" altLang="en-US" dirty="0"/>
              <a:t> and </a:t>
            </a:r>
            <a:r>
              <a:rPr lang="en-US" altLang="en-US" dirty="0" err="1">
                <a:solidFill>
                  <a:schemeClr val="tx2"/>
                </a:solidFill>
              </a:rPr>
              <a:t>postconditions</a:t>
            </a:r>
            <a:endParaRPr lang="en-US" altLang="en-US" dirty="0">
              <a:solidFill>
                <a:schemeClr val="tx2"/>
              </a:solidFill>
            </a:endParaRPr>
          </a:p>
          <a:p>
            <a:pPr lvl="1">
              <a:lnSpc>
                <a:spcPct val="80000"/>
              </a:lnSpc>
            </a:pPr>
            <a:r>
              <a:rPr lang="en-US" altLang="en-US" dirty="0">
                <a:solidFill>
                  <a:schemeClr val="tx2"/>
                </a:solidFill>
              </a:rPr>
              <a:t>Relationships</a:t>
            </a:r>
            <a:r>
              <a:rPr lang="en-US" altLang="en-US" dirty="0"/>
              <a:t> among variables</a:t>
            </a:r>
          </a:p>
          <a:p>
            <a:pPr lvl="1">
              <a:lnSpc>
                <a:spcPct val="80000"/>
              </a:lnSpc>
            </a:pPr>
            <a:r>
              <a:rPr lang="en-US" altLang="en-US" dirty="0"/>
              <a:t>Relationship of variables with </a:t>
            </a:r>
            <a:r>
              <a:rPr lang="en-US" altLang="en-US" dirty="0">
                <a:solidFill>
                  <a:schemeClr val="tx2"/>
                </a:solidFill>
              </a:rPr>
              <a:t>special values</a:t>
            </a:r>
            <a:r>
              <a:rPr lang="en-US" altLang="en-US" dirty="0"/>
              <a:t> (zero, null, blank, …)</a:t>
            </a:r>
          </a:p>
          <a:p>
            <a:r>
              <a:rPr lang="en-US" altLang="en-US" dirty="0"/>
              <a:t>Should </a:t>
            </a:r>
            <a:r>
              <a:rPr lang="en-US" altLang="en-US" dirty="0">
                <a:solidFill>
                  <a:schemeClr val="tx2"/>
                </a:solidFill>
              </a:rPr>
              <a:t>not</a:t>
            </a:r>
            <a:r>
              <a:rPr lang="en-US" altLang="en-US" dirty="0"/>
              <a:t> use program source—characteristics should be based on the  </a:t>
            </a:r>
            <a:r>
              <a:rPr lang="en-US" altLang="en-US" dirty="0">
                <a:solidFill>
                  <a:schemeClr val="tx2"/>
                </a:solidFill>
              </a:rPr>
              <a:t>input domain</a:t>
            </a:r>
          </a:p>
          <a:p>
            <a:pPr lvl="1">
              <a:lnSpc>
                <a:spcPct val="80000"/>
              </a:lnSpc>
            </a:pPr>
            <a:r>
              <a:rPr lang="en-US" altLang="en-US" dirty="0"/>
              <a:t>Program source should be used with </a:t>
            </a:r>
            <a:r>
              <a:rPr lang="en-US" altLang="en-US" dirty="0">
                <a:solidFill>
                  <a:schemeClr val="tx2"/>
                </a:solidFill>
              </a:rPr>
              <a:t>graph</a:t>
            </a:r>
            <a:r>
              <a:rPr lang="en-US" altLang="en-US" dirty="0"/>
              <a:t> or </a:t>
            </a:r>
            <a:r>
              <a:rPr lang="en-US" altLang="en-US" dirty="0">
                <a:solidFill>
                  <a:schemeClr val="tx2"/>
                </a:solidFill>
              </a:rPr>
              <a:t>logic</a:t>
            </a:r>
            <a:r>
              <a:rPr lang="en-US" altLang="en-US" dirty="0"/>
              <a:t> criteria</a:t>
            </a:r>
          </a:p>
          <a:p>
            <a:r>
              <a:rPr lang="en-US" altLang="en-US" dirty="0"/>
              <a:t>Better to have </a:t>
            </a:r>
            <a:r>
              <a:rPr lang="en-US" altLang="en-US" dirty="0">
                <a:solidFill>
                  <a:schemeClr val="tx2"/>
                </a:solidFill>
              </a:rPr>
              <a:t>more characteristics</a:t>
            </a:r>
            <a:r>
              <a:rPr lang="en-US" altLang="en-US" dirty="0"/>
              <a:t> with </a:t>
            </a:r>
            <a:r>
              <a:rPr lang="en-US" altLang="en-US" dirty="0">
                <a:solidFill>
                  <a:schemeClr val="tx2"/>
                </a:solidFill>
              </a:rPr>
              <a:t>few blocks</a:t>
            </a:r>
          </a:p>
          <a:p>
            <a:pPr lvl="1">
              <a:lnSpc>
                <a:spcPct val="80000"/>
              </a:lnSpc>
            </a:pPr>
            <a:r>
              <a:rPr lang="en-US" altLang="en-US" dirty="0"/>
              <a:t>Fewer mistakes and fewer tests</a:t>
            </a:r>
          </a:p>
        </p:txBody>
      </p:sp>
    </p:spTree>
    <p:extLst>
      <p:ext uri="{BB962C8B-B14F-4D97-AF65-F5344CB8AC3E}">
        <p14:creationId xmlns:p14="http://schemas.microsoft.com/office/powerpoint/2010/main" val="274636914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9A0316E1-4C76-4CF4-AF85-5D2AA6AAF63D}" type="slidenum">
              <a:rPr lang="en-US" altLang="en-US" sz="900" b="0">
                <a:solidFill>
                  <a:schemeClr val="tx1"/>
                </a:solidFill>
                <a:latin typeface="Arial" charset="0"/>
                <a:cs typeface="Arial" charset="0"/>
              </a:rPr>
              <a:pPr/>
              <a:t>15</a:t>
            </a:fld>
            <a:endParaRPr lang="en-US" altLang="en-US" sz="900" b="0">
              <a:solidFill>
                <a:schemeClr val="tx1"/>
              </a:solidFill>
              <a:latin typeface="Arial" charset="0"/>
              <a:cs typeface="Arial" charset="0"/>
            </a:endParaRPr>
          </a:p>
        </p:txBody>
      </p:sp>
      <p:sp>
        <p:nvSpPr>
          <p:cNvPr id="17412" name="Rectangle 2"/>
          <p:cNvSpPr>
            <a:spLocks noGrp="1" noChangeArrowheads="1"/>
          </p:cNvSpPr>
          <p:nvPr>
            <p:ph type="title"/>
          </p:nvPr>
        </p:nvSpPr>
        <p:spPr/>
        <p:txBody>
          <a:bodyPr/>
          <a:lstStyle/>
          <a:p>
            <a:r>
              <a:rPr lang="en-US" altLang="en-US" sz="3200" dirty="0"/>
              <a:t>Step 3 : </a:t>
            </a:r>
            <a:r>
              <a:rPr lang="en-US" altLang="en-US" dirty="0"/>
              <a:t>Modeling the Input Domain</a:t>
            </a:r>
          </a:p>
        </p:txBody>
      </p:sp>
      <p:sp>
        <p:nvSpPr>
          <p:cNvPr id="17413" name="Rectangle 3"/>
          <p:cNvSpPr>
            <a:spLocks noGrp="1" noChangeArrowheads="1"/>
          </p:cNvSpPr>
          <p:nvPr>
            <p:ph type="body" idx="1"/>
          </p:nvPr>
        </p:nvSpPr>
        <p:spPr>
          <a:xfrm>
            <a:off x="1530351" y="792481"/>
            <a:ext cx="9112482" cy="5716604"/>
          </a:xfrm>
        </p:spPr>
        <p:txBody>
          <a:bodyPr/>
          <a:lstStyle/>
          <a:p>
            <a:pPr>
              <a:lnSpc>
                <a:spcPct val="80000"/>
              </a:lnSpc>
            </a:pPr>
            <a:r>
              <a:rPr lang="en-US" altLang="en-US" dirty="0"/>
              <a:t>Partitioning characteristics into blocks and values is a very </a:t>
            </a:r>
            <a:r>
              <a:rPr lang="en-US" altLang="en-US" dirty="0">
                <a:solidFill>
                  <a:schemeClr val="tx2"/>
                </a:solidFill>
              </a:rPr>
              <a:t>creative engineering</a:t>
            </a:r>
            <a:r>
              <a:rPr lang="en-US" altLang="en-US" dirty="0"/>
              <a:t> step</a:t>
            </a:r>
          </a:p>
          <a:p>
            <a:pPr>
              <a:lnSpc>
                <a:spcPct val="80000"/>
              </a:lnSpc>
            </a:pPr>
            <a:r>
              <a:rPr lang="en-US" altLang="en-US" dirty="0">
                <a:solidFill>
                  <a:schemeClr val="tx2"/>
                </a:solidFill>
              </a:rPr>
              <a:t>More blocks</a:t>
            </a:r>
            <a:r>
              <a:rPr lang="en-US" altLang="en-US" dirty="0"/>
              <a:t> means more tests</a:t>
            </a:r>
          </a:p>
          <a:p>
            <a:pPr>
              <a:lnSpc>
                <a:spcPct val="80000"/>
              </a:lnSpc>
            </a:pPr>
            <a:r>
              <a:rPr lang="en-US" altLang="en-US" dirty="0"/>
              <a:t>Partitioning often flows directly from the definition of </a:t>
            </a:r>
            <a:r>
              <a:rPr lang="en-US" altLang="en-US" dirty="0">
                <a:solidFill>
                  <a:schemeClr val="tx2"/>
                </a:solidFill>
              </a:rPr>
              <a:t>characteristics</a:t>
            </a:r>
            <a:r>
              <a:rPr lang="en-US" altLang="en-US" dirty="0"/>
              <a:t> and both steps are done together</a:t>
            </a:r>
          </a:p>
          <a:p>
            <a:pPr lvl="1">
              <a:lnSpc>
                <a:spcPct val="80000"/>
              </a:lnSpc>
            </a:pPr>
            <a:r>
              <a:rPr lang="en-US" altLang="en-US" dirty="0"/>
              <a:t>Should </a:t>
            </a:r>
            <a:r>
              <a:rPr lang="en-US" altLang="en-US" dirty="0">
                <a:solidFill>
                  <a:schemeClr val="tx2"/>
                </a:solidFill>
              </a:rPr>
              <a:t>evaluate</a:t>
            </a:r>
            <a:r>
              <a:rPr lang="en-US" altLang="en-US" dirty="0"/>
              <a:t> them separately – sometimes fewer characteristics can be used with more blocks and vice versa</a:t>
            </a:r>
          </a:p>
          <a:p>
            <a:pPr>
              <a:lnSpc>
                <a:spcPct val="80000"/>
              </a:lnSpc>
            </a:pPr>
            <a:r>
              <a:rPr lang="en-US" altLang="en-US" dirty="0">
                <a:solidFill>
                  <a:schemeClr val="tx2"/>
                </a:solidFill>
              </a:rPr>
              <a:t>Strategies</a:t>
            </a:r>
            <a:r>
              <a:rPr lang="en-US" altLang="en-US" dirty="0"/>
              <a:t> for identifying values :</a:t>
            </a:r>
          </a:p>
          <a:p>
            <a:pPr lvl="1">
              <a:lnSpc>
                <a:spcPct val="80000"/>
              </a:lnSpc>
            </a:pPr>
            <a:r>
              <a:rPr lang="en-US" altLang="en-US" dirty="0"/>
              <a:t>Include </a:t>
            </a:r>
            <a:r>
              <a:rPr lang="en-US" altLang="en-US" dirty="0">
                <a:solidFill>
                  <a:schemeClr val="tx2"/>
                </a:solidFill>
              </a:rPr>
              <a:t>valid</a:t>
            </a:r>
            <a:r>
              <a:rPr lang="en-US" altLang="en-US" dirty="0"/>
              <a:t>, </a:t>
            </a:r>
            <a:r>
              <a:rPr lang="en-US" altLang="en-US" dirty="0">
                <a:solidFill>
                  <a:schemeClr val="tx2"/>
                </a:solidFill>
              </a:rPr>
              <a:t>invalid</a:t>
            </a:r>
            <a:r>
              <a:rPr lang="en-US" altLang="en-US" dirty="0"/>
              <a:t> and </a:t>
            </a:r>
            <a:r>
              <a:rPr lang="en-US" altLang="en-US" dirty="0">
                <a:solidFill>
                  <a:schemeClr val="tx2"/>
                </a:solidFill>
              </a:rPr>
              <a:t>special</a:t>
            </a:r>
            <a:r>
              <a:rPr lang="en-US" altLang="en-US" dirty="0"/>
              <a:t> values</a:t>
            </a:r>
          </a:p>
          <a:p>
            <a:pPr lvl="1">
              <a:lnSpc>
                <a:spcPct val="80000"/>
              </a:lnSpc>
            </a:pPr>
            <a:r>
              <a:rPr lang="en-US" altLang="en-US" dirty="0">
                <a:solidFill>
                  <a:schemeClr val="tx2"/>
                </a:solidFill>
              </a:rPr>
              <a:t>Sub-partition</a:t>
            </a:r>
            <a:r>
              <a:rPr lang="en-US" altLang="en-US" dirty="0"/>
              <a:t> some blocks</a:t>
            </a:r>
          </a:p>
          <a:p>
            <a:pPr lvl="1">
              <a:lnSpc>
                <a:spcPct val="80000"/>
              </a:lnSpc>
            </a:pPr>
            <a:r>
              <a:rPr lang="en-US" altLang="en-US" dirty="0"/>
              <a:t>Explore </a:t>
            </a:r>
            <a:r>
              <a:rPr lang="en-US" altLang="en-US" dirty="0">
                <a:solidFill>
                  <a:schemeClr val="tx2"/>
                </a:solidFill>
              </a:rPr>
              <a:t>boundaries</a:t>
            </a:r>
            <a:r>
              <a:rPr lang="en-US" altLang="en-US" dirty="0"/>
              <a:t> of domains</a:t>
            </a:r>
          </a:p>
          <a:p>
            <a:pPr lvl="1">
              <a:lnSpc>
                <a:spcPct val="80000"/>
              </a:lnSpc>
            </a:pPr>
            <a:r>
              <a:rPr lang="en-US" altLang="en-US" dirty="0"/>
              <a:t>Include values that represent “</a:t>
            </a:r>
            <a:r>
              <a:rPr lang="en-US" altLang="en-US" dirty="0">
                <a:solidFill>
                  <a:schemeClr val="tx2"/>
                </a:solidFill>
              </a:rPr>
              <a:t>normal use</a:t>
            </a:r>
            <a:r>
              <a:rPr lang="en-US" altLang="en-US" dirty="0"/>
              <a:t>”</a:t>
            </a:r>
          </a:p>
          <a:p>
            <a:pPr lvl="1">
              <a:lnSpc>
                <a:spcPct val="80000"/>
              </a:lnSpc>
            </a:pPr>
            <a:r>
              <a:rPr lang="en-US" altLang="en-US" dirty="0"/>
              <a:t>Try to </a:t>
            </a:r>
            <a:r>
              <a:rPr lang="en-US" altLang="en-US" dirty="0">
                <a:solidFill>
                  <a:schemeClr val="tx2"/>
                </a:solidFill>
              </a:rPr>
              <a:t>balance</a:t>
            </a:r>
            <a:r>
              <a:rPr lang="en-US" altLang="en-US" dirty="0"/>
              <a:t> the number of blocks in each characteristic</a:t>
            </a:r>
          </a:p>
          <a:p>
            <a:pPr lvl="1">
              <a:lnSpc>
                <a:spcPct val="80000"/>
              </a:lnSpc>
            </a:pPr>
            <a:r>
              <a:rPr lang="en-US" altLang="en-US" dirty="0"/>
              <a:t>Check for </a:t>
            </a:r>
            <a:r>
              <a:rPr lang="en-US" altLang="en-US" dirty="0">
                <a:solidFill>
                  <a:schemeClr val="tx2"/>
                </a:solidFill>
              </a:rPr>
              <a:t>completeness</a:t>
            </a:r>
            <a:r>
              <a:rPr lang="en-US" altLang="en-US" dirty="0"/>
              <a:t> and </a:t>
            </a:r>
            <a:r>
              <a:rPr lang="en-US" altLang="en-US" dirty="0" err="1">
                <a:solidFill>
                  <a:schemeClr val="tx2"/>
                </a:solidFill>
              </a:rPr>
              <a:t>disjointness</a:t>
            </a:r>
            <a:endParaRPr lang="en-US" altLang="en-US" dirty="0"/>
          </a:p>
        </p:txBody>
      </p:sp>
    </p:spTree>
    <p:extLst>
      <p:ext uri="{BB962C8B-B14F-4D97-AF65-F5344CB8AC3E}">
        <p14:creationId xmlns:p14="http://schemas.microsoft.com/office/powerpoint/2010/main" val="261816051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C7A3C9D1-BFD8-4A27-AA39-415DD935A4EB}" type="slidenum">
              <a:rPr lang="en-US" altLang="en-US" sz="900" b="0">
                <a:solidFill>
                  <a:schemeClr val="tx1"/>
                </a:solidFill>
                <a:latin typeface="Arial" charset="0"/>
                <a:cs typeface="Arial" charset="0"/>
              </a:rPr>
              <a:pPr/>
              <a:t>16</a:t>
            </a:fld>
            <a:endParaRPr lang="en-US" altLang="en-US" sz="900" b="0">
              <a:solidFill>
                <a:schemeClr val="tx1"/>
              </a:solidFill>
              <a:latin typeface="Arial" charset="0"/>
              <a:cs typeface="Arial" charset="0"/>
            </a:endParaRPr>
          </a:p>
        </p:txBody>
      </p:sp>
      <p:sp>
        <p:nvSpPr>
          <p:cNvPr id="12292" name="Rectangle 2"/>
          <p:cNvSpPr>
            <a:spLocks noGrp="1" noChangeArrowheads="1"/>
          </p:cNvSpPr>
          <p:nvPr>
            <p:ph type="title"/>
          </p:nvPr>
        </p:nvSpPr>
        <p:spPr>
          <a:xfrm>
            <a:off x="1530350" y="96839"/>
            <a:ext cx="9112482" cy="1280857"/>
          </a:xfrm>
        </p:spPr>
        <p:txBody>
          <a:bodyPr/>
          <a:lstStyle/>
          <a:p>
            <a:r>
              <a:rPr lang="en-US" altLang="en-US" dirty="0"/>
              <a:t>Two Approaches to Input Domain Modeling</a:t>
            </a:r>
          </a:p>
        </p:txBody>
      </p:sp>
      <p:sp>
        <p:nvSpPr>
          <p:cNvPr id="12293" name="Rectangle 3"/>
          <p:cNvSpPr>
            <a:spLocks noGrp="1" noChangeArrowheads="1"/>
          </p:cNvSpPr>
          <p:nvPr>
            <p:ph type="body" idx="1"/>
          </p:nvPr>
        </p:nvSpPr>
        <p:spPr>
          <a:xfrm>
            <a:off x="1530351" y="1146048"/>
            <a:ext cx="9112482" cy="5363036"/>
          </a:xfrm>
        </p:spPr>
        <p:txBody>
          <a:bodyPr/>
          <a:lstStyle/>
          <a:p>
            <a:pPr marL="457200" indent="-457200">
              <a:buFont typeface="Times New Roman" pitchFamily="18" charset="0"/>
              <a:buAutoNum type="arabicPeriod"/>
            </a:pPr>
            <a:r>
              <a:rPr lang="en-US" altLang="en-US" dirty="0">
                <a:solidFill>
                  <a:schemeClr val="tx2"/>
                </a:solidFill>
              </a:rPr>
              <a:t>Interface-based</a:t>
            </a:r>
            <a:r>
              <a:rPr lang="en-US" altLang="en-US" dirty="0"/>
              <a:t> approach</a:t>
            </a:r>
          </a:p>
          <a:p>
            <a:pPr lvl="1"/>
            <a:r>
              <a:rPr lang="en-US" altLang="en-US" dirty="0"/>
              <a:t>Develops characteristics directly from </a:t>
            </a:r>
            <a:r>
              <a:rPr lang="en-US" altLang="en-US" dirty="0">
                <a:solidFill>
                  <a:schemeClr val="tx2"/>
                </a:solidFill>
              </a:rPr>
              <a:t>individual input</a:t>
            </a:r>
            <a:r>
              <a:rPr lang="en-US" altLang="en-US" dirty="0"/>
              <a:t> parameters</a:t>
            </a:r>
          </a:p>
          <a:p>
            <a:pPr lvl="1"/>
            <a:r>
              <a:rPr lang="en-US" altLang="en-US" dirty="0">
                <a:solidFill>
                  <a:schemeClr val="tx2"/>
                </a:solidFill>
              </a:rPr>
              <a:t>Simplest</a:t>
            </a:r>
            <a:r>
              <a:rPr lang="en-US" altLang="en-US" dirty="0"/>
              <a:t> application</a:t>
            </a:r>
          </a:p>
          <a:p>
            <a:pPr lvl="1"/>
            <a:r>
              <a:rPr lang="en-US" altLang="en-US" dirty="0"/>
              <a:t>Can be </a:t>
            </a:r>
            <a:r>
              <a:rPr lang="en-US" altLang="en-US" dirty="0">
                <a:solidFill>
                  <a:schemeClr val="tx2"/>
                </a:solidFill>
              </a:rPr>
              <a:t>partially automated</a:t>
            </a:r>
            <a:r>
              <a:rPr lang="en-US" altLang="en-US" dirty="0"/>
              <a:t> in some situations</a:t>
            </a:r>
          </a:p>
          <a:p>
            <a:pPr lvl="1"/>
            <a:endParaRPr lang="en-US" altLang="en-US" dirty="0"/>
          </a:p>
          <a:p>
            <a:pPr marL="457200" indent="-457200">
              <a:buFont typeface="Times New Roman" pitchFamily="18" charset="0"/>
              <a:buAutoNum type="arabicPeriod"/>
            </a:pPr>
            <a:r>
              <a:rPr lang="en-US" altLang="en-US" dirty="0">
                <a:solidFill>
                  <a:schemeClr val="tx2"/>
                </a:solidFill>
              </a:rPr>
              <a:t>Functionality-based</a:t>
            </a:r>
            <a:r>
              <a:rPr lang="en-US" altLang="en-US" dirty="0"/>
              <a:t> approach</a:t>
            </a:r>
          </a:p>
          <a:p>
            <a:pPr lvl="1"/>
            <a:r>
              <a:rPr lang="en-US" altLang="en-US" dirty="0"/>
              <a:t>Develops characteristics from a </a:t>
            </a:r>
            <a:r>
              <a:rPr lang="en-US" altLang="en-US" dirty="0">
                <a:solidFill>
                  <a:schemeClr val="tx2"/>
                </a:solidFill>
              </a:rPr>
              <a:t>behavioral view</a:t>
            </a:r>
            <a:r>
              <a:rPr lang="en-US" altLang="en-US" dirty="0"/>
              <a:t> of the program under test</a:t>
            </a:r>
          </a:p>
          <a:p>
            <a:pPr lvl="1"/>
            <a:r>
              <a:rPr lang="en-US" altLang="en-US" dirty="0">
                <a:solidFill>
                  <a:schemeClr val="tx2"/>
                </a:solidFill>
              </a:rPr>
              <a:t>Harder</a:t>
            </a:r>
            <a:r>
              <a:rPr lang="en-US" altLang="en-US" dirty="0"/>
              <a:t> to develop—requires more design effort</a:t>
            </a:r>
          </a:p>
          <a:p>
            <a:pPr lvl="1"/>
            <a:r>
              <a:rPr lang="en-US" altLang="en-US" dirty="0"/>
              <a:t>May result in </a:t>
            </a:r>
            <a:r>
              <a:rPr lang="en-US" altLang="en-US" dirty="0">
                <a:solidFill>
                  <a:schemeClr val="tx2"/>
                </a:solidFill>
              </a:rPr>
              <a:t>better tests</a:t>
            </a:r>
            <a:r>
              <a:rPr lang="en-US" altLang="en-US" dirty="0"/>
              <a:t>, or fewer tests that are as effective</a:t>
            </a:r>
          </a:p>
        </p:txBody>
      </p:sp>
      <p:sp>
        <p:nvSpPr>
          <p:cNvPr id="272388" name="Text Box 4"/>
          <p:cNvSpPr txBox="1">
            <a:spLocks noChangeArrowheads="1"/>
          </p:cNvSpPr>
          <p:nvPr/>
        </p:nvSpPr>
        <p:spPr bwMode="auto">
          <a:xfrm>
            <a:off x="4089401" y="5917375"/>
            <a:ext cx="4011613" cy="476250"/>
          </a:xfrm>
          <a:prstGeom prst="rect">
            <a:avLst/>
          </a:prstGeom>
          <a:gradFill rotWithShape="1">
            <a:gsLst>
              <a:gs pos="0">
                <a:srgbClr val="3399FF"/>
              </a:gs>
              <a:gs pos="100000">
                <a:srgbClr val="0033CC"/>
              </a:gs>
            </a:gsLst>
            <a:path path="shape">
              <a:fillToRect l="50000" t="50000" r="50000" b="50000"/>
            </a:path>
          </a:gradFill>
          <a:ln w="19050">
            <a:solidFill>
              <a:schemeClr val="tx1"/>
            </a:solidFill>
            <a:miter lim="800000"/>
            <a:headEnd type="none" w="sm" len="sm"/>
            <a:tailEnd type="none" w="sm" len="sm"/>
          </a:ln>
        </p:spPr>
        <p:txBody>
          <a:bodyPr>
            <a:spAutoFit/>
          </a:bodyPr>
          <a:lstStyle/>
          <a:p>
            <a:pPr algn="ctr">
              <a:spcBef>
                <a:spcPct val="50000"/>
              </a:spcBef>
              <a:defRPr/>
            </a:pPr>
            <a:r>
              <a:rPr lang="en-US" sz="2400" i="1">
                <a:solidFill>
                  <a:schemeClr val="tx2"/>
                </a:solidFill>
                <a:effectLst>
                  <a:outerShdw blurRad="38100" dist="38100" dir="2700000" algn="tl">
                    <a:srgbClr val="000000"/>
                  </a:outerShdw>
                </a:effectLst>
              </a:rPr>
              <a:t>Input Domain Model</a:t>
            </a:r>
            <a:r>
              <a:rPr lang="en-US" sz="2400">
                <a:solidFill>
                  <a:schemeClr val="tx2"/>
                </a:solidFill>
                <a:effectLst>
                  <a:outerShdw blurRad="38100" dist="38100" dir="2700000" algn="tl">
                    <a:srgbClr val="000000"/>
                  </a:outerShdw>
                </a:effectLst>
              </a:rPr>
              <a:t> (IDM)</a:t>
            </a:r>
          </a:p>
        </p:txBody>
      </p:sp>
    </p:spTree>
    <p:extLst>
      <p:ext uri="{BB962C8B-B14F-4D97-AF65-F5344CB8AC3E}">
        <p14:creationId xmlns:p14="http://schemas.microsoft.com/office/powerpoint/2010/main" val="2036287595"/>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2388"/>
                                        </p:tgtEl>
                                        <p:attrNameLst>
                                          <p:attrName>style.visibility</p:attrName>
                                        </p:attrNameLst>
                                      </p:cBhvr>
                                      <p:to>
                                        <p:strVal val="visible"/>
                                      </p:to>
                                    </p:set>
                                    <p:animEffect transition="in" filter="dissolve">
                                      <p:cBhvr>
                                        <p:cTn id="7" dur="500"/>
                                        <p:tgtEl>
                                          <p:spTgt spid="272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88"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4EF52CFE-107B-4B55-B4EA-F67C50A2DA19}" type="slidenum">
              <a:rPr lang="en-US" altLang="en-US" sz="900" b="0">
                <a:solidFill>
                  <a:schemeClr val="tx1"/>
                </a:solidFill>
                <a:latin typeface="Arial" charset="0"/>
                <a:cs typeface="Arial" charset="0"/>
              </a:rPr>
              <a:pPr/>
              <a:t>17</a:t>
            </a:fld>
            <a:endParaRPr lang="en-US" altLang="en-US" sz="900" b="0">
              <a:solidFill>
                <a:schemeClr val="tx1"/>
              </a:solidFill>
              <a:latin typeface="Arial" charset="0"/>
              <a:cs typeface="Arial" charset="0"/>
            </a:endParaRPr>
          </a:p>
        </p:txBody>
      </p:sp>
      <p:sp>
        <p:nvSpPr>
          <p:cNvPr id="13316" name="Rectangle 2"/>
          <p:cNvSpPr>
            <a:spLocks noGrp="1" noChangeArrowheads="1"/>
          </p:cNvSpPr>
          <p:nvPr>
            <p:ph type="title"/>
          </p:nvPr>
        </p:nvSpPr>
        <p:spPr/>
        <p:txBody>
          <a:bodyPr/>
          <a:lstStyle/>
          <a:p>
            <a:r>
              <a:rPr lang="en-US" altLang="en-US" dirty="0"/>
              <a:t>1. Interface-Based Approach</a:t>
            </a:r>
          </a:p>
        </p:txBody>
      </p:sp>
      <p:sp>
        <p:nvSpPr>
          <p:cNvPr id="13317" name="Rectangle 3"/>
          <p:cNvSpPr>
            <a:spLocks noGrp="1" noChangeArrowheads="1"/>
          </p:cNvSpPr>
          <p:nvPr>
            <p:ph type="body" idx="1"/>
          </p:nvPr>
        </p:nvSpPr>
        <p:spPr>
          <a:xfrm>
            <a:off x="1662114" y="816864"/>
            <a:ext cx="8867775" cy="3700336"/>
          </a:xfrm>
        </p:spPr>
        <p:txBody>
          <a:bodyPr/>
          <a:lstStyle/>
          <a:p>
            <a:pPr>
              <a:spcBef>
                <a:spcPts val="1800"/>
              </a:spcBef>
            </a:pPr>
            <a:r>
              <a:rPr lang="en-US" altLang="en-US" sz="2400" dirty="0">
                <a:solidFill>
                  <a:schemeClr val="tx2"/>
                </a:solidFill>
              </a:rPr>
              <a:t>Mechanically</a:t>
            </a:r>
            <a:r>
              <a:rPr lang="en-US" altLang="en-US" sz="2400" dirty="0"/>
              <a:t> consider each parameter in isolation</a:t>
            </a:r>
          </a:p>
          <a:p>
            <a:pPr>
              <a:spcBef>
                <a:spcPts val="1800"/>
              </a:spcBef>
            </a:pPr>
            <a:r>
              <a:rPr lang="en-US" altLang="en-US" sz="2400" dirty="0"/>
              <a:t>This is an easy modeling technique and relies mostly on </a:t>
            </a:r>
            <a:r>
              <a:rPr lang="en-US" altLang="en-US" sz="2400" dirty="0">
                <a:solidFill>
                  <a:schemeClr val="tx2"/>
                </a:solidFill>
              </a:rPr>
              <a:t>syntax</a:t>
            </a:r>
          </a:p>
          <a:p>
            <a:pPr>
              <a:spcBef>
                <a:spcPts val="1800"/>
              </a:spcBef>
            </a:pPr>
            <a:r>
              <a:rPr lang="en-US" altLang="en-US" sz="2400" dirty="0"/>
              <a:t>Some </a:t>
            </a:r>
            <a:r>
              <a:rPr lang="en-US" altLang="en-US" sz="2400" dirty="0">
                <a:solidFill>
                  <a:schemeClr val="tx2"/>
                </a:solidFill>
              </a:rPr>
              <a:t>domain</a:t>
            </a:r>
            <a:r>
              <a:rPr lang="en-US" altLang="en-US" sz="2400" dirty="0"/>
              <a:t> and </a:t>
            </a:r>
            <a:r>
              <a:rPr lang="en-US" altLang="en-US" sz="2400" dirty="0">
                <a:solidFill>
                  <a:schemeClr val="tx2"/>
                </a:solidFill>
              </a:rPr>
              <a:t>semantic</a:t>
            </a:r>
            <a:r>
              <a:rPr lang="en-US" altLang="en-US" sz="2400" dirty="0"/>
              <a:t> information won’t be used</a:t>
            </a:r>
          </a:p>
          <a:p>
            <a:pPr lvl="1"/>
            <a:r>
              <a:rPr lang="en-US" altLang="en-US" sz="2000" dirty="0"/>
              <a:t>Could lead to an </a:t>
            </a:r>
            <a:r>
              <a:rPr lang="en-US" altLang="en-US" sz="2000" dirty="0">
                <a:solidFill>
                  <a:schemeClr val="tx2"/>
                </a:solidFill>
              </a:rPr>
              <a:t>incomplete</a:t>
            </a:r>
            <a:r>
              <a:rPr lang="en-US" altLang="en-US" sz="2000" dirty="0"/>
              <a:t> IDM</a:t>
            </a:r>
          </a:p>
          <a:p>
            <a:pPr>
              <a:spcBef>
                <a:spcPts val="1800"/>
              </a:spcBef>
            </a:pPr>
            <a:r>
              <a:rPr lang="en-US" altLang="en-US" sz="2400" dirty="0"/>
              <a:t>Ignores </a:t>
            </a:r>
            <a:r>
              <a:rPr lang="en-US" altLang="en-US" sz="2400" dirty="0">
                <a:solidFill>
                  <a:schemeClr val="tx2"/>
                </a:solidFill>
              </a:rPr>
              <a:t>relationships</a:t>
            </a:r>
            <a:r>
              <a:rPr lang="en-US" altLang="en-US" sz="2400" dirty="0"/>
              <a:t> among parameters</a:t>
            </a:r>
          </a:p>
          <a:p>
            <a:pPr>
              <a:spcBef>
                <a:spcPts val="1800"/>
              </a:spcBef>
            </a:pPr>
            <a:r>
              <a:rPr lang="en-US" altLang="en-US" sz="2400" dirty="0"/>
              <a:t>Consider method </a:t>
            </a:r>
            <a:r>
              <a:rPr lang="en-US" altLang="en-US" sz="2400" i="1" dirty="0" err="1">
                <a:latin typeface="Arial" panose="020B0604020202020204" pitchFamily="34" charset="0"/>
                <a:cs typeface="Arial" panose="020B0604020202020204" pitchFamily="34" charset="0"/>
              </a:rPr>
              <a:t>triang</a:t>
            </a:r>
            <a:r>
              <a:rPr lang="en-US" altLang="en-US" sz="2400" i="1" dirty="0"/>
              <a:t>()</a:t>
            </a:r>
            <a:r>
              <a:rPr lang="en-US" altLang="en-US" sz="2400" dirty="0"/>
              <a:t> from class </a:t>
            </a:r>
            <a:r>
              <a:rPr lang="en-US" altLang="en-US" sz="2400" i="1" dirty="0" err="1">
                <a:latin typeface="Arial" panose="020B0604020202020204" pitchFamily="34" charset="0"/>
                <a:cs typeface="Arial" panose="020B0604020202020204" pitchFamily="34" charset="0"/>
              </a:rPr>
              <a:t>TriangleType</a:t>
            </a:r>
            <a:endParaRPr lang="en-US" altLang="en-US" sz="1800" dirty="0"/>
          </a:p>
          <a:p>
            <a:pPr>
              <a:spcBef>
                <a:spcPts val="1800"/>
              </a:spcBef>
            </a:pPr>
            <a:endParaRPr lang="en-US" altLang="en-US" sz="2400" dirty="0"/>
          </a:p>
        </p:txBody>
      </p:sp>
      <p:sp>
        <p:nvSpPr>
          <p:cNvPr id="7" name="Text Box 36">
            <a:extLst>
              <a:ext uri="{FF2B5EF4-FFF2-40B4-BE49-F238E27FC236}">
                <a16:creationId xmlns:a16="http://schemas.microsoft.com/office/drawing/2014/main" id="{ABE80490-716D-4D1E-8D60-CB0BFCF3DA9F}"/>
              </a:ext>
            </a:extLst>
          </p:cNvPr>
          <p:cNvSpPr txBox="1">
            <a:spLocks noChangeArrowheads="1"/>
          </p:cNvSpPr>
          <p:nvPr/>
        </p:nvSpPr>
        <p:spPr bwMode="auto">
          <a:xfrm>
            <a:off x="1846768" y="3891699"/>
            <a:ext cx="8607371" cy="1538883"/>
          </a:xfrm>
          <a:prstGeom prst="rect">
            <a:avLst/>
          </a:prstGeom>
          <a:solidFill>
            <a:srgbClr val="00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lnSpc>
                <a:spcPct val="80000"/>
              </a:lnSpc>
              <a:spcBef>
                <a:spcPct val="50000"/>
              </a:spcBef>
            </a:pPr>
            <a:r>
              <a:rPr kumimoji="1" lang="en-US" altLang="zh-CN" b="0" dirty="0">
                <a:solidFill>
                  <a:schemeClr val="tx1"/>
                </a:solidFill>
                <a:latin typeface="Arial" panose="020B0604020202020204" pitchFamily="34" charset="0"/>
                <a:ea typeface="楷体_GB2312" pitchFamily="49" charset="-122"/>
                <a:cs typeface="Arial" panose="020B0604020202020204" pitchFamily="34" charset="0"/>
              </a:rPr>
              <a:t>public </a:t>
            </a:r>
            <a:r>
              <a:rPr kumimoji="1" lang="en-US" altLang="zh-CN" b="0" dirty="0" err="1">
                <a:solidFill>
                  <a:schemeClr val="tx1"/>
                </a:solidFill>
                <a:latin typeface="Arial" panose="020B0604020202020204" pitchFamily="34" charset="0"/>
                <a:ea typeface="楷体_GB2312" pitchFamily="49" charset="-122"/>
                <a:cs typeface="Arial" panose="020B0604020202020204" pitchFamily="34" charset="0"/>
              </a:rPr>
              <a:t>enum</a:t>
            </a:r>
            <a:r>
              <a:rPr kumimoji="1" lang="en-US" altLang="zh-CN" b="0" dirty="0">
                <a:solidFill>
                  <a:schemeClr val="tx1"/>
                </a:solidFill>
                <a:latin typeface="Arial" panose="020B0604020202020204" pitchFamily="34" charset="0"/>
                <a:ea typeface="楷体_GB2312" pitchFamily="49" charset="-122"/>
                <a:cs typeface="Arial" panose="020B0604020202020204" pitchFamily="34" charset="0"/>
              </a:rPr>
              <a:t> Triangle { Scalene, Isosceles, Equilateral, Invalid }</a:t>
            </a:r>
          </a:p>
          <a:p>
            <a:pPr eaLnBrk="1" hangingPunct="1">
              <a:lnSpc>
                <a:spcPct val="80000"/>
              </a:lnSpc>
              <a:spcBef>
                <a:spcPct val="50000"/>
              </a:spcBef>
            </a:pPr>
            <a:r>
              <a:rPr kumimoji="1" lang="en-US" altLang="zh-CN" b="0" dirty="0">
                <a:solidFill>
                  <a:schemeClr val="tx1"/>
                </a:solidFill>
                <a:latin typeface="Arial" panose="020B0604020202020204" pitchFamily="34" charset="0"/>
                <a:ea typeface="楷体_GB2312" pitchFamily="49" charset="-122"/>
                <a:cs typeface="Arial" panose="020B0604020202020204" pitchFamily="34" charset="0"/>
              </a:rPr>
              <a:t>public static Triangle </a:t>
            </a:r>
            <a:r>
              <a:rPr kumimoji="1" lang="en-US" altLang="zh-CN" b="0" dirty="0" err="1">
                <a:solidFill>
                  <a:schemeClr val="tx1"/>
                </a:solidFill>
                <a:latin typeface="Arial" panose="020B0604020202020204" pitchFamily="34" charset="0"/>
                <a:ea typeface="楷体_GB2312" pitchFamily="49" charset="-122"/>
                <a:cs typeface="Arial" panose="020B0604020202020204" pitchFamily="34" charset="0"/>
              </a:rPr>
              <a:t>triang</a:t>
            </a:r>
            <a:r>
              <a:rPr kumimoji="1" lang="en-US" altLang="zh-CN" b="0" dirty="0">
                <a:solidFill>
                  <a:schemeClr val="tx1"/>
                </a:solidFill>
                <a:latin typeface="Arial" panose="020B0604020202020204" pitchFamily="34" charset="0"/>
                <a:ea typeface="楷体_GB2312" pitchFamily="49" charset="-122"/>
                <a:cs typeface="Arial" panose="020B0604020202020204" pitchFamily="34" charset="0"/>
              </a:rPr>
              <a:t> (</a:t>
            </a:r>
            <a:r>
              <a:rPr kumimoji="1" lang="en-US" altLang="zh-CN" b="0" dirty="0" err="1">
                <a:solidFill>
                  <a:schemeClr val="tx1"/>
                </a:solidFill>
                <a:latin typeface="Arial" panose="020B0604020202020204" pitchFamily="34" charset="0"/>
                <a:ea typeface="楷体_GB2312" pitchFamily="49" charset="-122"/>
                <a:cs typeface="Arial" panose="020B0604020202020204" pitchFamily="34" charset="0"/>
              </a:rPr>
              <a:t>int</a:t>
            </a:r>
            <a:r>
              <a:rPr kumimoji="1" lang="en-US" altLang="zh-CN" b="0" dirty="0">
                <a:solidFill>
                  <a:schemeClr val="tx1"/>
                </a:solidFill>
                <a:latin typeface="Arial" panose="020B0604020202020204" pitchFamily="34" charset="0"/>
                <a:ea typeface="楷体_GB2312" pitchFamily="49" charset="-122"/>
                <a:cs typeface="Arial" panose="020B0604020202020204" pitchFamily="34" charset="0"/>
              </a:rPr>
              <a:t> Side, </a:t>
            </a:r>
            <a:r>
              <a:rPr kumimoji="1" lang="en-US" altLang="zh-CN" b="0" dirty="0" err="1">
                <a:solidFill>
                  <a:schemeClr val="tx1"/>
                </a:solidFill>
                <a:latin typeface="Arial" panose="020B0604020202020204" pitchFamily="34" charset="0"/>
                <a:ea typeface="楷体_GB2312" pitchFamily="49" charset="-122"/>
                <a:cs typeface="Arial" panose="020B0604020202020204" pitchFamily="34" charset="0"/>
              </a:rPr>
              <a:t>int</a:t>
            </a:r>
            <a:r>
              <a:rPr kumimoji="1" lang="en-US" altLang="zh-CN" b="0" dirty="0">
                <a:solidFill>
                  <a:schemeClr val="tx1"/>
                </a:solidFill>
                <a:latin typeface="Arial" panose="020B0604020202020204" pitchFamily="34" charset="0"/>
                <a:ea typeface="楷体_GB2312" pitchFamily="49" charset="-122"/>
                <a:cs typeface="Arial" panose="020B0604020202020204" pitchFamily="34" charset="0"/>
              </a:rPr>
              <a:t> Side2, </a:t>
            </a:r>
            <a:r>
              <a:rPr kumimoji="1" lang="en-US" altLang="zh-CN" b="0" dirty="0" err="1">
                <a:solidFill>
                  <a:schemeClr val="tx1"/>
                </a:solidFill>
                <a:latin typeface="Arial" panose="020B0604020202020204" pitchFamily="34" charset="0"/>
                <a:ea typeface="楷体_GB2312" pitchFamily="49" charset="-122"/>
                <a:cs typeface="Arial" panose="020B0604020202020204" pitchFamily="34" charset="0"/>
              </a:rPr>
              <a:t>int</a:t>
            </a:r>
            <a:r>
              <a:rPr kumimoji="1" lang="en-US" altLang="zh-CN" b="0" dirty="0">
                <a:solidFill>
                  <a:schemeClr val="tx1"/>
                </a:solidFill>
                <a:latin typeface="Arial" panose="020B0604020202020204" pitchFamily="34" charset="0"/>
                <a:ea typeface="楷体_GB2312" pitchFamily="49" charset="-122"/>
                <a:cs typeface="Arial" panose="020B0604020202020204" pitchFamily="34" charset="0"/>
              </a:rPr>
              <a:t> Side3)</a:t>
            </a:r>
          </a:p>
          <a:p>
            <a:pPr eaLnBrk="1" hangingPunct="1">
              <a:lnSpc>
                <a:spcPct val="80000"/>
              </a:lnSpc>
              <a:spcBef>
                <a:spcPct val="50000"/>
              </a:spcBef>
            </a:pPr>
            <a:r>
              <a:rPr kumimoji="1" lang="en-US" altLang="zh-CN" b="0" dirty="0">
                <a:solidFill>
                  <a:schemeClr val="tx1"/>
                </a:solidFill>
                <a:latin typeface="Arial" panose="020B0604020202020204" pitchFamily="34" charset="0"/>
                <a:ea typeface="楷体_GB2312" pitchFamily="49" charset="-122"/>
                <a:cs typeface="Arial" panose="020B0604020202020204" pitchFamily="34" charset="0"/>
              </a:rPr>
              <a:t>// Side1, Side2, </a:t>
            </a:r>
            <a:r>
              <a:rPr kumimoji="1" lang="en-US" altLang="zh-CN" b="0" dirty="0">
                <a:solidFill>
                  <a:schemeClr val="tx1"/>
                </a:solidFill>
                <a:latin typeface="Gill Sans MT" panose="020B0502020104020203" pitchFamily="34" charset="0"/>
                <a:ea typeface="楷体_GB2312" pitchFamily="49" charset="-122"/>
                <a:cs typeface="Arial" panose="020B0604020202020204" pitchFamily="34" charset="0"/>
              </a:rPr>
              <a:t>and</a:t>
            </a:r>
            <a:r>
              <a:rPr kumimoji="1" lang="en-US" altLang="zh-CN" b="0" dirty="0">
                <a:solidFill>
                  <a:schemeClr val="tx1"/>
                </a:solidFill>
                <a:latin typeface="Arial" panose="020B0604020202020204" pitchFamily="34" charset="0"/>
                <a:ea typeface="楷体_GB2312" pitchFamily="49" charset="-122"/>
                <a:cs typeface="Arial" panose="020B0604020202020204" pitchFamily="34" charset="0"/>
              </a:rPr>
              <a:t> Side3 </a:t>
            </a:r>
            <a:r>
              <a:rPr kumimoji="1" lang="en-US" altLang="zh-CN" b="0" dirty="0">
                <a:solidFill>
                  <a:schemeClr val="tx1"/>
                </a:solidFill>
                <a:latin typeface="Gill Sans MT" panose="020B0502020104020203" pitchFamily="34" charset="0"/>
                <a:ea typeface="楷体_GB2312" pitchFamily="49" charset="-122"/>
                <a:cs typeface="Arial" panose="020B0604020202020204" pitchFamily="34" charset="0"/>
              </a:rPr>
              <a:t>represent the lengths of the sides of a triangle</a:t>
            </a:r>
          </a:p>
          <a:p>
            <a:pPr eaLnBrk="1" hangingPunct="1">
              <a:lnSpc>
                <a:spcPct val="80000"/>
              </a:lnSpc>
              <a:spcBef>
                <a:spcPct val="50000"/>
              </a:spcBef>
            </a:pPr>
            <a:r>
              <a:rPr kumimoji="1" lang="en-US" altLang="zh-CN" b="0" dirty="0">
                <a:solidFill>
                  <a:schemeClr val="tx1"/>
                </a:solidFill>
                <a:latin typeface="Gill Sans MT" panose="020B0502020104020203" pitchFamily="34" charset="0"/>
                <a:ea typeface="楷体_GB2312" pitchFamily="49" charset="-122"/>
                <a:cs typeface="Arial" panose="020B0604020202020204" pitchFamily="34" charset="0"/>
              </a:rPr>
              <a:t>// Returns the appropriate </a:t>
            </a:r>
            <a:r>
              <a:rPr kumimoji="1" lang="en-US" altLang="zh-CN" b="0" dirty="0" err="1">
                <a:solidFill>
                  <a:schemeClr val="tx1"/>
                </a:solidFill>
                <a:latin typeface="Arial" panose="020B0604020202020204" pitchFamily="34" charset="0"/>
                <a:ea typeface="楷体_GB2312" pitchFamily="49" charset="-122"/>
                <a:cs typeface="Arial" panose="020B0604020202020204" pitchFamily="34" charset="0"/>
              </a:rPr>
              <a:t>enum</a:t>
            </a:r>
            <a:r>
              <a:rPr kumimoji="1" lang="en-US" altLang="zh-CN" b="0" dirty="0">
                <a:solidFill>
                  <a:schemeClr val="tx1"/>
                </a:solidFill>
                <a:latin typeface="Gill Sans MT" panose="020B0502020104020203" pitchFamily="34" charset="0"/>
                <a:ea typeface="楷体_GB2312" pitchFamily="49" charset="-122"/>
                <a:cs typeface="Arial" panose="020B0604020202020204" pitchFamily="34" charset="0"/>
              </a:rPr>
              <a:t> value</a:t>
            </a:r>
            <a:endParaRPr kumimoji="1" lang="en-US" altLang="zh-CN" sz="2400" b="0" dirty="0">
              <a:solidFill>
                <a:schemeClr val="tx1"/>
              </a:solidFill>
              <a:latin typeface="Gill Sans MT" panose="020B0502020104020203" pitchFamily="34" charset="0"/>
              <a:ea typeface="楷体_GB2312" pitchFamily="49" charset="-122"/>
              <a:cs typeface="Arial" panose="020B0604020202020204" pitchFamily="34" charset="0"/>
            </a:endParaRPr>
          </a:p>
        </p:txBody>
      </p:sp>
      <p:sp>
        <p:nvSpPr>
          <p:cNvPr id="8" name="Text Box 36">
            <a:extLst>
              <a:ext uri="{FF2B5EF4-FFF2-40B4-BE49-F238E27FC236}">
                <a16:creationId xmlns:a16="http://schemas.microsoft.com/office/drawing/2014/main" id="{72939214-DD46-4494-AA95-38487FB835F0}"/>
              </a:ext>
            </a:extLst>
          </p:cNvPr>
          <p:cNvSpPr txBox="1">
            <a:spLocks noChangeArrowheads="1"/>
          </p:cNvSpPr>
          <p:nvPr/>
        </p:nvSpPr>
        <p:spPr bwMode="auto">
          <a:xfrm>
            <a:off x="2440977" y="5633360"/>
            <a:ext cx="7262812" cy="861774"/>
          </a:xfrm>
          <a:prstGeom prst="rect">
            <a:avLst/>
          </a:prstGeom>
          <a:solidFill>
            <a:srgbClr val="0033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spcBef>
                <a:spcPct val="50000"/>
              </a:spcBef>
            </a:pPr>
            <a:r>
              <a:rPr kumimoji="1" lang="en-US" altLang="zh-CN" dirty="0">
                <a:solidFill>
                  <a:schemeClr val="tx1"/>
                </a:solidFill>
                <a:ea typeface="楷体_GB2312" pitchFamily="49" charset="-122"/>
              </a:rPr>
              <a:t>The IDM for each parameter is identical</a:t>
            </a:r>
          </a:p>
          <a:p>
            <a:pPr eaLnBrk="1" hangingPunct="1">
              <a:spcBef>
                <a:spcPct val="50000"/>
              </a:spcBef>
            </a:pPr>
            <a:r>
              <a:rPr kumimoji="1" lang="en-US" altLang="zh-CN" dirty="0">
                <a:solidFill>
                  <a:schemeClr val="tx1"/>
                </a:solidFill>
                <a:ea typeface="楷体_GB2312" pitchFamily="49" charset="-122"/>
              </a:rPr>
              <a:t>Reasonable characteristic : </a:t>
            </a:r>
            <a:r>
              <a:rPr kumimoji="1" lang="en-US" altLang="zh-CN" i="1" dirty="0">
                <a:solidFill>
                  <a:schemeClr val="tx1"/>
                </a:solidFill>
                <a:ea typeface="楷体_GB2312" pitchFamily="49" charset="-122"/>
              </a:rPr>
              <a:t>Relation of side with zero</a:t>
            </a:r>
          </a:p>
        </p:txBody>
      </p:sp>
    </p:spTree>
    <p:extLst>
      <p:ext uri="{BB962C8B-B14F-4D97-AF65-F5344CB8AC3E}">
        <p14:creationId xmlns:p14="http://schemas.microsoft.com/office/powerpoint/2010/main" val="2061047285"/>
      </p:ext>
    </p:extLst>
  </p:cSld>
  <p:clrMapOvr>
    <a:masterClrMapping/>
  </p:clrMapOvr>
  <p:transition spd="med" advTm="1234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Interface-Based –</a:t>
            </a:r>
            <a:r>
              <a:rPr lang="en-US" altLang="en-US" i="1" dirty="0" err="1"/>
              <a:t>triang</a:t>
            </a:r>
            <a:r>
              <a:rPr lang="en-US" altLang="en-US" i="1" dirty="0"/>
              <a:t>()</a:t>
            </a:r>
            <a:endParaRPr lang="en-US" i="1" dirty="0"/>
          </a:p>
        </p:txBody>
      </p:sp>
      <p:sp>
        <p:nvSpPr>
          <p:cNvPr id="3" name="Content Placeholder 2"/>
          <p:cNvSpPr>
            <a:spLocks noGrp="1"/>
          </p:cNvSpPr>
          <p:nvPr>
            <p:ph idx="1"/>
          </p:nvPr>
        </p:nvSpPr>
        <p:spPr>
          <a:xfrm>
            <a:off x="1530351" y="878306"/>
            <a:ext cx="9112482" cy="712942"/>
          </a:xfrm>
        </p:spPr>
        <p:txBody>
          <a:bodyPr/>
          <a:lstStyle/>
          <a:p>
            <a:r>
              <a:rPr lang="en-US" altLang="en-US" i="1" dirty="0" err="1"/>
              <a:t>triang</a:t>
            </a:r>
            <a:r>
              <a:rPr lang="en-US" altLang="en-US" dirty="0"/>
              <a:t>() has one testable function and three integer inputs</a:t>
            </a:r>
          </a:p>
        </p:txBody>
      </p:sp>
      <p:sp>
        <p:nvSpPr>
          <p:cNvPr id="6" name="Slide Number Placeholder 5"/>
          <p:cNvSpPr>
            <a:spLocks noGrp="1"/>
          </p:cNvSpPr>
          <p:nvPr>
            <p:ph type="sldNum" sz="quarter" idx="12"/>
          </p:nvPr>
        </p:nvSpPr>
        <p:spPr/>
        <p:txBody>
          <a:bodyPr/>
          <a:lstStyle/>
          <a:p>
            <a:pPr>
              <a:defRPr/>
            </a:pPr>
            <a:fld id="{FE742154-05E0-4FD4-B04E-B92FD3670A3A}" type="slidenum">
              <a:rPr lang="en-US" smtClean="0"/>
              <a:pPr>
                <a:defRPr/>
              </a:pPr>
              <a:t>18</a:t>
            </a:fld>
            <a:endParaRPr lang="en-US"/>
          </a:p>
        </p:txBody>
      </p:sp>
      <p:graphicFrame>
        <p:nvGraphicFramePr>
          <p:cNvPr id="7" name="Group 37"/>
          <p:cNvGraphicFramePr>
            <a:graphicFrameLocks noGrp="1"/>
          </p:cNvGraphicFramePr>
          <p:nvPr/>
        </p:nvGraphicFramePr>
        <p:xfrm>
          <a:off x="2174875" y="2048448"/>
          <a:ext cx="7924800" cy="2093913"/>
        </p:xfrm>
        <a:graphic>
          <a:graphicData uri="http://schemas.openxmlformats.org/drawingml/2006/table">
            <a:tbl>
              <a:tblPr/>
              <a:tblGrid>
                <a:gridCol w="33528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tblGrid>
              <a:tr h="455613">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Times New Roman" pitchFamily="18" charset="0"/>
                          <a:ea typeface="宋体" charset="-122"/>
                        </a:rPr>
                        <a:t>Characteristic</a:t>
                      </a:r>
                    </a:p>
                  </a:txBody>
                  <a:tcP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a:ln>
                            <a:noFill/>
                          </a:ln>
                          <a:solidFill>
                            <a:schemeClr val="tx2"/>
                          </a:solidFill>
                          <a:effectLst/>
                          <a:latin typeface="Times New Roman" pitchFamily="18" charset="0"/>
                          <a:ea typeface="宋体" charset="-122"/>
                        </a:rPr>
                        <a:t>b</a:t>
                      </a:r>
                      <a:r>
                        <a:rPr kumimoji="0" lang="en-US" altLang="zh-CN" sz="2400" b="0" i="0" u="none" strike="noStrike" cap="none" normalizeH="0" baseline="-25000">
                          <a:ln>
                            <a:noFill/>
                          </a:ln>
                          <a:solidFill>
                            <a:schemeClr val="tx2"/>
                          </a:solidFill>
                          <a:effectLst/>
                          <a:latin typeface="Times New Roman" pitchFamily="18" charset="0"/>
                          <a:ea typeface="宋体" charset="-122"/>
                        </a:rPr>
                        <a:t>1</a:t>
                      </a: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a:ln>
                            <a:noFill/>
                          </a:ln>
                          <a:solidFill>
                            <a:schemeClr val="tx2"/>
                          </a:solidFill>
                          <a:effectLst/>
                          <a:latin typeface="Times New Roman" pitchFamily="18" charset="0"/>
                          <a:ea typeface="宋体" charset="-122"/>
                        </a:rPr>
                        <a:t>b</a:t>
                      </a:r>
                      <a:r>
                        <a:rPr kumimoji="0" lang="en-US" altLang="zh-CN" sz="2400" b="0" i="0" u="none" strike="noStrike" cap="none" normalizeH="0" baseline="-25000">
                          <a:ln>
                            <a:noFill/>
                          </a:ln>
                          <a:solidFill>
                            <a:schemeClr val="tx2"/>
                          </a:solidFill>
                          <a:effectLst/>
                          <a:latin typeface="Times New Roman" pitchFamily="18" charset="0"/>
                          <a:ea typeface="宋体" charset="-122"/>
                        </a:rPr>
                        <a:t>2</a:t>
                      </a: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a:ln>
                            <a:noFill/>
                          </a:ln>
                          <a:solidFill>
                            <a:schemeClr val="tx2"/>
                          </a:solidFill>
                          <a:effectLst/>
                          <a:latin typeface="Times New Roman" pitchFamily="18" charset="0"/>
                          <a:ea typeface="宋体" charset="-122"/>
                        </a:rPr>
                        <a:t>b</a:t>
                      </a:r>
                      <a:r>
                        <a:rPr kumimoji="0" lang="en-US" altLang="zh-CN" sz="2400" b="0" i="0" u="none" strike="noStrike" cap="none" normalizeH="0" baseline="-25000">
                          <a:ln>
                            <a:noFill/>
                          </a:ln>
                          <a:solidFill>
                            <a:schemeClr val="tx2"/>
                          </a:solidFill>
                          <a:effectLst/>
                          <a:latin typeface="Times New Roman" pitchFamily="18" charset="0"/>
                          <a:ea typeface="宋体" charset="-122"/>
                        </a:rPr>
                        <a:t>3</a:t>
                      </a:r>
                    </a:p>
                  </a:txBody>
                  <a:tcP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extLst>
                  <a:ext uri="{0D108BD9-81ED-4DB2-BD59-A6C34878D82A}">
                    <a16:rowId xmlns:a16="http://schemas.microsoft.com/office/drawing/2014/main" val="10000"/>
                  </a:ext>
                </a:extLst>
              </a:tr>
              <a:tr h="546100">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Times New Roman" pitchFamily="18" charset="0"/>
                          <a:ea typeface="宋体" charset="-122"/>
                        </a:rPr>
                        <a:t>q</a:t>
                      </a:r>
                      <a:r>
                        <a:rPr kumimoji="0" lang="en-US" altLang="zh-CN" sz="2000" b="0" i="0" u="none" strike="noStrike" cap="none" normalizeH="0" baseline="-25000">
                          <a:ln>
                            <a:noFill/>
                          </a:ln>
                          <a:solidFill>
                            <a:schemeClr val="tx1"/>
                          </a:solidFill>
                          <a:effectLst/>
                          <a:latin typeface="Times New Roman" pitchFamily="18" charset="0"/>
                          <a:ea typeface="宋体" charset="-122"/>
                        </a:rPr>
                        <a:t>1</a:t>
                      </a:r>
                      <a:r>
                        <a:rPr kumimoji="0" lang="en-US" altLang="zh-CN" sz="2000" b="0" i="0" u="none" strike="noStrike" cap="none" normalizeH="0" baseline="0">
                          <a:ln>
                            <a:noFill/>
                          </a:ln>
                          <a:solidFill>
                            <a:schemeClr val="tx1"/>
                          </a:solidFill>
                          <a:effectLst/>
                          <a:latin typeface="Times New Roman" pitchFamily="18" charset="0"/>
                          <a:ea typeface="宋体" charset="-122"/>
                        </a:rPr>
                        <a:t> = “Relation of Side 1 to 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Times New Roman" pitchFamily="18" charset="0"/>
                          <a:ea typeface="宋体" charset="-122"/>
                        </a:rPr>
                        <a:t>greater than 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Times New Roman" pitchFamily="18" charset="0"/>
                          <a:ea typeface="宋体" charset="-122"/>
                        </a:rPr>
                        <a:t>equal to 0</a:t>
                      </a:r>
                      <a:endParaRPr kumimoji="0" lang="zh-CN" altLang="en-US" sz="2000" b="0"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Times New Roman" pitchFamily="18" charset="0"/>
                          <a:ea typeface="宋体" charset="-122"/>
                        </a:rPr>
                        <a:t>less than 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46100">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charset="-122"/>
                        </a:rPr>
                        <a:t>q</a:t>
                      </a:r>
                      <a:r>
                        <a:rPr kumimoji="0" lang="en-US" altLang="zh-CN" sz="2000" b="0" i="0" u="none" strike="noStrike" cap="none" normalizeH="0" baseline="-25000" dirty="0">
                          <a:ln>
                            <a:noFill/>
                          </a:ln>
                          <a:solidFill>
                            <a:schemeClr val="tx1"/>
                          </a:solidFill>
                          <a:effectLst/>
                          <a:latin typeface="Times New Roman" pitchFamily="18" charset="0"/>
                          <a:ea typeface="宋体" charset="-122"/>
                        </a:rPr>
                        <a:t>2</a:t>
                      </a:r>
                      <a:r>
                        <a:rPr kumimoji="0" lang="en-US" altLang="zh-CN" sz="2000" b="0" i="0" u="none" strike="noStrike" cap="none" normalizeH="0" baseline="0" dirty="0">
                          <a:ln>
                            <a:noFill/>
                          </a:ln>
                          <a:solidFill>
                            <a:schemeClr val="tx1"/>
                          </a:solidFill>
                          <a:effectLst/>
                          <a:latin typeface="Times New Roman" pitchFamily="18" charset="0"/>
                          <a:ea typeface="宋体" charset="-122"/>
                        </a:rPr>
                        <a:t> = “Relation of Side 2 to 0”</a:t>
                      </a:r>
                      <a:endParaRPr kumimoji="0" lang="zh-CN" altLang="en-US" sz="2000" b="0" i="0" u="none" strike="noStrike" cap="none" normalizeH="0" baseline="0" dirty="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Times New Roman" pitchFamily="18" charset="0"/>
                          <a:ea typeface="宋体" charset="-122"/>
                        </a:rPr>
                        <a:t>greater than 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Times New Roman" pitchFamily="18" charset="0"/>
                          <a:ea typeface="宋体" charset="-122"/>
                        </a:rPr>
                        <a:t>equal to 0</a:t>
                      </a:r>
                      <a:endParaRPr kumimoji="0" lang="zh-CN" altLang="en-US" sz="2000" b="0"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Times New Roman" pitchFamily="18" charset="0"/>
                          <a:ea typeface="宋体" charset="-122"/>
                        </a:rPr>
                        <a:t>less than 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46100">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Times New Roman" pitchFamily="18" charset="0"/>
                          <a:ea typeface="宋体" charset="-122"/>
                        </a:rPr>
                        <a:t>q</a:t>
                      </a:r>
                      <a:r>
                        <a:rPr kumimoji="0" lang="en-US" altLang="zh-CN" sz="2000" b="0" i="0" u="none" strike="noStrike" cap="none" normalizeH="0" baseline="-25000">
                          <a:ln>
                            <a:noFill/>
                          </a:ln>
                          <a:solidFill>
                            <a:schemeClr val="tx1"/>
                          </a:solidFill>
                          <a:effectLst/>
                          <a:latin typeface="Times New Roman" pitchFamily="18" charset="0"/>
                          <a:ea typeface="宋体" charset="-122"/>
                        </a:rPr>
                        <a:t>3</a:t>
                      </a:r>
                      <a:r>
                        <a:rPr kumimoji="0" lang="en-US" altLang="zh-CN" sz="2000" b="0" i="0" u="none" strike="noStrike" cap="none" normalizeH="0" baseline="0">
                          <a:ln>
                            <a:noFill/>
                          </a:ln>
                          <a:solidFill>
                            <a:schemeClr val="tx1"/>
                          </a:solidFill>
                          <a:effectLst/>
                          <a:latin typeface="Times New Roman" pitchFamily="18" charset="0"/>
                          <a:ea typeface="宋体" charset="-122"/>
                        </a:rPr>
                        <a:t> = “Relation of Side 3 to 0”</a:t>
                      </a:r>
                      <a:endParaRPr kumimoji="0" lang="zh-CN" altLang="en-US" sz="2000" b="0" i="0" u="none" strike="noStrike" cap="none" normalizeH="0" baseline="0">
                        <a:ln>
                          <a:noFill/>
                        </a:ln>
                        <a:solidFill>
                          <a:schemeClr val="tx1"/>
                        </a:solidFill>
                        <a:effectLst/>
                        <a:latin typeface="Times New Roman" pitchFamily="18"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charset="-122"/>
                        </a:rPr>
                        <a:t>greater than 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Times New Roman" pitchFamily="18" charset="0"/>
                          <a:ea typeface="宋体" charset="-122"/>
                        </a:rPr>
                        <a:t>equal to 0</a:t>
                      </a:r>
                      <a:endParaRPr kumimoji="0" lang="zh-CN" altLang="en-US" sz="2000" b="0" i="0" u="none" strike="noStrike" cap="none" normalizeH="0" baseline="0">
                        <a:ln>
                          <a:noFill/>
                        </a:ln>
                        <a:solidFill>
                          <a:schemeClr val="tx1"/>
                        </a:solidFill>
                        <a:effectLst/>
                        <a:latin typeface="Times New Roman" pitchFamily="18"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charset="-122"/>
                        </a:rPr>
                        <a:t>less than 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8" name="Text Box 36"/>
          <p:cNvSpPr txBox="1">
            <a:spLocks noChangeArrowheads="1"/>
          </p:cNvSpPr>
          <p:nvPr/>
        </p:nvSpPr>
        <p:spPr bwMode="auto">
          <a:xfrm>
            <a:off x="3170238" y="1591247"/>
            <a:ext cx="5867400" cy="457200"/>
          </a:xfrm>
          <a:prstGeom prst="rect">
            <a:avLst/>
          </a:prstGeom>
          <a:solidFill>
            <a:srgbClr val="0033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2400">
                <a:solidFill>
                  <a:schemeClr val="tx1"/>
                </a:solidFill>
                <a:ea typeface="楷体_GB2312" pitchFamily="49" charset="-122"/>
              </a:rPr>
              <a:t>First Characterization of TriTyp’s Inputs</a:t>
            </a:r>
          </a:p>
        </p:txBody>
      </p:sp>
      <p:sp>
        <p:nvSpPr>
          <p:cNvPr id="9" name="Content Placeholder 2"/>
          <p:cNvSpPr txBox="1">
            <a:spLocks/>
          </p:cNvSpPr>
          <p:nvPr/>
        </p:nvSpPr>
        <p:spPr bwMode="auto">
          <a:xfrm>
            <a:off x="1555518" y="4456658"/>
            <a:ext cx="9112482" cy="1846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85000"/>
              <a:buChar char="•"/>
              <a:defRPr sz="2800" b="0">
                <a:solidFill>
                  <a:schemeClr val="tx1"/>
                </a:solidFill>
                <a:latin typeface="Gill Sans MT" panose="020B0502020104020203" pitchFamily="34" charset="0"/>
                <a:ea typeface="+mn-ea"/>
                <a:cs typeface="+mn-cs"/>
              </a:defRPr>
            </a:lvl1pPr>
            <a:lvl2pPr marL="685800" indent="-228600" algn="l" rtl="0" eaLnBrk="0" fontAlgn="base" hangingPunct="0">
              <a:lnSpc>
                <a:spcPct val="90000"/>
              </a:lnSpc>
              <a:spcBef>
                <a:spcPct val="30000"/>
              </a:spcBef>
              <a:spcAft>
                <a:spcPct val="0"/>
              </a:spcAft>
              <a:buSzPct val="100000"/>
              <a:buChar char="–"/>
              <a:defRPr sz="2400" b="0">
                <a:solidFill>
                  <a:schemeClr val="tx1"/>
                </a:solidFill>
                <a:latin typeface="Gill Sans MT" panose="020B0502020104020203" pitchFamily="34" charset="0"/>
              </a:defRPr>
            </a:lvl2pPr>
            <a:lvl3pPr marL="1143000" indent="-228600" algn="l" rtl="0" eaLnBrk="0" fontAlgn="base" hangingPunct="0">
              <a:lnSpc>
                <a:spcPct val="90000"/>
              </a:lnSpc>
              <a:spcBef>
                <a:spcPct val="30000"/>
              </a:spcBef>
              <a:spcAft>
                <a:spcPct val="0"/>
              </a:spcAft>
              <a:buSzPct val="100000"/>
              <a:buChar char="•"/>
              <a:defRPr sz="2000" b="0">
                <a:solidFill>
                  <a:schemeClr val="tx1"/>
                </a:solidFill>
                <a:latin typeface="Gill Sans MT" panose="020B0502020104020203" pitchFamily="34" charset="0"/>
              </a:defRPr>
            </a:lvl3pPr>
            <a:lvl4pPr marL="1543050" indent="-171450" algn="l" rtl="0" eaLnBrk="0" fontAlgn="base" hangingPunct="0">
              <a:lnSpc>
                <a:spcPct val="90000"/>
              </a:lnSpc>
              <a:spcBef>
                <a:spcPct val="30000"/>
              </a:spcBef>
              <a:spcAft>
                <a:spcPct val="0"/>
              </a:spcAft>
              <a:buSzPct val="100000"/>
              <a:buChar char="–"/>
              <a:defRPr sz="2000" b="0">
                <a:solidFill>
                  <a:schemeClr val="tx1"/>
                </a:solidFill>
                <a:latin typeface="Gill Sans MT" panose="020B0502020104020203" pitchFamily="34" charset="0"/>
              </a:defRPr>
            </a:lvl4pPr>
            <a:lvl5pPr marL="2000250" indent="-171450" algn="l" rtl="0" eaLnBrk="0" fontAlgn="base" hangingPunct="0">
              <a:lnSpc>
                <a:spcPct val="90000"/>
              </a:lnSpc>
              <a:spcBef>
                <a:spcPct val="30000"/>
              </a:spcBef>
              <a:spcAft>
                <a:spcPct val="0"/>
              </a:spcAft>
              <a:buSzPct val="100000"/>
              <a:buFont typeface="Wingdings" pitchFamily="2" charset="2"/>
              <a:buChar char="Ø"/>
              <a:defRPr sz="2000" b="0">
                <a:solidFill>
                  <a:schemeClr val="tx1"/>
                </a:solidFill>
                <a:latin typeface="Gill Sans MT" panose="020B0502020104020203" pitchFamily="34" charset="0"/>
              </a:defRPr>
            </a:lvl5pPr>
            <a:lvl6pPr marL="24574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6pPr>
            <a:lvl7pPr marL="29146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7pPr>
            <a:lvl8pPr marL="33718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8pPr>
            <a:lvl9pPr marL="38290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9pPr>
          </a:lstStyle>
          <a:p>
            <a:r>
              <a:rPr lang="en-US" altLang="en-US" kern="0" dirty="0"/>
              <a:t>A maximum of 3*3*3 = </a:t>
            </a:r>
            <a:r>
              <a:rPr lang="en-US" altLang="en-US" kern="0" dirty="0">
                <a:solidFill>
                  <a:schemeClr val="tx2"/>
                </a:solidFill>
              </a:rPr>
              <a:t>27</a:t>
            </a:r>
            <a:r>
              <a:rPr lang="en-US" altLang="en-US" kern="0" dirty="0"/>
              <a:t> tests</a:t>
            </a:r>
          </a:p>
          <a:p>
            <a:r>
              <a:rPr lang="en-US" altLang="en-US" kern="0" dirty="0"/>
              <a:t>Some triangles are </a:t>
            </a:r>
            <a:r>
              <a:rPr lang="en-US" altLang="en-US" kern="0" dirty="0">
                <a:solidFill>
                  <a:schemeClr val="tx2"/>
                </a:solidFill>
              </a:rPr>
              <a:t>valid</a:t>
            </a:r>
            <a:r>
              <a:rPr lang="en-US" altLang="en-US" kern="0" dirty="0"/>
              <a:t>, some are </a:t>
            </a:r>
            <a:r>
              <a:rPr lang="en-US" altLang="en-US" kern="0" dirty="0">
                <a:solidFill>
                  <a:schemeClr val="tx2"/>
                </a:solidFill>
              </a:rPr>
              <a:t>invalid</a:t>
            </a:r>
          </a:p>
          <a:p>
            <a:r>
              <a:rPr lang="en-US" altLang="en-US" kern="0" dirty="0">
                <a:solidFill>
                  <a:schemeClr val="tx2"/>
                </a:solidFill>
              </a:rPr>
              <a:t>Refining</a:t>
            </a:r>
            <a:r>
              <a:rPr lang="en-US" altLang="en-US" kern="0" dirty="0"/>
              <a:t> the characterization can lead to </a:t>
            </a:r>
            <a:r>
              <a:rPr lang="en-US" altLang="en-US" kern="0"/>
              <a:t>more tests … </a:t>
            </a:r>
            <a:endParaRPr lang="en-US" kern="0" dirty="0"/>
          </a:p>
        </p:txBody>
      </p:sp>
    </p:spTree>
    <p:extLst>
      <p:ext uri="{BB962C8B-B14F-4D97-AF65-F5344CB8AC3E}">
        <p14:creationId xmlns:p14="http://schemas.microsoft.com/office/powerpoint/2010/main" val="345619704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dissolv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up)">
                                      <p:cBhvr>
                                        <p:cTn id="1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16C4DDC0-B0BF-42A2-84FE-DDE29FA39213}" type="slidenum">
              <a:rPr lang="en-US" altLang="en-US" sz="900" b="0">
                <a:solidFill>
                  <a:schemeClr val="tx1"/>
                </a:solidFill>
                <a:latin typeface="Arial" charset="0"/>
                <a:cs typeface="Arial" charset="0"/>
              </a:rPr>
              <a:pPr/>
              <a:t>19</a:t>
            </a:fld>
            <a:endParaRPr lang="en-US" altLang="en-US" sz="900" b="0">
              <a:solidFill>
                <a:schemeClr val="tx1"/>
              </a:solidFill>
              <a:latin typeface="Arial" charset="0"/>
              <a:cs typeface="Arial" charset="0"/>
            </a:endParaRPr>
          </a:p>
        </p:txBody>
      </p:sp>
      <p:sp>
        <p:nvSpPr>
          <p:cNvPr id="19460" name="Rectangle 2"/>
          <p:cNvSpPr>
            <a:spLocks noGrp="1" noChangeArrowheads="1"/>
          </p:cNvSpPr>
          <p:nvPr>
            <p:ph type="title"/>
          </p:nvPr>
        </p:nvSpPr>
        <p:spPr/>
        <p:txBody>
          <a:bodyPr/>
          <a:lstStyle/>
          <a:p>
            <a:r>
              <a:rPr lang="en-US" altLang="en-US" dirty="0"/>
              <a:t>Interface-Based IDM—</a:t>
            </a:r>
            <a:r>
              <a:rPr lang="en-US" altLang="en-US" i="1" dirty="0" err="1"/>
              <a:t>triang</a:t>
            </a:r>
            <a:r>
              <a:rPr lang="en-US" altLang="en-US" dirty="0"/>
              <a:t>()</a:t>
            </a:r>
          </a:p>
        </p:txBody>
      </p:sp>
      <p:sp>
        <p:nvSpPr>
          <p:cNvPr id="267268" name="Text Box 4"/>
          <p:cNvSpPr txBox="1">
            <a:spLocks noChangeArrowheads="1"/>
          </p:cNvSpPr>
          <p:nvPr/>
        </p:nvSpPr>
        <p:spPr bwMode="auto">
          <a:xfrm>
            <a:off x="2476500" y="831851"/>
            <a:ext cx="7239000" cy="461665"/>
          </a:xfrm>
          <a:prstGeom prst="rect">
            <a:avLst/>
          </a:prstGeom>
          <a:solidFill>
            <a:srgbClr val="00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spcBef>
                <a:spcPct val="50000"/>
              </a:spcBef>
            </a:pPr>
            <a:r>
              <a:rPr kumimoji="1" lang="en-US" altLang="zh-CN" sz="2400" u="sng" dirty="0">
                <a:solidFill>
                  <a:schemeClr val="tx1"/>
                </a:solidFill>
                <a:latin typeface="Gill Sans MT" panose="020B0502020104020203" pitchFamily="34" charset="0"/>
                <a:ea typeface="楷体_GB2312" pitchFamily="49" charset="-122"/>
              </a:rPr>
              <a:t>Second</a:t>
            </a:r>
            <a:r>
              <a:rPr kumimoji="1" lang="en-US" altLang="zh-CN" sz="2400" dirty="0">
                <a:solidFill>
                  <a:schemeClr val="tx1"/>
                </a:solidFill>
                <a:latin typeface="Gill Sans MT" panose="020B0502020104020203" pitchFamily="34" charset="0"/>
                <a:ea typeface="楷体_GB2312" pitchFamily="49" charset="-122"/>
              </a:rPr>
              <a:t> Characterization of </a:t>
            </a:r>
            <a:r>
              <a:rPr kumimoji="1" lang="en-US" altLang="zh-CN" sz="2400" dirty="0" err="1">
                <a:solidFill>
                  <a:schemeClr val="tx1"/>
                </a:solidFill>
                <a:latin typeface="Gill Sans MT" panose="020B0502020104020203" pitchFamily="34" charset="0"/>
                <a:ea typeface="楷体_GB2312" pitchFamily="49" charset="-122"/>
              </a:rPr>
              <a:t>triang</a:t>
            </a:r>
            <a:r>
              <a:rPr kumimoji="1" lang="en-US" altLang="zh-CN" sz="2400" dirty="0">
                <a:solidFill>
                  <a:schemeClr val="tx1"/>
                </a:solidFill>
                <a:latin typeface="Gill Sans MT" panose="020B0502020104020203" pitchFamily="34" charset="0"/>
                <a:ea typeface="楷体_GB2312" pitchFamily="49" charset="-122"/>
              </a:rPr>
              <a:t>()’s Inputs</a:t>
            </a:r>
          </a:p>
        </p:txBody>
      </p:sp>
      <p:graphicFrame>
        <p:nvGraphicFramePr>
          <p:cNvPr id="267308" name="Group 44"/>
          <p:cNvGraphicFramePr>
            <a:graphicFrameLocks noGrp="1"/>
          </p:cNvGraphicFramePr>
          <p:nvPr/>
        </p:nvGraphicFramePr>
        <p:xfrm>
          <a:off x="1905000" y="1279525"/>
          <a:ext cx="8458200" cy="2184400"/>
        </p:xfrm>
        <a:graphic>
          <a:graphicData uri="http://schemas.openxmlformats.org/drawingml/2006/table">
            <a:tbl>
              <a:tblPr/>
              <a:tblGrid>
                <a:gridCol w="27432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54610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Characteristic</a:t>
                      </a:r>
                      <a:endParaRPr kumimoji="0" lang="zh-CN" altLang="en-US" sz="2400" b="0" i="0" u="none" strike="noStrike" cap="none" normalizeH="0" baseline="0" dirty="0">
                        <a:ln>
                          <a:noFill/>
                        </a:ln>
                        <a:solidFill>
                          <a:schemeClr val="tx2"/>
                        </a:solidFill>
                        <a:effectLst/>
                        <a:latin typeface="Gill Sans MT" panose="020B0502020104020203" pitchFamily="34" charset="0"/>
                        <a:ea typeface="宋体" charset="-122"/>
                      </a:endParaRPr>
                    </a:p>
                  </a:txBody>
                  <a:tcP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dirty="0">
                          <a:ln>
                            <a:noFill/>
                          </a:ln>
                          <a:solidFill>
                            <a:schemeClr val="tx2"/>
                          </a:solidFill>
                          <a:effectLst/>
                          <a:latin typeface="Gill Sans MT" panose="020B0502020104020203" pitchFamily="34" charset="0"/>
                          <a:ea typeface="宋体" charset="-122"/>
                        </a:rPr>
                        <a:t>1</a:t>
                      </a:r>
                      <a:endParaRPr kumimoji="0" lang="zh-CN" altLang="en-US" sz="2400" b="0" i="0" u="none" strike="noStrike" cap="none" normalizeH="0" baseline="-25000" dirty="0">
                        <a:ln>
                          <a:noFill/>
                        </a:ln>
                        <a:solidFill>
                          <a:schemeClr val="tx2"/>
                        </a:solidFill>
                        <a:effectLst/>
                        <a:latin typeface="Gill Sans MT" panose="020B0502020104020203" pitchFamily="34" charset="0"/>
                        <a:ea typeface="宋体"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a:ln>
                            <a:noFill/>
                          </a:ln>
                          <a:solidFill>
                            <a:schemeClr val="tx2"/>
                          </a:solidFill>
                          <a:effectLst/>
                          <a:latin typeface="Gill Sans MT" panose="020B0502020104020203" pitchFamily="34" charset="0"/>
                          <a:ea typeface="宋体" charset="-122"/>
                        </a:rPr>
                        <a:t>2</a:t>
                      </a: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a:ln>
                            <a:noFill/>
                          </a:ln>
                          <a:solidFill>
                            <a:schemeClr val="tx2"/>
                          </a:solidFill>
                          <a:effectLst/>
                          <a:latin typeface="Gill Sans MT" panose="020B0502020104020203" pitchFamily="34" charset="0"/>
                          <a:ea typeface="宋体" charset="-122"/>
                        </a:rPr>
                        <a:t>3</a:t>
                      </a: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a:ln>
                            <a:noFill/>
                          </a:ln>
                          <a:solidFill>
                            <a:schemeClr val="tx2"/>
                          </a:solidFill>
                          <a:effectLst/>
                          <a:latin typeface="Gill Sans MT" panose="020B0502020104020203" pitchFamily="34" charset="0"/>
                          <a:ea typeface="宋体" charset="-122"/>
                        </a:rPr>
                        <a:t>4</a:t>
                      </a:r>
                    </a:p>
                  </a:txBody>
                  <a:tcP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extLst>
                  <a:ext uri="{0D108BD9-81ED-4DB2-BD59-A6C34878D82A}">
                    <a16:rowId xmlns:a16="http://schemas.microsoft.com/office/drawing/2014/main" val="10000"/>
                  </a:ext>
                </a:extLst>
              </a:tr>
              <a:tr h="54610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q</a:t>
                      </a:r>
                      <a:r>
                        <a:rPr kumimoji="0" lang="en-US" altLang="zh-CN" sz="2000" b="0" i="0" u="none" strike="noStrike" cap="none" normalizeH="0" baseline="-25000">
                          <a:ln>
                            <a:noFill/>
                          </a:ln>
                          <a:solidFill>
                            <a:schemeClr val="tx1"/>
                          </a:solidFill>
                          <a:effectLst/>
                          <a:latin typeface="Gill Sans MT" panose="020B0502020104020203" pitchFamily="34" charset="0"/>
                          <a:ea typeface="宋体" charset="-122"/>
                        </a:rPr>
                        <a:t>1</a:t>
                      </a: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 = “Refinement of q</a:t>
                      </a:r>
                      <a:r>
                        <a:rPr kumimoji="0" lang="en-US" altLang="zh-CN" sz="2000" b="0" i="0" u="none" strike="noStrike" cap="none" normalizeH="0" baseline="-25000">
                          <a:ln>
                            <a:noFill/>
                          </a:ln>
                          <a:solidFill>
                            <a:schemeClr val="tx1"/>
                          </a:solidFill>
                          <a:effectLst/>
                          <a:latin typeface="Gill Sans MT" panose="020B0502020104020203" pitchFamily="34" charset="0"/>
                          <a:ea typeface="宋体" charset="-122"/>
                        </a:rPr>
                        <a:t>1</a:t>
                      </a: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a:t>
                      </a:r>
                      <a:endParaRPr kumimoji="0" lang="zh-CN" altLang="en-US" sz="2000" b="0" i="0" u="none" strike="noStrike" cap="none" normalizeH="0" baseline="0">
                        <a:ln>
                          <a:noFill/>
                        </a:ln>
                        <a:solidFill>
                          <a:schemeClr val="tx1"/>
                        </a:solidFill>
                        <a:effectLst/>
                        <a:latin typeface="Gill Sans MT" panose="020B0502020104020203"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greater than 1</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equal to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equal to 0</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less than 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4610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q</a:t>
                      </a:r>
                      <a:r>
                        <a:rPr kumimoji="0" lang="en-US" altLang="zh-CN" sz="2000" b="0" i="0" u="none" strike="noStrike" cap="none" normalizeH="0" baseline="-25000">
                          <a:ln>
                            <a:noFill/>
                          </a:ln>
                          <a:solidFill>
                            <a:schemeClr val="tx1"/>
                          </a:solidFill>
                          <a:effectLst/>
                          <a:latin typeface="Gill Sans MT" panose="020B0502020104020203" pitchFamily="34" charset="0"/>
                          <a:ea typeface="宋体" charset="-122"/>
                        </a:rPr>
                        <a:t>2</a:t>
                      </a: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 = “Refinement of q</a:t>
                      </a:r>
                      <a:r>
                        <a:rPr kumimoji="0" lang="en-US" altLang="zh-CN" sz="2000" b="0" i="0" u="none" strike="noStrike" cap="none" normalizeH="0" baseline="-25000">
                          <a:ln>
                            <a:noFill/>
                          </a:ln>
                          <a:solidFill>
                            <a:schemeClr val="tx1"/>
                          </a:solidFill>
                          <a:effectLst/>
                          <a:latin typeface="Gill Sans MT" panose="020B0502020104020203" pitchFamily="34" charset="0"/>
                          <a:ea typeface="宋体" charset="-122"/>
                        </a:rPr>
                        <a:t>2</a:t>
                      </a: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a:t>
                      </a:r>
                      <a:endParaRPr kumimoji="0" lang="zh-CN" altLang="en-US" sz="2000" b="0" i="0" u="none" strike="noStrike" cap="none" normalizeH="0" baseline="0">
                        <a:ln>
                          <a:noFill/>
                        </a:ln>
                        <a:solidFill>
                          <a:schemeClr val="tx1"/>
                        </a:solidFill>
                        <a:effectLst/>
                        <a:latin typeface="Gill Sans MT" panose="020B0502020104020203"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greater than 1</a:t>
                      </a:r>
                      <a:endParaRPr kumimoji="0" lang="zh-CN" altLang="en-US" sz="2000" b="0" i="0" u="none" strike="noStrike" cap="none" normalizeH="0" baseline="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equal to 1</a:t>
                      </a:r>
                      <a:endParaRPr kumimoji="0" lang="zh-CN" altLang="en-US" sz="2000" b="0" i="0" u="none" strike="noStrike" cap="none" normalizeH="0" baseline="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equal to 0</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less than 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4610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q</a:t>
                      </a:r>
                      <a:r>
                        <a:rPr kumimoji="0" lang="en-US" altLang="zh-CN" sz="2000" b="0" i="0" u="none" strike="noStrike" cap="none" normalizeH="0" baseline="-25000">
                          <a:ln>
                            <a:noFill/>
                          </a:ln>
                          <a:solidFill>
                            <a:schemeClr val="tx1"/>
                          </a:solidFill>
                          <a:effectLst/>
                          <a:latin typeface="Gill Sans MT" panose="020B0502020104020203" pitchFamily="34" charset="0"/>
                          <a:ea typeface="宋体" charset="-122"/>
                        </a:rPr>
                        <a:t>3</a:t>
                      </a: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 = “Refinement of q</a:t>
                      </a:r>
                      <a:r>
                        <a:rPr kumimoji="0" lang="en-US" altLang="zh-CN" sz="2000" b="0" i="0" u="none" strike="noStrike" cap="none" normalizeH="0" baseline="-25000">
                          <a:ln>
                            <a:noFill/>
                          </a:ln>
                          <a:solidFill>
                            <a:schemeClr val="tx1"/>
                          </a:solidFill>
                          <a:effectLst/>
                          <a:latin typeface="Gill Sans MT" panose="020B0502020104020203" pitchFamily="34" charset="0"/>
                          <a:ea typeface="宋体" charset="-122"/>
                        </a:rPr>
                        <a:t>3</a:t>
                      </a: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a:t>
                      </a:r>
                      <a:endParaRPr kumimoji="0" lang="zh-CN" altLang="en-US" sz="2000" b="0" i="0" u="none" strike="noStrike" cap="none" normalizeH="0" baseline="0">
                        <a:ln>
                          <a:noFill/>
                        </a:ln>
                        <a:solidFill>
                          <a:schemeClr val="tx1"/>
                        </a:solidFill>
                        <a:effectLst/>
                        <a:latin typeface="Gill Sans MT" panose="020B0502020104020203"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greater than 1</a:t>
                      </a:r>
                      <a:endParaRPr kumimoji="0" lang="zh-CN" altLang="en-US" sz="2000" b="0" i="0" u="none" strike="noStrike" cap="none" normalizeH="0" baseline="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equal to 1</a:t>
                      </a:r>
                      <a:endParaRPr kumimoji="0" lang="zh-CN" altLang="en-US" sz="2000" b="0" i="0" u="none" strike="noStrike" cap="none" normalizeH="0" baseline="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equal to 0</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less than 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267309" name="Rectangle 45"/>
          <p:cNvSpPr>
            <a:spLocks noGrp="1" noChangeArrowheads="1"/>
          </p:cNvSpPr>
          <p:nvPr>
            <p:ph type="body" idx="1"/>
          </p:nvPr>
        </p:nvSpPr>
        <p:spPr>
          <a:xfrm>
            <a:off x="1662114" y="3573464"/>
            <a:ext cx="8867775" cy="1120775"/>
          </a:xfrm>
          <a:noFill/>
        </p:spPr>
        <p:txBody>
          <a:bodyPr/>
          <a:lstStyle/>
          <a:p>
            <a:r>
              <a:rPr lang="en-US" altLang="en-US" dirty="0"/>
              <a:t>A maximum of 4*4*4 = </a:t>
            </a:r>
            <a:r>
              <a:rPr lang="en-US" altLang="en-US" dirty="0">
                <a:solidFill>
                  <a:schemeClr val="tx2"/>
                </a:solidFill>
              </a:rPr>
              <a:t>64</a:t>
            </a:r>
            <a:r>
              <a:rPr lang="en-US" altLang="en-US" dirty="0"/>
              <a:t> tests</a:t>
            </a:r>
          </a:p>
          <a:p>
            <a:r>
              <a:rPr lang="en-US" altLang="en-US" dirty="0">
                <a:solidFill>
                  <a:schemeClr val="tx2"/>
                </a:solidFill>
              </a:rPr>
              <a:t>Complete</a:t>
            </a:r>
            <a:r>
              <a:rPr lang="en-US" altLang="en-US" dirty="0"/>
              <a:t> because the inputs are integers (0 . . 1)</a:t>
            </a:r>
          </a:p>
        </p:txBody>
      </p:sp>
      <p:sp>
        <p:nvSpPr>
          <p:cNvPr id="267310" name="Text Box 46"/>
          <p:cNvSpPr txBox="1">
            <a:spLocks noChangeArrowheads="1"/>
          </p:cNvSpPr>
          <p:nvPr/>
        </p:nvSpPr>
        <p:spPr bwMode="auto">
          <a:xfrm>
            <a:off x="2476500" y="4562475"/>
            <a:ext cx="7239000" cy="457200"/>
          </a:xfrm>
          <a:prstGeom prst="rect">
            <a:avLst/>
          </a:prstGeom>
          <a:solidFill>
            <a:srgbClr val="0033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2400" dirty="0">
                <a:solidFill>
                  <a:schemeClr val="tx1"/>
                </a:solidFill>
                <a:latin typeface="Gill Sans MT" panose="020B0502020104020203" pitchFamily="34" charset="0"/>
                <a:ea typeface="楷体_GB2312" pitchFamily="49" charset="-122"/>
              </a:rPr>
              <a:t>Possible values for partition q</a:t>
            </a:r>
            <a:r>
              <a:rPr kumimoji="1" lang="en-US" altLang="zh-CN" sz="2400" baseline="-25000" dirty="0">
                <a:solidFill>
                  <a:schemeClr val="tx1"/>
                </a:solidFill>
                <a:latin typeface="Gill Sans MT" panose="020B0502020104020203" pitchFamily="34" charset="0"/>
                <a:ea typeface="楷体_GB2312" pitchFamily="49" charset="-122"/>
              </a:rPr>
              <a:t>1</a:t>
            </a:r>
            <a:endParaRPr kumimoji="1" lang="en-US" altLang="zh-CN" sz="2400" dirty="0">
              <a:solidFill>
                <a:schemeClr val="tx1"/>
              </a:solidFill>
              <a:latin typeface="Gill Sans MT" panose="020B0502020104020203" pitchFamily="34" charset="0"/>
              <a:ea typeface="楷体_GB2312" pitchFamily="49" charset="-122"/>
            </a:endParaRPr>
          </a:p>
        </p:txBody>
      </p:sp>
      <p:graphicFrame>
        <p:nvGraphicFramePr>
          <p:cNvPr id="267338" name="Group 74"/>
          <p:cNvGraphicFramePr>
            <a:graphicFrameLocks noGrp="1"/>
          </p:cNvGraphicFramePr>
          <p:nvPr/>
        </p:nvGraphicFramePr>
        <p:xfrm>
          <a:off x="2057400" y="5011738"/>
          <a:ext cx="8229600" cy="1143000"/>
        </p:xfrm>
        <a:graphic>
          <a:graphicData uri="http://schemas.openxmlformats.org/drawingml/2006/table">
            <a:tbl>
              <a:tblPr/>
              <a:tblGrid>
                <a:gridCol w="21336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57150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Characteristic</a:t>
                      </a:r>
                      <a:endParaRPr kumimoji="0" lang="zh-CN" altLang="en-US" sz="2400" b="0" i="0" u="none" strike="noStrike" cap="none" normalizeH="0" baseline="0" dirty="0">
                        <a:ln>
                          <a:noFill/>
                        </a:ln>
                        <a:solidFill>
                          <a:schemeClr val="tx2"/>
                        </a:solidFill>
                        <a:effectLst/>
                        <a:latin typeface="Gill Sans MT" panose="020B0502020104020203" pitchFamily="34" charset="0"/>
                        <a:ea typeface="宋体" charset="-122"/>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dirty="0">
                          <a:ln>
                            <a:noFill/>
                          </a:ln>
                          <a:solidFill>
                            <a:schemeClr val="tx2"/>
                          </a:solidFill>
                          <a:effectLst/>
                          <a:latin typeface="Gill Sans MT" panose="020B0502020104020203" pitchFamily="34" charset="0"/>
                          <a:ea typeface="宋体" charset="-122"/>
                        </a:rPr>
                        <a:t>1</a:t>
                      </a:r>
                      <a:endParaRPr kumimoji="0" lang="zh-CN" altLang="en-US" sz="2400" b="0" i="0" u="none" strike="noStrike" cap="none" normalizeH="0" baseline="-25000" dirty="0">
                        <a:ln>
                          <a:noFill/>
                        </a:ln>
                        <a:solidFill>
                          <a:schemeClr val="tx2"/>
                        </a:solidFill>
                        <a:effectLst/>
                        <a:latin typeface="Gill Sans MT" panose="020B0502020104020203" pitchFamily="34" charset="0"/>
                        <a:ea typeface="宋体" charset="-122"/>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dirty="0">
                          <a:ln>
                            <a:noFill/>
                          </a:ln>
                          <a:solidFill>
                            <a:schemeClr val="tx2"/>
                          </a:solidFill>
                          <a:effectLst/>
                          <a:latin typeface="Gill Sans MT" panose="020B0502020104020203" pitchFamily="34" charset="0"/>
                          <a:ea typeface="宋体" charset="-122"/>
                        </a:rPr>
                        <a:t>2</a:t>
                      </a: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a:ln>
                            <a:noFill/>
                          </a:ln>
                          <a:solidFill>
                            <a:schemeClr val="tx2"/>
                          </a:solidFill>
                          <a:effectLst/>
                          <a:latin typeface="Gill Sans MT" panose="020B0502020104020203" pitchFamily="34" charset="0"/>
                          <a:ea typeface="宋体" charset="-122"/>
                        </a:rPr>
                        <a:t>3</a:t>
                      </a: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a:ln>
                            <a:noFill/>
                          </a:ln>
                          <a:solidFill>
                            <a:schemeClr val="tx2"/>
                          </a:solidFill>
                          <a:effectLst/>
                          <a:latin typeface="Gill Sans MT" panose="020B0502020104020203" pitchFamily="34" charset="0"/>
                          <a:ea typeface="宋体" charset="-122"/>
                        </a:rPr>
                        <a:t>4</a:t>
                      </a: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extLst>
                  <a:ext uri="{0D108BD9-81ED-4DB2-BD59-A6C34878D82A}">
                    <a16:rowId xmlns:a16="http://schemas.microsoft.com/office/drawing/2014/main" val="10000"/>
                  </a:ext>
                </a:extLst>
              </a:tr>
              <a:tr h="57150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Side1</a:t>
                      </a:r>
                      <a:endParaRPr kumimoji="0" lang="zh-CN" altLang="en-US" sz="2000" b="0" i="0" u="none" strike="noStrike" cap="none" normalizeH="0" baseline="0">
                        <a:ln>
                          <a:noFill/>
                        </a:ln>
                        <a:solidFill>
                          <a:schemeClr val="tx1"/>
                        </a:solidFill>
                        <a:effectLst/>
                        <a:latin typeface="Gill Sans MT" panose="020B0502020104020203"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18491" name="Oval 59"/>
          <p:cNvSpPr>
            <a:spLocks noChangeArrowheads="1"/>
          </p:cNvSpPr>
          <p:nvPr/>
        </p:nvSpPr>
        <p:spPr bwMode="auto">
          <a:xfrm>
            <a:off x="4267201" y="1244601"/>
            <a:ext cx="3757613" cy="2403475"/>
          </a:xfrm>
          <a:prstGeom prst="ellipse">
            <a:avLst/>
          </a:prstGeom>
          <a:gradFill rotWithShape="1">
            <a:gsLst>
              <a:gs pos="0">
                <a:srgbClr val="CCFF99">
                  <a:alpha val="50000"/>
                </a:srgbClr>
              </a:gs>
              <a:gs pos="100000">
                <a:srgbClr val="5E7647">
                  <a:alpha val="48000"/>
                </a:srgbClr>
              </a:gs>
            </a:gsLst>
            <a:path path="shape">
              <a:fillToRect l="50000" t="50000" r="50000" b="50000"/>
            </a:path>
          </a:gradFill>
          <a:ln w="38100">
            <a:solidFill>
              <a:schemeClr val="tx2"/>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18492" name="Text Box 60"/>
          <p:cNvSpPr txBox="1">
            <a:spLocks noChangeArrowheads="1"/>
          </p:cNvSpPr>
          <p:nvPr/>
        </p:nvSpPr>
        <p:spPr bwMode="auto">
          <a:xfrm>
            <a:off x="4808538" y="5600701"/>
            <a:ext cx="373062" cy="396875"/>
          </a:xfrm>
          <a:prstGeom prst="rect">
            <a:avLst/>
          </a:prstGeom>
          <a:solidFill>
            <a:srgbClr val="3333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dirty="0">
                <a:solidFill>
                  <a:schemeClr val="hlink"/>
                </a:solidFill>
                <a:latin typeface="Comic Sans MS" pitchFamily="66" charset="0"/>
              </a:rPr>
              <a:t>2</a:t>
            </a:r>
          </a:p>
        </p:txBody>
      </p:sp>
      <p:sp>
        <p:nvSpPr>
          <p:cNvPr id="18493" name="Text Box 61"/>
          <p:cNvSpPr txBox="1">
            <a:spLocks noChangeArrowheads="1"/>
          </p:cNvSpPr>
          <p:nvPr/>
        </p:nvSpPr>
        <p:spPr bwMode="auto">
          <a:xfrm>
            <a:off x="9285288" y="5600701"/>
            <a:ext cx="546100" cy="396875"/>
          </a:xfrm>
          <a:prstGeom prst="rect">
            <a:avLst/>
          </a:prstGeom>
          <a:solidFill>
            <a:srgbClr val="3333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a:solidFill>
                  <a:schemeClr val="hlink"/>
                </a:solidFill>
                <a:latin typeface="Comic Sans MS" pitchFamily="66" charset="0"/>
              </a:rPr>
              <a:t>-1</a:t>
            </a:r>
          </a:p>
        </p:txBody>
      </p:sp>
      <p:sp>
        <p:nvSpPr>
          <p:cNvPr id="19517" name="Text Box 62"/>
          <p:cNvSpPr txBox="1">
            <a:spLocks noChangeArrowheads="1"/>
          </p:cNvSpPr>
          <p:nvPr/>
        </p:nvSpPr>
        <p:spPr bwMode="auto">
          <a:xfrm>
            <a:off x="6400801" y="6461126"/>
            <a:ext cx="1558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endParaRPr lang="en-US" altLang="en-US"/>
          </a:p>
        </p:txBody>
      </p:sp>
      <p:sp>
        <p:nvSpPr>
          <p:cNvPr id="18495" name="Text Box 63"/>
          <p:cNvSpPr txBox="1">
            <a:spLocks noChangeArrowheads="1"/>
          </p:cNvSpPr>
          <p:nvPr/>
        </p:nvSpPr>
        <p:spPr bwMode="auto">
          <a:xfrm>
            <a:off x="5534026" y="6229351"/>
            <a:ext cx="2994025" cy="366713"/>
          </a:xfrm>
          <a:prstGeom prst="rect">
            <a:avLst/>
          </a:prstGeom>
          <a:solidFill>
            <a:srgbClr val="3333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1800">
                <a:solidFill>
                  <a:schemeClr val="hlink"/>
                </a:solidFill>
                <a:latin typeface="Comic Sans MS" pitchFamily="66" charset="0"/>
              </a:rPr>
              <a:t>Test boundary conditions</a:t>
            </a:r>
          </a:p>
        </p:txBody>
      </p:sp>
      <p:sp>
        <p:nvSpPr>
          <p:cNvPr id="18496" name="Line 64"/>
          <p:cNvSpPr>
            <a:spLocks noChangeShapeType="1"/>
          </p:cNvSpPr>
          <p:nvPr/>
        </p:nvSpPr>
        <p:spPr bwMode="auto">
          <a:xfrm flipH="1" flipV="1">
            <a:off x="5160964" y="5949951"/>
            <a:ext cx="415925" cy="333375"/>
          </a:xfrm>
          <a:prstGeom prst="line">
            <a:avLst/>
          </a:prstGeom>
          <a:noFill/>
          <a:ln w="28575">
            <a:solidFill>
              <a:schemeClr val="hlink"/>
            </a:solidFill>
            <a:round/>
            <a:headEnd type="none" w="sm" len="sm"/>
            <a:tailEnd type="arrow" w="med" len="med"/>
          </a:ln>
          <a:extLst>
            <a:ext uri="{909E8E84-426E-40DD-AFC4-6F175D3DCCD1}">
              <a14:hiddenFill xmlns:a14="http://schemas.microsoft.com/office/drawing/2010/main">
                <a:noFill/>
              </a14:hiddenFill>
            </a:ext>
          </a:extLst>
        </p:spPr>
        <p:txBody>
          <a:bodyPr/>
          <a:lstStyle/>
          <a:p>
            <a:endParaRPr lang="en-US"/>
          </a:p>
        </p:txBody>
      </p:sp>
      <p:sp>
        <p:nvSpPr>
          <p:cNvPr id="18497" name="Line 65"/>
          <p:cNvSpPr>
            <a:spLocks noChangeShapeType="1"/>
          </p:cNvSpPr>
          <p:nvPr/>
        </p:nvSpPr>
        <p:spPr bwMode="auto">
          <a:xfrm flipV="1">
            <a:off x="8464551" y="5970589"/>
            <a:ext cx="866775" cy="319087"/>
          </a:xfrm>
          <a:prstGeom prst="line">
            <a:avLst/>
          </a:prstGeom>
          <a:noFill/>
          <a:ln w="28575">
            <a:solidFill>
              <a:schemeClr val="hlink"/>
            </a:solidFill>
            <a:round/>
            <a:headEnd type="none" w="sm" len="sm"/>
            <a:tailEnd type="arrow"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910313062"/>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67308"/>
                                        </p:tgtEl>
                                        <p:attrNameLst>
                                          <p:attrName>style.visibility</p:attrName>
                                        </p:attrNameLst>
                                      </p:cBhvr>
                                      <p:to>
                                        <p:strVal val="visible"/>
                                      </p:to>
                                    </p:set>
                                    <p:animEffect transition="in" filter="dissolve">
                                      <p:cBhvr>
                                        <p:cTn id="7" dur="500"/>
                                        <p:tgtEl>
                                          <p:spTgt spid="26730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67268"/>
                                        </p:tgtEl>
                                        <p:attrNameLst>
                                          <p:attrName>style.visibility</p:attrName>
                                        </p:attrNameLst>
                                      </p:cBhvr>
                                      <p:to>
                                        <p:strVal val="visible"/>
                                      </p:to>
                                    </p:set>
                                    <p:animEffect transition="in" filter="dissolve">
                                      <p:cBhvr>
                                        <p:cTn id="10" dur="500"/>
                                        <p:tgtEl>
                                          <p:spTgt spid="26726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5" presetClass="entr" presetSubtype="0" fill="hold" grpId="0" nodeType="clickEffect">
                                  <p:stCondLst>
                                    <p:cond delay="0"/>
                                  </p:stCondLst>
                                  <p:childTnLst>
                                    <p:set>
                                      <p:cBhvr>
                                        <p:cTn id="14" dur="1" fill="hold">
                                          <p:stCondLst>
                                            <p:cond delay="0"/>
                                          </p:stCondLst>
                                        </p:cTn>
                                        <p:tgtEl>
                                          <p:spTgt spid="18491"/>
                                        </p:tgtEl>
                                        <p:attrNameLst>
                                          <p:attrName>style.visibility</p:attrName>
                                        </p:attrNameLst>
                                      </p:cBhvr>
                                      <p:to>
                                        <p:strVal val="visible"/>
                                      </p:to>
                                    </p:set>
                                    <p:anim calcmode="lin" valueType="num">
                                      <p:cBhvr>
                                        <p:cTn id="15" dur="1000" fill="hold"/>
                                        <p:tgtEl>
                                          <p:spTgt spid="18491"/>
                                        </p:tgtEl>
                                        <p:attrNameLst>
                                          <p:attrName>ppt_w</p:attrName>
                                        </p:attrNameLst>
                                      </p:cBhvr>
                                      <p:tavLst>
                                        <p:tav tm="0">
                                          <p:val>
                                            <p:strVal val="#ppt_w*0.70"/>
                                          </p:val>
                                        </p:tav>
                                        <p:tav tm="100000">
                                          <p:val>
                                            <p:strVal val="#ppt_w"/>
                                          </p:val>
                                        </p:tav>
                                      </p:tavLst>
                                    </p:anim>
                                    <p:anim calcmode="lin" valueType="num">
                                      <p:cBhvr>
                                        <p:cTn id="16" dur="1000" fill="hold"/>
                                        <p:tgtEl>
                                          <p:spTgt spid="18491"/>
                                        </p:tgtEl>
                                        <p:attrNameLst>
                                          <p:attrName>ppt_h</p:attrName>
                                        </p:attrNameLst>
                                      </p:cBhvr>
                                      <p:tavLst>
                                        <p:tav tm="0">
                                          <p:val>
                                            <p:strVal val="#ppt_h"/>
                                          </p:val>
                                        </p:tav>
                                        <p:tav tm="100000">
                                          <p:val>
                                            <p:strVal val="#ppt_h"/>
                                          </p:val>
                                        </p:tav>
                                      </p:tavLst>
                                    </p:anim>
                                    <p:animEffect transition="in" filter="fade">
                                      <p:cBhvr>
                                        <p:cTn id="17" dur="1000"/>
                                        <p:tgtEl>
                                          <p:spTgt spid="1849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7309">
                                            <p:txEl>
                                              <p:pRg st="0" end="0"/>
                                            </p:txEl>
                                          </p:spTgt>
                                        </p:tgtEl>
                                        <p:attrNameLst>
                                          <p:attrName>style.visibility</p:attrName>
                                        </p:attrNameLst>
                                      </p:cBhvr>
                                      <p:to>
                                        <p:strVal val="visible"/>
                                      </p:to>
                                    </p:set>
                                    <p:animEffect transition="in" filter="wipe(left)">
                                      <p:cBhvr>
                                        <p:cTn id="22" dur="1000"/>
                                        <p:tgtEl>
                                          <p:spTgt spid="267309">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7309">
                                            <p:txEl>
                                              <p:pRg st="1" end="1"/>
                                            </p:txEl>
                                          </p:spTgt>
                                        </p:tgtEl>
                                        <p:attrNameLst>
                                          <p:attrName>style.visibility</p:attrName>
                                        </p:attrNameLst>
                                      </p:cBhvr>
                                      <p:to>
                                        <p:strVal val="visible"/>
                                      </p:to>
                                    </p:set>
                                    <p:animEffect transition="in" filter="wipe(left)">
                                      <p:cBhvr>
                                        <p:cTn id="27" dur="1000"/>
                                        <p:tgtEl>
                                          <p:spTgt spid="267309">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67310"/>
                                        </p:tgtEl>
                                        <p:attrNameLst>
                                          <p:attrName>style.visibility</p:attrName>
                                        </p:attrNameLst>
                                      </p:cBhvr>
                                      <p:to>
                                        <p:strVal val="visible"/>
                                      </p:to>
                                    </p:set>
                                    <p:animEffect transition="in" filter="dissolve">
                                      <p:cBhvr>
                                        <p:cTn id="32" dur="500"/>
                                        <p:tgtEl>
                                          <p:spTgt spid="267310"/>
                                        </p:tgtEl>
                                      </p:cBhvr>
                                    </p:animEffect>
                                  </p:childTnLst>
                                </p:cTn>
                              </p:par>
                              <p:par>
                                <p:cTn id="33" presetID="9" presetClass="entr" presetSubtype="0" fill="hold" nodeType="withEffect">
                                  <p:stCondLst>
                                    <p:cond delay="0"/>
                                  </p:stCondLst>
                                  <p:childTnLst>
                                    <p:set>
                                      <p:cBhvr>
                                        <p:cTn id="34" dur="1" fill="hold">
                                          <p:stCondLst>
                                            <p:cond delay="0"/>
                                          </p:stCondLst>
                                        </p:cTn>
                                        <p:tgtEl>
                                          <p:spTgt spid="267338"/>
                                        </p:tgtEl>
                                        <p:attrNameLst>
                                          <p:attrName>style.visibility</p:attrName>
                                        </p:attrNameLst>
                                      </p:cBhvr>
                                      <p:to>
                                        <p:strVal val="visible"/>
                                      </p:to>
                                    </p:set>
                                    <p:animEffect transition="in" filter="dissolve">
                                      <p:cBhvr>
                                        <p:cTn id="35" dur="500"/>
                                        <p:tgtEl>
                                          <p:spTgt spid="26733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8495"/>
                                        </p:tgtEl>
                                        <p:attrNameLst>
                                          <p:attrName>style.visibility</p:attrName>
                                        </p:attrNameLst>
                                      </p:cBhvr>
                                      <p:to>
                                        <p:strVal val="visible"/>
                                      </p:to>
                                    </p:set>
                                    <p:animEffect transition="in" filter="dissolve">
                                      <p:cBhvr>
                                        <p:cTn id="40" dur="500"/>
                                        <p:tgtEl>
                                          <p:spTgt spid="18495"/>
                                        </p:tgtEl>
                                      </p:cBhvr>
                                    </p:animEffect>
                                  </p:childTnLst>
                                </p:cTn>
                              </p:par>
                            </p:childTnLst>
                          </p:cTn>
                        </p:par>
                        <p:par>
                          <p:cTn id="41" fill="hold" nodeType="afterGroup">
                            <p:stCondLst>
                              <p:cond delay="500"/>
                            </p:stCondLst>
                            <p:childTnLst>
                              <p:par>
                                <p:cTn id="42" presetID="22" presetClass="entr" presetSubtype="4" fill="hold" grpId="0" nodeType="afterEffect">
                                  <p:stCondLst>
                                    <p:cond delay="0"/>
                                  </p:stCondLst>
                                  <p:childTnLst>
                                    <p:set>
                                      <p:cBhvr>
                                        <p:cTn id="43" dur="1" fill="hold">
                                          <p:stCondLst>
                                            <p:cond delay="0"/>
                                          </p:stCondLst>
                                        </p:cTn>
                                        <p:tgtEl>
                                          <p:spTgt spid="18496"/>
                                        </p:tgtEl>
                                        <p:attrNameLst>
                                          <p:attrName>style.visibility</p:attrName>
                                        </p:attrNameLst>
                                      </p:cBhvr>
                                      <p:to>
                                        <p:strVal val="visible"/>
                                      </p:to>
                                    </p:set>
                                    <p:animEffect transition="in" filter="wipe(down)">
                                      <p:cBhvr>
                                        <p:cTn id="44" dur="1000"/>
                                        <p:tgtEl>
                                          <p:spTgt spid="18496"/>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18497"/>
                                        </p:tgtEl>
                                        <p:attrNameLst>
                                          <p:attrName>style.visibility</p:attrName>
                                        </p:attrNameLst>
                                      </p:cBhvr>
                                      <p:to>
                                        <p:strVal val="visible"/>
                                      </p:to>
                                    </p:set>
                                    <p:animEffect transition="in" filter="wipe(down)">
                                      <p:cBhvr>
                                        <p:cTn id="47" dur="1000"/>
                                        <p:tgtEl>
                                          <p:spTgt spid="18497"/>
                                        </p:tgtEl>
                                      </p:cBhvr>
                                    </p:animEffect>
                                  </p:childTnLst>
                                </p:cTn>
                              </p:par>
                            </p:childTnLst>
                          </p:cTn>
                        </p:par>
                        <p:par>
                          <p:cTn id="48" fill="hold" nodeType="afterGroup">
                            <p:stCondLst>
                              <p:cond delay="1500"/>
                            </p:stCondLst>
                            <p:childTnLst>
                              <p:par>
                                <p:cTn id="49" presetID="9" presetClass="entr" presetSubtype="0" fill="hold" grpId="0" nodeType="afterEffect">
                                  <p:stCondLst>
                                    <p:cond delay="0"/>
                                  </p:stCondLst>
                                  <p:childTnLst>
                                    <p:set>
                                      <p:cBhvr>
                                        <p:cTn id="50" dur="1" fill="hold">
                                          <p:stCondLst>
                                            <p:cond delay="0"/>
                                          </p:stCondLst>
                                        </p:cTn>
                                        <p:tgtEl>
                                          <p:spTgt spid="18492"/>
                                        </p:tgtEl>
                                        <p:attrNameLst>
                                          <p:attrName>style.visibility</p:attrName>
                                        </p:attrNameLst>
                                      </p:cBhvr>
                                      <p:to>
                                        <p:strVal val="visible"/>
                                      </p:to>
                                    </p:set>
                                    <p:animEffect transition="in" filter="dissolve">
                                      <p:cBhvr>
                                        <p:cTn id="51" dur="500"/>
                                        <p:tgtEl>
                                          <p:spTgt spid="18492"/>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18493"/>
                                        </p:tgtEl>
                                        <p:attrNameLst>
                                          <p:attrName>style.visibility</p:attrName>
                                        </p:attrNameLst>
                                      </p:cBhvr>
                                      <p:to>
                                        <p:strVal val="visible"/>
                                      </p:to>
                                    </p:set>
                                    <p:animEffect transition="in" filter="dissolve">
                                      <p:cBhvr>
                                        <p:cTn id="54" dur="500"/>
                                        <p:tgtEl>
                                          <p:spTgt spid="18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8" grpId="0" animBg="1"/>
      <p:bldP spid="267309" grpId="0" build="p"/>
      <p:bldP spid="267310" grpId="0" animBg="1"/>
      <p:bldP spid="18491" grpId="0" animBg="1"/>
      <p:bldP spid="18492" grpId="0" animBg="1"/>
      <p:bldP spid="18493" grpId="0" animBg="1"/>
      <p:bldP spid="18495" grpId="0" animBg="1"/>
      <p:bldP spid="18496" grpId="0" animBg="1"/>
      <p:bldP spid="1849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6483E10A-416E-42A5-94CB-2E709200CD5B}" type="slidenum">
              <a:rPr lang="en-US" altLang="en-US" sz="900" b="0">
                <a:solidFill>
                  <a:schemeClr val="tx1"/>
                </a:solidFill>
                <a:latin typeface="Arial" charset="0"/>
                <a:cs typeface="Arial" charset="0"/>
              </a:rPr>
              <a:pPr/>
              <a:t>20</a:t>
            </a:fld>
            <a:endParaRPr lang="en-US" altLang="en-US" sz="900" b="0">
              <a:solidFill>
                <a:schemeClr val="tx1"/>
              </a:solidFill>
              <a:latin typeface="Arial" charset="0"/>
              <a:cs typeface="Arial" charset="0"/>
            </a:endParaRPr>
          </a:p>
        </p:txBody>
      </p:sp>
      <p:sp>
        <p:nvSpPr>
          <p:cNvPr id="14340" name="Rectangle 2"/>
          <p:cNvSpPr>
            <a:spLocks noGrp="1" noChangeArrowheads="1"/>
          </p:cNvSpPr>
          <p:nvPr>
            <p:ph type="title"/>
          </p:nvPr>
        </p:nvSpPr>
        <p:spPr/>
        <p:txBody>
          <a:bodyPr/>
          <a:lstStyle/>
          <a:p>
            <a:r>
              <a:rPr lang="en-US" altLang="en-US" dirty="0"/>
              <a:t>2. Functionality-Based Approach</a:t>
            </a:r>
          </a:p>
        </p:txBody>
      </p:sp>
      <p:sp>
        <p:nvSpPr>
          <p:cNvPr id="14341" name="Rectangle 3"/>
          <p:cNvSpPr>
            <a:spLocks noGrp="1" noChangeArrowheads="1"/>
          </p:cNvSpPr>
          <p:nvPr>
            <p:ph type="body" idx="1"/>
          </p:nvPr>
        </p:nvSpPr>
        <p:spPr>
          <a:xfrm>
            <a:off x="1662114" y="1085850"/>
            <a:ext cx="8867775" cy="5095494"/>
          </a:xfrm>
        </p:spPr>
        <p:txBody>
          <a:bodyPr/>
          <a:lstStyle/>
          <a:p>
            <a:pPr>
              <a:spcBef>
                <a:spcPts val="1800"/>
              </a:spcBef>
            </a:pPr>
            <a:r>
              <a:rPr lang="en-US" altLang="en-US" dirty="0"/>
              <a:t>Identify characteristics that correspond to the intended </a:t>
            </a:r>
            <a:r>
              <a:rPr lang="en-US" altLang="en-US" dirty="0">
                <a:solidFill>
                  <a:schemeClr val="tx2"/>
                </a:solidFill>
              </a:rPr>
              <a:t>functionality</a:t>
            </a:r>
          </a:p>
          <a:p>
            <a:pPr>
              <a:spcBef>
                <a:spcPts val="1800"/>
              </a:spcBef>
            </a:pPr>
            <a:r>
              <a:rPr lang="en-US" altLang="en-US" dirty="0"/>
              <a:t>Requires more </a:t>
            </a:r>
            <a:r>
              <a:rPr lang="en-US" altLang="en-US" dirty="0">
                <a:solidFill>
                  <a:schemeClr val="tx2"/>
                </a:solidFill>
              </a:rPr>
              <a:t>design effort</a:t>
            </a:r>
            <a:r>
              <a:rPr lang="en-US" altLang="en-US" dirty="0"/>
              <a:t> from tester</a:t>
            </a:r>
          </a:p>
          <a:p>
            <a:pPr>
              <a:spcBef>
                <a:spcPts val="1800"/>
              </a:spcBef>
            </a:pPr>
            <a:r>
              <a:rPr lang="en-US" altLang="en-US" dirty="0"/>
              <a:t>Can incorporate </a:t>
            </a:r>
            <a:r>
              <a:rPr lang="en-US" altLang="en-US" dirty="0">
                <a:solidFill>
                  <a:schemeClr val="tx2"/>
                </a:solidFill>
              </a:rPr>
              <a:t>domain</a:t>
            </a:r>
            <a:r>
              <a:rPr lang="en-US" altLang="en-US" dirty="0"/>
              <a:t> and </a:t>
            </a:r>
            <a:r>
              <a:rPr lang="en-US" altLang="en-US" dirty="0">
                <a:solidFill>
                  <a:schemeClr val="tx2"/>
                </a:solidFill>
              </a:rPr>
              <a:t>semantic</a:t>
            </a:r>
            <a:r>
              <a:rPr lang="en-US" altLang="en-US" dirty="0"/>
              <a:t> knowledge</a:t>
            </a:r>
          </a:p>
          <a:p>
            <a:pPr>
              <a:spcBef>
                <a:spcPts val="1800"/>
              </a:spcBef>
            </a:pPr>
            <a:r>
              <a:rPr lang="en-US" altLang="en-US" dirty="0"/>
              <a:t>Can use </a:t>
            </a:r>
            <a:r>
              <a:rPr lang="en-US" altLang="en-US" dirty="0">
                <a:solidFill>
                  <a:schemeClr val="tx2"/>
                </a:solidFill>
              </a:rPr>
              <a:t>relationships</a:t>
            </a:r>
            <a:r>
              <a:rPr lang="en-US" altLang="en-US" dirty="0"/>
              <a:t> among parameters</a:t>
            </a:r>
          </a:p>
          <a:p>
            <a:pPr>
              <a:spcBef>
                <a:spcPts val="1800"/>
              </a:spcBef>
            </a:pPr>
            <a:r>
              <a:rPr lang="en-US" altLang="en-US" dirty="0"/>
              <a:t>Modeling can be based on </a:t>
            </a:r>
            <a:r>
              <a:rPr lang="en-US" altLang="en-US" dirty="0">
                <a:solidFill>
                  <a:schemeClr val="tx2"/>
                </a:solidFill>
              </a:rPr>
              <a:t>requirements</a:t>
            </a:r>
            <a:r>
              <a:rPr lang="en-US" altLang="en-US" dirty="0"/>
              <a:t>, not implementation</a:t>
            </a:r>
          </a:p>
          <a:p>
            <a:pPr>
              <a:spcBef>
                <a:spcPts val="1800"/>
              </a:spcBef>
            </a:pPr>
            <a:r>
              <a:rPr lang="en-US" altLang="en-US" dirty="0"/>
              <a:t>The same parameter may appear in multiple characteristics, so it’s </a:t>
            </a:r>
            <a:r>
              <a:rPr lang="en-US" altLang="en-US" dirty="0">
                <a:solidFill>
                  <a:schemeClr val="tx2"/>
                </a:solidFill>
              </a:rPr>
              <a:t>harder</a:t>
            </a:r>
            <a:r>
              <a:rPr lang="en-US" altLang="en-US" dirty="0"/>
              <a:t> to translate values to test cases</a:t>
            </a:r>
          </a:p>
        </p:txBody>
      </p:sp>
    </p:spTree>
    <p:extLst>
      <p:ext uri="{BB962C8B-B14F-4D97-AF65-F5344CB8AC3E}">
        <p14:creationId xmlns:p14="http://schemas.microsoft.com/office/powerpoint/2010/main" val="571240646"/>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2. Functionality-Based Example</a:t>
            </a:r>
            <a:endParaRPr lang="en-US" dirty="0"/>
          </a:p>
        </p:txBody>
      </p:sp>
      <p:sp>
        <p:nvSpPr>
          <p:cNvPr id="3" name="Content Placeholder 2"/>
          <p:cNvSpPr>
            <a:spLocks noGrp="1"/>
          </p:cNvSpPr>
          <p:nvPr>
            <p:ph idx="1"/>
          </p:nvPr>
        </p:nvSpPr>
        <p:spPr/>
        <p:txBody>
          <a:bodyPr/>
          <a:lstStyle/>
          <a:p>
            <a:r>
              <a:rPr lang="en-US" altLang="en-US" dirty="0"/>
              <a:t>Again, consider method </a:t>
            </a:r>
            <a:r>
              <a:rPr lang="en-US" altLang="en-US" i="1" dirty="0" err="1">
                <a:latin typeface="Arial" panose="020B0604020202020204" pitchFamily="34" charset="0"/>
                <a:cs typeface="Arial" panose="020B0604020202020204" pitchFamily="34" charset="0"/>
              </a:rPr>
              <a:t>triang</a:t>
            </a:r>
            <a:r>
              <a:rPr lang="en-US" altLang="en-US" i="1" dirty="0"/>
              <a:t>()</a:t>
            </a:r>
            <a:r>
              <a:rPr lang="en-US" altLang="en-US" dirty="0"/>
              <a:t> from class </a:t>
            </a:r>
            <a:r>
              <a:rPr lang="en-US" altLang="en-US" i="1" dirty="0" err="1">
                <a:latin typeface="Arial" panose="020B0604020202020204" pitchFamily="34" charset="0"/>
                <a:cs typeface="Arial" panose="020B0604020202020204" pitchFamily="34" charset="0"/>
              </a:rPr>
              <a:t>TriangleType</a:t>
            </a:r>
            <a:r>
              <a:rPr lang="en-US" altLang="en-US" dirty="0"/>
              <a:t> :</a:t>
            </a:r>
          </a:p>
        </p:txBody>
      </p:sp>
      <p:sp>
        <p:nvSpPr>
          <p:cNvPr id="6" name="Slide Number Placeholder 5"/>
          <p:cNvSpPr>
            <a:spLocks noGrp="1"/>
          </p:cNvSpPr>
          <p:nvPr>
            <p:ph type="sldNum" sz="quarter" idx="12"/>
          </p:nvPr>
        </p:nvSpPr>
        <p:spPr/>
        <p:txBody>
          <a:bodyPr/>
          <a:lstStyle/>
          <a:p>
            <a:pPr>
              <a:defRPr/>
            </a:pPr>
            <a:fld id="{FE742154-05E0-4FD4-B04E-B92FD3670A3A}" type="slidenum">
              <a:rPr lang="en-US" smtClean="0"/>
              <a:pPr>
                <a:defRPr/>
              </a:pPr>
              <a:t>21</a:t>
            </a:fld>
            <a:endParaRPr lang="en-US"/>
          </a:p>
        </p:txBody>
      </p:sp>
      <p:sp>
        <p:nvSpPr>
          <p:cNvPr id="7" name="Text Box 36"/>
          <p:cNvSpPr txBox="1">
            <a:spLocks noChangeArrowheads="1"/>
          </p:cNvSpPr>
          <p:nvPr/>
        </p:nvSpPr>
        <p:spPr bwMode="auto">
          <a:xfrm>
            <a:off x="3014218" y="2095120"/>
            <a:ext cx="6157087" cy="461665"/>
          </a:xfrm>
          <a:prstGeom prst="rect">
            <a:avLst/>
          </a:prstGeom>
          <a:solidFill>
            <a:srgbClr val="00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spcBef>
                <a:spcPct val="50000"/>
              </a:spcBef>
            </a:pPr>
            <a:r>
              <a:rPr kumimoji="1" lang="en-US" altLang="zh-CN" sz="2400" dirty="0">
                <a:solidFill>
                  <a:schemeClr val="tx1"/>
                </a:solidFill>
                <a:latin typeface="Gill Sans MT" panose="020B0502020104020203" pitchFamily="34" charset="0"/>
                <a:ea typeface="楷体_GB2312" pitchFamily="49" charset="-122"/>
              </a:rPr>
              <a:t>The three parameters represent a </a:t>
            </a:r>
            <a:r>
              <a:rPr kumimoji="1" lang="en-US" altLang="zh-CN" sz="2400" i="1" dirty="0">
                <a:solidFill>
                  <a:schemeClr val="tx1"/>
                </a:solidFill>
                <a:latin typeface="Gill Sans MT" panose="020B0502020104020203" pitchFamily="34" charset="0"/>
                <a:ea typeface="楷体_GB2312" pitchFamily="49" charset="-122"/>
              </a:rPr>
              <a:t>triangle</a:t>
            </a:r>
          </a:p>
        </p:txBody>
      </p:sp>
      <p:sp>
        <p:nvSpPr>
          <p:cNvPr id="8" name="Text Box 36"/>
          <p:cNvSpPr txBox="1">
            <a:spLocks noChangeArrowheads="1"/>
          </p:cNvSpPr>
          <p:nvPr/>
        </p:nvSpPr>
        <p:spPr bwMode="auto">
          <a:xfrm>
            <a:off x="2758441" y="3233126"/>
            <a:ext cx="6668897" cy="1015663"/>
          </a:xfrm>
          <a:prstGeom prst="rect">
            <a:avLst/>
          </a:prstGeom>
          <a:solidFill>
            <a:srgbClr val="00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eaLnBrk="1" hangingPunct="1">
              <a:spcBef>
                <a:spcPct val="50000"/>
              </a:spcBef>
            </a:pPr>
            <a:r>
              <a:rPr kumimoji="1" lang="en-US" altLang="zh-CN" sz="2400" dirty="0">
                <a:solidFill>
                  <a:schemeClr val="tx1"/>
                </a:solidFill>
                <a:latin typeface="Gill Sans MT" panose="020B0502020104020203" pitchFamily="34" charset="0"/>
                <a:ea typeface="楷体_GB2312" pitchFamily="49" charset="-122"/>
              </a:rPr>
              <a:t>The IDM can combine all parameters</a:t>
            </a:r>
          </a:p>
          <a:p>
            <a:pPr eaLnBrk="1" hangingPunct="1">
              <a:spcBef>
                <a:spcPct val="50000"/>
              </a:spcBef>
            </a:pPr>
            <a:r>
              <a:rPr kumimoji="1" lang="en-US" altLang="zh-CN" sz="2400" dirty="0">
                <a:solidFill>
                  <a:schemeClr val="tx1"/>
                </a:solidFill>
                <a:latin typeface="Gill Sans MT" panose="020B0502020104020203" pitchFamily="34" charset="0"/>
                <a:ea typeface="楷体_GB2312" pitchFamily="49" charset="-122"/>
              </a:rPr>
              <a:t>Reasonable characteristic : </a:t>
            </a:r>
            <a:r>
              <a:rPr kumimoji="1" lang="en-US" altLang="zh-CN" sz="2400" i="1" dirty="0">
                <a:solidFill>
                  <a:schemeClr val="tx1"/>
                </a:solidFill>
                <a:latin typeface="Gill Sans MT" panose="020B0502020104020203" pitchFamily="34" charset="0"/>
                <a:ea typeface="楷体_GB2312" pitchFamily="49" charset="-122"/>
              </a:rPr>
              <a:t>Type of triangle</a:t>
            </a:r>
          </a:p>
        </p:txBody>
      </p:sp>
    </p:spTree>
    <p:extLst>
      <p:ext uri="{BB962C8B-B14F-4D97-AF65-F5344CB8AC3E}">
        <p14:creationId xmlns:p14="http://schemas.microsoft.com/office/powerpoint/2010/main" val="75648619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A3C6EC49-3780-4C0B-9BE3-B8555598D6C0}" type="slidenum">
              <a:rPr lang="en-US" altLang="en-US" sz="900" b="0">
                <a:solidFill>
                  <a:schemeClr val="tx1"/>
                </a:solidFill>
                <a:latin typeface="Arial" charset="0"/>
                <a:cs typeface="Arial" charset="0"/>
              </a:rPr>
              <a:pPr/>
              <a:t>22</a:t>
            </a:fld>
            <a:endParaRPr lang="en-US" altLang="en-US" sz="900" b="0">
              <a:solidFill>
                <a:schemeClr val="tx1"/>
              </a:solidFill>
              <a:latin typeface="Arial" charset="0"/>
              <a:cs typeface="Arial" charset="0"/>
            </a:endParaRPr>
          </a:p>
        </p:txBody>
      </p:sp>
      <p:sp>
        <p:nvSpPr>
          <p:cNvPr id="20484" name="Rectangle 2"/>
          <p:cNvSpPr>
            <a:spLocks noGrp="1" noChangeArrowheads="1"/>
          </p:cNvSpPr>
          <p:nvPr>
            <p:ph type="title"/>
          </p:nvPr>
        </p:nvSpPr>
        <p:spPr>
          <a:xfrm>
            <a:off x="1572129" y="96839"/>
            <a:ext cx="9002713" cy="915987"/>
          </a:xfrm>
        </p:spPr>
        <p:txBody>
          <a:bodyPr/>
          <a:lstStyle/>
          <a:p>
            <a:r>
              <a:rPr lang="en-US" altLang="en-US" dirty="0"/>
              <a:t>Functionality-Based </a:t>
            </a:r>
            <a:r>
              <a:rPr lang="en-US" altLang="en-US" i="1" dirty="0"/>
              <a:t>IDM—</a:t>
            </a:r>
            <a:r>
              <a:rPr lang="en-US" altLang="en-US" i="1" dirty="0" err="1"/>
              <a:t>triang</a:t>
            </a:r>
            <a:r>
              <a:rPr lang="en-US" altLang="en-US" dirty="0"/>
              <a:t>()</a:t>
            </a:r>
          </a:p>
        </p:txBody>
      </p:sp>
      <p:sp>
        <p:nvSpPr>
          <p:cNvPr id="20485" name="Rectangle 3"/>
          <p:cNvSpPr>
            <a:spLocks noGrp="1" noChangeArrowheads="1"/>
          </p:cNvSpPr>
          <p:nvPr>
            <p:ph type="body" sz="half" idx="1"/>
          </p:nvPr>
        </p:nvSpPr>
        <p:spPr>
          <a:xfrm>
            <a:off x="1662114" y="806117"/>
            <a:ext cx="8861425" cy="1363997"/>
          </a:xfrm>
        </p:spPr>
        <p:txBody>
          <a:bodyPr/>
          <a:lstStyle/>
          <a:p>
            <a:r>
              <a:rPr lang="en-US" altLang="en-US" sz="2400" dirty="0"/>
              <a:t>First two characterizations are based on </a:t>
            </a:r>
            <a:r>
              <a:rPr lang="en-US" altLang="en-US" sz="2400" dirty="0">
                <a:solidFill>
                  <a:schemeClr val="tx2"/>
                </a:solidFill>
              </a:rPr>
              <a:t>syntax</a:t>
            </a:r>
            <a:r>
              <a:rPr lang="en-US" altLang="en-US" sz="2400" dirty="0"/>
              <a:t>–parameters and their type</a:t>
            </a:r>
          </a:p>
          <a:p>
            <a:r>
              <a:rPr lang="en-US" altLang="en-US" sz="2400" dirty="0"/>
              <a:t>A </a:t>
            </a:r>
            <a:r>
              <a:rPr lang="en-US" altLang="en-US" sz="2400" dirty="0">
                <a:solidFill>
                  <a:schemeClr val="tx2"/>
                </a:solidFill>
              </a:rPr>
              <a:t>semantic</a:t>
            </a:r>
            <a:r>
              <a:rPr lang="en-US" altLang="en-US" sz="2400" dirty="0"/>
              <a:t> level characterization could use the fact that the three integers represent a triangle</a:t>
            </a:r>
          </a:p>
        </p:txBody>
      </p:sp>
      <p:sp>
        <p:nvSpPr>
          <p:cNvPr id="270340" name="Text Box 4"/>
          <p:cNvSpPr txBox="1">
            <a:spLocks noChangeArrowheads="1"/>
          </p:cNvSpPr>
          <p:nvPr/>
        </p:nvSpPr>
        <p:spPr bwMode="auto">
          <a:xfrm>
            <a:off x="2808288" y="2366972"/>
            <a:ext cx="6553200" cy="461665"/>
          </a:xfrm>
          <a:prstGeom prst="rect">
            <a:avLst/>
          </a:prstGeom>
          <a:solidFill>
            <a:srgbClr val="0033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2400" b="0" u="sng" dirty="0">
                <a:solidFill>
                  <a:schemeClr val="tx1"/>
                </a:solidFill>
                <a:latin typeface="Gill Sans MT" panose="020B0502020104020203" pitchFamily="34" charset="0"/>
                <a:ea typeface="楷体_GB2312" pitchFamily="49" charset="-122"/>
              </a:rPr>
              <a:t>Geometric</a:t>
            </a:r>
            <a:r>
              <a:rPr kumimoji="1" lang="en-US" altLang="zh-CN" sz="2400" b="0" dirty="0">
                <a:solidFill>
                  <a:schemeClr val="tx1"/>
                </a:solidFill>
                <a:latin typeface="Gill Sans MT" panose="020B0502020104020203" pitchFamily="34" charset="0"/>
                <a:ea typeface="楷体_GB2312" pitchFamily="49" charset="-122"/>
              </a:rPr>
              <a:t> Characterization of </a:t>
            </a:r>
            <a:r>
              <a:rPr kumimoji="1" lang="en-US" altLang="zh-CN" sz="2400" b="0" i="1" dirty="0" err="1">
                <a:solidFill>
                  <a:schemeClr val="tx1"/>
                </a:solidFill>
                <a:latin typeface="Gill Sans MT" panose="020B0502020104020203" pitchFamily="34" charset="0"/>
                <a:ea typeface="楷体_GB2312" pitchFamily="49" charset="-122"/>
              </a:rPr>
              <a:t>triang</a:t>
            </a:r>
            <a:r>
              <a:rPr kumimoji="1" lang="en-US" altLang="zh-CN" sz="2400" b="0" dirty="0">
                <a:solidFill>
                  <a:schemeClr val="tx1"/>
                </a:solidFill>
                <a:latin typeface="Gill Sans MT" panose="020B0502020104020203" pitchFamily="34" charset="0"/>
                <a:ea typeface="楷体_GB2312" pitchFamily="49" charset="-122"/>
              </a:rPr>
              <a:t>()’s Inputs</a:t>
            </a:r>
          </a:p>
        </p:txBody>
      </p:sp>
      <p:graphicFrame>
        <p:nvGraphicFramePr>
          <p:cNvPr id="270439" name="Group 103"/>
          <p:cNvGraphicFramePr>
            <a:graphicFrameLocks noGrp="1"/>
          </p:cNvGraphicFramePr>
          <p:nvPr>
            <p:extLst>
              <p:ext uri="{D42A27DB-BD31-4B8C-83A1-F6EECF244321}">
                <p14:modId xmlns:p14="http://schemas.microsoft.com/office/powerpoint/2010/main" val="294172467"/>
              </p:ext>
            </p:extLst>
          </p:nvPr>
        </p:nvGraphicFramePr>
        <p:xfrm>
          <a:off x="1901825" y="2826498"/>
          <a:ext cx="8229600" cy="814820"/>
        </p:xfrm>
        <a:graphic>
          <a:graphicData uri="http://schemas.openxmlformats.org/drawingml/2006/table">
            <a:tbl>
              <a:tblPr/>
              <a:tblGrid>
                <a:gridCol w="3554413">
                  <a:extLst>
                    <a:ext uri="{9D8B030D-6E8A-4147-A177-3AD203B41FA5}">
                      <a16:colId xmlns:a16="http://schemas.microsoft.com/office/drawing/2014/main" val="20000"/>
                    </a:ext>
                  </a:extLst>
                </a:gridCol>
                <a:gridCol w="960437">
                  <a:extLst>
                    <a:ext uri="{9D8B030D-6E8A-4147-A177-3AD203B41FA5}">
                      <a16:colId xmlns:a16="http://schemas.microsoft.com/office/drawing/2014/main" val="20001"/>
                    </a:ext>
                  </a:extLst>
                </a:gridCol>
                <a:gridCol w="1108075">
                  <a:extLst>
                    <a:ext uri="{9D8B030D-6E8A-4147-A177-3AD203B41FA5}">
                      <a16:colId xmlns:a16="http://schemas.microsoft.com/office/drawing/2014/main" val="20002"/>
                    </a:ext>
                  </a:extLst>
                </a:gridCol>
                <a:gridCol w="1314450">
                  <a:extLst>
                    <a:ext uri="{9D8B030D-6E8A-4147-A177-3AD203B41FA5}">
                      <a16:colId xmlns:a16="http://schemas.microsoft.com/office/drawing/2014/main" val="20003"/>
                    </a:ext>
                  </a:extLst>
                </a:gridCol>
                <a:gridCol w="1292225">
                  <a:extLst>
                    <a:ext uri="{9D8B030D-6E8A-4147-A177-3AD203B41FA5}">
                      <a16:colId xmlns:a16="http://schemas.microsoft.com/office/drawing/2014/main" val="20004"/>
                    </a:ext>
                  </a:extLst>
                </a:gridCol>
              </a:tblGrid>
              <a:tr h="371568">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Characteristic</a:t>
                      </a:r>
                      <a:endParaRPr kumimoji="0" lang="zh-CN" altLang="en-US" sz="2400" b="0" i="0" u="none" strike="noStrike" cap="none" normalizeH="0" baseline="0" dirty="0">
                        <a:ln>
                          <a:noFill/>
                        </a:ln>
                        <a:solidFill>
                          <a:schemeClr val="tx2"/>
                        </a:solidFill>
                        <a:effectLst/>
                        <a:latin typeface="Gill Sans MT" panose="020B0502020104020203" pitchFamily="34" charset="0"/>
                        <a:ea typeface="宋体" charset="-122"/>
                      </a:endParaRPr>
                    </a:p>
                  </a:txBody>
                  <a:tcPr anchor="ct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dirty="0">
                          <a:ln>
                            <a:noFill/>
                          </a:ln>
                          <a:solidFill>
                            <a:schemeClr val="tx2"/>
                          </a:solidFill>
                          <a:effectLst/>
                          <a:latin typeface="Gill Sans MT" panose="020B0502020104020203" pitchFamily="34" charset="0"/>
                          <a:ea typeface="宋体" charset="-122"/>
                        </a:rPr>
                        <a:t>1</a:t>
                      </a:r>
                      <a:endParaRPr kumimoji="0" lang="zh-CN" altLang="en-US" sz="2400" b="0" i="0" u="none" strike="noStrike" cap="none" normalizeH="0" baseline="-25000" dirty="0">
                        <a:ln>
                          <a:noFill/>
                        </a:ln>
                        <a:solidFill>
                          <a:schemeClr val="tx2"/>
                        </a:solidFill>
                        <a:effectLst/>
                        <a:latin typeface="Gill Sans MT" panose="020B0502020104020203" pitchFamily="34" charset="0"/>
                        <a:ea typeface="宋体" charset="-122"/>
                      </a:endParaRPr>
                    </a:p>
                  </a:txBody>
                  <a:tcPr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dirty="0">
                          <a:ln>
                            <a:noFill/>
                          </a:ln>
                          <a:solidFill>
                            <a:schemeClr val="tx2"/>
                          </a:solidFill>
                          <a:effectLst/>
                          <a:latin typeface="Gill Sans MT" panose="020B0502020104020203" pitchFamily="34" charset="0"/>
                          <a:ea typeface="宋体" charset="-122"/>
                        </a:rPr>
                        <a:t>2</a:t>
                      </a:r>
                    </a:p>
                  </a:txBody>
                  <a:tcPr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dirty="0">
                          <a:ln>
                            <a:noFill/>
                          </a:ln>
                          <a:solidFill>
                            <a:schemeClr val="tx2"/>
                          </a:solidFill>
                          <a:effectLst/>
                          <a:latin typeface="Gill Sans MT" panose="020B0502020104020203" pitchFamily="34" charset="0"/>
                          <a:ea typeface="宋体" charset="-122"/>
                        </a:rPr>
                        <a:t>3</a:t>
                      </a:r>
                    </a:p>
                  </a:txBody>
                  <a:tcPr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dirty="0">
                          <a:ln>
                            <a:noFill/>
                          </a:ln>
                          <a:solidFill>
                            <a:schemeClr val="tx2"/>
                          </a:solidFill>
                          <a:effectLst/>
                          <a:latin typeface="Gill Sans MT" panose="020B0502020104020203" pitchFamily="34" charset="0"/>
                          <a:ea typeface="宋体" charset="-122"/>
                        </a:rPr>
                        <a:t>4</a:t>
                      </a:r>
                    </a:p>
                  </a:txBody>
                  <a:tcPr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extLst>
                  <a:ext uri="{0D108BD9-81ED-4DB2-BD59-A6C34878D82A}">
                    <a16:rowId xmlns:a16="http://schemas.microsoft.com/office/drawing/2014/main" val="10000"/>
                  </a:ext>
                </a:extLst>
              </a:tr>
              <a:tr h="394196">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q</a:t>
                      </a:r>
                      <a:r>
                        <a:rPr kumimoji="0" lang="en-US" altLang="zh-CN" sz="2000" b="0" i="0" u="none" strike="noStrike" cap="none" normalizeH="0" baseline="-25000" dirty="0">
                          <a:ln>
                            <a:noFill/>
                          </a:ln>
                          <a:solidFill>
                            <a:schemeClr val="tx1"/>
                          </a:solidFill>
                          <a:effectLst/>
                          <a:latin typeface="Gill Sans MT" panose="020B0502020104020203" pitchFamily="34" charset="0"/>
                          <a:ea typeface="宋体" charset="-122"/>
                        </a:rPr>
                        <a:t>1</a:t>
                      </a: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 = “Geometric  Classification”</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scalene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isosceles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equilateral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invalid</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270447" name="Group 111"/>
          <p:cNvGraphicFramePr>
            <a:graphicFrameLocks noGrp="1"/>
          </p:cNvGraphicFramePr>
          <p:nvPr>
            <p:ph sz="half" idx="2"/>
            <p:extLst>
              <p:ext uri="{D42A27DB-BD31-4B8C-83A1-F6EECF244321}">
                <p14:modId xmlns:p14="http://schemas.microsoft.com/office/powerpoint/2010/main" val="2882211306"/>
              </p:ext>
            </p:extLst>
          </p:nvPr>
        </p:nvGraphicFramePr>
        <p:xfrm>
          <a:off x="1944688" y="5322888"/>
          <a:ext cx="8496300" cy="1358900"/>
        </p:xfrm>
        <a:graphic>
          <a:graphicData uri="http://schemas.openxmlformats.org/drawingml/2006/table">
            <a:tbl>
              <a:tblPr/>
              <a:tblGrid>
                <a:gridCol w="3557587">
                  <a:extLst>
                    <a:ext uri="{9D8B030D-6E8A-4147-A177-3AD203B41FA5}">
                      <a16:colId xmlns:a16="http://schemas.microsoft.com/office/drawing/2014/main" val="20000"/>
                    </a:ext>
                  </a:extLst>
                </a:gridCol>
                <a:gridCol w="936625">
                  <a:extLst>
                    <a:ext uri="{9D8B030D-6E8A-4147-A177-3AD203B41FA5}">
                      <a16:colId xmlns:a16="http://schemas.microsoft.com/office/drawing/2014/main" val="20001"/>
                    </a:ext>
                  </a:extLst>
                </a:gridCol>
                <a:gridCol w="1554163">
                  <a:extLst>
                    <a:ext uri="{9D8B030D-6E8A-4147-A177-3AD203B41FA5}">
                      <a16:colId xmlns:a16="http://schemas.microsoft.com/office/drawing/2014/main" val="20002"/>
                    </a:ext>
                  </a:extLst>
                </a:gridCol>
                <a:gridCol w="1325562">
                  <a:extLst>
                    <a:ext uri="{9D8B030D-6E8A-4147-A177-3AD203B41FA5}">
                      <a16:colId xmlns:a16="http://schemas.microsoft.com/office/drawing/2014/main" val="20003"/>
                    </a:ext>
                  </a:extLst>
                </a:gridCol>
                <a:gridCol w="1122363">
                  <a:extLst>
                    <a:ext uri="{9D8B030D-6E8A-4147-A177-3AD203B41FA5}">
                      <a16:colId xmlns:a16="http://schemas.microsoft.com/office/drawing/2014/main" val="20004"/>
                    </a:ext>
                  </a:extLst>
                </a:gridCol>
              </a:tblGrid>
              <a:tr h="44450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Characteristic</a:t>
                      </a:r>
                      <a:endParaRPr kumimoji="0" lang="zh-CN" altLang="en-US" sz="2400" b="0" i="0" u="none" strike="noStrike" cap="none" normalizeH="0" baseline="0" dirty="0">
                        <a:ln>
                          <a:noFill/>
                        </a:ln>
                        <a:solidFill>
                          <a:schemeClr val="tx2"/>
                        </a:solidFill>
                        <a:effectLst/>
                        <a:latin typeface="Gill Sans MT" panose="020B0502020104020203" pitchFamily="34" charset="0"/>
                        <a:ea typeface="宋体" charset="-122"/>
                      </a:endParaRP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dirty="0">
                          <a:ln>
                            <a:noFill/>
                          </a:ln>
                          <a:solidFill>
                            <a:schemeClr val="tx2"/>
                          </a:solidFill>
                          <a:effectLst/>
                          <a:latin typeface="Gill Sans MT" panose="020B0502020104020203" pitchFamily="34" charset="0"/>
                          <a:ea typeface="宋体" charset="-122"/>
                        </a:rPr>
                        <a:t>1</a:t>
                      </a:r>
                      <a:endParaRPr kumimoji="0" lang="zh-CN" altLang="en-US" sz="2400" b="0" i="0" u="none" strike="noStrike" cap="none" normalizeH="0" baseline="-25000" dirty="0">
                        <a:ln>
                          <a:noFill/>
                        </a:ln>
                        <a:solidFill>
                          <a:schemeClr val="tx2"/>
                        </a:solidFill>
                        <a:effectLst/>
                        <a:latin typeface="Gill Sans MT" panose="020B0502020104020203" pitchFamily="34" charset="0"/>
                        <a:ea typeface="宋体" charset="-122"/>
                      </a:endParaRP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dirty="0">
                          <a:ln>
                            <a:noFill/>
                          </a:ln>
                          <a:solidFill>
                            <a:schemeClr val="tx2"/>
                          </a:solidFill>
                          <a:effectLst/>
                          <a:latin typeface="Gill Sans MT" panose="020B0502020104020203" pitchFamily="34" charset="0"/>
                          <a:ea typeface="宋体" charset="-122"/>
                        </a:rPr>
                        <a:t>2</a:t>
                      </a: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a:ln>
                            <a:noFill/>
                          </a:ln>
                          <a:solidFill>
                            <a:schemeClr val="tx2"/>
                          </a:solidFill>
                          <a:effectLst/>
                          <a:latin typeface="Gill Sans MT" panose="020B0502020104020203" pitchFamily="34" charset="0"/>
                          <a:ea typeface="宋体" charset="-122"/>
                        </a:rPr>
                        <a:t>3</a:t>
                      </a: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a:ln>
                            <a:noFill/>
                          </a:ln>
                          <a:solidFill>
                            <a:schemeClr val="tx2"/>
                          </a:solidFill>
                          <a:effectLst/>
                          <a:latin typeface="Gill Sans MT" panose="020B0502020104020203" pitchFamily="34" charset="0"/>
                          <a:ea typeface="宋体" charset="-122"/>
                        </a:rPr>
                        <a:t>4</a:t>
                      </a: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extLst>
                  <a:ext uri="{0D108BD9-81ED-4DB2-BD59-A6C34878D82A}">
                    <a16:rowId xmlns:a16="http://schemas.microsoft.com/office/drawing/2014/main" val="10000"/>
                  </a:ext>
                </a:extLst>
              </a:tr>
              <a:tr h="64770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q</a:t>
                      </a:r>
                      <a:r>
                        <a:rPr kumimoji="0" lang="en-US" altLang="zh-CN" sz="2000" b="0" i="0" u="none" strike="noStrike" cap="none" normalizeH="0" baseline="-25000" dirty="0">
                          <a:ln>
                            <a:noFill/>
                          </a:ln>
                          <a:solidFill>
                            <a:schemeClr val="tx1"/>
                          </a:solidFill>
                          <a:effectLst/>
                          <a:latin typeface="Gill Sans MT" panose="020B0502020104020203" pitchFamily="34" charset="0"/>
                          <a:ea typeface="宋体" charset="-122"/>
                        </a:rPr>
                        <a:t>1</a:t>
                      </a: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 = “Geometric  Classification”</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scalene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isosceles, not equilateral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equilateral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invalid</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270448" name="Rectangle 112"/>
          <p:cNvSpPr>
            <a:spLocks noChangeArrowheads="1"/>
          </p:cNvSpPr>
          <p:nvPr/>
        </p:nvSpPr>
        <p:spPr bwMode="auto">
          <a:xfrm>
            <a:off x="1665289" y="3797968"/>
            <a:ext cx="8861425"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5750" indent="-285750">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90000"/>
              </a:lnSpc>
              <a:spcBef>
                <a:spcPct val="30000"/>
              </a:spcBef>
              <a:buSzPct val="85000"/>
              <a:buFontTx/>
              <a:buChar char="•"/>
            </a:pPr>
            <a:r>
              <a:rPr lang="en-US" altLang="en-US" sz="2400" b="0" dirty="0">
                <a:solidFill>
                  <a:schemeClr val="tx1"/>
                </a:solidFill>
                <a:latin typeface="Gill Sans MT" panose="020B0502020104020203" pitchFamily="34" charset="0"/>
              </a:rPr>
              <a:t>Equilateral is also isosceles !</a:t>
            </a:r>
          </a:p>
          <a:p>
            <a:pPr>
              <a:lnSpc>
                <a:spcPct val="90000"/>
              </a:lnSpc>
              <a:spcBef>
                <a:spcPct val="30000"/>
              </a:spcBef>
              <a:buSzPct val="85000"/>
              <a:buFontTx/>
              <a:buChar char="•"/>
            </a:pPr>
            <a:r>
              <a:rPr lang="en-US" altLang="en-US" sz="2400" b="0" dirty="0">
                <a:solidFill>
                  <a:schemeClr val="tx1"/>
                </a:solidFill>
                <a:latin typeface="Gill Sans MT" panose="020B0502020104020203" pitchFamily="34" charset="0"/>
              </a:rPr>
              <a:t>We need to </a:t>
            </a:r>
            <a:r>
              <a:rPr lang="en-US" altLang="en-US" sz="2400" b="0" dirty="0">
                <a:solidFill>
                  <a:schemeClr val="tx2"/>
                </a:solidFill>
                <a:latin typeface="Gill Sans MT" panose="020B0502020104020203" pitchFamily="34" charset="0"/>
              </a:rPr>
              <a:t>refine</a:t>
            </a:r>
            <a:r>
              <a:rPr lang="en-US" altLang="en-US" sz="2400" b="0" dirty="0">
                <a:solidFill>
                  <a:schemeClr val="tx1"/>
                </a:solidFill>
                <a:latin typeface="Gill Sans MT" panose="020B0502020104020203" pitchFamily="34" charset="0"/>
              </a:rPr>
              <a:t> the example to make characteristics valid</a:t>
            </a:r>
          </a:p>
        </p:txBody>
      </p:sp>
      <p:sp>
        <p:nvSpPr>
          <p:cNvPr id="270449" name="Text Box 113"/>
          <p:cNvSpPr txBox="1">
            <a:spLocks noChangeArrowheads="1"/>
          </p:cNvSpPr>
          <p:nvPr/>
        </p:nvSpPr>
        <p:spPr bwMode="auto">
          <a:xfrm>
            <a:off x="2362200" y="4867779"/>
            <a:ext cx="7467600" cy="461665"/>
          </a:xfrm>
          <a:prstGeom prst="rect">
            <a:avLst/>
          </a:prstGeom>
          <a:solidFill>
            <a:srgbClr val="0033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2400" b="0" u="sng" dirty="0">
                <a:solidFill>
                  <a:schemeClr val="tx1"/>
                </a:solidFill>
                <a:latin typeface="Gill Sans MT" panose="020B0502020104020203" pitchFamily="34" charset="0"/>
                <a:ea typeface="楷体_GB2312" pitchFamily="49" charset="-122"/>
              </a:rPr>
              <a:t>Correct</a:t>
            </a:r>
            <a:r>
              <a:rPr kumimoji="1" lang="en-US" altLang="zh-CN" sz="2400" b="0" dirty="0">
                <a:solidFill>
                  <a:schemeClr val="tx1"/>
                </a:solidFill>
                <a:latin typeface="Gill Sans MT" panose="020B0502020104020203" pitchFamily="34" charset="0"/>
                <a:ea typeface="楷体_GB2312" pitchFamily="49" charset="-122"/>
              </a:rPr>
              <a:t> Geometric Characterization of </a:t>
            </a:r>
            <a:r>
              <a:rPr kumimoji="1" lang="en-US" altLang="zh-CN" sz="2400" b="0" i="1" dirty="0" err="1">
                <a:solidFill>
                  <a:schemeClr val="tx1"/>
                </a:solidFill>
                <a:latin typeface="Gill Sans MT" panose="020B0502020104020203" pitchFamily="34" charset="0"/>
                <a:ea typeface="楷体_GB2312" pitchFamily="49" charset="-122"/>
              </a:rPr>
              <a:t>triang</a:t>
            </a:r>
            <a:r>
              <a:rPr kumimoji="1" lang="en-US" altLang="zh-CN" sz="2400" b="0" dirty="0">
                <a:solidFill>
                  <a:schemeClr val="tx1"/>
                </a:solidFill>
                <a:latin typeface="Gill Sans MT" panose="020B0502020104020203" pitchFamily="34" charset="0"/>
                <a:ea typeface="楷体_GB2312" pitchFamily="49" charset="-122"/>
              </a:rPr>
              <a:t>()’s Inputs</a:t>
            </a:r>
          </a:p>
        </p:txBody>
      </p:sp>
      <p:sp>
        <p:nvSpPr>
          <p:cNvPr id="19504" name="Oval 48"/>
          <p:cNvSpPr>
            <a:spLocks noChangeArrowheads="1"/>
          </p:cNvSpPr>
          <p:nvPr/>
        </p:nvSpPr>
        <p:spPr bwMode="auto">
          <a:xfrm>
            <a:off x="6143625" y="5637214"/>
            <a:ext cx="1976438" cy="885825"/>
          </a:xfrm>
          <a:prstGeom prst="ellipse">
            <a:avLst/>
          </a:prstGeom>
          <a:gradFill rotWithShape="1">
            <a:gsLst>
              <a:gs pos="0">
                <a:srgbClr val="CCFF99">
                  <a:alpha val="50000"/>
                </a:srgbClr>
              </a:gs>
              <a:gs pos="100000">
                <a:srgbClr val="5E7647">
                  <a:alpha val="48000"/>
                </a:srgbClr>
              </a:gs>
            </a:gsLst>
            <a:path path="shape">
              <a:fillToRect l="50000" t="50000" r="50000" b="50000"/>
            </a:path>
          </a:gradFill>
          <a:ln w="38100">
            <a:solidFill>
              <a:schemeClr val="tx2"/>
            </a:solidFill>
            <a:round/>
            <a:headEnd type="none" w="sm" len="sm"/>
            <a:tailEnd type="none" w="sm" len="sm"/>
          </a:ln>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p>
        </p:txBody>
      </p:sp>
      <p:sp>
        <p:nvSpPr>
          <p:cNvPr id="13" name="TextBox 12"/>
          <p:cNvSpPr txBox="1"/>
          <p:nvPr/>
        </p:nvSpPr>
        <p:spPr>
          <a:xfrm>
            <a:off x="4435317" y="3797969"/>
            <a:ext cx="3321367" cy="954107"/>
          </a:xfrm>
          <a:prstGeom prst="rect">
            <a:avLst/>
          </a:prstGeom>
          <a:solidFill>
            <a:schemeClr val="bg1">
              <a:lumMod val="40000"/>
              <a:lumOff val="60000"/>
            </a:schemeClr>
          </a:solidFill>
        </p:spPr>
        <p:txBody>
          <a:bodyPr wrap="square" rtlCol="0">
            <a:spAutoFit/>
          </a:bodyPr>
          <a:lstStyle/>
          <a:p>
            <a:pPr algn="ctr"/>
            <a:r>
              <a:rPr lang="en-US" sz="2800" b="0" i="1" dirty="0">
                <a:solidFill>
                  <a:schemeClr val="tx1"/>
                </a:solidFill>
                <a:latin typeface="Gill Sans MT" panose="020B0502020104020203" pitchFamily="34" charset="0"/>
              </a:rPr>
              <a:t>What’s wrong with this partitioning?</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0340"/>
                                        </p:tgtEl>
                                        <p:attrNameLst>
                                          <p:attrName>style.visibility</p:attrName>
                                        </p:attrNameLst>
                                      </p:cBhvr>
                                      <p:to>
                                        <p:strVal val="visible"/>
                                      </p:to>
                                    </p:set>
                                    <p:animEffect transition="in" filter="dissolve">
                                      <p:cBhvr>
                                        <p:cTn id="7" dur="500"/>
                                        <p:tgtEl>
                                          <p:spTgt spid="270340"/>
                                        </p:tgtEl>
                                      </p:cBhvr>
                                    </p:animEffect>
                                  </p:childTnLst>
                                </p:cTn>
                              </p:par>
                              <p:par>
                                <p:cTn id="8" presetID="9" presetClass="entr" presetSubtype="0" fill="hold" nodeType="withEffect">
                                  <p:stCondLst>
                                    <p:cond delay="0"/>
                                  </p:stCondLst>
                                  <p:childTnLst>
                                    <p:set>
                                      <p:cBhvr>
                                        <p:cTn id="9" dur="1" fill="hold">
                                          <p:stCondLst>
                                            <p:cond delay="0"/>
                                          </p:stCondLst>
                                        </p:cTn>
                                        <p:tgtEl>
                                          <p:spTgt spid="270439"/>
                                        </p:tgtEl>
                                        <p:attrNameLst>
                                          <p:attrName>style.visibility</p:attrName>
                                        </p:attrNameLst>
                                      </p:cBhvr>
                                      <p:to>
                                        <p:strVal val="visible"/>
                                      </p:to>
                                    </p:set>
                                    <p:animEffect transition="in" filter="dissolve">
                                      <p:cBhvr>
                                        <p:cTn id="10" dur="500"/>
                                        <p:tgtEl>
                                          <p:spTgt spid="270439"/>
                                        </p:tgtEl>
                                      </p:cBhvr>
                                    </p:animEffect>
                                  </p:childTnLst>
                                </p:cTn>
                              </p:par>
                            </p:childTnLst>
                          </p:cTn>
                        </p:par>
                        <p:par>
                          <p:cTn id="11" fill="hold" nodeType="withGroup">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2000"/>
                                        <p:tgtEl>
                                          <p:spTgt spid="1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grpId="1" nodeType="clickEffect">
                                  <p:stCondLst>
                                    <p:cond delay="0"/>
                                  </p:stCondLst>
                                  <p:childTnLst>
                                    <p:animEffect transition="out" filter="fade">
                                      <p:cBhvr>
                                        <p:cTn id="18" dur="1000"/>
                                        <p:tgtEl>
                                          <p:spTgt spid="13"/>
                                        </p:tgtEl>
                                      </p:cBhvr>
                                    </p:animEffect>
                                    <p:set>
                                      <p:cBhvr>
                                        <p:cTn id="19" dur="1" fill="hold">
                                          <p:stCondLst>
                                            <p:cond delay="999"/>
                                          </p:stCondLst>
                                        </p:cTn>
                                        <p:tgtEl>
                                          <p:spTgt spid="13"/>
                                        </p:tgtEl>
                                        <p:attrNameLst>
                                          <p:attrName>style.visibility</p:attrName>
                                        </p:attrNameLst>
                                      </p:cBhvr>
                                      <p:to>
                                        <p:strVal val="hidden"/>
                                      </p:to>
                                    </p:set>
                                  </p:childTnLst>
                                </p:cTn>
                              </p:par>
                            </p:childTnLst>
                          </p:cTn>
                        </p:par>
                        <p:par>
                          <p:cTn id="20" fill="hold">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270448">
                                            <p:txEl>
                                              <p:pRg st="0" end="0"/>
                                            </p:txEl>
                                          </p:spTgt>
                                        </p:tgtEl>
                                        <p:attrNameLst>
                                          <p:attrName>style.visibility</p:attrName>
                                        </p:attrNameLst>
                                      </p:cBhvr>
                                      <p:to>
                                        <p:strVal val="visible"/>
                                      </p:to>
                                    </p:set>
                                    <p:animEffect transition="in" filter="wipe(left)">
                                      <p:cBhvr>
                                        <p:cTn id="23" dur="1000"/>
                                        <p:tgtEl>
                                          <p:spTgt spid="270448">
                                            <p:txEl>
                                              <p:pRg st="0" end="0"/>
                                            </p:txEl>
                                          </p:spTgt>
                                        </p:tgtEl>
                                      </p:cBhvr>
                                    </p:animEffect>
                                  </p:childTnLst>
                                </p:cTn>
                              </p:par>
                            </p:childTnLst>
                          </p:cTn>
                        </p:par>
                        <p:par>
                          <p:cTn id="24" fill="hold" nodeType="withGroup">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270448">
                                            <p:txEl>
                                              <p:pRg st="1" end="1"/>
                                            </p:txEl>
                                          </p:spTgt>
                                        </p:tgtEl>
                                        <p:attrNameLst>
                                          <p:attrName>style.visibility</p:attrName>
                                        </p:attrNameLst>
                                      </p:cBhvr>
                                      <p:to>
                                        <p:strVal val="visible"/>
                                      </p:to>
                                    </p:set>
                                    <p:animEffect transition="in" filter="wipe(left)">
                                      <p:cBhvr>
                                        <p:cTn id="27" dur="1000"/>
                                        <p:tgtEl>
                                          <p:spTgt spid="270448">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70449"/>
                                        </p:tgtEl>
                                        <p:attrNameLst>
                                          <p:attrName>style.visibility</p:attrName>
                                        </p:attrNameLst>
                                      </p:cBhvr>
                                      <p:to>
                                        <p:strVal val="visible"/>
                                      </p:to>
                                    </p:set>
                                    <p:animEffect transition="in" filter="dissolve">
                                      <p:cBhvr>
                                        <p:cTn id="32" dur="500"/>
                                        <p:tgtEl>
                                          <p:spTgt spid="270449"/>
                                        </p:tgtEl>
                                      </p:cBhvr>
                                    </p:animEffect>
                                  </p:childTnLst>
                                </p:cTn>
                              </p:par>
                              <p:par>
                                <p:cTn id="33" presetID="9" presetClass="entr" presetSubtype="0" fill="hold" nodeType="withEffect">
                                  <p:stCondLst>
                                    <p:cond delay="0"/>
                                  </p:stCondLst>
                                  <p:childTnLst>
                                    <p:set>
                                      <p:cBhvr>
                                        <p:cTn id="34" dur="1" fill="hold">
                                          <p:stCondLst>
                                            <p:cond delay="0"/>
                                          </p:stCondLst>
                                        </p:cTn>
                                        <p:tgtEl>
                                          <p:spTgt spid="270447"/>
                                        </p:tgtEl>
                                        <p:attrNameLst>
                                          <p:attrName>style.visibility</p:attrName>
                                        </p:attrNameLst>
                                      </p:cBhvr>
                                      <p:to>
                                        <p:strVal val="visible"/>
                                      </p:to>
                                    </p:set>
                                    <p:animEffect transition="in" filter="dissolve">
                                      <p:cBhvr>
                                        <p:cTn id="35" dur="500"/>
                                        <p:tgtEl>
                                          <p:spTgt spid="270447"/>
                                        </p:tgtEl>
                                      </p:cBhvr>
                                    </p:animEffect>
                                  </p:childTnLst>
                                </p:cTn>
                              </p:par>
                            </p:childTnLst>
                          </p:cTn>
                        </p:par>
                        <p:par>
                          <p:cTn id="36" fill="hold" nodeType="afterGroup">
                            <p:stCondLst>
                              <p:cond delay="500"/>
                            </p:stCondLst>
                            <p:childTnLst>
                              <p:par>
                                <p:cTn id="37" presetID="55" presetClass="entr" presetSubtype="0" fill="hold" grpId="0" nodeType="afterEffect">
                                  <p:stCondLst>
                                    <p:cond delay="0"/>
                                  </p:stCondLst>
                                  <p:childTnLst>
                                    <p:set>
                                      <p:cBhvr>
                                        <p:cTn id="38" dur="1" fill="hold">
                                          <p:stCondLst>
                                            <p:cond delay="0"/>
                                          </p:stCondLst>
                                        </p:cTn>
                                        <p:tgtEl>
                                          <p:spTgt spid="19504"/>
                                        </p:tgtEl>
                                        <p:attrNameLst>
                                          <p:attrName>style.visibility</p:attrName>
                                        </p:attrNameLst>
                                      </p:cBhvr>
                                      <p:to>
                                        <p:strVal val="visible"/>
                                      </p:to>
                                    </p:set>
                                    <p:anim calcmode="lin" valueType="num">
                                      <p:cBhvr>
                                        <p:cTn id="39" dur="1000" fill="hold"/>
                                        <p:tgtEl>
                                          <p:spTgt spid="19504"/>
                                        </p:tgtEl>
                                        <p:attrNameLst>
                                          <p:attrName>ppt_w</p:attrName>
                                        </p:attrNameLst>
                                      </p:cBhvr>
                                      <p:tavLst>
                                        <p:tav tm="0">
                                          <p:val>
                                            <p:strVal val="#ppt_w*0.70"/>
                                          </p:val>
                                        </p:tav>
                                        <p:tav tm="100000">
                                          <p:val>
                                            <p:strVal val="#ppt_w"/>
                                          </p:val>
                                        </p:tav>
                                      </p:tavLst>
                                    </p:anim>
                                    <p:anim calcmode="lin" valueType="num">
                                      <p:cBhvr>
                                        <p:cTn id="40" dur="1000" fill="hold"/>
                                        <p:tgtEl>
                                          <p:spTgt spid="19504"/>
                                        </p:tgtEl>
                                        <p:attrNameLst>
                                          <p:attrName>ppt_h</p:attrName>
                                        </p:attrNameLst>
                                      </p:cBhvr>
                                      <p:tavLst>
                                        <p:tav tm="0">
                                          <p:val>
                                            <p:strVal val="#ppt_h"/>
                                          </p:val>
                                        </p:tav>
                                        <p:tav tm="100000">
                                          <p:val>
                                            <p:strVal val="#ppt_h"/>
                                          </p:val>
                                        </p:tav>
                                      </p:tavLst>
                                    </p:anim>
                                    <p:animEffect transition="in" filter="fade">
                                      <p:cBhvr>
                                        <p:cTn id="41" dur="1000"/>
                                        <p:tgtEl>
                                          <p:spTgt spid="19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40" grpId="0" animBg="1"/>
      <p:bldP spid="270448" grpId="0" build="p"/>
      <p:bldP spid="270449" grpId="0" animBg="1"/>
      <p:bldP spid="19504" grpId="0" animBg="1"/>
      <p:bldP spid="13" grpId="0" animBg="1"/>
      <p:bldP spid="13"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4AE8BB24-BE95-46ED-984B-EC66E78DA9DE}" type="slidenum">
              <a:rPr lang="en-US" altLang="en-US" sz="900" b="0">
                <a:solidFill>
                  <a:schemeClr val="tx1"/>
                </a:solidFill>
                <a:latin typeface="Arial" charset="0"/>
                <a:cs typeface="Arial" charset="0"/>
              </a:rPr>
              <a:pPr/>
              <a:t>23</a:t>
            </a:fld>
            <a:endParaRPr lang="en-US" altLang="en-US" sz="900" b="0">
              <a:solidFill>
                <a:schemeClr val="tx1"/>
              </a:solidFill>
              <a:latin typeface="Arial" charset="0"/>
              <a:cs typeface="Arial" charset="0"/>
            </a:endParaRPr>
          </a:p>
        </p:txBody>
      </p:sp>
      <p:sp>
        <p:nvSpPr>
          <p:cNvPr id="21508" name="Rectangle 2"/>
          <p:cNvSpPr>
            <a:spLocks noGrp="1" noChangeArrowheads="1"/>
          </p:cNvSpPr>
          <p:nvPr>
            <p:ph type="title"/>
          </p:nvPr>
        </p:nvSpPr>
        <p:spPr/>
        <p:txBody>
          <a:bodyPr/>
          <a:lstStyle/>
          <a:p>
            <a:r>
              <a:rPr lang="en-US" altLang="en-US" dirty="0"/>
              <a:t>Functionality-Based </a:t>
            </a:r>
            <a:r>
              <a:rPr lang="en-US" altLang="en-US" i="1" dirty="0"/>
              <a:t>IDM—</a:t>
            </a:r>
            <a:r>
              <a:rPr lang="en-US" altLang="en-US" i="1" dirty="0" err="1"/>
              <a:t>triang</a:t>
            </a:r>
            <a:r>
              <a:rPr lang="en-US" altLang="en-US" dirty="0"/>
              <a:t>()</a:t>
            </a:r>
          </a:p>
        </p:txBody>
      </p:sp>
      <p:sp>
        <p:nvSpPr>
          <p:cNvPr id="21509" name="Rectangle 3"/>
          <p:cNvSpPr>
            <a:spLocks noGrp="1" noChangeArrowheads="1"/>
          </p:cNvSpPr>
          <p:nvPr>
            <p:ph type="body" idx="1"/>
          </p:nvPr>
        </p:nvSpPr>
        <p:spPr>
          <a:xfrm>
            <a:off x="1662114" y="1085850"/>
            <a:ext cx="8867775" cy="896938"/>
          </a:xfrm>
        </p:spPr>
        <p:txBody>
          <a:bodyPr/>
          <a:lstStyle/>
          <a:p>
            <a:r>
              <a:rPr lang="en-US" altLang="en-US" dirty="0">
                <a:solidFill>
                  <a:schemeClr val="tx2"/>
                </a:solidFill>
              </a:rPr>
              <a:t>Values</a:t>
            </a:r>
            <a:r>
              <a:rPr lang="en-US" altLang="en-US" dirty="0"/>
              <a:t> for this partitioning can be chosen as</a:t>
            </a:r>
          </a:p>
        </p:txBody>
      </p:sp>
      <p:sp>
        <p:nvSpPr>
          <p:cNvPr id="267310" name="Text Box 46"/>
          <p:cNvSpPr txBox="1">
            <a:spLocks noChangeArrowheads="1"/>
          </p:cNvSpPr>
          <p:nvPr/>
        </p:nvSpPr>
        <p:spPr bwMode="auto">
          <a:xfrm>
            <a:off x="2495550" y="2016125"/>
            <a:ext cx="7239000" cy="523220"/>
          </a:xfrm>
          <a:prstGeom prst="rect">
            <a:avLst/>
          </a:prstGeom>
          <a:solidFill>
            <a:srgbClr val="0033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2800" b="0" dirty="0">
                <a:solidFill>
                  <a:schemeClr val="tx1"/>
                </a:solidFill>
                <a:latin typeface="Gill Sans MT" panose="020B0502020104020203" pitchFamily="34" charset="0"/>
                <a:ea typeface="楷体_GB2312" pitchFamily="49" charset="-122"/>
              </a:rPr>
              <a:t>Possible values for geometric partition q</a:t>
            </a:r>
            <a:r>
              <a:rPr kumimoji="1" lang="en-US" altLang="zh-CN" sz="2800" b="0" baseline="-25000" dirty="0">
                <a:solidFill>
                  <a:schemeClr val="tx1"/>
                </a:solidFill>
                <a:latin typeface="Gill Sans MT" panose="020B0502020104020203" pitchFamily="34" charset="0"/>
                <a:ea typeface="楷体_GB2312" pitchFamily="49" charset="-122"/>
              </a:rPr>
              <a:t>1</a:t>
            </a:r>
            <a:endParaRPr kumimoji="1" lang="en-US" altLang="zh-CN" sz="2800" b="0" dirty="0">
              <a:solidFill>
                <a:schemeClr val="tx1"/>
              </a:solidFill>
              <a:latin typeface="Gill Sans MT" panose="020B0502020104020203" pitchFamily="34" charset="0"/>
              <a:ea typeface="楷体_GB2312" pitchFamily="49" charset="-122"/>
            </a:endParaRPr>
          </a:p>
        </p:txBody>
      </p:sp>
      <p:graphicFrame>
        <p:nvGraphicFramePr>
          <p:cNvPr id="267338" name="Group 74"/>
          <p:cNvGraphicFramePr>
            <a:graphicFrameLocks noGrp="1"/>
          </p:cNvGraphicFramePr>
          <p:nvPr>
            <p:extLst>
              <p:ext uri="{D42A27DB-BD31-4B8C-83A1-F6EECF244321}">
                <p14:modId xmlns:p14="http://schemas.microsoft.com/office/powerpoint/2010/main" val="383364459"/>
              </p:ext>
            </p:extLst>
          </p:nvPr>
        </p:nvGraphicFramePr>
        <p:xfrm>
          <a:off x="2076450" y="2465388"/>
          <a:ext cx="8229600" cy="1143000"/>
        </p:xfrm>
        <a:graphic>
          <a:graphicData uri="http://schemas.openxmlformats.org/drawingml/2006/table">
            <a:tbl>
              <a:tblPr/>
              <a:tblGrid>
                <a:gridCol w="21336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57150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Characteristic</a:t>
                      </a:r>
                      <a:endParaRPr kumimoji="0" lang="zh-CN" altLang="en-US" sz="2400" b="0" i="0" u="none" strike="noStrike" cap="none" normalizeH="0" baseline="0" dirty="0">
                        <a:ln>
                          <a:noFill/>
                        </a:ln>
                        <a:solidFill>
                          <a:schemeClr val="tx2"/>
                        </a:solidFill>
                        <a:effectLst/>
                        <a:latin typeface="Gill Sans MT" panose="020B0502020104020203" pitchFamily="34" charset="0"/>
                        <a:ea typeface="宋体" charset="-122"/>
                      </a:endParaRP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dirty="0">
                          <a:ln>
                            <a:noFill/>
                          </a:ln>
                          <a:solidFill>
                            <a:schemeClr val="tx2"/>
                          </a:solidFill>
                          <a:effectLst/>
                          <a:latin typeface="Gill Sans MT" panose="020B0502020104020203" pitchFamily="34" charset="0"/>
                          <a:ea typeface="宋体" charset="-122"/>
                        </a:rPr>
                        <a:t>1</a:t>
                      </a:r>
                      <a:endParaRPr kumimoji="0" lang="zh-CN" altLang="en-US" sz="2400" b="0" i="0" u="none" strike="noStrike" cap="none" normalizeH="0" baseline="-25000" dirty="0">
                        <a:ln>
                          <a:noFill/>
                        </a:ln>
                        <a:solidFill>
                          <a:schemeClr val="tx2"/>
                        </a:solidFill>
                        <a:effectLst/>
                        <a:latin typeface="Gill Sans MT" panose="020B0502020104020203" pitchFamily="34" charset="0"/>
                        <a:ea typeface="宋体" charset="-122"/>
                      </a:endParaRP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dirty="0">
                          <a:ln>
                            <a:noFill/>
                          </a:ln>
                          <a:solidFill>
                            <a:schemeClr val="tx2"/>
                          </a:solidFill>
                          <a:effectLst/>
                          <a:latin typeface="Gill Sans MT" panose="020B0502020104020203" pitchFamily="34" charset="0"/>
                          <a:ea typeface="宋体" charset="-122"/>
                        </a:rPr>
                        <a:t>2</a:t>
                      </a: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a:ln>
                            <a:noFill/>
                          </a:ln>
                          <a:solidFill>
                            <a:schemeClr val="tx2"/>
                          </a:solidFill>
                          <a:effectLst/>
                          <a:latin typeface="Gill Sans MT" panose="020B0502020104020203" pitchFamily="34" charset="0"/>
                          <a:ea typeface="宋体" charset="-122"/>
                        </a:rPr>
                        <a:t>3</a:t>
                      </a: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a:ln>
                            <a:noFill/>
                          </a:ln>
                          <a:solidFill>
                            <a:schemeClr val="tx2"/>
                          </a:solidFill>
                          <a:effectLst/>
                          <a:latin typeface="Gill Sans MT" panose="020B0502020104020203" pitchFamily="34" charset="0"/>
                          <a:ea typeface="宋体" charset="-122"/>
                        </a:rPr>
                        <a:t>4</a:t>
                      </a: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extLst>
                  <a:ext uri="{0D108BD9-81ED-4DB2-BD59-A6C34878D82A}">
                    <a16:rowId xmlns:a16="http://schemas.microsoft.com/office/drawing/2014/main" val="10000"/>
                  </a:ext>
                </a:extLst>
              </a:tr>
              <a:tr h="57150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Triangle</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(4, 5, 6)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(3, 3, 4)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(3, 3, 3)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(3, 4, 8)</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7310"/>
                                        </p:tgtEl>
                                        <p:attrNameLst>
                                          <p:attrName>style.visibility</p:attrName>
                                        </p:attrNameLst>
                                      </p:cBhvr>
                                      <p:to>
                                        <p:strVal val="visible"/>
                                      </p:to>
                                    </p:set>
                                    <p:animEffect transition="in" filter="dissolve">
                                      <p:cBhvr>
                                        <p:cTn id="7" dur="500"/>
                                        <p:tgtEl>
                                          <p:spTgt spid="267310"/>
                                        </p:tgtEl>
                                      </p:cBhvr>
                                    </p:animEffect>
                                  </p:childTnLst>
                                </p:cTn>
                              </p:par>
                              <p:par>
                                <p:cTn id="8" presetID="9" presetClass="entr" presetSubtype="0" fill="hold" nodeType="withEffect">
                                  <p:stCondLst>
                                    <p:cond delay="0"/>
                                  </p:stCondLst>
                                  <p:childTnLst>
                                    <p:set>
                                      <p:cBhvr>
                                        <p:cTn id="9" dur="1" fill="hold">
                                          <p:stCondLst>
                                            <p:cond delay="0"/>
                                          </p:stCondLst>
                                        </p:cTn>
                                        <p:tgtEl>
                                          <p:spTgt spid="267338"/>
                                        </p:tgtEl>
                                        <p:attrNameLst>
                                          <p:attrName>style.visibility</p:attrName>
                                        </p:attrNameLst>
                                      </p:cBhvr>
                                      <p:to>
                                        <p:strVal val="visible"/>
                                      </p:to>
                                    </p:set>
                                    <p:animEffect transition="in" filter="dissolve">
                                      <p:cBhvr>
                                        <p:cTn id="10" dur="500"/>
                                        <p:tgtEl>
                                          <p:spTgt spid="267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3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530C00A6-DE77-4794-8DAC-0CEE29B98B07}" type="slidenum">
              <a:rPr lang="en-US" altLang="en-US" sz="900" b="0">
                <a:solidFill>
                  <a:schemeClr val="tx1"/>
                </a:solidFill>
                <a:latin typeface="Arial" charset="0"/>
                <a:cs typeface="Arial" charset="0"/>
              </a:rPr>
              <a:pPr/>
              <a:t>24</a:t>
            </a:fld>
            <a:endParaRPr lang="en-US" altLang="en-US" sz="900" b="0">
              <a:solidFill>
                <a:schemeClr val="tx1"/>
              </a:solidFill>
              <a:latin typeface="Arial" charset="0"/>
              <a:cs typeface="Arial" charset="0"/>
            </a:endParaRPr>
          </a:p>
        </p:txBody>
      </p:sp>
      <p:sp>
        <p:nvSpPr>
          <p:cNvPr id="22532" name="Rectangle 2"/>
          <p:cNvSpPr>
            <a:spLocks noGrp="1" noChangeArrowheads="1"/>
          </p:cNvSpPr>
          <p:nvPr>
            <p:ph type="title" idx="4294967295"/>
          </p:nvPr>
        </p:nvSpPr>
        <p:spPr/>
        <p:txBody>
          <a:bodyPr/>
          <a:lstStyle/>
          <a:p>
            <a:r>
              <a:rPr lang="en-US" altLang="en-US" dirty="0"/>
              <a:t>Functionality-Based IDM—</a:t>
            </a:r>
            <a:r>
              <a:rPr lang="en-US" altLang="en-US" i="1" dirty="0" err="1"/>
              <a:t>triang</a:t>
            </a:r>
            <a:r>
              <a:rPr lang="en-US" altLang="en-US" dirty="0"/>
              <a:t>()</a:t>
            </a:r>
          </a:p>
        </p:txBody>
      </p:sp>
      <p:sp>
        <p:nvSpPr>
          <p:cNvPr id="22533" name="Rectangle 3"/>
          <p:cNvSpPr>
            <a:spLocks noGrp="1" noChangeArrowheads="1"/>
          </p:cNvSpPr>
          <p:nvPr>
            <p:ph type="body" sz="half" idx="4294967295"/>
          </p:nvPr>
        </p:nvSpPr>
        <p:spPr>
          <a:xfrm>
            <a:off x="1662114" y="1085851"/>
            <a:ext cx="8861425" cy="842963"/>
          </a:xfrm>
        </p:spPr>
        <p:txBody>
          <a:bodyPr/>
          <a:lstStyle/>
          <a:p>
            <a:r>
              <a:rPr lang="en-US" altLang="en-US" dirty="0"/>
              <a:t>A </a:t>
            </a:r>
            <a:r>
              <a:rPr lang="en-US" altLang="en-US" dirty="0">
                <a:solidFill>
                  <a:schemeClr val="tx2"/>
                </a:solidFill>
              </a:rPr>
              <a:t>different approach</a:t>
            </a:r>
            <a:r>
              <a:rPr lang="en-US" altLang="en-US" dirty="0"/>
              <a:t> would be to break the geometric characterization into four separate characteristics</a:t>
            </a:r>
          </a:p>
        </p:txBody>
      </p:sp>
      <p:sp>
        <p:nvSpPr>
          <p:cNvPr id="270340" name="Text Box 4"/>
          <p:cNvSpPr txBox="1">
            <a:spLocks noChangeArrowheads="1"/>
          </p:cNvSpPr>
          <p:nvPr/>
        </p:nvSpPr>
        <p:spPr bwMode="auto">
          <a:xfrm>
            <a:off x="2808288" y="1957388"/>
            <a:ext cx="6553200" cy="457200"/>
          </a:xfrm>
          <a:prstGeom prst="rect">
            <a:avLst/>
          </a:prstGeom>
          <a:solidFill>
            <a:srgbClr val="0033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eaLnBrk="1" hangingPunct="1">
              <a:spcBef>
                <a:spcPct val="50000"/>
              </a:spcBef>
            </a:pPr>
            <a:r>
              <a:rPr kumimoji="1" lang="en-US" altLang="zh-CN" sz="2400" b="0" u="sng" dirty="0">
                <a:solidFill>
                  <a:schemeClr val="tx1"/>
                </a:solidFill>
                <a:latin typeface="Gill Sans MT" panose="020B0502020104020203" pitchFamily="34" charset="0"/>
                <a:ea typeface="楷体_GB2312" pitchFamily="49" charset="-122"/>
              </a:rPr>
              <a:t>Four</a:t>
            </a:r>
            <a:r>
              <a:rPr kumimoji="1" lang="en-US" altLang="zh-CN" sz="2400" b="0" dirty="0">
                <a:solidFill>
                  <a:schemeClr val="tx1"/>
                </a:solidFill>
                <a:latin typeface="Gill Sans MT" panose="020B0502020104020203" pitchFamily="34" charset="0"/>
                <a:ea typeface="楷体_GB2312" pitchFamily="49" charset="-122"/>
              </a:rPr>
              <a:t> Characteristics for </a:t>
            </a:r>
            <a:r>
              <a:rPr kumimoji="1" lang="en-US" altLang="zh-CN" sz="2400" b="0" i="1" dirty="0" err="1">
                <a:solidFill>
                  <a:schemeClr val="tx1"/>
                </a:solidFill>
                <a:latin typeface="Gill Sans MT" panose="020B0502020104020203" pitchFamily="34" charset="0"/>
                <a:ea typeface="楷体_GB2312" pitchFamily="49" charset="-122"/>
              </a:rPr>
              <a:t>triang</a:t>
            </a:r>
            <a:r>
              <a:rPr kumimoji="1" lang="en-US" altLang="zh-CN" sz="2400" b="0" dirty="0">
                <a:solidFill>
                  <a:schemeClr val="tx1"/>
                </a:solidFill>
                <a:latin typeface="Gill Sans MT" panose="020B0502020104020203" pitchFamily="34" charset="0"/>
                <a:ea typeface="楷体_GB2312" pitchFamily="49" charset="-122"/>
              </a:rPr>
              <a:t>()</a:t>
            </a:r>
            <a:endParaRPr kumimoji="1" lang="en-US" altLang="zh-CN" sz="2400" b="0" i="1" dirty="0">
              <a:solidFill>
                <a:schemeClr val="tx1"/>
              </a:solidFill>
              <a:latin typeface="Gill Sans MT" panose="020B0502020104020203" pitchFamily="34" charset="0"/>
              <a:ea typeface="楷体_GB2312" pitchFamily="49" charset="-122"/>
            </a:endParaRPr>
          </a:p>
        </p:txBody>
      </p:sp>
      <p:graphicFrame>
        <p:nvGraphicFramePr>
          <p:cNvPr id="77924" name="Group 100"/>
          <p:cNvGraphicFramePr>
            <a:graphicFrameLocks noGrp="1"/>
          </p:cNvGraphicFramePr>
          <p:nvPr>
            <p:extLst>
              <p:ext uri="{D42A27DB-BD31-4B8C-83A1-F6EECF244321}">
                <p14:modId xmlns:p14="http://schemas.microsoft.com/office/powerpoint/2010/main" val="1165196661"/>
              </p:ext>
            </p:extLst>
          </p:nvPr>
        </p:nvGraphicFramePr>
        <p:xfrm>
          <a:off x="3989388" y="2411413"/>
          <a:ext cx="4176712" cy="2730500"/>
        </p:xfrm>
        <a:graphic>
          <a:graphicData uri="http://schemas.openxmlformats.org/drawingml/2006/table">
            <a:tbl>
              <a:tblPr/>
              <a:tblGrid>
                <a:gridCol w="2030412">
                  <a:extLst>
                    <a:ext uri="{9D8B030D-6E8A-4147-A177-3AD203B41FA5}">
                      <a16:colId xmlns:a16="http://schemas.microsoft.com/office/drawing/2014/main" val="20000"/>
                    </a:ext>
                  </a:extLst>
                </a:gridCol>
                <a:gridCol w="1073150">
                  <a:extLst>
                    <a:ext uri="{9D8B030D-6E8A-4147-A177-3AD203B41FA5}">
                      <a16:colId xmlns:a16="http://schemas.microsoft.com/office/drawing/2014/main" val="20001"/>
                    </a:ext>
                  </a:extLst>
                </a:gridCol>
                <a:gridCol w="1073150">
                  <a:extLst>
                    <a:ext uri="{9D8B030D-6E8A-4147-A177-3AD203B41FA5}">
                      <a16:colId xmlns:a16="http://schemas.microsoft.com/office/drawing/2014/main" val="20002"/>
                    </a:ext>
                  </a:extLst>
                </a:gridCol>
              </a:tblGrid>
              <a:tr h="54610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Characteristic</a:t>
                      </a:r>
                      <a:endParaRPr kumimoji="0" lang="zh-CN" altLang="en-US" sz="2400" b="0" i="0" u="none" strike="noStrike" cap="none" normalizeH="0" baseline="0" dirty="0">
                        <a:ln>
                          <a:noFill/>
                        </a:ln>
                        <a:solidFill>
                          <a:schemeClr val="tx2"/>
                        </a:solidFill>
                        <a:effectLst/>
                        <a:latin typeface="Gill Sans MT" panose="020B0502020104020203" pitchFamily="34" charset="0"/>
                        <a:ea typeface="宋体" charset="-122"/>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a:ln>
                            <a:noFill/>
                          </a:ln>
                          <a:solidFill>
                            <a:schemeClr val="tx2"/>
                          </a:solidFill>
                          <a:effectLst/>
                          <a:latin typeface="Gill Sans MT" panose="020B0502020104020203" pitchFamily="34" charset="0"/>
                          <a:ea typeface="宋体" charset="-122"/>
                        </a:rPr>
                        <a:t>1</a:t>
                      </a:r>
                      <a:endParaRPr kumimoji="0" lang="zh-CN" altLang="en-US" sz="2400" b="0" i="0" u="none" strike="noStrike" cap="none" normalizeH="0" baseline="-25000">
                        <a:ln>
                          <a:noFill/>
                        </a:ln>
                        <a:solidFill>
                          <a:schemeClr val="tx2"/>
                        </a:solidFill>
                        <a:effectLst/>
                        <a:latin typeface="Gill Sans MT" panose="020B0502020104020203" pitchFamily="34" charset="0"/>
                        <a:ea typeface="宋体" charset="-122"/>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dirty="0">
                          <a:ln>
                            <a:noFill/>
                          </a:ln>
                          <a:solidFill>
                            <a:schemeClr val="tx2"/>
                          </a:solidFill>
                          <a:effectLst/>
                          <a:latin typeface="Gill Sans MT" panose="020B0502020104020203" pitchFamily="34" charset="0"/>
                          <a:ea typeface="宋体" charset="-122"/>
                        </a:rPr>
                        <a:t>2</a:t>
                      </a: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extLst>
                  <a:ext uri="{0D108BD9-81ED-4DB2-BD59-A6C34878D82A}">
                    <a16:rowId xmlns:a16="http://schemas.microsoft.com/office/drawing/2014/main" val="10000"/>
                  </a:ext>
                </a:extLst>
              </a:tr>
              <a:tr h="54610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q</a:t>
                      </a:r>
                      <a:r>
                        <a:rPr kumimoji="0" lang="en-US" altLang="zh-CN" sz="2000" b="0" i="0" u="none" strike="noStrike" cap="none" normalizeH="0" baseline="-25000" dirty="0">
                          <a:ln>
                            <a:noFill/>
                          </a:ln>
                          <a:solidFill>
                            <a:schemeClr val="tx1"/>
                          </a:solidFill>
                          <a:effectLst/>
                          <a:latin typeface="Gill Sans MT" panose="020B0502020104020203" pitchFamily="34" charset="0"/>
                          <a:ea typeface="宋体" charset="-122"/>
                        </a:rPr>
                        <a:t>1</a:t>
                      </a: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 = “Scalene”</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True</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False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4610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q</a:t>
                      </a:r>
                      <a:r>
                        <a:rPr kumimoji="0" lang="en-US" altLang="zh-CN" sz="2000" b="0" i="0" u="none" strike="noStrike" cap="none" normalizeH="0" baseline="-25000" dirty="0">
                          <a:ln>
                            <a:noFill/>
                          </a:ln>
                          <a:solidFill>
                            <a:schemeClr val="tx1"/>
                          </a:solidFill>
                          <a:effectLst/>
                          <a:latin typeface="Gill Sans MT" panose="020B0502020104020203" pitchFamily="34" charset="0"/>
                          <a:ea typeface="宋体" charset="-122"/>
                        </a:rPr>
                        <a:t>2</a:t>
                      </a: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 = “Isosceles”</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True</a:t>
                      </a:r>
                      <a:endParaRPr kumimoji="0" 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False</a:t>
                      </a:r>
                      <a:endParaRPr kumimoji="0" lang="zh-CN" altLang="en-US" sz="2000" b="0" i="0" u="none" strike="noStrike" cap="none" normalizeH="0" baseline="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4610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q</a:t>
                      </a:r>
                      <a:r>
                        <a:rPr kumimoji="0" lang="en-US" altLang="zh-CN" sz="2000" b="0" i="0" u="none" strike="noStrike" cap="none" normalizeH="0" baseline="-25000">
                          <a:ln>
                            <a:noFill/>
                          </a:ln>
                          <a:solidFill>
                            <a:schemeClr val="tx1"/>
                          </a:solidFill>
                          <a:effectLst/>
                          <a:latin typeface="Gill Sans MT" panose="020B0502020104020203" pitchFamily="34" charset="0"/>
                          <a:ea typeface="宋体" charset="-122"/>
                        </a:rPr>
                        <a:t>3</a:t>
                      </a: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 = “Equilateral”</a:t>
                      </a:r>
                      <a:endParaRPr kumimoji="0" lang="zh-CN" altLang="en-US" sz="2000" b="0" i="0" u="none" strike="noStrike" cap="none" normalizeH="0" baseline="0">
                        <a:ln>
                          <a:noFill/>
                        </a:ln>
                        <a:solidFill>
                          <a:schemeClr val="tx1"/>
                        </a:solidFill>
                        <a:effectLst/>
                        <a:latin typeface="Gill Sans MT" panose="020B0502020104020203"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True</a:t>
                      </a:r>
                      <a:endParaRPr kumimoji="0" 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False</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3"/>
                  </a:ext>
                </a:extLst>
              </a:tr>
              <a:tr h="54610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q</a:t>
                      </a:r>
                      <a:r>
                        <a:rPr kumimoji="0" lang="en-US" altLang="zh-CN" sz="2000" b="0" i="0" u="none" strike="noStrike" cap="none" normalizeH="0" baseline="-25000" dirty="0">
                          <a:ln>
                            <a:noFill/>
                          </a:ln>
                          <a:solidFill>
                            <a:schemeClr val="tx1"/>
                          </a:solidFill>
                          <a:effectLst/>
                          <a:latin typeface="Gill Sans MT" panose="020B0502020104020203" pitchFamily="34" charset="0"/>
                          <a:ea typeface="宋体" charset="-122"/>
                        </a:rPr>
                        <a:t>4</a:t>
                      </a: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 = “Valid”</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True</a:t>
                      </a:r>
                      <a:endParaRPr kumimoji="0" lang="zh-CN" altLang="en-US" sz="2000" b="0" i="0" u="none" strike="noStrike" cap="none" normalizeH="0" baseline="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False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77926" name="Rectangle 3"/>
          <p:cNvSpPr>
            <a:spLocks noChangeArrowheads="1"/>
          </p:cNvSpPr>
          <p:nvPr/>
        </p:nvSpPr>
        <p:spPr bwMode="auto">
          <a:xfrm>
            <a:off x="1662114" y="5299076"/>
            <a:ext cx="8861425"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5750" indent="-285750">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90000"/>
              </a:lnSpc>
              <a:spcBef>
                <a:spcPct val="30000"/>
              </a:spcBef>
              <a:buSzPct val="85000"/>
              <a:buFontTx/>
              <a:buChar char="•"/>
            </a:pPr>
            <a:r>
              <a:rPr lang="en-US" altLang="en-US" sz="2400" b="0" dirty="0">
                <a:solidFill>
                  <a:schemeClr val="tx1"/>
                </a:solidFill>
                <a:latin typeface="Gill Sans MT" panose="020B0502020104020203" pitchFamily="34" charset="0"/>
              </a:rPr>
              <a:t>Use </a:t>
            </a:r>
            <a:r>
              <a:rPr lang="en-US" altLang="en-US" sz="2400" b="0" dirty="0">
                <a:solidFill>
                  <a:schemeClr val="tx2"/>
                </a:solidFill>
                <a:latin typeface="Gill Sans MT" panose="020B0502020104020203" pitchFamily="34" charset="0"/>
              </a:rPr>
              <a:t>constraints</a:t>
            </a:r>
            <a:r>
              <a:rPr lang="en-US" altLang="en-US" sz="2400" b="0" dirty="0">
                <a:solidFill>
                  <a:schemeClr val="tx1"/>
                </a:solidFill>
                <a:latin typeface="Gill Sans MT" panose="020B0502020104020203" pitchFamily="34" charset="0"/>
              </a:rPr>
              <a:t> to ensure that</a:t>
            </a:r>
          </a:p>
          <a:p>
            <a:pPr lvl="1">
              <a:lnSpc>
                <a:spcPct val="90000"/>
              </a:lnSpc>
              <a:spcBef>
                <a:spcPct val="30000"/>
              </a:spcBef>
              <a:buSzPct val="100000"/>
              <a:buFontTx/>
              <a:buChar char="–"/>
            </a:pPr>
            <a:r>
              <a:rPr lang="en-US" altLang="en-US" b="0" dirty="0">
                <a:solidFill>
                  <a:schemeClr val="tx2"/>
                </a:solidFill>
                <a:latin typeface="Gill Sans MT" panose="020B0502020104020203" pitchFamily="34" charset="0"/>
              </a:rPr>
              <a:t>Equilateral</a:t>
            </a:r>
            <a:r>
              <a:rPr lang="en-US" altLang="en-US" b="0" dirty="0">
                <a:solidFill>
                  <a:schemeClr val="tx1"/>
                </a:solidFill>
                <a:latin typeface="Gill Sans MT" panose="020B0502020104020203" pitchFamily="34" charset="0"/>
              </a:rPr>
              <a:t> = </a:t>
            </a:r>
            <a:r>
              <a:rPr lang="en-US" altLang="en-US" b="0" dirty="0">
                <a:solidFill>
                  <a:schemeClr val="tx2"/>
                </a:solidFill>
                <a:latin typeface="Gill Sans MT" panose="020B0502020104020203" pitchFamily="34" charset="0"/>
              </a:rPr>
              <a:t>True</a:t>
            </a:r>
            <a:r>
              <a:rPr lang="en-US" altLang="en-US" b="0" dirty="0">
                <a:solidFill>
                  <a:schemeClr val="tx1"/>
                </a:solidFill>
                <a:latin typeface="Gill Sans MT" panose="020B0502020104020203" pitchFamily="34" charset="0"/>
              </a:rPr>
              <a:t> implies </a:t>
            </a:r>
            <a:r>
              <a:rPr lang="en-US" altLang="en-US" b="0" dirty="0">
                <a:solidFill>
                  <a:schemeClr val="tx2"/>
                </a:solidFill>
                <a:latin typeface="Gill Sans MT" panose="020B0502020104020203" pitchFamily="34" charset="0"/>
              </a:rPr>
              <a:t>Isosceles</a:t>
            </a:r>
            <a:r>
              <a:rPr lang="en-US" altLang="en-US" b="0" dirty="0">
                <a:solidFill>
                  <a:schemeClr val="tx1"/>
                </a:solidFill>
                <a:latin typeface="Gill Sans MT" panose="020B0502020104020203" pitchFamily="34" charset="0"/>
              </a:rPr>
              <a:t> = </a:t>
            </a:r>
            <a:r>
              <a:rPr lang="en-US" altLang="en-US" b="0" dirty="0">
                <a:solidFill>
                  <a:schemeClr val="tx2"/>
                </a:solidFill>
                <a:latin typeface="Gill Sans MT" panose="020B0502020104020203" pitchFamily="34" charset="0"/>
              </a:rPr>
              <a:t>True</a:t>
            </a:r>
          </a:p>
          <a:p>
            <a:pPr lvl="1">
              <a:lnSpc>
                <a:spcPct val="90000"/>
              </a:lnSpc>
              <a:spcBef>
                <a:spcPct val="30000"/>
              </a:spcBef>
              <a:buSzPct val="100000"/>
              <a:buFontTx/>
              <a:buChar char="–"/>
            </a:pPr>
            <a:r>
              <a:rPr lang="en-US" altLang="en-US" b="0" dirty="0">
                <a:solidFill>
                  <a:schemeClr val="tx2"/>
                </a:solidFill>
                <a:latin typeface="Gill Sans MT" panose="020B0502020104020203" pitchFamily="34" charset="0"/>
              </a:rPr>
              <a:t>Valid</a:t>
            </a:r>
            <a:r>
              <a:rPr lang="en-US" altLang="en-US" b="0" dirty="0">
                <a:solidFill>
                  <a:schemeClr val="tx1"/>
                </a:solidFill>
                <a:latin typeface="Gill Sans MT" panose="020B0502020104020203" pitchFamily="34" charset="0"/>
              </a:rPr>
              <a:t> = </a:t>
            </a:r>
            <a:r>
              <a:rPr lang="en-US" altLang="en-US" b="0" dirty="0">
                <a:solidFill>
                  <a:schemeClr val="tx2"/>
                </a:solidFill>
                <a:latin typeface="Gill Sans MT" panose="020B0502020104020203" pitchFamily="34" charset="0"/>
              </a:rPr>
              <a:t>False</a:t>
            </a:r>
            <a:r>
              <a:rPr lang="en-US" altLang="en-US" b="0" dirty="0">
                <a:solidFill>
                  <a:schemeClr val="tx1"/>
                </a:solidFill>
                <a:latin typeface="Gill Sans MT" panose="020B0502020104020203" pitchFamily="34" charset="0"/>
              </a:rPr>
              <a:t> implies </a:t>
            </a:r>
            <a:r>
              <a:rPr lang="en-US" altLang="en-US" b="0" dirty="0">
                <a:solidFill>
                  <a:schemeClr val="tx2"/>
                </a:solidFill>
                <a:latin typeface="Gill Sans MT" panose="020B0502020104020203" pitchFamily="34" charset="0"/>
              </a:rPr>
              <a:t>Scalene</a:t>
            </a:r>
            <a:r>
              <a:rPr lang="en-US" altLang="en-US" b="0" dirty="0">
                <a:solidFill>
                  <a:schemeClr val="tx1"/>
                </a:solidFill>
                <a:latin typeface="Gill Sans MT" panose="020B0502020104020203" pitchFamily="34" charset="0"/>
              </a:rPr>
              <a:t> = </a:t>
            </a:r>
            <a:r>
              <a:rPr lang="en-US" altLang="en-US" b="0" dirty="0">
                <a:solidFill>
                  <a:schemeClr val="tx2"/>
                </a:solidFill>
                <a:latin typeface="Gill Sans MT" panose="020B0502020104020203" pitchFamily="34" charset="0"/>
              </a:rPr>
              <a:t>Isosceles</a:t>
            </a:r>
            <a:r>
              <a:rPr lang="en-US" altLang="en-US" b="0" dirty="0">
                <a:solidFill>
                  <a:schemeClr val="tx1"/>
                </a:solidFill>
                <a:latin typeface="Gill Sans MT" panose="020B0502020104020203" pitchFamily="34" charset="0"/>
              </a:rPr>
              <a:t> = </a:t>
            </a:r>
            <a:r>
              <a:rPr lang="en-US" altLang="en-US" b="0" dirty="0">
                <a:solidFill>
                  <a:schemeClr val="tx2"/>
                </a:solidFill>
                <a:latin typeface="Gill Sans MT" panose="020B0502020104020203" pitchFamily="34" charset="0"/>
              </a:rPr>
              <a:t>Equilateral</a:t>
            </a:r>
            <a:r>
              <a:rPr lang="en-US" altLang="en-US" b="0" dirty="0">
                <a:solidFill>
                  <a:schemeClr val="tx1"/>
                </a:solidFill>
                <a:latin typeface="Gill Sans MT" panose="020B0502020104020203" pitchFamily="34" charset="0"/>
              </a:rPr>
              <a:t> = </a:t>
            </a:r>
            <a:r>
              <a:rPr lang="en-US" altLang="en-US" b="0" dirty="0">
                <a:solidFill>
                  <a:schemeClr val="tx2"/>
                </a:solidFill>
                <a:latin typeface="Gill Sans MT" panose="020B0502020104020203" pitchFamily="34" charset="0"/>
              </a:rPr>
              <a:t>False</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0340"/>
                                        </p:tgtEl>
                                        <p:attrNameLst>
                                          <p:attrName>style.visibility</p:attrName>
                                        </p:attrNameLst>
                                      </p:cBhvr>
                                      <p:to>
                                        <p:strVal val="visible"/>
                                      </p:to>
                                    </p:set>
                                    <p:animEffect transition="in" filter="dissolve">
                                      <p:cBhvr>
                                        <p:cTn id="7" dur="500"/>
                                        <p:tgtEl>
                                          <p:spTgt spid="270340"/>
                                        </p:tgtEl>
                                      </p:cBhvr>
                                    </p:animEffect>
                                  </p:childTnLst>
                                </p:cTn>
                              </p:par>
                              <p:par>
                                <p:cTn id="8" presetID="9" presetClass="entr" presetSubtype="0" fill="hold" nodeType="withEffect">
                                  <p:stCondLst>
                                    <p:cond delay="0"/>
                                  </p:stCondLst>
                                  <p:childTnLst>
                                    <p:set>
                                      <p:cBhvr>
                                        <p:cTn id="9" dur="1" fill="hold">
                                          <p:stCondLst>
                                            <p:cond delay="0"/>
                                          </p:stCondLst>
                                        </p:cTn>
                                        <p:tgtEl>
                                          <p:spTgt spid="77924"/>
                                        </p:tgtEl>
                                        <p:attrNameLst>
                                          <p:attrName>style.visibility</p:attrName>
                                        </p:attrNameLst>
                                      </p:cBhvr>
                                      <p:to>
                                        <p:strVal val="visible"/>
                                      </p:to>
                                    </p:set>
                                    <p:animEffect transition="in" filter="dissolve">
                                      <p:cBhvr>
                                        <p:cTn id="10" dur="500"/>
                                        <p:tgtEl>
                                          <p:spTgt spid="7792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79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40" grpId="0" animBg="1"/>
      <p:bldP spid="7792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489DFC9B-7BE3-4A3C-AA9B-0B412B8277C3}" type="slidenum">
              <a:rPr lang="en-US" altLang="en-US" sz="900" b="0">
                <a:solidFill>
                  <a:schemeClr val="tx1"/>
                </a:solidFill>
                <a:latin typeface="Arial" charset="0"/>
                <a:cs typeface="Arial" charset="0"/>
              </a:rPr>
              <a:pPr/>
              <a:t>25</a:t>
            </a:fld>
            <a:endParaRPr lang="en-US" altLang="en-US" sz="900" b="0">
              <a:solidFill>
                <a:schemeClr val="tx1"/>
              </a:solidFill>
              <a:latin typeface="Arial" charset="0"/>
              <a:cs typeface="Arial" charset="0"/>
            </a:endParaRPr>
          </a:p>
        </p:txBody>
      </p:sp>
      <p:sp>
        <p:nvSpPr>
          <p:cNvPr id="23556" name="Rectangle 2"/>
          <p:cNvSpPr>
            <a:spLocks noGrp="1" noChangeArrowheads="1"/>
          </p:cNvSpPr>
          <p:nvPr>
            <p:ph type="title"/>
          </p:nvPr>
        </p:nvSpPr>
        <p:spPr/>
        <p:txBody>
          <a:bodyPr/>
          <a:lstStyle/>
          <a:p>
            <a:r>
              <a:rPr lang="en-US" altLang="en-US"/>
              <a:t>Using More than One IDM</a:t>
            </a:r>
          </a:p>
        </p:txBody>
      </p:sp>
      <p:sp>
        <p:nvSpPr>
          <p:cNvPr id="23557" name="Rectangle 3"/>
          <p:cNvSpPr>
            <a:spLocks noGrp="1" noChangeArrowheads="1"/>
          </p:cNvSpPr>
          <p:nvPr>
            <p:ph type="body" idx="1"/>
          </p:nvPr>
        </p:nvSpPr>
        <p:spPr/>
        <p:txBody>
          <a:bodyPr/>
          <a:lstStyle/>
          <a:p>
            <a:pPr>
              <a:spcBef>
                <a:spcPts val="1800"/>
              </a:spcBef>
            </a:pPr>
            <a:r>
              <a:rPr lang="en-US" altLang="en-US" dirty="0"/>
              <a:t>Some programs may have dozens or even hundreds of parameters</a:t>
            </a:r>
          </a:p>
          <a:p>
            <a:pPr>
              <a:spcBef>
                <a:spcPts val="1800"/>
              </a:spcBef>
            </a:pPr>
            <a:r>
              <a:rPr lang="en-US" altLang="en-US" dirty="0"/>
              <a:t>Create </a:t>
            </a:r>
            <a:r>
              <a:rPr lang="en-US" altLang="en-US" dirty="0">
                <a:solidFill>
                  <a:schemeClr val="tx2"/>
                </a:solidFill>
              </a:rPr>
              <a:t>several</a:t>
            </a:r>
            <a:r>
              <a:rPr lang="en-US" altLang="en-US" dirty="0"/>
              <a:t> small IDMs</a:t>
            </a:r>
          </a:p>
          <a:p>
            <a:pPr lvl="1"/>
            <a:r>
              <a:rPr lang="en-US" altLang="en-US" dirty="0"/>
              <a:t>A divide-and-conquer approach</a:t>
            </a:r>
          </a:p>
          <a:p>
            <a:pPr>
              <a:spcBef>
                <a:spcPts val="1800"/>
              </a:spcBef>
            </a:pPr>
            <a:r>
              <a:rPr lang="en-US" altLang="en-US" dirty="0"/>
              <a:t>Different parts of the software can be tested with different amounts of </a:t>
            </a:r>
            <a:r>
              <a:rPr lang="en-US" altLang="en-US" dirty="0">
                <a:solidFill>
                  <a:schemeClr val="tx2"/>
                </a:solidFill>
              </a:rPr>
              <a:t>rigor</a:t>
            </a:r>
          </a:p>
          <a:p>
            <a:pPr lvl="1"/>
            <a:r>
              <a:rPr lang="en-US" altLang="en-US" dirty="0"/>
              <a:t>For example, some IDMs may include a lot of invalid values</a:t>
            </a:r>
          </a:p>
          <a:p>
            <a:pPr>
              <a:spcBef>
                <a:spcPts val="1800"/>
              </a:spcBef>
            </a:pPr>
            <a:r>
              <a:rPr lang="en-US" altLang="en-US" dirty="0"/>
              <a:t>It is okay if the different IDMs </a:t>
            </a:r>
            <a:r>
              <a:rPr lang="en-US" altLang="en-US" dirty="0">
                <a:solidFill>
                  <a:schemeClr val="tx2"/>
                </a:solidFill>
              </a:rPr>
              <a:t>overlap</a:t>
            </a:r>
          </a:p>
          <a:p>
            <a:pPr lvl="1"/>
            <a:r>
              <a:rPr lang="en-US" altLang="en-US" dirty="0"/>
              <a:t>The same variable may appear in more than one IDM</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AF9FA8DB-758B-49E2-B177-955DE2951CB9}" type="slidenum">
              <a:rPr lang="en-US" altLang="en-US" sz="900" b="0">
                <a:solidFill>
                  <a:schemeClr val="tx1"/>
                </a:solidFill>
                <a:latin typeface="Arial" charset="0"/>
                <a:cs typeface="Arial" charset="0"/>
              </a:rPr>
              <a:pPr/>
              <a:t>26</a:t>
            </a:fld>
            <a:endParaRPr lang="en-US" altLang="en-US" sz="900" b="0">
              <a:solidFill>
                <a:schemeClr val="tx1"/>
              </a:solidFill>
              <a:latin typeface="Arial" charset="0"/>
              <a:cs typeface="Arial" charset="0"/>
            </a:endParaRPr>
          </a:p>
        </p:txBody>
      </p:sp>
      <p:sp>
        <p:nvSpPr>
          <p:cNvPr id="24580" name="Rectangle 2"/>
          <p:cNvSpPr>
            <a:spLocks noGrp="1" noChangeArrowheads="1"/>
          </p:cNvSpPr>
          <p:nvPr>
            <p:ph type="title"/>
          </p:nvPr>
        </p:nvSpPr>
        <p:spPr>
          <a:xfrm>
            <a:off x="1530350" y="96839"/>
            <a:ext cx="9112482" cy="1310857"/>
          </a:xfrm>
        </p:spPr>
        <p:txBody>
          <a:bodyPr/>
          <a:lstStyle/>
          <a:p>
            <a:r>
              <a:rPr lang="en-US" altLang="en-US" dirty="0"/>
              <a:t>Step 4 – Choosing Combinations of Values</a:t>
            </a:r>
            <a:r>
              <a:rPr lang="en-US" altLang="en-US" sz="3200" dirty="0"/>
              <a:t>  (6.2)</a:t>
            </a:r>
            <a:endParaRPr lang="en-US" altLang="en-US" dirty="0"/>
          </a:p>
        </p:txBody>
      </p:sp>
      <p:sp>
        <p:nvSpPr>
          <p:cNvPr id="24581" name="Rectangle 3"/>
          <p:cNvSpPr>
            <a:spLocks noGrp="1" noChangeArrowheads="1"/>
          </p:cNvSpPr>
          <p:nvPr>
            <p:ph type="body" idx="1"/>
          </p:nvPr>
        </p:nvSpPr>
        <p:spPr>
          <a:xfrm>
            <a:off x="1662114" y="1206170"/>
            <a:ext cx="8867775" cy="1897982"/>
          </a:xfrm>
        </p:spPr>
        <p:txBody>
          <a:bodyPr/>
          <a:lstStyle/>
          <a:p>
            <a:r>
              <a:rPr lang="en-US" altLang="en-US" dirty="0"/>
              <a:t>Once characteristics and partitions are defined, the next step is to </a:t>
            </a:r>
            <a:r>
              <a:rPr lang="en-US" altLang="en-US" dirty="0">
                <a:solidFill>
                  <a:schemeClr val="tx2"/>
                </a:solidFill>
              </a:rPr>
              <a:t>choose test values</a:t>
            </a:r>
          </a:p>
          <a:p>
            <a:r>
              <a:rPr lang="en-US" altLang="en-US" dirty="0"/>
              <a:t>We use </a:t>
            </a:r>
            <a:r>
              <a:rPr lang="en-US" altLang="en-US" dirty="0">
                <a:solidFill>
                  <a:schemeClr val="tx2"/>
                </a:solidFill>
              </a:rPr>
              <a:t>criteria</a:t>
            </a:r>
            <a:r>
              <a:rPr lang="en-US" altLang="en-US" dirty="0"/>
              <a:t> – to choose </a:t>
            </a:r>
            <a:r>
              <a:rPr lang="en-US" altLang="en-US" dirty="0">
                <a:solidFill>
                  <a:schemeClr val="tx2"/>
                </a:solidFill>
              </a:rPr>
              <a:t>effective</a:t>
            </a:r>
            <a:r>
              <a:rPr lang="en-US" altLang="en-US" dirty="0"/>
              <a:t> subsets</a:t>
            </a:r>
          </a:p>
          <a:p>
            <a:r>
              <a:rPr lang="en-US" altLang="en-US" dirty="0"/>
              <a:t>The most obvious criterion is to choose all combinations</a:t>
            </a:r>
          </a:p>
        </p:txBody>
      </p:sp>
      <p:sp>
        <p:nvSpPr>
          <p:cNvPr id="272388" name="Text Box 4"/>
          <p:cNvSpPr txBox="1">
            <a:spLocks noChangeArrowheads="1"/>
          </p:cNvSpPr>
          <p:nvPr/>
        </p:nvSpPr>
        <p:spPr bwMode="auto">
          <a:xfrm>
            <a:off x="1839913" y="3224473"/>
            <a:ext cx="8445500" cy="830263"/>
          </a:xfrm>
          <a:prstGeom prst="rect">
            <a:avLst/>
          </a:prstGeom>
          <a:gradFill rotWithShape="1">
            <a:gsLst>
              <a:gs pos="0">
                <a:srgbClr val="3399FF"/>
              </a:gs>
              <a:gs pos="100000">
                <a:srgbClr val="0033CC"/>
              </a:gs>
            </a:gsLst>
            <a:path path="shape">
              <a:fillToRect l="50000" t="50000" r="50000" b="50000"/>
            </a:path>
          </a:gradFill>
          <a:ln w="19050">
            <a:solidFill>
              <a:schemeClr val="tx2"/>
            </a:solidFill>
            <a:miter lim="800000"/>
            <a:headEnd type="none" w="sm" len="sm"/>
            <a:tailEnd type="none" w="sm" len="sm"/>
          </a:ln>
          <a:effectLst/>
        </p:spPr>
        <p:txBody>
          <a:bodyPr>
            <a:spAutoFit/>
          </a:bodyPr>
          <a:lstStyle/>
          <a:p>
            <a:pPr>
              <a:spcBef>
                <a:spcPct val="50000"/>
              </a:spcBef>
              <a:defRPr/>
            </a:pPr>
            <a:r>
              <a:rPr lang="en-US" sz="2400" u="sng" dirty="0">
                <a:solidFill>
                  <a:schemeClr val="tx2"/>
                </a:solidFill>
                <a:effectLst>
                  <a:outerShdw blurRad="38100" dist="38100" dir="2700000" algn="tl">
                    <a:srgbClr val="000000"/>
                  </a:outerShdw>
                </a:effectLst>
              </a:rPr>
              <a:t>All </a:t>
            </a:r>
            <a:r>
              <a:rPr lang="en-US" sz="2400" u="sng" dirty="0">
                <a:solidFill>
                  <a:schemeClr val="tx2"/>
                </a:solidFill>
                <a:effectLst>
                  <a:outerShdw blurRad="38100" dist="38100" dir="2700000" algn="tl">
                    <a:srgbClr val="000000"/>
                  </a:outerShdw>
                </a:effectLst>
                <a:latin typeface="Gill Sans MT" panose="020B0502020104020203" pitchFamily="34" charset="0"/>
              </a:rPr>
              <a:t>Combinations</a:t>
            </a:r>
            <a:r>
              <a:rPr lang="en-US" sz="2400" u="sng" dirty="0">
                <a:solidFill>
                  <a:schemeClr val="tx2"/>
                </a:solidFill>
                <a:effectLst>
                  <a:outerShdw blurRad="38100" dist="38100" dir="2700000" algn="tl">
                    <a:srgbClr val="000000"/>
                  </a:outerShdw>
                </a:effectLst>
              </a:rPr>
              <a:t> (</a:t>
            </a:r>
            <a:r>
              <a:rPr lang="en-US" sz="2400" u="sng" dirty="0" err="1">
                <a:solidFill>
                  <a:schemeClr val="tx2"/>
                </a:solidFill>
                <a:effectLst>
                  <a:outerShdw blurRad="38100" dist="38100" dir="2700000" algn="tl">
                    <a:srgbClr val="000000"/>
                  </a:outerShdw>
                </a:effectLst>
              </a:rPr>
              <a:t>ACoC</a:t>
            </a:r>
            <a:r>
              <a:rPr lang="en-US" sz="2400" u="sng" dirty="0">
                <a:solidFill>
                  <a:schemeClr val="tx2"/>
                </a:solidFill>
                <a:effectLst>
                  <a:outerShdw blurRad="38100" dist="38100" dir="2700000" algn="tl">
                    <a:srgbClr val="000000"/>
                  </a:outerShdw>
                </a:effectLst>
              </a:rPr>
              <a:t>)</a:t>
            </a:r>
            <a:r>
              <a:rPr lang="en-US" sz="2400" dirty="0">
                <a:solidFill>
                  <a:schemeClr val="tx2"/>
                </a:solidFill>
                <a:effectLst>
                  <a:outerShdw blurRad="38100" dist="38100" dir="2700000" algn="tl">
                    <a:srgbClr val="000000"/>
                  </a:outerShdw>
                </a:effectLst>
              </a:rPr>
              <a:t> : All combinations of blocks from all characteristics must be used.</a:t>
            </a:r>
          </a:p>
        </p:txBody>
      </p:sp>
      <p:sp>
        <p:nvSpPr>
          <p:cNvPr id="272389" name="Rectangle 5"/>
          <p:cNvSpPr>
            <a:spLocks noChangeArrowheads="1"/>
          </p:cNvSpPr>
          <p:nvPr/>
        </p:nvSpPr>
        <p:spPr bwMode="auto">
          <a:xfrm>
            <a:off x="1662114" y="4217988"/>
            <a:ext cx="886777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5750" indent="-285750">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90000"/>
              </a:lnSpc>
              <a:spcBef>
                <a:spcPct val="30000"/>
              </a:spcBef>
              <a:buSzPct val="85000"/>
              <a:buFontTx/>
              <a:buChar char="•"/>
            </a:pPr>
            <a:r>
              <a:rPr lang="en-US" altLang="en-US" sz="2800" b="0" dirty="0">
                <a:solidFill>
                  <a:schemeClr val="tx1"/>
                </a:solidFill>
                <a:latin typeface="Gill Sans MT" panose="020B0502020104020203" pitchFamily="34" charset="0"/>
              </a:rPr>
              <a:t>Number of  tests is the product of the number of blocks in each characteristic :</a:t>
            </a:r>
            <a:endParaRPr lang="en-US" altLang="en-US" sz="2800" b="0" dirty="0">
              <a:solidFill>
                <a:schemeClr val="tx1"/>
              </a:solidFill>
              <a:latin typeface="Gill Sans MT" panose="020B0502020104020203" pitchFamily="34" charset="0"/>
              <a:sym typeface="Symbol" pitchFamily="18" charset="2"/>
            </a:endParaRPr>
          </a:p>
        </p:txBody>
      </p:sp>
      <p:grpSp>
        <p:nvGrpSpPr>
          <p:cNvPr id="2" name="Group 11"/>
          <p:cNvGrpSpPr>
            <a:grpSpLocks/>
          </p:cNvGrpSpPr>
          <p:nvPr/>
        </p:nvGrpSpPr>
        <p:grpSpPr bwMode="auto">
          <a:xfrm>
            <a:off x="5281518" y="4520447"/>
            <a:ext cx="1465262" cy="709613"/>
            <a:chOff x="1806" y="3529"/>
            <a:chExt cx="923" cy="447"/>
          </a:xfrm>
        </p:grpSpPr>
        <p:sp>
          <p:nvSpPr>
            <p:cNvPr id="24587" name="Text Box 6"/>
            <p:cNvSpPr txBox="1">
              <a:spLocks noChangeArrowheads="1"/>
            </p:cNvSpPr>
            <p:nvPr/>
          </p:nvSpPr>
          <p:spPr bwMode="auto">
            <a:xfrm>
              <a:off x="1806" y="3550"/>
              <a:ext cx="3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3600" dirty="0">
                  <a:solidFill>
                    <a:schemeClr val="tx2"/>
                  </a:solidFill>
                  <a:sym typeface="Symbol" pitchFamily="18" charset="2"/>
                </a:rPr>
                <a:t></a:t>
              </a:r>
              <a:endParaRPr lang="en-US" altLang="en-US" sz="2400" baseline="-25000" dirty="0">
                <a:solidFill>
                  <a:schemeClr val="tx2"/>
                </a:solidFill>
                <a:sym typeface="Symbol" pitchFamily="18" charset="2"/>
              </a:endParaRPr>
            </a:p>
          </p:txBody>
        </p:sp>
        <p:sp>
          <p:nvSpPr>
            <p:cNvPr id="24588" name="Text Box 8"/>
            <p:cNvSpPr txBox="1">
              <a:spLocks noChangeArrowheads="1"/>
            </p:cNvSpPr>
            <p:nvPr/>
          </p:nvSpPr>
          <p:spPr bwMode="auto">
            <a:xfrm>
              <a:off x="2061" y="3529"/>
              <a:ext cx="2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a:t>Q</a:t>
              </a:r>
            </a:p>
          </p:txBody>
        </p:sp>
        <p:sp>
          <p:nvSpPr>
            <p:cNvPr id="24589" name="Text Box 9"/>
            <p:cNvSpPr txBox="1">
              <a:spLocks noChangeArrowheads="1"/>
            </p:cNvSpPr>
            <p:nvPr/>
          </p:nvSpPr>
          <p:spPr bwMode="auto">
            <a:xfrm>
              <a:off x="2055" y="3726"/>
              <a:ext cx="3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a:t>i=1</a:t>
              </a:r>
            </a:p>
          </p:txBody>
        </p:sp>
        <p:sp>
          <p:nvSpPr>
            <p:cNvPr id="24590" name="Text Box 10"/>
            <p:cNvSpPr txBox="1">
              <a:spLocks noChangeArrowheads="1"/>
            </p:cNvSpPr>
            <p:nvPr/>
          </p:nvSpPr>
          <p:spPr bwMode="auto">
            <a:xfrm>
              <a:off x="2267" y="3608"/>
              <a:ext cx="4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2400"/>
                <a:t>(B</a:t>
              </a:r>
              <a:r>
                <a:rPr lang="en-US" altLang="en-US" sz="2400" baseline="-25000"/>
                <a:t>i</a:t>
              </a:r>
              <a:r>
                <a:rPr lang="en-US" altLang="en-US" sz="2400"/>
                <a:t>)</a:t>
              </a:r>
            </a:p>
          </p:txBody>
        </p:sp>
      </p:grpSp>
      <p:sp>
        <p:nvSpPr>
          <p:cNvPr id="3" name="Rectangle 5"/>
          <p:cNvSpPr>
            <a:spLocks noChangeArrowheads="1"/>
          </p:cNvSpPr>
          <p:nvPr/>
        </p:nvSpPr>
        <p:spPr bwMode="auto">
          <a:xfrm>
            <a:off x="1662114" y="5170904"/>
            <a:ext cx="8867775" cy="1386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5750" indent="-285750">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90000"/>
              </a:lnSpc>
              <a:spcBef>
                <a:spcPct val="30000"/>
              </a:spcBef>
              <a:buSzPct val="85000"/>
              <a:buFontTx/>
              <a:buChar char="•"/>
            </a:pPr>
            <a:r>
              <a:rPr lang="en-US" altLang="en-US" sz="2800" b="0" dirty="0">
                <a:solidFill>
                  <a:schemeClr val="tx1"/>
                </a:solidFill>
                <a:latin typeface="Gill Sans MT" panose="020B0502020104020203" pitchFamily="34" charset="0"/>
              </a:rPr>
              <a:t>The second characterization of </a:t>
            </a:r>
            <a:r>
              <a:rPr lang="en-US" altLang="en-US" sz="2800" b="0" dirty="0" err="1">
                <a:solidFill>
                  <a:schemeClr val="tx1"/>
                </a:solidFill>
                <a:latin typeface="Gill Sans MT" panose="020B0502020104020203" pitchFamily="34" charset="0"/>
              </a:rPr>
              <a:t>triang</a:t>
            </a:r>
            <a:r>
              <a:rPr lang="en-US" altLang="en-US" sz="2800" b="0" dirty="0">
                <a:solidFill>
                  <a:schemeClr val="tx1"/>
                </a:solidFill>
                <a:latin typeface="Gill Sans MT" panose="020B0502020104020203" pitchFamily="34" charset="0"/>
              </a:rPr>
              <a:t>() results in 4*4*4 = </a:t>
            </a:r>
            <a:r>
              <a:rPr lang="en-US" altLang="en-US" sz="2800" b="0" dirty="0">
                <a:solidFill>
                  <a:schemeClr val="tx2"/>
                </a:solidFill>
                <a:latin typeface="Gill Sans MT" panose="020B0502020104020203" pitchFamily="34" charset="0"/>
              </a:rPr>
              <a:t>64 tests</a:t>
            </a:r>
            <a:endParaRPr lang="en-US" altLang="en-US" sz="2800" b="0" dirty="0">
              <a:solidFill>
                <a:schemeClr val="tx1"/>
              </a:solidFill>
              <a:latin typeface="Gill Sans MT" panose="020B0502020104020203" pitchFamily="34" charset="0"/>
            </a:endParaRPr>
          </a:p>
          <a:p>
            <a:pPr lvl="1">
              <a:lnSpc>
                <a:spcPct val="90000"/>
              </a:lnSpc>
              <a:spcBef>
                <a:spcPct val="30000"/>
              </a:spcBef>
              <a:buSzPct val="85000"/>
              <a:buFontTx/>
              <a:buChar char="•"/>
            </a:pPr>
            <a:r>
              <a:rPr lang="en-US" altLang="en-US" sz="2800" b="0" dirty="0">
                <a:solidFill>
                  <a:schemeClr val="tx1"/>
                </a:solidFill>
                <a:latin typeface="Gill Sans MT" panose="020B0502020104020203" pitchFamily="34" charset="0"/>
              </a:rPr>
              <a:t>Too many ?</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2388"/>
                                        </p:tgtEl>
                                        <p:attrNameLst>
                                          <p:attrName>style.visibility</p:attrName>
                                        </p:attrNameLst>
                                      </p:cBhvr>
                                      <p:to>
                                        <p:strVal val="visible"/>
                                      </p:to>
                                    </p:set>
                                    <p:animEffect transition="in" filter="dissolve">
                                      <p:cBhvr>
                                        <p:cTn id="7" dur="500"/>
                                        <p:tgtEl>
                                          <p:spTgt spid="2723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2389"/>
                                        </p:tgtEl>
                                        <p:attrNameLst>
                                          <p:attrName>style.visibility</p:attrName>
                                        </p:attrNameLst>
                                      </p:cBhvr>
                                      <p:to>
                                        <p:strVal val="visible"/>
                                      </p:to>
                                    </p:set>
                                    <p:animEffect transition="in" filter="wipe(left)">
                                      <p:cBhvr>
                                        <p:cTn id="12" dur="1000"/>
                                        <p:tgtEl>
                                          <p:spTgt spid="272389"/>
                                        </p:tgtEl>
                                      </p:cBhvr>
                                    </p:animEffect>
                                  </p:childTnLst>
                                </p:cTn>
                              </p:par>
                            </p:childTnLst>
                          </p:cTn>
                        </p:par>
                        <p:par>
                          <p:cTn id="13" fill="hold" nodeType="afterGroup">
                            <p:stCondLst>
                              <p:cond delay="1000"/>
                            </p:stCondLst>
                            <p:childTnLst>
                              <p:par>
                                <p:cTn id="14" presetID="9"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dissolve">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88" grpId="0" animBg="1" autoUpdateAnimBg="0"/>
      <p:bldP spid="272389" grpId="0"/>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ISP Criteria</a:t>
            </a:r>
            <a:r>
              <a:rPr lang="en-US" altLang="en-US" dirty="0"/>
              <a:t> – </a:t>
            </a:r>
            <a:r>
              <a:rPr lang="en-US" dirty="0"/>
              <a:t>All Combinations</a:t>
            </a:r>
          </a:p>
        </p:txBody>
      </p:sp>
      <p:sp>
        <p:nvSpPr>
          <p:cNvPr id="5" name="Slide Number Placeholder 4"/>
          <p:cNvSpPr>
            <a:spLocks noGrp="1"/>
          </p:cNvSpPr>
          <p:nvPr>
            <p:ph type="sldNum" sz="quarter" idx="12"/>
          </p:nvPr>
        </p:nvSpPr>
        <p:spPr/>
        <p:txBody>
          <a:bodyPr/>
          <a:lstStyle/>
          <a:p>
            <a:pPr>
              <a:defRPr/>
            </a:pPr>
            <a:fld id="{CD300CF4-DC6B-40C5-8C9F-9806B31E798A}" type="slidenum">
              <a:rPr lang="en-US" smtClean="0"/>
              <a:pPr>
                <a:defRPr/>
              </a:pPr>
              <a:t>27</a:t>
            </a:fld>
            <a:endParaRPr lang="en-US"/>
          </a:p>
        </p:txBody>
      </p:sp>
      <p:graphicFrame>
        <p:nvGraphicFramePr>
          <p:cNvPr id="6" name="Group 44"/>
          <p:cNvGraphicFramePr>
            <a:graphicFrameLocks noGrp="1"/>
          </p:cNvGraphicFramePr>
          <p:nvPr>
            <p:extLst>
              <p:ext uri="{D42A27DB-BD31-4B8C-83A1-F6EECF244321}">
                <p14:modId xmlns:p14="http://schemas.microsoft.com/office/powerpoint/2010/main" val="1866922268"/>
              </p:ext>
            </p:extLst>
          </p:nvPr>
        </p:nvGraphicFramePr>
        <p:xfrm>
          <a:off x="1783620" y="1643669"/>
          <a:ext cx="8458200" cy="2184400"/>
        </p:xfrm>
        <a:graphic>
          <a:graphicData uri="http://schemas.openxmlformats.org/drawingml/2006/table">
            <a:tbl>
              <a:tblPr/>
              <a:tblGrid>
                <a:gridCol w="27432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54610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Characteristic</a:t>
                      </a:r>
                      <a:endParaRPr kumimoji="0" lang="zh-CN" altLang="en-US" sz="2400" b="0" i="0" u="none" strike="noStrike" cap="none" normalizeH="0" baseline="0" dirty="0">
                        <a:ln>
                          <a:noFill/>
                        </a:ln>
                        <a:solidFill>
                          <a:schemeClr val="tx2"/>
                        </a:solidFill>
                        <a:effectLst/>
                        <a:latin typeface="Gill Sans MT" panose="020B0502020104020203" pitchFamily="34" charset="0"/>
                        <a:ea typeface="宋体" charset="-122"/>
                      </a:endParaRPr>
                    </a:p>
                  </a:txBody>
                  <a:tcP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dirty="0">
                          <a:ln>
                            <a:noFill/>
                          </a:ln>
                          <a:solidFill>
                            <a:schemeClr val="tx2"/>
                          </a:solidFill>
                          <a:effectLst/>
                          <a:latin typeface="Gill Sans MT" panose="020B0502020104020203" pitchFamily="34" charset="0"/>
                          <a:ea typeface="宋体" charset="-122"/>
                        </a:rPr>
                        <a:t>1</a:t>
                      </a:r>
                      <a:endParaRPr kumimoji="0" lang="zh-CN" altLang="en-US" sz="2400" b="0" i="0" u="none" strike="noStrike" cap="none" normalizeH="0" baseline="-25000" dirty="0">
                        <a:ln>
                          <a:noFill/>
                        </a:ln>
                        <a:solidFill>
                          <a:schemeClr val="tx2"/>
                        </a:solidFill>
                        <a:effectLst/>
                        <a:latin typeface="Gill Sans MT" panose="020B0502020104020203" pitchFamily="34" charset="0"/>
                        <a:ea typeface="宋体"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a:ln>
                            <a:noFill/>
                          </a:ln>
                          <a:solidFill>
                            <a:schemeClr val="tx2"/>
                          </a:solidFill>
                          <a:effectLst/>
                          <a:latin typeface="Gill Sans MT" panose="020B0502020104020203" pitchFamily="34" charset="0"/>
                          <a:ea typeface="宋体" charset="-122"/>
                        </a:rPr>
                        <a:t>2</a:t>
                      </a: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a:ln>
                            <a:noFill/>
                          </a:ln>
                          <a:solidFill>
                            <a:schemeClr val="tx2"/>
                          </a:solidFill>
                          <a:effectLst/>
                          <a:latin typeface="Gill Sans MT" panose="020B0502020104020203" pitchFamily="34" charset="0"/>
                          <a:ea typeface="宋体" charset="-122"/>
                        </a:rPr>
                        <a:t>3</a:t>
                      </a: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a:ln>
                            <a:noFill/>
                          </a:ln>
                          <a:solidFill>
                            <a:schemeClr val="tx2"/>
                          </a:solidFill>
                          <a:effectLst/>
                          <a:latin typeface="Gill Sans MT" panose="020B0502020104020203" pitchFamily="34" charset="0"/>
                          <a:ea typeface="宋体" charset="-122"/>
                        </a:rPr>
                        <a:t>4</a:t>
                      </a:r>
                    </a:p>
                  </a:txBody>
                  <a:tcP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extLst>
                  <a:ext uri="{0D108BD9-81ED-4DB2-BD59-A6C34878D82A}">
                    <a16:rowId xmlns:a16="http://schemas.microsoft.com/office/drawing/2014/main" val="10000"/>
                  </a:ext>
                </a:extLst>
              </a:tr>
              <a:tr h="54610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q</a:t>
                      </a:r>
                      <a:r>
                        <a:rPr kumimoji="0" lang="en-US" altLang="zh-CN" sz="2000" b="0" i="0" u="none" strike="noStrike" cap="none" normalizeH="0" baseline="-25000">
                          <a:ln>
                            <a:noFill/>
                          </a:ln>
                          <a:solidFill>
                            <a:schemeClr val="tx1"/>
                          </a:solidFill>
                          <a:effectLst/>
                          <a:latin typeface="Gill Sans MT" panose="020B0502020104020203" pitchFamily="34" charset="0"/>
                          <a:ea typeface="宋体" charset="-122"/>
                        </a:rPr>
                        <a:t>1</a:t>
                      </a: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 = “Refinement of q</a:t>
                      </a:r>
                      <a:r>
                        <a:rPr kumimoji="0" lang="en-US" altLang="zh-CN" sz="2000" b="0" i="0" u="none" strike="noStrike" cap="none" normalizeH="0" baseline="-25000">
                          <a:ln>
                            <a:noFill/>
                          </a:ln>
                          <a:solidFill>
                            <a:schemeClr val="tx1"/>
                          </a:solidFill>
                          <a:effectLst/>
                          <a:latin typeface="Gill Sans MT" panose="020B0502020104020203" pitchFamily="34" charset="0"/>
                          <a:ea typeface="宋体" charset="-122"/>
                        </a:rPr>
                        <a:t>1</a:t>
                      </a: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a:t>
                      </a:r>
                      <a:endParaRPr kumimoji="0" lang="zh-CN" altLang="en-US" sz="2000" b="0" i="0" u="none" strike="noStrike" cap="none" normalizeH="0" baseline="0">
                        <a:ln>
                          <a:noFill/>
                        </a:ln>
                        <a:solidFill>
                          <a:schemeClr val="tx1"/>
                        </a:solidFill>
                        <a:effectLst/>
                        <a:latin typeface="Gill Sans MT" panose="020B0502020104020203"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greater than 1</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equal to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equal to 0</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less than 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4610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q</a:t>
                      </a:r>
                      <a:r>
                        <a:rPr kumimoji="0" lang="en-US" altLang="zh-CN" sz="2000" b="0" i="0" u="none" strike="noStrike" cap="none" normalizeH="0" baseline="-25000">
                          <a:ln>
                            <a:noFill/>
                          </a:ln>
                          <a:solidFill>
                            <a:schemeClr val="tx1"/>
                          </a:solidFill>
                          <a:effectLst/>
                          <a:latin typeface="Gill Sans MT" panose="020B0502020104020203" pitchFamily="34" charset="0"/>
                          <a:ea typeface="宋体" charset="-122"/>
                        </a:rPr>
                        <a:t>2</a:t>
                      </a: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 = “Refinement of q</a:t>
                      </a:r>
                      <a:r>
                        <a:rPr kumimoji="0" lang="en-US" altLang="zh-CN" sz="2000" b="0" i="0" u="none" strike="noStrike" cap="none" normalizeH="0" baseline="-25000">
                          <a:ln>
                            <a:noFill/>
                          </a:ln>
                          <a:solidFill>
                            <a:schemeClr val="tx1"/>
                          </a:solidFill>
                          <a:effectLst/>
                          <a:latin typeface="Gill Sans MT" panose="020B0502020104020203" pitchFamily="34" charset="0"/>
                          <a:ea typeface="宋体" charset="-122"/>
                        </a:rPr>
                        <a:t>2</a:t>
                      </a: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a:t>
                      </a:r>
                      <a:endParaRPr kumimoji="0" lang="zh-CN" altLang="en-US" sz="2000" b="0" i="0" u="none" strike="noStrike" cap="none" normalizeH="0" baseline="0">
                        <a:ln>
                          <a:noFill/>
                        </a:ln>
                        <a:solidFill>
                          <a:schemeClr val="tx1"/>
                        </a:solidFill>
                        <a:effectLst/>
                        <a:latin typeface="Gill Sans MT" panose="020B0502020104020203"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greater than 1</a:t>
                      </a:r>
                      <a:endParaRPr kumimoji="0" lang="zh-CN" altLang="en-US" sz="2000" b="0" i="0" u="none" strike="noStrike" cap="none" normalizeH="0" baseline="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equal to 1</a:t>
                      </a:r>
                      <a:endParaRPr kumimoji="0" lang="zh-CN" altLang="en-US" sz="2000" b="0" i="0" u="none" strike="noStrike" cap="none" normalizeH="0" baseline="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equal to 0</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less than 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4610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q</a:t>
                      </a:r>
                      <a:r>
                        <a:rPr kumimoji="0" lang="en-US" altLang="zh-CN" sz="2000" b="0" i="0" u="none" strike="noStrike" cap="none" normalizeH="0" baseline="-25000">
                          <a:ln>
                            <a:noFill/>
                          </a:ln>
                          <a:solidFill>
                            <a:schemeClr val="tx1"/>
                          </a:solidFill>
                          <a:effectLst/>
                          <a:latin typeface="Gill Sans MT" panose="020B0502020104020203" pitchFamily="34" charset="0"/>
                          <a:ea typeface="宋体" charset="-122"/>
                        </a:rPr>
                        <a:t>3</a:t>
                      </a: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 = “Refinement of q</a:t>
                      </a:r>
                      <a:r>
                        <a:rPr kumimoji="0" lang="en-US" altLang="zh-CN" sz="2000" b="0" i="0" u="none" strike="noStrike" cap="none" normalizeH="0" baseline="-25000">
                          <a:ln>
                            <a:noFill/>
                          </a:ln>
                          <a:solidFill>
                            <a:schemeClr val="tx1"/>
                          </a:solidFill>
                          <a:effectLst/>
                          <a:latin typeface="Gill Sans MT" panose="020B0502020104020203" pitchFamily="34" charset="0"/>
                          <a:ea typeface="宋体" charset="-122"/>
                        </a:rPr>
                        <a:t>3</a:t>
                      </a: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a:t>
                      </a:r>
                      <a:endParaRPr kumimoji="0" lang="zh-CN" altLang="en-US" sz="2000" b="0" i="0" u="none" strike="noStrike" cap="none" normalizeH="0" baseline="0">
                        <a:ln>
                          <a:noFill/>
                        </a:ln>
                        <a:solidFill>
                          <a:schemeClr val="tx1"/>
                        </a:solidFill>
                        <a:effectLst/>
                        <a:latin typeface="Gill Sans MT" panose="020B0502020104020203"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greater than 1</a:t>
                      </a:r>
                      <a:endParaRPr kumimoji="0" lang="zh-CN" altLang="en-US" sz="2000" b="0" i="0" u="none" strike="noStrike" cap="none" normalizeH="0" baseline="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a:ln>
                            <a:noFill/>
                          </a:ln>
                          <a:solidFill>
                            <a:schemeClr val="tx1"/>
                          </a:solidFill>
                          <a:effectLst/>
                          <a:latin typeface="Gill Sans MT" panose="020B0502020104020203" pitchFamily="34" charset="0"/>
                          <a:ea typeface="宋体" charset="-122"/>
                        </a:rPr>
                        <a:t>equal to 1</a:t>
                      </a:r>
                      <a:endParaRPr kumimoji="0" lang="zh-CN" altLang="en-US" sz="2000" b="0" i="0" u="none" strike="noStrike" cap="none" normalizeH="0" baseline="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equal to 0</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less than 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7" name="Content Placeholder 2"/>
          <p:cNvSpPr txBox="1">
            <a:spLocks/>
          </p:cNvSpPr>
          <p:nvPr/>
        </p:nvSpPr>
        <p:spPr>
          <a:xfrm>
            <a:off x="1530351" y="878306"/>
            <a:ext cx="9112482" cy="1055691"/>
          </a:xfrm>
          <a:prstGeom prst="rect">
            <a:avLst/>
          </a:prstGeom>
        </p:spPr>
        <p:txBody>
          <a:bodyPr/>
          <a:lstStyle>
            <a:lvl1pPr marL="285750" indent="-285750" algn="l" rtl="0" eaLnBrk="0" fontAlgn="base" hangingPunct="0">
              <a:lnSpc>
                <a:spcPct val="90000"/>
              </a:lnSpc>
              <a:spcBef>
                <a:spcPct val="30000"/>
              </a:spcBef>
              <a:spcAft>
                <a:spcPct val="0"/>
              </a:spcAft>
              <a:buSzPct val="85000"/>
              <a:buChar char="•"/>
              <a:defRPr sz="2800" b="0">
                <a:solidFill>
                  <a:schemeClr val="tx1"/>
                </a:solidFill>
                <a:latin typeface="Gill Sans MT" panose="020B0502020104020203" pitchFamily="34" charset="0"/>
                <a:ea typeface="+mn-ea"/>
                <a:cs typeface="+mn-cs"/>
              </a:defRPr>
            </a:lvl1pPr>
            <a:lvl2pPr marL="685800" indent="-228600" algn="l" rtl="0" eaLnBrk="0" fontAlgn="base" hangingPunct="0">
              <a:lnSpc>
                <a:spcPct val="90000"/>
              </a:lnSpc>
              <a:spcBef>
                <a:spcPct val="30000"/>
              </a:spcBef>
              <a:spcAft>
                <a:spcPct val="0"/>
              </a:spcAft>
              <a:buSzPct val="100000"/>
              <a:buChar char="–"/>
              <a:defRPr sz="2400" b="0">
                <a:solidFill>
                  <a:schemeClr val="tx1"/>
                </a:solidFill>
                <a:latin typeface="Gill Sans MT" panose="020B0502020104020203" pitchFamily="34" charset="0"/>
              </a:defRPr>
            </a:lvl2pPr>
            <a:lvl3pPr marL="1143000" indent="-228600" algn="l" rtl="0" eaLnBrk="0" fontAlgn="base" hangingPunct="0">
              <a:lnSpc>
                <a:spcPct val="90000"/>
              </a:lnSpc>
              <a:spcBef>
                <a:spcPct val="30000"/>
              </a:spcBef>
              <a:spcAft>
                <a:spcPct val="0"/>
              </a:spcAft>
              <a:buSzPct val="100000"/>
              <a:buChar char="•"/>
              <a:defRPr sz="2000" b="0">
                <a:solidFill>
                  <a:schemeClr val="tx1"/>
                </a:solidFill>
                <a:latin typeface="Gill Sans MT" panose="020B0502020104020203" pitchFamily="34" charset="0"/>
              </a:defRPr>
            </a:lvl3pPr>
            <a:lvl4pPr marL="1543050" indent="-171450" algn="l" rtl="0" eaLnBrk="0" fontAlgn="base" hangingPunct="0">
              <a:lnSpc>
                <a:spcPct val="90000"/>
              </a:lnSpc>
              <a:spcBef>
                <a:spcPct val="30000"/>
              </a:spcBef>
              <a:spcAft>
                <a:spcPct val="0"/>
              </a:spcAft>
              <a:buSzPct val="100000"/>
              <a:buChar char="–"/>
              <a:defRPr sz="2000" b="0">
                <a:solidFill>
                  <a:schemeClr val="tx1"/>
                </a:solidFill>
                <a:latin typeface="Gill Sans MT" panose="020B0502020104020203" pitchFamily="34" charset="0"/>
              </a:defRPr>
            </a:lvl4pPr>
            <a:lvl5pPr marL="2000250" indent="-171450" algn="l" rtl="0" eaLnBrk="0" fontAlgn="base" hangingPunct="0">
              <a:lnSpc>
                <a:spcPct val="90000"/>
              </a:lnSpc>
              <a:spcBef>
                <a:spcPct val="30000"/>
              </a:spcBef>
              <a:spcAft>
                <a:spcPct val="0"/>
              </a:spcAft>
              <a:buSzPct val="100000"/>
              <a:buFont typeface="Wingdings" pitchFamily="2" charset="2"/>
              <a:buChar char="Ø"/>
              <a:defRPr sz="2000" b="0">
                <a:solidFill>
                  <a:schemeClr val="tx1"/>
                </a:solidFill>
                <a:latin typeface="Gill Sans MT" panose="020B0502020104020203" pitchFamily="34" charset="0"/>
              </a:defRPr>
            </a:lvl5pPr>
            <a:lvl6pPr marL="24574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6pPr>
            <a:lvl7pPr marL="29146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7pPr>
            <a:lvl8pPr marL="33718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8pPr>
            <a:lvl9pPr marL="38290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9pPr>
          </a:lstStyle>
          <a:p>
            <a:r>
              <a:rPr lang="en-US" kern="0" dirty="0"/>
              <a:t>Consider the “second characterization” of </a:t>
            </a:r>
            <a:r>
              <a:rPr lang="en-US" kern="0" dirty="0" err="1"/>
              <a:t>Triang</a:t>
            </a:r>
            <a:r>
              <a:rPr lang="en-US" kern="0" dirty="0"/>
              <a:t> as given before:</a:t>
            </a:r>
          </a:p>
        </p:txBody>
      </p:sp>
      <p:graphicFrame>
        <p:nvGraphicFramePr>
          <p:cNvPr id="8" name="Group 44"/>
          <p:cNvGraphicFramePr>
            <a:graphicFrameLocks noGrp="1"/>
          </p:cNvGraphicFramePr>
          <p:nvPr>
            <p:extLst>
              <p:ext uri="{D42A27DB-BD31-4B8C-83A1-F6EECF244321}">
                <p14:modId xmlns:p14="http://schemas.microsoft.com/office/powerpoint/2010/main" val="3370812977"/>
              </p:ext>
            </p:extLst>
          </p:nvPr>
        </p:nvGraphicFramePr>
        <p:xfrm>
          <a:off x="3449900" y="4603993"/>
          <a:ext cx="5259823" cy="1761702"/>
        </p:xfrm>
        <a:graphic>
          <a:graphicData uri="http://schemas.openxmlformats.org/drawingml/2006/table">
            <a:tbl>
              <a:tblPr/>
              <a:tblGrid>
                <a:gridCol w="1982549">
                  <a:extLst>
                    <a:ext uri="{9D8B030D-6E8A-4147-A177-3AD203B41FA5}">
                      <a16:colId xmlns:a16="http://schemas.microsoft.com/office/drawing/2014/main" val="20000"/>
                    </a:ext>
                  </a:extLst>
                </a:gridCol>
                <a:gridCol w="809909">
                  <a:extLst>
                    <a:ext uri="{9D8B030D-6E8A-4147-A177-3AD203B41FA5}">
                      <a16:colId xmlns:a16="http://schemas.microsoft.com/office/drawing/2014/main" val="20001"/>
                    </a:ext>
                  </a:extLst>
                </a:gridCol>
                <a:gridCol w="832774">
                  <a:extLst>
                    <a:ext uri="{9D8B030D-6E8A-4147-A177-3AD203B41FA5}">
                      <a16:colId xmlns:a16="http://schemas.microsoft.com/office/drawing/2014/main" val="20002"/>
                    </a:ext>
                  </a:extLst>
                </a:gridCol>
                <a:gridCol w="760651">
                  <a:extLst>
                    <a:ext uri="{9D8B030D-6E8A-4147-A177-3AD203B41FA5}">
                      <a16:colId xmlns:a16="http://schemas.microsoft.com/office/drawing/2014/main" val="20003"/>
                    </a:ext>
                  </a:extLst>
                </a:gridCol>
                <a:gridCol w="873940">
                  <a:extLst>
                    <a:ext uri="{9D8B030D-6E8A-4147-A177-3AD203B41FA5}">
                      <a16:colId xmlns:a16="http://schemas.microsoft.com/office/drawing/2014/main" val="20004"/>
                    </a:ext>
                  </a:extLst>
                </a:gridCol>
              </a:tblGrid>
              <a:tr h="54610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Characteristic</a:t>
                      </a:r>
                      <a:endParaRPr kumimoji="0" lang="zh-CN" altLang="en-US" sz="2400" b="0" i="0" u="none" strike="noStrike" cap="none" normalizeH="0" baseline="0" dirty="0">
                        <a:ln>
                          <a:noFill/>
                        </a:ln>
                        <a:solidFill>
                          <a:schemeClr val="tx2"/>
                        </a:solidFill>
                        <a:effectLst/>
                        <a:latin typeface="Gill Sans MT" panose="020B0502020104020203" pitchFamily="34" charset="0"/>
                        <a:ea typeface="宋体" charset="-122"/>
                      </a:endParaRPr>
                    </a:p>
                  </a:txBody>
                  <a:tcP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dirty="0">
                          <a:ln>
                            <a:noFill/>
                          </a:ln>
                          <a:solidFill>
                            <a:schemeClr val="tx2"/>
                          </a:solidFill>
                          <a:effectLst/>
                          <a:latin typeface="Gill Sans MT" panose="020B0502020104020203" pitchFamily="34" charset="0"/>
                          <a:ea typeface="宋体" charset="-122"/>
                        </a:rPr>
                        <a:t>1</a:t>
                      </a:r>
                      <a:endParaRPr kumimoji="0" lang="zh-CN" altLang="en-US" sz="2400" b="0" i="0" u="none" strike="noStrike" cap="none" normalizeH="0" baseline="-25000" dirty="0">
                        <a:ln>
                          <a:noFill/>
                        </a:ln>
                        <a:solidFill>
                          <a:schemeClr val="tx2"/>
                        </a:solidFill>
                        <a:effectLst/>
                        <a:latin typeface="Gill Sans MT" panose="020B0502020104020203" pitchFamily="34" charset="0"/>
                        <a:ea typeface="宋体" charset="-122"/>
                      </a:endParaRP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a:ln>
                            <a:noFill/>
                          </a:ln>
                          <a:solidFill>
                            <a:schemeClr val="tx2"/>
                          </a:solidFill>
                          <a:effectLst/>
                          <a:latin typeface="Gill Sans MT" panose="020B0502020104020203" pitchFamily="34" charset="0"/>
                          <a:ea typeface="宋体" charset="-122"/>
                        </a:rPr>
                        <a:t>2</a:t>
                      </a: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a:ln>
                            <a:noFill/>
                          </a:ln>
                          <a:solidFill>
                            <a:schemeClr val="tx2"/>
                          </a:solidFill>
                          <a:effectLst/>
                          <a:latin typeface="Gill Sans MT" panose="020B0502020104020203" pitchFamily="34" charset="0"/>
                          <a:ea typeface="宋体" charset="-122"/>
                        </a:rPr>
                        <a:t>3</a:t>
                      </a:r>
                    </a:p>
                  </a:txBody>
                  <a:tcP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a:ln>
                            <a:noFill/>
                          </a:ln>
                          <a:solidFill>
                            <a:schemeClr val="tx2"/>
                          </a:solidFill>
                          <a:effectLst/>
                          <a:latin typeface="Gill Sans MT" panose="020B0502020104020203" pitchFamily="34" charset="0"/>
                          <a:ea typeface="宋体" charset="-122"/>
                        </a:rPr>
                        <a:t>b</a:t>
                      </a:r>
                      <a:r>
                        <a:rPr kumimoji="0" lang="en-US" altLang="zh-CN" sz="2400" b="0" i="0" u="none" strike="noStrike" cap="none" normalizeH="0" baseline="-25000">
                          <a:ln>
                            <a:noFill/>
                          </a:ln>
                          <a:solidFill>
                            <a:schemeClr val="tx2"/>
                          </a:solidFill>
                          <a:effectLst/>
                          <a:latin typeface="Gill Sans MT" panose="020B0502020104020203" pitchFamily="34" charset="0"/>
                          <a:ea typeface="宋体" charset="-122"/>
                        </a:rPr>
                        <a:t>4</a:t>
                      </a:r>
                    </a:p>
                  </a:txBody>
                  <a:tcP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extLst>
                  <a:ext uri="{0D108BD9-81ED-4DB2-BD59-A6C34878D82A}">
                    <a16:rowId xmlns:a16="http://schemas.microsoft.com/office/drawing/2014/main" val="10000"/>
                  </a:ext>
                </a:extLst>
              </a:tr>
              <a:tr h="425318">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A</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A1</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A2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A3</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A4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21385">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B</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B1</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B2</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B3</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B4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8899">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C</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C1</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C2</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C3</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C4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9" name="Content Placeholder 2"/>
          <p:cNvSpPr txBox="1">
            <a:spLocks/>
          </p:cNvSpPr>
          <p:nvPr/>
        </p:nvSpPr>
        <p:spPr>
          <a:xfrm>
            <a:off x="1529003" y="3911458"/>
            <a:ext cx="9112482" cy="692911"/>
          </a:xfrm>
          <a:prstGeom prst="rect">
            <a:avLst/>
          </a:prstGeom>
        </p:spPr>
        <p:txBody>
          <a:bodyPr/>
          <a:lstStyle>
            <a:lvl1pPr marL="285750" indent="-285750" algn="l" rtl="0" eaLnBrk="0" fontAlgn="base" hangingPunct="0">
              <a:lnSpc>
                <a:spcPct val="90000"/>
              </a:lnSpc>
              <a:spcBef>
                <a:spcPct val="30000"/>
              </a:spcBef>
              <a:spcAft>
                <a:spcPct val="0"/>
              </a:spcAft>
              <a:buSzPct val="85000"/>
              <a:buChar char="•"/>
              <a:defRPr sz="2800" b="0">
                <a:solidFill>
                  <a:schemeClr val="tx1"/>
                </a:solidFill>
                <a:latin typeface="Gill Sans MT" panose="020B0502020104020203" pitchFamily="34" charset="0"/>
                <a:ea typeface="+mn-ea"/>
                <a:cs typeface="+mn-cs"/>
              </a:defRPr>
            </a:lvl1pPr>
            <a:lvl2pPr marL="685800" indent="-228600" algn="l" rtl="0" eaLnBrk="0" fontAlgn="base" hangingPunct="0">
              <a:lnSpc>
                <a:spcPct val="90000"/>
              </a:lnSpc>
              <a:spcBef>
                <a:spcPct val="30000"/>
              </a:spcBef>
              <a:spcAft>
                <a:spcPct val="0"/>
              </a:spcAft>
              <a:buSzPct val="100000"/>
              <a:buChar char="–"/>
              <a:defRPr sz="2400" b="0">
                <a:solidFill>
                  <a:schemeClr val="tx1"/>
                </a:solidFill>
                <a:latin typeface="Gill Sans MT" panose="020B0502020104020203" pitchFamily="34" charset="0"/>
              </a:defRPr>
            </a:lvl2pPr>
            <a:lvl3pPr marL="1143000" indent="-228600" algn="l" rtl="0" eaLnBrk="0" fontAlgn="base" hangingPunct="0">
              <a:lnSpc>
                <a:spcPct val="90000"/>
              </a:lnSpc>
              <a:spcBef>
                <a:spcPct val="30000"/>
              </a:spcBef>
              <a:spcAft>
                <a:spcPct val="0"/>
              </a:spcAft>
              <a:buSzPct val="100000"/>
              <a:buChar char="•"/>
              <a:defRPr sz="2000" b="0">
                <a:solidFill>
                  <a:schemeClr val="tx1"/>
                </a:solidFill>
                <a:latin typeface="Gill Sans MT" panose="020B0502020104020203" pitchFamily="34" charset="0"/>
              </a:defRPr>
            </a:lvl3pPr>
            <a:lvl4pPr marL="1543050" indent="-171450" algn="l" rtl="0" eaLnBrk="0" fontAlgn="base" hangingPunct="0">
              <a:lnSpc>
                <a:spcPct val="90000"/>
              </a:lnSpc>
              <a:spcBef>
                <a:spcPct val="30000"/>
              </a:spcBef>
              <a:spcAft>
                <a:spcPct val="0"/>
              </a:spcAft>
              <a:buSzPct val="100000"/>
              <a:buChar char="–"/>
              <a:defRPr sz="2000" b="0">
                <a:solidFill>
                  <a:schemeClr val="tx1"/>
                </a:solidFill>
                <a:latin typeface="Gill Sans MT" panose="020B0502020104020203" pitchFamily="34" charset="0"/>
              </a:defRPr>
            </a:lvl4pPr>
            <a:lvl5pPr marL="2000250" indent="-171450" algn="l" rtl="0" eaLnBrk="0" fontAlgn="base" hangingPunct="0">
              <a:lnSpc>
                <a:spcPct val="90000"/>
              </a:lnSpc>
              <a:spcBef>
                <a:spcPct val="30000"/>
              </a:spcBef>
              <a:spcAft>
                <a:spcPct val="0"/>
              </a:spcAft>
              <a:buSzPct val="100000"/>
              <a:buFont typeface="Wingdings" pitchFamily="2" charset="2"/>
              <a:buChar char="Ø"/>
              <a:defRPr sz="2000" b="0">
                <a:solidFill>
                  <a:schemeClr val="tx1"/>
                </a:solidFill>
                <a:latin typeface="Gill Sans MT" panose="020B0502020104020203" pitchFamily="34" charset="0"/>
              </a:defRPr>
            </a:lvl5pPr>
            <a:lvl6pPr marL="24574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6pPr>
            <a:lvl7pPr marL="29146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7pPr>
            <a:lvl8pPr marL="33718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8pPr>
            <a:lvl9pPr marL="38290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9pPr>
          </a:lstStyle>
          <a:p>
            <a:r>
              <a:rPr lang="en-US" kern="0" dirty="0"/>
              <a:t>For convenience, we relabel the blocks:</a:t>
            </a:r>
          </a:p>
        </p:txBody>
      </p:sp>
    </p:spTree>
    <p:extLst>
      <p:ext uri="{BB962C8B-B14F-4D97-AF65-F5344CB8AC3E}">
        <p14:creationId xmlns:p14="http://schemas.microsoft.com/office/powerpoint/2010/main" val="170740718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ssolv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ISP Criteria – </a:t>
            </a:r>
            <a:r>
              <a:rPr lang="en-US" dirty="0" err="1"/>
              <a:t>ACoC</a:t>
            </a:r>
            <a:r>
              <a:rPr lang="en-US" dirty="0"/>
              <a:t> Tests</a:t>
            </a:r>
          </a:p>
        </p:txBody>
      </p:sp>
      <p:sp>
        <p:nvSpPr>
          <p:cNvPr id="5" name="Slide Number Placeholder 4"/>
          <p:cNvSpPr>
            <a:spLocks noGrp="1"/>
          </p:cNvSpPr>
          <p:nvPr>
            <p:ph type="sldNum" sz="quarter" idx="12"/>
          </p:nvPr>
        </p:nvSpPr>
        <p:spPr/>
        <p:txBody>
          <a:bodyPr/>
          <a:lstStyle/>
          <a:p>
            <a:pPr>
              <a:defRPr/>
            </a:pPr>
            <a:fld id="{CD300CF4-DC6B-40C5-8C9F-9806B31E798A}" type="slidenum">
              <a:rPr lang="en-US" smtClean="0"/>
              <a:pPr>
                <a:defRPr/>
              </a:pPr>
              <a:t>28</a:t>
            </a:fld>
            <a:endParaRPr lang="en-US"/>
          </a:p>
        </p:txBody>
      </p:sp>
      <p:sp>
        <p:nvSpPr>
          <p:cNvPr id="6" name="TextBox 5"/>
          <p:cNvSpPr txBox="1"/>
          <p:nvPr/>
        </p:nvSpPr>
        <p:spPr>
          <a:xfrm>
            <a:off x="2486952" y="848456"/>
            <a:ext cx="1114408" cy="5755422"/>
          </a:xfrm>
          <a:prstGeom prst="rect">
            <a:avLst/>
          </a:prstGeom>
          <a:noFill/>
        </p:spPr>
        <p:txBody>
          <a:bodyPr wrap="none" rtlCol="0">
            <a:spAutoFit/>
          </a:bodyPr>
          <a:lstStyle/>
          <a:p>
            <a:r>
              <a:rPr lang="pt-BR" b="0" dirty="0">
                <a:solidFill>
                  <a:schemeClr val="tx1"/>
                </a:solidFill>
                <a:latin typeface="Gill Sans MT" panose="020B0502020104020203" pitchFamily="34" charset="0"/>
              </a:rPr>
              <a:t>A1 B1 C1</a:t>
            </a:r>
          </a:p>
          <a:p>
            <a:r>
              <a:rPr lang="pt-BR" b="0" dirty="0">
                <a:solidFill>
                  <a:schemeClr val="tx1"/>
                </a:solidFill>
                <a:latin typeface="Gill Sans MT" panose="020B0502020104020203" pitchFamily="34" charset="0"/>
              </a:rPr>
              <a:t>A1 B1 C2</a:t>
            </a:r>
          </a:p>
          <a:p>
            <a:r>
              <a:rPr lang="pt-BR" b="0" dirty="0">
                <a:solidFill>
                  <a:schemeClr val="tx1"/>
                </a:solidFill>
                <a:latin typeface="Gill Sans MT" panose="020B0502020104020203" pitchFamily="34" charset="0"/>
              </a:rPr>
              <a:t>A1 B1 C3</a:t>
            </a:r>
          </a:p>
          <a:p>
            <a:r>
              <a:rPr lang="pt-BR" b="0" dirty="0">
                <a:solidFill>
                  <a:schemeClr val="tx1"/>
                </a:solidFill>
                <a:latin typeface="Gill Sans MT" panose="020B0502020104020203" pitchFamily="34" charset="0"/>
              </a:rPr>
              <a:t>A1 B1 C4</a:t>
            </a:r>
          </a:p>
          <a:p>
            <a:endParaRPr lang="pt-BR" sz="1600" b="0" dirty="0">
              <a:solidFill>
                <a:schemeClr val="tx1"/>
              </a:solidFill>
              <a:latin typeface="Gill Sans MT" panose="020B0502020104020203" pitchFamily="34" charset="0"/>
            </a:endParaRPr>
          </a:p>
          <a:p>
            <a:r>
              <a:rPr lang="pt-BR" b="0" dirty="0">
                <a:solidFill>
                  <a:schemeClr val="tx1"/>
                </a:solidFill>
                <a:latin typeface="Gill Sans MT" panose="020B0502020104020203" pitchFamily="34" charset="0"/>
              </a:rPr>
              <a:t>A1 B2 C1</a:t>
            </a:r>
          </a:p>
          <a:p>
            <a:r>
              <a:rPr lang="pt-BR" b="0" dirty="0">
                <a:solidFill>
                  <a:schemeClr val="tx1"/>
                </a:solidFill>
                <a:latin typeface="Gill Sans MT" panose="020B0502020104020203" pitchFamily="34" charset="0"/>
              </a:rPr>
              <a:t>A1 B2 C2</a:t>
            </a:r>
          </a:p>
          <a:p>
            <a:r>
              <a:rPr lang="pt-BR" b="0" dirty="0">
                <a:solidFill>
                  <a:schemeClr val="tx1"/>
                </a:solidFill>
                <a:latin typeface="Gill Sans MT" panose="020B0502020104020203" pitchFamily="34" charset="0"/>
              </a:rPr>
              <a:t>A1 B2 C3</a:t>
            </a:r>
          </a:p>
          <a:p>
            <a:r>
              <a:rPr lang="pt-BR" b="0" dirty="0">
                <a:solidFill>
                  <a:schemeClr val="tx1"/>
                </a:solidFill>
                <a:latin typeface="Gill Sans MT" panose="020B0502020104020203" pitchFamily="34" charset="0"/>
              </a:rPr>
              <a:t>A1 B2 C4</a:t>
            </a:r>
          </a:p>
          <a:p>
            <a:endParaRPr lang="pt-BR" sz="1600" b="0" dirty="0">
              <a:solidFill>
                <a:schemeClr val="tx1"/>
              </a:solidFill>
              <a:latin typeface="Gill Sans MT" panose="020B0502020104020203" pitchFamily="34" charset="0"/>
            </a:endParaRPr>
          </a:p>
          <a:p>
            <a:r>
              <a:rPr lang="pt-BR" b="0" dirty="0">
                <a:solidFill>
                  <a:schemeClr val="tx1"/>
                </a:solidFill>
                <a:latin typeface="Gill Sans MT" panose="020B0502020104020203" pitchFamily="34" charset="0"/>
              </a:rPr>
              <a:t>A1 B3 C1</a:t>
            </a:r>
          </a:p>
          <a:p>
            <a:r>
              <a:rPr lang="pt-BR" b="0" dirty="0">
                <a:solidFill>
                  <a:schemeClr val="tx1"/>
                </a:solidFill>
                <a:latin typeface="Gill Sans MT" panose="020B0502020104020203" pitchFamily="34" charset="0"/>
              </a:rPr>
              <a:t>A1 B3 C2</a:t>
            </a:r>
          </a:p>
          <a:p>
            <a:r>
              <a:rPr lang="pt-BR" b="0" dirty="0">
                <a:solidFill>
                  <a:schemeClr val="tx1"/>
                </a:solidFill>
                <a:latin typeface="Gill Sans MT" panose="020B0502020104020203" pitchFamily="34" charset="0"/>
              </a:rPr>
              <a:t>A1 B3 C3</a:t>
            </a:r>
          </a:p>
          <a:p>
            <a:r>
              <a:rPr lang="pt-BR" b="0" dirty="0">
                <a:solidFill>
                  <a:schemeClr val="tx1"/>
                </a:solidFill>
                <a:latin typeface="Gill Sans MT" panose="020B0502020104020203" pitchFamily="34" charset="0"/>
              </a:rPr>
              <a:t>A1 B3 C4</a:t>
            </a:r>
          </a:p>
          <a:p>
            <a:endParaRPr lang="pt-BR" sz="1600" b="0" dirty="0">
              <a:solidFill>
                <a:schemeClr val="tx1"/>
              </a:solidFill>
              <a:latin typeface="Gill Sans MT" panose="020B0502020104020203" pitchFamily="34" charset="0"/>
            </a:endParaRPr>
          </a:p>
          <a:p>
            <a:r>
              <a:rPr lang="pt-BR" b="0" dirty="0">
                <a:solidFill>
                  <a:schemeClr val="tx1"/>
                </a:solidFill>
                <a:latin typeface="Gill Sans MT" panose="020B0502020104020203" pitchFamily="34" charset="0"/>
              </a:rPr>
              <a:t>A1 B4 C1</a:t>
            </a:r>
          </a:p>
          <a:p>
            <a:r>
              <a:rPr lang="pt-BR" b="0" dirty="0">
                <a:solidFill>
                  <a:schemeClr val="tx1"/>
                </a:solidFill>
                <a:latin typeface="Gill Sans MT" panose="020B0502020104020203" pitchFamily="34" charset="0"/>
              </a:rPr>
              <a:t>A1 B4 C2</a:t>
            </a:r>
          </a:p>
          <a:p>
            <a:r>
              <a:rPr lang="pt-BR" b="0" dirty="0">
                <a:solidFill>
                  <a:schemeClr val="tx1"/>
                </a:solidFill>
                <a:latin typeface="Gill Sans MT" panose="020B0502020104020203" pitchFamily="34" charset="0"/>
              </a:rPr>
              <a:t>A1 B4 C3</a:t>
            </a:r>
          </a:p>
          <a:p>
            <a:r>
              <a:rPr lang="pt-BR" b="0" dirty="0">
                <a:solidFill>
                  <a:schemeClr val="tx1"/>
                </a:solidFill>
                <a:latin typeface="Gill Sans MT" panose="020B0502020104020203" pitchFamily="34" charset="0"/>
              </a:rPr>
              <a:t>A1 B4 C4</a:t>
            </a:r>
            <a:endParaRPr lang="en-US" b="0" dirty="0">
              <a:solidFill>
                <a:schemeClr val="tx1"/>
              </a:solidFill>
              <a:latin typeface="Gill Sans MT" panose="020B0502020104020203" pitchFamily="34" charset="0"/>
            </a:endParaRPr>
          </a:p>
        </p:txBody>
      </p:sp>
      <p:sp>
        <p:nvSpPr>
          <p:cNvPr id="7" name="TextBox 6"/>
          <p:cNvSpPr txBox="1"/>
          <p:nvPr/>
        </p:nvSpPr>
        <p:spPr>
          <a:xfrm>
            <a:off x="3846734" y="848456"/>
            <a:ext cx="1114408" cy="5755422"/>
          </a:xfrm>
          <a:prstGeom prst="rect">
            <a:avLst/>
          </a:prstGeom>
          <a:noFill/>
        </p:spPr>
        <p:txBody>
          <a:bodyPr wrap="none" rtlCol="0">
            <a:spAutoFit/>
          </a:bodyPr>
          <a:lstStyle/>
          <a:p>
            <a:r>
              <a:rPr lang="pt-BR" b="0" dirty="0">
                <a:solidFill>
                  <a:schemeClr val="tx1"/>
                </a:solidFill>
                <a:latin typeface="Gill Sans MT" panose="020B0502020104020203" pitchFamily="34" charset="0"/>
              </a:rPr>
              <a:t>A2 B1 C1</a:t>
            </a:r>
          </a:p>
          <a:p>
            <a:r>
              <a:rPr lang="pt-BR" b="0" dirty="0">
                <a:solidFill>
                  <a:schemeClr val="tx1"/>
                </a:solidFill>
                <a:latin typeface="Gill Sans MT" panose="020B0502020104020203" pitchFamily="34" charset="0"/>
              </a:rPr>
              <a:t>A2 B1 C2</a:t>
            </a:r>
          </a:p>
          <a:p>
            <a:r>
              <a:rPr lang="pt-BR" b="0" dirty="0">
                <a:solidFill>
                  <a:schemeClr val="tx1"/>
                </a:solidFill>
                <a:latin typeface="Gill Sans MT" panose="020B0502020104020203" pitchFamily="34" charset="0"/>
              </a:rPr>
              <a:t>A2 B1 C3</a:t>
            </a:r>
          </a:p>
          <a:p>
            <a:r>
              <a:rPr lang="pt-BR" b="0" dirty="0">
                <a:solidFill>
                  <a:schemeClr val="tx1"/>
                </a:solidFill>
                <a:latin typeface="Gill Sans MT" panose="020B0502020104020203" pitchFamily="34" charset="0"/>
              </a:rPr>
              <a:t>A2 B1 C4</a:t>
            </a:r>
          </a:p>
          <a:p>
            <a:endParaRPr lang="pt-BR" sz="1600" b="0" dirty="0">
              <a:solidFill>
                <a:schemeClr val="tx1"/>
              </a:solidFill>
              <a:latin typeface="Gill Sans MT" panose="020B0502020104020203" pitchFamily="34" charset="0"/>
            </a:endParaRPr>
          </a:p>
          <a:p>
            <a:r>
              <a:rPr lang="pt-BR" b="0" dirty="0">
                <a:solidFill>
                  <a:schemeClr val="tx1"/>
                </a:solidFill>
                <a:latin typeface="Gill Sans MT" panose="020B0502020104020203" pitchFamily="34" charset="0"/>
              </a:rPr>
              <a:t>A2 B2 C1</a:t>
            </a:r>
          </a:p>
          <a:p>
            <a:r>
              <a:rPr lang="pt-BR" b="0" dirty="0">
                <a:solidFill>
                  <a:schemeClr val="tx1"/>
                </a:solidFill>
                <a:latin typeface="Gill Sans MT" panose="020B0502020104020203" pitchFamily="34" charset="0"/>
              </a:rPr>
              <a:t>A2 B2 C2</a:t>
            </a:r>
          </a:p>
          <a:p>
            <a:r>
              <a:rPr lang="pt-BR" b="0" dirty="0">
                <a:solidFill>
                  <a:schemeClr val="tx1"/>
                </a:solidFill>
                <a:latin typeface="Gill Sans MT" panose="020B0502020104020203" pitchFamily="34" charset="0"/>
              </a:rPr>
              <a:t>A2 B2 C3</a:t>
            </a:r>
          </a:p>
          <a:p>
            <a:r>
              <a:rPr lang="pt-BR" b="0" dirty="0">
                <a:solidFill>
                  <a:schemeClr val="tx1"/>
                </a:solidFill>
                <a:latin typeface="Gill Sans MT" panose="020B0502020104020203" pitchFamily="34" charset="0"/>
              </a:rPr>
              <a:t>A2 B2 C4</a:t>
            </a:r>
          </a:p>
          <a:p>
            <a:endParaRPr lang="pt-BR" sz="1600" b="0" dirty="0">
              <a:solidFill>
                <a:schemeClr val="tx1"/>
              </a:solidFill>
              <a:latin typeface="Gill Sans MT" panose="020B0502020104020203" pitchFamily="34" charset="0"/>
            </a:endParaRPr>
          </a:p>
          <a:p>
            <a:r>
              <a:rPr lang="pt-BR" b="0" dirty="0">
                <a:solidFill>
                  <a:schemeClr val="tx1"/>
                </a:solidFill>
                <a:latin typeface="Gill Sans MT" panose="020B0502020104020203" pitchFamily="34" charset="0"/>
              </a:rPr>
              <a:t>A2 B3 C1</a:t>
            </a:r>
          </a:p>
          <a:p>
            <a:r>
              <a:rPr lang="pt-BR" b="0" dirty="0">
                <a:solidFill>
                  <a:schemeClr val="tx1"/>
                </a:solidFill>
                <a:latin typeface="Gill Sans MT" panose="020B0502020104020203" pitchFamily="34" charset="0"/>
              </a:rPr>
              <a:t>A2 B3 C2</a:t>
            </a:r>
          </a:p>
          <a:p>
            <a:r>
              <a:rPr lang="pt-BR" b="0" dirty="0">
                <a:solidFill>
                  <a:schemeClr val="tx1"/>
                </a:solidFill>
                <a:latin typeface="Gill Sans MT" panose="020B0502020104020203" pitchFamily="34" charset="0"/>
              </a:rPr>
              <a:t>A2 B3 C3</a:t>
            </a:r>
          </a:p>
          <a:p>
            <a:r>
              <a:rPr lang="pt-BR" b="0" dirty="0">
                <a:solidFill>
                  <a:schemeClr val="tx1"/>
                </a:solidFill>
                <a:latin typeface="Gill Sans MT" panose="020B0502020104020203" pitchFamily="34" charset="0"/>
              </a:rPr>
              <a:t>A2 B3 C4</a:t>
            </a:r>
          </a:p>
          <a:p>
            <a:endParaRPr lang="pt-BR" sz="1600" b="0" dirty="0">
              <a:solidFill>
                <a:schemeClr val="tx1"/>
              </a:solidFill>
              <a:latin typeface="Gill Sans MT" panose="020B0502020104020203" pitchFamily="34" charset="0"/>
            </a:endParaRPr>
          </a:p>
          <a:p>
            <a:r>
              <a:rPr lang="pt-BR" b="0" dirty="0">
                <a:solidFill>
                  <a:schemeClr val="tx1"/>
                </a:solidFill>
                <a:latin typeface="Gill Sans MT" panose="020B0502020104020203" pitchFamily="34" charset="0"/>
              </a:rPr>
              <a:t>A2 B4 C1</a:t>
            </a:r>
          </a:p>
          <a:p>
            <a:r>
              <a:rPr lang="pt-BR" b="0" dirty="0">
                <a:solidFill>
                  <a:schemeClr val="tx1"/>
                </a:solidFill>
                <a:latin typeface="Gill Sans MT" panose="020B0502020104020203" pitchFamily="34" charset="0"/>
              </a:rPr>
              <a:t>A2 B4 C2</a:t>
            </a:r>
          </a:p>
          <a:p>
            <a:r>
              <a:rPr lang="pt-BR" b="0" dirty="0">
                <a:solidFill>
                  <a:schemeClr val="tx1"/>
                </a:solidFill>
                <a:latin typeface="Gill Sans MT" panose="020B0502020104020203" pitchFamily="34" charset="0"/>
              </a:rPr>
              <a:t>A2 B4 C3</a:t>
            </a:r>
          </a:p>
          <a:p>
            <a:r>
              <a:rPr lang="pt-BR" b="0" dirty="0">
                <a:solidFill>
                  <a:schemeClr val="tx1"/>
                </a:solidFill>
                <a:latin typeface="Gill Sans MT" panose="020B0502020104020203" pitchFamily="34" charset="0"/>
              </a:rPr>
              <a:t>A2 B4 C4</a:t>
            </a:r>
          </a:p>
        </p:txBody>
      </p:sp>
      <p:sp>
        <p:nvSpPr>
          <p:cNvPr id="8" name="TextBox 7"/>
          <p:cNvSpPr txBox="1"/>
          <p:nvPr/>
        </p:nvSpPr>
        <p:spPr>
          <a:xfrm>
            <a:off x="5206516" y="848456"/>
            <a:ext cx="1114408" cy="5755422"/>
          </a:xfrm>
          <a:prstGeom prst="rect">
            <a:avLst/>
          </a:prstGeom>
          <a:noFill/>
        </p:spPr>
        <p:txBody>
          <a:bodyPr wrap="none" rtlCol="0">
            <a:spAutoFit/>
          </a:bodyPr>
          <a:lstStyle/>
          <a:p>
            <a:r>
              <a:rPr lang="pt-BR" b="0" dirty="0">
                <a:solidFill>
                  <a:schemeClr val="tx1"/>
                </a:solidFill>
                <a:latin typeface="Gill Sans MT" panose="020B0502020104020203" pitchFamily="34" charset="0"/>
              </a:rPr>
              <a:t>A3 B1 C1</a:t>
            </a:r>
          </a:p>
          <a:p>
            <a:r>
              <a:rPr lang="pt-BR" b="0" dirty="0">
                <a:solidFill>
                  <a:schemeClr val="tx1"/>
                </a:solidFill>
                <a:latin typeface="Gill Sans MT" panose="020B0502020104020203" pitchFamily="34" charset="0"/>
              </a:rPr>
              <a:t>A3 B1 C2</a:t>
            </a:r>
          </a:p>
          <a:p>
            <a:r>
              <a:rPr lang="pt-BR" b="0" dirty="0">
                <a:solidFill>
                  <a:schemeClr val="tx1"/>
                </a:solidFill>
                <a:latin typeface="Gill Sans MT" panose="020B0502020104020203" pitchFamily="34" charset="0"/>
              </a:rPr>
              <a:t>A3 B1 C3</a:t>
            </a:r>
          </a:p>
          <a:p>
            <a:r>
              <a:rPr lang="pt-BR" b="0" dirty="0">
                <a:solidFill>
                  <a:schemeClr val="tx1"/>
                </a:solidFill>
                <a:latin typeface="Gill Sans MT" panose="020B0502020104020203" pitchFamily="34" charset="0"/>
              </a:rPr>
              <a:t>A3 B1 C4</a:t>
            </a:r>
          </a:p>
          <a:p>
            <a:endParaRPr lang="pt-BR" sz="1600" b="0" dirty="0">
              <a:solidFill>
                <a:schemeClr val="tx1"/>
              </a:solidFill>
              <a:latin typeface="Gill Sans MT" panose="020B0502020104020203" pitchFamily="34" charset="0"/>
            </a:endParaRPr>
          </a:p>
          <a:p>
            <a:r>
              <a:rPr lang="pt-BR" b="0" dirty="0">
                <a:solidFill>
                  <a:schemeClr val="tx1"/>
                </a:solidFill>
                <a:latin typeface="Gill Sans MT" panose="020B0502020104020203" pitchFamily="34" charset="0"/>
              </a:rPr>
              <a:t>A3 B2 C1</a:t>
            </a:r>
          </a:p>
          <a:p>
            <a:r>
              <a:rPr lang="pt-BR" b="0" dirty="0">
                <a:solidFill>
                  <a:schemeClr val="tx1"/>
                </a:solidFill>
                <a:latin typeface="Gill Sans MT" panose="020B0502020104020203" pitchFamily="34" charset="0"/>
              </a:rPr>
              <a:t>A3 B2 C2</a:t>
            </a:r>
          </a:p>
          <a:p>
            <a:r>
              <a:rPr lang="pt-BR" b="0" dirty="0">
                <a:solidFill>
                  <a:schemeClr val="tx1"/>
                </a:solidFill>
                <a:latin typeface="Gill Sans MT" panose="020B0502020104020203" pitchFamily="34" charset="0"/>
              </a:rPr>
              <a:t>A3 B2 C3</a:t>
            </a:r>
          </a:p>
          <a:p>
            <a:r>
              <a:rPr lang="pt-BR" b="0" dirty="0">
                <a:solidFill>
                  <a:schemeClr val="tx1"/>
                </a:solidFill>
                <a:latin typeface="Gill Sans MT" panose="020B0502020104020203" pitchFamily="34" charset="0"/>
              </a:rPr>
              <a:t>A3 B2 C4</a:t>
            </a:r>
          </a:p>
          <a:p>
            <a:endParaRPr lang="pt-BR" sz="1600" b="0" dirty="0">
              <a:solidFill>
                <a:schemeClr val="tx1"/>
              </a:solidFill>
              <a:latin typeface="Gill Sans MT" panose="020B0502020104020203" pitchFamily="34" charset="0"/>
            </a:endParaRPr>
          </a:p>
          <a:p>
            <a:r>
              <a:rPr lang="pt-BR" b="0" dirty="0">
                <a:solidFill>
                  <a:schemeClr val="tx1"/>
                </a:solidFill>
                <a:latin typeface="Gill Sans MT" panose="020B0502020104020203" pitchFamily="34" charset="0"/>
              </a:rPr>
              <a:t>A3 B3 C1</a:t>
            </a:r>
          </a:p>
          <a:p>
            <a:r>
              <a:rPr lang="pt-BR" b="0" dirty="0">
                <a:solidFill>
                  <a:schemeClr val="tx1"/>
                </a:solidFill>
                <a:latin typeface="Gill Sans MT" panose="020B0502020104020203" pitchFamily="34" charset="0"/>
              </a:rPr>
              <a:t>A3 B3 C2</a:t>
            </a:r>
          </a:p>
          <a:p>
            <a:r>
              <a:rPr lang="pt-BR" b="0" dirty="0">
                <a:solidFill>
                  <a:schemeClr val="tx1"/>
                </a:solidFill>
                <a:latin typeface="Gill Sans MT" panose="020B0502020104020203" pitchFamily="34" charset="0"/>
              </a:rPr>
              <a:t>A3 B3 C3</a:t>
            </a:r>
          </a:p>
          <a:p>
            <a:r>
              <a:rPr lang="pt-BR" b="0" dirty="0">
                <a:solidFill>
                  <a:schemeClr val="tx1"/>
                </a:solidFill>
                <a:latin typeface="Gill Sans MT" panose="020B0502020104020203" pitchFamily="34" charset="0"/>
              </a:rPr>
              <a:t>A3 B3 C4</a:t>
            </a:r>
          </a:p>
          <a:p>
            <a:endParaRPr lang="pt-BR" sz="1600" b="0" dirty="0">
              <a:solidFill>
                <a:schemeClr val="tx1"/>
              </a:solidFill>
              <a:latin typeface="Gill Sans MT" panose="020B0502020104020203" pitchFamily="34" charset="0"/>
            </a:endParaRPr>
          </a:p>
          <a:p>
            <a:r>
              <a:rPr lang="pt-BR" b="0" dirty="0">
                <a:solidFill>
                  <a:schemeClr val="tx1"/>
                </a:solidFill>
                <a:latin typeface="Gill Sans MT" panose="020B0502020104020203" pitchFamily="34" charset="0"/>
              </a:rPr>
              <a:t>A3 B4 C1</a:t>
            </a:r>
          </a:p>
          <a:p>
            <a:r>
              <a:rPr lang="pt-BR" b="0" dirty="0">
                <a:solidFill>
                  <a:schemeClr val="tx1"/>
                </a:solidFill>
                <a:latin typeface="Gill Sans MT" panose="020B0502020104020203" pitchFamily="34" charset="0"/>
              </a:rPr>
              <a:t>A3 B4 C2</a:t>
            </a:r>
          </a:p>
          <a:p>
            <a:r>
              <a:rPr lang="pt-BR" b="0" dirty="0">
                <a:solidFill>
                  <a:schemeClr val="tx1"/>
                </a:solidFill>
                <a:latin typeface="Gill Sans MT" panose="020B0502020104020203" pitchFamily="34" charset="0"/>
              </a:rPr>
              <a:t>A3 B4 C3</a:t>
            </a:r>
          </a:p>
          <a:p>
            <a:r>
              <a:rPr lang="pt-BR" b="0" dirty="0">
                <a:solidFill>
                  <a:schemeClr val="tx1"/>
                </a:solidFill>
                <a:latin typeface="Gill Sans MT" panose="020B0502020104020203" pitchFamily="34" charset="0"/>
              </a:rPr>
              <a:t>A3 B4 C4</a:t>
            </a:r>
          </a:p>
        </p:txBody>
      </p:sp>
      <p:sp>
        <p:nvSpPr>
          <p:cNvPr id="9" name="TextBox 8"/>
          <p:cNvSpPr txBox="1"/>
          <p:nvPr/>
        </p:nvSpPr>
        <p:spPr>
          <a:xfrm>
            <a:off x="6422950" y="848456"/>
            <a:ext cx="1114408" cy="5755422"/>
          </a:xfrm>
          <a:prstGeom prst="rect">
            <a:avLst/>
          </a:prstGeom>
          <a:noFill/>
        </p:spPr>
        <p:txBody>
          <a:bodyPr wrap="none" rtlCol="0">
            <a:spAutoFit/>
          </a:bodyPr>
          <a:lstStyle/>
          <a:p>
            <a:r>
              <a:rPr lang="pt-BR" b="0" dirty="0">
                <a:solidFill>
                  <a:schemeClr val="tx1"/>
                </a:solidFill>
                <a:latin typeface="Gill Sans MT" panose="020B0502020104020203" pitchFamily="34" charset="0"/>
              </a:rPr>
              <a:t>A4 B1 C1</a:t>
            </a:r>
          </a:p>
          <a:p>
            <a:r>
              <a:rPr lang="pt-BR" b="0" dirty="0">
                <a:solidFill>
                  <a:schemeClr val="tx1"/>
                </a:solidFill>
                <a:latin typeface="Gill Sans MT" panose="020B0502020104020203" pitchFamily="34" charset="0"/>
              </a:rPr>
              <a:t>A4 B1 C2</a:t>
            </a:r>
          </a:p>
          <a:p>
            <a:r>
              <a:rPr lang="pt-BR" b="0" dirty="0">
                <a:solidFill>
                  <a:schemeClr val="tx1"/>
                </a:solidFill>
                <a:latin typeface="Gill Sans MT" panose="020B0502020104020203" pitchFamily="34" charset="0"/>
              </a:rPr>
              <a:t>A4 B1 C3</a:t>
            </a:r>
          </a:p>
          <a:p>
            <a:r>
              <a:rPr lang="pt-BR" b="0" dirty="0">
                <a:solidFill>
                  <a:schemeClr val="tx1"/>
                </a:solidFill>
                <a:latin typeface="Gill Sans MT" panose="020B0502020104020203" pitchFamily="34" charset="0"/>
              </a:rPr>
              <a:t>A4 B1 C4</a:t>
            </a:r>
          </a:p>
          <a:p>
            <a:endParaRPr lang="pt-BR" sz="1600" b="0" dirty="0">
              <a:solidFill>
                <a:schemeClr val="tx1"/>
              </a:solidFill>
              <a:latin typeface="Gill Sans MT" panose="020B0502020104020203" pitchFamily="34" charset="0"/>
            </a:endParaRPr>
          </a:p>
          <a:p>
            <a:r>
              <a:rPr lang="pt-BR" b="0" dirty="0">
                <a:solidFill>
                  <a:schemeClr val="tx1"/>
                </a:solidFill>
                <a:latin typeface="Gill Sans MT" panose="020B0502020104020203" pitchFamily="34" charset="0"/>
              </a:rPr>
              <a:t>A4 B2 C1</a:t>
            </a:r>
          </a:p>
          <a:p>
            <a:r>
              <a:rPr lang="pt-BR" b="0" dirty="0">
                <a:solidFill>
                  <a:schemeClr val="tx1"/>
                </a:solidFill>
                <a:latin typeface="Gill Sans MT" panose="020B0502020104020203" pitchFamily="34" charset="0"/>
              </a:rPr>
              <a:t>A4 B2 C2</a:t>
            </a:r>
          </a:p>
          <a:p>
            <a:r>
              <a:rPr lang="pt-BR" b="0" dirty="0">
                <a:solidFill>
                  <a:schemeClr val="tx1"/>
                </a:solidFill>
                <a:latin typeface="Gill Sans MT" panose="020B0502020104020203" pitchFamily="34" charset="0"/>
              </a:rPr>
              <a:t>A4 B2 C3</a:t>
            </a:r>
          </a:p>
          <a:p>
            <a:r>
              <a:rPr lang="pt-BR" b="0" dirty="0">
                <a:solidFill>
                  <a:schemeClr val="tx1"/>
                </a:solidFill>
                <a:latin typeface="Gill Sans MT" panose="020B0502020104020203" pitchFamily="34" charset="0"/>
              </a:rPr>
              <a:t>A4 B2 C4</a:t>
            </a:r>
          </a:p>
          <a:p>
            <a:endParaRPr lang="pt-BR" sz="1600" b="0" dirty="0">
              <a:solidFill>
                <a:schemeClr val="tx1"/>
              </a:solidFill>
              <a:latin typeface="Gill Sans MT" panose="020B0502020104020203" pitchFamily="34" charset="0"/>
            </a:endParaRPr>
          </a:p>
          <a:p>
            <a:r>
              <a:rPr lang="pt-BR" b="0" dirty="0">
                <a:solidFill>
                  <a:schemeClr val="tx1"/>
                </a:solidFill>
                <a:latin typeface="Gill Sans MT" panose="020B0502020104020203" pitchFamily="34" charset="0"/>
              </a:rPr>
              <a:t>A4 B3 C1</a:t>
            </a:r>
          </a:p>
          <a:p>
            <a:r>
              <a:rPr lang="pt-BR" b="0" dirty="0">
                <a:solidFill>
                  <a:schemeClr val="tx1"/>
                </a:solidFill>
                <a:latin typeface="Gill Sans MT" panose="020B0502020104020203" pitchFamily="34" charset="0"/>
              </a:rPr>
              <a:t>A4 B3 C2</a:t>
            </a:r>
          </a:p>
          <a:p>
            <a:r>
              <a:rPr lang="pt-BR" b="0" dirty="0">
                <a:solidFill>
                  <a:schemeClr val="tx1"/>
                </a:solidFill>
                <a:latin typeface="Gill Sans MT" panose="020B0502020104020203" pitchFamily="34" charset="0"/>
              </a:rPr>
              <a:t>A4 B3 C3</a:t>
            </a:r>
          </a:p>
          <a:p>
            <a:r>
              <a:rPr lang="pt-BR" b="0" dirty="0">
                <a:solidFill>
                  <a:schemeClr val="tx1"/>
                </a:solidFill>
                <a:latin typeface="Gill Sans MT" panose="020B0502020104020203" pitchFamily="34" charset="0"/>
              </a:rPr>
              <a:t>A4 B3 C4</a:t>
            </a:r>
          </a:p>
          <a:p>
            <a:endParaRPr lang="pt-BR" sz="1600" b="0" dirty="0">
              <a:solidFill>
                <a:schemeClr val="tx1"/>
              </a:solidFill>
              <a:latin typeface="Gill Sans MT" panose="020B0502020104020203" pitchFamily="34" charset="0"/>
            </a:endParaRPr>
          </a:p>
          <a:p>
            <a:r>
              <a:rPr lang="pt-BR" b="0" dirty="0">
                <a:solidFill>
                  <a:schemeClr val="tx1"/>
                </a:solidFill>
                <a:latin typeface="Gill Sans MT" panose="020B0502020104020203" pitchFamily="34" charset="0"/>
              </a:rPr>
              <a:t>A4 B4 C1</a:t>
            </a:r>
          </a:p>
          <a:p>
            <a:r>
              <a:rPr lang="pt-BR" b="0" dirty="0">
                <a:solidFill>
                  <a:schemeClr val="tx1"/>
                </a:solidFill>
                <a:latin typeface="Gill Sans MT" panose="020B0502020104020203" pitchFamily="34" charset="0"/>
              </a:rPr>
              <a:t>A4 B4 C2</a:t>
            </a:r>
          </a:p>
          <a:p>
            <a:r>
              <a:rPr lang="pt-BR" b="0" dirty="0">
                <a:solidFill>
                  <a:schemeClr val="tx1"/>
                </a:solidFill>
                <a:latin typeface="Gill Sans MT" panose="020B0502020104020203" pitchFamily="34" charset="0"/>
              </a:rPr>
              <a:t>A4 B4 C3</a:t>
            </a:r>
          </a:p>
          <a:p>
            <a:r>
              <a:rPr lang="pt-BR" b="0" dirty="0">
                <a:solidFill>
                  <a:schemeClr val="tx1"/>
                </a:solidFill>
                <a:latin typeface="Gill Sans MT" panose="020B0502020104020203" pitchFamily="34" charset="0"/>
              </a:rPr>
              <a:t>A4 B4 C4</a:t>
            </a:r>
          </a:p>
        </p:txBody>
      </p:sp>
      <p:sp>
        <p:nvSpPr>
          <p:cNvPr id="10" name="TextBox 9"/>
          <p:cNvSpPr txBox="1"/>
          <p:nvPr/>
        </p:nvSpPr>
        <p:spPr>
          <a:xfrm>
            <a:off x="7876249" y="1448475"/>
            <a:ext cx="2646095" cy="1384995"/>
          </a:xfrm>
          <a:prstGeom prst="rect">
            <a:avLst/>
          </a:prstGeom>
          <a:noFill/>
        </p:spPr>
        <p:txBody>
          <a:bodyPr wrap="square" rtlCol="0">
            <a:spAutoFit/>
          </a:bodyPr>
          <a:lstStyle/>
          <a:p>
            <a:r>
              <a:rPr lang="en-US" sz="2800" b="0" dirty="0" err="1">
                <a:solidFill>
                  <a:schemeClr val="tx1"/>
                </a:solidFill>
                <a:latin typeface="Gill Sans MT" panose="020B0502020104020203" pitchFamily="34" charset="0"/>
              </a:rPr>
              <a:t>ACoC</a:t>
            </a:r>
            <a:r>
              <a:rPr lang="en-US" sz="2800" b="0" dirty="0">
                <a:solidFill>
                  <a:schemeClr val="tx1"/>
                </a:solidFill>
                <a:latin typeface="Gill Sans MT" panose="020B0502020104020203" pitchFamily="34" charset="0"/>
              </a:rPr>
              <a:t> yields 4*4*4 = </a:t>
            </a:r>
            <a:r>
              <a:rPr lang="en-US" sz="2800" b="0" dirty="0">
                <a:solidFill>
                  <a:schemeClr val="tx2"/>
                </a:solidFill>
                <a:latin typeface="Gill Sans MT" panose="020B0502020104020203" pitchFamily="34" charset="0"/>
              </a:rPr>
              <a:t>64 tests </a:t>
            </a:r>
            <a:r>
              <a:rPr lang="en-US" sz="2800" b="0" dirty="0">
                <a:solidFill>
                  <a:schemeClr val="tx1"/>
                </a:solidFill>
                <a:latin typeface="Gill Sans MT" panose="020B0502020104020203" pitchFamily="34" charset="0"/>
              </a:rPr>
              <a:t>for </a:t>
            </a:r>
            <a:r>
              <a:rPr lang="en-US" sz="2800" b="0" dirty="0" err="1">
                <a:solidFill>
                  <a:schemeClr val="tx1"/>
                </a:solidFill>
                <a:latin typeface="Gill Sans MT" panose="020B0502020104020203" pitchFamily="34" charset="0"/>
              </a:rPr>
              <a:t>Triang</a:t>
            </a:r>
            <a:r>
              <a:rPr lang="en-US" sz="2800" b="0" dirty="0">
                <a:solidFill>
                  <a:schemeClr val="tx1"/>
                </a:solidFill>
                <a:latin typeface="Gill Sans MT" panose="020B0502020104020203" pitchFamily="34" charset="0"/>
              </a:rPr>
              <a:t>!</a:t>
            </a:r>
          </a:p>
        </p:txBody>
      </p:sp>
      <p:sp>
        <p:nvSpPr>
          <p:cNvPr id="11" name="TextBox 10"/>
          <p:cNvSpPr txBox="1"/>
          <p:nvPr/>
        </p:nvSpPr>
        <p:spPr>
          <a:xfrm>
            <a:off x="7947728" y="2993870"/>
            <a:ext cx="2646095" cy="1384995"/>
          </a:xfrm>
          <a:prstGeom prst="rect">
            <a:avLst/>
          </a:prstGeom>
          <a:noFill/>
        </p:spPr>
        <p:txBody>
          <a:bodyPr wrap="square" rtlCol="0">
            <a:spAutoFit/>
          </a:bodyPr>
          <a:lstStyle/>
          <a:p>
            <a:r>
              <a:rPr lang="en-US" sz="2800" b="0" dirty="0">
                <a:solidFill>
                  <a:schemeClr val="tx1"/>
                </a:solidFill>
                <a:latin typeface="Gill Sans MT" panose="020B0502020104020203" pitchFamily="34" charset="0"/>
              </a:rPr>
              <a:t>This is almost certainly more than we need</a:t>
            </a:r>
          </a:p>
        </p:txBody>
      </p:sp>
      <p:sp>
        <p:nvSpPr>
          <p:cNvPr id="12" name="TextBox 11"/>
          <p:cNvSpPr txBox="1"/>
          <p:nvPr/>
        </p:nvSpPr>
        <p:spPr>
          <a:xfrm>
            <a:off x="7947727" y="4594744"/>
            <a:ext cx="2646095" cy="1384995"/>
          </a:xfrm>
          <a:prstGeom prst="rect">
            <a:avLst/>
          </a:prstGeom>
          <a:noFill/>
        </p:spPr>
        <p:txBody>
          <a:bodyPr wrap="square" rtlCol="0">
            <a:spAutoFit/>
          </a:bodyPr>
          <a:lstStyle/>
          <a:p>
            <a:r>
              <a:rPr lang="en-US" sz="2800" b="0" dirty="0">
                <a:solidFill>
                  <a:schemeClr val="tx1"/>
                </a:solidFill>
                <a:latin typeface="Gill Sans MT" panose="020B0502020104020203" pitchFamily="34" charset="0"/>
              </a:rPr>
              <a:t>Only </a:t>
            </a:r>
            <a:r>
              <a:rPr lang="en-US" sz="2800" b="0" dirty="0">
                <a:solidFill>
                  <a:schemeClr val="tx2"/>
                </a:solidFill>
                <a:latin typeface="Gill Sans MT" panose="020B0502020104020203" pitchFamily="34" charset="0"/>
              </a:rPr>
              <a:t>8 are valid </a:t>
            </a:r>
            <a:r>
              <a:rPr lang="en-US" sz="2800" b="0" dirty="0">
                <a:solidFill>
                  <a:schemeClr val="tx1"/>
                </a:solidFill>
                <a:latin typeface="Gill Sans MT" panose="020B0502020104020203" pitchFamily="34" charset="0"/>
              </a:rPr>
              <a:t>(all sides greater than zero)</a:t>
            </a:r>
          </a:p>
        </p:txBody>
      </p:sp>
    </p:spTree>
    <p:extLst>
      <p:ext uri="{BB962C8B-B14F-4D97-AF65-F5344CB8AC3E}">
        <p14:creationId xmlns:p14="http://schemas.microsoft.com/office/powerpoint/2010/main" val="187448832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3000"/>
                                        <p:tgtEl>
                                          <p:spTgt spid="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up)">
                                      <p:cBhvr>
                                        <p:cTn id="10" dur="3000"/>
                                        <p:tgtEl>
                                          <p:spTgt spid="7"/>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up)">
                                      <p:cBhvr>
                                        <p:cTn id="13" dur="3000"/>
                                        <p:tgtEl>
                                          <p:spTgt spid="8"/>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3000"/>
                                        <p:tgtEl>
                                          <p:spTgt spid="9"/>
                                        </p:tgtEl>
                                      </p:cBhvr>
                                    </p:animEffect>
                                  </p:childTnLst>
                                </p:cTn>
                              </p:par>
                            </p:childTnLst>
                          </p:cTn>
                        </p:par>
                        <p:par>
                          <p:cTn id="17" fill="hold">
                            <p:stCondLst>
                              <p:cond delay="3000"/>
                            </p:stCondLst>
                            <p:childTnLst>
                              <p:par>
                                <p:cTn id="18" presetID="10"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childTnLst>
                                </p:cTn>
                              </p:par>
                            </p:childTnLst>
                          </p:cTn>
                        </p:par>
                        <p:par>
                          <p:cTn id="21" fill="hold">
                            <p:stCondLst>
                              <p:cond delay="400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childTnLst>
                                </p:cTn>
                              </p:par>
                            </p:childTnLst>
                          </p:cTn>
                        </p:par>
                        <p:par>
                          <p:cTn id="25" fill="hold">
                            <p:stCondLst>
                              <p:cond delay="5000"/>
                            </p:stCondLst>
                            <p:childTnLst>
                              <p:par>
                                <p:cTn id="26" presetID="10"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4" name="Date Placeholder 3"/>
          <p:cNvSpPr>
            <a:spLocks noGrp="1"/>
          </p:cNvSpPr>
          <p:nvPr>
            <p:ph type="dt" sz="half" idx="10"/>
          </p:nvPr>
        </p:nvSpPr>
        <p:spPr/>
        <p:txBody>
          <a:bodyPr/>
          <a:lstStyle/>
          <a:p>
            <a:pPr>
              <a:defRPr/>
            </a:pPr>
            <a:r>
              <a:rPr lang="en-US"/>
              <a:t>Introduction to Software Testing, Edition 2  (Ch 6)</a:t>
            </a:r>
            <a:endParaRPr lang="en-US" dirty="0"/>
          </a:p>
        </p:txBody>
      </p:sp>
      <p:sp>
        <p:nvSpPr>
          <p:cNvPr id="5" name="Footer Placeholder 4"/>
          <p:cNvSpPr>
            <a:spLocks noGrp="1"/>
          </p:cNvSpPr>
          <p:nvPr>
            <p:ph type="ftr" sz="quarter" idx="11"/>
          </p:nvPr>
        </p:nvSpPr>
        <p:spPr/>
        <p:txBody>
          <a:bodyPr/>
          <a:lstStyle/>
          <a:p>
            <a:pPr>
              <a:defRPr/>
            </a:pPr>
            <a:r>
              <a:rPr lang="en-US"/>
              <a:t>© Ammann &amp; Offutt</a:t>
            </a:r>
          </a:p>
        </p:txBody>
      </p:sp>
      <p:sp>
        <p:nvSpPr>
          <p:cNvPr id="6" name="Slide Number Placeholder 5"/>
          <p:cNvSpPr>
            <a:spLocks noGrp="1"/>
          </p:cNvSpPr>
          <p:nvPr>
            <p:ph type="sldNum" sz="quarter" idx="12"/>
          </p:nvPr>
        </p:nvSpPr>
        <p:spPr/>
        <p:txBody>
          <a:bodyPr/>
          <a:lstStyle/>
          <a:p>
            <a:pPr>
              <a:defRPr/>
            </a:pPr>
            <a:fld id="{FE742154-05E0-4FD4-B04E-B92FD3670A3A}" type="slidenum">
              <a:rPr lang="en-US" smtClean="0"/>
              <a:pPr>
                <a:defRPr/>
              </a:pPr>
              <a:t>29</a:t>
            </a:fld>
            <a:endParaRPr lang="en-US"/>
          </a:p>
        </p:txBody>
      </p:sp>
      <p:sp>
        <p:nvSpPr>
          <p:cNvPr id="8" name="Rounded Rectangle 7"/>
          <p:cNvSpPr/>
          <p:nvPr/>
        </p:nvSpPr>
        <p:spPr bwMode="auto">
          <a:xfrm>
            <a:off x="4693823" y="919327"/>
            <a:ext cx="2811557" cy="626808"/>
          </a:xfrm>
          <a:prstGeom prst="roundRect">
            <a:avLst/>
          </a:prstGeom>
          <a:solidFill>
            <a:schemeClr val="bg1">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r>
              <a:rPr lang="en-US" sz="3200" b="0" dirty="0">
                <a:solidFill>
                  <a:schemeClr val="tx2"/>
                </a:solidFill>
                <a:latin typeface="Calibri" panose="020F0502020204030204" pitchFamily="34" charset="0"/>
                <a:cs typeface="Calibri" panose="020F0502020204030204" pitchFamily="34" charset="0"/>
              </a:rPr>
              <a:t>Input</a:t>
            </a:r>
            <a:r>
              <a:rPr lang="en-US" sz="3200" b="0" dirty="0">
                <a:solidFill>
                  <a:schemeClr val="tx1"/>
                </a:solidFill>
                <a:latin typeface="Calibri" panose="020F0502020204030204" pitchFamily="34" charset="0"/>
                <a:cs typeface="Calibri" panose="020F0502020204030204" pitchFamily="34" charset="0"/>
              </a:rPr>
              <a:t>: students</a:t>
            </a:r>
          </a:p>
        </p:txBody>
      </p:sp>
      <p:sp>
        <p:nvSpPr>
          <p:cNvPr id="9" name="Rounded Rectangle 8"/>
          <p:cNvSpPr/>
          <p:nvPr/>
        </p:nvSpPr>
        <p:spPr bwMode="auto">
          <a:xfrm>
            <a:off x="1898400" y="1642528"/>
            <a:ext cx="8402400" cy="626808"/>
          </a:xfrm>
          <a:prstGeom prst="roundRect">
            <a:avLst/>
          </a:prstGeom>
          <a:solidFill>
            <a:schemeClr val="bg1">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r>
              <a:rPr lang="en-US" sz="3200" b="0" dirty="0">
                <a:solidFill>
                  <a:schemeClr val="tx2"/>
                </a:solidFill>
                <a:latin typeface="Calibri" panose="020F0502020204030204" pitchFamily="34" charset="0"/>
                <a:cs typeface="Calibri" panose="020F0502020204030204" pitchFamily="34" charset="0"/>
              </a:rPr>
              <a:t>Characteristics</a:t>
            </a:r>
            <a:r>
              <a:rPr lang="en-US" sz="3200" b="0" dirty="0">
                <a:solidFill>
                  <a:schemeClr val="tx1"/>
                </a:solidFill>
                <a:latin typeface="Calibri" panose="020F0502020204030204" pitchFamily="34" charset="0"/>
                <a:cs typeface="Calibri" panose="020F0502020204030204" pitchFamily="34" charset="0"/>
              </a:rPr>
              <a:t>: Level, Mode, Major, Classification</a:t>
            </a:r>
          </a:p>
        </p:txBody>
      </p:sp>
      <p:sp>
        <p:nvSpPr>
          <p:cNvPr id="10" name="Rounded Rectangle 9"/>
          <p:cNvSpPr/>
          <p:nvPr/>
        </p:nvSpPr>
        <p:spPr bwMode="auto">
          <a:xfrm>
            <a:off x="2723334" y="2365730"/>
            <a:ext cx="6752532" cy="2479227"/>
          </a:xfrm>
          <a:prstGeom prst="roundRect">
            <a:avLst/>
          </a:prstGeom>
          <a:solidFill>
            <a:schemeClr val="bg1">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r>
              <a:rPr lang="en-US" sz="3200" b="0" dirty="0">
                <a:solidFill>
                  <a:schemeClr val="tx2"/>
                </a:solidFill>
                <a:latin typeface="Calibri" panose="020F0502020204030204" pitchFamily="34" charset="0"/>
                <a:cs typeface="Calibri" panose="020F0502020204030204" pitchFamily="34" charset="0"/>
              </a:rPr>
              <a:t>Blocks</a:t>
            </a:r>
            <a:r>
              <a:rPr lang="en-US" sz="3200" b="0" dirty="0">
                <a:solidFill>
                  <a:schemeClr val="tx1"/>
                </a:solidFill>
                <a:latin typeface="Calibri" panose="020F0502020204030204" pitchFamily="34" charset="0"/>
                <a:cs typeface="Calibri" panose="020F0502020204030204" pitchFamily="34" charset="0"/>
              </a:rPr>
              <a:t>:</a:t>
            </a:r>
          </a:p>
          <a:p>
            <a:r>
              <a:rPr lang="en-US" sz="3200" b="0" dirty="0">
                <a:solidFill>
                  <a:schemeClr val="tx1"/>
                </a:solidFill>
                <a:latin typeface="Calibri" panose="020F0502020204030204" pitchFamily="34" charset="0"/>
                <a:cs typeface="Calibri" panose="020F0502020204030204" pitchFamily="34" charset="0"/>
              </a:rPr>
              <a:t>Level: ( grad, undergrad )</a:t>
            </a:r>
          </a:p>
          <a:p>
            <a:r>
              <a:rPr lang="en-US" sz="3200" b="0" dirty="0">
                <a:solidFill>
                  <a:schemeClr val="tx1"/>
                </a:solidFill>
                <a:latin typeface="Calibri" panose="020F0502020204030204" pitchFamily="34" charset="0"/>
                <a:cs typeface="Calibri" panose="020F0502020204030204" pitchFamily="34" charset="0"/>
              </a:rPr>
              <a:t>Mode: ( full-time, part-time )</a:t>
            </a:r>
          </a:p>
          <a:p>
            <a:r>
              <a:rPr lang="en-US" sz="3200" b="0" dirty="0">
                <a:solidFill>
                  <a:schemeClr val="tx1"/>
                </a:solidFill>
                <a:latin typeface="Calibri" panose="020F0502020204030204" pitchFamily="34" charset="0"/>
                <a:cs typeface="Calibri" panose="020F0502020204030204" pitchFamily="34" charset="0"/>
              </a:rPr>
              <a:t>Major: ( </a:t>
            </a:r>
            <a:r>
              <a:rPr lang="en-US" sz="3200" b="0" dirty="0" err="1">
                <a:solidFill>
                  <a:schemeClr val="tx1"/>
                </a:solidFill>
                <a:latin typeface="Calibri" panose="020F0502020204030204" pitchFamily="34" charset="0"/>
                <a:cs typeface="Calibri" panose="020F0502020204030204" pitchFamily="34" charset="0"/>
              </a:rPr>
              <a:t>cs</a:t>
            </a:r>
            <a:r>
              <a:rPr lang="en-US" sz="3200" b="0" dirty="0">
                <a:solidFill>
                  <a:schemeClr val="tx1"/>
                </a:solidFill>
                <a:latin typeface="Calibri" panose="020F0502020204030204" pitchFamily="34" charset="0"/>
                <a:cs typeface="Calibri" panose="020F0502020204030204" pitchFamily="34" charset="0"/>
              </a:rPr>
              <a:t>, </a:t>
            </a:r>
            <a:r>
              <a:rPr lang="en-US" sz="3200" b="0" dirty="0" err="1">
                <a:solidFill>
                  <a:schemeClr val="tx1"/>
                </a:solidFill>
                <a:latin typeface="Calibri" panose="020F0502020204030204" pitchFamily="34" charset="0"/>
                <a:cs typeface="Calibri" panose="020F0502020204030204" pitchFamily="34" charset="0"/>
              </a:rPr>
              <a:t>swe</a:t>
            </a:r>
            <a:r>
              <a:rPr lang="en-US" sz="3200" b="0" dirty="0">
                <a:solidFill>
                  <a:schemeClr val="tx1"/>
                </a:solidFill>
                <a:latin typeface="Calibri" panose="020F0502020204030204" pitchFamily="34" charset="0"/>
                <a:cs typeface="Calibri" panose="020F0502020204030204" pitchFamily="34" charset="0"/>
              </a:rPr>
              <a:t>, other )</a:t>
            </a:r>
          </a:p>
          <a:p>
            <a:r>
              <a:rPr lang="en-US" sz="3200" b="0" dirty="0">
                <a:solidFill>
                  <a:schemeClr val="tx1"/>
                </a:solidFill>
                <a:latin typeface="Calibri" panose="020F0502020204030204" pitchFamily="34" charset="0"/>
                <a:cs typeface="Calibri" panose="020F0502020204030204" pitchFamily="34" charset="0"/>
              </a:rPr>
              <a:t>Classification: ( in-state, out-of-state )</a:t>
            </a:r>
          </a:p>
        </p:txBody>
      </p:sp>
      <p:sp>
        <p:nvSpPr>
          <p:cNvPr id="11" name="Rounded Rectangle 10"/>
          <p:cNvSpPr/>
          <p:nvPr/>
        </p:nvSpPr>
        <p:spPr bwMode="auto">
          <a:xfrm>
            <a:off x="3191334" y="4941349"/>
            <a:ext cx="5816532" cy="1461161"/>
          </a:xfrm>
          <a:prstGeom prst="roundRect">
            <a:avLst/>
          </a:prstGeom>
          <a:solidFill>
            <a:schemeClr val="bg1">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r>
              <a:rPr lang="en-US" sz="3200" b="0" dirty="0">
                <a:solidFill>
                  <a:schemeClr val="tx2"/>
                </a:solidFill>
                <a:latin typeface="Calibri" panose="020F0502020204030204" pitchFamily="34" charset="0"/>
                <a:cs typeface="Calibri" panose="020F0502020204030204" pitchFamily="34" charset="0"/>
              </a:rPr>
              <a:t>Abstract IDM</a:t>
            </a:r>
            <a:r>
              <a:rPr lang="en-US" sz="3200" b="0" dirty="0">
                <a:solidFill>
                  <a:schemeClr val="tx1"/>
                </a:solidFill>
                <a:latin typeface="Calibri" panose="020F0502020204030204" pitchFamily="34" charset="0"/>
                <a:cs typeface="Calibri" panose="020F0502020204030204" pitchFamily="34" charset="0"/>
              </a:rPr>
              <a:t>:</a:t>
            </a:r>
          </a:p>
          <a:p>
            <a:r>
              <a:rPr lang="en-US" sz="3200" b="0" dirty="0">
                <a:solidFill>
                  <a:schemeClr val="tx1"/>
                </a:solidFill>
                <a:latin typeface="Calibri" panose="020F0502020204030204" pitchFamily="34" charset="0"/>
                <a:cs typeface="Calibri" panose="020F0502020204030204" pitchFamily="34" charset="0"/>
              </a:rPr>
              <a:t>   A = [ a1, a2 ]	C = [ c1, c2, c3 ]</a:t>
            </a:r>
          </a:p>
          <a:p>
            <a:r>
              <a:rPr lang="en-US" sz="3200" b="0" dirty="0">
                <a:solidFill>
                  <a:schemeClr val="tx1"/>
                </a:solidFill>
                <a:latin typeface="Calibri" panose="020F0502020204030204" pitchFamily="34" charset="0"/>
                <a:cs typeface="Calibri" panose="020F0502020204030204" pitchFamily="34" charset="0"/>
              </a:rPr>
              <a:t>   B = [ b1, b2 ]	D = [ d1, d2 ]</a:t>
            </a:r>
          </a:p>
        </p:txBody>
      </p:sp>
    </p:spTree>
    <p:extLst>
      <p:ext uri="{BB962C8B-B14F-4D97-AF65-F5344CB8AC3E}">
        <p14:creationId xmlns:p14="http://schemas.microsoft.com/office/powerpoint/2010/main" val="101732005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p>
        </p:txBody>
      </p:sp>
      <p:sp>
        <p:nvSpPr>
          <p:cNvPr id="4" name="Date Placeholder 3"/>
          <p:cNvSpPr>
            <a:spLocks noGrp="1"/>
          </p:cNvSpPr>
          <p:nvPr>
            <p:ph type="dt" sz="half" idx="10"/>
          </p:nvPr>
        </p:nvSpPr>
        <p:spPr/>
        <p:txBody>
          <a:bodyPr/>
          <a:lstStyle/>
          <a:p>
            <a:pPr>
              <a:defRPr/>
            </a:pPr>
            <a:r>
              <a:rPr lang="en-US">
                <a:solidFill>
                  <a:srgbClr val="FFFFFF"/>
                </a:solidFill>
              </a:rPr>
              <a:t>Introduction to Software Testing, Edition 2  (Ch 6)</a:t>
            </a:r>
            <a:endParaRPr lang="en-US" dirty="0">
              <a:solidFill>
                <a:srgbClr val="FFFFFF"/>
              </a:solidFill>
            </a:endParaRPr>
          </a:p>
        </p:txBody>
      </p:sp>
      <p:sp>
        <p:nvSpPr>
          <p:cNvPr id="5" name="Footer Placeholder 4"/>
          <p:cNvSpPr>
            <a:spLocks noGrp="1"/>
          </p:cNvSpPr>
          <p:nvPr>
            <p:ph type="ftr" sz="quarter" idx="11"/>
          </p:nvPr>
        </p:nvSpPr>
        <p:spPr/>
        <p:txBody>
          <a:bodyPr/>
          <a:lstStyle/>
          <a:p>
            <a:pPr>
              <a:defRPr/>
            </a:pPr>
            <a:r>
              <a:rPr lang="en-US">
                <a:solidFill>
                  <a:srgbClr val="FFFFFF"/>
                </a:solidFill>
              </a:rPr>
              <a:t>© Ammann &amp; Offutt</a:t>
            </a:r>
          </a:p>
        </p:txBody>
      </p:sp>
      <p:sp>
        <p:nvSpPr>
          <p:cNvPr id="6" name="Slide Number Placeholder 5"/>
          <p:cNvSpPr>
            <a:spLocks noGrp="1"/>
          </p:cNvSpPr>
          <p:nvPr>
            <p:ph type="sldNum" sz="quarter" idx="12"/>
          </p:nvPr>
        </p:nvSpPr>
        <p:spPr/>
        <p:txBody>
          <a:bodyPr/>
          <a:lstStyle/>
          <a:p>
            <a:pPr>
              <a:defRPr/>
            </a:pPr>
            <a:fld id="{FE742154-05E0-4FD4-B04E-B92FD3670A3A}" type="slidenum">
              <a:rPr lang="en-US">
                <a:solidFill>
                  <a:srgbClr val="FFFFFF"/>
                </a:solidFill>
              </a:rPr>
              <a:pPr>
                <a:defRPr/>
              </a:pPr>
              <a:t>30</a:t>
            </a:fld>
            <a:endParaRPr lang="en-US">
              <a:solidFill>
                <a:srgbClr val="FFFFFF"/>
              </a:solidFill>
            </a:endParaRPr>
          </a:p>
        </p:txBody>
      </p:sp>
      <p:sp>
        <p:nvSpPr>
          <p:cNvPr id="7" name="TextBox 6"/>
          <p:cNvSpPr txBox="1"/>
          <p:nvPr/>
        </p:nvSpPr>
        <p:spPr>
          <a:xfrm>
            <a:off x="3809991" y="1965115"/>
            <a:ext cx="4586430" cy="523220"/>
          </a:xfrm>
          <a:prstGeom prst="rect">
            <a:avLst/>
          </a:prstGeom>
          <a:solidFill>
            <a:schemeClr val="bg1">
              <a:lumMod val="40000"/>
              <a:lumOff val="60000"/>
            </a:schemeClr>
          </a:solidFill>
        </p:spPr>
        <p:txBody>
          <a:bodyPr wrap="square" rtlCol="0">
            <a:spAutoFit/>
          </a:bodyPr>
          <a:lstStyle/>
          <a:p>
            <a:pPr lvl="0" algn="ctr"/>
            <a:r>
              <a:rPr lang="en-US" sz="2800" b="0" dirty="0">
                <a:solidFill>
                  <a:srgbClr val="FFFFFF"/>
                </a:solidFill>
                <a:latin typeface="Calibri" panose="020F0502020204030204" pitchFamily="34" charset="0"/>
                <a:cs typeface="Calibri" panose="020F0502020204030204" pitchFamily="34" charset="0"/>
              </a:rPr>
              <a:t>Consider this abstract IDM</a:t>
            </a:r>
          </a:p>
        </p:txBody>
      </p:sp>
      <p:sp>
        <p:nvSpPr>
          <p:cNvPr id="8" name="TextBox 7"/>
          <p:cNvSpPr txBox="1"/>
          <p:nvPr/>
        </p:nvSpPr>
        <p:spPr>
          <a:xfrm>
            <a:off x="2484781" y="2906149"/>
            <a:ext cx="7231205" cy="1384995"/>
          </a:xfrm>
          <a:prstGeom prst="rect">
            <a:avLst/>
          </a:prstGeom>
          <a:solidFill>
            <a:schemeClr val="bg1">
              <a:lumMod val="40000"/>
              <a:lumOff val="60000"/>
            </a:schemeClr>
          </a:solidFill>
        </p:spPr>
        <p:txBody>
          <a:bodyPr wrap="square" rtlCol="0">
            <a:spAutoFit/>
          </a:bodyPr>
          <a:lstStyle/>
          <a:p>
            <a:pPr lvl="0"/>
            <a:r>
              <a:rPr lang="en-US" sz="2800" b="0" dirty="0">
                <a:solidFill>
                  <a:srgbClr val="FFFFFF"/>
                </a:solidFill>
                <a:latin typeface="Calibri" panose="020F0502020204030204" pitchFamily="34" charset="0"/>
                <a:cs typeface="Calibri" panose="020F0502020204030204" pitchFamily="34" charset="0"/>
              </a:rPr>
              <a:t>4 Characteristics:  A, B, C, D</a:t>
            </a:r>
          </a:p>
          <a:p>
            <a:pPr lvl="0"/>
            <a:r>
              <a:rPr lang="en-US" sz="2800" b="0" dirty="0">
                <a:solidFill>
                  <a:srgbClr val="FFFFFF"/>
                </a:solidFill>
                <a:latin typeface="Calibri" panose="020F0502020204030204" pitchFamily="34" charset="0"/>
                <a:cs typeface="Calibri" panose="020F0502020204030204" pitchFamily="34" charset="0"/>
              </a:rPr>
              <a:t>Abstract blocks: A = [a1, a2]; B = [b1, b2];</a:t>
            </a:r>
          </a:p>
          <a:p>
            <a:pPr lvl="0"/>
            <a:r>
              <a:rPr lang="en-US" sz="2800" b="0" dirty="0">
                <a:solidFill>
                  <a:srgbClr val="FFFFFF"/>
                </a:solidFill>
                <a:latin typeface="Calibri" panose="020F0502020204030204" pitchFamily="34" charset="0"/>
                <a:cs typeface="Calibri" panose="020F0502020204030204" pitchFamily="34" charset="0"/>
              </a:rPr>
              <a:t>		       C = [c1, c2, c3]; D = [d1, d2]</a:t>
            </a:r>
          </a:p>
        </p:txBody>
      </p:sp>
      <p:sp>
        <p:nvSpPr>
          <p:cNvPr id="9" name="TextBox 8"/>
          <p:cNvSpPr txBox="1"/>
          <p:nvPr/>
        </p:nvSpPr>
        <p:spPr>
          <a:xfrm>
            <a:off x="2462473" y="4708956"/>
            <a:ext cx="7275818" cy="523220"/>
          </a:xfrm>
          <a:prstGeom prst="rect">
            <a:avLst/>
          </a:prstGeom>
          <a:solidFill>
            <a:schemeClr val="bg1">
              <a:lumMod val="40000"/>
              <a:lumOff val="60000"/>
            </a:schemeClr>
          </a:solidFill>
        </p:spPr>
        <p:txBody>
          <a:bodyPr wrap="square" rtlCol="0">
            <a:spAutoFit/>
          </a:bodyPr>
          <a:lstStyle/>
          <a:p>
            <a:pPr lvl="0" algn="ctr"/>
            <a:r>
              <a:rPr lang="en-US" sz="2800" b="0" dirty="0">
                <a:solidFill>
                  <a:srgbClr val="FFFFFF"/>
                </a:solidFill>
                <a:latin typeface="Calibri" panose="020F0502020204030204" pitchFamily="34" charset="0"/>
                <a:cs typeface="Calibri" panose="020F0502020204030204" pitchFamily="34" charset="0"/>
              </a:rPr>
              <a:t>How many tests are needed to satisfy </a:t>
            </a:r>
            <a:r>
              <a:rPr lang="en-US" sz="2800" b="0" dirty="0" err="1">
                <a:solidFill>
                  <a:srgbClr val="FFFFFF"/>
                </a:solidFill>
                <a:latin typeface="Calibri" panose="020F0502020204030204" pitchFamily="34" charset="0"/>
                <a:cs typeface="Calibri" panose="020F0502020204030204" pitchFamily="34" charset="0"/>
              </a:rPr>
              <a:t>ACoC</a:t>
            </a:r>
            <a:r>
              <a:rPr lang="en-US" sz="2800" b="0" dirty="0">
                <a:solidFill>
                  <a:srgbClr val="FFFFFF"/>
                </a:solidFill>
                <a:latin typeface="Calibri" panose="020F0502020204030204" pitchFamily="34" charset="0"/>
                <a:cs typeface="Calibri" panose="020F0502020204030204" pitchFamily="34" charset="0"/>
              </a:rPr>
              <a:t>?</a:t>
            </a:r>
          </a:p>
        </p:txBody>
      </p:sp>
      <p:sp>
        <p:nvSpPr>
          <p:cNvPr id="10" name="TextBox 9"/>
          <p:cNvSpPr txBox="1"/>
          <p:nvPr/>
        </p:nvSpPr>
        <p:spPr>
          <a:xfrm>
            <a:off x="3195175" y="962528"/>
            <a:ext cx="5810414" cy="584775"/>
          </a:xfrm>
          <a:prstGeom prst="rect">
            <a:avLst/>
          </a:prstGeom>
          <a:solidFill>
            <a:schemeClr val="bg1">
              <a:lumMod val="40000"/>
              <a:lumOff val="60000"/>
            </a:schemeClr>
          </a:solidFill>
        </p:spPr>
        <p:txBody>
          <a:bodyPr wrap="square" rtlCol="0">
            <a:spAutoFit/>
          </a:bodyPr>
          <a:lstStyle/>
          <a:p>
            <a:pPr lvl="0" algn="ctr"/>
            <a:r>
              <a:rPr lang="en-US" sz="3200" b="0" dirty="0">
                <a:solidFill>
                  <a:srgbClr val="FFFFFF"/>
                </a:solidFill>
                <a:latin typeface="Calibri" panose="020F0502020204030204" pitchFamily="34" charset="0"/>
                <a:cs typeface="Calibri" panose="020F0502020204030204" pitchFamily="34" charset="0"/>
              </a:rPr>
              <a:t>All combinations criterion (</a:t>
            </a:r>
            <a:r>
              <a:rPr lang="en-US" sz="3200" b="0" dirty="0" err="1">
                <a:solidFill>
                  <a:srgbClr val="FFFFFF"/>
                </a:solidFill>
                <a:latin typeface="Calibri" panose="020F0502020204030204" pitchFamily="34" charset="0"/>
                <a:cs typeface="Calibri" panose="020F0502020204030204" pitchFamily="34" charset="0"/>
              </a:rPr>
              <a:t>ACoC</a:t>
            </a:r>
            <a:r>
              <a:rPr lang="en-US" sz="3200" b="0" dirty="0">
                <a:solidFill>
                  <a:srgbClr val="FFFFFF"/>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59221485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2000"/>
                                        <p:tgtEl>
                                          <p:spTgt spid="7"/>
                                        </p:tgtEl>
                                      </p:cBhvr>
                                    </p:animEffect>
                                  </p:childTnLst>
                                </p:cTn>
                              </p:par>
                            </p:childTnLst>
                          </p:cTn>
                        </p:par>
                        <p:par>
                          <p:cTn id="12" fill="hold">
                            <p:stCondLst>
                              <p:cond delay="40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2000"/>
                                        <p:tgtEl>
                                          <p:spTgt spid="8"/>
                                        </p:tgtEl>
                                      </p:cBhvr>
                                    </p:animEffect>
                                  </p:childTnLst>
                                </p:cTn>
                              </p:par>
                            </p:childTnLst>
                          </p:cTn>
                        </p:par>
                        <p:par>
                          <p:cTn id="16" fill="hold">
                            <p:stCondLst>
                              <p:cond delay="600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 (</a:t>
            </a:r>
            <a:r>
              <a:rPr lang="en-US" i="1" dirty="0"/>
              <a:t>answer</a:t>
            </a:r>
            <a:r>
              <a:rPr lang="en-US" dirty="0"/>
              <a:t>)</a:t>
            </a:r>
          </a:p>
        </p:txBody>
      </p:sp>
      <p:sp>
        <p:nvSpPr>
          <p:cNvPr id="4" name="Date Placeholder 3"/>
          <p:cNvSpPr>
            <a:spLocks noGrp="1"/>
          </p:cNvSpPr>
          <p:nvPr>
            <p:ph type="dt" sz="half" idx="10"/>
          </p:nvPr>
        </p:nvSpPr>
        <p:spPr/>
        <p:txBody>
          <a:bodyPr/>
          <a:lstStyle/>
          <a:p>
            <a:pPr>
              <a:defRPr/>
            </a:pPr>
            <a:r>
              <a:rPr lang="en-US">
                <a:solidFill>
                  <a:srgbClr val="FFFFFF"/>
                </a:solidFill>
              </a:rPr>
              <a:t>Introduction to Software Testing, Edition 2  (Ch 6)</a:t>
            </a:r>
            <a:endParaRPr lang="en-US" dirty="0">
              <a:solidFill>
                <a:srgbClr val="FFFFFF"/>
              </a:solidFill>
            </a:endParaRPr>
          </a:p>
        </p:txBody>
      </p:sp>
      <p:sp>
        <p:nvSpPr>
          <p:cNvPr id="5" name="Footer Placeholder 4"/>
          <p:cNvSpPr>
            <a:spLocks noGrp="1"/>
          </p:cNvSpPr>
          <p:nvPr>
            <p:ph type="ftr" sz="quarter" idx="11"/>
          </p:nvPr>
        </p:nvSpPr>
        <p:spPr/>
        <p:txBody>
          <a:bodyPr/>
          <a:lstStyle/>
          <a:p>
            <a:pPr>
              <a:defRPr/>
            </a:pPr>
            <a:r>
              <a:rPr lang="en-US">
                <a:solidFill>
                  <a:srgbClr val="FFFFFF"/>
                </a:solidFill>
              </a:rPr>
              <a:t>© Ammann &amp; Offutt</a:t>
            </a:r>
          </a:p>
        </p:txBody>
      </p:sp>
      <p:sp>
        <p:nvSpPr>
          <p:cNvPr id="6" name="Slide Number Placeholder 5"/>
          <p:cNvSpPr>
            <a:spLocks noGrp="1"/>
          </p:cNvSpPr>
          <p:nvPr>
            <p:ph type="sldNum" sz="quarter" idx="12"/>
          </p:nvPr>
        </p:nvSpPr>
        <p:spPr/>
        <p:txBody>
          <a:bodyPr/>
          <a:lstStyle/>
          <a:p>
            <a:pPr>
              <a:defRPr/>
            </a:pPr>
            <a:fld id="{FE742154-05E0-4FD4-B04E-B92FD3670A3A}" type="slidenum">
              <a:rPr lang="en-US">
                <a:solidFill>
                  <a:srgbClr val="FFFFFF"/>
                </a:solidFill>
              </a:rPr>
              <a:pPr>
                <a:defRPr/>
              </a:pPr>
              <a:t>31</a:t>
            </a:fld>
            <a:endParaRPr lang="en-US">
              <a:solidFill>
                <a:srgbClr val="FFFFFF"/>
              </a:solidFill>
            </a:endParaRPr>
          </a:p>
        </p:txBody>
      </p:sp>
      <p:sp>
        <p:nvSpPr>
          <p:cNvPr id="8" name="TextBox 7"/>
          <p:cNvSpPr txBox="1"/>
          <p:nvPr/>
        </p:nvSpPr>
        <p:spPr>
          <a:xfrm>
            <a:off x="2484781" y="1619177"/>
            <a:ext cx="7231205" cy="1384995"/>
          </a:xfrm>
          <a:prstGeom prst="rect">
            <a:avLst/>
          </a:prstGeom>
          <a:solidFill>
            <a:schemeClr val="bg1">
              <a:lumMod val="40000"/>
              <a:lumOff val="60000"/>
            </a:schemeClr>
          </a:solidFill>
        </p:spPr>
        <p:txBody>
          <a:bodyPr wrap="square" rtlCol="0">
            <a:spAutoFit/>
          </a:bodyPr>
          <a:lstStyle/>
          <a:p>
            <a:pPr>
              <a:defRPr/>
            </a:pPr>
            <a:r>
              <a:rPr lang="en-US" sz="2800" b="0" dirty="0">
                <a:solidFill>
                  <a:srgbClr val="FFFFFF"/>
                </a:solidFill>
                <a:latin typeface="Calibri" panose="020F0502020204030204" pitchFamily="34" charset="0"/>
                <a:cs typeface="Calibri" panose="020F0502020204030204" pitchFamily="34" charset="0"/>
              </a:rPr>
              <a:t>4 Characteristics:  A, B, C, D</a:t>
            </a:r>
          </a:p>
          <a:p>
            <a:pPr>
              <a:defRPr/>
            </a:pPr>
            <a:r>
              <a:rPr lang="en-US" sz="2800" b="0" dirty="0">
                <a:solidFill>
                  <a:srgbClr val="FFFFFF"/>
                </a:solidFill>
                <a:latin typeface="Calibri" panose="020F0502020204030204" pitchFamily="34" charset="0"/>
                <a:cs typeface="Calibri" panose="020F0502020204030204" pitchFamily="34" charset="0"/>
              </a:rPr>
              <a:t>Abstract blocks: A = [a1, a2]; B = [b1, b2];</a:t>
            </a:r>
          </a:p>
          <a:p>
            <a:pPr>
              <a:defRPr/>
            </a:pPr>
            <a:r>
              <a:rPr lang="en-US" sz="2800" b="0" dirty="0">
                <a:solidFill>
                  <a:srgbClr val="FFFFFF"/>
                </a:solidFill>
                <a:latin typeface="Calibri" panose="020F0502020204030204" pitchFamily="34" charset="0"/>
                <a:cs typeface="Calibri" panose="020F0502020204030204" pitchFamily="34" charset="0"/>
              </a:rPr>
              <a:t>		       C = [c1, c2, c3]; D = [d1, d2]</a:t>
            </a:r>
          </a:p>
        </p:txBody>
      </p:sp>
      <p:sp>
        <p:nvSpPr>
          <p:cNvPr id="10" name="TextBox 9"/>
          <p:cNvSpPr txBox="1"/>
          <p:nvPr/>
        </p:nvSpPr>
        <p:spPr>
          <a:xfrm>
            <a:off x="3195175" y="888386"/>
            <a:ext cx="5810414" cy="584775"/>
          </a:xfrm>
          <a:prstGeom prst="rect">
            <a:avLst/>
          </a:prstGeom>
          <a:solidFill>
            <a:schemeClr val="bg1">
              <a:lumMod val="40000"/>
              <a:lumOff val="60000"/>
            </a:schemeClr>
          </a:solidFill>
        </p:spPr>
        <p:txBody>
          <a:bodyPr wrap="square" rtlCol="0">
            <a:spAutoFit/>
          </a:bodyPr>
          <a:lstStyle/>
          <a:p>
            <a:pPr algn="ctr">
              <a:defRPr/>
            </a:pPr>
            <a:r>
              <a:rPr lang="en-US" sz="3200" b="0" dirty="0">
                <a:solidFill>
                  <a:srgbClr val="FFFFFF"/>
                </a:solidFill>
                <a:latin typeface="Calibri" panose="020F0502020204030204" pitchFamily="34" charset="0"/>
                <a:cs typeface="Calibri" panose="020F0502020204030204" pitchFamily="34" charset="0"/>
              </a:rPr>
              <a:t>All combinations criterion (</a:t>
            </a:r>
            <a:r>
              <a:rPr lang="en-US" sz="3200" b="0" dirty="0" err="1">
                <a:solidFill>
                  <a:srgbClr val="FFFFFF"/>
                </a:solidFill>
                <a:latin typeface="Calibri" panose="020F0502020204030204" pitchFamily="34" charset="0"/>
                <a:cs typeface="Calibri" panose="020F0502020204030204" pitchFamily="34" charset="0"/>
              </a:rPr>
              <a:t>ACoC</a:t>
            </a:r>
            <a:r>
              <a:rPr lang="en-US" sz="3200" b="0" dirty="0">
                <a:solidFill>
                  <a:srgbClr val="FFFFFF"/>
                </a:solidFill>
                <a:latin typeface="Calibri" panose="020F0502020204030204" pitchFamily="34" charset="0"/>
                <a:cs typeface="Calibri" panose="020F0502020204030204" pitchFamily="34" charset="0"/>
              </a:rPr>
              <a:t>)</a:t>
            </a:r>
          </a:p>
        </p:txBody>
      </p:sp>
      <p:sp>
        <p:nvSpPr>
          <p:cNvPr id="11" name="Rounded Rectangle 10"/>
          <p:cNvSpPr/>
          <p:nvPr/>
        </p:nvSpPr>
        <p:spPr bwMode="auto">
          <a:xfrm>
            <a:off x="3814382" y="3150188"/>
            <a:ext cx="4572000" cy="576341"/>
          </a:xfrm>
          <a:prstGeom prst="roundRect">
            <a:avLst/>
          </a:prstGeom>
          <a:solidFill>
            <a:srgbClr val="008000"/>
          </a:solidFill>
          <a:ln w="28575" cap="flat" cmpd="sng" algn="ctr">
            <a:solidFill>
              <a:srgbClr val="FF99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lgn="ctr">
              <a:defRPr/>
            </a:pPr>
            <a:r>
              <a:rPr lang="en-US" b="0" dirty="0">
                <a:solidFill>
                  <a:srgbClr val="FFFFFF"/>
                </a:solidFill>
                <a:latin typeface="Verdana" panose="020B0604030504040204" pitchFamily="34" charset="0"/>
                <a:ea typeface="Verdana" panose="020B0604030504040204" pitchFamily="34" charset="0"/>
                <a:cs typeface="Verdana" panose="020B0604030504040204" pitchFamily="34" charset="0"/>
              </a:rPr>
              <a:t>Number of tests: 2*2*3*2 = 24</a:t>
            </a:r>
          </a:p>
        </p:txBody>
      </p:sp>
      <p:graphicFrame>
        <p:nvGraphicFramePr>
          <p:cNvPr id="12" name="Table 11"/>
          <p:cNvGraphicFramePr>
            <a:graphicFrameLocks noGrp="1"/>
          </p:cNvGraphicFramePr>
          <p:nvPr/>
        </p:nvGraphicFramePr>
        <p:xfrm>
          <a:off x="1734062" y="3872545"/>
          <a:ext cx="8662088" cy="2743200"/>
        </p:xfrm>
        <a:graphic>
          <a:graphicData uri="http://schemas.openxmlformats.org/drawingml/2006/table">
            <a:tbl>
              <a:tblPr firstRow="1" bandRow="1">
                <a:tableStyleId>{16D9F66E-5EB9-4882-86FB-DCBF35E3C3E4}</a:tableStyleId>
              </a:tblPr>
              <a:tblGrid>
                <a:gridCol w="2165522">
                  <a:extLst>
                    <a:ext uri="{9D8B030D-6E8A-4147-A177-3AD203B41FA5}">
                      <a16:colId xmlns:a16="http://schemas.microsoft.com/office/drawing/2014/main" val="3264710210"/>
                    </a:ext>
                  </a:extLst>
                </a:gridCol>
                <a:gridCol w="2165522">
                  <a:extLst>
                    <a:ext uri="{9D8B030D-6E8A-4147-A177-3AD203B41FA5}">
                      <a16:colId xmlns:a16="http://schemas.microsoft.com/office/drawing/2014/main" val="2365651468"/>
                    </a:ext>
                  </a:extLst>
                </a:gridCol>
                <a:gridCol w="2165522">
                  <a:extLst>
                    <a:ext uri="{9D8B030D-6E8A-4147-A177-3AD203B41FA5}">
                      <a16:colId xmlns:a16="http://schemas.microsoft.com/office/drawing/2014/main" val="3543466418"/>
                    </a:ext>
                  </a:extLst>
                </a:gridCol>
                <a:gridCol w="2165522">
                  <a:extLst>
                    <a:ext uri="{9D8B030D-6E8A-4147-A177-3AD203B41FA5}">
                      <a16:colId xmlns:a16="http://schemas.microsoft.com/office/drawing/2014/main" val="760359186"/>
                    </a:ext>
                  </a:extLst>
                </a:gridCol>
              </a:tblGrid>
              <a:tr h="370840">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a1 b1 c1 d1</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a1 b2 c1 d1</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a2 b1 c1 d1</a:t>
                      </a:r>
                    </a:p>
                  </a:txBody>
                  <a:tcPr>
                    <a:lnL w="12700"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a2 b2 c1 d1</a:t>
                      </a:r>
                    </a:p>
                  </a:txBody>
                  <a:tcPr>
                    <a:lnL w="285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extLst>
                  <a:ext uri="{0D108BD9-81ED-4DB2-BD59-A6C34878D82A}">
                    <a16:rowId xmlns:a16="http://schemas.microsoft.com/office/drawing/2014/main" val="1621857064"/>
                  </a:ext>
                </a:extLst>
              </a:tr>
              <a:tr h="439962">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a1 b1 c1</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d2</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a1 b2 c1</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d2</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a2 b1 c1</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d2</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a2 b2 c1</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d2</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4147995887"/>
                  </a:ext>
                </a:extLst>
              </a:tr>
              <a:tr h="370840">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a1 b1 c2</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d1</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a1 b2 c2</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d1</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a2 b1 c2</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d1</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a2 b2 c2</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d1</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extLst>
                  <a:ext uri="{0D108BD9-81ED-4DB2-BD59-A6C34878D82A}">
                    <a16:rowId xmlns:a16="http://schemas.microsoft.com/office/drawing/2014/main" val="2015433661"/>
                  </a:ext>
                </a:extLst>
              </a:tr>
              <a:tr h="370840">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a1 b1 c2 d2</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a1 b2 c2 d2</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a2 b1 c2 d2</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a2 b2 c2 d2</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3040810366"/>
                  </a:ext>
                </a:extLst>
              </a:tr>
              <a:tr h="370840">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a1 b1 c3</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d1</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a1 b2 c3</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d1</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a2 b1 c3</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d1</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a2 b2 c3</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d1</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extLst>
                  <a:ext uri="{0D108BD9-81ED-4DB2-BD59-A6C34878D82A}">
                    <a16:rowId xmlns:a16="http://schemas.microsoft.com/office/drawing/2014/main" val="3104032000"/>
                  </a:ext>
                </a:extLst>
              </a:tr>
              <a:tr h="296181">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a1 b1 c3</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d2</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a1 b2 c3</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d2</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a2 b1 c3</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d2</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a2 b2 c3</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d2</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1494080132"/>
                  </a:ext>
                </a:extLst>
              </a:tr>
            </a:tbl>
          </a:graphicData>
        </a:graphic>
      </p:graphicFrame>
    </p:spTree>
    <p:extLst>
      <p:ext uri="{BB962C8B-B14F-4D97-AF65-F5344CB8AC3E}">
        <p14:creationId xmlns:p14="http://schemas.microsoft.com/office/powerpoint/2010/main" val="2795526742"/>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19502C90-3AA4-4A68-BA6F-32CBD8B2740F}" type="slidenum">
              <a:rPr lang="en-US" altLang="en-US" sz="900" b="0">
                <a:solidFill>
                  <a:schemeClr val="tx1"/>
                </a:solidFill>
                <a:latin typeface="Arial" charset="0"/>
                <a:cs typeface="Arial" charset="0"/>
              </a:rPr>
              <a:pPr/>
              <a:t>32</a:t>
            </a:fld>
            <a:endParaRPr lang="en-US" altLang="en-US" sz="900" b="0">
              <a:solidFill>
                <a:schemeClr val="tx1"/>
              </a:solidFill>
              <a:latin typeface="Arial" charset="0"/>
              <a:cs typeface="Arial" charset="0"/>
            </a:endParaRPr>
          </a:p>
        </p:txBody>
      </p:sp>
      <p:sp>
        <p:nvSpPr>
          <p:cNvPr id="25604" name="Rectangle 2"/>
          <p:cNvSpPr>
            <a:spLocks noGrp="1" noChangeArrowheads="1"/>
          </p:cNvSpPr>
          <p:nvPr>
            <p:ph type="title"/>
          </p:nvPr>
        </p:nvSpPr>
        <p:spPr/>
        <p:txBody>
          <a:bodyPr/>
          <a:lstStyle/>
          <a:p>
            <a:r>
              <a:rPr lang="en-US" altLang="en-US" dirty="0"/>
              <a:t>ISP Criteria – Each Choice</a:t>
            </a:r>
          </a:p>
        </p:txBody>
      </p:sp>
      <p:sp>
        <p:nvSpPr>
          <p:cNvPr id="25605" name="Rectangle 3"/>
          <p:cNvSpPr>
            <a:spLocks noGrp="1" noChangeArrowheads="1"/>
          </p:cNvSpPr>
          <p:nvPr>
            <p:ph type="body" idx="1"/>
          </p:nvPr>
        </p:nvSpPr>
        <p:spPr>
          <a:xfrm>
            <a:off x="1662114" y="869274"/>
            <a:ext cx="8867775" cy="1390650"/>
          </a:xfrm>
        </p:spPr>
        <p:txBody>
          <a:bodyPr/>
          <a:lstStyle/>
          <a:p>
            <a:r>
              <a:rPr lang="en-US" altLang="en-US" dirty="0"/>
              <a:t>64 tests for </a:t>
            </a:r>
            <a:r>
              <a:rPr lang="en-US" altLang="en-US" dirty="0" err="1"/>
              <a:t>triang</a:t>
            </a:r>
            <a:r>
              <a:rPr lang="en-US" altLang="en-US" dirty="0"/>
              <a:t>() is almost certainly way too many</a:t>
            </a:r>
          </a:p>
          <a:p>
            <a:r>
              <a:rPr lang="en-US" altLang="en-US" dirty="0"/>
              <a:t>One criterion comes from the idea that we should try at </a:t>
            </a:r>
            <a:r>
              <a:rPr lang="en-US" altLang="en-US" dirty="0">
                <a:solidFill>
                  <a:schemeClr val="tx2"/>
                </a:solidFill>
              </a:rPr>
              <a:t>least one</a:t>
            </a:r>
            <a:r>
              <a:rPr lang="en-US" altLang="en-US" dirty="0"/>
              <a:t> value from each block</a:t>
            </a:r>
          </a:p>
        </p:txBody>
      </p:sp>
      <p:sp>
        <p:nvSpPr>
          <p:cNvPr id="273412" name="Text Box 4"/>
          <p:cNvSpPr txBox="1">
            <a:spLocks noChangeArrowheads="1"/>
          </p:cNvSpPr>
          <p:nvPr/>
        </p:nvSpPr>
        <p:spPr bwMode="auto">
          <a:xfrm>
            <a:off x="2029326" y="2260593"/>
            <a:ext cx="8121314" cy="830997"/>
          </a:xfrm>
          <a:prstGeom prst="rect">
            <a:avLst/>
          </a:prstGeom>
          <a:gradFill rotWithShape="1">
            <a:gsLst>
              <a:gs pos="0">
                <a:srgbClr val="3399FF"/>
              </a:gs>
              <a:gs pos="100000">
                <a:srgbClr val="0033CC"/>
              </a:gs>
            </a:gsLst>
            <a:path path="shape">
              <a:fillToRect l="50000" t="50000" r="50000" b="50000"/>
            </a:path>
          </a:gradFill>
          <a:ln w="19050">
            <a:solidFill>
              <a:schemeClr val="tx2"/>
            </a:solidFill>
            <a:miter lim="800000"/>
            <a:headEnd type="none" w="sm" len="sm"/>
            <a:tailEnd type="none" w="sm" len="sm"/>
          </a:ln>
          <a:effectLst/>
        </p:spPr>
        <p:txBody>
          <a:bodyPr wrap="square">
            <a:spAutoFit/>
          </a:bodyPr>
          <a:lstStyle/>
          <a:p>
            <a:pPr>
              <a:spcBef>
                <a:spcPct val="50000"/>
              </a:spcBef>
              <a:defRPr/>
            </a:pPr>
            <a:r>
              <a:rPr lang="en-US" sz="2400" u="sng" dirty="0">
                <a:solidFill>
                  <a:schemeClr val="tx2"/>
                </a:solidFill>
                <a:effectLst>
                  <a:outerShdw blurRad="38100" dist="38100" dir="2700000" algn="tl">
                    <a:srgbClr val="000000"/>
                  </a:outerShdw>
                </a:effectLst>
                <a:latin typeface="Gill Sans MT" panose="020B0502020104020203" pitchFamily="34" charset="0"/>
              </a:rPr>
              <a:t>Each Choice Coverage (ECC)</a:t>
            </a:r>
            <a:r>
              <a:rPr lang="en-US" sz="2400" dirty="0">
                <a:solidFill>
                  <a:schemeClr val="tx2"/>
                </a:solidFill>
                <a:effectLst>
                  <a:outerShdw blurRad="38100" dist="38100" dir="2700000" algn="tl">
                    <a:srgbClr val="000000"/>
                  </a:outerShdw>
                </a:effectLst>
                <a:latin typeface="Gill Sans MT" panose="020B0502020104020203" pitchFamily="34" charset="0"/>
              </a:rPr>
              <a:t> : </a:t>
            </a:r>
            <a:r>
              <a:rPr lang="en-US" sz="2400" dirty="0">
                <a:effectLst>
                  <a:outerShdw blurRad="38100" dist="38100" dir="2700000" algn="tl">
                    <a:srgbClr val="000000"/>
                  </a:outerShdw>
                </a:effectLst>
                <a:latin typeface="Gill Sans MT" panose="020B0502020104020203" pitchFamily="34" charset="0"/>
              </a:rPr>
              <a:t>One value from each block for each characteristic must be used in at least one test case.</a:t>
            </a:r>
          </a:p>
        </p:txBody>
      </p:sp>
      <p:sp>
        <p:nvSpPr>
          <p:cNvPr id="273413" name="Rectangle 5"/>
          <p:cNvSpPr>
            <a:spLocks noChangeArrowheads="1"/>
          </p:cNvSpPr>
          <p:nvPr/>
        </p:nvSpPr>
        <p:spPr bwMode="auto">
          <a:xfrm>
            <a:off x="1662114" y="3542554"/>
            <a:ext cx="8867775" cy="955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5750" indent="-285750">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90000"/>
              </a:lnSpc>
              <a:spcBef>
                <a:spcPct val="30000"/>
              </a:spcBef>
              <a:buSzPct val="85000"/>
              <a:buFontTx/>
              <a:buChar char="•"/>
            </a:pPr>
            <a:r>
              <a:rPr lang="en-US" altLang="en-US" sz="2800" b="0" dirty="0">
                <a:solidFill>
                  <a:schemeClr val="tx1"/>
                </a:solidFill>
                <a:latin typeface="Gill Sans MT" panose="020B0502020104020203" pitchFamily="34" charset="0"/>
              </a:rPr>
              <a:t>Number of  tests is the number of blocks in the </a:t>
            </a:r>
            <a:r>
              <a:rPr lang="en-US" altLang="en-US" sz="2800" b="0" dirty="0">
                <a:solidFill>
                  <a:schemeClr val="tx2"/>
                </a:solidFill>
                <a:latin typeface="Gill Sans MT" panose="020B0502020104020203" pitchFamily="34" charset="0"/>
              </a:rPr>
              <a:t>largest</a:t>
            </a:r>
            <a:r>
              <a:rPr lang="en-US" altLang="en-US" sz="2800" b="0" dirty="0">
                <a:solidFill>
                  <a:schemeClr val="tx1"/>
                </a:solidFill>
                <a:latin typeface="Gill Sans MT" panose="020B0502020104020203" pitchFamily="34" charset="0"/>
              </a:rPr>
              <a:t> characteristic :</a:t>
            </a:r>
            <a:endParaRPr lang="en-US" altLang="en-US" sz="2800" b="0" dirty="0">
              <a:solidFill>
                <a:schemeClr val="tx1"/>
              </a:solidFill>
              <a:latin typeface="Gill Sans MT" panose="020B0502020104020203" pitchFamily="34" charset="0"/>
              <a:sym typeface="Symbol" pitchFamily="18" charset="2"/>
            </a:endParaRPr>
          </a:p>
        </p:txBody>
      </p:sp>
      <p:grpSp>
        <p:nvGrpSpPr>
          <p:cNvPr id="2" name="Group 11"/>
          <p:cNvGrpSpPr>
            <a:grpSpLocks/>
          </p:cNvGrpSpPr>
          <p:nvPr/>
        </p:nvGrpSpPr>
        <p:grpSpPr bwMode="auto">
          <a:xfrm>
            <a:off x="4138079" y="3830638"/>
            <a:ext cx="1990725" cy="709612"/>
            <a:chOff x="986" y="2443"/>
            <a:chExt cx="1254" cy="447"/>
          </a:xfrm>
        </p:grpSpPr>
        <p:sp>
          <p:nvSpPr>
            <p:cNvPr id="25611" name="Text Box 7"/>
            <p:cNvSpPr txBox="1">
              <a:spLocks noChangeArrowheads="1"/>
            </p:cNvSpPr>
            <p:nvPr/>
          </p:nvSpPr>
          <p:spPr bwMode="auto">
            <a:xfrm>
              <a:off x="986" y="2464"/>
              <a:ext cx="691"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3600" dirty="0">
                  <a:solidFill>
                    <a:schemeClr val="tx2"/>
                  </a:solidFill>
                  <a:sym typeface="Symbol" pitchFamily="18" charset="2"/>
                </a:rPr>
                <a:t>Max</a:t>
              </a:r>
              <a:endParaRPr lang="en-US" altLang="en-US" sz="2400" baseline="-25000" dirty="0">
                <a:solidFill>
                  <a:schemeClr val="tx2"/>
                </a:solidFill>
                <a:sym typeface="Symbol" pitchFamily="18" charset="2"/>
              </a:endParaRPr>
            </a:p>
          </p:txBody>
        </p:sp>
        <p:sp>
          <p:nvSpPr>
            <p:cNvPr id="25612" name="Text Box 8"/>
            <p:cNvSpPr txBox="1">
              <a:spLocks noChangeArrowheads="1"/>
            </p:cNvSpPr>
            <p:nvPr/>
          </p:nvSpPr>
          <p:spPr bwMode="auto">
            <a:xfrm>
              <a:off x="1572" y="2443"/>
              <a:ext cx="2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a:t>Q</a:t>
              </a:r>
            </a:p>
          </p:txBody>
        </p:sp>
        <p:sp>
          <p:nvSpPr>
            <p:cNvPr id="25613" name="Text Box 9"/>
            <p:cNvSpPr txBox="1">
              <a:spLocks noChangeArrowheads="1"/>
            </p:cNvSpPr>
            <p:nvPr/>
          </p:nvSpPr>
          <p:spPr bwMode="auto">
            <a:xfrm>
              <a:off x="1566" y="2640"/>
              <a:ext cx="3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dirty="0" err="1"/>
                <a:t>i</a:t>
              </a:r>
              <a:r>
                <a:rPr lang="en-US" altLang="en-US" dirty="0"/>
                <a:t>=1</a:t>
              </a:r>
            </a:p>
          </p:txBody>
        </p:sp>
        <p:sp>
          <p:nvSpPr>
            <p:cNvPr id="25614" name="Text Box 10"/>
            <p:cNvSpPr txBox="1">
              <a:spLocks noChangeArrowheads="1"/>
            </p:cNvSpPr>
            <p:nvPr/>
          </p:nvSpPr>
          <p:spPr bwMode="auto">
            <a:xfrm>
              <a:off x="1778" y="2522"/>
              <a:ext cx="4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2400"/>
                <a:t>(B</a:t>
              </a:r>
              <a:r>
                <a:rPr lang="en-US" altLang="en-US" sz="2400" baseline="-25000"/>
                <a:t>i</a:t>
              </a:r>
              <a:r>
                <a:rPr lang="en-US" altLang="en-US" sz="2400"/>
                <a:t>)</a:t>
              </a:r>
            </a:p>
          </p:txBody>
        </p:sp>
      </p:grpSp>
      <p:sp>
        <p:nvSpPr>
          <p:cNvPr id="273420" name="Text Box 12"/>
          <p:cNvSpPr txBox="1">
            <a:spLocks noChangeArrowheads="1"/>
          </p:cNvSpPr>
          <p:nvPr/>
        </p:nvSpPr>
        <p:spPr bwMode="auto">
          <a:xfrm>
            <a:off x="2178766" y="4535654"/>
            <a:ext cx="3583324" cy="2031325"/>
          </a:xfrm>
          <a:prstGeom prst="rect">
            <a:avLst/>
          </a:prstGeom>
          <a:solidFill>
            <a:srgbClr val="0000FF"/>
          </a:solidFill>
          <a:ln w="19050">
            <a:solidFill>
              <a:schemeClr val="tx2"/>
            </a:solidFill>
            <a:miter lim="800000"/>
            <a:headEnd type="none" w="sm" len="sm"/>
            <a:tailEnd type="none" w="sm" len="sm"/>
          </a:ln>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75000"/>
              </a:lnSpc>
              <a:spcBef>
                <a:spcPct val="50000"/>
              </a:spcBef>
            </a:pPr>
            <a:r>
              <a:rPr lang="en-US" altLang="en-US" sz="2800" b="0" dirty="0">
                <a:latin typeface="Gill Sans MT" panose="020B0502020104020203" pitchFamily="34" charset="0"/>
              </a:rPr>
              <a:t>For </a:t>
            </a:r>
            <a:r>
              <a:rPr lang="en-US" altLang="en-US" sz="2800" b="0" i="1" dirty="0" err="1">
                <a:latin typeface="Gill Sans MT" panose="020B0502020104020203" pitchFamily="34" charset="0"/>
              </a:rPr>
              <a:t>triang</a:t>
            </a:r>
            <a:r>
              <a:rPr lang="en-US" altLang="en-US" sz="2800" b="0" dirty="0">
                <a:latin typeface="Gill Sans MT" panose="020B0502020104020203" pitchFamily="34" charset="0"/>
              </a:rPr>
              <a:t>() : A1, B1, C1</a:t>
            </a:r>
          </a:p>
          <a:p>
            <a:pPr>
              <a:lnSpc>
                <a:spcPct val="75000"/>
              </a:lnSpc>
              <a:spcBef>
                <a:spcPct val="50000"/>
              </a:spcBef>
            </a:pPr>
            <a:r>
              <a:rPr lang="en-US" altLang="en-US" sz="2800" b="0" dirty="0">
                <a:latin typeface="Gill Sans MT" panose="020B0502020104020203" pitchFamily="34" charset="0"/>
              </a:rPr>
              <a:t>                   A2, B2</a:t>
            </a:r>
            <a:r>
              <a:rPr lang="en-US" altLang="en-US" sz="2800" b="0">
                <a:latin typeface="Gill Sans MT" panose="020B0502020104020203" pitchFamily="34" charset="0"/>
              </a:rPr>
              <a:t>, C2</a:t>
            </a:r>
            <a:endParaRPr lang="en-US" altLang="en-US" sz="2800" b="0" dirty="0">
              <a:latin typeface="Gill Sans MT" panose="020B0502020104020203" pitchFamily="34" charset="0"/>
            </a:endParaRPr>
          </a:p>
          <a:p>
            <a:pPr>
              <a:lnSpc>
                <a:spcPct val="75000"/>
              </a:lnSpc>
              <a:spcBef>
                <a:spcPct val="50000"/>
              </a:spcBef>
            </a:pPr>
            <a:r>
              <a:rPr lang="en-US" altLang="en-US" sz="2800" b="0" dirty="0">
                <a:latin typeface="Gill Sans MT" panose="020B0502020104020203" pitchFamily="34" charset="0"/>
              </a:rPr>
              <a:t>                   A3, B3, C3</a:t>
            </a:r>
          </a:p>
          <a:p>
            <a:pPr>
              <a:lnSpc>
                <a:spcPct val="75000"/>
              </a:lnSpc>
              <a:spcBef>
                <a:spcPct val="50000"/>
              </a:spcBef>
            </a:pPr>
            <a:r>
              <a:rPr lang="en-US" altLang="en-US" sz="2800" b="0" dirty="0">
                <a:latin typeface="Gill Sans MT" panose="020B0502020104020203" pitchFamily="34" charset="0"/>
              </a:rPr>
              <a:t>                   A4, B4, C4</a:t>
            </a:r>
          </a:p>
        </p:txBody>
      </p:sp>
      <p:sp>
        <p:nvSpPr>
          <p:cNvPr id="15" name="Text Box 12"/>
          <p:cNvSpPr txBox="1">
            <a:spLocks noChangeArrowheads="1"/>
          </p:cNvSpPr>
          <p:nvPr/>
        </p:nvSpPr>
        <p:spPr bwMode="auto">
          <a:xfrm>
            <a:off x="5929740" y="4535654"/>
            <a:ext cx="4220900" cy="2031325"/>
          </a:xfrm>
          <a:prstGeom prst="rect">
            <a:avLst/>
          </a:prstGeom>
          <a:solidFill>
            <a:srgbClr val="0000FF"/>
          </a:solidFill>
          <a:ln w="19050">
            <a:solidFill>
              <a:schemeClr val="tx2"/>
            </a:solidFill>
            <a:miter lim="800000"/>
            <a:headEnd type="none" w="sm" len="sm"/>
            <a:tailEnd type="none" w="sm" len="sm"/>
          </a:ln>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75000"/>
              </a:lnSpc>
              <a:spcBef>
                <a:spcPct val="50000"/>
              </a:spcBef>
            </a:pPr>
            <a:r>
              <a:rPr lang="en-US" altLang="en-US" sz="2800" b="0" dirty="0">
                <a:latin typeface="Gill Sans MT" panose="020B0502020104020203" pitchFamily="34" charset="0"/>
              </a:rPr>
              <a:t>Substituting values:  2, 2, 2</a:t>
            </a:r>
          </a:p>
          <a:p>
            <a:pPr>
              <a:lnSpc>
                <a:spcPct val="75000"/>
              </a:lnSpc>
              <a:spcBef>
                <a:spcPct val="50000"/>
              </a:spcBef>
            </a:pPr>
            <a:r>
              <a:rPr lang="en-US" altLang="en-US" sz="2800" b="0" dirty="0">
                <a:latin typeface="Gill Sans MT" panose="020B0502020104020203" pitchFamily="34" charset="0"/>
              </a:rPr>
              <a:t>                             1, 1, 1</a:t>
            </a:r>
          </a:p>
          <a:p>
            <a:pPr>
              <a:lnSpc>
                <a:spcPct val="75000"/>
              </a:lnSpc>
              <a:spcBef>
                <a:spcPct val="50000"/>
              </a:spcBef>
            </a:pPr>
            <a:r>
              <a:rPr lang="en-US" altLang="en-US" sz="2800" b="0" dirty="0">
                <a:latin typeface="Gill Sans MT" panose="020B0502020104020203" pitchFamily="34" charset="0"/>
              </a:rPr>
              <a:t>                              0, 0, 0</a:t>
            </a:r>
          </a:p>
          <a:p>
            <a:pPr>
              <a:lnSpc>
                <a:spcPct val="75000"/>
              </a:lnSpc>
              <a:spcBef>
                <a:spcPct val="50000"/>
              </a:spcBef>
            </a:pPr>
            <a:r>
              <a:rPr lang="en-US" altLang="en-US" sz="2800" b="0" dirty="0">
                <a:latin typeface="Gill Sans MT" panose="020B0502020104020203" pitchFamily="34" charset="0"/>
              </a:rPr>
              <a:t>                             -1, -1, -1</a:t>
            </a:r>
          </a:p>
        </p:txBody>
      </p:sp>
    </p:spTree>
    <p:extLst>
      <p:ext uri="{BB962C8B-B14F-4D97-AF65-F5344CB8AC3E}">
        <p14:creationId xmlns:p14="http://schemas.microsoft.com/office/powerpoint/2010/main" val="397906633"/>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3412"/>
                                        </p:tgtEl>
                                        <p:attrNameLst>
                                          <p:attrName>style.visibility</p:attrName>
                                        </p:attrNameLst>
                                      </p:cBhvr>
                                      <p:to>
                                        <p:strVal val="visible"/>
                                      </p:to>
                                    </p:set>
                                    <p:animEffect transition="in" filter="dissolve">
                                      <p:cBhvr>
                                        <p:cTn id="7" dur="500"/>
                                        <p:tgtEl>
                                          <p:spTgt spid="2734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3413"/>
                                        </p:tgtEl>
                                        <p:attrNameLst>
                                          <p:attrName>style.visibility</p:attrName>
                                        </p:attrNameLst>
                                      </p:cBhvr>
                                      <p:to>
                                        <p:strVal val="visible"/>
                                      </p:to>
                                    </p:set>
                                    <p:animEffect transition="in" filter="wipe(left)">
                                      <p:cBhvr>
                                        <p:cTn id="12" dur="1000"/>
                                        <p:tgtEl>
                                          <p:spTgt spid="273413"/>
                                        </p:tgtEl>
                                      </p:cBhvr>
                                    </p:animEffect>
                                  </p:childTnLst>
                                </p:cTn>
                              </p:par>
                            </p:childTnLst>
                          </p:cTn>
                        </p:par>
                        <p:par>
                          <p:cTn id="13" fill="hold" nodeType="withGroup">
                            <p:stCondLst>
                              <p:cond delay="1000"/>
                            </p:stCondLst>
                            <p:childTnLst>
                              <p:par>
                                <p:cTn id="14" presetID="9"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dissolve">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73420"/>
                                        </p:tgtEl>
                                        <p:attrNameLst>
                                          <p:attrName>style.visibility</p:attrName>
                                        </p:attrNameLst>
                                      </p:cBhvr>
                                      <p:to>
                                        <p:strVal val="visible"/>
                                      </p:to>
                                    </p:set>
                                    <p:animEffect transition="in" filter="dissolve">
                                      <p:cBhvr>
                                        <p:cTn id="21" dur="500"/>
                                        <p:tgtEl>
                                          <p:spTgt spid="273420"/>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dissolve">
                                      <p:cBhvr>
                                        <p:cTn id="2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2" grpId="0" animBg="1" autoUpdateAnimBg="0"/>
      <p:bldP spid="273413" grpId="0"/>
      <p:bldP spid="273420" grpId="0" animBg="1"/>
      <p:bldP spid="1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p>
        </p:txBody>
      </p:sp>
      <p:sp>
        <p:nvSpPr>
          <p:cNvPr id="4" name="Date Placeholder 3"/>
          <p:cNvSpPr>
            <a:spLocks noGrp="1"/>
          </p:cNvSpPr>
          <p:nvPr>
            <p:ph type="dt" sz="half" idx="10"/>
          </p:nvPr>
        </p:nvSpPr>
        <p:spPr/>
        <p:txBody>
          <a:bodyPr/>
          <a:lstStyle/>
          <a:p>
            <a:pPr>
              <a:defRPr/>
            </a:pPr>
            <a:r>
              <a:rPr lang="en-US">
                <a:solidFill>
                  <a:srgbClr val="FFFFFF"/>
                </a:solidFill>
              </a:rPr>
              <a:t>Introduction to Software Testing, Edition 2  (Ch 6)</a:t>
            </a:r>
            <a:endParaRPr lang="en-US" dirty="0">
              <a:solidFill>
                <a:srgbClr val="FFFFFF"/>
              </a:solidFill>
            </a:endParaRPr>
          </a:p>
        </p:txBody>
      </p:sp>
      <p:sp>
        <p:nvSpPr>
          <p:cNvPr id="5" name="Footer Placeholder 4"/>
          <p:cNvSpPr>
            <a:spLocks noGrp="1"/>
          </p:cNvSpPr>
          <p:nvPr>
            <p:ph type="ftr" sz="quarter" idx="11"/>
          </p:nvPr>
        </p:nvSpPr>
        <p:spPr/>
        <p:txBody>
          <a:bodyPr/>
          <a:lstStyle/>
          <a:p>
            <a:pPr>
              <a:defRPr/>
            </a:pPr>
            <a:r>
              <a:rPr lang="en-US">
                <a:solidFill>
                  <a:srgbClr val="FFFFFF"/>
                </a:solidFill>
              </a:rPr>
              <a:t>© Ammann &amp; Offutt</a:t>
            </a:r>
          </a:p>
        </p:txBody>
      </p:sp>
      <p:sp>
        <p:nvSpPr>
          <p:cNvPr id="6" name="Slide Number Placeholder 5"/>
          <p:cNvSpPr>
            <a:spLocks noGrp="1"/>
          </p:cNvSpPr>
          <p:nvPr>
            <p:ph type="sldNum" sz="quarter" idx="12"/>
          </p:nvPr>
        </p:nvSpPr>
        <p:spPr/>
        <p:txBody>
          <a:bodyPr/>
          <a:lstStyle/>
          <a:p>
            <a:pPr>
              <a:defRPr/>
            </a:pPr>
            <a:fld id="{FE742154-05E0-4FD4-B04E-B92FD3670A3A}" type="slidenum">
              <a:rPr lang="en-US">
                <a:solidFill>
                  <a:srgbClr val="FFFFFF"/>
                </a:solidFill>
              </a:rPr>
              <a:pPr>
                <a:defRPr/>
              </a:pPr>
              <a:t>33</a:t>
            </a:fld>
            <a:endParaRPr lang="en-US">
              <a:solidFill>
                <a:srgbClr val="FFFFFF"/>
              </a:solidFill>
            </a:endParaRPr>
          </a:p>
        </p:txBody>
      </p:sp>
      <p:sp>
        <p:nvSpPr>
          <p:cNvPr id="7" name="TextBox 6"/>
          <p:cNvSpPr txBox="1"/>
          <p:nvPr/>
        </p:nvSpPr>
        <p:spPr>
          <a:xfrm>
            <a:off x="3115189" y="1857393"/>
            <a:ext cx="5970389" cy="523220"/>
          </a:xfrm>
          <a:prstGeom prst="rect">
            <a:avLst/>
          </a:prstGeom>
          <a:solidFill>
            <a:schemeClr val="bg1">
              <a:lumMod val="40000"/>
              <a:lumOff val="60000"/>
            </a:schemeClr>
          </a:solidFill>
        </p:spPr>
        <p:txBody>
          <a:bodyPr wrap="square" rtlCol="0">
            <a:spAutoFit/>
          </a:bodyPr>
          <a:lstStyle/>
          <a:p>
            <a:pPr lvl="0" algn="ctr"/>
            <a:r>
              <a:rPr lang="en-US" sz="2800" b="0" dirty="0">
                <a:solidFill>
                  <a:srgbClr val="FFFFFF"/>
                </a:solidFill>
                <a:latin typeface="Calibri" panose="020F0502020204030204" pitchFamily="34" charset="0"/>
                <a:cs typeface="Calibri" panose="020F0502020204030204" pitchFamily="34" charset="0"/>
              </a:rPr>
              <a:t>Apply ECC to our previous example</a:t>
            </a:r>
          </a:p>
        </p:txBody>
      </p:sp>
      <p:sp>
        <p:nvSpPr>
          <p:cNvPr id="9" name="TextBox 8"/>
          <p:cNvSpPr txBox="1"/>
          <p:nvPr/>
        </p:nvSpPr>
        <p:spPr>
          <a:xfrm>
            <a:off x="2905840" y="4385791"/>
            <a:ext cx="6389084" cy="954107"/>
          </a:xfrm>
          <a:prstGeom prst="rect">
            <a:avLst/>
          </a:prstGeom>
          <a:solidFill>
            <a:schemeClr val="bg1">
              <a:lumMod val="40000"/>
              <a:lumOff val="60000"/>
            </a:schemeClr>
          </a:solidFill>
        </p:spPr>
        <p:txBody>
          <a:bodyPr wrap="square" rtlCol="0">
            <a:spAutoFit/>
          </a:bodyPr>
          <a:lstStyle/>
          <a:p>
            <a:pPr marL="514350" indent="-514350">
              <a:buFont typeface="+mj-lt"/>
              <a:buAutoNum type="arabicPeriod"/>
              <a:defRPr/>
            </a:pPr>
            <a:r>
              <a:rPr lang="en-US" sz="2800" b="0" dirty="0">
                <a:solidFill>
                  <a:srgbClr val="FFFFFF"/>
                </a:solidFill>
                <a:latin typeface="Calibri" panose="020F0502020204030204" pitchFamily="34" charset="0"/>
                <a:cs typeface="Calibri" panose="020F0502020204030204" pitchFamily="34" charset="0"/>
              </a:rPr>
              <a:t>How many tests are needed for ECC?</a:t>
            </a:r>
          </a:p>
          <a:p>
            <a:pPr marL="514350" indent="-514350">
              <a:buFont typeface="+mj-lt"/>
              <a:buAutoNum type="arabicPeriod"/>
              <a:defRPr/>
            </a:pPr>
            <a:r>
              <a:rPr lang="en-US" sz="2800" b="0" dirty="0">
                <a:solidFill>
                  <a:srgbClr val="FFFFFF"/>
                </a:solidFill>
                <a:latin typeface="Calibri" panose="020F0502020204030204" pitchFamily="34" charset="0"/>
                <a:cs typeface="Calibri" panose="020F0502020204030204" pitchFamily="34" charset="0"/>
              </a:rPr>
              <a:t>Design the (abstract) tests</a:t>
            </a:r>
          </a:p>
        </p:txBody>
      </p:sp>
      <p:sp>
        <p:nvSpPr>
          <p:cNvPr id="10" name="TextBox 9"/>
          <p:cNvSpPr txBox="1"/>
          <p:nvPr/>
        </p:nvSpPr>
        <p:spPr>
          <a:xfrm>
            <a:off x="3195175" y="962528"/>
            <a:ext cx="5810414" cy="584775"/>
          </a:xfrm>
          <a:prstGeom prst="rect">
            <a:avLst/>
          </a:prstGeom>
          <a:solidFill>
            <a:schemeClr val="bg1">
              <a:lumMod val="40000"/>
              <a:lumOff val="60000"/>
            </a:schemeClr>
          </a:solidFill>
        </p:spPr>
        <p:txBody>
          <a:bodyPr wrap="square" rtlCol="0">
            <a:spAutoFit/>
          </a:bodyPr>
          <a:lstStyle/>
          <a:p>
            <a:pPr algn="ctr">
              <a:defRPr/>
            </a:pPr>
            <a:r>
              <a:rPr lang="en-US" sz="3200" b="0" dirty="0">
                <a:solidFill>
                  <a:srgbClr val="FFFFFF"/>
                </a:solidFill>
                <a:latin typeface="Calibri" panose="020F0502020204030204" pitchFamily="34" charset="0"/>
                <a:cs typeface="Calibri" panose="020F0502020204030204" pitchFamily="34" charset="0"/>
              </a:rPr>
              <a:t>Each choice criterion (ECC)</a:t>
            </a:r>
          </a:p>
        </p:txBody>
      </p:sp>
      <p:sp>
        <p:nvSpPr>
          <p:cNvPr id="12" name="TextBox 11"/>
          <p:cNvSpPr txBox="1"/>
          <p:nvPr/>
        </p:nvSpPr>
        <p:spPr>
          <a:xfrm>
            <a:off x="2484781" y="2683723"/>
            <a:ext cx="7231205" cy="1384995"/>
          </a:xfrm>
          <a:prstGeom prst="rect">
            <a:avLst/>
          </a:prstGeom>
          <a:solidFill>
            <a:schemeClr val="bg1">
              <a:lumMod val="40000"/>
              <a:lumOff val="60000"/>
            </a:schemeClr>
          </a:solidFill>
        </p:spPr>
        <p:txBody>
          <a:bodyPr wrap="square" rtlCol="0">
            <a:spAutoFit/>
          </a:bodyPr>
          <a:lstStyle/>
          <a:p>
            <a:pPr lvl="0"/>
            <a:r>
              <a:rPr lang="en-US" sz="2800" b="0" dirty="0">
                <a:solidFill>
                  <a:srgbClr val="FFFFFF"/>
                </a:solidFill>
                <a:latin typeface="Calibri" panose="020F0502020204030204" pitchFamily="34" charset="0"/>
                <a:cs typeface="Calibri" panose="020F0502020204030204" pitchFamily="34" charset="0"/>
              </a:rPr>
              <a:t>4 Characteristics:  A, B, C, D</a:t>
            </a:r>
          </a:p>
          <a:p>
            <a:pPr lvl="0"/>
            <a:r>
              <a:rPr lang="en-US" sz="2800" b="0" dirty="0">
                <a:solidFill>
                  <a:srgbClr val="FFFFFF"/>
                </a:solidFill>
                <a:latin typeface="Calibri" panose="020F0502020204030204" pitchFamily="34" charset="0"/>
                <a:cs typeface="Calibri" panose="020F0502020204030204" pitchFamily="34" charset="0"/>
              </a:rPr>
              <a:t>Abstract blocks: A = [a1, a2]; B = [b1, b2];</a:t>
            </a:r>
          </a:p>
          <a:p>
            <a:pPr lvl="0"/>
            <a:r>
              <a:rPr lang="en-US" sz="2800" b="0" dirty="0">
                <a:solidFill>
                  <a:srgbClr val="FFFFFF"/>
                </a:solidFill>
                <a:latin typeface="Calibri" panose="020F0502020204030204" pitchFamily="34" charset="0"/>
                <a:cs typeface="Calibri" panose="020F0502020204030204" pitchFamily="34" charset="0"/>
              </a:rPr>
              <a:t>		       C = [c1, c2, c3]; D = [d1, d2]</a:t>
            </a:r>
          </a:p>
        </p:txBody>
      </p:sp>
    </p:spTree>
    <p:extLst>
      <p:ext uri="{BB962C8B-B14F-4D97-AF65-F5344CB8AC3E}">
        <p14:creationId xmlns:p14="http://schemas.microsoft.com/office/powerpoint/2010/main" val="420539539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2000"/>
                                        <p:tgtEl>
                                          <p:spTgt spid="7"/>
                                        </p:tgtEl>
                                      </p:cBhvr>
                                    </p:animEffect>
                                  </p:childTnLst>
                                </p:cTn>
                              </p:par>
                            </p:childTnLst>
                          </p:cTn>
                        </p:par>
                        <p:par>
                          <p:cTn id="12" fill="hold">
                            <p:stCondLst>
                              <p:cond delay="4000"/>
                            </p:stCondLst>
                            <p:childTnLst>
                              <p:par>
                                <p:cTn id="13" presetID="10"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2000"/>
                                        <p:tgtEl>
                                          <p:spTgt spid="12"/>
                                        </p:tgtEl>
                                      </p:cBhvr>
                                    </p:animEffect>
                                  </p:childTnLst>
                                </p:cTn>
                              </p:par>
                            </p:childTnLst>
                          </p:cTn>
                        </p:par>
                        <p:par>
                          <p:cTn id="16" fill="hold">
                            <p:stCondLst>
                              <p:cond delay="600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 (</a:t>
            </a:r>
            <a:r>
              <a:rPr lang="en-US" i="1" dirty="0"/>
              <a:t>answer</a:t>
            </a:r>
            <a:r>
              <a:rPr lang="en-US" dirty="0"/>
              <a:t>)</a:t>
            </a:r>
          </a:p>
        </p:txBody>
      </p:sp>
      <p:sp>
        <p:nvSpPr>
          <p:cNvPr id="4" name="Date Placeholder 3"/>
          <p:cNvSpPr>
            <a:spLocks noGrp="1"/>
          </p:cNvSpPr>
          <p:nvPr>
            <p:ph type="dt" sz="half" idx="10"/>
          </p:nvPr>
        </p:nvSpPr>
        <p:spPr/>
        <p:txBody>
          <a:bodyPr/>
          <a:lstStyle/>
          <a:p>
            <a:pPr>
              <a:defRPr/>
            </a:pPr>
            <a:r>
              <a:rPr lang="en-US">
                <a:solidFill>
                  <a:srgbClr val="FFFFFF"/>
                </a:solidFill>
              </a:rPr>
              <a:t>Introduction to Software Testing, Edition 2  (Ch 6)</a:t>
            </a:r>
            <a:endParaRPr lang="en-US" dirty="0">
              <a:solidFill>
                <a:srgbClr val="FFFFFF"/>
              </a:solidFill>
            </a:endParaRPr>
          </a:p>
        </p:txBody>
      </p:sp>
      <p:sp>
        <p:nvSpPr>
          <p:cNvPr id="5" name="Footer Placeholder 4"/>
          <p:cNvSpPr>
            <a:spLocks noGrp="1"/>
          </p:cNvSpPr>
          <p:nvPr>
            <p:ph type="ftr" sz="quarter" idx="11"/>
          </p:nvPr>
        </p:nvSpPr>
        <p:spPr/>
        <p:txBody>
          <a:bodyPr/>
          <a:lstStyle/>
          <a:p>
            <a:pPr>
              <a:defRPr/>
            </a:pPr>
            <a:r>
              <a:rPr lang="en-US">
                <a:solidFill>
                  <a:srgbClr val="FFFFFF"/>
                </a:solidFill>
              </a:rPr>
              <a:t>© Ammann &amp; Offutt</a:t>
            </a:r>
          </a:p>
        </p:txBody>
      </p:sp>
      <p:sp>
        <p:nvSpPr>
          <p:cNvPr id="6" name="Slide Number Placeholder 5"/>
          <p:cNvSpPr>
            <a:spLocks noGrp="1"/>
          </p:cNvSpPr>
          <p:nvPr>
            <p:ph type="sldNum" sz="quarter" idx="12"/>
          </p:nvPr>
        </p:nvSpPr>
        <p:spPr/>
        <p:txBody>
          <a:bodyPr/>
          <a:lstStyle/>
          <a:p>
            <a:pPr>
              <a:defRPr/>
            </a:pPr>
            <a:fld id="{FE742154-05E0-4FD4-B04E-B92FD3670A3A}" type="slidenum">
              <a:rPr lang="en-US">
                <a:solidFill>
                  <a:srgbClr val="FFFFFF"/>
                </a:solidFill>
              </a:rPr>
              <a:pPr>
                <a:defRPr/>
              </a:pPr>
              <a:t>34</a:t>
            </a:fld>
            <a:endParaRPr lang="en-US">
              <a:solidFill>
                <a:srgbClr val="FFFFFF"/>
              </a:solidFill>
            </a:endParaRPr>
          </a:p>
        </p:txBody>
      </p:sp>
      <p:sp>
        <p:nvSpPr>
          <p:cNvPr id="8" name="TextBox 7"/>
          <p:cNvSpPr txBox="1"/>
          <p:nvPr/>
        </p:nvSpPr>
        <p:spPr>
          <a:xfrm>
            <a:off x="2484781" y="1619177"/>
            <a:ext cx="7231205" cy="1384995"/>
          </a:xfrm>
          <a:prstGeom prst="rect">
            <a:avLst/>
          </a:prstGeom>
          <a:solidFill>
            <a:schemeClr val="bg1">
              <a:lumMod val="40000"/>
              <a:lumOff val="60000"/>
            </a:schemeClr>
          </a:solidFill>
        </p:spPr>
        <p:txBody>
          <a:bodyPr wrap="square" rtlCol="0">
            <a:spAutoFit/>
          </a:bodyPr>
          <a:lstStyle/>
          <a:p>
            <a:pPr>
              <a:defRPr/>
            </a:pPr>
            <a:r>
              <a:rPr lang="en-US" sz="2800" b="0" dirty="0">
                <a:solidFill>
                  <a:srgbClr val="FFFFFF"/>
                </a:solidFill>
                <a:latin typeface="Calibri" panose="020F0502020204030204" pitchFamily="34" charset="0"/>
                <a:cs typeface="Calibri" panose="020F0502020204030204" pitchFamily="34" charset="0"/>
              </a:rPr>
              <a:t>4 Characteristics:  A, B, C, D</a:t>
            </a:r>
          </a:p>
          <a:p>
            <a:pPr>
              <a:defRPr/>
            </a:pPr>
            <a:r>
              <a:rPr lang="en-US" sz="2800" b="0" dirty="0">
                <a:solidFill>
                  <a:srgbClr val="FFFFFF"/>
                </a:solidFill>
                <a:latin typeface="Calibri" panose="020F0502020204030204" pitchFamily="34" charset="0"/>
                <a:cs typeface="Calibri" panose="020F0502020204030204" pitchFamily="34" charset="0"/>
              </a:rPr>
              <a:t>Abstract blocks: A = [a1, a2]; B = [b1, b2];</a:t>
            </a:r>
          </a:p>
          <a:p>
            <a:pPr>
              <a:defRPr/>
            </a:pPr>
            <a:r>
              <a:rPr lang="en-US" sz="2800" b="0" dirty="0">
                <a:solidFill>
                  <a:srgbClr val="FFFFFF"/>
                </a:solidFill>
                <a:latin typeface="Calibri" panose="020F0502020204030204" pitchFamily="34" charset="0"/>
                <a:cs typeface="Calibri" panose="020F0502020204030204" pitchFamily="34" charset="0"/>
              </a:rPr>
              <a:t>		       C = [c1, c2, c3]; D = [d1, d2]</a:t>
            </a:r>
          </a:p>
        </p:txBody>
      </p:sp>
      <p:sp>
        <p:nvSpPr>
          <p:cNvPr id="10" name="TextBox 9"/>
          <p:cNvSpPr txBox="1"/>
          <p:nvPr/>
        </p:nvSpPr>
        <p:spPr>
          <a:xfrm>
            <a:off x="3735854" y="888386"/>
            <a:ext cx="4738389" cy="584775"/>
          </a:xfrm>
          <a:prstGeom prst="rect">
            <a:avLst/>
          </a:prstGeom>
          <a:solidFill>
            <a:schemeClr val="bg1">
              <a:lumMod val="40000"/>
              <a:lumOff val="60000"/>
            </a:schemeClr>
          </a:solidFill>
        </p:spPr>
        <p:txBody>
          <a:bodyPr wrap="square" rtlCol="0">
            <a:spAutoFit/>
          </a:bodyPr>
          <a:lstStyle/>
          <a:p>
            <a:pPr lvl="0" algn="ctr">
              <a:defRPr/>
            </a:pPr>
            <a:r>
              <a:rPr lang="en-US" sz="3200" b="0" dirty="0">
                <a:solidFill>
                  <a:srgbClr val="FFFFFF"/>
                </a:solidFill>
                <a:latin typeface="Calibri" panose="020F0502020204030204" pitchFamily="34" charset="0"/>
                <a:cs typeface="Calibri" panose="020F0502020204030204" pitchFamily="34" charset="0"/>
              </a:rPr>
              <a:t>Each choice criterion (ECC)</a:t>
            </a:r>
          </a:p>
        </p:txBody>
      </p:sp>
      <p:sp>
        <p:nvSpPr>
          <p:cNvPr id="11" name="Rounded Rectangle 10"/>
          <p:cNvSpPr/>
          <p:nvPr/>
        </p:nvSpPr>
        <p:spPr bwMode="auto">
          <a:xfrm>
            <a:off x="3711140" y="3960221"/>
            <a:ext cx="4786447" cy="576341"/>
          </a:xfrm>
          <a:prstGeom prst="roundRect">
            <a:avLst/>
          </a:prstGeom>
          <a:solidFill>
            <a:srgbClr val="008000"/>
          </a:solidFill>
          <a:ln w="28575" cap="flat" cmpd="sng" algn="ctr">
            <a:solidFill>
              <a:srgbClr val="FF99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lgn="ctr">
              <a:defRPr/>
            </a:pPr>
            <a:r>
              <a:rPr lang="en-US" b="0" dirty="0">
                <a:solidFill>
                  <a:srgbClr val="FFFFFF"/>
                </a:solidFill>
                <a:latin typeface="Verdana" panose="020B0604030504040204" pitchFamily="34" charset="0"/>
                <a:ea typeface="Verdana" panose="020B0604030504040204" pitchFamily="34" charset="0"/>
                <a:cs typeface="Verdana" panose="020B0604030504040204" pitchFamily="34" charset="0"/>
              </a:rPr>
              <a:t>Number of tests: max(2,2,3,2) = 3</a:t>
            </a:r>
          </a:p>
        </p:txBody>
      </p:sp>
      <p:graphicFrame>
        <p:nvGraphicFramePr>
          <p:cNvPr id="12" name="Table 11"/>
          <p:cNvGraphicFramePr>
            <a:graphicFrameLocks noGrp="1"/>
          </p:cNvGraphicFramePr>
          <p:nvPr/>
        </p:nvGraphicFramePr>
        <p:xfrm>
          <a:off x="5009253" y="4861086"/>
          <a:ext cx="2165522" cy="1371600"/>
        </p:xfrm>
        <a:graphic>
          <a:graphicData uri="http://schemas.openxmlformats.org/drawingml/2006/table">
            <a:tbl>
              <a:tblPr firstRow="1" bandRow="1">
                <a:tableStyleId>{16D9F66E-5EB9-4882-86FB-DCBF35E3C3E4}</a:tableStyleId>
              </a:tblPr>
              <a:tblGrid>
                <a:gridCol w="2165522">
                  <a:extLst>
                    <a:ext uri="{9D8B030D-6E8A-4147-A177-3AD203B41FA5}">
                      <a16:colId xmlns:a16="http://schemas.microsoft.com/office/drawing/2014/main" val="3264710210"/>
                    </a:ext>
                  </a:extLst>
                </a:gridCol>
              </a:tblGrid>
              <a:tr h="370840">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a1 b1 c1 d1</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extLst>
                  <a:ext uri="{0D108BD9-81ED-4DB2-BD59-A6C34878D82A}">
                    <a16:rowId xmlns:a16="http://schemas.microsoft.com/office/drawing/2014/main" val="1621857064"/>
                  </a:ext>
                </a:extLst>
              </a:tr>
              <a:tr h="439962">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a2 b2 c2</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d2</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4147995887"/>
                  </a:ext>
                </a:extLst>
              </a:tr>
              <a:tr h="370840">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a1 b1 c3</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d1</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extLst>
                  <a:ext uri="{0D108BD9-81ED-4DB2-BD59-A6C34878D82A}">
                    <a16:rowId xmlns:a16="http://schemas.microsoft.com/office/drawing/2014/main" val="2015433661"/>
                  </a:ext>
                </a:extLst>
              </a:tr>
            </a:tbl>
          </a:graphicData>
        </a:graphic>
      </p:graphicFrame>
    </p:spTree>
    <p:extLst>
      <p:ext uri="{BB962C8B-B14F-4D97-AF65-F5344CB8AC3E}">
        <p14:creationId xmlns:p14="http://schemas.microsoft.com/office/powerpoint/2010/main" val="1170412922"/>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F2F51E5E-262C-495B-96E6-46DD5438BCDC}" type="slidenum">
              <a:rPr lang="en-US" altLang="en-US" sz="900" b="0">
                <a:solidFill>
                  <a:schemeClr val="tx1"/>
                </a:solidFill>
                <a:latin typeface="Arial" charset="0"/>
                <a:cs typeface="Arial" charset="0"/>
              </a:rPr>
              <a:pPr/>
              <a:t>35</a:t>
            </a:fld>
            <a:endParaRPr lang="en-US" altLang="en-US" sz="900" b="0">
              <a:solidFill>
                <a:schemeClr val="tx1"/>
              </a:solidFill>
              <a:latin typeface="Arial" charset="0"/>
              <a:cs typeface="Arial" charset="0"/>
            </a:endParaRPr>
          </a:p>
        </p:txBody>
      </p:sp>
      <p:sp>
        <p:nvSpPr>
          <p:cNvPr id="26628" name="Rectangle 2"/>
          <p:cNvSpPr>
            <a:spLocks noGrp="1" noChangeArrowheads="1"/>
          </p:cNvSpPr>
          <p:nvPr>
            <p:ph type="title"/>
          </p:nvPr>
        </p:nvSpPr>
        <p:spPr/>
        <p:txBody>
          <a:bodyPr/>
          <a:lstStyle/>
          <a:p>
            <a:r>
              <a:rPr lang="en-US" altLang="en-US" dirty="0"/>
              <a:t>ISP Criteria – Pair-Wise</a:t>
            </a:r>
          </a:p>
        </p:txBody>
      </p:sp>
      <p:sp>
        <p:nvSpPr>
          <p:cNvPr id="26629" name="Rectangle 3"/>
          <p:cNvSpPr>
            <a:spLocks noGrp="1" noChangeArrowheads="1"/>
          </p:cNvSpPr>
          <p:nvPr>
            <p:ph type="body" idx="1"/>
          </p:nvPr>
        </p:nvSpPr>
        <p:spPr>
          <a:xfrm>
            <a:off x="1662114" y="830180"/>
            <a:ext cx="8867775" cy="998620"/>
          </a:xfrm>
        </p:spPr>
        <p:txBody>
          <a:bodyPr/>
          <a:lstStyle/>
          <a:p>
            <a:r>
              <a:rPr lang="en-US" altLang="en-US" dirty="0"/>
              <a:t>Each choice yields few tests—</a:t>
            </a:r>
            <a:r>
              <a:rPr lang="en-US" altLang="en-US" dirty="0">
                <a:solidFill>
                  <a:schemeClr val="tx2"/>
                </a:solidFill>
              </a:rPr>
              <a:t>cheap</a:t>
            </a:r>
            <a:r>
              <a:rPr lang="en-US" altLang="en-US" dirty="0"/>
              <a:t> but maybe ineffective</a:t>
            </a:r>
          </a:p>
          <a:p>
            <a:r>
              <a:rPr lang="en-US" altLang="en-US" dirty="0"/>
              <a:t>Another approach </a:t>
            </a:r>
            <a:r>
              <a:rPr lang="en-US" altLang="en-US" dirty="0">
                <a:solidFill>
                  <a:schemeClr val="tx2"/>
                </a:solidFill>
              </a:rPr>
              <a:t>combines</a:t>
            </a:r>
            <a:r>
              <a:rPr lang="en-US" altLang="en-US" dirty="0"/>
              <a:t> values with other values</a:t>
            </a:r>
          </a:p>
        </p:txBody>
      </p:sp>
      <p:sp>
        <p:nvSpPr>
          <p:cNvPr id="279556" name="Text Box 4"/>
          <p:cNvSpPr txBox="1">
            <a:spLocks noChangeArrowheads="1"/>
          </p:cNvSpPr>
          <p:nvPr/>
        </p:nvSpPr>
        <p:spPr bwMode="auto">
          <a:xfrm>
            <a:off x="1873250" y="1984124"/>
            <a:ext cx="8447088" cy="1206500"/>
          </a:xfrm>
          <a:prstGeom prst="rect">
            <a:avLst/>
          </a:prstGeom>
          <a:gradFill rotWithShape="1">
            <a:gsLst>
              <a:gs pos="0">
                <a:srgbClr val="3399FF"/>
              </a:gs>
              <a:gs pos="100000">
                <a:srgbClr val="0033CC"/>
              </a:gs>
            </a:gsLst>
            <a:path path="shape">
              <a:fillToRect l="50000" t="50000" r="50000" b="50000"/>
            </a:path>
          </a:gradFill>
          <a:ln w="19050">
            <a:solidFill>
              <a:schemeClr val="tx2"/>
            </a:solidFill>
            <a:miter lim="800000"/>
            <a:headEnd type="none" w="sm" len="sm"/>
            <a:tailEnd type="none" w="sm" len="sm"/>
          </a:ln>
          <a:effectLst/>
        </p:spPr>
        <p:txBody>
          <a:bodyPr>
            <a:spAutoFit/>
          </a:bodyPr>
          <a:lstStyle/>
          <a:p>
            <a:pPr>
              <a:spcBef>
                <a:spcPct val="50000"/>
              </a:spcBef>
              <a:defRPr/>
            </a:pPr>
            <a:r>
              <a:rPr lang="en-US" sz="2400" u="sng" dirty="0">
                <a:solidFill>
                  <a:schemeClr val="tx2"/>
                </a:solidFill>
                <a:effectLst>
                  <a:outerShdw blurRad="38100" dist="38100" dir="2700000" algn="tl">
                    <a:srgbClr val="000000"/>
                  </a:outerShdw>
                </a:effectLst>
                <a:latin typeface="Gill Sans MT" panose="020B0502020104020203" pitchFamily="34" charset="0"/>
              </a:rPr>
              <a:t>Pair-Wise Coverage (PWC)</a:t>
            </a:r>
            <a:r>
              <a:rPr lang="en-US" sz="2400" dirty="0">
                <a:solidFill>
                  <a:schemeClr val="tx2"/>
                </a:solidFill>
                <a:effectLst>
                  <a:outerShdw blurRad="38100" dist="38100" dir="2700000" algn="tl">
                    <a:srgbClr val="000000"/>
                  </a:outerShdw>
                </a:effectLst>
                <a:latin typeface="Gill Sans MT" panose="020B0502020104020203" pitchFamily="34" charset="0"/>
              </a:rPr>
              <a:t> :  </a:t>
            </a:r>
            <a:r>
              <a:rPr lang="en-US" sz="2400" dirty="0">
                <a:effectLst>
                  <a:outerShdw blurRad="38100" dist="38100" dir="2700000" algn="tl">
                    <a:srgbClr val="000000"/>
                  </a:outerShdw>
                </a:effectLst>
                <a:latin typeface="Gill Sans MT" panose="020B0502020104020203" pitchFamily="34" charset="0"/>
              </a:rPr>
              <a:t>A value from each block for each characteristic must be combined with a value from every block for each other characteristic.</a:t>
            </a:r>
          </a:p>
        </p:txBody>
      </p:sp>
      <p:sp>
        <p:nvSpPr>
          <p:cNvPr id="279557" name="Rectangle 5"/>
          <p:cNvSpPr>
            <a:spLocks noChangeArrowheads="1"/>
          </p:cNvSpPr>
          <p:nvPr/>
        </p:nvSpPr>
        <p:spPr bwMode="auto">
          <a:xfrm>
            <a:off x="1662114" y="3442959"/>
            <a:ext cx="8867775"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5750" indent="-285750">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90000"/>
              </a:lnSpc>
              <a:spcBef>
                <a:spcPct val="30000"/>
              </a:spcBef>
              <a:buSzPct val="85000"/>
              <a:buFontTx/>
              <a:buChar char="•"/>
            </a:pPr>
            <a:r>
              <a:rPr lang="en-US" altLang="en-US" sz="2800" b="0" dirty="0">
                <a:solidFill>
                  <a:schemeClr val="tx1"/>
                </a:solidFill>
                <a:latin typeface="Gill Sans MT" panose="020B0502020104020203" pitchFamily="34" charset="0"/>
              </a:rPr>
              <a:t>Number of  tests is at least the product of two largest characteristics</a:t>
            </a:r>
            <a:endParaRPr lang="en-US" altLang="en-US" sz="2800" b="0" dirty="0">
              <a:solidFill>
                <a:schemeClr val="tx1"/>
              </a:solidFill>
              <a:latin typeface="Gill Sans MT" panose="020B0502020104020203" pitchFamily="34" charset="0"/>
              <a:sym typeface="Symbol" pitchFamily="18" charset="2"/>
            </a:endParaRPr>
          </a:p>
        </p:txBody>
      </p:sp>
      <p:sp>
        <p:nvSpPr>
          <p:cNvPr id="279562" name="Text Box 10"/>
          <p:cNvSpPr txBox="1">
            <a:spLocks noChangeArrowheads="1"/>
          </p:cNvSpPr>
          <p:nvPr/>
        </p:nvSpPr>
        <p:spPr bwMode="auto">
          <a:xfrm>
            <a:off x="1937242" y="4490700"/>
            <a:ext cx="8309602" cy="1754326"/>
          </a:xfrm>
          <a:prstGeom prst="rect">
            <a:avLst/>
          </a:prstGeom>
          <a:solidFill>
            <a:srgbClr val="0000FF"/>
          </a:solidFill>
          <a:ln w="19050">
            <a:solidFill>
              <a:schemeClr val="tx2"/>
            </a:solidFill>
            <a:miter lim="800000"/>
            <a:headEnd type="none" w="sm" len="sm"/>
            <a:tailEnd type="none" w="sm" len="sm"/>
          </a:ln>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75000"/>
              </a:lnSpc>
              <a:spcBef>
                <a:spcPct val="50000"/>
              </a:spcBef>
            </a:pPr>
            <a:r>
              <a:rPr lang="en-US" altLang="en-US" sz="2400" b="0" dirty="0">
                <a:latin typeface="Gill Sans MT" panose="020B0502020104020203" pitchFamily="34" charset="0"/>
              </a:rPr>
              <a:t>For </a:t>
            </a:r>
            <a:r>
              <a:rPr lang="en-US" altLang="en-US" sz="2400" b="0" i="1" dirty="0" err="1">
                <a:latin typeface="Gill Sans MT" panose="020B0502020104020203" pitchFamily="34" charset="0"/>
              </a:rPr>
              <a:t>triang</a:t>
            </a:r>
            <a:r>
              <a:rPr lang="en-US" altLang="en-US" sz="2400" b="0" dirty="0">
                <a:latin typeface="Gill Sans MT" panose="020B0502020104020203" pitchFamily="34" charset="0"/>
              </a:rPr>
              <a:t>() : A1, B1, C1      A1, B2, C2    A1, B3, C3     A1, B4, C4</a:t>
            </a:r>
          </a:p>
          <a:p>
            <a:pPr>
              <a:lnSpc>
                <a:spcPct val="75000"/>
              </a:lnSpc>
              <a:spcBef>
                <a:spcPct val="50000"/>
              </a:spcBef>
            </a:pPr>
            <a:r>
              <a:rPr lang="en-US" altLang="en-US" sz="2400" b="0" dirty="0">
                <a:latin typeface="Gill Sans MT" panose="020B0502020104020203" pitchFamily="34" charset="0"/>
              </a:rPr>
              <a:t>                   A2, B1, C2      A2, B2, C3    A2, B3, C4     A2, B4, C1</a:t>
            </a:r>
          </a:p>
          <a:p>
            <a:pPr>
              <a:lnSpc>
                <a:spcPct val="75000"/>
              </a:lnSpc>
              <a:spcBef>
                <a:spcPct val="50000"/>
              </a:spcBef>
            </a:pPr>
            <a:r>
              <a:rPr lang="en-US" altLang="en-US" sz="2400" b="0" dirty="0">
                <a:latin typeface="Gill Sans MT" panose="020B0502020104020203" pitchFamily="34" charset="0"/>
              </a:rPr>
              <a:t>                   A3, B1, C3      A3, B2, C4    A3, B3, C1     A3, B4, C2</a:t>
            </a:r>
          </a:p>
          <a:p>
            <a:pPr>
              <a:lnSpc>
                <a:spcPct val="75000"/>
              </a:lnSpc>
              <a:spcBef>
                <a:spcPct val="50000"/>
              </a:spcBef>
            </a:pPr>
            <a:r>
              <a:rPr lang="en-US" altLang="en-US" sz="2400" b="0" dirty="0">
                <a:latin typeface="Gill Sans MT" panose="020B0502020104020203" pitchFamily="34" charset="0"/>
              </a:rPr>
              <a:t>                  A4, B1, C4       A4, B2, C1    A4, B3, C2     A4, B4, C3</a:t>
            </a:r>
          </a:p>
        </p:txBody>
      </p:sp>
      <p:grpSp>
        <p:nvGrpSpPr>
          <p:cNvPr id="2" name="Group 27"/>
          <p:cNvGrpSpPr>
            <a:grpSpLocks/>
          </p:cNvGrpSpPr>
          <p:nvPr/>
        </p:nvGrpSpPr>
        <p:grpSpPr bwMode="auto">
          <a:xfrm>
            <a:off x="4155115" y="3722821"/>
            <a:ext cx="5816600" cy="719138"/>
            <a:chOff x="1256" y="2341"/>
            <a:chExt cx="3664" cy="453"/>
          </a:xfrm>
        </p:grpSpPr>
        <p:sp>
          <p:nvSpPr>
            <p:cNvPr id="26635" name="Text Box 6"/>
            <p:cNvSpPr txBox="1">
              <a:spLocks noChangeArrowheads="1"/>
            </p:cNvSpPr>
            <p:nvPr/>
          </p:nvSpPr>
          <p:spPr bwMode="auto">
            <a:xfrm>
              <a:off x="1256" y="2357"/>
              <a:ext cx="835"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3600" dirty="0">
                  <a:solidFill>
                    <a:schemeClr val="tx2"/>
                  </a:solidFill>
                  <a:sym typeface="Symbol" pitchFamily="18" charset="2"/>
                </a:rPr>
                <a:t>(Max</a:t>
              </a:r>
              <a:endParaRPr lang="en-US" altLang="en-US" sz="2400" baseline="-25000" dirty="0">
                <a:solidFill>
                  <a:schemeClr val="tx2"/>
                </a:solidFill>
                <a:sym typeface="Symbol" pitchFamily="18" charset="2"/>
              </a:endParaRPr>
            </a:p>
          </p:txBody>
        </p:sp>
        <p:sp>
          <p:nvSpPr>
            <p:cNvPr id="26636" name="Text Box 7"/>
            <p:cNvSpPr txBox="1">
              <a:spLocks noChangeArrowheads="1"/>
            </p:cNvSpPr>
            <p:nvPr/>
          </p:nvSpPr>
          <p:spPr bwMode="auto">
            <a:xfrm>
              <a:off x="1986" y="2341"/>
              <a:ext cx="2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a:t>Q</a:t>
              </a:r>
            </a:p>
          </p:txBody>
        </p:sp>
        <p:sp>
          <p:nvSpPr>
            <p:cNvPr id="26637" name="Text Box 8"/>
            <p:cNvSpPr txBox="1">
              <a:spLocks noChangeArrowheads="1"/>
            </p:cNvSpPr>
            <p:nvPr/>
          </p:nvSpPr>
          <p:spPr bwMode="auto">
            <a:xfrm>
              <a:off x="1980" y="2538"/>
              <a:ext cx="3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a:t>i=1</a:t>
              </a:r>
            </a:p>
          </p:txBody>
        </p:sp>
        <p:sp>
          <p:nvSpPr>
            <p:cNvPr id="26638" name="Text Box 9"/>
            <p:cNvSpPr txBox="1">
              <a:spLocks noChangeArrowheads="1"/>
            </p:cNvSpPr>
            <p:nvPr/>
          </p:nvSpPr>
          <p:spPr bwMode="auto">
            <a:xfrm>
              <a:off x="2192" y="2415"/>
              <a:ext cx="4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2400"/>
                <a:t>(B</a:t>
              </a:r>
              <a:r>
                <a:rPr lang="en-US" altLang="en-US" sz="2400" baseline="-25000"/>
                <a:t>i</a:t>
              </a:r>
              <a:r>
                <a:rPr lang="en-US" altLang="en-US" sz="2400"/>
                <a:t>)</a:t>
              </a:r>
            </a:p>
          </p:txBody>
        </p:sp>
        <p:sp>
          <p:nvSpPr>
            <p:cNvPr id="26639" name="Text Box 11"/>
            <p:cNvSpPr txBox="1">
              <a:spLocks noChangeArrowheads="1"/>
            </p:cNvSpPr>
            <p:nvPr/>
          </p:nvSpPr>
          <p:spPr bwMode="auto">
            <a:xfrm>
              <a:off x="2503" y="2356"/>
              <a:ext cx="525"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3600">
                  <a:solidFill>
                    <a:schemeClr val="tx2"/>
                  </a:solidFill>
                  <a:sym typeface="Symbol" pitchFamily="18" charset="2"/>
                </a:rPr>
                <a:t>) *</a:t>
              </a:r>
              <a:endParaRPr lang="en-US" altLang="en-US" sz="2400" baseline="-25000">
                <a:solidFill>
                  <a:schemeClr val="tx2"/>
                </a:solidFill>
                <a:sym typeface="Symbol" pitchFamily="18" charset="2"/>
              </a:endParaRPr>
            </a:p>
          </p:txBody>
        </p:sp>
        <p:sp>
          <p:nvSpPr>
            <p:cNvPr id="26640" name="Text Box 12"/>
            <p:cNvSpPr txBox="1">
              <a:spLocks noChangeArrowheads="1"/>
            </p:cNvSpPr>
            <p:nvPr/>
          </p:nvSpPr>
          <p:spPr bwMode="auto">
            <a:xfrm>
              <a:off x="2601" y="2366"/>
              <a:ext cx="2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endParaRPr lang="en-US" altLang="en-US"/>
            </a:p>
          </p:txBody>
        </p:sp>
        <p:grpSp>
          <p:nvGrpSpPr>
            <p:cNvPr id="26641" name="Group 26"/>
            <p:cNvGrpSpPr>
              <a:grpSpLocks/>
            </p:cNvGrpSpPr>
            <p:nvPr/>
          </p:nvGrpSpPr>
          <p:grpSpPr bwMode="auto">
            <a:xfrm>
              <a:off x="2865" y="2347"/>
              <a:ext cx="2055" cy="447"/>
              <a:chOff x="2938" y="2352"/>
              <a:chExt cx="2055" cy="447"/>
            </a:xfrm>
          </p:grpSpPr>
          <p:sp>
            <p:nvSpPr>
              <p:cNvPr id="26642" name="Text Box 6"/>
              <p:cNvSpPr txBox="1">
                <a:spLocks noChangeArrowheads="1"/>
              </p:cNvSpPr>
              <p:nvPr/>
            </p:nvSpPr>
            <p:spPr bwMode="auto">
              <a:xfrm>
                <a:off x="2938" y="2368"/>
                <a:ext cx="108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3600">
                    <a:solidFill>
                      <a:schemeClr val="tx2"/>
                    </a:solidFill>
                    <a:sym typeface="Symbol" pitchFamily="18" charset="2"/>
                  </a:rPr>
                  <a:t>(Max</a:t>
                </a:r>
                <a:endParaRPr lang="en-US" altLang="en-US" sz="2400" baseline="-25000">
                  <a:solidFill>
                    <a:schemeClr val="tx2"/>
                  </a:solidFill>
                  <a:sym typeface="Symbol" pitchFamily="18" charset="2"/>
                </a:endParaRPr>
              </a:p>
            </p:txBody>
          </p:sp>
          <p:sp>
            <p:nvSpPr>
              <p:cNvPr id="26643" name="Text Box 7"/>
              <p:cNvSpPr txBox="1">
                <a:spLocks noChangeArrowheads="1"/>
              </p:cNvSpPr>
              <p:nvPr/>
            </p:nvSpPr>
            <p:spPr bwMode="auto">
              <a:xfrm>
                <a:off x="3606" y="2352"/>
                <a:ext cx="3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dirty="0"/>
                  <a:t>Q</a:t>
                </a:r>
              </a:p>
            </p:txBody>
          </p:sp>
          <p:sp>
            <p:nvSpPr>
              <p:cNvPr id="26644" name="Text Box 8"/>
              <p:cNvSpPr txBox="1">
                <a:spLocks noChangeArrowheads="1"/>
              </p:cNvSpPr>
              <p:nvPr/>
            </p:nvSpPr>
            <p:spPr bwMode="auto">
              <a:xfrm>
                <a:off x="3653" y="2549"/>
                <a:ext cx="70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dirty="0"/>
                  <a:t>j=1, j!=</a:t>
                </a:r>
                <a:r>
                  <a:rPr lang="en-US" altLang="en-US" dirty="0" err="1"/>
                  <a:t>i</a:t>
                </a:r>
                <a:endParaRPr lang="en-US" altLang="en-US" dirty="0"/>
              </a:p>
            </p:txBody>
          </p:sp>
          <p:sp>
            <p:nvSpPr>
              <p:cNvPr id="26645" name="Text Box 9"/>
              <p:cNvSpPr txBox="1">
                <a:spLocks noChangeArrowheads="1"/>
              </p:cNvSpPr>
              <p:nvPr/>
            </p:nvSpPr>
            <p:spPr bwMode="auto">
              <a:xfrm>
                <a:off x="4153" y="2426"/>
                <a:ext cx="6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2400"/>
                  <a:t>  (B</a:t>
                </a:r>
                <a:r>
                  <a:rPr lang="en-US" altLang="en-US" sz="2400" baseline="-25000"/>
                  <a:t>j</a:t>
                </a:r>
                <a:r>
                  <a:rPr lang="en-US" altLang="en-US" sz="2400"/>
                  <a:t>)</a:t>
                </a:r>
              </a:p>
            </p:txBody>
          </p:sp>
          <p:sp>
            <p:nvSpPr>
              <p:cNvPr id="26646" name="Text Box 11"/>
              <p:cNvSpPr txBox="1">
                <a:spLocks noChangeArrowheads="1"/>
              </p:cNvSpPr>
              <p:nvPr/>
            </p:nvSpPr>
            <p:spPr bwMode="auto">
              <a:xfrm>
                <a:off x="4557" y="2367"/>
                <a:ext cx="307"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3600">
                    <a:solidFill>
                      <a:schemeClr val="tx2"/>
                    </a:solidFill>
                    <a:sym typeface="Symbol" pitchFamily="18" charset="2"/>
                  </a:rPr>
                  <a:t>)</a:t>
                </a:r>
                <a:endParaRPr lang="en-US" altLang="en-US" sz="2400" baseline="-25000">
                  <a:solidFill>
                    <a:schemeClr val="tx2"/>
                  </a:solidFill>
                  <a:sym typeface="Symbol" pitchFamily="18" charset="2"/>
                </a:endParaRPr>
              </a:p>
            </p:txBody>
          </p:sp>
          <p:sp>
            <p:nvSpPr>
              <p:cNvPr id="26647" name="Text Box 12"/>
              <p:cNvSpPr txBox="1">
                <a:spLocks noChangeArrowheads="1"/>
              </p:cNvSpPr>
              <p:nvPr/>
            </p:nvSpPr>
            <p:spPr bwMode="auto">
              <a:xfrm>
                <a:off x="4684" y="2377"/>
                <a:ext cx="3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endParaRPr lang="en-US" altLang="en-US"/>
              </a:p>
            </p:txBody>
          </p:sp>
        </p:grpSp>
      </p:gr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9556"/>
                                        </p:tgtEl>
                                        <p:attrNameLst>
                                          <p:attrName>style.visibility</p:attrName>
                                        </p:attrNameLst>
                                      </p:cBhvr>
                                      <p:to>
                                        <p:strVal val="visible"/>
                                      </p:to>
                                    </p:set>
                                    <p:animEffect transition="in" filter="dissolve">
                                      <p:cBhvr>
                                        <p:cTn id="7" dur="500"/>
                                        <p:tgtEl>
                                          <p:spTgt spid="2795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9557"/>
                                        </p:tgtEl>
                                        <p:attrNameLst>
                                          <p:attrName>style.visibility</p:attrName>
                                        </p:attrNameLst>
                                      </p:cBhvr>
                                      <p:to>
                                        <p:strVal val="visible"/>
                                      </p:to>
                                    </p:set>
                                    <p:animEffect transition="in" filter="wipe(left)">
                                      <p:cBhvr>
                                        <p:cTn id="12" dur="1000"/>
                                        <p:tgtEl>
                                          <p:spTgt spid="2795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79562"/>
                                        </p:tgtEl>
                                        <p:attrNameLst>
                                          <p:attrName>style.visibility</p:attrName>
                                        </p:attrNameLst>
                                      </p:cBhvr>
                                      <p:to>
                                        <p:strVal val="visible"/>
                                      </p:to>
                                    </p:set>
                                    <p:animEffect transition="in" filter="dissolve">
                                      <p:cBhvr>
                                        <p:cTn id="22" dur="500"/>
                                        <p:tgtEl>
                                          <p:spTgt spid="279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6" grpId="0" animBg="1" autoUpdateAnimBg="0"/>
      <p:bldP spid="279557" grpId="0"/>
      <p:bldP spid="27956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p>
        </p:txBody>
      </p:sp>
      <p:sp>
        <p:nvSpPr>
          <p:cNvPr id="4" name="Date Placeholder 3"/>
          <p:cNvSpPr>
            <a:spLocks noGrp="1"/>
          </p:cNvSpPr>
          <p:nvPr>
            <p:ph type="dt" sz="half" idx="10"/>
          </p:nvPr>
        </p:nvSpPr>
        <p:spPr/>
        <p:txBody>
          <a:bodyPr/>
          <a:lstStyle/>
          <a:p>
            <a:pPr>
              <a:defRPr/>
            </a:pPr>
            <a:r>
              <a:rPr lang="en-US">
                <a:solidFill>
                  <a:srgbClr val="FFFFFF"/>
                </a:solidFill>
              </a:rPr>
              <a:t>Introduction to Software Testing, Edition 2  (Ch 6)</a:t>
            </a:r>
            <a:endParaRPr lang="en-US" dirty="0">
              <a:solidFill>
                <a:srgbClr val="FFFFFF"/>
              </a:solidFill>
            </a:endParaRPr>
          </a:p>
        </p:txBody>
      </p:sp>
      <p:sp>
        <p:nvSpPr>
          <p:cNvPr id="5" name="Footer Placeholder 4"/>
          <p:cNvSpPr>
            <a:spLocks noGrp="1"/>
          </p:cNvSpPr>
          <p:nvPr>
            <p:ph type="ftr" sz="quarter" idx="11"/>
          </p:nvPr>
        </p:nvSpPr>
        <p:spPr/>
        <p:txBody>
          <a:bodyPr/>
          <a:lstStyle/>
          <a:p>
            <a:pPr>
              <a:defRPr/>
            </a:pPr>
            <a:r>
              <a:rPr lang="en-US">
                <a:solidFill>
                  <a:srgbClr val="FFFFFF"/>
                </a:solidFill>
              </a:rPr>
              <a:t>© Ammann &amp; Offutt</a:t>
            </a:r>
          </a:p>
        </p:txBody>
      </p:sp>
      <p:sp>
        <p:nvSpPr>
          <p:cNvPr id="6" name="Slide Number Placeholder 5"/>
          <p:cNvSpPr>
            <a:spLocks noGrp="1"/>
          </p:cNvSpPr>
          <p:nvPr>
            <p:ph type="sldNum" sz="quarter" idx="12"/>
          </p:nvPr>
        </p:nvSpPr>
        <p:spPr/>
        <p:txBody>
          <a:bodyPr/>
          <a:lstStyle/>
          <a:p>
            <a:pPr>
              <a:defRPr/>
            </a:pPr>
            <a:fld id="{FE742154-05E0-4FD4-B04E-B92FD3670A3A}" type="slidenum">
              <a:rPr lang="en-US">
                <a:solidFill>
                  <a:srgbClr val="FFFFFF"/>
                </a:solidFill>
              </a:rPr>
              <a:pPr>
                <a:defRPr/>
              </a:pPr>
              <a:t>36</a:t>
            </a:fld>
            <a:endParaRPr lang="en-US">
              <a:solidFill>
                <a:srgbClr val="FFFFFF"/>
              </a:solidFill>
            </a:endParaRPr>
          </a:p>
        </p:txBody>
      </p:sp>
      <p:sp>
        <p:nvSpPr>
          <p:cNvPr id="7" name="TextBox 6"/>
          <p:cNvSpPr txBox="1"/>
          <p:nvPr/>
        </p:nvSpPr>
        <p:spPr>
          <a:xfrm>
            <a:off x="3115189" y="1857393"/>
            <a:ext cx="5970389" cy="523220"/>
          </a:xfrm>
          <a:prstGeom prst="rect">
            <a:avLst/>
          </a:prstGeom>
          <a:solidFill>
            <a:schemeClr val="bg1">
              <a:lumMod val="40000"/>
              <a:lumOff val="60000"/>
            </a:schemeClr>
          </a:solidFill>
        </p:spPr>
        <p:txBody>
          <a:bodyPr wrap="square" rtlCol="0">
            <a:spAutoFit/>
          </a:bodyPr>
          <a:lstStyle/>
          <a:p>
            <a:pPr lvl="0" algn="ctr"/>
            <a:r>
              <a:rPr lang="en-US" sz="2800" b="0" dirty="0">
                <a:solidFill>
                  <a:srgbClr val="FFFFFF"/>
                </a:solidFill>
                <a:latin typeface="Calibri" panose="020F0502020204030204" pitchFamily="34" charset="0"/>
                <a:cs typeface="Calibri" panose="020F0502020204030204" pitchFamily="34" charset="0"/>
              </a:rPr>
              <a:t>Apply PWC to our previous example</a:t>
            </a:r>
          </a:p>
        </p:txBody>
      </p:sp>
      <p:sp>
        <p:nvSpPr>
          <p:cNvPr id="9" name="TextBox 8"/>
          <p:cNvSpPr txBox="1"/>
          <p:nvPr/>
        </p:nvSpPr>
        <p:spPr>
          <a:xfrm>
            <a:off x="2905840" y="4385791"/>
            <a:ext cx="6389084" cy="954107"/>
          </a:xfrm>
          <a:prstGeom prst="rect">
            <a:avLst/>
          </a:prstGeom>
          <a:solidFill>
            <a:schemeClr val="bg1">
              <a:lumMod val="40000"/>
              <a:lumOff val="60000"/>
            </a:schemeClr>
          </a:solidFill>
        </p:spPr>
        <p:txBody>
          <a:bodyPr wrap="square" rtlCol="0">
            <a:spAutoFit/>
          </a:bodyPr>
          <a:lstStyle/>
          <a:p>
            <a:pPr marL="514350" indent="-514350">
              <a:buFont typeface="+mj-lt"/>
              <a:buAutoNum type="arabicPeriod"/>
              <a:defRPr/>
            </a:pPr>
            <a:r>
              <a:rPr lang="en-US" sz="2800" b="0" dirty="0">
                <a:solidFill>
                  <a:srgbClr val="FFFFFF"/>
                </a:solidFill>
                <a:latin typeface="Calibri" panose="020F0502020204030204" pitchFamily="34" charset="0"/>
                <a:cs typeface="Calibri" panose="020F0502020204030204" pitchFamily="34" charset="0"/>
              </a:rPr>
              <a:t>How many tests are needed for PWC?</a:t>
            </a:r>
          </a:p>
          <a:p>
            <a:pPr marL="514350" indent="-514350">
              <a:buFont typeface="+mj-lt"/>
              <a:buAutoNum type="arabicPeriod"/>
              <a:defRPr/>
            </a:pPr>
            <a:r>
              <a:rPr lang="en-US" sz="2800" b="0" dirty="0">
                <a:solidFill>
                  <a:srgbClr val="FFFFFF"/>
                </a:solidFill>
                <a:latin typeface="Calibri" panose="020F0502020204030204" pitchFamily="34" charset="0"/>
                <a:cs typeface="Calibri" panose="020F0502020204030204" pitchFamily="34" charset="0"/>
              </a:rPr>
              <a:t>Design the (abstract) tests</a:t>
            </a:r>
          </a:p>
        </p:txBody>
      </p:sp>
      <p:sp>
        <p:nvSpPr>
          <p:cNvPr id="10" name="TextBox 9"/>
          <p:cNvSpPr txBox="1"/>
          <p:nvPr/>
        </p:nvSpPr>
        <p:spPr>
          <a:xfrm>
            <a:off x="3195175" y="962528"/>
            <a:ext cx="5810414" cy="584775"/>
          </a:xfrm>
          <a:prstGeom prst="rect">
            <a:avLst/>
          </a:prstGeom>
          <a:solidFill>
            <a:schemeClr val="bg1">
              <a:lumMod val="40000"/>
              <a:lumOff val="60000"/>
            </a:schemeClr>
          </a:solidFill>
        </p:spPr>
        <p:txBody>
          <a:bodyPr wrap="square" rtlCol="0">
            <a:spAutoFit/>
          </a:bodyPr>
          <a:lstStyle/>
          <a:p>
            <a:pPr lvl="0" algn="ctr">
              <a:defRPr/>
            </a:pPr>
            <a:r>
              <a:rPr lang="en-US" sz="3200" b="0" dirty="0">
                <a:solidFill>
                  <a:srgbClr val="FFFFFF"/>
                </a:solidFill>
                <a:latin typeface="Calibri" panose="020F0502020204030204" pitchFamily="34" charset="0"/>
                <a:cs typeface="Calibri" panose="020F0502020204030204" pitchFamily="34" charset="0"/>
              </a:rPr>
              <a:t>Pair-Wise criterion (PWC)</a:t>
            </a:r>
          </a:p>
        </p:txBody>
      </p:sp>
      <p:sp>
        <p:nvSpPr>
          <p:cNvPr id="12" name="TextBox 11"/>
          <p:cNvSpPr txBox="1"/>
          <p:nvPr/>
        </p:nvSpPr>
        <p:spPr>
          <a:xfrm>
            <a:off x="2484781" y="2683723"/>
            <a:ext cx="7231205" cy="1384995"/>
          </a:xfrm>
          <a:prstGeom prst="rect">
            <a:avLst/>
          </a:prstGeom>
          <a:solidFill>
            <a:schemeClr val="bg1">
              <a:lumMod val="40000"/>
              <a:lumOff val="60000"/>
            </a:schemeClr>
          </a:solidFill>
        </p:spPr>
        <p:txBody>
          <a:bodyPr wrap="square" rtlCol="0">
            <a:spAutoFit/>
          </a:bodyPr>
          <a:lstStyle/>
          <a:p>
            <a:pPr lvl="0"/>
            <a:r>
              <a:rPr lang="en-US" sz="2800" b="0" dirty="0">
                <a:solidFill>
                  <a:srgbClr val="FFFFFF"/>
                </a:solidFill>
                <a:latin typeface="Calibri" panose="020F0502020204030204" pitchFamily="34" charset="0"/>
                <a:cs typeface="Calibri" panose="020F0502020204030204" pitchFamily="34" charset="0"/>
              </a:rPr>
              <a:t>4 Characteristics:  A, B, C, D</a:t>
            </a:r>
          </a:p>
          <a:p>
            <a:pPr lvl="0"/>
            <a:r>
              <a:rPr lang="en-US" sz="2800" b="0" dirty="0">
                <a:solidFill>
                  <a:srgbClr val="FFFFFF"/>
                </a:solidFill>
                <a:latin typeface="Calibri" panose="020F0502020204030204" pitchFamily="34" charset="0"/>
                <a:cs typeface="Calibri" panose="020F0502020204030204" pitchFamily="34" charset="0"/>
              </a:rPr>
              <a:t>Abstract blocks: A = [a1, a2]; B = [b1, b2];</a:t>
            </a:r>
          </a:p>
          <a:p>
            <a:pPr lvl="0"/>
            <a:r>
              <a:rPr lang="en-US" sz="2800" b="0" dirty="0">
                <a:solidFill>
                  <a:srgbClr val="FFFFFF"/>
                </a:solidFill>
                <a:latin typeface="Calibri" panose="020F0502020204030204" pitchFamily="34" charset="0"/>
                <a:cs typeface="Calibri" panose="020F0502020204030204" pitchFamily="34" charset="0"/>
              </a:rPr>
              <a:t>		       C = [c1, c2, c3]; D = [d1, d2]</a:t>
            </a:r>
          </a:p>
        </p:txBody>
      </p:sp>
    </p:spTree>
    <p:extLst>
      <p:ext uri="{BB962C8B-B14F-4D97-AF65-F5344CB8AC3E}">
        <p14:creationId xmlns:p14="http://schemas.microsoft.com/office/powerpoint/2010/main" val="347427843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2000"/>
                                        <p:tgtEl>
                                          <p:spTgt spid="7"/>
                                        </p:tgtEl>
                                      </p:cBhvr>
                                    </p:animEffect>
                                  </p:childTnLst>
                                </p:cTn>
                              </p:par>
                            </p:childTnLst>
                          </p:cTn>
                        </p:par>
                        <p:par>
                          <p:cTn id="12" fill="hold">
                            <p:stCondLst>
                              <p:cond delay="4000"/>
                            </p:stCondLst>
                            <p:childTnLst>
                              <p:par>
                                <p:cTn id="13" presetID="10"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2000"/>
                                        <p:tgtEl>
                                          <p:spTgt spid="12"/>
                                        </p:tgtEl>
                                      </p:cBhvr>
                                    </p:animEffect>
                                  </p:childTnLst>
                                </p:cTn>
                              </p:par>
                            </p:childTnLst>
                          </p:cTn>
                        </p:par>
                        <p:par>
                          <p:cTn id="16" fill="hold">
                            <p:stCondLst>
                              <p:cond delay="600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397205-B45C-4367-932E-E0F132774114}"/>
              </a:ext>
            </a:extLst>
          </p:cNvPr>
          <p:cNvSpPr>
            <a:spLocks noGrp="1"/>
          </p:cNvSpPr>
          <p:nvPr>
            <p:ph type="title"/>
          </p:nvPr>
        </p:nvSpPr>
        <p:spPr/>
        <p:txBody>
          <a:bodyPr/>
          <a:lstStyle/>
          <a:p>
            <a:r>
              <a:rPr lang="en-US" altLang="zh-CN" dirty="0"/>
              <a:t>In-class exercise (</a:t>
            </a:r>
            <a:r>
              <a:rPr lang="en-US" altLang="zh-CN" i="1" dirty="0"/>
              <a:t>answer</a:t>
            </a:r>
            <a:r>
              <a:rPr lang="en-US" altLang="zh-CN" dirty="0"/>
              <a:t>)</a:t>
            </a:r>
            <a:endParaRPr lang="zh-CN" altLang="en-US" dirty="0"/>
          </a:p>
        </p:txBody>
      </p:sp>
      <p:sp>
        <p:nvSpPr>
          <p:cNvPr id="3" name="内容占位符 2">
            <a:extLst>
              <a:ext uri="{FF2B5EF4-FFF2-40B4-BE49-F238E27FC236}">
                <a16:creationId xmlns:a16="http://schemas.microsoft.com/office/drawing/2014/main" id="{8027118B-3382-49CF-ABE0-0D4F373F3FD5}"/>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2C0D2BC1-6281-4C1C-9D68-4D57D7FB3B51}"/>
              </a:ext>
            </a:extLst>
          </p:cNvPr>
          <p:cNvSpPr>
            <a:spLocks noGrp="1"/>
          </p:cNvSpPr>
          <p:nvPr>
            <p:ph type="sldNum" sz="quarter" idx="12"/>
          </p:nvPr>
        </p:nvSpPr>
        <p:spPr/>
        <p:txBody>
          <a:bodyPr/>
          <a:lstStyle/>
          <a:p>
            <a:pPr>
              <a:defRPr/>
            </a:pPr>
            <a:fld id="{FE742154-05E0-4FD4-B04E-B92FD3670A3A}" type="slidenum">
              <a:rPr lang="en-US" smtClean="0"/>
              <a:pPr>
                <a:defRPr/>
              </a:pPr>
              <a:t>37</a:t>
            </a:fld>
            <a:endParaRPr lang="en-US"/>
          </a:p>
        </p:txBody>
      </p:sp>
      <p:sp>
        <p:nvSpPr>
          <p:cNvPr id="5" name="TextBox 7">
            <a:extLst>
              <a:ext uri="{FF2B5EF4-FFF2-40B4-BE49-F238E27FC236}">
                <a16:creationId xmlns:a16="http://schemas.microsoft.com/office/drawing/2014/main" id="{9B612562-F292-4B13-AB35-27492D830844}"/>
              </a:ext>
            </a:extLst>
          </p:cNvPr>
          <p:cNvSpPr txBox="1"/>
          <p:nvPr/>
        </p:nvSpPr>
        <p:spPr>
          <a:xfrm>
            <a:off x="2484781" y="1619177"/>
            <a:ext cx="7231205" cy="1384995"/>
          </a:xfrm>
          <a:prstGeom prst="rect">
            <a:avLst/>
          </a:prstGeom>
          <a:solidFill>
            <a:schemeClr val="bg1">
              <a:lumMod val="40000"/>
              <a:lumOff val="60000"/>
            </a:schemeClr>
          </a:solidFill>
        </p:spPr>
        <p:txBody>
          <a:bodyPr wrap="square" rtlCol="0">
            <a:spAutoFit/>
          </a:bodyPr>
          <a:lstStyle/>
          <a:p>
            <a:pPr>
              <a:defRPr/>
            </a:pPr>
            <a:r>
              <a:rPr lang="en-US" sz="2800" b="0" dirty="0">
                <a:solidFill>
                  <a:srgbClr val="FFFFFF"/>
                </a:solidFill>
                <a:latin typeface="Calibri" panose="020F0502020204030204" pitchFamily="34" charset="0"/>
                <a:cs typeface="Calibri" panose="020F0502020204030204" pitchFamily="34" charset="0"/>
              </a:rPr>
              <a:t>4 Characteristics:  A, B, C, D</a:t>
            </a:r>
          </a:p>
          <a:p>
            <a:pPr>
              <a:defRPr/>
            </a:pPr>
            <a:r>
              <a:rPr lang="en-US" sz="2800" b="0" dirty="0">
                <a:solidFill>
                  <a:srgbClr val="FFFFFF"/>
                </a:solidFill>
                <a:latin typeface="Calibri" panose="020F0502020204030204" pitchFamily="34" charset="0"/>
                <a:cs typeface="Calibri" panose="020F0502020204030204" pitchFamily="34" charset="0"/>
              </a:rPr>
              <a:t>Abstract blocks: A = [a1, a2]; B = [b1, b2];</a:t>
            </a:r>
          </a:p>
          <a:p>
            <a:pPr>
              <a:defRPr/>
            </a:pPr>
            <a:r>
              <a:rPr lang="en-US" sz="2800" b="0" dirty="0">
                <a:solidFill>
                  <a:srgbClr val="FFFFFF"/>
                </a:solidFill>
                <a:latin typeface="Calibri" panose="020F0502020204030204" pitchFamily="34" charset="0"/>
                <a:cs typeface="Calibri" panose="020F0502020204030204" pitchFamily="34" charset="0"/>
              </a:rPr>
              <a:t>		       C = [c1, c2, c3]; D = [d1, d2]</a:t>
            </a:r>
          </a:p>
        </p:txBody>
      </p:sp>
      <p:sp>
        <p:nvSpPr>
          <p:cNvPr id="6" name="TextBox 9">
            <a:extLst>
              <a:ext uri="{FF2B5EF4-FFF2-40B4-BE49-F238E27FC236}">
                <a16:creationId xmlns:a16="http://schemas.microsoft.com/office/drawing/2014/main" id="{C1339BCE-F7D5-4235-A3BF-76C1AA34F095}"/>
              </a:ext>
            </a:extLst>
          </p:cNvPr>
          <p:cNvSpPr txBox="1"/>
          <p:nvPr/>
        </p:nvSpPr>
        <p:spPr>
          <a:xfrm>
            <a:off x="3735854" y="888386"/>
            <a:ext cx="4738389" cy="584775"/>
          </a:xfrm>
          <a:prstGeom prst="rect">
            <a:avLst/>
          </a:prstGeom>
          <a:solidFill>
            <a:schemeClr val="bg1">
              <a:lumMod val="40000"/>
              <a:lumOff val="60000"/>
            </a:schemeClr>
          </a:solidFill>
        </p:spPr>
        <p:txBody>
          <a:bodyPr wrap="square" rtlCol="0">
            <a:spAutoFit/>
          </a:bodyPr>
          <a:lstStyle/>
          <a:p>
            <a:pPr lvl="0" algn="ctr">
              <a:defRPr/>
            </a:pPr>
            <a:r>
              <a:rPr lang="en-US" altLang="zh-CN" sz="3200" b="0" dirty="0">
                <a:solidFill>
                  <a:srgbClr val="FFFFFF"/>
                </a:solidFill>
                <a:latin typeface="Calibri" panose="020F0502020204030204" pitchFamily="34" charset="0"/>
                <a:cs typeface="Calibri" panose="020F0502020204030204" pitchFamily="34" charset="0"/>
              </a:rPr>
              <a:t>Pair-Wise criterion (PWC)</a:t>
            </a:r>
          </a:p>
        </p:txBody>
      </p:sp>
      <p:sp>
        <p:nvSpPr>
          <p:cNvPr id="7" name="Rounded Rectangle 10">
            <a:extLst>
              <a:ext uri="{FF2B5EF4-FFF2-40B4-BE49-F238E27FC236}">
                <a16:creationId xmlns:a16="http://schemas.microsoft.com/office/drawing/2014/main" id="{4D45B03E-E1B3-4956-A17B-307E673386C1}"/>
              </a:ext>
            </a:extLst>
          </p:cNvPr>
          <p:cNvSpPr/>
          <p:nvPr/>
        </p:nvSpPr>
        <p:spPr bwMode="auto">
          <a:xfrm>
            <a:off x="3519500" y="3159465"/>
            <a:ext cx="4786447" cy="576341"/>
          </a:xfrm>
          <a:prstGeom prst="roundRect">
            <a:avLst/>
          </a:prstGeom>
          <a:solidFill>
            <a:srgbClr val="008000"/>
          </a:solidFill>
          <a:ln w="28575" cap="flat" cmpd="sng" algn="ctr">
            <a:solidFill>
              <a:srgbClr val="FF99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lgn="ctr">
              <a:defRPr/>
            </a:pPr>
            <a:r>
              <a:rPr lang="en-US" b="0" dirty="0">
                <a:solidFill>
                  <a:srgbClr val="FFFFFF"/>
                </a:solidFill>
                <a:latin typeface="Verdana" panose="020B0604030504040204" pitchFamily="34" charset="0"/>
                <a:ea typeface="Verdana" panose="020B0604030504040204" pitchFamily="34" charset="0"/>
                <a:cs typeface="Verdana" panose="020B0604030504040204" pitchFamily="34" charset="0"/>
              </a:rPr>
              <a:t>Number of tests: 3*2 = 6</a:t>
            </a:r>
          </a:p>
        </p:txBody>
      </p:sp>
      <p:graphicFrame>
        <p:nvGraphicFramePr>
          <p:cNvPr id="8" name="Table 11">
            <a:extLst>
              <a:ext uri="{FF2B5EF4-FFF2-40B4-BE49-F238E27FC236}">
                <a16:creationId xmlns:a16="http://schemas.microsoft.com/office/drawing/2014/main" id="{D6E145B5-875D-4E88-96E6-9F580CCA58E1}"/>
              </a:ext>
            </a:extLst>
          </p:cNvPr>
          <p:cNvGraphicFramePr>
            <a:graphicFrameLocks noGrp="1"/>
          </p:cNvGraphicFramePr>
          <p:nvPr>
            <p:extLst>
              <p:ext uri="{D42A27DB-BD31-4B8C-83A1-F6EECF244321}">
                <p14:modId xmlns:p14="http://schemas.microsoft.com/office/powerpoint/2010/main" val="3730424358"/>
              </p:ext>
            </p:extLst>
          </p:nvPr>
        </p:nvGraphicFramePr>
        <p:xfrm>
          <a:off x="2653092" y="3817115"/>
          <a:ext cx="2165522" cy="1371600"/>
        </p:xfrm>
        <a:graphic>
          <a:graphicData uri="http://schemas.openxmlformats.org/drawingml/2006/table">
            <a:tbl>
              <a:tblPr firstRow="1" bandRow="1">
                <a:tableStyleId>{16D9F66E-5EB9-4882-86FB-DCBF35E3C3E4}</a:tableStyleId>
              </a:tblPr>
              <a:tblGrid>
                <a:gridCol w="2165522">
                  <a:extLst>
                    <a:ext uri="{9D8B030D-6E8A-4147-A177-3AD203B41FA5}">
                      <a16:colId xmlns:a16="http://schemas.microsoft.com/office/drawing/2014/main" val="3264710210"/>
                    </a:ext>
                  </a:extLst>
                </a:gridCol>
              </a:tblGrid>
              <a:tr h="370840">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a1 b1 c1 d1</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extLst>
                  <a:ext uri="{0D108BD9-81ED-4DB2-BD59-A6C34878D82A}">
                    <a16:rowId xmlns:a16="http://schemas.microsoft.com/office/drawing/2014/main" val="1621857064"/>
                  </a:ext>
                </a:extLst>
              </a:tr>
              <a:tr h="439962">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a2 b2 c1</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d2</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4147995887"/>
                  </a:ext>
                </a:extLst>
              </a:tr>
              <a:tr h="370840">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a1 b2 c2</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d1</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extLst>
                  <a:ext uri="{0D108BD9-81ED-4DB2-BD59-A6C34878D82A}">
                    <a16:rowId xmlns:a16="http://schemas.microsoft.com/office/drawing/2014/main" val="2015433661"/>
                  </a:ext>
                </a:extLst>
              </a:tr>
            </a:tbl>
          </a:graphicData>
        </a:graphic>
      </p:graphicFrame>
      <p:graphicFrame>
        <p:nvGraphicFramePr>
          <p:cNvPr id="9" name="Table 11">
            <a:extLst>
              <a:ext uri="{FF2B5EF4-FFF2-40B4-BE49-F238E27FC236}">
                <a16:creationId xmlns:a16="http://schemas.microsoft.com/office/drawing/2014/main" id="{2FB12A85-31E9-4BB8-88BB-641AB299AC5A}"/>
              </a:ext>
            </a:extLst>
          </p:cNvPr>
          <p:cNvGraphicFramePr>
            <a:graphicFrameLocks noGrp="1"/>
          </p:cNvGraphicFramePr>
          <p:nvPr>
            <p:extLst>
              <p:ext uri="{D42A27DB-BD31-4B8C-83A1-F6EECF244321}">
                <p14:modId xmlns:p14="http://schemas.microsoft.com/office/powerpoint/2010/main" val="3122461559"/>
              </p:ext>
            </p:extLst>
          </p:nvPr>
        </p:nvGraphicFramePr>
        <p:xfrm>
          <a:off x="2653092" y="5174861"/>
          <a:ext cx="2165522" cy="1371600"/>
        </p:xfrm>
        <a:graphic>
          <a:graphicData uri="http://schemas.openxmlformats.org/drawingml/2006/table">
            <a:tbl>
              <a:tblPr firstRow="1" bandRow="1">
                <a:tableStyleId>{16D9F66E-5EB9-4882-86FB-DCBF35E3C3E4}</a:tableStyleId>
              </a:tblPr>
              <a:tblGrid>
                <a:gridCol w="2165522">
                  <a:extLst>
                    <a:ext uri="{9D8B030D-6E8A-4147-A177-3AD203B41FA5}">
                      <a16:colId xmlns:a16="http://schemas.microsoft.com/office/drawing/2014/main" val="3264710210"/>
                    </a:ext>
                  </a:extLst>
                </a:gridCol>
              </a:tblGrid>
              <a:tr h="370840">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a2 b1 c2 d2</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extLst>
                  <a:ext uri="{0D108BD9-81ED-4DB2-BD59-A6C34878D82A}">
                    <a16:rowId xmlns:a16="http://schemas.microsoft.com/office/drawing/2014/main" val="1621857064"/>
                  </a:ext>
                </a:extLst>
              </a:tr>
              <a:tr h="439962">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a1 b1 c3</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d2</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4147995887"/>
                  </a:ext>
                </a:extLst>
              </a:tr>
              <a:tr h="370840">
                <a:tc>
                  <a:txBody>
                    <a:bodyPr/>
                    <a:lstStyle/>
                    <a:p>
                      <a:pPr algn="ctr"/>
                      <a:r>
                        <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rPr>
                        <a:t>a2 b2 c3</a:t>
                      </a:r>
                      <a:r>
                        <a:rPr lang="en-US" sz="2400" b="0" baseline="0" dirty="0">
                          <a:solidFill>
                            <a:srgbClr val="000000"/>
                          </a:solidFill>
                          <a:latin typeface="Verdana" panose="020B0604030504040204" pitchFamily="34" charset="0"/>
                          <a:ea typeface="Verdana" panose="020B0604030504040204" pitchFamily="34" charset="0"/>
                          <a:cs typeface="Verdana" panose="020B0604030504040204" pitchFamily="34" charset="0"/>
                        </a:rPr>
                        <a:t> d1</a:t>
                      </a:r>
                      <a:endParaRPr lang="en-US" sz="2400" b="0" dirty="0">
                        <a:solidFill>
                          <a:srgbClr val="000000"/>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extLst>
                  <a:ext uri="{0D108BD9-81ED-4DB2-BD59-A6C34878D82A}">
                    <a16:rowId xmlns:a16="http://schemas.microsoft.com/office/drawing/2014/main" val="2015433661"/>
                  </a:ext>
                </a:extLst>
              </a:tr>
            </a:tbl>
          </a:graphicData>
        </a:graphic>
      </p:graphicFrame>
      <p:sp>
        <p:nvSpPr>
          <p:cNvPr id="10" name="文本框 9">
            <a:extLst>
              <a:ext uri="{FF2B5EF4-FFF2-40B4-BE49-F238E27FC236}">
                <a16:creationId xmlns:a16="http://schemas.microsoft.com/office/drawing/2014/main" id="{ACF6FEA8-41F6-4518-AD52-EF7E2FB65855}"/>
              </a:ext>
            </a:extLst>
          </p:cNvPr>
          <p:cNvSpPr txBox="1"/>
          <p:nvPr/>
        </p:nvSpPr>
        <p:spPr>
          <a:xfrm>
            <a:off x="5501208" y="3891099"/>
            <a:ext cx="1210074" cy="2554545"/>
          </a:xfrm>
          <a:prstGeom prst="rect">
            <a:avLst/>
          </a:prstGeom>
          <a:noFill/>
        </p:spPr>
        <p:txBody>
          <a:bodyPr wrap="square" rtlCol="0">
            <a:spAutoFit/>
          </a:bodyPr>
          <a:lstStyle/>
          <a:p>
            <a:r>
              <a:rPr lang="en-US" altLang="zh-CN" dirty="0"/>
              <a:t>(a1, b1)</a:t>
            </a:r>
          </a:p>
          <a:p>
            <a:r>
              <a:rPr lang="en-US" altLang="zh-CN" dirty="0"/>
              <a:t>(a1, b2)</a:t>
            </a:r>
          </a:p>
          <a:p>
            <a:r>
              <a:rPr lang="en-US" altLang="zh-CN" dirty="0"/>
              <a:t>(a2, b1)</a:t>
            </a:r>
          </a:p>
          <a:p>
            <a:r>
              <a:rPr lang="en-US" altLang="zh-CN" dirty="0"/>
              <a:t>(a2, b2)</a:t>
            </a:r>
          </a:p>
          <a:p>
            <a:r>
              <a:rPr lang="en-US" altLang="zh-CN" dirty="0"/>
              <a:t>(a1, d1)</a:t>
            </a:r>
          </a:p>
          <a:p>
            <a:r>
              <a:rPr lang="en-US" altLang="zh-CN" dirty="0"/>
              <a:t>(a1, d2)</a:t>
            </a:r>
          </a:p>
          <a:p>
            <a:r>
              <a:rPr lang="en-US" altLang="zh-CN" dirty="0"/>
              <a:t>(a2, d1)</a:t>
            </a:r>
          </a:p>
          <a:p>
            <a:r>
              <a:rPr lang="en-US" altLang="zh-CN" dirty="0"/>
              <a:t>(a2, d2)</a:t>
            </a:r>
            <a:endParaRPr lang="zh-CN" altLang="en-US" dirty="0"/>
          </a:p>
        </p:txBody>
      </p:sp>
      <p:sp>
        <p:nvSpPr>
          <p:cNvPr id="11" name="文本框 10">
            <a:extLst>
              <a:ext uri="{FF2B5EF4-FFF2-40B4-BE49-F238E27FC236}">
                <a16:creationId xmlns:a16="http://schemas.microsoft.com/office/drawing/2014/main" id="{0B9AFAE9-82CE-4BBE-8831-1FD43A465625}"/>
              </a:ext>
            </a:extLst>
          </p:cNvPr>
          <p:cNvSpPr txBox="1"/>
          <p:nvPr/>
        </p:nvSpPr>
        <p:spPr>
          <a:xfrm>
            <a:off x="6440396" y="3898906"/>
            <a:ext cx="1210074" cy="1938992"/>
          </a:xfrm>
          <a:prstGeom prst="rect">
            <a:avLst/>
          </a:prstGeom>
          <a:noFill/>
        </p:spPr>
        <p:txBody>
          <a:bodyPr wrap="square" rtlCol="0">
            <a:spAutoFit/>
          </a:bodyPr>
          <a:lstStyle/>
          <a:p>
            <a:r>
              <a:rPr lang="en-US" altLang="zh-CN" dirty="0"/>
              <a:t>(a1, c1)</a:t>
            </a:r>
          </a:p>
          <a:p>
            <a:r>
              <a:rPr lang="en-US" altLang="zh-CN" dirty="0"/>
              <a:t>(a1, c2)</a:t>
            </a:r>
          </a:p>
          <a:p>
            <a:r>
              <a:rPr lang="en-US" altLang="zh-CN" dirty="0"/>
              <a:t>(a1, c3)</a:t>
            </a:r>
          </a:p>
          <a:p>
            <a:r>
              <a:rPr lang="en-US" altLang="zh-CN" dirty="0"/>
              <a:t>(a2, c1)</a:t>
            </a:r>
          </a:p>
          <a:p>
            <a:r>
              <a:rPr lang="en-US" altLang="zh-CN" dirty="0"/>
              <a:t>(a2, c2)</a:t>
            </a:r>
          </a:p>
          <a:p>
            <a:r>
              <a:rPr lang="en-US" altLang="zh-CN" dirty="0"/>
              <a:t>(a2, c3)</a:t>
            </a:r>
          </a:p>
        </p:txBody>
      </p:sp>
      <p:sp>
        <p:nvSpPr>
          <p:cNvPr id="12" name="文本框 11">
            <a:extLst>
              <a:ext uri="{FF2B5EF4-FFF2-40B4-BE49-F238E27FC236}">
                <a16:creationId xmlns:a16="http://schemas.microsoft.com/office/drawing/2014/main" id="{5B97A99B-95F2-4F38-9DC7-CCC976A8D209}"/>
              </a:ext>
            </a:extLst>
          </p:cNvPr>
          <p:cNvSpPr txBox="1"/>
          <p:nvPr/>
        </p:nvSpPr>
        <p:spPr>
          <a:xfrm>
            <a:off x="7366758" y="3898906"/>
            <a:ext cx="1210074" cy="1938992"/>
          </a:xfrm>
          <a:prstGeom prst="rect">
            <a:avLst/>
          </a:prstGeom>
          <a:noFill/>
        </p:spPr>
        <p:txBody>
          <a:bodyPr wrap="square" rtlCol="0">
            <a:spAutoFit/>
          </a:bodyPr>
          <a:lstStyle/>
          <a:p>
            <a:r>
              <a:rPr lang="en-US" altLang="zh-CN" dirty="0"/>
              <a:t>(b1, c1)</a:t>
            </a:r>
          </a:p>
          <a:p>
            <a:r>
              <a:rPr lang="en-US" altLang="zh-CN" dirty="0"/>
              <a:t>(b1, c2)</a:t>
            </a:r>
          </a:p>
          <a:p>
            <a:r>
              <a:rPr lang="en-US" altLang="zh-CN" dirty="0"/>
              <a:t>(b1, c3)</a:t>
            </a:r>
          </a:p>
          <a:p>
            <a:r>
              <a:rPr lang="en-US" altLang="zh-CN" dirty="0"/>
              <a:t>(b2, c1)</a:t>
            </a:r>
          </a:p>
          <a:p>
            <a:r>
              <a:rPr lang="en-US" altLang="zh-CN" dirty="0"/>
              <a:t>(b2, c2)</a:t>
            </a:r>
          </a:p>
          <a:p>
            <a:r>
              <a:rPr lang="en-US" altLang="zh-CN" dirty="0"/>
              <a:t>(b2, c3)</a:t>
            </a:r>
          </a:p>
        </p:txBody>
      </p:sp>
      <p:sp>
        <p:nvSpPr>
          <p:cNvPr id="13" name="文本框 12">
            <a:extLst>
              <a:ext uri="{FF2B5EF4-FFF2-40B4-BE49-F238E27FC236}">
                <a16:creationId xmlns:a16="http://schemas.microsoft.com/office/drawing/2014/main" id="{A01BA8A4-A853-4767-A8D5-0B8876569262}"/>
              </a:ext>
            </a:extLst>
          </p:cNvPr>
          <p:cNvSpPr txBox="1"/>
          <p:nvPr/>
        </p:nvSpPr>
        <p:spPr>
          <a:xfrm>
            <a:off x="8305946" y="3898906"/>
            <a:ext cx="1210074" cy="1938992"/>
          </a:xfrm>
          <a:prstGeom prst="rect">
            <a:avLst/>
          </a:prstGeom>
          <a:noFill/>
        </p:spPr>
        <p:txBody>
          <a:bodyPr wrap="square" rtlCol="0">
            <a:spAutoFit/>
          </a:bodyPr>
          <a:lstStyle/>
          <a:p>
            <a:r>
              <a:rPr lang="en-US" altLang="zh-CN" dirty="0"/>
              <a:t>(d1, c1)</a:t>
            </a:r>
          </a:p>
          <a:p>
            <a:r>
              <a:rPr lang="en-US" altLang="zh-CN" dirty="0"/>
              <a:t>(d1, c2)</a:t>
            </a:r>
          </a:p>
          <a:p>
            <a:r>
              <a:rPr lang="en-US" altLang="zh-CN" dirty="0"/>
              <a:t>(d1, c3)</a:t>
            </a:r>
          </a:p>
          <a:p>
            <a:r>
              <a:rPr lang="en-US" altLang="zh-CN" dirty="0"/>
              <a:t>(d2, c1)</a:t>
            </a:r>
          </a:p>
          <a:p>
            <a:r>
              <a:rPr lang="en-US" altLang="zh-CN" dirty="0"/>
              <a:t>(d2, c2)</a:t>
            </a:r>
          </a:p>
          <a:p>
            <a:r>
              <a:rPr lang="en-US" altLang="zh-CN" dirty="0"/>
              <a:t>(d2, c3)</a:t>
            </a:r>
          </a:p>
        </p:txBody>
      </p:sp>
      <p:sp>
        <p:nvSpPr>
          <p:cNvPr id="14" name="文本框 13">
            <a:extLst>
              <a:ext uri="{FF2B5EF4-FFF2-40B4-BE49-F238E27FC236}">
                <a16:creationId xmlns:a16="http://schemas.microsoft.com/office/drawing/2014/main" id="{B209FD46-46F0-4FA3-8D28-694562AD58AC}"/>
              </a:ext>
            </a:extLst>
          </p:cNvPr>
          <p:cNvSpPr txBox="1"/>
          <p:nvPr/>
        </p:nvSpPr>
        <p:spPr>
          <a:xfrm>
            <a:off x="9232308" y="3911443"/>
            <a:ext cx="1210074" cy="1323439"/>
          </a:xfrm>
          <a:prstGeom prst="rect">
            <a:avLst/>
          </a:prstGeom>
          <a:noFill/>
        </p:spPr>
        <p:txBody>
          <a:bodyPr wrap="square" rtlCol="0">
            <a:spAutoFit/>
          </a:bodyPr>
          <a:lstStyle/>
          <a:p>
            <a:r>
              <a:rPr lang="en-US" altLang="zh-CN" dirty="0"/>
              <a:t>(d1, b1)</a:t>
            </a:r>
          </a:p>
          <a:p>
            <a:r>
              <a:rPr lang="en-US" altLang="zh-CN" dirty="0"/>
              <a:t>(d1, b2)</a:t>
            </a:r>
          </a:p>
          <a:p>
            <a:r>
              <a:rPr lang="en-US" altLang="zh-CN" dirty="0"/>
              <a:t>(d2, b1)</a:t>
            </a:r>
          </a:p>
          <a:p>
            <a:r>
              <a:rPr lang="en-US" altLang="zh-CN" dirty="0"/>
              <a:t>(d2, b2)</a:t>
            </a:r>
          </a:p>
        </p:txBody>
      </p:sp>
    </p:spTree>
    <p:extLst>
      <p:ext uri="{BB962C8B-B14F-4D97-AF65-F5344CB8AC3E}">
        <p14:creationId xmlns:p14="http://schemas.microsoft.com/office/powerpoint/2010/main" val="4209439173"/>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EA47D7C9-910C-4A8D-8E84-26C8F5825287}" type="slidenum">
              <a:rPr lang="en-US" altLang="en-US" sz="900" b="0">
                <a:solidFill>
                  <a:schemeClr val="tx1"/>
                </a:solidFill>
                <a:latin typeface="Arial" charset="0"/>
                <a:cs typeface="Arial" charset="0"/>
              </a:rPr>
              <a:pPr/>
              <a:t>38</a:t>
            </a:fld>
            <a:endParaRPr lang="en-US" altLang="en-US" sz="900" b="0">
              <a:solidFill>
                <a:schemeClr val="tx1"/>
              </a:solidFill>
              <a:latin typeface="Arial" charset="0"/>
              <a:cs typeface="Arial" charset="0"/>
            </a:endParaRPr>
          </a:p>
        </p:txBody>
      </p:sp>
      <p:sp>
        <p:nvSpPr>
          <p:cNvPr id="27652" name="Rectangle 2"/>
          <p:cNvSpPr>
            <a:spLocks noGrp="1" noChangeArrowheads="1"/>
          </p:cNvSpPr>
          <p:nvPr>
            <p:ph type="title"/>
          </p:nvPr>
        </p:nvSpPr>
        <p:spPr/>
        <p:txBody>
          <a:bodyPr/>
          <a:lstStyle/>
          <a:p>
            <a:r>
              <a:rPr lang="en-US" altLang="en-US"/>
              <a:t>ISP Criteria –T-Wise</a:t>
            </a:r>
          </a:p>
        </p:txBody>
      </p:sp>
      <p:sp>
        <p:nvSpPr>
          <p:cNvPr id="27653" name="Rectangle 3"/>
          <p:cNvSpPr>
            <a:spLocks noGrp="1" noChangeArrowheads="1"/>
          </p:cNvSpPr>
          <p:nvPr>
            <p:ph type="body" idx="1"/>
          </p:nvPr>
        </p:nvSpPr>
        <p:spPr>
          <a:xfrm>
            <a:off x="1662114" y="857243"/>
            <a:ext cx="8867775" cy="919163"/>
          </a:xfrm>
        </p:spPr>
        <p:txBody>
          <a:bodyPr/>
          <a:lstStyle/>
          <a:p>
            <a:r>
              <a:rPr lang="en-US" altLang="en-US" dirty="0"/>
              <a:t>A natural extension is to require combinations of </a:t>
            </a:r>
            <a:r>
              <a:rPr lang="en-US" altLang="en-US" i="1" dirty="0">
                <a:solidFill>
                  <a:schemeClr val="tx2"/>
                </a:solidFill>
              </a:rPr>
              <a:t>t</a:t>
            </a:r>
            <a:r>
              <a:rPr lang="en-US" altLang="en-US" dirty="0"/>
              <a:t> values instead of </a:t>
            </a:r>
            <a:r>
              <a:rPr lang="en-US" altLang="en-US" i="1" dirty="0">
                <a:solidFill>
                  <a:schemeClr val="tx2"/>
                </a:solidFill>
              </a:rPr>
              <a:t>2</a:t>
            </a:r>
          </a:p>
        </p:txBody>
      </p:sp>
      <p:sp>
        <p:nvSpPr>
          <p:cNvPr id="278532" name="Text Box 4"/>
          <p:cNvSpPr txBox="1">
            <a:spLocks noChangeArrowheads="1"/>
          </p:cNvSpPr>
          <p:nvPr/>
        </p:nvSpPr>
        <p:spPr bwMode="auto">
          <a:xfrm>
            <a:off x="1873250" y="1824616"/>
            <a:ext cx="8447088" cy="841375"/>
          </a:xfrm>
          <a:prstGeom prst="rect">
            <a:avLst/>
          </a:prstGeom>
          <a:gradFill rotWithShape="1">
            <a:gsLst>
              <a:gs pos="0">
                <a:srgbClr val="3399FF"/>
              </a:gs>
              <a:gs pos="100000">
                <a:srgbClr val="0033CC"/>
              </a:gs>
            </a:gsLst>
            <a:path path="shape">
              <a:fillToRect l="50000" t="50000" r="50000" b="50000"/>
            </a:path>
          </a:gradFill>
          <a:ln w="19050">
            <a:solidFill>
              <a:schemeClr val="tx2"/>
            </a:solidFill>
            <a:miter lim="800000"/>
            <a:headEnd type="none" w="sm" len="sm"/>
            <a:tailEnd type="none" w="sm" len="sm"/>
          </a:ln>
          <a:effectLst/>
        </p:spPr>
        <p:txBody>
          <a:bodyPr>
            <a:spAutoFit/>
          </a:bodyPr>
          <a:lstStyle/>
          <a:p>
            <a:pPr>
              <a:spcBef>
                <a:spcPct val="50000"/>
              </a:spcBef>
              <a:defRPr/>
            </a:pPr>
            <a:r>
              <a:rPr lang="en-US" sz="2400" u="sng" dirty="0">
                <a:solidFill>
                  <a:schemeClr val="tx2"/>
                </a:solidFill>
                <a:effectLst>
                  <a:outerShdw blurRad="38100" dist="38100" dir="2700000" algn="tl">
                    <a:srgbClr val="000000"/>
                  </a:outerShdw>
                </a:effectLst>
                <a:latin typeface="Gill Sans MT" panose="020B0502020104020203" pitchFamily="34" charset="0"/>
              </a:rPr>
              <a:t>t-Wise Coverage (TWC)</a:t>
            </a:r>
            <a:r>
              <a:rPr lang="en-US" sz="2400" dirty="0">
                <a:solidFill>
                  <a:schemeClr val="tx2"/>
                </a:solidFill>
                <a:effectLst>
                  <a:outerShdw blurRad="38100" dist="38100" dir="2700000" algn="tl">
                    <a:srgbClr val="000000"/>
                  </a:outerShdw>
                </a:effectLst>
                <a:latin typeface="Gill Sans MT" panose="020B0502020104020203" pitchFamily="34" charset="0"/>
              </a:rPr>
              <a:t> : </a:t>
            </a:r>
            <a:r>
              <a:rPr lang="en-US" sz="2400" dirty="0">
                <a:effectLst>
                  <a:outerShdw blurRad="38100" dist="38100" dir="2700000" algn="tl">
                    <a:srgbClr val="000000"/>
                  </a:outerShdw>
                </a:effectLst>
                <a:latin typeface="Gill Sans MT" panose="020B0502020104020203" pitchFamily="34" charset="0"/>
              </a:rPr>
              <a:t>A value from each block for each group of t characteristics must be combined.</a:t>
            </a:r>
          </a:p>
        </p:txBody>
      </p:sp>
      <p:sp>
        <p:nvSpPr>
          <p:cNvPr id="278533" name="Rectangle 5"/>
          <p:cNvSpPr>
            <a:spLocks noChangeArrowheads="1"/>
          </p:cNvSpPr>
          <p:nvPr/>
        </p:nvSpPr>
        <p:spPr bwMode="auto">
          <a:xfrm>
            <a:off x="1662114" y="2714201"/>
            <a:ext cx="8867775"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5750" indent="-285750">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90000"/>
              </a:lnSpc>
              <a:spcBef>
                <a:spcPct val="30000"/>
              </a:spcBef>
              <a:buSzPct val="85000"/>
              <a:buFontTx/>
              <a:buChar char="•"/>
            </a:pPr>
            <a:r>
              <a:rPr lang="en-US" altLang="en-US" sz="2800" b="0" dirty="0">
                <a:solidFill>
                  <a:schemeClr val="tx1"/>
                </a:solidFill>
                <a:latin typeface="Gill Sans MT" panose="020B0502020104020203" pitchFamily="34" charset="0"/>
              </a:rPr>
              <a:t>Number of  tests is at least the product of  </a:t>
            </a:r>
            <a:r>
              <a:rPr lang="en-US" altLang="en-US" sz="2800" b="0" i="1" dirty="0">
                <a:solidFill>
                  <a:schemeClr val="tx2"/>
                </a:solidFill>
                <a:latin typeface="Gill Sans MT" panose="020B0502020104020203" pitchFamily="34" charset="0"/>
              </a:rPr>
              <a:t>t</a:t>
            </a:r>
            <a:r>
              <a:rPr lang="en-US" altLang="en-US" sz="2800" b="0" dirty="0">
                <a:solidFill>
                  <a:schemeClr val="tx1"/>
                </a:solidFill>
                <a:latin typeface="Gill Sans MT" panose="020B0502020104020203" pitchFamily="34" charset="0"/>
              </a:rPr>
              <a:t>  largest characteristics</a:t>
            </a:r>
          </a:p>
          <a:p>
            <a:pPr>
              <a:lnSpc>
                <a:spcPct val="90000"/>
              </a:lnSpc>
              <a:spcBef>
                <a:spcPct val="30000"/>
              </a:spcBef>
              <a:buSzPct val="85000"/>
              <a:buFontTx/>
              <a:buChar char="•"/>
            </a:pPr>
            <a:r>
              <a:rPr lang="en-US" altLang="en-US" sz="2800" b="0" dirty="0">
                <a:solidFill>
                  <a:schemeClr val="tx1"/>
                </a:solidFill>
                <a:latin typeface="Gill Sans MT" panose="020B0502020104020203" pitchFamily="34" charset="0"/>
              </a:rPr>
              <a:t>If all characteristics are the same size, the formula is</a:t>
            </a:r>
            <a:endParaRPr lang="en-US" altLang="en-US" sz="2800" b="0" dirty="0">
              <a:solidFill>
                <a:schemeClr val="tx1"/>
              </a:solidFill>
              <a:latin typeface="Gill Sans MT" panose="020B0502020104020203" pitchFamily="34" charset="0"/>
              <a:sym typeface="Symbol" pitchFamily="18" charset="2"/>
            </a:endParaRPr>
          </a:p>
        </p:txBody>
      </p:sp>
      <p:grpSp>
        <p:nvGrpSpPr>
          <p:cNvPr id="2" name="Group 24"/>
          <p:cNvGrpSpPr>
            <a:grpSpLocks/>
          </p:cNvGrpSpPr>
          <p:nvPr/>
        </p:nvGrpSpPr>
        <p:grpSpPr bwMode="auto">
          <a:xfrm>
            <a:off x="4340226" y="3964148"/>
            <a:ext cx="2513013" cy="709613"/>
            <a:chOff x="554" y="2274"/>
            <a:chExt cx="1583" cy="447"/>
          </a:xfrm>
        </p:grpSpPr>
        <p:sp>
          <p:nvSpPr>
            <p:cNvPr id="27659" name="Text Box 7"/>
            <p:cNvSpPr txBox="1">
              <a:spLocks noChangeArrowheads="1"/>
            </p:cNvSpPr>
            <p:nvPr/>
          </p:nvSpPr>
          <p:spPr bwMode="auto">
            <a:xfrm>
              <a:off x="554" y="2290"/>
              <a:ext cx="835"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3600">
                  <a:solidFill>
                    <a:schemeClr val="tx2"/>
                  </a:solidFill>
                  <a:sym typeface="Symbol" pitchFamily="18" charset="2"/>
                </a:rPr>
                <a:t>(Max</a:t>
              </a:r>
              <a:endParaRPr lang="en-US" altLang="en-US" sz="2400" baseline="-25000">
                <a:solidFill>
                  <a:schemeClr val="tx2"/>
                </a:solidFill>
                <a:sym typeface="Symbol" pitchFamily="18" charset="2"/>
              </a:endParaRPr>
            </a:p>
          </p:txBody>
        </p:sp>
        <p:sp>
          <p:nvSpPr>
            <p:cNvPr id="27660" name="Text Box 8"/>
            <p:cNvSpPr txBox="1">
              <a:spLocks noChangeArrowheads="1"/>
            </p:cNvSpPr>
            <p:nvPr/>
          </p:nvSpPr>
          <p:spPr bwMode="auto">
            <a:xfrm>
              <a:off x="1284" y="2274"/>
              <a:ext cx="2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a:t>Q</a:t>
              </a:r>
            </a:p>
          </p:txBody>
        </p:sp>
        <p:sp>
          <p:nvSpPr>
            <p:cNvPr id="27661" name="Text Box 9"/>
            <p:cNvSpPr txBox="1">
              <a:spLocks noChangeArrowheads="1"/>
            </p:cNvSpPr>
            <p:nvPr/>
          </p:nvSpPr>
          <p:spPr bwMode="auto">
            <a:xfrm>
              <a:off x="1278" y="2471"/>
              <a:ext cx="3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a:t>i=1</a:t>
              </a:r>
            </a:p>
          </p:txBody>
        </p:sp>
        <p:sp>
          <p:nvSpPr>
            <p:cNvPr id="27662" name="Text Box 10"/>
            <p:cNvSpPr txBox="1">
              <a:spLocks noChangeArrowheads="1"/>
            </p:cNvSpPr>
            <p:nvPr/>
          </p:nvSpPr>
          <p:spPr bwMode="auto">
            <a:xfrm>
              <a:off x="1490" y="2348"/>
              <a:ext cx="4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2400"/>
                <a:t>(B</a:t>
              </a:r>
              <a:r>
                <a:rPr lang="en-US" altLang="en-US" sz="2400" baseline="-25000"/>
                <a:t>i</a:t>
              </a:r>
              <a:r>
                <a:rPr lang="en-US" altLang="en-US" sz="2400"/>
                <a:t>)</a:t>
              </a:r>
            </a:p>
          </p:txBody>
        </p:sp>
        <p:sp>
          <p:nvSpPr>
            <p:cNvPr id="27663" name="Text Box 12"/>
            <p:cNvSpPr txBox="1">
              <a:spLocks noChangeArrowheads="1"/>
            </p:cNvSpPr>
            <p:nvPr/>
          </p:nvSpPr>
          <p:spPr bwMode="auto">
            <a:xfrm>
              <a:off x="1801" y="2289"/>
              <a:ext cx="237"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3600">
                  <a:solidFill>
                    <a:schemeClr val="tx2"/>
                  </a:solidFill>
                  <a:sym typeface="Symbol" pitchFamily="18" charset="2"/>
                </a:rPr>
                <a:t>)</a:t>
              </a:r>
              <a:endParaRPr lang="en-US" altLang="en-US" sz="2400" baseline="-25000">
                <a:solidFill>
                  <a:schemeClr val="tx2"/>
                </a:solidFill>
                <a:sym typeface="Symbol" pitchFamily="18" charset="2"/>
              </a:endParaRPr>
            </a:p>
          </p:txBody>
        </p:sp>
        <p:sp>
          <p:nvSpPr>
            <p:cNvPr id="27664" name="Text Box 13"/>
            <p:cNvSpPr txBox="1">
              <a:spLocks noChangeArrowheads="1"/>
            </p:cNvSpPr>
            <p:nvPr/>
          </p:nvSpPr>
          <p:spPr bwMode="auto">
            <a:xfrm>
              <a:off x="1899" y="2299"/>
              <a:ext cx="2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a:t>t</a:t>
              </a:r>
            </a:p>
          </p:txBody>
        </p:sp>
      </p:grpSp>
      <p:sp>
        <p:nvSpPr>
          <p:cNvPr id="278542" name="Rectangle 14"/>
          <p:cNvSpPr>
            <a:spLocks noChangeArrowheads="1"/>
          </p:cNvSpPr>
          <p:nvPr/>
        </p:nvSpPr>
        <p:spPr bwMode="auto">
          <a:xfrm>
            <a:off x="1662114" y="4721972"/>
            <a:ext cx="8867775" cy="1823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5750" indent="-285750">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90000"/>
              </a:lnSpc>
              <a:spcBef>
                <a:spcPct val="30000"/>
              </a:spcBef>
              <a:buSzPct val="85000"/>
              <a:buFontTx/>
              <a:buChar char="•"/>
            </a:pPr>
            <a:r>
              <a:rPr lang="en-US" altLang="en-US" sz="2800" b="0" dirty="0">
                <a:solidFill>
                  <a:schemeClr val="tx1"/>
                </a:solidFill>
                <a:latin typeface="Gill Sans MT" panose="020B0502020104020203" pitchFamily="34" charset="0"/>
              </a:rPr>
              <a:t>If </a:t>
            </a:r>
            <a:r>
              <a:rPr lang="en-US" altLang="en-US" sz="2800" b="0" i="1" dirty="0">
                <a:solidFill>
                  <a:schemeClr val="tx2"/>
                </a:solidFill>
                <a:latin typeface="Gill Sans MT" panose="020B0502020104020203" pitchFamily="34" charset="0"/>
              </a:rPr>
              <a:t>t</a:t>
            </a:r>
            <a:r>
              <a:rPr lang="en-US" altLang="en-US" sz="2800" b="0" dirty="0">
                <a:solidFill>
                  <a:schemeClr val="tx1"/>
                </a:solidFill>
                <a:latin typeface="Gill Sans MT" panose="020B0502020104020203" pitchFamily="34" charset="0"/>
              </a:rPr>
              <a:t> is the number of characteristics </a:t>
            </a:r>
            <a:r>
              <a:rPr lang="en-US" altLang="en-US" sz="2800" b="0" i="1" dirty="0">
                <a:solidFill>
                  <a:schemeClr val="tx2"/>
                </a:solidFill>
                <a:latin typeface="Gill Sans MT" panose="020B0502020104020203" pitchFamily="34" charset="0"/>
              </a:rPr>
              <a:t>Q</a:t>
            </a:r>
            <a:r>
              <a:rPr lang="en-US" altLang="en-US" sz="2800" b="0" dirty="0">
                <a:solidFill>
                  <a:schemeClr val="tx1"/>
                </a:solidFill>
                <a:latin typeface="Gill Sans MT" panose="020B0502020104020203" pitchFamily="34" charset="0"/>
              </a:rPr>
              <a:t>, then all combinations</a:t>
            </a:r>
          </a:p>
          <a:p>
            <a:pPr>
              <a:lnSpc>
                <a:spcPct val="90000"/>
              </a:lnSpc>
              <a:spcBef>
                <a:spcPct val="30000"/>
              </a:spcBef>
              <a:buSzPct val="85000"/>
              <a:buFontTx/>
              <a:buChar char="•"/>
            </a:pPr>
            <a:r>
              <a:rPr lang="en-US" altLang="en-US" sz="2800" b="0" dirty="0">
                <a:solidFill>
                  <a:schemeClr val="tx1"/>
                </a:solidFill>
                <a:latin typeface="Gill Sans MT" panose="020B0502020104020203" pitchFamily="34" charset="0"/>
              </a:rPr>
              <a:t>That is … </a:t>
            </a:r>
            <a:r>
              <a:rPr lang="en-US" altLang="en-US" sz="2800" b="0" i="1" dirty="0">
                <a:solidFill>
                  <a:schemeClr val="tx2"/>
                </a:solidFill>
                <a:latin typeface="Gill Sans MT" panose="020B0502020104020203" pitchFamily="34" charset="0"/>
              </a:rPr>
              <a:t>Q-wise</a:t>
            </a:r>
            <a:r>
              <a:rPr lang="en-US" altLang="en-US" sz="2800" b="0" dirty="0">
                <a:solidFill>
                  <a:schemeClr val="tx2"/>
                </a:solidFill>
                <a:latin typeface="Gill Sans MT" panose="020B0502020104020203" pitchFamily="34" charset="0"/>
              </a:rPr>
              <a:t> = </a:t>
            </a:r>
            <a:r>
              <a:rPr lang="en-US" altLang="en-US" sz="2800" b="0" i="1" dirty="0">
                <a:solidFill>
                  <a:schemeClr val="tx2"/>
                </a:solidFill>
                <a:latin typeface="Gill Sans MT" panose="020B0502020104020203" pitchFamily="34" charset="0"/>
              </a:rPr>
              <a:t>AC</a:t>
            </a:r>
          </a:p>
          <a:p>
            <a:pPr>
              <a:lnSpc>
                <a:spcPct val="90000"/>
              </a:lnSpc>
              <a:spcBef>
                <a:spcPct val="30000"/>
              </a:spcBef>
              <a:buSzPct val="85000"/>
              <a:buFontTx/>
              <a:buChar char="•"/>
            </a:pPr>
            <a:r>
              <a:rPr lang="en-US" altLang="en-US" sz="2800" b="0" i="1" dirty="0">
                <a:solidFill>
                  <a:schemeClr val="tx1"/>
                </a:solidFill>
                <a:latin typeface="Gill Sans MT" panose="020B0502020104020203" pitchFamily="34" charset="0"/>
              </a:rPr>
              <a:t>t</a:t>
            </a:r>
            <a:r>
              <a:rPr lang="en-US" altLang="en-US" sz="2800" b="0" dirty="0">
                <a:solidFill>
                  <a:schemeClr val="tx1"/>
                </a:solidFill>
                <a:latin typeface="Gill Sans MT" panose="020B0502020104020203" pitchFamily="34" charset="0"/>
              </a:rPr>
              <a:t>-wise is </a:t>
            </a:r>
            <a:r>
              <a:rPr lang="en-US" altLang="en-US" sz="2800" b="0" dirty="0">
                <a:solidFill>
                  <a:schemeClr val="tx2"/>
                </a:solidFill>
                <a:latin typeface="Gill Sans MT" panose="020B0502020104020203" pitchFamily="34" charset="0"/>
              </a:rPr>
              <a:t>expensive</a:t>
            </a:r>
            <a:r>
              <a:rPr lang="en-US" altLang="en-US" sz="2800" b="0" dirty="0">
                <a:solidFill>
                  <a:schemeClr val="tx1"/>
                </a:solidFill>
                <a:latin typeface="Gill Sans MT" panose="020B0502020104020203" pitchFamily="34" charset="0"/>
              </a:rPr>
              <a:t> and benefits are not clear</a:t>
            </a:r>
            <a:endParaRPr lang="en-US" altLang="en-US" sz="2800" b="0" dirty="0">
              <a:solidFill>
                <a:schemeClr val="tx1"/>
              </a:solidFill>
              <a:latin typeface="Gill Sans MT" panose="020B0502020104020203" pitchFamily="34" charset="0"/>
              <a:sym typeface="Symbol" pitchFamily="18" charset="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8532"/>
                                        </p:tgtEl>
                                        <p:attrNameLst>
                                          <p:attrName>style.visibility</p:attrName>
                                        </p:attrNameLst>
                                      </p:cBhvr>
                                      <p:to>
                                        <p:strVal val="visible"/>
                                      </p:to>
                                    </p:set>
                                    <p:animEffect transition="in" filter="dissolve">
                                      <p:cBhvr>
                                        <p:cTn id="7" dur="500"/>
                                        <p:tgtEl>
                                          <p:spTgt spid="2785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8533">
                                            <p:txEl>
                                              <p:pRg st="0" end="0"/>
                                            </p:txEl>
                                          </p:spTgt>
                                        </p:tgtEl>
                                        <p:attrNameLst>
                                          <p:attrName>style.visibility</p:attrName>
                                        </p:attrNameLst>
                                      </p:cBhvr>
                                      <p:to>
                                        <p:strVal val="visible"/>
                                      </p:to>
                                    </p:set>
                                    <p:animEffect transition="in" filter="wipe(left)">
                                      <p:cBhvr>
                                        <p:cTn id="12" dur="1000"/>
                                        <p:tgtEl>
                                          <p:spTgt spid="27853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8533">
                                            <p:txEl>
                                              <p:pRg st="1" end="1"/>
                                            </p:txEl>
                                          </p:spTgt>
                                        </p:tgtEl>
                                        <p:attrNameLst>
                                          <p:attrName>style.visibility</p:attrName>
                                        </p:attrNameLst>
                                      </p:cBhvr>
                                      <p:to>
                                        <p:strVal val="visible"/>
                                      </p:to>
                                    </p:set>
                                    <p:animEffect transition="in" filter="wipe(left)">
                                      <p:cBhvr>
                                        <p:cTn id="17" dur="1000"/>
                                        <p:tgtEl>
                                          <p:spTgt spid="278533">
                                            <p:txEl>
                                              <p:pRg st="1" end="1"/>
                                            </p:txEl>
                                          </p:spTgt>
                                        </p:tgtEl>
                                      </p:cBhvr>
                                    </p:animEffect>
                                  </p:childTnLst>
                                </p:cTn>
                              </p:par>
                            </p:childTnLst>
                          </p:cTn>
                        </p:par>
                        <p:par>
                          <p:cTn id="18" fill="hold" nodeType="afterGroup">
                            <p:stCondLst>
                              <p:cond delay="1000"/>
                            </p:stCondLst>
                            <p:childTnLst>
                              <p:par>
                                <p:cTn id="19" presetID="9" presetClass="entr" presetSubtype="0"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dissolve">
                                      <p:cBhvr>
                                        <p:cTn id="21" dur="500"/>
                                        <p:tgtEl>
                                          <p:spTgt spid="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78542">
                                            <p:txEl>
                                              <p:pRg st="0" end="0"/>
                                            </p:txEl>
                                          </p:spTgt>
                                        </p:tgtEl>
                                        <p:attrNameLst>
                                          <p:attrName>style.visibility</p:attrName>
                                        </p:attrNameLst>
                                      </p:cBhvr>
                                      <p:to>
                                        <p:strVal val="visible"/>
                                      </p:to>
                                    </p:set>
                                    <p:animEffect transition="in" filter="wipe(left)">
                                      <p:cBhvr>
                                        <p:cTn id="26" dur="1000"/>
                                        <p:tgtEl>
                                          <p:spTgt spid="278542">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78542">
                                            <p:txEl>
                                              <p:pRg st="1" end="1"/>
                                            </p:txEl>
                                          </p:spTgt>
                                        </p:tgtEl>
                                        <p:attrNameLst>
                                          <p:attrName>style.visibility</p:attrName>
                                        </p:attrNameLst>
                                      </p:cBhvr>
                                      <p:to>
                                        <p:strVal val="visible"/>
                                      </p:to>
                                    </p:set>
                                    <p:animEffect transition="in" filter="wipe(left)">
                                      <p:cBhvr>
                                        <p:cTn id="31" dur="1000"/>
                                        <p:tgtEl>
                                          <p:spTgt spid="278542">
                                            <p:txEl>
                                              <p:pRg st="1" end="1"/>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78542">
                                            <p:txEl>
                                              <p:pRg st="2" end="2"/>
                                            </p:txEl>
                                          </p:spTgt>
                                        </p:tgtEl>
                                        <p:attrNameLst>
                                          <p:attrName>style.visibility</p:attrName>
                                        </p:attrNameLst>
                                      </p:cBhvr>
                                      <p:to>
                                        <p:strVal val="visible"/>
                                      </p:to>
                                    </p:set>
                                    <p:animEffect transition="in" filter="wipe(left)">
                                      <p:cBhvr>
                                        <p:cTn id="36" dur="1000"/>
                                        <p:tgtEl>
                                          <p:spTgt spid="27854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32" grpId="0" animBg="1" autoUpdateAnimBg="0"/>
      <p:bldP spid="278533" grpId="0" build="p"/>
      <p:bldP spid="278542"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D16DA58C-DC35-4201-8B76-F9C3C4B36900}" type="slidenum">
              <a:rPr lang="en-US" altLang="en-US" sz="900" b="0">
                <a:solidFill>
                  <a:schemeClr val="tx1"/>
                </a:solidFill>
                <a:latin typeface="Arial" charset="0"/>
                <a:cs typeface="Arial" charset="0"/>
              </a:rPr>
              <a:pPr/>
              <a:t>39</a:t>
            </a:fld>
            <a:endParaRPr lang="en-US" altLang="en-US" sz="900" b="0">
              <a:solidFill>
                <a:schemeClr val="tx1"/>
              </a:solidFill>
              <a:latin typeface="Arial" charset="0"/>
              <a:cs typeface="Arial" charset="0"/>
            </a:endParaRPr>
          </a:p>
        </p:txBody>
      </p:sp>
      <p:sp>
        <p:nvSpPr>
          <p:cNvPr id="28676" name="Rectangle 2"/>
          <p:cNvSpPr>
            <a:spLocks noGrp="1" noChangeArrowheads="1"/>
          </p:cNvSpPr>
          <p:nvPr>
            <p:ph type="title"/>
          </p:nvPr>
        </p:nvSpPr>
        <p:spPr/>
        <p:txBody>
          <a:bodyPr/>
          <a:lstStyle/>
          <a:p>
            <a:r>
              <a:rPr lang="en-US" altLang="en-US"/>
              <a:t>ISP Criteria – Base Choice</a:t>
            </a:r>
          </a:p>
        </p:txBody>
      </p:sp>
      <p:sp>
        <p:nvSpPr>
          <p:cNvPr id="28677" name="Rectangle 3"/>
          <p:cNvSpPr>
            <a:spLocks noGrp="1" noChangeArrowheads="1"/>
          </p:cNvSpPr>
          <p:nvPr>
            <p:ph type="body" idx="1"/>
          </p:nvPr>
        </p:nvSpPr>
        <p:spPr>
          <a:xfrm>
            <a:off x="1662114" y="784928"/>
            <a:ext cx="8867775" cy="1432290"/>
          </a:xfrm>
        </p:spPr>
        <p:txBody>
          <a:bodyPr/>
          <a:lstStyle/>
          <a:p>
            <a:r>
              <a:rPr lang="en-US" altLang="en-US" dirty="0"/>
              <a:t>Testers sometimes recognize that certain values are </a:t>
            </a:r>
            <a:r>
              <a:rPr lang="en-US" altLang="en-US" dirty="0">
                <a:solidFill>
                  <a:schemeClr val="tx2"/>
                </a:solidFill>
              </a:rPr>
              <a:t>important</a:t>
            </a:r>
          </a:p>
          <a:p>
            <a:r>
              <a:rPr lang="en-US" altLang="en-US" dirty="0"/>
              <a:t>This uses </a:t>
            </a:r>
            <a:r>
              <a:rPr lang="en-US" altLang="en-US" dirty="0">
                <a:solidFill>
                  <a:schemeClr val="tx2"/>
                </a:solidFill>
              </a:rPr>
              <a:t>domain knowledge</a:t>
            </a:r>
            <a:r>
              <a:rPr lang="en-US" altLang="en-US" dirty="0"/>
              <a:t> of the program</a:t>
            </a:r>
            <a:endParaRPr lang="en-US" altLang="en-US" i="1" dirty="0">
              <a:solidFill>
                <a:schemeClr val="tx2"/>
              </a:solidFill>
            </a:endParaRPr>
          </a:p>
        </p:txBody>
      </p:sp>
      <p:sp>
        <p:nvSpPr>
          <p:cNvPr id="280580" name="Text Box 4"/>
          <p:cNvSpPr txBox="1">
            <a:spLocks noChangeArrowheads="1"/>
          </p:cNvSpPr>
          <p:nvPr/>
        </p:nvSpPr>
        <p:spPr bwMode="auto">
          <a:xfrm>
            <a:off x="1679575" y="2284047"/>
            <a:ext cx="8828088" cy="1938337"/>
          </a:xfrm>
          <a:prstGeom prst="rect">
            <a:avLst/>
          </a:prstGeom>
          <a:gradFill rotWithShape="1">
            <a:gsLst>
              <a:gs pos="0">
                <a:srgbClr val="3399FF"/>
              </a:gs>
              <a:gs pos="100000">
                <a:srgbClr val="0033CC"/>
              </a:gs>
            </a:gsLst>
            <a:path path="shape">
              <a:fillToRect l="50000" t="50000" r="50000" b="50000"/>
            </a:path>
          </a:gradFill>
          <a:ln w="19050">
            <a:solidFill>
              <a:schemeClr val="tx2"/>
            </a:solidFill>
            <a:miter lim="800000"/>
            <a:headEnd type="none" w="sm" len="sm"/>
            <a:tailEnd type="none" w="sm" len="sm"/>
          </a:ln>
          <a:effectLst/>
        </p:spPr>
        <p:txBody>
          <a:bodyPr>
            <a:spAutoFit/>
          </a:bodyPr>
          <a:lstStyle/>
          <a:p>
            <a:pPr>
              <a:spcBef>
                <a:spcPct val="50000"/>
              </a:spcBef>
              <a:defRPr/>
            </a:pPr>
            <a:r>
              <a:rPr lang="en-US" sz="2400" u="sng" dirty="0">
                <a:solidFill>
                  <a:schemeClr val="tx2"/>
                </a:solidFill>
                <a:latin typeface="Gill Sans MT" panose="020B0502020104020203" pitchFamily="34" charset="0"/>
              </a:rPr>
              <a:t>Base Choice Coverage (BCC)</a:t>
            </a:r>
            <a:r>
              <a:rPr lang="en-US" sz="2400" dirty="0">
                <a:solidFill>
                  <a:schemeClr val="tx2"/>
                </a:solidFill>
                <a:latin typeface="Gill Sans MT" panose="020B0502020104020203" pitchFamily="34" charset="0"/>
              </a:rPr>
              <a:t> :  </a:t>
            </a:r>
            <a:r>
              <a:rPr lang="en-US" sz="2400" dirty="0">
                <a:latin typeface="Gill Sans MT" panose="020B0502020104020203" pitchFamily="34" charset="0"/>
              </a:rPr>
              <a:t>A base choice block is chosen for each characteristic, and a base test is formed by using the base choice for each characteristic.  Subsequent tests are chosen by holding all but one base choice constant and using each non-base choice in each other characteristic.</a:t>
            </a:r>
          </a:p>
        </p:txBody>
      </p:sp>
      <p:sp>
        <p:nvSpPr>
          <p:cNvPr id="280581" name="Rectangle 5"/>
          <p:cNvSpPr>
            <a:spLocks noChangeArrowheads="1"/>
          </p:cNvSpPr>
          <p:nvPr/>
        </p:nvSpPr>
        <p:spPr bwMode="auto">
          <a:xfrm>
            <a:off x="1662114" y="4277946"/>
            <a:ext cx="8867775"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5750" indent="-285750">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90000"/>
              </a:lnSpc>
              <a:spcBef>
                <a:spcPct val="30000"/>
              </a:spcBef>
              <a:buSzPct val="85000"/>
              <a:buFontTx/>
              <a:buChar char="•"/>
            </a:pPr>
            <a:r>
              <a:rPr lang="en-US" altLang="en-US" sz="2800" b="0" dirty="0">
                <a:solidFill>
                  <a:schemeClr val="tx1"/>
                </a:solidFill>
                <a:latin typeface="Gill Sans MT" panose="020B0502020104020203" pitchFamily="34" charset="0"/>
              </a:rPr>
              <a:t>Number of  tests is one base test + one test for each other block</a:t>
            </a:r>
            <a:endParaRPr lang="en-US" altLang="en-US" sz="2800" b="0" dirty="0">
              <a:solidFill>
                <a:schemeClr val="tx1"/>
              </a:solidFill>
              <a:latin typeface="Gill Sans MT" panose="020B0502020104020203" pitchFamily="34" charset="0"/>
              <a:sym typeface="Symbol" pitchFamily="18" charset="2"/>
            </a:endParaRPr>
          </a:p>
        </p:txBody>
      </p:sp>
      <p:grpSp>
        <p:nvGrpSpPr>
          <p:cNvPr id="2" name="Group 14"/>
          <p:cNvGrpSpPr>
            <a:grpSpLocks/>
          </p:cNvGrpSpPr>
          <p:nvPr/>
        </p:nvGrpSpPr>
        <p:grpSpPr bwMode="auto">
          <a:xfrm>
            <a:off x="3676941" y="4573135"/>
            <a:ext cx="2549525" cy="709613"/>
            <a:chOff x="2152" y="2525"/>
            <a:chExt cx="1606" cy="447"/>
          </a:xfrm>
        </p:grpSpPr>
        <p:sp>
          <p:nvSpPr>
            <p:cNvPr id="28683" name="Text Box 6"/>
            <p:cNvSpPr txBox="1">
              <a:spLocks noChangeArrowheads="1"/>
            </p:cNvSpPr>
            <p:nvPr/>
          </p:nvSpPr>
          <p:spPr bwMode="auto">
            <a:xfrm>
              <a:off x="2152" y="2541"/>
              <a:ext cx="763"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r">
                <a:spcBef>
                  <a:spcPct val="50000"/>
                </a:spcBef>
              </a:pPr>
              <a:r>
                <a:rPr lang="en-US" altLang="en-US" sz="3200" dirty="0">
                  <a:solidFill>
                    <a:schemeClr val="tx2"/>
                  </a:solidFill>
                  <a:sym typeface="Symbol" pitchFamily="18" charset="2"/>
                </a:rPr>
                <a:t>1 + </a:t>
              </a:r>
              <a:r>
                <a:rPr lang="en-US" altLang="en-US" sz="3600" dirty="0">
                  <a:solidFill>
                    <a:schemeClr val="tx2"/>
                  </a:solidFill>
                  <a:sym typeface="Symbol" pitchFamily="18" charset="2"/>
                </a:rPr>
                <a:t></a:t>
              </a:r>
              <a:endParaRPr lang="en-US" altLang="en-US" sz="2400" baseline="-25000" dirty="0">
                <a:solidFill>
                  <a:schemeClr val="tx2"/>
                </a:solidFill>
                <a:sym typeface="Symbol" pitchFamily="18" charset="2"/>
              </a:endParaRPr>
            </a:p>
          </p:txBody>
        </p:sp>
        <p:sp>
          <p:nvSpPr>
            <p:cNvPr id="28684" name="Text Box 7"/>
            <p:cNvSpPr txBox="1">
              <a:spLocks noChangeArrowheads="1"/>
            </p:cNvSpPr>
            <p:nvPr/>
          </p:nvSpPr>
          <p:spPr bwMode="auto">
            <a:xfrm>
              <a:off x="2818" y="2525"/>
              <a:ext cx="2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dirty="0"/>
                <a:t>Q</a:t>
              </a:r>
            </a:p>
          </p:txBody>
        </p:sp>
        <p:sp>
          <p:nvSpPr>
            <p:cNvPr id="28685" name="Text Box 8"/>
            <p:cNvSpPr txBox="1">
              <a:spLocks noChangeArrowheads="1"/>
            </p:cNvSpPr>
            <p:nvPr/>
          </p:nvSpPr>
          <p:spPr bwMode="auto">
            <a:xfrm>
              <a:off x="2812" y="2722"/>
              <a:ext cx="3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a:t>i=1</a:t>
              </a:r>
            </a:p>
          </p:txBody>
        </p:sp>
        <p:sp>
          <p:nvSpPr>
            <p:cNvPr id="28686" name="Text Box 9"/>
            <p:cNvSpPr txBox="1">
              <a:spLocks noChangeArrowheads="1"/>
            </p:cNvSpPr>
            <p:nvPr/>
          </p:nvSpPr>
          <p:spPr bwMode="auto">
            <a:xfrm>
              <a:off x="3066" y="2599"/>
              <a:ext cx="6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2400"/>
                <a:t>(B</a:t>
              </a:r>
              <a:r>
                <a:rPr lang="en-US" altLang="en-US" sz="2400" baseline="-25000"/>
                <a:t>i</a:t>
              </a:r>
              <a:r>
                <a:rPr lang="en-US" altLang="en-US" sz="2400"/>
                <a:t> -1 )</a:t>
              </a:r>
            </a:p>
          </p:txBody>
        </p:sp>
      </p:grpSp>
      <p:sp>
        <p:nvSpPr>
          <p:cNvPr id="280591" name="Text Box 15"/>
          <p:cNvSpPr txBox="1">
            <a:spLocks noChangeArrowheads="1"/>
          </p:cNvSpPr>
          <p:nvPr/>
        </p:nvSpPr>
        <p:spPr bwMode="auto">
          <a:xfrm>
            <a:off x="1800955" y="5294031"/>
            <a:ext cx="8600008" cy="1292662"/>
          </a:xfrm>
          <a:prstGeom prst="rect">
            <a:avLst/>
          </a:prstGeom>
          <a:solidFill>
            <a:srgbClr val="0000FF"/>
          </a:solidFill>
          <a:ln w="19050">
            <a:solidFill>
              <a:schemeClr val="tx2"/>
            </a:solidFill>
            <a:miter lim="800000"/>
            <a:headEnd type="none" w="sm" len="sm"/>
            <a:tailEnd type="none" w="sm" len="sm"/>
          </a:ln>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75000"/>
              </a:lnSpc>
              <a:spcBef>
                <a:spcPct val="50000"/>
              </a:spcBef>
            </a:pPr>
            <a:r>
              <a:rPr lang="en-US" altLang="en-US" sz="2400" b="0" dirty="0">
                <a:latin typeface="Gill Sans MT" panose="020B0502020104020203" pitchFamily="34" charset="0"/>
              </a:rPr>
              <a:t>For </a:t>
            </a:r>
            <a:r>
              <a:rPr lang="en-US" altLang="en-US" sz="2400" b="0" i="1" dirty="0" err="1">
                <a:latin typeface="Gill Sans MT" panose="020B0502020104020203" pitchFamily="34" charset="0"/>
              </a:rPr>
              <a:t>triang</a:t>
            </a:r>
            <a:r>
              <a:rPr lang="en-US" altLang="en-US" sz="2400" b="0" dirty="0">
                <a:latin typeface="Gill Sans MT" panose="020B0502020104020203" pitchFamily="34" charset="0"/>
              </a:rPr>
              <a:t>() : </a:t>
            </a:r>
            <a:r>
              <a:rPr lang="en-US" altLang="en-US" sz="2400" b="0" u="sng" dirty="0">
                <a:latin typeface="Gill Sans MT" panose="020B0502020104020203" pitchFamily="34" charset="0"/>
              </a:rPr>
              <a:t>Base</a:t>
            </a:r>
            <a:r>
              <a:rPr lang="en-US" altLang="en-US" sz="2400" b="0" dirty="0">
                <a:latin typeface="Gill Sans MT" panose="020B0502020104020203" pitchFamily="34" charset="0"/>
              </a:rPr>
              <a:t>  A1, B1, C1   A1, B1, C2    A1, B2, C1     A2, B1, C1</a:t>
            </a:r>
          </a:p>
          <a:p>
            <a:pPr>
              <a:lnSpc>
                <a:spcPct val="75000"/>
              </a:lnSpc>
              <a:spcBef>
                <a:spcPct val="50000"/>
              </a:spcBef>
            </a:pPr>
            <a:r>
              <a:rPr lang="en-US" altLang="en-US" sz="2400" b="0" dirty="0">
                <a:latin typeface="Gill Sans MT" panose="020B0502020104020203" pitchFamily="34" charset="0"/>
              </a:rPr>
              <a:t>                                             A1, B1, C3    A1, B3, C1     A3, B1, C1</a:t>
            </a:r>
          </a:p>
          <a:p>
            <a:pPr>
              <a:lnSpc>
                <a:spcPct val="75000"/>
              </a:lnSpc>
              <a:spcBef>
                <a:spcPct val="50000"/>
              </a:spcBef>
            </a:pPr>
            <a:r>
              <a:rPr lang="en-US" altLang="en-US" sz="2400" b="0" dirty="0">
                <a:latin typeface="Gill Sans MT" panose="020B0502020104020203" pitchFamily="34" charset="0"/>
              </a:rPr>
              <a:t>                                             A1, B1, C4    A1, B4, C1     A4, B1, C1</a:t>
            </a:r>
          </a:p>
        </p:txBody>
      </p:sp>
    </p:spTree>
    <p:extLst>
      <p:ext uri="{BB962C8B-B14F-4D97-AF65-F5344CB8AC3E}">
        <p14:creationId xmlns:p14="http://schemas.microsoft.com/office/powerpoint/2010/main" val="2581078146"/>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0580"/>
                                        </p:tgtEl>
                                        <p:attrNameLst>
                                          <p:attrName>style.visibility</p:attrName>
                                        </p:attrNameLst>
                                      </p:cBhvr>
                                      <p:to>
                                        <p:strVal val="visible"/>
                                      </p:to>
                                    </p:set>
                                    <p:animEffect transition="in" filter="dissolve">
                                      <p:cBhvr>
                                        <p:cTn id="7" dur="500"/>
                                        <p:tgtEl>
                                          <p:spTgt spid="2805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0581"/>
                                        </p:tgtEl>
                                        <p:attrNameLst>
                                          <p:attrName>style.visibility</p:attrName>
                                        </p:attrNameLst>
                                      </p:cBhvr>
                                      <p:to>
                                        <p:strVal val="visible"/>
                                      </p:to>
                                    </p:set>
                                    <p:animEffect transition="in" filter="wipe(left)">
                                      <p:cBhvr>
                                        <p:cTn id="12" dur="1000"/>
                                        <p:tgtEl>
                                          <p:spTgt spid="2805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80591"/>
                                        </p:tgtEl>
                                        <p:attrNameLst>
                                          <p:attrName>style.visibility</p:attrName>
                                        </p:attrNameLst>
                                      </p:cBhvr>
                                      <p:to>
                                        <p:strVal val="visible"/>
                                      </p:to>
                                    </p:set>
                                    <p:animEffect transition="in" filter="dissolve">
                                      <p:cBhvr>
                                        <p:cTn id="22" dur="500"/>
                                        <p:tgtEl>
                                          <p:spTgt spid="280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580" grpId="0" animBg="1" autoUpdateAnimBg="0"/>
      <p:bldP spid="280581" grpId="0"/>
      <p:bldP spid="28059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altLang="en-US"/>
              <a:t>Base Choice Notes</a:t>
            </a:r>
          </a:p>
        </p:txBody>
      </p:sp>
      <p:sp>
        <p:nvSpPr>
          <p:cNvPr id="29699" name="Content Placeholder 2"/>
          <p:cNvSpPr>
            <a:spLocks noGrp="1"/>
          </p:cNvSpPr>
          <p:nvPr>
            <p:ph idx="1"/>
          </p:nvPr>
        </p:nvSpPr>
        <p:spPr/>
        <p:txBody>
          <a:bodyPr/>
          <a:lstStyle/>
          <a:p>
            <a:r>
              <a:rPr lang="en-US" altLang="en-US" dirty="0"/>
              <a:t>The base test must be </a:t>
            </a:r>
            <a:r>
              <a:rPr lang="en-US" altLang="en-US" dirty="0">
                <a:solidFill>
                  <a:schemeClr val="tx2"/>
                </a:solidFill>
              </a:rPr>
              <a:t>feasible</a:t>
            </a:r>
          </a:p>
          <a:p>
            <a:pPr lvl="1"/>
            <a:r>
              <a:rPr lang="en-US" altLang="en-US" dirty="0"/>
              <a:t>That is, all base choices must be </a:t>
            </a:r>
            <a:r>
              <a:rPr lang="en-US" altLang="en-US" dirty="0">
                <a:solidFill>
                  <a:schemeClr val="tx2"/>
                </a:solidFill>
              </a:rPr>
              <a:t>compatible</a:t>
            </a:r>
          </a:p>
          <a:p>
            <a:r>
              <a:rPr lang="en-US" altLang="en-US" dirty="0">
                <a:solidFill>
                  <a:schemeClr val="tx2"/>
                </a:solidFill>
              </a:rPr>
              <a:t>Base choices</a:t>
            </a:r>
            <a:r>
              <a:rPr lang="en-US" altLang="en-US" dirty="0"/>
              <a:t> can be</a:t>
            </a:r>
          </a:p>
          <a:p>
            <a:pPr lvl="1"/>
            <a:r>
              <a:rPr lang="en-US" altLang="en-US" dirty="0"/>
              <a:t>Most likely from an end-use point of view</a:t>
            </a:r>
          </a:p>
          <a:p>
            <a:pPr lvl="1"/>
            <a:r>
              <a:rPr lang="en-US" altLang="en-US" dirty="0"/>
              <a:t>Simplest</a:t>
            </a:r>
          </a:p>
          <a:p>
            <a:pPr lvl="1"/>
            <a:r>
              <a:rPr lang="en-US" altLang="en-US" dirty="0"/>
              <a:t>Smallest</a:t>
            </a:r>
          </a:p>
          <a:p>
            <a:pPr lvl="1"/>
            <a:r>
              <a:rPr lang="en-US" altLang="en-US" dirty="0"/>
              <a:t>First in some ordering</a:t>
            </a:r>
          </a:p>
          <a:p>
            <a:r>
              <a:rPr lang="en-US" altLang="en-US" dirty="0">
                <a:solidFill>
                  <a:schemeClr val="tx2"/>
                </a:solidFill>
              </a:rPr>
              <a:t>Happy path</a:t>
            </a:r>
            <a:r>
              <a:rPr lang="en-US" altLang="en-US" dirty="0"/>
              <a:t> tests often make good base choices</a:t>
            </a:r>
          </a:p>
          <a:p>
            <a:r>
              <a:rPr lang="en-US" altLang="en-US" dirty="0"/>
              <a:t>The base choice is a </a:t>
            </a:r>
            <a:r>
              <a:rPr lang="en-US" altLang="en-US" dirty="0">
                <a:solidFill>
                  <a:schemeClr val="tx2"/>
                </a:solidFill>
              </a:rPr>
              <a:t>crucial design</a:t>
            </a:r>
            <a:r>
              <a:rPr lang="en-US" altLang="en-US" dirty="0"/>
              <a:t> decision</a:t>
            </a:r>
          </a:p>
          <a:p>
            <a:pPr lvl="1"/>
            <a:r>
              <a:rPr lang="en-US" altLang="en-US" dirty="0"/>
              <a:t>Test designers should </a:t>
            </a:r>
            <a:r>
              <a:rPr lang="en-US" altLang="en-US" dirty="0">
                <a:solidFill>
                  <a:schemeClr val="tx2"/>
                </a:solidFill>
              </a:rPr>
              <a:t>document</a:t>
            </a:r>
            <a:r>
              <a:rPr lang="en-US" altLang="en-US" dirty="0"/>
              <a:t> why the choices were made</a:t>
            </a:r>
          </a:p>
        </p:txBody>
      </p:sp>
      <p:sp>
        <p:nvSpPr>
          <p:cNvPr id="2970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B5520771-4F0B-48EC-89DD-21ABC0B198AB}" type="slidenum">
              <a:rPr lang="en-US" altLang="en-US" sz="900" b="0">
                <a:solidFill>
                  <a:schemeClr val="tx1"/>
                </a:solidFill>
                <a:latin typeface="Arial" charset="0"/>
                <a:cs typeface="Arial" charset="0"/>
              </a:rPr>
              <a:pPr/>
              <a:t>40</a:t>
            </a:fld>
            <a:endParaRPr lang="en-US" altLang="en-US" sz="900" b="0">
              <a:solidFill>
                <a:schemeClr val="tx1"/>
              </a:solidFill>
              <a:latin typeface="Arial" charset="0"/>
              <a:cs typeface="Arial" charset="0"/>
            </a:endParaRP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p>
        </p:txBody>
      </p:sp>
      <p:sp>
        <p:nvSpPr>
          <p:cNvPr id="4" name="Date Placeholder 3"/>
          <p:cNvSpPr>
            <a:spLocks noGrp="1"/>
          </p:cNvSpPr>
          <p:nvPr>
            <p:ph type="dt" sz="half" idx="10"/>
          </p:nvPr>
        </p:nvSpPr>
        <p:spPr/>
        <p:txBody>
          <a:bodyPr/>
          <a:lstStyle/>
          <a:p>
            <a:pPr>
              <a:defRPr/>
            </a:pPr>
            <a:r>
              <a:rPr lang="en-US">
                <a:solidFill>
                  <a:srgbClr val="FFFFFF"/>
                </a:solidFill>
              </a:rPr>
              <a:t>Introduction to Software Testing, Edition 2  (Ch 6)</a:t>
            </a:r>
            <a:endParaRPr lang="en-US" dirty="0">
              <a:solidFill>
                <a:srgbClr val="FFFFFF"/>
              </a:solidFill>
            </a:endParaRPr>
          </a:p>
        </p:txBody>
      </p:sp>
      <p:sp>
        <p:nvSpPr>
          <p:cNvPr id="5" name="Footer Placeholder 4"/>
          <p:cNvSpPr>
            <a:spLocks noGrp="1"/>
          </p:cNvSpPr>
          <p:nvPr>
            <p:ph type="ftr" sz="quarter" idx="11"/>
          </p:nvPr>
        </p:nvSpPr>
        <p:spPr/>
        <p:txBody>
          <a:bodyPr/>
          <a:lstStyle/>
          <a:p>
            <a:pPr>
              <a:defRPr/>
            </a:pPr>
            <a:r>
              <a:rPr lang="en-US">
                <a:solidFill>
                  <a:srgbClr val="FFFFFF"/>
                </a:solidFill>
              </a:rPr>
              <a:t>© Ammann &amp; Offutt</a:t>
            </a:r>
          </a:p>
        </p:txBody>
      </p:sp>
      <p:sp>
        <p:nvSpPr>
          <p:cNvPr id="6" name="Slide Number Placeholder 5"/>
          <p:cNvSpPr>
            <a:spLocks noGrp="1"/>
          </p:cNvSpPr>
          <p:nvPr>
            <p:ph type="sldNum" sz="quarter" idx="12"/>
          </p:nvPr>
        </p:nvSpPr>
        <p:spPr/>
        <p:txBody>
          <a:bodyPr/>
          <a:lstStyle/>
          <a:p>
            <a:pPr>
              <a:defRPr/>
            </a:pPr>
            <a:fld id="{FE742154-05E0-4FD4-B04E-B92FD3670A3A}" type="slidenum">
              <a:rPr lang="en-US">
                <a:solidFill>
                  <a:srgbClr val="FFFFFF"/>
                </a:solidFill>
              </a:rPr>
              <a:pPr>
                <a:defRPr/>
              </a:pPr>
              <a:t>41</a:t>
            </a:fld>
            <a:endParaRPr lang="en-US">
              <a:solidFill>
                <a:srgbClr val="FFFFFF"/>
              </a:solidFill>
            </a:endParaRPr>
          </a:p>
        </p:txBody>
      </p:sp>
      <p:sp>
        <p:nvSpPr>
          <p:cNvPr id="7" name="TextBox 6"/>
          <p:cNvSpPr txBox="1"/>
          <p:nvPr/>
        </p:nvSpPr>
        <p:spPr>
          <a:xfrm>
            <a:off x="3115189" y="1749671"/>
            <a:ext cx="5970389" cy="523220"/>
          </a:xfrm>
          <a:prstGeom prst="rect">
            <a:avLst/>
          </a:prstGeom>
          <a:solidFill>
            <a:schemeClr val="bg1">
              <a:lumMod val="40000"/>
              <a:lumOff val="60000"/>
            </a:schemeClr>
          </a:solidFill>
        </p:spPr>
        <p:txBody>
          <a:bodyPr wrap="square" rtlCol="0">
            <a:spAutoFit/>
          </a:bodyPr>
          <a:lstStyle/>
          <a:p>
            <a:pPr lvl="0" algn="ctr"/>
            <a:r>
              <a:rPr lang="en-US" sz="2800" b="0" dirty="0">
                <a:solidFill>
                  <a:srgbClr val="FFFFFF"/>
                </a:solidFill>
                <a:latin typeface="Calibri" panose="020F0502020204030204" pitchFamily="34" charset="0"/>
                <a:cs typeface="Calibri" panose="020F0502020204030204" pitchFamily="34" charset="0"/>
              </a:rPr>
              <a:t>Apply BCC to our previous example</a:t>
            </a:r>
          </a:p>
        </p:txBody>
      </p:sp>
      <p:sp>
        <p:nvSpPr>
          <p:cNvPr id="9" name="TextBox 8"/>
          <p:cNvSpPr txBox="1"/>
          <p:nvPr/>
        </p:nvSpPr>
        <p:spPr>
          <a:xfrm>
            <a:off x="2695311" y="4062625"/>
            <a:ext cx="6810145" cy="1384995"/>
          </a:xfrm>
          <a:prstGeom prst="rect">
            <a:avLst/>
          </a:prstGeom>
          <a:solidFill>
            <a:schemeClr val="bg1">
              <a:lumMod val="40000"/>
              <a:lumOff val="60000"/>
            </a:schemeClr>
          </a:solidFill>
        </p:spPr>
        <p:txBody>
          <a:bodyPr wrap="square" rtlCol="0">
            <a:spAutoFit/>
          </a:bodyPr>
          <a:lstStyle/>
          <a:p>
            <a:pPr marL="514350" indent="-514350">
              <a:buFont typeface="+mj-lt"/>
              <a:buAutoNum type="arabicPeriod"/>
              <a:defRPr/>
            </a:pPr>
            <a:r>
              <a:rPr lang="en-US" sz="2800" b="0" dirty="0">
                <a:solidFill>
                  <a:srgbClr val="FFFFFF"/>
                </a:solidFill>
                <a:latin typeface="Calibri" panose="020F0502020204030204" pitchFamily="34" charset="0"/>
                <a:cs typeface="Calibri" panose="020F0502020204030204" pitchFamily="34" charset="0"/>
              </a:rPr>
              <a:t>How many tests are needed for BCC?</a:t>
            </a:r>
          </a:p>
          <a:p>
            <a:pPr marL="514350" indent="-514350">
              <a:buFont typeface="+mj-lt"/>
              <a:buAutoNum type="arabicPeriod"/>
              <a:defRPr/>
            </a:pPr>
            <a:r>
              <a:rPr lang="en-US" sz="2800" b="0" dirty="0">
                <a:solidFill>
                  <a:srgbClr val="FFFFFF"/>
                </a:solidFill>
                <a:latin typeface="Calibri" panose="020F0502020204030204" pitchFamily="34" charset="0"/>
                <a:cs typeface="Calibri" panose="020F0502020204030204" pitchFamily="34" charset="0"/>
              </a:rPr>
              <a:t>Pick base values and write one base test</a:t>
            </a:r>
          </a:p>
          <a:p>
            <a:pPr marL="514350" indent="-514350">
              <a:buFont typeface="+mj-lt"/>
              <a:buAutoNum type="arabicPeriod"/>
              <a:defRPr/>
            </a:pPr>
            <a:r>
              <a:rPr lang="en-US" sz="2800" b="0" dirty="0">
                <a:solidFill>
                  <a:srgbClr val="FFFFFF"/>
                </a:solidFill>
                <a:latin typeface="Calibri" panose="020F0502020204030204" pitchFamily="34" charset="0"/>
                <a:cs typeface="Calibri" panose="020F0502020204030204" pitchFamily="34" charset="0"/>
              </a:rPr>
              <a:t>Design the remaining (abstract) tests</a:t>
            </a:r>
          </a:p>
        </p:txBody>
      </p:sp>
      <p:sp>
        <p:nvSpPr>
          <p:cNvPr id="10" name="TextBox 9"/>
          <p:cNvSpPr txBox="1"/>
          <p:nvPr/>
        </p:nvSpPr>
        <p:spPr>
          <a:xfrm>
            <a:off x="3195175" y="962528"/>
            <a:ext cx="5810414" cy="584775"/>
          </a:xfrm>
          <a:prstGeom prst="rect">
            <a:avLst/>
          </a:prstGeom>
          <a:solidFill>
            <a:schemeClr val="bg1">
              <a:lumMod val="40000"/>
              <a:lumOff val="60000"/>
            </a:schemeClr>
          </a:solidFill>
        </p:spPr>
        <p:txBody>
          <a:bodyPr wrap="square" rtlCol="0">
            <a:spAutoFit/>
          </a:bodyPr>
          <a:lstStyle/>
          <a:p>
            <a:pPr algn="ctr">
              <a:defRPr/>
            </a:pPr>
            <a:r>
              <a:rPr lang="en-US" sz="3200" b="0" dirty="0">
                <a:solidFill>
                  <a:srgbClr val="FFFFFF"/>
                </a:solidFill>
                <a:latin typeface="Calibri" panose="020F0502020204030204" pitchFamily="34" charset="0"/>
                <a:cs typeface="Calibri" panose="020F0502020204030204" pitchFamily="34" charset="0"/>
              </a:rPr>
              <a:t>Base choice criterion (BCC)</a:t>
            </a:r>
          </a:p>
        </p:txBody>
      </p:sp>
      <p:sp>
        <p:nvSpPr>
          <p:cNvPr id="12" name="TextBox 11"/>
          <p:cNvSpPr txBox="1"/>
          <p:nvPr/>
        </p:nvSpPr>
        <p:spPr>
          <a:xfrm>
            <a:off x="2484781" y="2486011"/>
            <a:ext cx="7231205" cy="1384995"/>
          </a:xfrm>
          <a:prstGeom prst="rect">
            <a:avLst/>
          </a:prstGeom>
          <a:solidFill>
            <a:schemeClr val="bg1">
              <a:lumMod val="40000"/>
              <a:lumOff val="60000"/>
            </a:schemeClr>
          </a:solidFill>
        </p:spPr>
        <p:txBody>
          <a:bodyPr wrap="square" rtlCol="0">
            <a:spAutoFit/>
          </a:bodyPr>
          <a:lstStyle/>
          <a:p>
            <a:pPr lvl="0"/>
            <a:r>
              <a:rPr lang="en-US" sz="2800" b="0" dirty="0">
                <a:solidFill>
                  <a:srgbClr val="FFFFFF"/>
                </a:solidFill>
                <a:latin typeface="Calibri" panose="020F0502020204030204" pitchFamily="34" charset="0"/>
                <a:cs typeface="Calibri" panose="020F0502020204030204" pitchFamily="34" charset="0"/>
              </a:rPr>
              <a:t>4 Characteristics:  A, B, C, D</a:t>
            </a:r>
          </a:p>
          <a:p>
            <a:pPr lvl="0"/>
            <a:r>
              <a:rPr lang="en-US" sz="2800" b="0" dirty="0">
                <a:solidFill>
                  <a:srgbClr val="FFFFFF"/>
                </a:solidFill>
                <a:latin typeface="Calibri" panose="020F0502020204030204" pitchFamily="34" charset="0"/>
                <a:cs typeface="Calibri" panose="020F0502020204030204" pitchFamily="34" charset="0"/>
              </a:rPr>
              <a:t>Abstract blocks: A = [a1, a2]; B = [b1, b2];</a:t>
            </a:r>
          </a:p>
          <a:p>
            <a:pPr lvl="0"/>
            <a:r>
              <a:rPr lang="en-US" sz="2800" b="0" dirty="0">
                <a:solidFill>
                  <a:srgbClr val="FFFFFF"/>
                </a:solidFill>
                <a:latin typeface="Calibri" panose="020F0502020204030204" pitchFamily="34" charset="0"/>
                <a:cs typeface="Calibri" panose="020F0502020204030204" pitchFamily="34" charset="0"/>
              </a:rPr>
              <a:t>		       C = [c1, c2, c3]; D = [d1, d2]</a:t>
            </a:r>
          </a:p>
        </p:txBody>
      </p:sp>
    </p:spTree>
    <p:extLst>
      <p:ext uri="{BB962C8B-B14F-4D97-AF65-F5344CB8AC3E}">
        <p14:creationId xmlns:p14="http://schemas.microsoft.com/office/powerpoint/2010/main" val="173116252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2000"/>
                                        <p:tgtEl>
                                          <p:spTgt spid="7"/>
                                        </p:tgtEl>
                                      </p:cBhvr>
                                    </p:animEffect>
                                  </p:childTnLst>
                                </p:cTn>
                              </p:par>
                            </p:childTnLst>
                          </p:cTn>
                        </p:par>
                        <p:par>
                          <p:cTn id="12" fill="hold">
                            <p:stCondLst>
                              <p:cond delay="4000"/>
                            </p:stCondLst>
                            <p:childTnLst>
                              <p:par>
                                <p:cTn id="13" presetID="10"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2000"/>
                                        <p:tgtEl>
                                          <p:spTgt spid="12"/>
                                        </p:tgtEl>
                                      </p:cBhvr>
                                    </p:animEffect>
                                  </p:childTnLst>
                                </p:cTn>
                              </p:par>
                            </p:childTnLst>
                          </p:cTn>
                        </p:par>
                        <p:par>
                          <p:cTn id="16" fill="hold">
                            <p:stCondLst>
                              <p:cond delay="600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 (</a:t>
            </a:r>
            <a:r>
              <a:rPr lang="en-US" i="1" dirty="0"/>
              <a:t>answer</a:t>
            </a:r>
            <a:r>
              <a:rPr lang="en-US" dirty="0"/>
              <a:t>)</a:t>
            </a:r>
          </a:p>
        </p:txBody>
      </p:sp>
      <p:sp>
        <p:nvSpPr>
          <p:cNvPr id="4" name="Date Placeholder 3"/>
          <p:cNvSpPr>
            <a:spLocks noGrp="1"/>
          </p:cNvSpPr>
          <p:nvPr>
            <p:ph type="dt" sz="half" idx="10"/>
          </p:nvPr>
        </p:nvSpPr>
        <p:spPr/>
        <p:txBody>
          <a:bodyPr/>
          <a:lstStyle/>
          <a:p>
            <a:pPr>
              <a:defRPr/>
            </a:pPr>
            <a:r>
              <a:rPr lang="en-US">
                <a:solidFill>
                  <a:srgbClr val="FFFFFF"/>
                </a:solidFill>
              </a:rPr>
              <a:t>Introduction to Software Testing, Edition 2  (Ch 6)</a:t>
            </a:r>
            <a:endParaRPr lang="en-US" dirty="0">
              <a:solidFill>
                <a:srgbClr val="FFFFFF"/>
              </a:solidFill>
            </a:endParaRPr>
          </a:p>
        </p:txBody>
      </p:sp>
      <p:sp>
        <p:nvSpPr>
          <p:cNvPr id="5" name="Footer Placeholder 4"/>
          <p:cNvSpPr>
            <a:spLocks noGrp="1"/>
          </p:cNvSpPr>
          <p:nvPr>
            <p:ph type="ftr" sz="quarter" idx="11"/>
          </p:nvPr>
        </p:nvSpPr>
        <p:spPr/>
        <p:txBody>
          <a:bodyPr/>
          <a:lstStyle/>
          <a:p>
            <a:pPr>
              <a:defRPr/>
            </a:pPr>
            <a:r>
              <a:rPr lang="en-US">
                <a:solidFill>
                  <a:srgbClr val="FFFFFF"/>
                </a:solidFill>
              </a:rPr>
              <a:t>© Ammann &amp; Offutt</a:t>
            </a:r>
          </a:p>
        </p:txBody>
      </p:sp>
      <p:sp>
        <p:nvSpPr>
          <p:cNvPr id="6" name="Slide Number Placeholder 5"/>
          <p:cNvSpPr>
            <a:spLocks noGrp="1"/>
          </p:cNvSpPr>
          <p:nvPr>
            <p:ph type="sldNum" sz="quarter" idx="12"/>
          </p:nvPr>
        </p:nvSpPr>
        <p:spPr/>
        <p:txBody>
          <a:bodyPr/>
          <a:lstStyle/>
          <a:p>
            <a:pPr>
              <a:defRPr/>
            </a:pPr>
            <a:fld id="{FE742154-05E0-4FD4-B04E-B92FD3670A3A}" type="slidenum">
              <a:rPr lang="en-US">
                <a:solidFill>
                  <a:srgbClr val="FFFFFF"/>
                </a:solidFill>
              </a:rPr>
              <a:pPr>
                <a:defRPr/>
              </a:pPr>
              <a:t>42</a:t>
            </a:fld>
            <a:endParaRPr lang="en-US">
              <a:solidFill>
                <a:srgbClr val="FFFFFF"/>
              </a:solidFill>
            </a:endParaRPr>
          </a:p>
        </p:txBody>
      </p:sp>
      <p:sp>
        <p:nvSpPr>
          <p:cNvPr id="8" name="TextBox 7"/>
          <p:cNvSpPr txBox="1"/>
          <p:nvPr/>
        </p:nvSpPr>
        <p:spPr>
          <a:xfrm>
            <a:off x="2484781" y="1604721"/>
            <a:ext cx="7231205" cy="1384995"/>
          </a:xfrm>
          <a:prstGeom prst="rect">
            <a:avLst/>
          </a:prstGeom>
          <a:solidFill>
            <a:schemeClr val="bg1">
              <a:lumMod val="40000"/>
              <a:lumOff val="60000"/>
            </a:schemeClr>
          </a:solidFill>
        </p:spPr>
        <p:txBody>
          <a:bodyPr wrap="square" rtlCol="0">
            <a:spAutoFit/>
          </a:bodyPr>
          <a:lstStyle/>
          <a:p>
            <a:pPr>
              <a:defRPr/>
            </a:pPr>
            <a:r>
              <a:rPr lang="en-US" sz="2800" b="0" dirty="0">
                <a:solidFill>
                  <a:srgbClr val="FFFFFF"/>
                </a:solidFill>
                <a:latin typeface="Calibri" panose="020F0502020204030204" pitchFamily="34" charset="0"/>
                <a:cs typeface="Calibri" panose="020F0502020204030204" pitchFamily="34" charset="0"/>
              </a:rPr>
              <a:t>4 Characteristics:  A, B, C, D</a:t>
            </a:r>
          </a:p>
          <a:p>
            <a:pPr>
              <a:defRPr/>
            </a:pPr>
            <a:r>
              <a:rPr lang="en-US" sz="2800" b="0" dirty="0">
                <a:solidFill>
                  <a:srgbClr val="FFFFFF"/>
                </a:solidFill>
                <a:latin typeface="Calibri" panose="020F0502020204030204" pitchFamily="34" charset="0"/>
                <a:cs typeface="Calibri" panose="020F0502020204030204" pitchFamily="34" charset="0"/>
              </a:rPr>
              <a:t>Abstract blocks: A = [a1, a2]; B = [b1, b2];</a:t>
            </a:r>
          </a:p>
          <a:p>
            <a:pPr>
              <a:defRPr/>
            </a:pPr>
            <a:r>
              <a:rPr lang="en-US" sz="2800" b="0" dirty="0">
                <a:solidFill>
                  <a:srgbClr val="FFFFFF"/>
                </a:solidFill>
                <a:latin typeface="Calibri" panose="020F0502020204030204" pitchFamily="34" charset="0"/>
                <a:cs typeface="Calibri" panose="020F0502020204030204" pitchFamily="34" charset="0"/>
              </a:rPr>
              <a:t>		       C = [c1, c2, c3]; D = [d1, d2]</a:t>
            </a:r>
          </a:p>
        </p:txBody>
      </p:sp>
      <p:sp>
        <p:nvSpPr>
          <p:cNvPr id="10" name="TextBox 9"/>
          <p:cNvSpPr txBox="1"/>
          <p:nvPr/>
        </p:nvSpPr>
        <p:spPr>
          <a:xfrm>
            <a:off x="3735854" y="888386"/>
            <a:ext cx="4738389" cy="584775"/>
          </a:xfrm>
          <a:prstGeom prst="rect">
            <a:avLst/>
          </a:prstGeom>
          <a:solidFill>
            <a:schemeClr val="bg1">
              <a:lumMod val="40000"/>
              <a:lumOff val="60000"/>
            </a:schemeClr>
          </a:solidFill>
        </p:spPr>
        <p:txBody>
          <a:bodyPr wrap="square" rtlCol="0">
            <a:spAutoFit/>
          </a:bodyPr>
          <a:lstStyle/>
          <a:p>
            <a:pPr lvl="0" algn="ctr">
              <a:defRPr/>
            </a:pPr>
            <a:r>
              <a:rPr lang="en-US" sz="3200" b="0" dirty="0">
                <a:solidFill>
                  <a:srgbClr val="FFFFFF"/>
                </a:solidFill>
                <a:latin typeface="Calibri" panose="020F0502020204030204" pitchFamily="34" charset="0"/>
                <a:cs typeface="Calibri" panose="020F0502020204030204" pitchFamily="34" charset="0"/>
              </a:rPr>
              <a:t>Base choice criterion (BCC)</a:t>
            </a:r>
          </a:p>
        </p:txBody>
      </p:sp>
      <p:sp>
        <p:nvSpPr>
          <p:cNvPr id="11" name="Rounded Rectangle 10"/>
          <p:cNvSpPr/>
          <p:nvPr/>
        </p:nvSpPr>
        <p:spPr bwMode="auto">
          <a:xfrm>
            <a:off x="2383647" y="3121275"/>
            <a:ext cx="7758711" cy="865688"/>
          </a:xfrm>
          <a:prstGeom prst="roundRect">
            <a:avLst/>
          </a:prstGeom>
          <a:solidFill>
            <a:srgbClr val="008000"/>
          </a:solidFill>
          <a:ln w="28575" cap="flat" cmpd="sng" algn="ctr">
            <a:solidFill>
              <a:srgbClr val="FF99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lgn="ctr">
              <a:defRPr/>
            </a:pPr>
            <a:r>
              <a:rPr lang="en-US" b="0" dirty="0">
                <a:solidFill>
                  <a:srgbClr val="FFFFFF"/>
                </a:solidFill>
                <a:latin typeface="Verdana" panose="020B0604030504040204" pitchFamily="34" charset="0"/>
                <a:ea typeface="Verdana" panose="020B0604030504040204" pitchFamily="34" charset="0"/>
                <a:cs typeface="Verdana" panose="020B0604030504040204" pitchFamily="34" charset="0"/>
              </a:rPr>
              <a:t>Number of tests: 1(base)+(2-1)+(2-1)+(3-1)+(2-1) </a:t>
            </a:r>
          </a:p>
          <a:p>
            <a:pPr algn="ctr">
              <a:defRPr/>
            </a:pPr>
            <a:r>
              <a:rPr lang="en-US" b="0" dirty="0">
                <a:solidFill>
                  <a:srgbClr val="FFFFFF"/>
                </a:solidFill>
                <a:latin typeface="Verdana" panose="020B0604030504040204" pitchFamily="34" charset="0"/>
                <a:ea typeface="Verdana" panose="020B0604030504040204" pitchFamily="34" charset="0"/>
                <a:cs typeface="Verdana" panose="020B0604030504040204" pitchFamily="34" charset="0"/>
              </a:rPr>
              <a:t>= 1+1+1+2+1=6</a:t>
            </a:r>
          </a:p>
        </p:txBody>
      </p:sp>
      <p:graphicFrame>
        <p:nvGraphicFramePr>
          <p:cNvPr id="12" name="Table 11"/>
          <p:cNvGraphicFramePr>
            <a:graphicFrameLocks noGrp="1"/>
          </p:cNvGraphicFramePr>
          <p:nvPr>
            <p:extLst>
              <p:ext uri="{D42A27DB-BD31-4B8C-83A1-F6EECF244321}">
                <p14:modId xmlns:p14="http://schemas.microsoft.com/office/powerpoint/2010/main" val="3021066474"/>
              </p:ext>
            </p:extLst>
          </p:nvPr>
        </p:nvGraphicFramePr>
        <p:xfrm>
          <a:off x="3802160" y="4128286"/>
          <a:ext cx="4312510" cy="2421162"/>
        </p:xfrm>
        <a:graphic>
          <a:graphicData uri="http://schemas.openxmlformats.org/drawingml/2006/table">
            <a:tbl>
              <a:tblPr firstRow="1" bandRow="1">
                <a:tableStyleId>{16D9F66E-5EB9-4882-86FB-DCBF35E3C3E4}</a:tableStyleId>
              </a:tblPr>
              <a:tblGrid>
                <a:gridCol w="1729680">
                  <a:extLst>
                    <a:ext uri="{9D8B030D-6E8A-4147-A177-3AD203B41FA5}">
                      <a16:colId xmlns:a16="http://schemas.microsoft.com/office/drawing/2014/main" val="2037480697"/>
                    </a:ext>
                  </a:extLst>
                </a:gridCol>
                <a:gridCol w="2582830">
                  <a:extLst>
                    <a:ext uri="{9D8B030D-6E8A-4147-A177-3AD203B41FA5}">
                      <a16:colId xmlns:a16="http://schemas.microsoft.com/office/drawing/2014/main" val="3264710210"/>
                    </a:ext>
                  </a:extLst>
                </a:gridCol>
              </a:tblGrid>
              <a:tr h="370840">
                <a:tc>
                  <a:txBody>
                    <a:bodyPr/>
                    <a:lstStyle/>
                    <a:p>
                      <a:pPr algn="ctr"/>
                      <a:r>
                        <a:rPr lang="en-US" sz="2000" b="0" dirty="0">
                          <a:solidFill>
                            <a:srgbClr val="000000"/>
                          </a:solidFill>
                          <a:latin typeface="Verdana" panose="020B0604030504040204" pitchFamily="34" charset="0"/>
                          <a:ea typeface="Verdana" panose="020B0604030504040204" pitchFamily="34" charset="0"/>
                          <a:cs typeface="Verdana" panose="020B0604030504040204" pitchFamily="34" charset="0"/>
                        </a:rPr>
                        <a:t>Base</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tc>
                  <a:txBody>
                    <a:bodyPr/>
                    <a:lstStyle/>
                    <a:p>
                      <a:pPr algn="ctr"/>
                      <a:r>
                        <a:rPr lang="en-US" sz="2000" b="0" dirty="0">
                          <a:solidFill>
                            <a:srgbClr val="000000"/>
                          </a:solidFill>
                          <a:latin typeface="Verdana" panose="020B0604030504040204" pitchFamily="34" charset="0"/>
                          <a:ea typeface="Verdana" panose="020B0604030504040204" pitchFamily="34" charset="0"/>
                          <a:cs typeface="Verdana" panose="020B0604030504040204" pitchFamily="34" charset="0"/>
                        </a:rPr>
                        <a:t>a1 b1 c1 d1</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extLst>
                  <a:ext uri="{0D108BD9-81ED-4DB2-BD59-A6C34878D82A}">
                    <a16:rowId xmlns:a16="http://schemas.microsoft.com/office/drawing/2014/main" val="1621857064"/>
                  </a:ext>
                </a:extLst>
              </a:tr>
              <a:tr h="439962">
                <a:tc>
                  <a:txBody>
                    <a:bodyPr/>
                    <a:lstStyle/>
                    <a:p>
                      <a:pPr algn="ctr"/>
                      <a:r>
                        <a:rPr lang="en-US" sz="2000" b="0" dirty="0">
                          <a:solidFill>
                            <a:srgbClr val="000000"/>
                          </a:solidFill>
                          <a:latin typeface="Verdana" panose="020B0604030504040204" pitchFamily="34" charset="0"/>
                          <a:ea typeface="Verdana" panose="020B0604030504040204" pitchFamily="34" charset="0"/>
                          <a:cs typeface="Verdana" panose="020B0604030504040204" pitchFamily="34" charset="0"/>
                        </a:rPr>
                        <a:t>A</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sz="2000" b="1" dirty="0">
                          <a:solidFill>
                            <a:srgbClr val="000000"/>
                          </a:solidFill>
                          <a:latin typeface="Verdana" panose="020B0604030504040204" pitchFamily="34" charset="0"/>
                          <a:ea typeface="Verdana" panose="020B0604030504040204" pitchFamily="34" charset="0"/>
                          <a:cs typeface="Verdana" panose="020B0604030504040204" pitchFamily="34" charset="0"/>
                        </a:rPr>
                        <a:t>a2</a:t>
                      </a:r>
                      <a:r>
                        <a:rPr lang="en-US" sz="2000" b="0" dirty="0">
                          <a:solidFill>
                            <a:srgbClr val="000000"/>
                          </a:solidFill>
                          <a:latin typeface="Verdana" panose="020B0604030504040204" pitchFamily="34" charset="0"/>
                          <a:ea typeface="Verdana" panose="020B0604030504040204" pitchFamily="34" charset="0"/>
                          <a:cs typeface="Verdana" panose="020B0604030504040204" pitchFamily="34" charset="0"/>
                        </a:rPr>
                        <a:t> b1 c1 d1</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4147995887"/>
                  </a:ext>
                </a:extLst>
              </a:tr>
              <a:tr h="370840">
                <a:tc>
                  <a:txBody>
                    <a:bodyPr/>
                    <a:lstStyle/>
                    <a:p>
                      <a:pPr algn="ctr"/>
                      <a:r>
                        <a:rPr lang="en-US" sz="2000" b="0" dirty="0">
                          <a:solidFill>
                            <a:srgbClr val="000000"/>
                          </a:solidFill>
                          <a:latin typeface="Verdana" panose="020B0604030504040204" pitchFamily="34" charset="0"/>
                          <a:ea typeface="Verdana" panose="020B0604030504040204" pitchFamily="34" charset="0"/>
                          <a:cs typeface="Verdana" panose="020B0604030504040204" pitchFamily="34" charset="0"/>
                        </a:rPr>
                        <a:t>B</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tc>
                  <a:txBody>
                    <a:bodyPr/>
                    <a:lstStyle/>
                    <a:p>
                      <a:pPr algn="ctr"/>
                      <a:r>
                        <a:rPr lang="en-US" sz="2000" b="0" dirty="0">
                          <a:solidFill>
                            <a:srgbClr val="000000"/>
                          </a:solidFill>
                          <a:latin typeface="Verdana" panose="020B0604030504040204" pitchFamily="34" charset="0"/>
                          <a:ea typeface="Verdana" panose="020B0604030504040204" pitchFamily="34" charset="0"/>
                          <a:cs typeface="Verdana" panose="020B0604030504040204" pitchFamily="34" charset="0"/>
                        </a:rPr>
                        <a:t>a1 </a:t>
                      </a:r>
                      <a:r>
                        <a:rPr lang="en-US" sz="2000" b="1" dirty="0">
                          <a:solidFill>
                            <a:srgbClr val="000000"/>
                          </a:solidFill>
                          <a:latin typeface="Verdana" panose="020B0604030504040204" pitchFamily="34" charset="0"/>
                          <a:ea typeface="Verdana" panose="020B0604030504040204" pitchFamily="34" charset="0"/>
                          <a:cs typeface="Verdana" panose="020B0604030504040204" pitchFamily="34" charset="0"/>
                        </a:rPr>
                        <a:t>b2</a:t>
                      </a:r>
                      <a:r>
                        <a:rPr lang="en-US" sz="2000" b="0" dirty="0">
                          <a:solidFill>
                            <a:srgbClr val="000000"/>
                          </a:solidFill>
                          <a:latin typeface="Verdana" panose="020B0604030504040204" pitchFamily="34" charset="0"/>
                          <a:ea typeface="Verdana" panose="020B0604030504040204" pitchFamily="34" charset="0"/>
                          <a:cs typeface="Verdana" panose="020B0604030504040204" pitchFamily="34" charset="0"/>
                        </a:rPr>
                        <a:t> c1 d1</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extLst>
                  <a:ext uri="{0D108BD9-81ED-4DB2-BD59-A6C34878D82A}">
                    <a16:rowId xmlns:a16="http://schemas.microsoft.com/office/drawing/2014/main" val="2015433661"/>
                  </a:ext>
                </a:extLst>
              </a:tr>
              <a:tr h="370840">
                <a:tc>
                  <a:txBody>
                    <a:bodyPr/>
                    <a:lstStyle/>
                    <a:p>
                      <a:pPr algn="ctr"/>
                      <a:r>
                        <a:rPr lang="en-US" sz="2000" b="0" dirty="0">
                          <a:solidFill>
                            <a:srgbClr val="000000"/>
                          </a:solidFill>
                          <a:latin typeface="Verdana" panose="020B0604030504040204" pitchFamily="34" charset="0"/>
                          <a:ea typeface="Verdana" panose="020B0604030504040204" pitchFamily="34" charset="0"/>
                          <a:cs typeface="Verdana" panose="020B0604030504040204" pitchFamily="34" charset="0"/>
                        </a:rPr>
                        <a:t>C</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Verdana" panose="020B0604030504040204" pitchFamily="34" charset="0"/>
                          <a:ea typeface="Verdana" panose="020B0604030504040204" pitchFamily="34" charset="0"/>
                          <a:cs typeface="Verdana" panose="020B0604030504040204" pitchFamily="34" charset="0"/>
                        </a:rPr>
                        <a:t>a1 b1 </a:t>
                      </a:r>
                      <a:r>
                        <a:rPr lang="en-US" sz="2000" b="1" dirty="0">
                          <a:solidFill>
                            <a:srgbClr val="000000"/>
                          </a:solidFill>
                          <a:latin typeface="Verdana" panose="020B0604030504040204" pitchFamily="34" charset="0"/>
                          <a:ea typeface="Verdana" panose="020B0604030504040204" pitchFamily="34" charset="0"/>
                          <a:cs typeface="Verdana" panose="020B0604030504040204" pitchFamily="34" charset="0"/>
                        </a:rPr>
                        <a:t>c2</a:t>
                      </a:r>
                      <a:r>
                        <a:rPr lang="en-US" sz="2000" b="0" dirty="0">
                          <a:solidFill>
                            <a:srgbClr val="000000"/>
                          </a:solidFill>
                          <a:latin typeface="Verdana" panose="020B0604030504040204" pitchFamily="34" charset="0"/>
                          <a:ea typeface="Verdana" panose="020B0604030504040204" pitchFamily="34" charset="0"/>
                          <a:cs typeface="Verdana" panose="020B0604030504040204" pitchFamily="34" charset="0"/>
                        </a:rPr>
                        <a:t> d1</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3923298761"/>
                  </a:ext>
                </a:extLst>
              </a:tr>
              <a:tr h="370840">
                <a:tc>
                  <a:txBody>
                    <a:bodyPr/>
                    <a:lstStyle/>
                    <a:p>
                      <a:pPr algn="ctr"/>
                      <a:r>
                        <a:rPr lang="en-US" sz="2000" b="0" dirty="0">
                          <a:solidFill>
                            <a:srgbClr val="000000"/>
                          </a:solidFill>
                          <a:latin typeface="Verdana" panose="020B0604030504040204" pitchFamily="34" charset="0"/>
                          <a:ea typeface="Verdana" panose="020B0604030504040204" pitchFamily="34" charset="0"/>
                          <a:cs typeface="Verdana" panose="020B0604030504040204" pitchFamily="34" charset="0"/>
                        </a:rPr>
                        <a:t>C</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Verdana" panose="020B0604030504040204" pitchFamily="34" charset="0"/>
                          <a:ea typeface="Verdana" panose="020B0604030504040204" pitchFamily="34" charset="0"/>
                          <a:cs typeface="Verdana" panose="020B0604030504040204" pitchFamily="34" charset="0"/>
                        </a:rPr>
                        <a:t>a1 b1 </a:t>
                      </a:r>
                      <a:r>
                        <a:rPr lang="en-US" sz="2000" b="1" dirty="0">
                          <a:solidFill>
                            <a:srgbClr val="000000"/>
                          </a:solidFill>
                          <a:latin typeface="Verdana" panose="020B0604030504040204" pitchFamily="34" charset="0"/>
                          <a:ea typeface="Verdana" panose="020B0604030504040204" pitchFamily="34" charset="0"/>
                          <a:cs typeface="Verdana" panose="020B0604030504040204" pitchFamily="34" charset="0"/>
                        </a:rPr>
                        <a:t>c3</a:t>
                      </a:r>
                      <a:r>
                        <a:rPr lang="en-US" sz="2000" b="0" dirty="0">
                          <a:solidFill>
                            <a:srgbClr val="000000"/>
                          </a:solidFill>
                          <a:latin typeface="Verdana" panose="020B0604030504040204" pitchFamily="34" charset="0"/>
                          <a:ea typeface="Verdana" panose="020B0604030504040204" pitchFamily="34" charset="0"/>
                          <a:cs typeface="Verdana" panose="020B0604030504040204" pitchFamily="34" charset="0"/>
                        </a:rPr>
                        <a:t> d1</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33CC33"/>
                    </a:solidFill>
                  </a:tcPr>
                </a:tc>
                <a:extLst>
                  <a:ext uri="{0D108BD9-81ED-4DB2-BD59-A6C34878D82A}">
                    <a16:rowId xmlns:a16="http://schemas.microsoft.com/office/drawing/2014/main" val="3019417756"/>
                  </a:ext>
                </a:extLst>
              </a:tr>
              <a:tr h="370840">
                <a:tc>
                  <a:txBody>
                    <a:bodyPr/>
                    <a:lstStyle/>
                    <a:p>
                      <a:pPr algn="ctr"/>
                      <a:r>
                        <a:rPr lang="en-US" sz="2000" b="0" dirty="0">
                          <a:solidFill>
                            <a:srgbClr val="000000"/>
                          </a:solidFill>
                          <a:latin typeface="Verdana" panose="020B0604030504040204" pitchFamily="34" charset="0"/>
                          <a:ea typeface="Verdana" panose="020B0604030504040204" pitchFamily="34" charset="0"/>
                          <a:cs typeface="Verdana" panose="020B0604030504040204" pitchFamily="34" charset="0"/>
                        </a:rPr>
                        <a:t>D</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Verdana" panose="020B0604030504040204" pitchFamily="34" charset="0"/>
                          <a:ea typeface="Verdana" panose="020B0604030504040204" pitchFamily="34" charset="0"/>
                          <a:cs typeface="Verdana" panose="020B0604030504040204" pitchFamily="34" charset="0"/>
                        </a:rPr>
                        <a:t>a1 b1 c1 </a:t>
                      </a:r>
                      <a:r>
                        <a:rPr lang="en-US" sz="2000" b="1" dirty="0">
                          <a:solidFill>
                            <a:srgbClr val="000000"/>
                          </a:solidFill>
                          <a:latin typeface="Verdana" panose="020B0604030504040204" pitchFamily="34" charset="0"/>
                          <a:ea typeface="Verdana" panose="020B0604030504040204" pitchFamily="34" charset="0"/>
                          <a:cs typeface="Verdana" panose="020B0604030504040204" pitchFamily="34" charset="0"/>
                        </a:rPr>
                        <a:t>d2</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1819175136"/>
                  </a:ext>
                </a:extLst>
              </a:tr>
            </a:tbl>
          </a:graphicData>
        </a:graphic>
      </p:graphicFrame>
    </p:spTree>
    <p:extLst>
      <p:ext uri="{BB962C8B-B14F-4D97-AF65-F5344CB8AC3E}">
        <p14:creationId xmlns:p14="http://schemas.microsoft.com/office/powerpoint/2010/main" val="4020057390"/>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2ED71342-C7A1-4B4D-90EF-A9CFC4109D50}" type="slidenum">
              <a:rPr lang="en-US" altLang="en-US" sz="900" b="0">
                <a:solidFill>
                  <a:schemeClr val="tx1"/>
                </a:solidFill>
                <a:latin typeface="Arial" charset="0"/>
                <a:cs typeface="Arial" charset="0"/>
              </a:rPr>
              <a:pPr/>
              <a:t>43</a:t>
            </a:fld>
            <a:endParaRPr lang="en-US" altLang="en-US" sz="900" b="0">
              <a:solidFill>
                <a:schemeClr val="tx1"/>
              </a:solidFill>
              <a:latin typeface="Arial" charset="0"/>
              <a:cs typeface="Arial" charset="0"/>
            </a:endParaRPr>
          </a:p>
        </p:txBody>
      </p:sp>
      <p:sp>
        <p:nvSpPr>
          <p:cNvPr id="30724" name="Rectangle 2"/>
          <p:cNvSpPr>
            <a:spLocks noGrp="1" noChangeArrowheads="1"/>
          </p:cNvSpPr>
          <p:nvPr>
            <p:ph type="title"/>
          </p:nvPr>
        </p:nvSpPr>
        <p:spPr/>
        <p:txBody>
          <a:bodyPr/>
          <a:lstStyle/>
          <a:p>
            <a:r>
              <a:rPr lang="en-US" altLang="en-US"/>
              <a:t>ISP Criteria – Multiple Base Choice</a:t>
            </a:r>
          </a:p>
        </p:txBody>
      </p:sp>
      <p:sp>
        <p:nvSpPr>
          <p:cNvPr id="30725" name="Rectangle 3"/>
          <p:cNvSpPr>
            <a:spLocks noGrp="1" noChangeArrowheads="1"/>
          </p:cNvSpPr>
          <p:nvPr>
            <p:ph type="body" idx="1"/>
          </p:nvPr>
        </p:nvSpPr>
        <p:spPr>
          <a:xfrm>
            <a:off x="1662114" y="749796"/>
            <a:ext cx="8867775" cy="481013"/>
          </a:xfrm>
        </p:spPr>
        <p:txBody>
          <a:bodyPr/>
          <a:lstStyle/>
          <a:p>
            <a:r>
              <a:rPr lang="en-US" altLang="en-US" dirty="0"/>
              <a:t>We sometimes have </a:t>
            </a:r>
            <a:r>
              <a:rPr lang="en-US" altLang="en-US" dirty="0">
                <a:solidFill>
                  <a:schemeClr val="tx2"/>
                </a:solidFill>
              </a:rPr>
              <a:t>more than one</a:t>
            </a:r>
            <a:r>
              <a:rPr lang="en-US" altLang="en-US" dirty="0"/>
              <a:t> logical base choice</a:t>
            </a:r>
            <a:endParaRPr lang="en-US" altLang="en-US" i="1" dirty="0">
              <a:solidFill>
                <a:schemeClr val="tx2"/>
              </a:solidFill>
            </a:endParaRPr>
          </a:p>
        </p:txBody>
      </p:sp>
      <p:sp>
        <p:nvSpPr>
          <p:cNvPr id="281604" name="Text Box 4"/>
          <p:cNvSpPr txBox="1">
            <a:spLocks noChangeArrowheads="1"/>
          </p:cNvSpPr>
          <p:nvPr/>
        </p:nvSpPr>
        <p:spPr bwMode="auto">
          <a:xfrm>
            <a:off x="1612900" y="1206744"/>
            <a:ext cx="8967788" cy="2308324"/>
          </a:xfrm>
          <a:prstGeom prst="rect">
            <a:avLst/>
          </a:prstGeom>
          <a:gradFill rotWithShape="1">
            <a:gsLst>
              <a:gs pos="0">
                <a:srgbClr val="3399FF"/>
              </a:gs>
              <a:gs pos="100000">
                <a:srgbClr val="0033CC"/>
              </a:gs>
            </a:gsLst>
            <a:path path="shape">
              <a:fillToRect l="50000" t="50000" r="50000" b="50000"/>
            </a:path>
          </a:gradFill>
          <a:ln w="19050">
            <a:solidFill>
              <a:schemeClr val="tx2"/>
            </a:solidFill>
            <a:miter lim="800000"/>
            <a:headEnd type="none" w="sm" len="sm"/>
            <a:tailEnd type="none" w="sm" len="sm"/>
          </a:ln>
          <a:effectLst/>
        </p:spPr>
        <p:txBody>
          <a:bodyPr>
            <a:spAutoFit/>
          </a:bodyPr>
          <a:lstStyle/>
          <a:p>
            <a:pPr>
              <a:defRPr/>
            </a:pPr>
            <a:r>
              <a:rPr lang="en-US" sz="2400" b="0" u="sng" dirty="0">
                <a:solidFill>
                  <a:schemeClr val="tx2"/>
                </a:solidFill>
                <a:effectLst>
                  <a:outerShdw blurRad="38100" dist="38100" dir="2700000" algn="tl">
                    <a:srgbClr val="000000"/>
                  </a:outerShdw>
                </a:effectLst>
                <a:latin typeface="Gill Sans MT" panose="020B0502020104020203" pitchFamily="34" charset="0"/>
              </a:rPr>
              <a:t>Multiple Base Choice Coverage (MBCC)</a:t>
            </a:r>
            <a:r>
              <a:rPr lang="en-US" sz="2400" b="0" dirty="0">
                <a:solidFill>
                  <a:schemeClr val="tx2"/>
                </a:solidFill>
                <a:effectLst>
                  <a:outerShdw blurRad="38100" dist="38100" dir="2700000" algn="tl">
                    <a:srgbClr val="000000"/>
                  </a:outerShdw>
                </a:effectLst>
                <a:latin typeface="Gill Sans MT" panose="020B0502020104020203" pitchFamily="34" charset="0"/>
              </a:rPr>
              <a:t> :  </a:t>
            </a:r>
            <a:r>
              <a:rPr lang="en-US" sz="2400" b="0" dirty="0">
                <a:effectLst>
                  <a:outerShdw blurRad="38100" dist="38100" dir="2700000" algn="tl">
                    <a:srgbClr val="000000"/>
                  </a:outerShdw>
                </a:effectLst>
                <a:latin typeface="Gill Sans MT" panose="020B0502020104020203" pitchFamily="34" charset="0"/>
              </a:rPr>
              <a:t>At least one, and possibly more, base choice blocks are chosen for each characteristic, and base tests are formed by using each base choice for each characteristic at least once. Subsequent tests are chosen by holding all but one base choice constant for each base test and using each non-base choice in each other characteristic.</a:t>
            </a:r>
          </a:p>
        </p:txBody>
      </p:sp>
      <p:sp>
        <p:nvSpPr>
          <p:cNvPr id="281605" name="Rectangle 5"/>
          <p:cNvSpPr>
            <a:spLocks noChangeArrowheads="1"/>
          </p:cNvSpPr>
          <p:nvPr/>
        </p:nvSpPr>
        <p:spPr bwMode="auto">
          <a:xfrm>
            <a:off x="1662114" y="3538962"/>
            <a:ext cx="8867775" cy="55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5750" indent="-285750">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90000"/>
              </a:lnSpc>
              <a:spcBef>
                <a:spcPct val="30000"/>
              </a:spcBef>
              <a:buSzPct val="85000"/>
              <a:buFontTx/>
              <a:buChar char="•"/>
            </a:pPr>
            <a:r>
              <a:rPr lang="en-US" altLang="en-US" sz="2400" dirty="0">
                <a:solidFill>
                  <a:schemeClr val="tx1"/>
                </a:solidFill>
                <a:latin typeface="Gill Sans MT" panose="020B0502020104020203" pitchFamily="34" charset="0"/>
              </a:rPr>
              <a:t>If </a:t>
            </a:r>
            <a:r>
              <a:rPr lang="en-US" altLang="en-US" sz="2400" i="1" dirty="0">
                <a:solidFill>
                  <a:schemeClr val="tx2"/>
                </a:solidFill>
                <a:latin typeface="Gill Sans MT" panose="020B0502020104020203" pitchFamily="34" charset="0"/>
              </a:rPr>
              <a:t>M</a:t>
            </a:r>
            <a:r>
              <a:rPr lang="en-US" altLang="en-US" sz="2400" dirty="0">
                <a:solidFill>
                  <a:schemeClr val="tx1"/>
                </a:solidFill>
                <a:latin typeface="Gill Sans MT" panose="020B0502020104020203" pitchFamily="34" charset="0"/>
              </a:rPr>
              <a:t> base tests and </a:t>
            </a:r>
            <a:r>
              <a:rPr lang="en-US" altLang="en-US" sz="2400" i="1" dirty="0">
                <a:solidFill>
                  <a:schemeClr val="tx2"/>
                </a:solidFill>
                <a:latin typeface="Gill Sans MT" panose="020B0502020104020203" pitchFamily="34" charset="0"/>
              </a:rPr>
              <a:t>m</a:t>
            </a:r>
            <a:r>
              <a:rPr lang="en-US" altLang="en-US" sz="2400" i="1" baseline="-25000" dirty="0">
                <a:solidFill>
                  <a:schemeClr val="tx2"/>
                </a:solidFill>
                <a:latin typeface="Gill Sans MT" panose="020B0502020104020203" pitchFamily="34" charset="0"/>
              </a:rPr>
              <a:t>i</a:t>
            </a:r>
            <a:r>
              <a:rPr lang="en-US" altLang="en-US" sz="2400" dirty="0">
                <a:solidFill>
                  <a:schemeClr val="tx1"/>
                </a:solidFill>
                <a:latin typeface="Gill Sans MT" panose="020B0502020104020203" pitchFamily="34" charset="0"/>
              </a:rPr>
              <a:t> base choices for each characteristic:</a:t>
            </a:r>
            <a:endParaRPr lang="en-US" altLang="en-US" sz="2400" dirty="0">
              <a:solidFill>
                <a:schemeClr val="tx1"/>
              </a:solidFill>
              <a:latin typeface="Gill Sans MT" panose="020B0502020104020203" pitchFamily="34" charset="0"/>
              <a:sym typeface="Symbol" pitchFamily="18" charset="2"/>
            </a:endParaRPr>
          </a:p>
        </p:txBody>
      </p:sp>
      <p:grpSp>
        <p:nvGrpSpPr>
          <p:cNvPr id="2" name="Group 12"/>
          <p:cNvGrpSpPr>
            <a:grpSpLocks/>
          </p:cNvGrpSpPr>
          <p:nvPr/>
        </p:nvGrpSpPr>
        <p:grpSpPr bwMode="auto">
          <a:xfrm>
            <a:off x="4084638" y="3804822"/>
            <a:ext cx="4024312" cy="709613"/>
            <a:chOff x="1936" y="2439"/>
            <a:chExt cx="2535" cy="447"/>
          </a:xfrm>
        </p:grpSpPr>
        <p:sp>
          <p:nvSpPr>
            <p:cNvPr id="30731" name="Text Box 7"/>
            <p:cNvSpPr txBox="1">
              <a:spLocks noChangeArrowheads="1"/>
            </p:cNvSpPr>
            <p:nvPr/>
          </p:nvSpPr>
          <p:spPr bwMode="auto">
            <a:xfrm>
              <a:off x="1936" y="2455"/>
              <a:ext cx="97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r">
                <a:spcBef>
                  <a:spcPct val="50000"/>
                </a:spcBef>
              </a:pPr>
              <a:r>
                <a:rPr lang="en-US" altLang="en-US" sz="3200" dirty="0">
                  <a:solidFill>
                    <a:schemeClr val="tx2"/>
                  </a:solidFill>
                  <a:sym typeface="Symbol" pitchFamily="18" charset="2"/>
                </a:rPr>
                <a:t>M + </a:t>
              </a:r>
              <a:r>
                <a:rPr lang="en-US" altLang="en-US" sz="3600" dirty="0">
                  <a:solidFill>
                    <a:schemeClr val="tx2"/>
                  </a:solidFill>
                  <a:sym typeface="Symbol" pitchFamily="18" charset="2"/>
                </a:rPr>
                <a:t></a:t>
              </a:r>
              <a:endParaRPr lang="en-US" altLang="en-US" sz="2400" baseline="-25000" dirty="0">
                <a:solidFill>
                  <a:schemeClr val="tx2"/>
                </a:solidFill>
                <a:sym typeface="Symbol" pitchFamily="18" charset="2"/>
              </a:endParaRPr>
            </a:p>
          </p:txBody>
        </p:sp>
        <p:sp>
          <p:nvSpPr>
            <p:cNvPr id="30732" name="Text Box 8"/>
            <p:cNvSpPr txBox="1">
              <a:spLocks noChangeArrowheads="1"/>
            </p:cNvSpPr>
            <p:nvPr/>
          </p:nvSpPr>
          <p:spPr bwMode="auto">
            <a:xfrm>
              <a:off x="2818" y="2439"/>
              <a:ext cx="2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a:t>Q</a:t>
              </a:r>
            </a:p>
          </p:txBody>
        </p:sp>
        <p:sp>
          <p:nvSpPr>
            <p:cNvPr id="30733" name="Text Box 9"/>
            <p:cNvSpPr txBox="1">
              <a:spLocks noChangeArrowheads="1"/>
            </p:cNvSpPr>
            <p:nvPr/>
          </p:nvSpPr>
          <p:spPr bwMode="auto">
            <a:xfrm>
              <a:off x="2812" y="2636"/>
              <a:ext cx="3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a:t>i=1</a:t>
              </a:r>
            </a:p>
          </p:txBody>
        </p:sp>
        <p:sp>
          <p:nvSpPr>
            <p:cNvPr id="30734" name="Text Box 10"/>
            <p:cNvSpPr txBox="1">
              <a:spLocks noChangeArrowheads="1"/>
            </p:cNvSpPr>
            <p:nvPr/>
          </p:nvSpPr>
          <p:spPr bwMode="auto">
            <a:xfrm>
              <a:off x="3066" y="2513"/>
              <a:ext cx="140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sz="2400" dirty="0"/>
                <a:t>(M * (B</a:t>
              </a:r>
              <a:r>
                <a:rPr lang="en-US" altLang="en-US" sz="2400" baseline="-25000" dirty="0"/>
                <a:t>i</a:t>
              </a:r>
              <a:r>
                <a:rPr lang="en-US" altLang="en-US" sz="2400" dirty="0"/>
                <a:t> - m</a:t>
              </a:r>
              <a:r>
                <a:rPr lang="en-US" altLang="en-US" sz="2400" baseline="-25000" dirty="0"/>
                <a:t>i</a:t>
              </a:r>
              <a:r>
                <a:rPr lang="en-US" altLang="en-US" sz="2400" dirty="0"/>
                <a:t> ))</a:t>
              </a:r>
            </a:p>
          </p:txBody>
        </p:sp>
      </p:grpSp>
      <p:sp>
        <p:nvSpPr>
          <p:cNvPr id="281611" name="Text Box 11"/>
          <p:cNvSpPr txBox="1">
            <a:spLocks noChangeArrowheads="1"/>
          </p:cNvSpPr>
          <p:nvPr/>
        </p:nvSpPr>
        <p:spPr bwMode="auto">
          <a:xfrm>
            <a:off x="1662114" y="4492472"/>
            <a:ext cx="8657929" cy="2215991"/>
          </a:xfrm>
          <a:prstGeom prst="rect">
            <a:avLst/>
          </a:prstGeom>
          <a:solidFill>
            <a:srgbClr val="0000FF"/>
          </a:solidFill>
          <a:ln w="19050">
            <a:solidFill>
              <a:schemeClr val="tx2"/>
            </a:solidFill>
            <a:miter lim="800000"/>
            <a:headEnd type="none" w="sm" len="sm"/>
            <a:tailEnd type="none" w="sm" len="sm"/>
          </a:ln>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75000"/>
              </a:lnSpc>
              <a:spcBef>
                <a:spcPct val="50000"/>
              </a:spcBef>
            </a:pPr>
            <a:r>
              <a:rPr lang="en-US" altLang="en-US" sz="2400" dirty="0">
                <a:latin typeface="Gill Sans MT" panose="020B0502020104020203" pitchFamily="34" charset="0"/>
              </a:rPr>
              <a:t>For </a:t>
            </a:r>
            <a:r>
              <a:rPr lang="en-US" altLang="en-US" sz="2400" i="1" dirty="0" err="1">
                <a:latin typeface="Gill Sans MT" panose="020B0502020104020203" pitchFamily="34" charset="0"/>
              </a:rPr>
              <a:t>triang</a:t>
            </a:r>
            <a:r>
              <a:rPr lang="en-US" altLang="en-US" sz="2400" dirty="0">
                <a:latin typeface="Gill Sans MT" panose="020B0502020104020203" pitchFamily="34" charset="0"/>
              </a:rPr>
              <a:t>() : </a:t>
            </a:r>
            <a:r>
              <a:rPr lang="en-US" altLang="en-US" sz="2400" u="sng" dirty="0">
                <a:latin typeface="Gill Sans MT" panose="020B0502020104020203" pitchFamily="34" charset="0"/>
              </a:rPr>
              <a:t>Bases</a:t>
            </a:r>
          </a:p>
          <a:p>
            <a:pPr>
              <a:lnSpc>
                <a:spcPct val="75000"/>
              </a:lnSpc>
              <a:spcBef>
                <a:spcPct val="50000"/>
              </a:spcBef>
            </a:pPr>
            <a:r>
              <a:rPr lang="en-US" altLang="en-US" sz="2400" dirty="0">
                <a:latin typeface="Gill Sans MT" panose="020B0502020104020203" pitchFamily="34" charset="0"/>
              </a:rPr>
              <a:t>                      A1, B1, C1   A1, B1, C3   A1, B3, C1    A3, B1, C1</a:t>
            </a:r>
          </a:p>
          <a:p>
            <a:pPr>
              <a:lnSpc>
                <a:spcPct val="75000"/>
              </a:lnSpc>
              <a:spcBef>
                <a:spcPct val="50000"/>
              </a:spcBef>
            </a:pPr>
            <a:r>
              <a:rPr lang="en-US" altLang="en-US" sz="2400" dirty="0">
                <a:latin typeface="Gill Sans MT" panose="020B0502020104020203" pitchFamily="34" charset="0"/>
              </a:rPr>
              <a:t>                                          A1, B1, C4   A1, B4, C1    A4, B1, C1</a:t>
            </a:r>
          </a:p>
          <a:p>
            <a:pPr>
              <a:lnSpc>
                <a:spcPct val="75000"/>
              </a:lnSpc>
              <a:spcBef>
                <a:spcPct val="50000"/>
              </a:spcBef>
            </a:pPr>
            <a:r>
              <a:rPr lang="en-US" altLang="en-US" sz="2400" dirty="0">
                <a:latin typeface="Gill Sans MT" panose="020B0502020104020203" pitchFamily="34" charset="0"/>
              </a:rPr>
              <a:t>                      A2, B2, C2   A2, B2, C3   A2,  B3, C2   C3, B2, C2</a:t>
            </a:r>
          </a:p>
          <a:p>
            <a:pPr>
              <a:lnSpc>
                <a:spcPct val="75000"/>
              </a:lnSpc>
              <a:spcBef>
                <a:spcPct val="50000"/>
              </a:spcBef>
            </a:pPr>
            <a:r>
              <a:rPr lang="en-US" altLang="en-US" sz="2400" dirty="0">
                <a:latin typeface="Gill Sans MT" panose="020B0502020104020203" pitchFamily="34" charset="0"/>
              </a:rPr>
              <a:t>                                          A2, B2, C4   A2, B4, C2    C3, B2, C2</a:t>
            </a:r>
          </a:p>
        </p:txBody>
      </p:sp>
    </p:spTree>
    <p:extLst>
      <p:ext uri="{BB962C8B-B14F-4D97-AF65-F5344CB8AC3E}">
        <p14:creationId xmlns:p14="http://schemas.microsoft.com/office/powerpoint/2010/main" val="546847237"/>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1604"/>
                                        </p:tgtEl>
                                        <p:attrNameLst>
                                          <p:attrName>style.visibility</p:attrName>
                                        </p:attrNameLst>
                                      </p:cBhvr>
                                      <p:to>
                                        <p:strVal val="visible"/>
                                      </p:to>
                                    </p:set>
                                    <p:animEffect transition="in" filter="dissolve">
                                      <p:cBhvr>
                                        <p:cTn id="7" dur="1000"/>
                                        <p:tgtEl>
                                          <p:spTgt spid="2816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1605"/>
                                        </p:tgtEl>
                                        <p:attrNameLst>
                                          <p:attrName>style.visibility</p:attrName>
                                        </p:attrNameLst>
                                      </p:cBhvr>
                                      <p:to>
                                        <p:strVal val="visible"/>
                                      </p:to>
                                    </p:set>
                                    <p:animEffect transition="in" filter="wipe(left)">
                                      <p:cBhvr>
                                        <p:cTn id="12" dur="1000"/>
                                        <p:tgtEl>
                                          <p:spTgt spid="281605"/>
                                        </p:tgtEl>
                                      </p:cBhvr>
                                    </p:animEffect>
                                  </p:childTnLst>
                                </p:cTn>
                              </p:par>
                            </p:childTnLst>
                          </p:cTn>
                        </p:par>
                        <p:par>
                          <p:cTn id="13" fill="hold" nodeType="withGroup">
                            <p:stCondLst>
                              <p:cond delay="1000"/>
                            </p:stCondLst>
                            <p:childTnLst>
                              <p:par>
                                <p:cTn id="14" presetID="9"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dissolve">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81611"/>
                                        </p:tgtEl>
                                        <p:attrNameLst>
                                          <p:attrName>style.visibility</p:attrName>
                                        </p:attrNameLst>
                                      </p:cBhvr>
                                      <p:to>
                                        <p:strVal val="visible"/>
                                      </p:to>
                                    </p:set>
                                    <p:animEffect transition="in" filter="dissolve">
                                      <p:cBhvr>
                                        <p:cTn id="21" dur="500"/>
                                        <p:tgtEl>
                                          <p:spTgt spid="281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4" grpId="0" animBg="1" autoUpdateAnimBg="0"/>
      <p:bldP spid="281605" grpId="0"/>
      <p:bldP spid="28161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p>
        </p:txBody>
      </p:sp>
      <p:sp>
        <p:nvSpPr>
          <p:cNvPr id="4" name="Date Placeholder 3"/>
          <p:cNvSpPr>
            <a:spLocks noGrp="1"/>
          </p:cNvSpPr>
          <p:nvPr>
            <p:ph type="dt" sz="half" idx="10"/>
          </p:nvPr>
        </p:nvSpPr>
        <p:spPr/>
        <p:txBody>
          <a:bodyPr/>
          <a:lstStyle/>
          <a:p>
            <a:pPr>
              <a:defRPr/>
            </a:pPr>
            <a:r>
              <a:rPr lang="en-US">
                <a:solidFill>
                  <a:srgbClr val="FFFFFF"/>
                </a:solidFill>
              </a:rPr>
              <a:t>Introduction to Software Testing, Edition 2  (Ch 6)</a:t>
            </a:r>
            <a:endParaRPr lang="en-US" dirty="0">
              <a:solidFill>
                <a:srgbClr val="FFFFFF"/>
              </a:solidFill>
            </a:endParaRPr>
          </a:p>
        </p:txBody>
      </p:sp>
      <p:sp>
        <p:nvSpPr>
          <p:cNvPr id="5" name="Footer Placeholder 4"/>
          <p:cNvSpPr>
            <a:spLocks noGrp="1"/>
          </p:cNvSpPr>
          <p:nvPr>
            <p:ph type="ftr" sz="quarter" idx="11"/>
          </p:nvPr>
        </p:nvSpPr>
        <p:spPr/>
        <p:txBody>
          <a:bodyPr/>
          <a:lstStyle/>
          <a:p>
            <a:pPr>
              <a:defRPr/>
            </a:pPr>
            <a:r>
              <a:rPr lang="en-US">
                <a:solidFill>
                  <a:srgbClr val="FFFFFF"/>
                </a:solidFill>
              </a:rPr>
              <a:t>© Ammann &amp; Offutt</a:t>
            </a:r>
          </a:p>
        </p:txBody>
      </p:sp>
      <p:sp>
        <p:nvSpPr>
          <p:cNvPr id="6" name="Slide Number Placeholder 5"/>
          <p:cNvSpPr>
            <a:spLocks noGrp="1"/>
          </p:cNvSpPr>
          <p:nvPr>
            <p:ph type="sldNum" sz="quarter" idx="12"/>
          </p:nvPr>
        </p:nvSpPr>
        <p:spPr/>
        <p:txBody>
          <a:bodyPr/>
          <a:lstStyle/>
          <a:p>
            <a:pPr>
              <a:defRPr/>
            </a:pPr>
            <a:fld id="{FE742154-05E0-4FD4-B04E-B92FD3670A3A}" type="slidenum">
              <a:rPr lang="en-US">
                <a:solidFill>
                  <a:srgbClr val="FFFFFF"/>
                </a:solidFill>
              </a:rPr>
              <a:pPr>
                <a:defRPr/>
              </a:pPr>
              <a:t>44</a:t>
            </a:fld>
            <a:endParaRPr lang="en-US">
              <a:solidFill>
                <a:srgbClr val="FFFFFF"/>
              </a:solidFill>
            </a:endParaRPr>
          </a:p>
        </p:txBody>
      </p:sp>
      <p:sp>
        <p:nvSpPr>
          <p:cNvPr id="7" name="TextBox 6"/>
          <p:cNvSpPr txBox="1"/>
          <p:nvPr/>
        </p:nvSpPr>
        <p:spPr>
          <a:xfrm>
            <a:off x="3115189" y="1749671"/>
            <a:ext cx="5970389" cy="523220"/>
          </a:xfrm>
          <a:prstGeom prst="rect">
            <a:avLst/>
          </a:prstGeom>
          <a:solidFill>
            <a:schemeClr val="bg1">
              <a:lumMod val="40000"/>
              <a:lumOff val="60000"/>
            </a:schemeClr>
          </a:solidFill>
        </p:spPr>
        <p:txBody>
          <a:bodyPr wrap="square" rtlCol="0">
            <a:spAutoFit/>
          </a:bodyPr>
          <a:lstStyle/>
          <a:p>
            <a:pPr lvl="0" algn="ctr"/>
            <a:r>
              <a:rPr lang="en-US" sz="2800" b="0" dirty="0">
                <a:solidFill>
                  <a:srgbClr val="FFFFFF"/>
                </a:solidFill>
                <a:latin typeface="Calibri" panose="020F0502020204030204" pitchFamily="34" charset="0"/>
                <a:cs typeface="Calibri" panose="020F0502020204030204" pitchFamily="34" charset="0"/>
              </a:rPr>
              <a:t>Apply MBCC to our previous example</a:t>
            </a:r>
          </a:p>
        </p:txBody>
      </p:sp>
      <p:sp>
        <p:nvSpPr>
          <p:cNvPr id="9" name="TextBox 8"/>
          <p:cNvSpPr txBox="1"/>
          <p:nvPr/>
        </p:nvSpPr>
        <p:spPr>
          <a:xfrm>
            <a:off x="2695311" y="4062625"/>
            <a:ext cx="6810145" cy="2246769"/>
          </a:xfrm>
          <a:prstGeom prst="rect">
            <a:avLst/>
          </a:prstGeom>
          <a:solidFill>
            <a:schemeClr val="bg1">
              <a:lumMod val="40000"/>
              <a:lumOff val="60000"/>
            </a:schemeClr>
          </a:solidFill>
        </p:spPr>
        <p:txBody>
          <a:bodyPr wrap="square" rtlCol="0">
            <a:spAutoFit/>
          </a:bodyPr>
          <a:lstStyle/>
          <a:p>
            <a:pPr marL="514350" indent="-514350">
              <a:buFont typeface="+mj-lt"/>
              <a:buAutoNum type="arabicPeriod"/>
              <a:defRPr/>
            </a:pPr>
            <a:r>
              <a:rPr lang="en-US" sz="2800" b="0" dirty="0">
                <a:solidFill>
                  <a:srgbClr val="FFFFFF"/>
                </a:solidFill>
                <a:latin typeface="Calibri" panose="020F0502020204030204" pitchFamily="34" charset="0"/>
                <a:cs typeface="Calibri" panose="020F0502020204030204" pitchFamily="34" charset="0"/>
              </a:rPr>
              <a:t>How many tests are needed for MBCC?</a:t>
            </a:r>
          </a:p>
          <a:p>
            <a:pPr marL="514350" indent="-514350">
              <a:buFont typeface="+mj-lt"/>
              <a:buAutoNum type="arabicPeriod"/>
              <a:defRPr/>
            </a:pPr>
            <a:r>
              <a:rPr lang="en-US" altLang="zh-CN" sz="2800" b="0" dirty="0">
                <a:solidFill>
                  <a:srgbClr val="FFFFFF"/>
                </a:solidFill>
                <a:latin typeface="Calibri" panose="020F0502020204030204" pitchFamily="34" charset="0"/>
                <a:cs typeface="Calibri" panose="020F0502020204030204" pitchFamily="34" charset="0"/>
              </a:rPr>
              <a:t>Design the remaining (abstract) tests</a:t>
            </a:r>
            <a:r>
              <a:rPr lang="en-US" sz="2800" b="0" dirty="0">
                <a:solidFill>
                  <a:srgbClr val="FFFFFF"/>
                </a:solidFill>
                <a:latin typeface="Calibri" panose="020F0502020204030204" pitchFamily="34" charset="0"/>
                <a:cs typeface="Calibri" panose="020F0502020204030204" pitchFamily="34" charset="0"/>
              </a:rPr>
              <a:t> </a:t>
            </a:r>
            <a:r>
              <a:rPr lang="en-US" altLang="zh-CN" sz="2800" b="0" dirty="0">
                <a:solidFill>
                  <a:srgbClr val="FFFFFF"/>
                </a:solidFill>
                <a:latin typeface="Calibri" panose="020F0502020204030204" pitchFamily="34" charset="0"/>
                <a:cs typeface="Calibri" panose="020F0502020204030204" pitchFamily="34" charset="0"/>
              </a:rPr>
              <a:t>with the given base values: </a:t>
            </a:r>
          </a:p>
          <a:p>
            <a:pPr>
              <a:defRPr/>
            </a:pPr>
            <a:r>
              <a:rPr lang="en-US" altLang="en-US" sz="2800" b="0" dirty="0">
                <a:solidFill>
                  <a:schemeClr val="tx1"/>
                </a:solidFill>
                <a:latin typeface="Gill Sans MT" panose="020B0502020104020203" pitchFamily="34" charset="0"/>
              </a:rPr>
              <a:t>   Two base tests: </a:t>
            </a:r>
            <a:r>
              <a:rPr lang="en-US" altLang="en-US" sz="2800" b="0" dirty="0">
                <a:solidFill>
                  <a:srgbClr val="FFFF00"/>
                </a:solidFill>
                <a:latin typeface="Gill Sans MT" panose="020B0502020104020203" pitchFamily="34" charset="0"/>
              </a:rPr>
              <a:t>a1, b1, c1, d1</a:t>
            </a:r>
            <a:r>
              <a:rPr lang="en-US" altLang="en-US" sz="2800" b="0" dirty="0">
                <a:solidFill>
                  <a:schemeClr val="tx1"/>
                </a:solidFill>
                <a:latin typeface="Gill Sans MT" panose="020B0502020104020203" pitchFamily="34" charset="0"/>
              </a:rPr>
              <a:t>    </a:t>
            </a:r>
            <a:r>
              <a:rPr lang="en-US" altLang="en-US" sz="2800" b="0" dirty="0">
                <a:solidFill>
                  <a:srgbClr val="FFFF00"/>
                </a:solidFill>
                <a:latin typeface="Gill Sans MT" panose="020B0502020104020203" pitchFamily="34" charset="0"/>
              </a:rPr>
              <a:t>a2, b2, c2, d2</a:t>
            </a:r>
            <a:r>
              <a:rPr lang="en-US" altLang="zh-CN" sz="2800" b="0" dirty="0">
                <a:solidFill>
                  <a:srgbClr val="FFFFFF"/>
                </a:solidFill>
                <a:latin typeface="Calibri" panose="020F0502020204030204" pitchFamily="34" charset="0"/>
                <a:cs typeface="Calibri" panose="020F0502020204030204" pitchFamily="34" charset="0"/>
              </a:rPr>
              <a:t> </a:t>
            </a:r>
            <a:endParaRPr lang="en-US" sz="2800" b="0" dirty="0">
              <a:solidFill>
                <a:srgbClr val="FFFFFF"/>
              </a:solidFill>
              <a:latin typeface="Calibri" panose="020F0502020204030204" pitchFamily="34" charset="0"/>
              <a:cs typeface="Calibri" panose="020F0502020204030204" pitchFamily="34" charset="0"/>
            </a:endParaRPr>
          </a:p>
        </p:txBody>
      </p:sp>
      <p:sp>
        <p:nvSpPr>
          <p:cNvPr id="10" name="TextBox 9"/>
          <p:cNvSpPr txBox="1"/>
          <p:nvPr/>
        </p:nvSpPr>
        <p:spPr>
          <a:xfrm>
            <a:off x="2695310" y="951778"/>
            <a:ext cx="6925280" cy="584775"/>
          </a:xfrm>
          <a:prstGeom prst="rect">
            <a:avLst/>
          </a:prstGeom>
          <a:solidFill>
            <a:schemeClr val="bg1">
              <a:lumMod val="40000"/>
              <a:lumOff val="60000"/>
            </a:schemeClr>
          </a:solidFill>
        </p:spPr>
        <p:txBody>
          <a:bodyPr wrap="square" rtlCol="0">
            <a:spAutoFit/>
          </a:bodyPr>
          <a:lstStyle/>
          <a:p>
            <a:pPr algn="ctr">
              <a:defRPr/>
            </a:pPr>
            <a:r>
              <a:rPr lang="en-US" altLang="zh-CN" sz="3200" b="0" dirty="0">
                <a:solidFill>
                  <a:srgbClr val="FFFFFF"/>
                </a:solidFill>
                <a:latin typeface="Calibri" panose="020F0502020204030204" pitchFamily="34" charset="0"/>
                <a:cs typeface="Calibri" panose="020F0502020204030204" pitchFamily="34" charset="0"/>
              </a:rPr>
              <a:t>Multiple</a:t>
            </a:r>
            <a:r>
              <a:rPr lang="en-US" sz="3200" b="0" dirty="0">
                <a:solidFill>
                  <a:srgbClr val="FFFFFF"/>
                </a:solidFill>
                <a:latin typeface="Calibri" panose="020F0502020204030204" pitchFamily="34" charset="0"/>
                <a:cs typeface="Calibri" panose="020F0502020204030204" pitchFamily="34" charset="0"/>
              </a:rPr>
              <a:t> base choice criterion (MBCC)</a:t>
            </a:r>
          </a:p>
        </p:txBody>
      </p:sp>
      <p:sp>
        <p:nvSpPr>
          <p:cNvPr id="12" name="TextBox 11"/>
          <p:cNvSpPr txBox="1"/>
          <p:nvPr/>
        </p:nvSpPr>
        <p:spPr>
          <a:xfrm>
            <a:off x="2484781" y="2486011"/>
            <a:ext cx="7231205" cy="1384995"/>
          </a:xfrm>
          <a:prstGeom prst="rect">
            <a:avLst/>
          </a:prstGeom>
          <a:solidFill>
            <a:schemeClr val="bg1">
              <a:lumMod val="40000"/>
              <a:lumOff val="60000"/>
            </a:schemeClr>
          </a:solidFill>
        </p:spPr>
        <p:txBody>
          <a:bodyPr wrap="square" rtlCol="0">
            <a:spAutoFit/>
          </a:bodyPr>
          <a:lstStyle/>
          <a:p>
            <a:pPr lvl="0"/>
            <a:r>
              <a:rPr lang="en-US" sz="2800" b="0" dirty="0">
                <a:solidFill>
                  <a:srgbClr val="FFFFFF"/>
                </a:solidFill>
                <a:latin typeface="Calibri" panose="020F0502020204030204" pitchFamily="34" charset="0"/>
                <a:cs typeface="Calibri" panose="020F0502020204030204" pitchFamily="34" charset="0"/>
              </a:rPr>
              <a:t>4 Characteristics:  A, B, C, D</a:t>
            </a:r>
          </a:p>
          <a:p>
            <a:pPr lvl="0"/>
            <a:r>
              <a:rPr lang="en-US" sz="2800" b="0" dirty="0">
                <a:solidFill>
                  <a:srgbClr val="FFFFFF"/>
                </a:solidFill>
                <a:latin typeface="Calibri" panose="020F0502020204030204" pitchFamily="34" charset="0"/>
                <a:cs typeface="Calibri" panose="020F0502020204030204" pitchFamily="34" charset="0"/>
              </a:rPr>
              <a:t>Abstract blocks: A = [a1, a2]; B = [b1, b2];</a:t>
            </a:r>
          </a:p>
          <a:p>
            <a:pPr lvl="0"/>
            <a:r>
              <a:rPr lang="en-US" sz="2800" b="0" dirty="0">
                <a:solidFill>
                  <a:srgbClr val="FFFFFF"/>
                </a:solidFill>
                <a:latin typeface="Calibri" panose="020F0502020204030204" pitchFamily="34" charset="0"/>
                <a:cs typeface="Calibri" panose="020F0502020204030204" pitchFamily="34" charset="0"/>
              </a:rPr>
              <a:t>		       C = [c1, c2, c3]; D = [d1, d2]</a:t>
            </a:r>
          </a:p>
        </p:txBody>
      </p:sp>
    </p:spTree>
    <p:extLst>
      <p:ext uri="{BB962C8B-B14F-4D97-AF65-F5344CB8AC3E}">
        <p14:creationId xmlns:p14="http://schemas.microsoft.com/office/powerpoint/2010/main" val="239490182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2000"/>
                                        <p:tgtEl>
                                          <p:spTgt spid="7"/>
                                        </p:tgtEl>
                                      </p:cBhvr>
                                    </p:animEffect>
                                  </p:childTnLst>
                                </p:cTn>
                              </p:par>
                            </p:childTnLst>
                          </p:cTn>
                        </p:par>
                        <p:par>
                          <p:cTn id="12" fill="hold">
                            <p:stCondLst>
                              <p:cond delay="4000"/>
                            </p:stCondLst>
                            <p:childTnLst>
                              <p:par>
                                <p:cTn id="13" presetID="10" presetClass="entr" presetSubtype="0"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2000"/>
                                        <p:tgtEl>
                                          <p:spTgt spid="12"/>
                                        </p:tgtEl>
                                      </p:cBhvr>
                                    </p:animEffect>
                                  </p:childTnLst>
                                </p:cTn>
                              </p:par>
                            </p:childTnLst>
                          </p:cTn>
                        </p:par>
                        <p:par>
                          <p:cTn id="16" fill="hold">
                            <p:stCondLst>
                              <p:cond delay="600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E615B5-4040-4CF7-90F4-B796C6C7D3F9}"/>
              </a:ext>
            </a:extLst>
          </p:cNvPr>
          <p:cNvSpPr>
            <a:spLocks noGrp="1"/>
          </p:cNvSpPr>
          <p:nvPr>
            <p:ph type="title"/>
          </p:nvPr>
        </p:nvSpPr>
        <p:spPr/>
        <p:txBody>
          <a:bodyPr/>
          <a:lstStyle/>
          <a:p>
            <a:r>
              <a:rPr lang="en-US" altLang="zh-CN" dirty="0"/>
              <a:t>In-class exercise (</a:t>
            </a:r>
            <a:r>
              <a:rPr lang="en-US" altLang="zh-CN" i="1" dirty="0"/>
              <a:t>answer</a:t>
            </a:r>
            <a:r>
              <a:rPr lang="en-US" altLang="zh-CN" dirty="0"/>
              <a:t>)</a:t>
            </a:r>
            <a:endParaRPr lang="zh-CN" altLang="en-US" dirty="0"/>
          </a:p>
        </p:txBody>
      </p:sp>
      <p:sp>
        <p:nvSpPr>
          <p:cNvPr id="3" name="内容占位符 2">
            <a:extLst>
              <a:ext uri="{FF2B5EF4-FFF2-40B4-BE49-F238E27FC236}">
                <a16:creationId xmlns:a16="http://schemas.microsoft.com/office/drawing/2014/main" id="{AE7C1039-502F-48B3-B236-B2039B1EAA82}"/>
              </a:ext>
            </a:extLst>
          </p:cNvPr>
          <p:cNvSpPr>
            <a:spLocks noGrp="1"/>
          </p:cNvSpPr>
          <p:nvPr>
            <p:ph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5AADC2D-1363-4ACF-95B1-51F8FCA6C351}"/>
              </a:ext>
            </a:extLst>
          </p:cNvPr>
          <p:cNvSpPr>
            <a:spLocks noGrp="1"/>
          </p:cNvSpPr>
          <p:nvPr>
            <p:ph type="sldNum" sz="quarter" idx="12"/>
          </p:nvPr>
        </p:nvSpPr>
        <p:spPr/>
        <p:txBody>
          <a:bodyPr/>
          <a:lstStyle/>
          <a:p>
            <a:pPr>
              <a:defRPr/>
            </a:pPr>
            <a:fld id="{FE742154-05E0-4FD4-B04E-B92FD3670A3A}" type="slidenum">
              <a:rPr lang="en-US" smtClean="0"/>
              <a:pPr>
                <a:defRPr/>
              </a:pPr>
              <a:t>45</a:t>
            </a:fld>
            <a:endParaRPr lang="en-US"/>
          </a:p>
        </p:txBody>
      </p:sp>
      <p:sp>
        <p:nvSpPr>
          <p:cNvPr id="5" name="Text Box 11">
            <a:extLst>
              <a:ext uri="{FF2B5EF4-FFF2-40B4-BE49-F238E27FC236}">
                <a16:creationId xmlns:a16="http://schemas.microsoft.com/office/drawing/2014/main" id="{49B6968E-5A33-474E-A3A5-21FE636BD762}"/>
              </a:ext>
            </a:extLst>
          </p:cNvPr>
          <p:cNvSpPr txBox="1">
            <a:spLocks noChangeArrowheads="1"/>
          </p:cNvSpPr>
          <p:nvPr/>
        </p:nvSpPr>
        <p:spPr bwMode="auto">
          <a:xfrm>
            <a:off x="1716869" y="4668032"/>
            <a:ext cx="8657929" cy="1292662"/>
          </a:xfrm>
          <a:prstGeom prst="rect">
            <a:avLst/>
          </a:prstGeom>
          <a:solidFill>
            <a:srgbClr val="0000FF"/>
          </a:solidFill>
          <a:ln w="19050">
            <a:solidFill>
              <a:schemeClr val="tx2"/>
            </a:solidFill>
            <a:miter lim="800000"/>
            <a:headEnd type="none" w="sm" len="sm"/>
            <a:tailEnd type="none" w="sm" len="sm"/>
          </a:ln>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75000"/>
              </a:lnSpc>
              <a:spcBef>
                <a:spcPct val="50000"/>
              </a:spcBef>
            </a:pPr>
            <a:r>
              <a:rPr lang="en-US" altLang="en-US" sz="2400" b="0" dirty="0">
                <a:solidFill>
                  <a:schemeClr val="tx1"/>
                </a:solidFill>
                <a:latin typeface="Gill Sans MT" panose="020B0502020104020203" pitchFamily="34" charset="0"/>
              </a:rPr>
              <a:t>For our example: Two base tests: </a:t>
            </a:r>
            <a:r>
              <a:rPr lang="en-US" altLang="en-US" sz="2400" b="0" dirty="0">
                <a:solidFill>
                  <a:srgbClr val="FFFF00"/>
                </a:solidFill>
                <a:latin typeface="Gill Sans MT" panose="020B0502020104020203" pitchFamily="34" charset="0"/>
              </a:rPr>
              <a:t>a1, b1, c1, d1</a:t>
            </a:r>
            <a:r>
              <a:rPr lang="en-US" altLang="en-US" sz="2400" b="0" dirty="0">
                <a:solidFill>
                  <a:schemeClr val="tx1"/>
                </a:solidFill>
                <a:latin typeface="Gill Sans MT" panose="020B0502020104020203" pitchFamily="34" charset="0"/>
              </a:rPr>
              <a:t>    </a:t>
            </a:r>
            <a:r>
              <a:rPr lang="en-US" altLang="en-US" sz="2400" b="0" dirty="0">
                <a:solidFill>
                  <a:srgbClr val="FFFF00"/>
                </a:solidFill>
                <a:latin typeface="Gill Sans MT" panose="020B0502020104020203" pitchFamily="34" charset="0"/>
              </a:rPr>
              <a:t>a2, b2, c2, d2</a:t>
            </a:r>
          </a:p>
          <a:p>
            <a:pPr>
              <a:lnSpc>
                <a:spcPct val="75000"/>
              </a:lnSpc>
              <a:spcBef>
                <a:spcPct val="50000"/>
              </a:spcBef>
            </a:pPr>
            <a:r>
              <a:rPr lang="en-US" altLang="en-US" sz="2400" b="0" dirty="0">
                <a:solidFill>
                  <a:schemeClr val="tx1"/>
                </a:solidFill>
                <a:latin typeface="Gill Sans MT" panose="020B0502020104020203" pitchFamily="34" charset="0"/>
              </a:rPr>
              <a:t>Tests from a1, b1, c1, d1:  a1, b1, </a:t>
            </a:r>
            <a:r>
              <a:rPr lang="en-US" altLang="en-US" sz="2400" b="0" dirty="0">
                <a:solidFill>
                  <a:srgbClr val="FFFF00"/>
                </a:solidFill>
                <a:latin typeface="Gill Sans MT" panose="020B0502020104020203" pitchFamily="34" charset="0"/>
              </a:rPr>
              <a:t>c3</a:t>
            </a:r>
            <a:r>
              <a:rPr lang="en-US" altLang="en-US" sz="2400" b="0" dirty="0">
                <a:solidFill>
                  <a:schemeClr val="tx1"/>
                </a:solidFill>
                <a:latin typeface="Gill Sans MT" panose="020B0502020104020203" pitchFamily="34" charset="0"/>
              </a:rPr>
              <a:t>, d1</a:t>
            </a:r>
          </a:p>
          <a:p>
            <a:pPr>
              <a:lnSpc>
                <a:spcPct val="75000"/>
              </a:lnSpc>
              <a:spcBef>
                <a:spcPct val="50000"/>
              </a:spcBef>
            </a:pPr>
            <a:r>
              <a:rPr lang="en-US" altLang="en-US" sz="2400" b="0" dirty="0">
                <a:solidFill>
                  <a:schemeClr val="tx1"/>
                </a:solidFill>
                <a:latin typeface="Gill Sans MT" panose="020B0502020104020203" pitchFamily="34" charset="0"/>
              </a:rPr>
              <a:t>Tests from a2, b2, c2, d2:  a2, b2, </a:t>
            </a:r>
            <a:r>
              <a:rPr lang="en-US" altLang="en-US" sz="2400" b="0" dirty="0">
                <a:solidFill>
                  <a:srgbClr val="FFFF00"/>
                </a:solidFill>
                <a:latin typeface="Gill Sans MT" panose="020B0502020104020203" pitchFamily="34" charset="0"/>
              </a:rPr>
              <a:t>c3</a:t>
            </a:r>
            <a:r>
              <a:rPr lang="en-US" altLang="en-US" sz="2400" b="0" dirty="0">
                <a:solidFill>
                  <a:schemeClr val="tx1"/>
                </a:solidFill>
                <a:latin typeface="Gill Sans MT" panose="020B0502020104020203" pitchFamily="34" charset="0"/>
              </a:rPr>
              <a:t>, d2</a:t>
            </a:r>
          </a:p>
        </p:txBody>
      </p:sp>
      <p:sp>
        <p:nvSpPr>
          <p:cNvPr id="10" name="TextBox 7">
            <a:extLst>
              <a:ext uri="{FF2B5EF4-FFF2-40B4-BE49-F238E27FC236}">
                <a16:creationId xmlns:a16="http://schemas.microsoft.com/office/drawing/2014/main" id="{0AF4D1E7-FA12-4F13-8242-C80079CB1858}"/>
              </a:ext>
            </a:extLst>
          </p:cNvPr>
          <p:cNvSpPr txBox="1"/>
          <p:nvPr/>
        </p:nvSpPr>
        <p:spPr>
          <a:xfrm>
            <a:off x="2484781" y="1604721"/>
            <a:ext cx="7231205" cy="1384995"/>
          </a:xfrm>
          <a:prstGeom prst="rect">
            <a:avLst/>
          </a:prstGeom>
          <a:solidFill>
            <a:schemeClr val="bg1">
              <a:lumMod val="40000"/>
              <a:lumOff val="60000"/>
            </a:schemeClr>
          </a:solidFill>
        </p:spPr>
        <p:txBody>
          <a:bodyPr wrap="square" rtlCol="0">
            <a:spAutoFit/>
          </a:bodyPr>
          <a:lstStyle/>
          <a:p>
            <a:pPr>
              <a:defRPr/>
            </a:pPr>
            <a:r>
              <a:rPr lang="en-US" sz="2800" b="0" dirty="0">
                <a:solidFill>
                  <a:srgbClr val="FFFFFF"/>
                </a:solidFill>
                <a:latin typeface="Calibri" panose="020F0502020204030204" pitchFamily="34" charset="0"/>
                <a:cs typeface="Calibri" panose="020F0502020204030204" pitchFamily="34" charset="0"/>
              </a:rPr>
              <a:t>4 Characteristics:  A, B, C, D</a:t>
            </a:r>
          </a:p>
          <a:p>
            <a:pPr>
              <a:defRPr/>
            </a:pPr>
            <a:r>
              <a:rPr lang="en-US" sz="2800" b="0" dirty="0">
                <a:solidFill>
                  <a:srgbClr val="FFFFFF"/>
                </a:solidFill>
                <a:latin typeface="Calibri" panose="020F0502020204030204" pitchFamily="34" charset="0"/>
                <a:cs typeface="Calibri" panose="020F0502020204030204" pitchFamily="34" charset="0"/>
              </a:rPr>
              <a:t>Abstract blocks: A = [a1, a2]; B = [b1, b2];</a:t>
            </a:r>
          </a:p>
          <a:p>
            <a:pPr>
              <a:defRPr/>
            </a:pPr>
            <a:r>
              <a:rPr lang="en-US" sz="2800" b="0" dirty="0">
                <a:solidFill>
                  <a:srgbClr val="FFFFFF"/>
                </a:solidFill>
                <a:latin typeface="Calibri" panose="020F0502020204030204" pitchFamily="34" charset="0"/>
                <a:cs typeface="Calibri" panose="020F0502020204030204" pitchFamily="34" charset="0"/>
              </a:rPr>
              <a:t>		       C = [c1, c2, c3]; D = [d1, d2]</a:t>
            </a:r>
          </a:p>
        </p:txBody>
      </p:sp>
      <p:sp>
        <p:nvSpPr>
          <p:cNvPr id="11" name="Rounded Rectangle 10">
            <a:extLst>
              <a:ext uri="{FF2B5EF4-FFF2-40B4-BE49-F238E27FC236}">
                <a16:creationId xmlns:a16="http://schemas.microsoft.com/office/drawing/2014/main" id="{739476A9-A662-4173-87DD-0B8E765EA1C2}"/>
              </a:ext>
            </a:extLst>
          </p:cNvPr>
          <p:cNvSpPr/>
          <p:nvPr/>
        </p:nvSpPr>
        <p:spPr bwMode="auto">
          <a:xfrm>
            <a:off x="1962036" y="3117353"/>
            <a:ext cx="8358006" cy="1071366"/>
          </a:xfrm>
          <a:prstGeom prst="roundRect">
            <a:avLst/>
          </a:prstGeom>
          <a:solidFill>
            <a:srgbClr val="008000"/>
          </a:solidFill>
          <a:ln w="28575" cap="flat" cmpd="sng" algn="ctr">
            <a:solidFill>
              <a:srgbClr val="FF99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a:defRPr/>
            </a:pPr>
            <a:r>
              <a:rPr lang="en-US" b="0" dirty="0">
                <a:solidFill>
                  <a:srgbClr val="FFFFFF"/>
                </a:solidFill>
                <a:latin typeface="Verdana" panose="020B0604030504040204" pitchFamily="34" charset="0"/>
                <a:ea typeface="Verdana" panose="020B0604030504040204" pitchFamily="34" charset="0"/>
                <a:cs typeface="Verdana" panose="020B0604030504040204" pitchFamily="34" charset="0"/>
              </a:rPr>
              <a:t>Number of tests: 2(base)+2*(2-2)+2*(2-2)+2*(3-2)+2*(2-2) </a:t>
            </a:r>
          </a:p>
          <a:p>
            <a:pPr algn="ctr">
              <a:defRPr/>
            </a:pPr>
            <a:r>
              <a:rPr lang="en-US" b="0" dirty="0">
                <a:solidFill>
                  <a:srgbClr val="FFFFFF"/>
                </a:solidFill>
                <a:latin typeface="Verdana" panose="020B0604030504040204" pitchFamily="34" charset="0"/>
                <a:ea typeface="Verdana" panose="020B0604030504040204" pitchFamily="34" charset="0"/>
                <a:cs typeface="Verdana" panose="020B0604030504040204" pitchFamily="34" charset="0"/>
              </a:rPr>
              <a:t>= 2+2 = 4</a:t>
            </a:r>
          </a:p>
        </p:txBody>
      </p:sp>
      <p:sp>
        <p:nvSpPr>
          <p:cNvPr id="12" name="TextBox 9">
            <a:extLst>
              <a:ext uri="{FF2B5EF4-FFF2-40B4-BE49-F238E27FC236}">
                <a16:creationId xmlns:a16="http://schemas.microsoft.com/office/drawing/2014/main" id="{C6019FEA-581D-4D6A-9C17-7D8905D9CCEB}"/>
              </a:ext>
            </a:extLst>
          </p:cNvPr>
          <p:cNvSpPr txBox="1"/>
          <p:nvPr/>
        </p:nvSpPr>
        <p:spPr>
          <a:xfrm>
            <a:off x="2695310" y="951778"/>
            <a:ext cx="6925280" cy="584775"/>
          </a:xfrm>
          <a:prstGeom prst="rect">
            <a:avLst/>
          </a:prstGeom>
          <a:solidFill>
            <a:schemeClr val="bg1">
              <a:lumMod val="40000"/>
              <a:lumOff val="60000"/>
            </a:schemeClr>
          </a:solidFill>
        </p:spPr>
        <p:txBody>
          <a:bodyPr wrap="square" rtlCol="0">
            <a:spAutoFit/>
          </a:bodyPr>
          <a:lstStyle/>
          <a:p>
            <a:pPr algn="ctr">
              <a:defRPr/>
            </a:pPr>
            <a:r>
              <a:rPr lang="en-US" altLang="zh-CN" sz="3200" b="0" dirty="0">
                <a:solidFill>
                  <a:srgbClr val="FFFFFF"/>
                </a:solidFill>
                <a:latin typeface="Calibri" panose="020F0502020204030204" pitchFamily="34" charset="0"/>
                <a:cs typeface="Calibri" panose="020F0502020204030204" pitchFamily="34" charset="0"/>
              </a:rPr>
              <a:t>Multiple</a:t>
            </a:r>
            <a:r>
              <a:rPr lang="en-US" sz="3200" b="0" dirty="0">
                <a:solidFill>
                  <a:srgbClr val="FFFFFF"/>
                </a:solidFill>
                <a:latin typeface="Calibri" panose="020F0502020204030204" pitchFamily="34" charset="0"/>
                <a:cs typeface="Calibri" panose="020F0502020204030204" pitchFamily="34" charset="0"/>
              </a:rPr>
              <a:t> base choice criterion (MBCC)</a:t>
            </a:r>
          </a:p>
        </p:txBody>
      </p:sp>
    </p:spTree>
    <p:extLst>
      <p:ext uri="{BB962C8B-B14F-4D97-AF65-F5344CB8AC3E}">
        <p14:creationId xmlns:p14="http://schemas.microsoft.com/office/powerpoint/2010/main" val="391630533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8BDC28FB-2746-4794-A174-36F5659E7FF5}" type="slidenum">
              <a:rPr lang="en-US" altLang="en-US" sz="900" b="0">
                <a:solidFill>
                  <a:schemeClr val="tx1"/>
                </a:solidFill>
                <a:latin typeface="Arial" charset="0"/>
                <a:cs typeface="Arial" charset="0"/>
              </a:rPr>
              <a:pPr/>
              <a:t>46</a:t>
            </a:fld>
            <a:endParaRPr lang="en-US" altLang="en-US" sz="900" b="0">
              <a:solidFill>
                <a:schemeClr val="tx1"/>
              </a:solidFill>
              <a:latin typeface="Arial" charset="0"/>
              <a:cs typeface="Arial" charset="0"/>
            </a:endParaRPr>
          </a:p>
        </p:txBody>
      </p:sp>
      <p:sp>
        <p:nvSpPr>
          <p:cNvPr id="31748" name="Rectangle 2"/>
          <p:cNvSpPr>
            <a:spLocks noGrp="1" noChangeArrowheads="1"/>
          </p:cNvSpPr>
          <p:nvPr>
            <p:ph type="title"/>
          </p:nvPr>
        </p:nvSpPr>
        <p:spPr>
          <a:xfrm>
            <a:off x="1524001" y="96838"/>
            <a:ext cx="9143999" cy="939800"/>
          </a:xfrm>
        </p:spPr>
        <p:txBody>
          <a:bodyPr/>
          <a:lstStyle/>
          <a:p>
            <a:r>
              <a:rPr lang="en-US" altLang="en-US" sz="3200" dirty="0"/>
              <a:t>ISP </a:t>
            </a:r>
            <a:r>
              <a:rPr lang="en-US" altLang="en-US" dirty="0"/>
              <a:t>Coverage Criteria </a:t>
            </a:r>
            <a:r>
              <a:rPr lang="en-US" altLang="en-US" dirty="0" err="1"/>
              <a:t>Subsumption</a:t>
            </a:r>
            <a:r>
              <a:rPr lang="en-US" altLang="en-US" dirty="0"/>
              <a:t> </a:t>
            </a:r>
          </a:p>
        </p:txBody>
      </p:sp>
      <p:grpSp>
        <p:nvGrpSpPr>
          <p:cNvPr id="2" name="Group 28"/>
          <p:cNvGrpSpPr>
            <a:grpSpLocks/>
          </p:cNvGrpSpPr>
          <p:nvPr/>
        </p:nvGrpSpPr>
        <p:grpSpPr bwMode="auto">
          <a:xfrm>
            <a:off x="3857625" y="928820"/>
            <a:ext cx="5041004" cy="5192181"/>
            <a:chOff x="2333625" y="908181"/>
            <a:chExt cx="5041004" cy="5192182"/>
          </a:xfrm>
        </p:grpSpPr>
        <p:sp>
          <p:nvSpPr>
            <p:cNvPr id="31751" name="Rectangle 4"/>
            <p:cNvSpPr>
              <a:spLocks noChangeArrowheads="1"/>
            </p:cNvSpPr>
            <p:nvPr/>
          </p:nvSpPr>
          <p:spPr bwMode="auto">
            <a:xfrm>
              <a:off x="5029200" y="2555875"/>
              <a:ext cx="404813"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endParaRPr lang="en-US" altLang="en-US">
                <a:latin typeface="Gill Sans MT" panose="020B0502020104020203" pitchFamily="34" charset="0"/>
              </a:endParaRPr>
            </a:p>
          </p:txBody>
        </p:sp>
        <p:sp>
          <p:nvSpPr>
            <p:cNvPr id="31752" name="Text Box 9"/>
            <p:cNvSpPr txBox="1">
              <a:spLocks noChangeArrowheads="1"/>
            </p:cNvSpPr>
            <p:nvPr/>
          </p:nvSpPr>
          <p:spPr bwMode="auto">
            <a:xfrm>
              <a:off x="3720182" y="5275394"/>
              <a:ext cx="1703486" cy="824969"/>
            </a:xfrm>
            <a:prstGeom prst="rect">
              <a:avLst/>
            </a:prstGeom>
            <a:solidFill>
              <a:srgbClr val="0066FF"/>
            </a:solidFill>
            <a:ln w="28575">
              <a:solidFill>
                <a:schemeClr val="tx1"/>
              </a:solidFill>
              <a:miter lim="800000"/>
              <a:headEnd type="none" w="sm" len="sm"/>
              <a:tailEnd type="none" w="sm" len="sm"/>
            </a:ln>
          </p:spPr>
          <p:txBody>
            <a:bodyPr wrap="square" anchor="ct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lnSpc>
                  <a:spcPct val="70000"/>
                </a:lnSpc>
                <a:spcBef>
                  <a:spcPct val="50000"/>
                </a:spcBef>
              </a:pPr>
              <a:r>
                <a:rPr lang="en-US" altLang="en-US" sz="1800" dirty="0">
                  <a:solidFill>
                    <a:schemeClr val="tx1"/>
                  </a:solidFill>
                  <a:latin typeface="Gill Sans MT" panose="020B0502020104020203" pitchFamily="34" charset="0"/>
                </a:rPr>
                <a:t>Each Choice Coverage</a:t>
              </a:r>
            </a:p>
            <a:p>
              <a:pPr algn="ctr">
                <a:lnSpc>
                  <a:spcPct val="70000"/>
                </a:lnSpc>
                <a:spcBef>
                  <a:spcPct val="50000"/>
                </a:spcBef>
              </a:pPr>
              <a:r>
                <a:rPr lang="en-US" altLang="en-US" sz="1800" dirty="0">
                  <a:solidFill>
                    <a:schemeClr val="tx1"/>
                  </a:solidFill>
                  <a:latin typeface="Gill Sans MT" panose="020B0502020104020203" pitchFamily="34" charset="0"/>
                </a:rPr>
                <a:t>ECC</a:t>
              </a:r>
            </a:p>
          </p:txBody>
        </p:sp>
        <p:sp>
          <p:nvSpPr>
            <p:cNvPr id="31753" name="Line 10"/>
            <p:cNvSpPr>
              <a:spLocks noChangeShapeType="1"/>
            </p:cNvSpPr>
            <p:nvPr/>
          </p:nvSpPr>
          <p:spPr bwMode="auto">
            <a:xfrm>
              <a:off x="3940175" y="5794375"/>
              <a:ext cx="1262063"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lstStyle/>
            <a:p>
              <a:endParaRPr lang="en-US">
                <a:latin typeface="Gill Sans MT" panose="020B0502020104020203" pitchFamily="34" charset="0"/>
              </a:endParaRPr>
            </a:p>
          </p:txBody>
        </p:sp>
        <p:sp>
          <p:nvSpPr>
            <p:cNvPr id="31754" name="Text Box 12"/>
            <p:cNvSpPr txBox="1">
              <a:spLocks noChangeArrowheads="1"/>
            </p:cNvSpPr>
            <p:nvPr/>
          </p:nvSpPr>
          <p:spPr bwMode="auto">
            <a:xfrm>
              <a:off x="3494088" y="908181"/>
              <a:ext cx="2116137" cy="824969"/>
            </a:xfrm>
            <a:prstGeom prst="rect">
              <a:avLst/>
            </a:prstGeom>
            <a:solidFill>
              <a:srgbClr val="0066FF"/>
            </a:solidFill>
            <a:ln w="28575">
              <a:solidFill>
                <a:schemeClr val="tx1"/>
              </a:solidFill>
              <a:miter lim="800000"/>
              <a:headEnd type="none" w="sm" len="sm"/>
              <a:tailEnd type="none" w="sm" len="sm"/>
            </a:ln>
          </p:spPr>
          <p:txBody>
            <a:bodyPr wrap="square" anchor="ct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lnSpc>
                  <a:spcPct val="70000"/>
                </a:lnSpc>
                <a:spcBef>
                  <a:spcPct val="50000"/>
                </a:spcBef>
              </a:pPr>
              <a:r>
                <a:rPr lang="en-US" altLang="en-US" sz="1800" dirty="0">
                  <a:solidFill>
                    <a:schemeClr val="tx1"/>
                  </a:solidFill>
                  <a:latin typeface="Gill Sans MT" panose="020B0502020104020203" pitchFamily="34" charset="0"/>
                </a:rPr>
                <a:t>All Combinations Coverage</a:t>
              </a:r>
            </a:p>
            <a:p>
              <a:pPr algn="ctr">
                <a:lnSpc>
                  <a:spcPct val="70000"/>
                </a:lnSpc>
                <a:spcBef>
                  <a:spcPct val="50000"/>
                </a:spcBef>
              </a:pPr>
              <a:r>
                <a:rPr lang="en-US" altLang="en-US" sz="1800" dirty="0" err="1">
                  <a:solidFill>
                    <a:schemeClr val="tx1"/>
                  </a:solidFill>
                  <a:latin typeface="Gill Sans MT" panose="020B0502020104020203" pitchFamily="34" charset="0"/>
                </a:rPr>
                <a:t>ACoC</a:t>
              </a:r>
              <a:endParaRPr lang="en-US" altLang="en-US" sz="1800" dirty="0">
                <a:solidFill>
                  <a:schemeClr val="tx1"/>
                </a:solidFill>
                <a:latin typeface="Gill Sans MT" panose="020B0502020104020203" pitchFamily="34" charset="0"/>
              </a:endParaRPr>
            </a:p>
          </p:txBody>
        </p:sp>
        <p:sp>
          <p:nvSpPr>
            <p:cNvPr id="31755" name="Line 13"/>
            <p:cNvSpPr>
              <a:spLocks noChangeShapeType="1"/>
            </p:cNvSpPr>
            <p:nvPr/>
          </p:nvSpPr>
          <p:spPr bwMode="auto">
            <a:xfrm>
              <a:off x="3738563" y="1427163"/>
              <a:ext cx="1665287"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lstStyle/>
            <a:p>
              <a:endParaRPr lang="en-US">
                <a:latin typeface="Gill Sans MT" panose="020B0502020104020203" pitchFamily="34" charset="0"/>
              </a:endParaRPr>
            </a:p>
          </p:txBody>
        </p:sp>
        <p:sp>
          <p:nvSpPr>
            <p:cNvPr id="31756" name="Line 17"/>
            <p:cNvSpPr>
              <a:spLocks noChangeShapeType="1"/>
            </p:cNvSpPr>
            <p:nvPr/>
          </p:nvSpPr>
          <p:spPr bwMode="auto">
            <a:xfrm>
              <a:off x="5195888" y="1751013"/>
              <a:ext cx="414337" cy="5730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lstStyle/>
            <a:p>
              <a:endParaRPr lang="en-US">
                <a:latin typeface="Gill Sans MT" panose="020B0502020104020203" pitchFamily="34" charset="0"/>
              </a:endParaRPr>
            </a:p>
          </p:txBody>
        </p:sp>
        <p:sp>
          <p:nvSpPr>
            <p:cNvPr id="31757" name="Line 18"/>
            <p:cNvSpPr>
              <a:spLocks noChangeShapeType="1"/>
            </p:cNvSpPr>
            <p:nvPr/>
          </p:nvSpPr>
          <p:spPr bwMode="auto">
            <a:xfrm flipH="1">
              <a:off x="5114925" y="4649788"/>
              <a:ext cx="612775" cy="6159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lstStyle/>
            <a:p>
              <a:endParaRPr lang="en-US">
                <a:latin typeface="Gill Sans MT" panose="020B0502020104020203" pitchFamily="34" charset="0"/>
              </a:endParaRPr>
            </a:p>
          </p:txBody>
        </p:sp>
        <p:grpSp>
          <p:nvGrpSpPr>
            <p:cNvPr id="31758" name="Group 19"/>
            <p:cNvGrpSpPr>
              <a:grpSpLocks/>
            </p:cNvGrpSpPr>
            <p:nvPr/>
          </p:nvGrpSpPr>
          <p:grpSpPr bwMode="auto">
            <a:xfrm>
              <a:off x="2338388" y="2346325"/>
              <a:ext cx="1528762" cy="835025"/>
              <a:chOff x="3153" y="1294"/>
              <a:chExt cx="1092" cy="526"/>
            </a:xfrm>
          </p:grpSpPr>
          <p:sp>
            <p:nvSpPr>
              <p:cNvPr id="31772" name="Text Box 20"/>
              <p:cNvSpPr txBox="1">
                <a:spLocks noChangeArrowheads="1"/>
              </p:cNvSpPr>
              <p:nvPr/>
            </p:nvSpPr>
            <p:spPr bwMode="auto">
              <a:xfrm>
                <a:off x="3153" y="1294"/>
                <a:ext cx="1092" cy="526"/>
              </a:xfrm>
              <a:prstGeom prst="rect">
                <a:avLst/>
              </a:prstGeom>
              <a:solidFill>
                <a:srgbClr val="0066FF"/>
              </a:solidFill>
              <a:ln w="28575">
                <a:solidFill>
                  <a:schemeClr val="tx1"/>
                </a:solidFill>
                <a:miter lim="800000"/>
                <a:headEnd type="none" w="sm" len="sm"/>
                <a:tailEnd type="none" w="sm" len="sm"/>
              </a:ln>
            </p:spPr>
            <p:txBody>
              <a:bodyPr anchor="ct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lnSpc>
                    <a:spcPct val="70000"/>
                  </a:lnSpc>
                  <a:spcBef>
                    <a:spcPct val="50000"/>
                  </a:spcBef>
                </a:pPr>
                <a:r>
                  <a:rPr lang="en-US" altLang="en-US" sz="1800" dirty="0">
                    <a:solidFill>
                      <a:schemeClr val="tx1"/>
                    </a:solidFill>
                    <a:latin typeface="Gill Sans MT" panose="020B0502020104020203" pitchFamily="34" charset="0"/>
                  </a:rPr>
                  <a:t>T-Wise Coverage</a:t>
                </a:r>
              </a:p>
              <a:p>
                <a:pPr algn="ctr">
                  <a:lnSpc>
                    <a:spcPct val="70000"/>
                  </a:lnSpc>
                  <a:spcBef>
                    <a:spcPct val="50000"/>
                  </a:spcBef>
                </a:pPr>
                <a:r>
                  <a:rPr lang="en-US" altLang="en-US" sz="1800" dirty="0">
                    <a:solidFill>
                      <a:schemeClr val="tx1"/>
                    </a:solidFill>
                    <a:latin typeface="Gill Sans MT" panose="020B0502020104020203" pitchFamily="34" charset="0"/>
                  </a:rPr>
                  <a:t>TWC</a:t>
                </a:r>
              </a:p>
            </p:txBody>
          </p:sp>
          <p:sp>
            <p:nvSpPr>
              <p:cNvPr id="31773" name="Line 21"/>
              <p:cNvSpPr>
                <a:spLocks noChangeShapeType="1"/>
              </p:cNvSpPr>
              <p:nvPr/>
            </p:nvSpPr>
            <p:spPr bwMode="auto">
              <a:xfrm>
                <a:off x="3233" y="1617"/>
                <a:ext cx="931"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lstStyle/>
              <a:p>
                <a:endParaRPr lang="en-US">
                  <a:latin typeface="Gill Sans MT" panose="020B0502020104020203" pitchFamily="34" charset="0"/>
                </a:endParaRPr>
              </a:p>
            </p:txBody>
          </p:sp>
        </p:grpSp>
        <p:grpSp>
          <p:nvGrpSpPr>
            <p:cNvPr id="31759" name="Group 22"/>
            <p:cNvGrpSpPr>
              <a:grpSpLocks/>
            </p:cNvGrpSpPr>
            <p:nvPr/>
          </p:nvGrpSpPr>
          <p:grpSpPr bwMode="auto">
            <a:xfrm>
              <a:off x="5114051" y="2339975"/>
              <a:ext cx="2260578" cy="825500"/>
              <a:chOff x="3055" y="1290"/>
              <a:chExt cx="1251" cy="520"/>
            </a:xfrm>
          </p:grpSpPr>
          <p:sp>
            <p:nvSpPr>
              <p:cNvPr id="31770" name="Text Box 23"/>
              <p:cNvSpPr txBox="1">
                <a:spLocks noChangeArrowheads="1"/>
              </p:cNvSpPr>
              <p:nvPr/>
            </p:nvSpPr>
            <p:spPr bwMode="auto">
              <a:xfrm>
                <a:off x="3055" y="1290"/>
                <a:ext cx="1251" cy="520"/>
              </a:xfrm>
              <a:prstGeom prst="rect">
                <a:avLst/>
              </a:prstGeom>
              <a:solidFill>
                <a:srgbClr val="0066FF"/>
              </a:solidFill>
              <a:ln w="28575">
                <a:solidFill>
                  <a:schemeClr val="tx1"/>
                </a:solidFill>
                <a:miter lim="800000"/>
                <a:headEnd type="none" w="sm" len="sm"/>
                <a:tailEnd type="none" w="sm" len="sm"/>
              </a:ln>
            </p:spPr>
            <p:txBody>
              <a:bodyPr wrap="square" anchor="ct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lnSpc>
                    <a:spcPct val="70000"/>
                  </a:lnSpc>
                  <a:spcBef>
                    <a:spcPct val="50000"/>
                  </a:spcBef>
                </a:pPr>
                <a:r>
                  <a:rPr lang="en-US" altLang="en-US" sz="1800" dirty="0">
                    <a:solidFill>
                      <a:schemeClr val="tx1"/>
                    </a:solidFill>
                    <a:latin typeface="Gill Sans MT" panose="020B0502020104020203" pitchFamily="34" charset="0"/>
                  </a:rPr>
                  <a:t>Multiple Base Choice Coverage</a:t>
                </a:r>
              </a:p>
              <a:p>
                <a:pPr algn="ctr">
                  <a:lnSpc>
                    <a:spcPct val="70000"/>
                  </a:lnSpc>
                  <a:spcBef>
                    <a:spcPct val="50000"/>
                  </a:spcBef>
                </a:pPr>
                <a:r>
                  <a:rPr lang="en-US" altLang="en-US" sz="1800" dirty="0">
                    <a:solidFill>
                      <a:schemeClr val="tx1"/>
                    </a:solidFill>
                    <a:latin typeface="Gill Sans MT" panose="020B0502020104020203" pitchFamily="34" charset="0"/>
                  </a:rPr>
                  <a:t>MBCC</a:t>
                </a:r>
              </a:p>
            </p:txBody>
          </p:sp>
          <p:sp>
            <p:nvSpPr>
              <p:cNvPr id="31771" name="Line 24"/>
              <p:cNvSpPr>
                <a:spLocks noChangeShapeType="1"/>
              </p:cNvSpPr>
              <p:nvPr/>
            </p:nvSpPr>
            <p:spPr bwMode="auto">
              <a:xfrm>
                <a:off x="3233" y="1617"/>
                <a:ext cx="931"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lstStyle/>
              <a:p>
                <a:endParaRPr lang="en-US">
                  <a:latin typeface="Gill Sans MT" panose="020B0502020104020203" pitchFamily="34" charset="0"/>
                </a:endParaRPr>
              </a:p>
            </p:txBody>
          </p:sp>
        </p:grpSp>
        <p:grpSp>
          <p:nvGrpSpPr>
            <p:cNvPr id="31760" name="Group 28"/>
            <p:cNvGrpSpPr>
              <a:grpSpLocks/>
            </p:cNvGrpSpPr>
            <p:nvPr/>
          </p:nvGrpSpPr>
          <p:grpSpPr bwMode="auto">
            <a:xfrm>
              <a:off x="2333625" y="3822700"/>
              <a:ext cx="1539875" cy="835025"/>
              <a:chOff x="3153" y="1294"/>
              <a:chExt cx="1092" cy="526"/>
            </a:xfrm>
          </p:grpSpPr>
          <p:sp>
            <p:nvSpPr>
              <p:cNvPr id="31768" name="Text Box 29"/>
              <p:cNvSpPr txBox="1">
                <a:spLocks noChangeArrowheads="1"/>
              </p:cNvSpPr>
              <p:nvPr/>
            </p:nvSpPr>
            <p:spPr bwMode="auto">
              <a:xfrm>
                <a:off x="3153" y="1294"/>
                <a:ext cx="1092" cy="526"/>
              </a:xfrm>
              <a:prstGeom prst="rect">
                <a:avLst/>
              </a:prstGeom>
              <a:solidFill>
                <a:srgbClr val="0066FF"/>
              </a:solidFill>
              <a:ln w="28575">
                <a:solidFill>
                  <a:schemeClr val="tx1"/>
                </a:solidFill>
                <a:miter lim="800000"/>
                <a:headEnd type="none" w="sm" len="sm"/>
                <a:tailEnd type="none" w="sm" len="sm"/>
              </a:ln>
            </p:spPr>
            <p:txBody>
              <a:bodyPr anchor="ct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lnSpc>
                    <a:spcPct val="70000"/>
                  </a:lnSpc>
                  <a:spcBef>
                    <a:spcPct val="50000"/>
                  </a:spcBef>
                </a:pPr>
                <a:r>
                  <a:rPr lang="en-US" altLang="en-US" sz="1800" dirty="0">
                    <a:solidFill>
                      <a:schemeClr val="tx1"/>
                    </a:solidFill>
                    <a:latin typeface="Gill Sans MT" panose="020B0502020104020203" pitchFamily="34" charset="0"/>
                  </a:rPr>
                  <a:t>Pair-Wise Coverage</a:t>
                </a:r>
              </a:p>
              <a:p>
                <a:pPr algn="ctr">
                  <a:lnSpc>
                    <a:spcPct val="70000"/>
                  </a:lnSpc>
                  <a:spcBef>
                    <a:spcPct val="50000"/>
                  </a:spcBef>
                </a:pPr>
                <a:r>
                  <a:rPr lang="en-US" altLang="en-US" sz="1800" dirty="0">
                    <a:solidFill>
                      <a:schemeClr val="tx1"/>
                    </a:solidFill>
                    <a:latin typeface="Gill Sans MT" panose="020B0502020104020203" pitchFamily="34" charset="0"/>
                  </a:rPr>
                  <a:t>PWC</a:t>
                </a:r>
              </a:p>
            </p:txBody>
          </p:sp>
          <p:sp>
            <p:nvSpPr>
              <p:cNvPr id="31769" name="Line 30"/>
              <p:cNvSpPr>
                <a:spLocks noChangeShapeType="1"/>
              </p:cNvSpPr>
              <p:nvPr/>
            </p:nvSpPr>
            <p:spPr bwMode="auto">
              <a:xfrm>
                <a:off x="3233" y="1617"/>
                <a:ext cx="931"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lstStyle/>
              <a:p>
                <a:endParaRPr lang="en-US">
                  <a:latin typeface="Gill Sans MT" panose="020B0502020104020203" pitchFamily="34" charset="0"/>
                </a:endParaRPr>
              </a:p>
            </p:txBody>
          </p:sp>
        </p:grpSp>
        <p:grpSp>
          <p:nvGrpSpPr>
            <p:cNvPr id="31761" name="Group 31"/>
            <p:cNvGrpSpPr>
              <a:grpSpLocks/>
            </p:cNvGrpSpPr>
            <p:nvPr/>
          </p:nvGrpSpPr>
          <p:grpSpPr bwMode="auto">
            <a:xfrm>
              <a:off x="5422900" y="3811588"/>
              <a:ext cx="1709738" cy="855662"/>
              <a:chOff x="3153" y="1294"/>
              <a:chExt cx="1092" cy="539"/>
            </a:xfrm>
          </p:grpSpPr>
          <p:sp>
            <p:nvSpPr>
              <p:cNvPr id="31766" name="Text Box 32"/>
              <p:cNvSpPr txBox="1">
                <a:spLocks noChangeArrowheads="1"/>
              </p:cNvSpPr>
              <p:nvPr/>
            </p:nvSpPr>
            <p:spPr bwMode="auto">
              <a:xfrm>
                <a:off x="3153" y="1294"/>
                <a:ext cx="1092" cy="539"/>
              </a:xfrm>
              <a:prstGeom prst="rect">
                <a:avLst/>
              </a:prstGeom>
              <a:solidFill>
                <a:srgbClr val="0066FF"/>
              </a:solidFill>
              <a:ln w="28575">
                <a:solidFill>
                  <a:schemeClr val="tx1"/>
                </a:solidFill>
                <a:miter lim="800000"/>
                <a:headEnd type="none" w="sm" len="sm"/>
                <a:tailEnd type="none" w="sm" len="sm"/>
              </a:ln>
            </p:spPr>
            <p:txBody>
              <a:bodyPr anchor="ct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lnSpc>
                    <a:spcPct val="70000"/>
                  </a:lnSpc>
                  <a:spcBef>
                    <a:spcPct val="50000"/>
                  </a:spcBef>
                </a:pPr>
                <a:r>
                  <a:rPr lang="en-US" altLang="en-US" dirty="0">
                    <a:solidFill>
                      <a:schemeClr val="tx1"/>
                    </a:solidFill>
                    <a:latin typeface="Gill Sans MT" panose="020B0502020104020203" pitchFamily="34" charset="0"/>
                  </a:rPr>
                  <a:t>Base Choice</a:t>
                </a:r>
                <a:r>
                  <a:rPr lang="en-US" altLang="en-US" dirty="0">
                    <a:latin typeface="Gill Sans MT" panose="020B0502020104020203" pitchFamily="34" charset="0"/>
                  </a:rPr>
                  <a:t> </a:t>
                </a:r>
                <a:r>
                  <a:rPr lang="en-US" altLang="en-US" sz="1800" dirty="0">
                    <a:solidFill>
                      <a:schemeClr val="tx1"/>
                    </a:solidFill>
                    <a:latin typeface="Gill Sans MT" panose="020B0502020104020203" pitchFamily="34" charset="0"/>
                  </a:rPr>
                  <a:t>Coverage</a:t>
                </a:r>
              </a:p>
              <a:p>
                <a:pPr algn="ctr">
                  <a:lnSpc>
                    <a:spcPct val="70000"/>
                  </a:lnSpc>
                  <a:spcBef>
                    <a:spcPct val="50000"/>
                  </a:spcBef>
                </a:pPr>
                <a:r>
                  <a:rPr lang="en-US" altLang="en-US" sz="1800" dirty="0">
                    <a:solidFill>
                      <a:schemeClr val="tx1"/>
                    </a:solidFill>
                    <a:latin typeface="Gill Sans MT" panose="020B0502020104020203" pitchFamily="34" charset="0"/>
                  </a:rPr>
                  <a:t>BCC</a:t>
                </a:r>
              </a:p>
            </p:txBody>
          </p:sp>
          <p:sp>
            <p:nvSpPr>
              <p:cNvPr id="31767" name="Line 33"/>
              <p:cNvSpPr>
                <a:spLocks noChangeShapeType="1"/>
              </p:cNvSpPr>
              <p:nvPr/>
            </p:nvSpPr>
            <p:spPr bwMode="auto">
              <a:xfrm>
                <a:off x="3233" y="1617"/>
                <a:ext cx="931"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lstStyle/>
              <a:p>
                <a:endParaRPr lang="en-US">
                  <a:latin typeface="Gill Sans MT" panose="020B0502020104020203" pitchFamily="34" charset="0"/>
                </a:endParaRPr>
              </a:p>
            </p:txBody>
          </p:sp>
        </p:grpSp>
        <p:sp>
          <p:nvSpPr>
            <p:cNvPr id="31762" name="Line 34"/>
            <p:cNvSpPr>
              <a:spLocks noChangeShapeType="1"/>
            </p:cNvSpPr>
            <p:nvPr/>
          </p:nvSpPr>
          <p:spPr bwMode="auto">
            <a:xfrm flipH="1">
              <a:off x="3494088" y="1755775"/>
              <a:ext cx="476250" cy="58102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lstStyle/>
            <a:p>
              <a:endParaRPr lang="en-US">
                <a:latin typeface="Gill Sans MT" panose="020B0502020104020203" pitchFamily="34" charset="0"/>
              </a:endParaRPr>
            </a:p>
          </p:txBody>
        </p:sp>
        <p:sp>
          <p:nvSpPr>
            <p:cNvPr id="31763" name="Line 35"/>
            <p:cNvSpPr>
              <a:spLocks noChangeShapeType="1"/>
            </p:cNvSpPr>
            <p:nvPr/>
          </p:nvSpPr>
          <p:spPr bwMode="auto">
            <a:xfrm>
              <a:off x="3543300" y="4652963"/>
              <a:ext cx="485775" cy="59213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lstStyle/>
            <a:p>
              <a:endParaRPr lang="en-US">
                <a:latin typeface="Gill Sans MT" panose="020B0502020104020203" pitchFamily="34" charset="0"/>
              </a:endParaRPr>
            </a:p>
          </p:txBody>
        </p:sp>
        <p:sp>
          <p:nvSpPr>
            <p:cNvPr id="31764" name="Line 41"/>
            <p:cNvSpPr>
              <a:spLocks noChangeShapeType="1"/>
            </p:cNvSpPr>
            <p:nvPr/>
          </p:nvSpPr>
          <p:spPr bwMode="auto">
            <a:xfrm>
              <a:off x="6276975" y="3178175"/>
              <a:ext cx="0" cy="6286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lstStyle/>
            <a:p>
              <a:endParaRPr lang="en-US">
                <a:latin typeface="Gill Sans MT" panose="020B0502020104020203" pitchFamily="34" charset="0"/>
              </a:endParaRPr>
            </a:p>
          </p:txBody>
        </p:sp>
        <p:sp>
          <p:nvSpPr>
            <p:cNvPr id="31765" name="Line 42"/>
            <p:cNvSpPr>
              <a:spLocks noChangeShapeType="1"/>
            </p:cNvSpPr>
            <p:nvPr/>
          </p:nvSpPr>
          <p:spPr bwMode="auto">
            <a:xfrm>
              <a:off x="3103563" y="3205163"/>
              <a:ext cx="0" cy="6286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lstStyle/>
            <a:p>
              <a:endParaRPr lang="en-US">
                <a:latin typeface="Gill Sans MT" panose="020B0502020104020203" pitchFamily="34" charset="0"/>
              </a:endParaRP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B5122A0F-B6E6-4A8C-BF4B-F7D238D93075}" type="slidenum">
              <a:rPr lang="en-US" altLang="en-US" sz="900" b="0">
                <a:solidFill>
                  <a:schemeClr val="tx1"/>
                </a:solidFill>
                <a:latin typeface="Arial" charset="0"/>
                <a:cs typeface="Arial" charset="0"/>
              </a:rPr>
              <a:pPr/>
              <a:t>47</a:t>
            </a:fld>
            <a:endParaRPr lang="en-US" altLang="en-US" sz="900" b="0">
              <a:solidFill>
                <a:schemeClr val="tx1"/>
              </a:solidFill>
              <a:latin typeface="Arial" charset="0"/>
              <a:cs typeface="Arial" charset="0"/>
            </a:endParaRPr>
          </a:p>
        </p:txBody>
      </p:sp>
      <p:sp>
        <p:nvSpPr>
          <p:cNvPr id="32772" name="Rectangle 2"/>
          <p:cNvSpPr>
            <a:spLocks noGrp="1" noChangeArrowheads="1"/>
          </p:cNvSpPr>
          <p:nvPr>
            <p:ph type="title"/>
          </p:nvPr>
        </p:nvSpPr>
        <p:spPr/>
        <p:txBody>
          <a:bodyPr/>
          <a:lstStyle/>
          <a:p>
            <a:r>
              <a:rPr lang="en-US" altLang="en-US" dirty="0"/>
              <a:t>Constraints Among Characteristics</a:t>
            </a:r>
          </a:p>
        </p:txBody>
      </p:sp>
      <p:sp>
        <p:nvSpPr>
          <p:cNvPr id="32773" name="Rectangle 3"/>
          <p:cNvSpPr>
            <a:spLocks noGrp="1" noChangeArrowheads="1"/>
          </p:cNvSpPr>
          <p:nvPr>
            <p:ph type="body" idx="1"/>
          </p:nvPr>
        </p:nvSpPr>
        <p:spPr/>
        <p:txBody>
          <a:bodyPr/>
          <a:lstStyle/>
          <a:p>
            <a:r>
              <a:rPr lang="en-US" altLang="en-US" dirty="0"/>
              <a:t>Some combinations of blocks are </a:t>
            </a:r>
            <a:r>
              <a:rPr lang="en-US" altLang="en-US" dirty="0">
                <a:solidFill>
                  <a:schemeClr val="tx2"/>
                </a:solidFill>
              </a:rPr>
              <a:t>infeasible</a:t>
            </a:r>
          </a:p>
          <a:p>
            <a:pPr lvl="1"/>
            <a:r>
              <a:rPr lang="en-US" altLang="en-US" dirty="0"/>
              <a:t>“less than zero”  and “scalene” … not possible at the same time</a:t>
            </a:r>
          </a:p>
          <a:p>
            <a:r>
              <a:rPr lang="en-US" altLang="en-US" dirty="0"/>
              <a:t>These are represented as </a:t>
            </a:r>
            <a:r>
              <a:rPr lang="en-US" altLang="en-US" dirty="0">
                <a:solidFill>
                  <a:schemeClr val="tx2"/>
                </a:solidFill>
              </a:rPr>
              <a:t>constraints</a:t>
            </a:r>
            <a:r>
              <a:rPr lang="en-US" altLang="en-US" dirty="0"/>
              <a:t> among blocks</a:t>
            </a:r>
          </a:p>
          <a:p>
            <a:r>
              <a:rPr lang="en-US" altLang="en-US" dirty="0"/>
              <a:t>Two general types of constraints</a:t>
            </a:r>
          </a:p>
          <a:p>
            <a:pPr lvl="1"/>
            <a:r>
              <a:rPr lang="en-US" altLang="en-US" dirty="0"/>
              <a:t>A block from one characteristic </a:t>
            </a:r>
            <a:r>
              <a:rPr lang="en-US" altLang="en-US" dirty="0">
                <a:solidFill>
                  <a:schemeClr val="tx2"/>
                </a:solidFill>
              </a:rPr>
              <a:t>cannot be</a:t>
            </a:r>
            <a:r>
              <a:rPr lang="en-US" altLang="en-US" dirty="0"/>
              <a:t> combined with a specific block from another</a:t>
            </a:r>
          </a:p>
          <a:p>
            <a:pPr lvl="1"/>
            <a:r>
              <a:rPr lang="en-US" altLang="en-US" dirty="0"/>
              <a:t>A block from one characteristic can </a:t>
            </a:r>
            <a:r>
              <a:rPr lang="en-US" altLang="en-US" dirty="0">
                <a:solidFill>
                  <a:schemeClr val="tx2"/>
                </a:solidFill>
              </a:rPr>
              <a:t>ONLY BE</a:t>
            </a:r>
            <a:r>
              <a:rPr lang="en-US" altLang="en-US" dirty="0"/>
              <a:t> combined with a specific block f</a:t>
            </a:r>
            <a:r>
              <a:rPr lang="en-US" altLang="zh-CN" dirty="0"/>
              <a:t>ro</a:t>
            </a:r>
            <a:r>
              <a:rPr lang="en-US" altLang="en-US" dirty="0"/>
              <a:t>m another characteristic</a:t>
            </a:r>
          </a:p>
          <a:p>
            <a:r>
              <a:rPr lang="en-US" altLang="en-US" dirty="0"/>
              <a:t>Handling constraints depends on the criterion used</a:t>
            </a:r>
          </a:p>
          <a:p>
            <a:pPr lvl="1"/>
            <a:r>
              <a:rPr lang="en-US" altLang="en-US" dirty="0">
                <a:solidFill>
                  <a:schemeClr val="tx2"/>
                </a:solidFill>
              </a:rPr>
              <a:t>ACC</a:t>
            </a:r>
            <a:r>
              <a:rPr lang="en-US" altLang="en-US" dirty="0"/>
              <a:t>, </a:t>
            </a:r>
            <a:r>
              <a:rPr lang="en-US" altLang="en-US" dirty="0">
                <a:solidFill>
                  <a:schemeClr val="tx2"/>
                </a:solidFill>
              </a:rPr>
              <a:t>PWC</a:t>
            </a:r>
            <a:r>
              <a:rPr lang="en-US" altLang="en-US" dirty="0"/>
              <a:t>, </a:t>
            </a:r>
            <a:r>
              <a:rPr lang="en-US" altLang="en-US" dirty="0">
                <a:solidFill>
                  <a:schemeClr val="tx2"/>
                </a:solidFill>
              </a:rPr>
              <a:t>TWC</a:t>
            </a:r>
            <a:r>
              <a:rPr lang="en-US" altLang="en-US" dirty="0"/>
              <a:t> : Drop the infeasible pairs</a:t>
            </a:r>
          </a:p>
          <a:p>
            <a:pPr lvl="1"/>
            <a:r>
              <a:rPr lang="en-US" altLang="en-US" dirty="0">
                <a:solidFill>
                  <a:schemeClr val="tx2"/>
                </a:solidFill>
              </a:rPr>
              <a:t>BCC</a:t>
            </a:r>
            <a:r>
              <a:rPr lang="en-US" altLang="en-US" dirty="0"/>
              <a:t>, </a:t>
            </a:r>
            <a:r>
              <a:rPr lang="en-US" altLang="en-US" dirty="0">
                <a:solidFill>
                  <a:schemeClr val="tx2"/>
                </a:solidFill>
              </a:rPr>
              <a:t>MBCC</a:t>
            </a:r>
            <a:r>
              <a:rPr lang="en-US" altLang="en-US" dirty="0"/>
              <a:t> : Change a value to another non-base choice to find a feasible combination</a:t>
            </a:r>
          </a:p>
        </p:txBody>
      </p:sp>
      <p:sp>
        <p:nvSpPr>
          <p:cNvPr id="7" name="TextBox 6"/>
          <p:cNvSpPr txBox="1"/>
          <p:nvPr/>
        </p:nvSpPr>
        <p:spPr>
          <a:xfrm>
            <a:off x="9260308" y="677754"/>
            <a:ext cx="1359568" cy="584775"/>
          </a:xfrm>
          <a:prstGeom prst="rect">
            <a:avLst/>
          </a:prstGeom>
          <a:noFill/>
        </p:spPr>
        <p:txBody>
          <a:bodyPr wrap="square" rtlCol="0">
            <a:spAutoFit/>
          </a:bodyPr>
          <a:lstStyle/>
          <a:p>
            <a:pPr algn="r"/>
            <a:r>
              <a:rPr lang="en-US" sz="3200" dirty="0">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rPr>
              <a:t>(6.3)</a:t>
            </a: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91913C69-AA72-4F6E-B8E6-A0D73107FF6D}" type="slidenum">
              <a:rPr lang="en-US" altLang="en-US" sz="900" b="0">
                <a:solidFill>
                  <a:schemeClr val="tx1"/>
                </a:solidFill>
                <a:latin typeface="Arial" charset="0"/>
                <a:cs typeface="Arial" charset="0"/>
              </a:rPr>
              <a:pPr/>
              <a:t>48</a:t>
            </a:fld>
            <a:endParaRPr lang="en-US" altLang="en-US" sz="900" b="0">
              <a:solidFill>
                <a:schemeClr val="tx1"/>
              </a:solidFill>
              <a:latin typeface="Arial" charset="0"/>
              <a:cs typeface="Arial" charset="0"/>
            </a:endParaRPr>
          </a:p>
        </p:txBody>
      </p:sp>
      <p:sp>
        <p:nvSpPr>
          <p:cNvPr id="16388" name="Rectangle 2"/>
          <p:cNvSpPr>
            <a:spLocks noGrp="1" noChangeArrowheads="1"/>
          </p:cNvSpPr>
          <p:nvPr>
            <p:ph type="title"/>
          </p:nvPr>
        </p:nvSpPr>
        <p:spPr>
          <a:xfrm>
            <a:off x="1609344" y="96839"/>
            <a:ext cx="8973312" cy="915987"/>
          </a:xfrm>
        </p:spPr>
        <p:txBody>
          <a:bodyPr/>
          <a:lstStyle/>
          <a:p>
            <a:r>
              <a:rPr lang="en-US" altLang="en-US" dirty="0"/>
              <a:t>Example Handling Constraints</a:t>
            </a:r>
          </a:p>
        </p:txBody>
      </p:sp>
      <p:sp>
        <p:nvSpPr>
          <p:cNvPr id="251909" name="Text Box 5"/>
          <p:cNvSpPr txBox="1">
            <a:spLocks noChangeArrowheads="1"/>
          </p:cNvSpPr>
          <p:nvPr/>
        </p:nvSpPr>
        <p:spPr bwMode="auto">
          <a:xfrm>
            <a:off x="2513014" y="897442"/>
            <a:ext cx="7165975" cy="1138773"/>
          </a:xfrm>
          <a:prstGeom prst="rect">
            <a:avLst/>
          </a:prstGeom>
          <a:solidFill>
            <a:srgbClr val="003399"/>
          </a:solidFill>
          <a:ln w="9525">
            <a:noFill/>
            <a:miter lim="800000"/>
            <a:headEnd/>
            <a:tailEnd/>
          </a:ln>
        </p:spPr>
        <p:txBody>
          <a:bodyP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nSpc>
                <a:spcPct val="80000"/>
              </a:lnSpc>
              <a:spcBef>
                <a:spcPts val="1200"/>
              </a:spcBef>
            </a:pPr>
            <a:r>
              <a:rPr kumimoji="1" lang="en-US" altLang="zh-CN" b="0" dirty="0">
                <a:solidFill>
                  <a:schemeClr val="tx1"/>
                </a:solidFill>
                <a:latin typeface="Arial" charset="0"/>
                <a:ea typeface="楷体_GB2312" pitchFamily="49" charset="-122"/>
              </a:rPr>
              <a:t>public </a:t>
            </a:r>
            <a:r>
              <a:rPr kumimoji="1" lang="en-US" altLang="zh-CN" b="0" dirty="0" err="1">
                <a:solidFill>
                  <a:schemeClr val="tx1"/>
                </a:solidFill>
                <a:latin typeface="Arial" charset="0"/>
                <a:ea typeface="楷体_GB2312" pitchFamily="49" charset="-122"/>
              </a:rPr>
              <a:t>boolean</a:t>
            </a:r>
            <a:r>
              <a:rPr kumimoji="1" lang="en-US" altLang="zh-CN" b="0" dirty="0">
                <a:solidFill>
                  <a:schemeClr val="tx1"/>
                </a:solidFill>
                <a:latin typeface="Arial" charset="0"/>
                <a:ea typeface="楷体_GB2312" pitchFamily="49" charset="-122"/>
              </a:rPr>
              <a:t> </a:t>
            </a:r>
            <a:r>
              <a:rPr kumimoji="1" lang="en-US" altLang="zh-CN" b="0" dirty="0" err="1">
                <a:solidFill>
                  <a:schemeClr val="tx1"/>
                </a:solidFill>
                <a:latin typeface="Arial" charset="0"/>
                <a:ea typeface="楷体_GB2312" pitchFamily="49" charset="-122"/>
              </a:rPr>
              <a:t>findElement</a:t>
            </a:r>
            <a:r>
              <a:rPr kumimoji="1" lang="en-US" altLang="zh-CN" b="0" dirty="0">
                <a:solidFill>
                  <a:schemeClr val="tx1"/>
                </a:solidFill>
                <a:latin typeface="Arial" charset="0"/>
                <a:ea typeface="楷体_GB2312" pitchFamily="49" charset="-122"/>
              </a:rPr>
              <a:t> </a:t>
            </a:r>
            <a:r>
              <a:rPr kumimoji="1" lang="en-US" altLang="zh-CN" b="0" dirty="0">
                <a:solidFill>
                  <a:schemeClr val="tx1"/>
                </a:solidFill>
                <a:latin typeface="Arial" charset="0"/>
                <a:ea typeface="宋体" charset="-122"/>
              </a:rPr>
              <a:t>(List </a:t>
            </a:r>
            <a:r>
              <a:rPr kumimoji="1" lang="en-US" altLang="zh-CN" b="0" dirty="0" err="1">
                <a:solidFill>
                  <a:schemeClr val="tx1"/>
                </a:solidFill>
                <a:latin typeface="Arial" charset="0"/>
                <a:ea typeface="宋体" charset="-122"/>
              </a:rPr>
              <a:t>list</a:t>
            </a:r>
            <a:r>
              <a:rPr kumimoji="1" lang="en-US" altLang="zh-CN" b="0" dirty="0">
                <a:solidFill>
                  <a:schemeClr val="tx1"/>
                </a:solidFill>
                <a:latin typeface="Arial" charset="0"/>
                <a:ea typeface="宋体" charset="-122"/>
              </a:rPr>
              <a:t>, Object element)</a:t>
            </a:r>
          </a:p>
          <a:p>
            <a:pPr>
              <a:lnSpc>
                <a:spcPct val="80000"/>
              </a:lnSpc>
              <a:spcBef>
                <a:spcPts val="1200"/>
              </a:spcBef>
            </a:pPr>
            <a:r>
              <a:rPr kumimoji="1" lang="en-US" altLang="zh-CN" b="0" dirty="0">
                <a:solidFill>
                  <a:schemeClr val="tx1"/>
                </a:solidFill>
                <a:latin typeface="Arial" charset="0"/>
                <a:ea typeface="宋体" charset="-122"/>
              </a:rPr>
              <a:t>// Effects: </a:t>
            </a:r>
            <a:r>
              <a:rPr kumimoji="1" lang="en-US" altLang="zh-CN" b="0" dirty="0">
                <a:solidFill>
                  <a:schemeClr val="tx1"/>
                </a:solidFill>
                <a:latin typeface="Gill Sans MT" panose="020B0502020104020203" pitchFamily="34" charset="0"/>
                <a:ea typeface="宋体" charset="-122"/>
              </a:rPr>
              <a:t>if </a:t>
            </a:r>
            <a:r>
              <a:rPr kumimoji="1" lang="en-US" altLang="zh-CN" b="0" dirty="0">
                <a:solidFill>
                  <a:schemeClr val="tx1"/>
                </a:solidFill>
                <a:latin typeface="Arial" charset="0"/>
                <a:ea typeface="宋体" charset="-122"/>
              </a:rPr>
              <a:t>list </a:t>
            </a:r>
            <a:r>
              <a:rPr kumimoji="1" lang="en-US" altLang="zh-CN" b="0" dirty="0">
                <a:solidFill>
                  <a:schemeClr val="tx1"/>
                </a:solidFill>
                <a:latin typeface="Gill Sans MT" panose="020B0502020104020203" pitchFamily="34" charset="0"/>
                <a:ea typeface="宋体" charset="-122"/>
              </a:rPr>
              <a:t>or </a:t>
            </a:r>
            <a:r>
              <a:rPr kumimoji="1" lang="en-US" altLang="zh-CN" b="0" dirty="0">
                <a:solidFill>
                  <a:schemeClr val="tx1"/>
                </a:solidFill>
                <a:latin typeface="Arial" charset="0"/>
                <a:ea typeface="宋体" charset="-122"/>
              </a:rPr>
              <a:t>element </a:t>
            </a:r>
            <a:r>
              <a:rPr kumimoji="1" lang="en-US" altLang="zh-CN" b="0" dirty="0">
                <a:solidFill>
                  <a:schemeClr val="tx1"/>
                </a:solidFill>
                <a:latin typeface="Gill Sans MT" panose="020B0502020104020203" pitchFamily="34" charset="0"/>
                <a:ea typeface="宋体" charset="-122"/>
              </a:rPr>
              <a:t>is </a:t>
            </a:r>
            <a:r>
              <a:rPr kumimoji="1" lang="en-US" altLang="zh-CN" b="0" dirty="0">
                <a:solidFill>
                  <a:schemeClr val="tx1"/>
                </a:solidFill>
                <a:latin typeface="Arial" charset="0"/>
                <a:ea typeface="宋体" charset="-122"/>
              </a:rPr>
              <a:t>null throw </a:t>
            </a:r>
            <a:r>
              <a:rPr kumimoji="1" lang="en-US" altLang="zh-CN" b="0" dirty="0" err="1">
                <a:solidFill>
                  <a:schemeClr val="tx1"/>
                </a:solidFill>
                <a:latin typeface="Arial" charset="0"/>
                <a:ea typeface="宋体" charset="-122"/>
              </a:rPr>
              <a:t>NullPointerException</a:t>
            </a:r>
            <a:endParaRPr kumimoji="1" lang="en-US" altLang="zh-CN" b="0" dirty="0">
              <a:solidFill>
                <a:schemeClr val="tx1"/>
              </a:solidFill>
              <a:latin typeface="Arial" charset="0"/>
              <a:ea typeface="宋体" charset="-122"/>
            </a:endParaRPr>
          </a:p>
          <a:p>
            <a:pPr>
              <a:lnSpc>
                <a:spcPct val="80000"/>
              </a:lnSpc>
              <a:spcBef>
                <a:spcPts val="1200"/>
              </a:spcBef>
            </a:pPr>
            <a:r>
              <a:rPr kumimoji="1" lang="en-US" altLang="zh-CN" b="0" dirty="0">
                <a:solidFill>
                  <a:schemeClr val="tx1"/>
                </a:solidFill>
                <a:latin typeface="Arial" charset="0"/>
                <a:ea typeface="宋体" charset="-122"/>
              </a:rPr>
              <a:t>//           else return true </a:t>
            </a:r>
            <a:r>
              <a:rPr kumimoji="1" lang="en-US" altLang="zh-CN" b="0" dirty="0">
                <a:solidFill>
                  <a:schemeClr val="tx1"/>
                </a:solidFill>
                <a:latin typeface="Gill Sans MT" panose="020B0502020104020203" pitchFamily="34" charset="0"/>
                <a:ea typeface="宋体" charset="-122"/>
              </a:rPr>
              <a:t>if </a:t>
            </a:r>
            <a:r>
              <a:rPr kumimoji="1" lang="en-US" altLang="zh-CN" b="0" dirty="0">
                <a:solidFill>
                  <a:schemeClr val="tx1"/>
                </a:solidFill>
                <a:latin typeface="Arial" charset="0"/>
                <a:ea typeface="宋体" charset="-122"/>
              </a:rPr>
              <a:t>element </a:t>
            </a:r>
            <a:r>
              <a:rPr kumimoji="1" lang="en-US" altLang="zh-CN" b="0" dirty="0">
                <a:solidFill>
                  <a:schemeClr val="tx1"/>
                </a:solidFill>
                <a:latin typeface="Gill Sans MT" panose="020B0502020104020203" pitchFamily="34" charset="0"/>
                <a:ea typeface="宋体" charset="-122"/>
              </a:rPr>
              <a:t>is in the </a:t>
            </a:r>
            <a:r>
              <a:rPr kumimoji="1" lang="en-US" altLang="zh-CN" b="0" dirty="0">
                <a:solidFill>
                  <a:schemeClr val="tx1"/>
                </a:solidFill>
                <a:latin typeface="Arial" charset="0"/>
                <a:ea typeface="宋体" charset="-122"/>
              </a:rPr>
              <a:t>list, false </a:t>
            </a:r>
            <a:r>
              <a:rPr kumimoji="1" lang="en-US" altLang="zh-CN" b="0" dirty="0">
                <a:solidFill>
                  <a:schemeClr val="tx1"/>
                </a:solidFill>
                <a:latin typeface="Gill Sans MT" panose="020B0502020104020203" pitchFamily="34" charset="0"/>
                <a:ea typeface="宋体" charset="-122"/>
              </a:rPr>
              <a:t>otherwise</a:t>
            </a:r>
            <a:endParaRPr kumimoji="1" lang="en-US" altLang="zh-CN" b="0" dirty="0">
              <a:solidFill>
                <a:schemeClr val="tx1"/>
              </a:solidFill>
              <a:latin typeface="Gill Sans MT" panose="020B0502020104020203" pitchFamily="34" charset="0"/>
              <a:ea typeface="楷体_GB2312" pitchFamily="49" charset="-122"/>
            </a:endParaRPr>
          </a:p>
        </p:txBody>
      </p:sp>
      <p:graphicFrame>
        <p:nvGraphicFramePr>
          <p:cNvPr id="10" name="Group 37"/>
          <p:cNvGraphicFramePr>
            <a:graphicFrameLocks noGrp="1"/>
          </p:cNvGraphicFramePr>
          <p:nvPr>
            <p:extLst>
              <p:ext uri="{D42A27DB-BD31-4B8C-83A1-F6EECF244321}">
                <p14:modId xmlns:p14="http://schemas.microsoft.com/office/powerpoint/2010/main" val="199906723"/>
              </p:ext>
            </p:extLst>
          </p:nvPr>
        </p:nvGraphicFramePr>
        <p:xfrm>
          <a:off x="1668380" y="2266900"/>
          <a:ext cx="8831178" cy="2795524"/>
        </p:xfrm>
        <a:graphic>
          <a:graphicData uri="http://schemas.openxmlformats.org/drawingml/2006/table">
            <a:tbl>
              <a:tblPr/>
              <a:tblGrid>
                <a:gridCol w="2634915">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780673">
                  <a:extLst>
                    <a:ext uri="{9D8B030D-6E8A-4147-A177-3AD203B41FA5}">
                      <a16:colId xmlns:a16="http://schemas.microsoft.com/office/drawing/2014/main" val="20002"/>
                    </a:ext>
                  </a:extLst>
                </a:gridCol>
                <a:gridCol w="1451225">
                  <a:extLst>
                    <a:ext uri="{9D8B030D-6E8A-4147-A177-3AD203B41FA5}">
                      <a16:colId xmlns:a16="http://schemas.microsoft.com/office/drawing/2014/main" val="20003"/>
                    </a:ext>
                  </a:extLst>
                </a:gridCol>
                <a:gridCol w="1364165">
                  <a:extLst>
                    <a:ext uri="{9D8B030D-6E8A-4147-A177-3AD203B41FA5}">
                      <a16:colId xmlns:a16="http://schemas.microsoft.com/office/drawing/2014/main" val="20004"/>
                    </a:ext>
                  </a:extLst>
                </a:gridCol>
              </a:tblGrid>
              <a:tr h="0">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Characteristic</a:t>
                      </a:r>
                    </a:p>
                  </a:txBody>
                  <a:tcPr anchor="ct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defRPr/>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Block 1</a:t>
                      </a:r>
                      <a:endParaRPr kumimoji="0" lang="en-US" altLang="zh-CN" sz="2400" b="0" i="0" u="none" strike="noStrike" cap="none" normalizeH="0" baseline="-25000" dirty="0">
                        <a:ln>
                          <a:noFill/>
                        </a:ln>
                        <a:solidFill>
                          <a:schemeClr val="tx2"/>
                        </a:solidFill>
                        <a:effectLst/>
                        <a:latin typeface="Gill Sans MT" panose="020B0502020104020203" pitchFamily="34" charset="0"/>
                        <a:ea typeface="宋体" charset="-122"/>
                      </a:endParaRPr>
                    </a:p>
                  </a:txBody>
                  <a:tcPr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Block 2</a:t>
                      </a:r>
                      <a:endParaRPr kumimoji="0" lang="en-US" altLang="zh-CN" sz="2400" b="0" i="0" u="none" strike="noStrike" cap="none" normalizeH="0" baseline="-25000" dirty="0">
                        <a:ln>
                          <a:noFill/>
                        </a:ln>
                        <a:solidFill>
                          <a:schemeClr val="tx2"/>
                        </a:solidFill>
                        <a:effectLst/>
                        <a:latin typeface="Gill Sans MT" panose="020B0502020104020203" pitchFamily="34" charset="0"/>
                        <a:ea typeface="宋体" charset="-122"/>
                      </a:endParaRPr>
                    </a:p>
                  </a:txBody>
                  <a:tcPr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Block 3</a:t>
                      </a:r>
                      <a:endParaRPr kumimoji="0" lang="en-US" altLang="zh-CN" sz="2400" b="0" i="0" u="none" strike="noStrike" cap="none" normalizeH="0" baseline="-25000" dirty="0">
                        <a:ln>
                          <a:noFill/>
                        </a:ln>
                        <a:solidFill>
                          <a:schemeClr val="tx2"/>
                        </a:solidFill>
                        <a:effectLst/>
                        <a:latin typeface="Gill Sans MT" panose="020B0502020104020203" pitchFamily="34" charset="0"/>
                        <a:ea typeface="宋体" charset="-122"/>
                      </a:endParaRPr>
                    </a:p>
                  </a:txBody>
                  <a:tcPr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ctr" defTabSz="914400" rtl="0" eaLnBrk="0" fontAlgn="base" latinLnBrk="0" hangingPunct="0">
                        <a:lnSpc>
                          <a:spcPct val="90000"/>
                        </a:lnSpc>
                        <a:spcBef>
                          <a:spcPct val="30000"/>
                        </a:spcBef>
                        <a:spcAft>
                          <a:spcPct val="0"/>
                        </a:spcAft>
                        <a:buClrTx/>
                        <a:buSzPct val="85000"/>
                        <a:buFontTx/>
                        <a:buNone/>
                        <a:tabLst/>
                      </a:pPr>
                      <a:r>
                        <a:rPr kumimoji="0" lang="en-US" altLang="zh-CN" sz="2400" b="0" i="0" u="none" strike="noStrike" cap="none" normalizeH="0" baseline="0" dirty="0">
                          <a:ln>
                            <a:noFill/>
                          </a:ln>
                          <a:solidFill>
                            <a:schemeClr val="tx2"/>
                          </a:solidFill>
                          <a:effectLst/>
                          <a:latin typeface="Gill Sans MT" panose="020B0502020104020203" pitchFamily="34" charset="0"/>
                          <a:ea typeface="宋体" charset="-122"/>
                        </a:rPr>
                        <a:t>Block 4</a:t>
                      </a:r>
                      <a:endParaRPr kumimoji="0" lang="en-US" altLang="zh-CN" sz="2400" b="0" i="0" u="none" strike="noStrike" cap="none" normalizeH="0" baseline="-25000" dirty="0">
                        <a:ln>
                          <a:noFill/>
                        </a:ln>
                        <a:solidFill>
                          <a:schemeClr val="tx2"/>
                        </a:solidFill>
                        <a:effectLst/>
                        <a:latin typeface="Gill Sans MT" panose="020B0502020104020203" pitchFamily="34" charset="0"/>
                        <a:ea typeface="宋体" charset="-122"/>
                      </a:endParaRPr>
                    </a:p>
                  </a:txBody>
                  <a:tcPr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extLst>
                  <a:ext uri="{0D108BD9-81ED-4DB2-BD59-A6C34878D82A}">
                    <a16:rowId xmlns:a16="http://schemas.microsoft.com/office/drawing/2014/main" val="10000"/>
                  </a:ext>
                </a:extLst>
              </a:tr>
              <a:tr h="546100">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A : length and contents</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One element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More than one, unsorted</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More than one, sorted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More than one, all identical</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46100">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B : match</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element not found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element found once</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element found more than once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endPar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46100">
                <a:tc gridSpan="5">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Invalid combinations : (</a:t>
                      </a:r>
                      <a:r>
                        <a:rPr kumimoji="0" lang="en-US" altLang="zh-CN" sz="2000" b="1" i="0" u="none" strike="noStrike" cap="none" normalizeH="0" baseline="0" dirty="0">
                          <a:ln>
                            <a:noFill/>
                          </a:ln>
                          <a:solidFill>
                            <a:schemeClr val="tx2"/>
                          </a:solidFill>
                          <a:effectLst/>
                          <a:latin typeface="Gill Sans MT" panose="020B0502020104020203" pitchFamily="34" charset="0"/>
                          <a:ea typeface="宋体" charset="-122"/>
                        </a:rPr>
                        <a:t>A1</a:t>
                      </a: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 </a:t>
                      </a:r>
                      <a:r>
                        <a:rPr kumimoji="0" lang="en-US" altLang="zh-CN" sz="2000" b="1" i="0" u="none" strike="noStrike" cap="none" normalizeH="0" baseline="0" dirty="0">
                          <a:ln>
                            <a:noFill/>
                          </a:ln>
                          <a:solidFill>
                            <a:schemeClr val="tx2"/>
                          </a:solidFill>
                          <a:effectLst/>
                          <a:latin typeface="Gill Sans MT" panose="020B0502020104020203" pitchFamily="34" charset="0"/>
                          <a:ea typeface="宋体" charset="-122"/>
                        </a:rPr>
                        <a:t>B3</a:t>
                      </a: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 (</a:t>
                      </a:r>
                      <a:r>
                        <a:rPr kumimoji="0" lang="en-US" altLang="zh-CN" sz="2000" b="1" i="0" u="none" strike="noStrike" cap="none" normalizeH="0" baseline="0" dirty="0">
                          <a:ln>
                            <a:noFill/>
                          </a:ln>
                          <a:solidFill>
                            <a:schemeClr val="tx2"/>
                          </a:solidFill>
                          <a:effectLst/>
                          <a:latin typeface="Gill Sans MT" panose="020B0502020104020203" pitchFamily="34" charset="0"/>
                          <a:ea typeface="宋体" charset="-122"/>
                        </a:rPr>
                        <a:t>A4</a:t>
                      </a: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 </a:t>
                      </a:r>
                      <a:r>
                        <a:rPr kumimoji="0" lang="en-US" altLang="zh-CN" sz="2000" b="1" i="0" u="none" strike="noStrike" cap="none" normalizeH="0" baseline="0" dirty="0">
                          <a:ln>
                            <a:noFill/>
                          </a:ln>
                          <a:solidFill>
                            <a:schemeClr val="tx2"/>
                          </a:solidFill>
                          <a:effectLst/>
                          <a:latin typeface="Gill Sans MT" panose="020B0502020104020203" pitchFamily="34" charset="0"/>
                          <a:ea typeface="宋体" charset="-122"/>
                        </a:rPr>
                        <a:t>B2</a:t>
                      </a:r>
                      <a:r>
                        <a:rPr kumimoji="0" lang="en-US" altLang="zh-CN" sz="2000" b="0" i="0" u="none" strike="noStrike" cap="none" normalizeH="0" baseline="0" dirty="0">
                          <a:ln>
                            <a:noFill/>
                          </a:ln>
                          <a:solidFill>
                            <a:schemeClr val="tx1"/>
                          </a:solidFill>
                          <a:effectLst/>
                          <a:latin typeface="Gill Sans MT" panose="020B0502020104020203" pitchFamily="34" charset="0"/>
                          <a:ea typeface="宋体" charset="-122"/>
                        </a:rPr>
                        <a:t>)</a:t>
                      </a:r>
                      <a:endParaRPr kumimoji="0" lang="zh-CN" altLang="en-US" sz="2000" b="0" i="0" u="none" strike="noStrike" cap="none" normalizeH="0" baseline="0" dirty="0">
                        <a:ln>
                          <a:noFill/>
                        </a:ln>
                        <a:solidFill>
                          <a:schemeClr val="tx1"/>
                        </a:solidFill>
                        <a:effectLst/>
                        <a:latin typeface="Gill Sans MT" panose="020B0502020104020203" pitchFamily="34" charset="0"/>
                        <a:ea typeface="宋体"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endParaRPr kumimoji="0" lang="en-US" altLang="zh-CN" sz="2000" b="0" i="0" u="none" strike="noStrike" cap="none" normalizeH="0" baseline="0" dirty="0">
                        <a:ln>
                          <a:noFill/>
                        </a:ln>
                        <a:solidFill>
                          <a:schemeClr val="tx1"/>
                        </a:solidFill>
                        <a:effectLst/>
                        <a:latin typeface="Times New Roman" pitchFamily="18"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endParaRPr kumimoji="0" lang="zh-CN" altLang="en-US" sz="2000" b="0" i="0" u="none" strike="noStrike" cap="none" normalizeH="0" baseline="0" dirty="0">
                        <a:ln>
                          <a:noFill/>
                        </a:ln>
                        <a:solidFill>
                          <a:schemeClr val="tx1"/>
                        </a:solidFill>
                        <a:effectLst/>
                        <a:latin typeface="Times New Roman" pitchFamily="18"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endParaRPr kumimoji="0" lang="en-US" altLang="zh-CN" sz="2000" b="0" i="0" u="none" strike="noStrike" cap="none" normalizeH="0" baseline="0" dirty="0">
                        <a:ln>
                          <a:noFill/>
                        </a:ln>
                        <a:solidFill>
                          <a:schemeClr val="tx1"/>
                        </a:solidFill>
                        <a:effectLst/>
                        <a:latin typeface="Times New Roman" pitchFamily="18"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0" algn="l" defTabSz="914400" rtl="0" eaLnBrk="0" fontAlgn="base" latinLnBrk="0" hangingPunct="0">
                        <a:lnSpc>
                          <a:spcPct val="90000"/>
                        </a:lnSpc>
                        <a:spcBef>
                          <a:spcPct val="30000"/>
                        </a:spcBef>
                        <a:spcAft>
                          <a:spcPct val="0"/>
                        </a:spcAft>
                        <a:buClrTx/>
                        <a:buSzPct val="85000"/>
                        <a:buFontTx/>
                        <a:buNone/>
                        <a:tabLst/>
                      </a:pPr>
                      <a:endParaRPr kumimoji="0" lang="en-US" altLang="zh-CN" sz="2000" b="0" i="0" u="none" strike="noStrike" cap="none" normalizeH="0" baseline="0" dirty="0">
                        <a:ln>
                          <a:noFill/>
                        </a:ln>
                        <a:solidFill>
                          <a:schemeClr val="tx1"/>
                        </a:solidFill>
                        <a:effectLst/>
                        <a:latin typeface="Times New Roman" pitchFamily="18" charset="0"/>
                        <a:ea typeface="宋体"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11" name="Group 9"/>
          <p:cNvGrpSpPr>
            <a:grpSpLocks/>
          </p:cNvGrpSpPr>
          <p:nvPr/>
        </p:nvGrpSpPr>
        <p:grpSpPr bwMode="auto">
          <a:xfrm>
            <a:off x="2286391" y="4554789"/>
            <a:ext cx="2897326" cy="1855788"/>
            <a:chOff x="739" y="1721"/>
            <a:chExt cx="1785" cy="1169"/>
          </a:xfrm>
        </p:grpSpPr>
        <p:sp>
          <p:nvSpPr>
            <p:cNvPr id="12" name="Oval 6"/>
            <p:cNvSpPr>
              <a:spLocks noChangeArrowheads="1"/>
            </p:cNvSpPr>
            <p:nvPr/>
          </p:nvSpPr>
          <p:spPr bwMode="auto">
            <a:xfrm>
              <a:off x="1799" y="1721"/>
              <a:ext cx="627" cy="302"/>
            </a:xfrm>
            <a:prstGeom prst="ellipse">
              <a:avLst/>
            </a:prstGeom>
            <a:noFill/>
            <a:ln w="28575">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endParaRPr lang="en-US" altLang="en-US"/>
            </a:p>
          </p:txBody>
        </p:sp>
        <p:sp>
          <p:nvSpPr>
            <p:cNvPr id="13" name="Line 7"/>
            <p:cNvSpPr>
              <a:spLocks noChangeShapeType="1"/>
            </p:cNvSpPr>
            <p:nvPr/>
          </p:nvSpPr>
          <p:spPr bwMode="auto">
            <a:xfrm flipH="1">
              <a:off x="1726" y="2023"/>
              <a:ext cx="388" cy="227"/>
            </a:xfrm>
            <a:prstGeom prst="line">
              <a:avLst/>
            </a:prstGeom>
            <a:noFill/>
            <a:ln w="28575">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4" name="Text Box 8"/>
            <p:cNvSpPr txBox="1">
              <a:spLocks noChangeArrowheads="1"/>
            </p:cNvSpPr>
            <p:nvPr/>
          </p:nvSpPr>
          <p:spPr bwMode="auto">
            <a:xfrm>
              <a:off x="739" y="2250"/>
              <a:ext cx="1785" cy="640"/>
            </a:xfrm>
            <a:prstGeom prst="rect">
              <a:avLst/>
            </a:prstGeom>
            <a:solidFill>
              <a:srgbClr val="003399"/>
            </a:solidFill>
            <a:ln w="28575">
              <a:solidFill>
                <a:schemeClr val="hlink"/>
              </a:solidFill>
              <a:miter lim="800000"/>
              <a:headEnd type="none" w="sm" len="sm"/>
              <a:tailEnd type="none" w="sm" len="sm"/>
            </a:ln>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dirty="0">
                  <a:solidFill>
                    <a:schemeClr val="hlink"/>
                  </a:solidFill>
                  <a:latin typeface="Arial" panose="020B0604020202020204" pitchFamily="34" charset="0"/>
                  <a:cs typeface="Arial" panose="020B0604020202020204" pitchFamily="34" charset="0"/>
                </a:rPr>
                <a:t>element</a:t>
              </a:r>
              <a:r>
                <a:rPr lang="en-US" altLang="en-US" dirty="0">
                  <a:solidFill>
                    <a:schemeClr val="hlink"/>
                  </a:solidFill>
                  <a:latin typeface="Gill Sans MT" panose="020B0502020104020203" pitchFamily="34" charset="0"/>
                </a:rPr>
                <a:t> cannot be in a one-element list more than once</a:t>
              </a:r>
            </a:p>
          </p:txBody>
        </p:sp>
      </p:grpSp>
      <p:grpSp>
        <p:nvGrpSpPr>
          <p:cNvPr id="15" name="Group 9"/>
          <p:cNvGrpSpPr>
            <a:grpSpLocks/>
          </p:cNvGrpSpPr>
          <p:nvPr/>
        </p:nvGrpSpPr>
        <p:grpSpPr bwMode="auto">
          <a:xfrm>
            <a:off x="5024650" y="4540502"/>
            <a:ext cx="4522095" cy="2024063"/>
            <a:chOff x="1799" y="1721"/>
            <a:chExt cx="2786" cy="1275"/>
          </a:xfrm>
        </p:grpSpPr>
        <p:sp>
          <p:nvSpPr>
            <p:cNvPr id="16" name="Oval 6"/>
            <p:cNvSpPr>
              <a:spLocks noChangeArrowheads="1"/>
            </p:cNvSpPr>
            <p:nvPr/>
          </p:nvSpPr>
          <p:spPr bwMode="auto">
            <a:xfrm>
              <a:off x="1799" y="1721"/>
              <a:ext cx="627" cy="302"/>
            </a:xfrm>
            <a:prstGeom prst="ellipse">
              <a:avLst/>
            </a:prstGeom>
            <a:noFill/>
            <a:ln w="28575">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endParaRPr lang="en-US" altLang="en-US"/>
            </a:p>
          </p:txBody>
        </p:sp>
        <p:sp>
          <p:nvSpPr>
            <p:cNvPr id="17" name="Line 7"/>
            <p:cNvSpPr>
              <a:spLocks noChangeShapeType="1"/>
            </p:cNvSpPr>
            <p:nvPr/>
          </p:nvSpPr>
          <p:spPr bwMode="auto">
            <a:xfrm>
              <a:off x="2113" y="2023"/>
              <a:ext cx="469" cy="547"/>
            </a:xfrm>
            <a:prstGeom prst="line">
              <a:avLst/>
            </a:prstGeom>
            <a:noFill/>
            <a:ln w="28575">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8" name="Text Box 8"/>
            <p:cNvSpPr txBox="1">
              <a:spLocks noChangeArrowheads="1"/>
            </p:cNvSpPr>
            <p:nvPr/>
          </p:nvSpPr>
          <p:spPr bwMode="auto">
            <a:xfrm>
              <a:off x="2582" y="2162"/>
              <a:ext cx="2003" cy="834"/>
            </a:xfrm>
            <a:prstGeom prst="rect">
              <a:avLst/>
            </a:prstGeom>
            <a:solidFill>
              <a:srgbClr val="003399"/>
            </a:solidFill>
            <a:ln w="28575">
              <a:solidFill>
                <a:schemeClr val="hlink"/>
              </a:solidFill>
              <a:miter lim="800000"/>
              <a:headEnd type="none" w="sm" len="sm"/>
              <a:tailEnd type="none" w="sm" len="sm"/>
            </a:ln>
          </p:spPr>
          <p:txBody>
            <a:bodyPr wrap="square">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spcBef>
                  <a:spcPct val="50000"/>
                </a:spcBef>
              </a:pPr>
              <a:r>
                <a:rPr lang="en-US" altLang="en-US" dirty="0">
                  <a:solidFill>
                    <a:schemeClr val="hlink"/>
                  </a:solidFill>
                  <a:latin typeface="Arial" panose="020B0604020202020204" pitchFamily="34" charset="0"/>
                  <a:cs typeface="Arial" panose="020B0604020202020204" pitchFamily="34" charset="0"/>
                </a:rPr>
                <a:t>If the list only has one element, but it appears multiple times, we cannot find it just once</a:t>
              </a:r>
              <a:endParaRPr lang="en-US" altLang="en-US" dirty="0">
                <a:solidFill>
                  <a:schemeClr val="hlink"/>
                </a:solidFill>
                <a:latin typeface="Gill Sans MT" panose="020B0502020104020203" pitchFamily="34" charset="0"/>
              </a:endParaRPr>
            </a:p>
          </p:txBody>
        </p:sp>
      </p:grpSp>
    </p:spTree>
    <p:extLst>
      <p:ext uri="{BB962C8B-B14F-4D97-AF65-F5344CB8AC3E}">
        <p14:creationId xmlns:p14="http://schemas.microsoft.com/office/powerpoint/2010/main" val="3970482693"/>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51909"/>
                                        </p:tgtEl>
                                        <p:attrNameLst>
                                          <p:attrName>style.visibility</p:attrName>
                                        </p:attrNameLst>
                                      </p:cBhvr>
                                      <p:to>
                                        <p:strVal val="visible"/>
                                      </p:to>
                                    </p:set>
                                    <p:animEffect transition="in" filter="dissolve">
                                      <p:cBhvr>
                                        <p:cTn id="7" dur="1000"/>
                                        <p:tgtEl>
                                          <p:spTgt spid="25190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20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9" grpId="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fld id="{4E2BE520-03B5-4F3F-A1DA-220F76754B89}" type="slidenum">
              <a:rPr lang="en-US" altLang="en-US" sz="900" b="0">
                <a:solidFill>
                  <a:schemeClr val="tx1"/>
                </a:solidFill>
                <a:latin typeface="Arial" charset="0"/>
                <a:cs typeface="Arial" charset="0"/>
              </a:rPr>
              <a:pPr/>
              <a:t>49</a:t>
            </a:fld>
            <a:endParaRPr lang="en-US" altLang="en-US" sz="900" b="0">
              <a:solidFill>
                <a:schemeClr val="tx1"/>
              </a:solidFill>
              <a:latin typeface="Arial" charset="0"/>
              <a:cs typeface="Arial" charset="0"/>
            </a:endParaRPr>
          </a:p>
        </p:txBody>
      </p:sp>
      <p:sp>
        <p:nvSpPr>
          <p:cNvPr id="34820" name="Rectangle 2"/>
          <p:cNvSpPr>
            <a:spLocks noGrp="1" noChangeArrowheads="1"/>
          </p:cNvSpPr>
          <p:nvPr>
            <p:ph type="title"/>
          </p:nvPr>
        </p:nvSpPr>
        <p:spPr/>
        <p:txBody>
          <a:bodyPr/>
          <a:lstStyle/>
          <a:p>
            <a:r>
              <a:rPr lang="en-US" altLang="en-US"/>
              <a:t>Input Space Partitioning Summary</a:t>
            </a:r>
          </a:p>
        </p:txBody>
      </p:sp>
      <p:sp>
        <p:nvSpPr>
          <p:cNvPr id="239619" name="Rectangle 3"/>
          <p:cNvSpPr>
            <a:spLocks noGrp="1" noChangeArrowheads="1"/>
          </p:cNvSpPr>
          <p:nvPr>
            <p:ph type="body" idx="1"/>
          </p:nvPr>
        </p:nvSpPr>
        <p:spPr>
          <a:xfrm>
            <a:off x="1662114" y="1160369"/>
            <a:ext cx="8867775" cy="3590578"/>
          </a:xfrm>
        </p:spPr>
        <p:txBody>
          <a:bodyPr/>
          <a:lstStyle/>
          <a:p>
            <a:pPr>
              <a:lnSpc>
                <a:spcPct val="100000"/>
              </a:lnSpc>
              <a:spcBef>
                <a:spcPts val="1800"/>
              </a:spcBef>
            </a:pPr>
            <a:r>
              <a:rPr lang="en-US" altLang="en-US" dirty="0"/>
              <a:t>Fairly easy to apply, even with </a:t>
            </a:r>
            <a:r>
              <a:rPr lang="en-US" altLang="en-US" dirty="0">
                <a:solidFill>
                  <a:schemeClr val="tx2"/>
                </a:solidFill>
              </a:rPr>
              <a:t>no automation</a:t>
            </a:r>
            <a:endParaRPr lang="en-US" altLang="en-US" dirty="0"/>
          </a:p>
          <a:p>
            <a:pPr>
              <a:lnSpc>
                <a:spcPct val="100000"/>
              </a:lnSpc>
              <a:spcBef>
                <a:spcPts val="1800"/>
              </a:spcBef>
            </a:pPr>
            <a:r>
              <a:rPr lang="en-US" altLang="en-US" dirty="0"/>
              <a:t>Convenient ways to </a:t>
            </a:r>
            <a:r>
              <a:rPr lang="en-US" altLang="en-US" dirty="0">
                <a:solidFill>
                  <a:schemeClr val="tx2"/>
                </a:solidFill>
              </a:rPr>
              <a:t>add more or less</a:t>
            </a:r>
            <a:r>
              <a:rPr lang="en-US" altLang="en-US" dirty="0"/>
              <a:t> testing</a:t>
            </a:r>
          </a:p>
          <a:p>
            <a:pPr>
              <a:lnSpc>
                <a:spcPct val="100000"/>
              </a:lnSpc>
              <a:spcBef>
                <a:spcPts val="1800"/>
              </a:spcBef>
            </a:pPr>
            <a:r>
              <a:rPr lang="en-US" altLang="en-US" dirty="0"/>
              <a:t>Applicable to </a:t>
            </a:r>
            <a:r>
              <a:rPr lang="en-US" altLang="en-US" dirty="0">
                <a:solidFill>
                  <a:schemeClr val="tx2"/>
                </a:solidFill>
              </a:rPr>
              <a:t>all levels</a:t>
            </a:r>
            <a:r>
              <a:rPr lang="en-US" altLang="en-US" dirty="0"/>
              <a:t> of testing – unit, class, integration, system, etc.</a:t>
            </a:r>
          </a:p>
          <a:p>
            <a:pPr>
              <a:lnSpc>
                <a:spcPct val="100000"/>
              </a:lnSpc>
              <a:spcBef>
                <a:spcPts val="1800"/>
              </a:spcBef>
            </a:pPr>
            <a:r>
              <a:rPr lang="en-US" altLang="en-US" dirty="0"/>
              <a:t>Based only on the </a:t>
            </a:r>
            <a:r>
              <a:rPr lang="en-US" altLang="en-US" dirty="0">
                <a:solidFill>
                  <a:schemeClr val="tx2"/>
                </a:solidFill>
              </a:rPr>
              <a:t>input space</a:t>
            </a:r>
            <a:r>
              <a:rPr lang="en-US" altLang="en-US" dirty="0"/>
              <a:t> of the program, not the implementation</a:t>
            </a:r>
          </a:p>
        </p:txBody>
      </p:sp>
      <p:sp>
        <p:nvSpPr>
          <p:cNvPr id="7" name="Text Box 15"/>
          <p:cNvSpPr txBox="1">
            <a:spLocks noChangeArrowheads="1"/>
          </p:cNvSpPr>
          <p:nvPr/>
        </p:nvSpPr>
        <p:spPr bwMode="auto">
          <a:xfrm>
            <a:off x="2903538" y="4750947"/>
            <a:ext cx="6380162" cy="954107"/>
          </a:xfrm>
          <a:prstGeom prst="rect">
            <a:avLst/>
          </a:prstGeom>
          <a:solidFill>
            <a:srgbClr val="0000FF"/>
          </a:solidFill>
          <a:ln w="19050">
            <a:solidFill>
              <a:schemeClr val="tx2"/>
            </a:solidFill>
            <a:miter lim="800000"/>
            <a:headEnd type="none" w="sm" len="sm"/>
            <a:tailEnd type="none" w="sm" len="sm"/>
          </a:ln>
        </p:spPr>
        <p:txBody>
          <a:bodyPr anchor="ctr">
            <a:spAutoFit/>
          </a:bodyPr>
          <a:lstStyle>
            <a:lvl1pPr>
              <a:defRPr sz="2000" b="1">
                <a:solidFill>
                  <a:srgbClr val="FAFD00"/>
                </a:solidFill>
                <a:latin typeface="Times New Roman" pitchFamily="18" charset="0"/>
              </a:defRPr>
            </a:lvl1pPr>
            <a:lvl2pPr marL="742950" indent="-285750">
              <a:defRPr sz="2000" b="1">
                <a:solidFill>
                  <a:srgbClr val="FAFD00"/>
                </a:solidFill>
                <a:latin typeface="Times New Roman" pitchFamily="18" charset="0"/>
              </a:defRPr>
            </a:lvl2pPr>
            <a:lvl3pPr marL="1143000" indent="-228600">
              <a:defRPr sz="2000" b="1">
                <a:solidFill>
                  <a:srgbClr val="FAFD00"/>
                </a:solidFill>
                <a:latin typeface="Times New Roman" pitchFamily="18" charset="0"/>
              </a:defRPr>
            </a:lvl3pPr>
            <a:lvl4pPr marL="1600200" indent="-228600">
              <a:defRPr sz="2000" b="1">
                <a:solidFill>
                  <a:srgbClr val="FAFD00"/>
                </a:solidFill>
                <a:latin typeface="Times New Roman" pitchFamily="18" charset="0"/>
              </a:defRPr>
            </a:lvl4pPr>
            <a:lvl5pPr marL="2057400" indent="-228600">
              <a:defRPr sz="2000" b="1">
                <a:solidFill>
                  <a:srgbClr val="FAFD00"/>
                </a:solidFill>
                <a:latin typeface="Times New Roman" pitchFamily="18" charset="0"/>
              </a:defRPr>
            </a:lvl5pPr>
            <a:lvl6pPr marL="2514600" indent="-228600" eaLnBrk="0" fontAlgn="base" hangingPunct="0">
              <a:spcBef>
                <a:spcPct val="0"/>
              </a:spcBef>
              <a:spcAft>
                <a:spcPct val="0"/>
              </a:spcAft>
              <a:defRPr sz="2000" b="1">
                <a:solidFill>
                  <a:srgbClr val="FAFD00"/>
                </a:solidFill>
                <a:latin typeface="Times New Roman" pitchFamily="18" charset="0"/>
              </a:defRPr>
            </a:lvl6pPr>
            <a:lvl7pPr marL="2971800" indent="-228600" eaLnBrk="0" fontAlgn="base" hangingPunct="0">
              <a:spcBef>
                <a:spcPct val="0"/>
              </a:spcBef>
              <a:spcAft>
                <a:spcPct val="0"/>
              </a:spcAft>
              <a:defRPr sz="2000" b="1">
                <a:solidFill>
                  <a:srgbClr val="FAFD00"/>
                </a:solidFill>
                <a:latin typeface="Times New Roman" pitchFamily="18" charset="0"/>
              </a:defRPr>
            </a:lvl7pPr>
            <a:lvl8pPr marL="3429000" indent="-228600" eaLnBrk="0" fontAlgn="base" hangingPunct="0">
              <a:spcBef>
                <a:spcPct val="0"/>
              </a:spcBef>
              <a:spcAft>
                <a:spcPct val="0"/>
              </a:spcAft>
              <a:defRPr sz="2000" b="1">
                <a:solidFill>
                  <a:srgbClr val="FAFD00"/>
                </a:solidFill>
                <a:latin typeface="Times New Roman" pitchFamily="18" charset="0"/>
              </a:defRPr>
            </a:lvl8pPr>
            <a:lvl9pPr marL="3886200" indent="-228600" eaLnBrk="0" fontAlgn="base" hangingPunct="0">
              <a:spcBef>
                <a:spcPct val="0"/>
              </a:spcBef>
              <a:spcAft>
                <a:spcPct val="0"/>
              </a:spcAft>
              <a:defRPr sz="2000" b="1">
                <a:solidFill>
                  <a:srgbClr val="FAFD00"/>
                </a:solidFill>
                <a:latin typeface="Times New Roman" pitchFamily="18" charset="0"/>
              </a:defRPr>
            </a:lvl9pPr>
          </a:lstStyle>
          <a:p>
            <a:pPr algn="ctr">
              <a:spcBef>
                <a:spcPct val="50000"/>
              </a:spcBef>
            </a:pPr>
            <a:r>
              <a:rPr lang="en-US" altLang="en-US" sz="2800" dirty="0">
                <a:latin typeface="Gill Sans MT" panose="020B0502020104020203" pitchFamily="34" charset="0"/>
              </a:rPr>
              <a:t>Simple, straightforward, effective, and widely used</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96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96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961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961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9" grpId="0" build="p"/>
      <p:bldP spid="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5F79B7-812D-43C1-9B3E-AF732E69BDC2}"/>
              </a:ext>
            </a:extLst>
          </p:cNvPr>
          <p:cNvSpPr>
            <a:spLocks noGrp="1"/>
          </p:cNvSpPr>
          <p:nvPr>
            <p:ph type="title"/>
          </p:nvPr>
        </p:nvSpPr>
        <p:spPr/>
        <p:txBody>
          <a:bodyPr/>
          <a:lstStyle/>
          <a:p>
            <a:r>
              <a:rPr lang="en-US" altLang="zh-CN" dirty="0"/>
              <a:t>Boundary value analysis (BVA)</a:t>
            </a:r>
            <a:endParaRPr lang="zh-CN" altLang="en-US" dirty="0"/>
          </a:p>
        </p:txBody>
      </p:sp>
      <p:sp>
        <p:nvSpPr>
          <p:cNvPr id="3" name="内容占位符 2">
            <a:extLst>
              <a:ext uri="{FF2B5EF4-FFF2-40B4-BE49-F238E27FC236}">
                <a16:creationId xmlns:a16="http://schemas.microsoft.com/office/drawing/2014/main" id="{65C5010A-6460-4285-84E3-37CB40CBF2B9}"/>
              </a:ext>
            </a:extLst>
          </p:cNvPr>
          <p:cNvSpPr>
            <a:spLocks noGrp="1"/>
          </p:cNvSpPr>
          <p:nvPr>
            <p:ph idx="1"/>
          </p:nvPr>
        </p:nvSpPr>
        <p:spPr/>
        <p:txBody>
          <a:bodyPr>
            <a:normAutofit/>
          </a:bodyPr>
          <a:lstStyle/>
          <a:p>
            <a:r>
              <a:rPr lang="en-US" altLang="zh-CN" dirty="0"/>
              <a:t>A domain-oriented technique. </a:t>
            </a:r>
          </a:p>
          <a:p>
            <a:pPr lvl="1"/>
            <a:r>
              <a:rPr lang="en-US" altLang="zh-CN" dirty="0"/>
              <a:t>The idea of this method is that the defects are often found on the boundary values of the domains.</a:t>
            </a:r>
          </a:p>
          <a:p>
            <a:r>
              <a:rPr lang="en-US" altLang="zh-CN" dirty="0"/>
              <a:t>Built upon the </a:t>
            </a:r>
            <a:r>
              <a:rPr lang="en-US" altLang="zh-CN" dirty="0">
                <a:solidFill>
                  <a:schemeClr val="tx2"/>
                </a:solidFill>
              </a:rPr>
              <a:t>equivalence partitioning</a:t>
            </a:r>
            <a:r>
              <a:rPr lang="en-US" altLang="zh-CN" u="sng" dirty="0"/>
              <a:t> </a:t>
            </a:r>
            <a:r>
              <a:rPr lang="en-US" altLang="zh-CN" dirty="0"/>
              <a:t>(EP) method. </a:t>
            </a:r>
          </a:p>
          <a:p>
            <a:pPr lvl="1"/>
            <a:r>
              <a:rPr lang="en-US" altLang="zh-CN" dirty="0"/>
              <a:t>The first step in applying the BVA is to perform the equivalence partitioning of a given domain. </a:t>
            </a:r>
          </a:p>
          <a:p>
            <a:pPr lvl="1"/>
            <a:r>
              <a:rPr lang="en-US" altLang="zh-CN" dirty="0"/>
              <a:t>The boundary values of a given equivalence class are the minimal and maximal elements from this class. </a:t>
            </a:r>
          </a:p>
          <a:p>
            <a:r>
              <a:rPr lang="en-US" altLang="zh-CN" dirty="0"/>
              <a:t>The </a:t>
            </a:r>
            <a:r>
              <a:rPr lang="en-US" altLang="zh-CN" dirty="0">
                <a:solidFill>
                  <a:schemeClr val="tx2"/>
                </a:solidFill>
              </a:rPr>
              <a:t>difference</a:t>
            </a:r>
            <a:r>
              <a:rPr lang="en-US" altLang="zh-CN" dirty="0"/>
              <a:t> between EP and BVA lies in the way in which we choose class representants to tests. </a:t>
            </a:r>
          </a:p>
          <a:p>
            <a:pPr lvl="1"/>
            <a:r>
              <a:rPr lang="en-US" altLang="zh-CN" dirty="0"/>
              <a:t>EP: take one arbitrary element from each class. </a:t>
            </a:r>
          </a:p>
          <a:p>
            <a:pPr lvl="1"/>
            <a:r>
              <a:rPr lang="en-US" altLang="zh-CN" dirty="0"/>
              <a:t>BVA: take only the so-called boundary values of the identified classes. </a:t>
            </a:r>
          </a:p>
          <a:p>
            <a:endParaRPr lang="zh-CN" altLang="en-US" dirty="0"/>
          </a:p>
        </p:txBody>
      </p:sp>
    </p:spTree>
    <p:extLst>
      <p:ext uri="{BB962C8B-B14F-4D97-AF65-F5344CB8AC3E}">
        <p14:creationId xmlns:p14="http://schemas.microsoft.com/office/powerpoint/2010/main" val="846955942"/>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0B53C8-EB04-460A-8AB2-E88AF443844B}"/>
              </a:ext>
            </a:extLst>
          </p:cNvPr>
          <p:cNvSpPr>
            <a:spLocks noGrp="1"/>
          </p:cNvSpPr>
          <p:nvPr>
            <p:ph type="title"/>
          </p:nvPr>
        </p:nvSpPr>
        <p:spPr/>
        <p:txBody>
          <a:bodyPr/>
          <a:lstStyle/>
          <a:p>
            <a:r>
              <a:rPr lang="en-US" altLang="zh-CN" dirty="0"/>
              <a:t>Requirements of BVA</a:t>
            </a:r>
            <a:endParaRPr lang="zh-CN" altLang="en-US" dirty="0"/>
          </a:p>
        </p:txBody>
      </p:sp>
      <p:sp>
        <p:nvSpPr>
          <p:cNvPr id="3" name="内容占位符 2">
            <a:extLst>
              <a:ext uri="{FF2B5EF4-FFF2-40B4-BE49-F238E27FC236}">
                <a16:creationId xmlns:a16="http://schemas.microsoft.com/office/drawing/2014/main" id="{A1173E3E-3C6D-473E-9E72-722EFF94FE7F}"/>
              </a:ext>
            </a:extLst>
          </p:cNvPr>
          <p:cNvSpPr>
            <a:spLocks noGrp="1"/>
          </p:cNvSpPr>
          <p:nvPr>
            <p:ph idx="1"/>
          </p:nvPr>
        </p:nvSpPr>
        <p:spPr/>
        <p:txBody>
          <a:bodyPr>
            <a:normAutofit/>
          </a:bodyPr>
          <a:lstStyle/>
          <a:p>
            <a:r>
              <a:rPr lang="en-US" altLang="zh-CN" dirty="0"/>
              <a:t>The elements are </a:t>
            </a:r>
            <a:r>
              <a:rPr lang="en-US" altLang="zh-CN" dirty="0">
                <a:solidFill>
                  <a:schemeClr val="tx2"/>
                </a:solidFill>
              </a:rPr>
              <a:t>ordered</a:t>
            </a:r>
            <a:r>
              <a:rPr lang="en-US" altLang="zh-CN" dirty="0"/>
              <a:t> and we can compare them using the relational operators (&lt;, &gt;, &lt;=, &gt;=, =).</a:t>
            </a:r>
          </a:p>
          <a:p>
            <a:pPr lvl="1"/>
            <a:r>
              <a:rPr lang="en-US" altLang="zh-CN" dirty="0"/>
              <a:t>E.g., a set of natural numbers is ordered, because for every two natural numbers, we can say which one is greater and which one is smaller. </a:t>
            </a:r>
          </a:p>
          <a:p>
            <a:pPr lvl="1"/>
            <a:r>
              <a:rPr lang="en-US" altLang="zh-CN" dirty="0"/>
              <a:t>Can we apply the BVA to the domain {Linux, Windows, iOS} representing operating systems?</a:t>
            </a:r>
          </a:p>
          <a:p>
            <a:pPr lvl="1"/>
            <a:r>
              <a:rPr lang="en-US" altLang="zh-CN" dirty="0"/>
              <a:t>No. Because we cannot compare them. It makes no sense to say that, for example, Windows is greater than or equal to Linux.</a:t>
            </a:r>
          </a:p>
          <a:p>
            <a:r>
              <a:rPr lang="en-US" altLang="zh-CN" dirty="0"/>
              <a:t>Every class needs to be “</a:t>
            </a:r>
            <a:r>
              <a:rPr lang="en-US" altLang="zh-CN" dirty="0">
                <a:solidFill>
                  <a:schemeClr val="tx2"/>
                </a:solidFill>
              </a:rPr>
              <a:t>compact</a:t>
            </a:r>
            <a:r>
              <a:rPr lang="en-US" altLang="zh-CN" dirty="0"/>
              <a:t>.” </a:t>
            </a:r>
          </a:p>
          <a:p>
            <a:pPr lvl="1"/>
            <a:r>
              <a:rPr lang="en-US" altLang="zh-CN" dirty="0"/>
              <a:t>Formally, this means that if any two values a, b belong to a certain class, then necessarily all elements x, such that a &lt; x &lt; b, must also belong to this class. </a:t>
            </a:r>
          </a:p>
          <a:p>
            <a:pPr lvl="1"/>
            <a:r>
              <a:rPr lang="en-US" altLang="zh-CN" dirty="0"/>
              <a:t>Informally, we can say that the classes cannot have “holes.”</a:t>
            </a:r>
            <a:endParaRPr lang="zh-CN" altLang="zh-CN" dirty="0"/>
          </a:p>
          <a:p>
            <a:endParaRPr lang="zh-CN" altLang="zh-CN" dirty="0"/>
          </a:p>
          <a:p>
            <a:endParaRPr lang="zh-CN" altLang="en-US" dirty="0"/>
          </a:p>
        </p:txBody>
      </p:sp>
    </p:spTree>
    <p:extLst>
      <p:ext uri="{BB962C8B-B14F-4D97-AF65-F5344CB8AC3E}">
        <p14:creationId xmlns:p14="http://schemas.microsoft.com/office/powerpoint/2010/main" val="140751988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E0255F-573B-4217-85F2-89B2CB64F168}"/>
              </a:ext>
            </a:extLst>
          </p:cNvPr>
          <p:cNvSpPr>
            <a:spLocks noGrp="1"/>
          </p:cNvSpPr>
          <p:nvPr>
            <p:ph type="title"/>
          </p:nvPr>
        </p:nvSpPr>
        <p:spPr/>
        <p:txBody>
          <a:bodyPr/>
          <a:lstStyle/>
          <a:p>
            <a:r>
              <a:rPr lang="en-US" altLang="zh-CN" sz="3200" dirty="0"/>
              <a:t>Two variants of the BVA method (1)</a:t>
            </a:r>
            <a:endParaRPr lang="zh-CN" altLang="en-US" sz="3200" dirty="0"/>
          </a:p>
        </p:txBody>
      </p:sp>
      <p:sp>
        <p:nvSpPr>
          <p:cNvPr id="3" name="内容占位符 2">
            <a:extLst>
              <a:ext uri="{FF2B5EF4-FFF2-40B4-BE49-F238E27FC236}">
                <a16:creationId xmlns:a16="http://schemas.microsoft.com/office/drawing/2014/main" id="{01BE4A0A-ADCC-4DEE-92EF-ECD7930B6290}"/>
              </a:ext>
            </a:extLst>
          </p:cNvPr>
          <p:cNvSpPr>
            <a:spLocks noGrp="1"/>
          </p:cNvSpPr>
          <p:nvPr>
            <p:ph idx="1"/>
          </p:nvPr>
        </p:nvSpPr>
        <p:spPr/>
        <p:txBody>
          <a:bodyPr>
            <a:normAutofit/>
          </a:bodyPr>
          <a:lstStyle/>
          <a:p>
            <a:r>
              <a:rPr lang="en-US" altLang="zh-CN" dirty="0"/>
              <a:t>In a </a:t>
            </a:r>
            <a:r>
              <a:rPr lang="en-US" altLang="zh-CN" dirty="0">
                <a:solidFill>
                  <a:schemeClr val="tx2"/>
                </a:solidFill>
              </a:rPr>
              <a:t>2-value</a:t>
            </a:r>
            <a:r>
              <a:rPr lang="en-US" altLang="zh-CN" dirty="0"/>
              <a:t> version, for each identified equivalence class, the test values are:</a:t>
            </a:r>
            <a:endParaRPr lang="zh-CN" altLang="zh-CN" dirty="0"/>
          </a:p>
          <a:p>
            <a:pPr lvl="1"/>
            <a:r>
              <a:rPr lang="en-US" altLang="zh-CN" dirty="0"/>
              <a:t>The </a:t>
            </a:r>
            <a:r>
              <a:rPr lang="en-US" altLang="zh-CN" dirty="0">
                <a:solidFill>
                  <a:schemeClr val="tx2"/>
                </a:solidFill>
                <a:ea typeface="+mn-ea"/>
                <a:cs typeface="+mn-cs"/>
              </a:rPr>
              <a:t>boundary values of this class</a:t>
            </a:r>
            <a:r>
              <a:rPr lang="en-US" altLang="zh-CN" dirty="0"/>
              <a:t> (i.e., the minimal and maximal elements)</a:t>
            </a:r>
            <a:endParaRPr lang="zh-CN" altLang="zh-CN" dirty="0"/>
          </a:p>
          <a:p>
            <a:pPr lvl="1"/>
            <a:r>
              <a:rPr lang="en-US" altLang="zh-CN" dirty="0"/>
              <a:t>The element </a:t>
            </a:r>
            <a:r>
              <a:rPr lang="en-US" altLang="zh-CN" dirty="0">
                <a:solidFill>
                  <a:schemeClr val="tx2"/>
                </a:solidFill>
                <a:ea typeface="+mn-ea"/>
                <a:cs typeface="+mn-cs"/>
              </a:rPr>
              <a:t>just below the minimal one</a:t>
            </a:r>
            <a:endParaRPr lang="zh-CN" altLang="zh-CN" dirty="0">
              <a:solidFill>
                <a:schemeClr val="tx2"/>
              </a:solidFill>
              <a:ea typeface="+mn-ea"/>
              <a:cs typeface="+mn-cs"/>
            </a:endParaRPr>
          </a:p>
          <a:p>
            <a:pPr lvl="1"/>
            <a:r>
              <a:rPr lang="en-US" altLang="zh-CN" dirty="0"/>
              <a:t>The element </a:t>
            </a:r>
            <a:r>
              <a:rPr lang="en-US" altLang="zh-CN" dirty="0">
                <a:solidFill>
                  <a:schemeClr val="tx2"/>
                </a:solidFill>
                <a:ea typeface="+mn-ea"/>
                <a:cs typeface="+mn-cs"/>
              </a:rPr>
              <a:t>just above the maximal one</a:t>
            </a:r>
            <a:endParaRPr lang="zh-CN" altLang="zh-CN" dirty="0">
              <a:solidFill>
                <a:schemeClr val="tx2"/>
              </a:solidFill>
              <a:ea typeface="+mn-ea"/>
              <a:cs typeface="+mn-cs"/>
            </a:endParaRPr>
          </a:p>
          <a:p>
            <a:r>
              <a:rPr lang="en-US" altLang="zh-CN" dirty="0"/>
              <a:t>The two last elements are also the boundary values for the adjoining equivalence classes. </a:t>
            </a:r>
          </a:p>
          <a:p>
            <a:r>
              <a:rPr lang="en-US" altLang="zh-CN" dirty="0"/>
              <a:t>If we want to achieve 100% BVA coverage in the 2-value version, we just have to</a:t>
            </a:r>
            <a:r>
              <a:rPr lang="en-US" altLang="zh-CN" dirty="0">
                <a:solidFill>
                  <a:srgbClr val="0000FF"/>
                </a:solidFill>
              </a:rPr>
              <a:t> </a:t>
            </a:r>
            <a:r>
              <a:rPr lang="en-US" altLang="zh-CN" dirty="0">
                <a:solidFill>
                  <a:schemeClr val="tx2"/>
                </a:solidFill>
              </a:rPr>
              <a:t>identify all boundary values for all identified classes and take them as the test inputs</a:t>
            </a:r>
            <a:r>
              <a:rPr lang="en-US" altLang="zh-CN" dirty="0"/>
              <a:t>.</a:t>
            </a:r>
            <a:endParaRPr lang="zh-CN" altLang="zh-CN" dirty="0"/>
          </a:p>
        </p:txBody>
      </p:sp>
    </p:spTree>
    <p:extLst>
      <p:ext uri="{BB962C8B-B14F-4D97-AF65-F5344CB8AC3E}">
        <p14:creationId xmlns:p14="http://schemas.microsoft.com/office/powerpoint/2010/main" val="4014255141"/>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FDF520-006C-4877-9228-72D616081F91}"/>
              </a:ext>
            </a:extLst>
          </p:cNvPr>
          <p:cNvSpPr>
            <a:spLocks noGrp="1"/>
          </p:cNvSpPr>
          <p:nvPr>
            <p:ph type="title"/>
          </p:nvPr>
        </p:nvSpPr>
        <p:spPr/>
        <p:txBody>
          <a:bodyPr/>
          <a:lstStyle/>
          <a:p>
            <a:r>
              <a:rPr lang="en-US" altLang="zh-CN" sz="3200" dirty="0"/>
              <a:t>Two variants of the BVA method (2)</a:t>
            </a:r>
            <a:endParaRPr lang="zh-CN" altLang="en-US" sz="3200" dirty="0"/>
          </a:p>
        </p:txBody>
      </p:sp>
      <p:sp>
        <p:nvSpPr>
          <p:cNvPr id="3" name="内容占位符 2">
            <a:extLst>
              <a:ext uri="{FF2B5EF4-FFF2-40B4-BE49-F238E27FC236}">
                <a16:creationId xmlns:a16="http://schemas.microsoft.com/office/drawing/2014/main" id="{453870FB-A827-452B-9EEC-95D5079B19A9}"/>
              </a:ext>
            </a:extLst>
          </p:cNvPr>
          <p:cNvSpPr>
            <a:spLocks noGrp="1"/>
          </p:cNvSpPr>
          <p:nvPr>
            <p:ph idx="1"/>
          </p:nvPr>
        </p:nvSpPr>
        <p:spPr/>
        <p:txBody>
          <a:bodyPr/>
          <a:lstStyle/>
          <a:p>
            <a:r>
              <a:rPr lang="en-US" altLang="zh-CN" dirty="0"/>
              <a:t>In a </a:t>
            </a:r>
            <a:r>
              <a:rPr lang="en-US" altLang="zh-CN" dirty="0">
                <a:solidFill>
                  <a:schemeClr val="tx2"/>
                </a:solidFill>
              </a:rPr>
              <a:t>3-value</a:t>
            </a:r>
            <a:r>
              <a:rPr lang="en-US" altLang="zh-CN" dirty="0"/>
              <a:t> version, for each identified equivalence class, the test values are:</a:t>
            </a:r>
            <a:endParaRPr lang="zh-CN" altLang="zh-CN" dirty="0"/>
          </a:p>
          <a:p>
            <a:pPr lvl="1"/>
            <a:r>
              <a:rPr lang="en-US" altLang="zh-CN" dirty="0"/>
              <a:t>The </a:t>
            </a:r>
            <a:r>
              <a:rPr lang="en-US" altLang="zh-CN" dirty="0">
                <a:solidFill>
                  <a:schemeClr val="tx2"/>
                </a:solidFill>
                <a:ea typeface="+mn-ea"/>
                <a:cs typeface="+mn-cs"/>
              </a:rPr>
              <a:t>boundary values of this class </a:t>
            </a:r>
            <a:r>
              <a:rPr lang="en-US" altLang="zh-CN" dirty="0"/>
              <a:t>(i.e., the minimal and maximal elements)</a:t>
            </a:r>
            <a:endParaRPr lang="zh-CN" altLang="zh-CN" dirty="0"/>
          </a:p>
          <a:p>
            <a:pPr lvl="1"/>
            <a:r>
              <a:rPr lang="en-US" altLang="zh-CN" dirty="0"/>
              <a:t>The elements </a:t>
            </a:r>
            <a:r>
              <a:rPr lang="en-US" altLang="zh-CN" dirty="0">
                <a:solidFill>
                  <a:schemeClr val="tx2"/>
                </a:solidFill>
                <a:ea typeface="+mn-ea"/>
                <a:cs typeface="+mn-cs"/>
              </a:rPr>
              <a:t>just below and just above the minimal one</a:t>
            </a:r>
            <a:endParaRPr lang="zh-CN" altLang="zh-CN" dirty="0">
              <a:solidFill>
                <a:schemeClr val="tx2"/>
              </a:solidFill>
              <a:ea typeface="+mn-ea"/>
              <a:cs typeface="+mn-cs"/>
            </a:endParaRPr>
          </a:p>
          <a:p>
            <a:pPr lvl="1"/>
            <a:r>
              <a:rPr lang="en-US" altLang="zh-CN" dirty="0"/>
              <a:t>The elements </a:t>
            </a:r>
            <a:r>
              <a:rPr lang="en-US" altLang="zh-CN" dirty="0">
                <a:solidFill>
                  <a:schemeClr val="tx2"/>
                </a:solidFill>
                <a:ea typeface="+mn-ea"/>
                <a:cs typeface="+mn-cs"/>
              </a:rPr>
              <a:t>just below and just above the maximal one</a:t>
            </a:r>
            <a:endParaRPr lang="zh-CN" altLang="zh-CN" dirty="0">
              <a:solidFill>
                <a:schemeClr val="tx2"/>
              </a:solidFill>
              <a:ea typeface="+mn-ea"/>
              <a:cs typeface="+mn-cs"/>
            </a:endParaRPr>
          </a:p>
          <a:p>
            <a:r>
              <a:rPr lang="en-US" altLang="zh-CN" dirty="0"/>
              <a:t>In this case, some test values will not be the boundary values, but the values from the inside of the partitions. </a:t>
            </a:r>
            <a:endParaRPr lang="zh-CN" altLang="en-US" dirty="0"/>
          </a:p>
        </p:txBody>
      </p:sp>
    </p:spTree>
    <p:extLst>
      <p:ext uri="{BB962C8B-B14F-4D97-AF65-F5344CB8AC3E}">
        <p14:creationId xmlns:p14="http://schemas.microsoft.com/office/powerpoint/2010/main" val="868907641"/>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D3922F-CB35-41BC-B6EC-F248527A0182}"/>
              </a:ext>
            </a:extLst>
          </p:cNvPr>
          <p:cNvSpPr>
            <a:spLocks noGrp="1"/>
          </p:cNvSpPr>
          <p:nvPr>
            <p:ph type="title"/>
          </p:nvPr>
        </p:nvSpPr>
        <p:spPr/>
        <p:txBody>
          <a:bodyPr/>
          <a:lstStyle/>
          <a:p>
            <a:r>
              <a:rPr lang="en-US" altLang="zh-CN" dirty="0"/>
              <a:t>An Example</a:t>
            </a:r>
            <a:endParaRPr lang="zh-CN" altLang="en-US" dirty="0"/>
          </a:p>
        </p:txBody>
      </p:sp>
      <p:sp>
        <p:nvSpPr>
          <p:cNvPr id="3" name="内容占位符 2">
            <a:extLst>
              <a:ext uri="{FF2B5EF4-FFF2-40B4-BE49-F238E27FC236}">
                <a16:creationId xmlns:a16="http://schemas.microsoft.com/office/drawing/2014/main" id="{86902BC4-E59F-4604-A276-5E77A02B300D}"/>
              </a:ext>
            </a:extLst>
          </p:cNvPr>
          <p:cNvSpPr>
            <a:spLocks noGrp="1"/>
          </p:cNvSpPr>
          <p:nvPr>
            <p:ph idx="1"/>
          </p:nvPr>
        </p:nvSpPr>
        <p:spPr/>
        <p:txBody>
          <a:bodyPr/>
          <a:lstStyle/>
          <a:p>
            <a:pPr eaLnBrk="1" fontAlgn="auto" hangingPunct="1">
              <a:lnSpc>
                <a:spcPct val="100000"/>
              </a:lnSpc>
              <a:spcBef>
                <a:spcPts val="0"/>
              </a:spcBef>
              <a:spcAft>
                <a:spcPts val="0"/>
              </a:spcAft>
              <a:buSzTx/>
              <a:defRPr/>
            </a:pPr>
            <a:r>
              <a:rPr lang="en-US" altLang="zh-CN" dirty="0"/>
              <a:t>Suppose we have a domain {1, 2, ..., 15, 16}, which is split into three valid equivalence classes: </a:t>
            </a:r>
          </a:p>
          <a:p>
            <a:pPr marL="0" indent="0" algn="ctr" eaLnBrk="1" fontAlgn="auto" hangingPunct="1">
              <a:lnSpc>
                <a:spcPct val="100000"/>
              </a:lnSpc>
              <a:spcBef>
                <a:spcPts val="0"/>
              </a:spcBef>
              <a:spcAft>
                <a:spcPts val="0"/>
              </a:spcAft>
              <a:buSzTx/>
              <a:buNone/>
              <a:defRPr/>
            </a:pPr>
            <a:r>
              <a:rPr lang="en-US" altLang="zh-CN" dirty="0"/>
              <a:t>{1, ..., 6}, {7, ..., 13}, and {14, ..., 16}</a:t>
            </a:r>
          </a:p>
          <a:p>
            <a:r>
              <a:rPr lang="en-US" altLang="zh-CN" dirty="0"/>
              <a:t>The boundary values:</a:t>
            </a:r>
            <a:endParaRPr lang="zh-CN" altLang="zh-CN" dirty="0"/>
          </a:p>
          <a:p>
            <a:pPr lvl="1"/>
            <a:r>
              <a:rPr lang="en-US" altLang="zh-CN" dirty="0"/>
              <a:t>For the class {1, 2, 3, 4, 5, 6}, the boundary values are 1 and 6.</a:t>
            </a:r>
            <a:endParaRPr lang="zh-CN" altLang="zh-CN" dirty="0"/>
          </a:p>
          <a:p>
            <a:pPr lvl="1"/>
            <a:r>
              <a:rPr lang="en-US" altLang="zh-CN" dirty="0"/>
              <a:t>For the class {7, 8, 9, 10, 11, 12, 13}, the boundary values are 7 and 13.</a:t>
            </a:r>
            <a:endParaRPr lang="zh-CN" altLang="zh-CN" dirty="0"/>
          </a:p>
          <a:p>
            <a:pPr lvl="1"/>
            <a:r>
              <a:rPr lang="en-US" altLang="zh-CN" dirty="0"/>
              <a:t>For the class {14, 15, 16}, the boundary values are 14 and 16.</a:t>
            </a:r>
            <a:endParaRPr lang="zh-CN" altLang="zh-CN" dirty="0"/>
          </a:p>
          <a:p>
            <a:endParaRPr lang="zh-CN" altLang="en-US" dirty="0"/>
          </a:p>
        </p:txBody>
      </p:sp>
      <p:sp>
        <p:nvSpPr>
          <p:cNvPr id="4" name="灯片编号占位符 3">
            <a:extLst>
              <a:ext uri="{FF2B5EF4-FFF2-40B4-BE49-F238E27FC236}">
                <a16:creationId xmlns:a16="http://schemas.microsoft.com/office/drawing/2014/main" id="{F9E0F65F-FA42-4DCA-9163-2CAF0085FDF4}"/>
              </a:ext>
            </a:extLst>
          </p:cNvPr>
          <p:cNvSpPr>
            <a:spLocks noGrp="1"/>
          </p:cNvSpPr>
          <p:nvPr>
            <p:ph type="sldNum" sz="quarter" idx="12"/>
          </p:nvPr>
        </p:nvSpPr>
        <p:spPr/>
        <p:txBody>
          <a:bodyPr/>
          <a:lstStyle/>
          <a:p>
            <a:pPr>
              <a:defRPr/>
            </a:pPr>
            <a:fld id="{FE742154-05E0-4FD4-B04E-B92FD3670A3A}" type="slidenum">
              <a:rPr lang="en-US" smtClean="0"/>
              <a:pPr>
                <a:defRPr/>
              </a:pPr>
              <a:t>54</a:t>
            </a:fld>
            <a:endParaRPr lang="en-US"/>
          </a:p>
        </p:txBody>
      </p:sp>
    </p:spTree>
    <p:extLst>
      <p:ext uri="{BB962C8B-B14F-4D97-AF65-F5344CB8AC3E}">
        <p14:creationId xmlns:p14="http://schemas.microsoft.com/office/powerpoint/2010/main" val="2121135471"/>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4B40E0-0FEA-4835-868B-9D405F4FC083}"/>
              </a:ext>
            </a:extLst>
          </p:cNvPr>
          <p:cNvSpPr>
            <a:spLocks noGrp="1"/>
          </p:cNvSpPr>
          <p:nvPr>
            <p:ph type="title"/>
          </p:nvPr>
        </p:nvSpPr>
        <p:spPr/>
        <p:txBody>
          <a:bodyPr/>
          <a:lstStyle/>
          <a:p>
            <a:r>
              <a:rPr lang="en-US" altLang="zh-CN" dirty="0">
                <a:latin typeface="等线" panose="02010600030101010101" pitchFamily="2" charset="-122"/>
                <a:cs typeface="Times New Roman" panose="02020603050405020304" pitchFamily="18" charset="0"/>
              </a:rPr>
              <a:t>2-value versions of the BVA</a:t>
            </a:r>
            <a:endParaRPr lang="zh-CN" altLang="en-US" dirty="0"/>
          </a:p>
        </p:txBody>
      </p:sp>
      <p:sp>
        <p:nvSpPr>
          <p:cNvPr id="6" name="内容占位符 5">
            <a:extLst>
              <a:ext uri="{FF2B5EF4-FFF2-40B4-BE49-F238E27FC236}">
                <a16:creationId xmlns:a16="http://schemas.microsoft.com/office/drawing/2014/main" id="{E315287D-3385-458A-86DC-C9A7AD99093E}"/>
              </a:ext>
            </a:extLst>
          </p:cNvPr>
          <p:cNvSpPr>
            <a:spLocks noGrp="1"/>
          </p:cNvSpPr>
          <p:nvPr>
            <p:ph idx="1"/>
          </p:nvPr>
        </p:nvSpPr>
        <p:spPr>
          <a:xfrm>
            <a:off x="1530351" y="878306"/>
            <a:ext cx="9112482" cy="3666318"/>
          </a:xfrm>
        </p:spPr>
        <p:txBody>
          <a:bodyPr>
            <a:normAutofit fontScale="85000" lnSpcReduction="20000"/>
          </a:bodyPr>
          <a:lstStyle/>
          <a:p>
            <a:r>
              <a:rPr lang="en-US" altLang="zh-CN" dirty="0">
                <a:solidFill>
                  <a:schemeClr val="tx2"/>
                </a:solidFill>
              </a:rPr>
              <a:t>The domain is ordered and the classes are with no holes. </a:t>
            </a:r>
          </a:p>
          <a:p>
            <a:r>
              <a:rPr lang="en-US" altLang="zh-CN" dirty="0"/>
              <a:t>In the 2-value, we take the boundary values and their neighbors from other classes.</a:t>
            </a:r>
          </a:p>
          <a:p>
            <a:pPr lvl="1"/>
            <a:r>
              <a:rPr lang="en-US" altLang="zh-CN" dirty="0"/>
              <a:t>For the boundary value 1: 0 (if possible), 1</a:t>
            </a:r>
            <a:endParaRPr lang="zh-CN" altLang="zh-CN" dirty="0"/>
          </a:p>
          <a:p>
            <a:pPr lvl="1"/>
            <a:r>
              <a:rPr lang="en-US" altLang="zh-CN" dirty="0"/>
              <a:t>For the boundary value 6: 6, 7</a:t>
            </a:r>
            <a:endParaRPr lang="zh-CN" altLang="zh-CN" dirty="0"/>
          </a:p>
          <a:p>
            <a:pPr lvl="1"/>
            <a:r>
              <a:rPr lang="en-US" altLang="zh-CN" dirty="0"/>
              <a:t>For the boundary value 7: 6, 7</a:t>
            </a:r>
            <a:endParaRPr lang="zh-CN" altLang="zh-CN" dirty="0"/>
          </a:p>
          <a:p>
            <a:pPr lvl="1"/>
            <a:r>
              <a:rPr lang="en-US" altLang="zh-CN" dirty="0"/>
              <a:t>For the boundary value 13: 13, 14</a:t>
            </a:r>
            <a:endParaRPr lang="zh-CN" altLang="zh-CN" dirty="0"/>
          </a:p>
          <a:p>
            <a:pPr lvl="1"/>
            <a:r>
              <a:rPr lang="en-US" altLang="zh-CN" dirty="0"/>
              <a:t>For the boundary value 14: 13, 14</a:t>
            </a:r>
            <a:endParaRPr lang="zh-CN" altLang="zh-CN" dirty="0"/>
          </a:p>
          <a:p>
            <a:pPr lvl="1"/>
            <a:r>
              <a:rPr lang="en-US" altLang="zh-CN" dirty="0"/>
              <a:t>For the boundary value 16: 16, 17 (if possible)</a:t>
            </a:r>
            <a:endParaRPr lang="zh-CN" altLang="zh-CN" dirty="0"/>
          </a:p>
          <a:p>
            <a:r>
              <a:rPr lang="en-US" altLang="zh-CN" dirty="0"/>
              <a:t>The final set of the test values is equal to the set of all the boundary values: 0 (if possible), 1, 6, 7, 13, 14, 16, 17 (if possible).</a:t>
            </a:r>
            <a:endParaRPr lang="zh-CN" altLang="zh-CN" dirty="0"/>
          </a:p>
          <a:p>
            <a:endParaRPr lang="zh-CN" altLang="en-US" dirty="0"/>
          </a:p>
        </p:txBody>
      </p:sp>
      <p:pic>
        <p:nvPicPr>
          <p:cNvPr id="4" name="图片 3">
            <a:extLst>
              <a:ext uri="{FF2B5EF4-FFF2-40B4-BE49-F238E27FC236}">
                <a16:creationId xmlns:a16="http://schemas.microsoft.com/office/drawing/2014/main" id="{581B39E7-5825-469B-AC07-9EDB5502D7D6}"/>
              </a:ext>
            </a:extLst>
          </p:cNvPr>
          <p:cNvPicPr/>
          <p:nvPr/>
        </p:nvPicPr>
        <p:blipFill>
          <a:blip r:embed="rId3"/>
          <a:stretch>
            <a:fillRect/>
          </a:stretch>
        </p:blipFill>
        <p:spPr>
          <a:xfrm>
            <a:off x="1875936" y="4787920"/>
            <a:ext cx="3955733" cy="1388745"/>
          </a:xfrm>
          <a:prstGeom prst="rect">
            <a:avLst/>
          </a:prstGeom>
        </p:spPr>
      </p:pic>
      <p:sp>
        <p:nvSpPr>
          <p:cNvPr id="5" name="矩形 4">
            <a:extLst>
              <a:ext uri="{FF2B5EF4-FFF2-40B4-BE49-F238E27FC236}">
                <a16:creationId xmlns:a16="http://schemas.microsoft.com/office/drawing/2014/main" id="{F82F1BAA-179C-4311-9432-66F160AAED5B}"/>
              </a:ext>
            </a:extLst>
          </p:cNvPr>
          <p:cNvSpPr/>
          <p:nvPr/>
        </p:nvSpPr>
        <p:spPr>
          <a:xfrm>
            <a:off x="5990457" y="4787919"/>
            <a:ext cx="4447571" cy="1754326"/>
          </a:xfrm>
          <a:prstGeom prst="rect">
            <a:avLst/>
          </a:prstGeom>
        </p:spPr>
        <p:txBody>
          <a:bodyPr wrap="square">
            <a:spAutoFit/>
          </a:bodyPr>
          <a:lstStyle/>
          <a:p>
            <a:pPr marL="257175" indent="-257175">
              <a:buAutoNum type="alphaLcParenBoth"/>
            </a:pPr>
            <a:r>
              <a:rPr lang="en-US" altLang="zh-CN" sz="1800" dirty="0">
                <a:latin typeface="等线" panose="02010600030101010101" pitchFamily="2" charset="-122"/>
                <a:cs typeface="Times New Roman" panose="02020603050405020304" pitchFamily="18" charset="0"/>
              </a:rPr>
              <a:t>Equivalence partitioning, </a:t>
            </a:r>
          </a:p>
          <a:p>
            <a:pPr marL="257175" indent="-257175">
              <a:buAutoNum type="alphaLcParenBoth"/>
            </a:pPr>
            <a:r>
              <a:rPr lang="en-US" altLang="zh-CN" sz="1800" dirty="0">
                <a:latin typeface="等线" panose="02010600030101010101" pitchFamily="2" charset="-122"/>
                <a:cs typeface="Times New Roman" panose="02020603050405020304" pitchFamily="18" charset="0"/>
              </a:rPr>
              <a:t>Boundary values (and at the same time the test elements for the 2-value version of the BVA), </a:t>
            </a:r>
          </a:p>
          <a:p>
            <a:pPr marL="257175" indent="-257175">
              <a:buAutoNum type="alphaLcParenBoth"/>
            </a:pPr>
            <a:r>
              <a:rPr lang="en-US" altLang="zh-CN" sz="1800" dirty="0">
                <a:latin typeface="等线" panose="02010600030101010101" pitchFamily="2" charset="-122"/>
                <a:cs typeface="Times New Roman" panose="02020603050405020304" pitchFamily="18" charset="0"/>
              </a:rPr>
              <a:t>Test elements for the 3-value version of BVA</a:t>
            </a:r>
            <a:endParaRPr lang="zh-CN" altLang="en-US" sz="1800" dirty="0"/>
          </a:p>
        </p:txBody>
      </p:sp>
    </p:spTree>
    <p:extLst>
      <p:ext uri="{BB962C8B-B14F-4D97-AF65-F5344CB8AC3E}">
        <p14:creationId xmlns:p14="http://schemas.microsoft.com/office/powerpoint/2010/main" val="388909869"/>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553FCF-6135-4E02-9405-7B0C0387AC72}"/>
              </a:ext>
            </a:extLst>
          </p:cNvPr>
          <p:cNvSpPr>
            <a:spLocks noGrp="1"/>
          </p:cNvSpPr>
          <p:nvPr>
            <p:ph type="title"/>
          </p:nvPr>
        </p:nvSpPr>
        <p:spPr/>
        <p:txBody>
          <a:bodyPr/>
          <a:lstStyle/>
          <a:p>
            <a:r>
              <a:rPr lang="en-US" altLang="zh-CN" dirty="0">
                <a:latin typeface="等线" panose="02010600030101010101" pitchFamily="2" charset="-122"/>
                <a:cs typeface="Times New Roman" panose="02020603050405020304" pitchFamily="18" charset="0"/>
              </a:rPr>
              <a:t>3-value versions of the BVA</a:t>
            </a:r>
            <a:endParaRPr lang="zh-CN" altLang="en-US" dirty="0"/>
          </a:p>
        </p:txBody>
      </p:sp>
      <p:sp>
        <p:nvSpPr>
          <p:cNvPr id="3" name="内容占位符 2">
            <a:extLst>
              <a:ext uri="{FF2B5EF4-FFF2-40B4-BE49-F238E27FC236}">
                <a16:creationId xmlns:a16="http://schemas.microsoft.com/office/drawing/2014/main" id="{0C50ACDD-7F73-4918-AFF5-6F3CF22372FF}"/>
              </a:ext>
            </a:extLst>
          </p:cNvPr>
          <p:cNvSpPr>
            <a:spLocks noGrp="1"/>
          </p:cNvSpPr>
          <p:nvPr>
            <p:ph idx="1"/>
          </p:nvPr>
        </p:nvSpPr>
        <p:spPr>
          <a:xfrm>
            <a:off x="1530351" y="878306"/>
            <a:ext cx="9112482" cy="4000319"/>
          </a:xfrm>
        </p:spPr>
        <p:txBody>
          <a:bodyPr>
            <a:normAutofit fontScale="92500" lnSpcReduction="10000"/>
          </a:bodyPr>
          <a:lstStyle/>
          <a:p>
            <a:r>
              <a:rPr lang="en-US" altLang="zh-CN" dirty="0"/>
              <a:t>In the 3-value version for each boundary value x, we take three test inputs: x, the value just below x and the value just above x,</a:t>
            </a:r>
          </a:p>
          <a:p>
            <a:pPr lvl="1"/>
            <a:r>
              <a:rPr lang="en-US" altLang="zh-CN" dirty="0"/>
              <a:t>For the boundary value 1: 0 (if possible), 1, 2</a:t>
            </a:r>
            <a:endParaRPr lang="zh-CN" altLang="zh-CN" dirty="0"/>
          </a:p>
          <a:p>
            <a:pPr lvl="1"/>
            <a:r>
              <a:rPr lang="en-US" altLang="zh-CN" dirty="0"/>
              <a:t>For the boundary value 6: 5, 6, 7</a:t>
            </a:r>
            <a:endParaRPr lang="zh-CN" altLang="zh-CN" dirty="0"/>
          </a:p>
          <a:p>
            <a:pPr lvl="1"/>
            <a:r>
              <a:rPr lang="en-US" altLang="zh-CN" dirty="0"/>
              <a:t>For the boundary value 7: 6, 7, 8</a:t>
            </a:r>
            <a:endParaRPr lang="zh-CN" altLang="zh-CN" dirty="0"/>
          </a:p>
          <a:p>
            <a:pPr lvl="1"/>
            <a:r>
              <a:rPr lang="en-US" altLang="zh-CN" dirty="0"/>
              <a:t>For the boundary value 13: 12, 13, 14</a:t>
            </a:r>
            <a:endParaRPr lang="zh-CN" altLang="zh-CN" dirty="0"/>
          </a:p>
          <a:p>
            <a:pPr lvl="1"/>
            <a:r>
              <a:rPr lang="en-US" altLang="zh-CN" dirty="0"/>
              <a:t>For the boundary value 14: 13, 14, 15</a:t>
            </a:r>
            <a:endParaRPr lang="zh-CN" altLang="zh-CN" dirty="0"/>
          </a:p>
          <a:p>
            <a:pPr lvl="1"/>
            <a:r>
              <a:rPr lang="en-US" altLang="zh-CN" dirty="0"/>
              <a:t>For the boundary value 16: 15, 16, 17 (if possible)</a:t>
            </a:r>
            <a:endParaRPr lang="zh-CN" altLang="zh-CN" dirty="0"/>
          </a:p>
          <a:p>
            <a:r>
              <a:rPr lang="en-US" altLang="zh-CN" dirty="0"/>
              <a:t>Hence, the values to test are: 0 (if possible), 1, 2, 5, 6, 7, 8, 12, 13, 14, 15, 16, 17 (if possible).</a:t>
            </a:r>
            <a:endParaRPr lang="zh-CN" altLang="zh-CN" dirty="0"/>
          </a:p>
          <a:p>
            <a:endParaRPr lang="zh-CN" altLang="en-US" dirty="0"/>
          </a:p>
          <a:p>
            <a:endParaRPr lang="zh-CN" altLang="en-US" dirty="0"/>
          </a:p>
        </p:txBody>
      </p:sp>
      <p:pic>
        <p:nvPicPr>
          <p:cNvPr id="5" name="图片 4">
            <a:extLst>
              <a:ext uri="{FF2B5EF4-FFF2-40B4-BE49-F238E27FC236}">
                <a16:creationId xmlns:a16="http://schemas.microsoft.com/office/drawing/2014/main" id="{77C52640-ECAF-436B-88AC-468C29474619}"/>
              </a:ext>
            </a:extLst>
          </p:cNvPr>
          <p:cNvPicPr/>
          <p:nvPr/>
        </p:nvPicPr>
        <p:blipFill>
          <a:blip r:embed="rId2"/>
          <a:stretch>
            <a:fillRect/>
          </a:stretch>
        </p:blipFill>
        <p:spPr>
          <a:xfrm>
            <a:off x="1797773" y="5063270"/>
            <a:ext cx="3955733" cy="1388745"/>
          </a:xfrm>
          <a:prstGeom prst="rect">
            <a:avLst/>
          </a:prstGeom>
        </p:spPr>
      </p:pic>
      <p:sp>
        <p:nvSpPr>
          <p:cNvPr id="6" name="矩形 5">
            <a:extLst>
              <a:ext uri="{FF2B5EF4-FFF2-40B4-BE49-F238E27FC236}">
                <a16:creationId xmlns:a16="http://schemas.microsoft.com/office/drawing/2014/main" id="{122049E4-96C2-4730-B34F-959EFF24E97C}"/>
              </a:ext>
            </a:extLst>
          </p:cNvPr>
          <p:cNvSpPr/>
          <p:nvPr/>
        </p:nvSpPr>
        <p:spPr>
          <a:xfrm>
            <a:off x="5991966" y="4980131"/>
            <a:ext cx="4402262" cy="1754326"/>
          </a:xfrm>
          <a:prstGeom prst="rect">
            <a:avLst/>
          </a:prstGeom>
        </p:spPr>
        <p:txBody>
          <a:bodyPr wrap="square">
            <a:spAutoFit/>
          </a:bodyPr>
          <a:lstStyle/>
          <a:p>
            <a:pPr marL="257175" indent="-257175">
              <a:buAutoNum type="alphaLcParenBoth"/>
            </a:pPr>
            <a:r>
              <a:rPr lang="en-US" altLang="zh-CN" sz="1800" dirty="0">
                <a:latin typeface="等线" panose="02010600030101010101" pitchFamily="2" charset="-122"/>
                <a:cs typeface="Times New Roman" panose="02020603050405020304" pitchFamily="18" charset="0"/>
              </a:rPr>
              <a:t>Equivalence partitioning, </a:t>
            </a:r>
          </a:p>
          <a:p>
            <a:pPr marL="257175" indent="-257175">
              <a:buAutoNum type="alphaLcParenBoth"/>
            </a:pPr>
            <a:r>
              <a:rPr lang="en-US" altLang="zh-CN" sz="1800" dirty="0">
                <a:latin typeface="等线" panose="02010600030101010101" pitchFamily="2" charset="-122"/>
                <a:cs typeface="Times New Roman" panose="02020603050405020304" pitchFamily="18" charset="0"/>
              </a:rPr>
              <a:t>Boundary values (and at the same time the test elements for the 2-value version of the BVA), </a:t>
            </a:r>
          </a:p>
          <a:p>
            <a:pPr marL="257175" indent="-257175">
              <a:buAutoNum type="alphaLcParenBoth"/>
            </a:pPr>
            <a:r>
              <a:rPr lang="en-US" altLang="zh-CN" sz="1800" dirty="0">
                <a:latin typeface="等线" panose="02010600030101010101" pitchFamily="2" charset="-122"/>
                <a:cs typeface="Times New Roman" panose="02020603050405020304" pitchFamily="18" charset="0"/>
              </a:rPr>
              <a:t>Test elements for the 3-value version of BVA</a:t>
            </a:r>
            <a:endParaRPr lang="zh-CN" altLang="en-US" sz="1800" dirty="0"/>
          </a:p>
        </p:txBody>
      </p:sp>
    </p:spTree>
    <p:extLst>
      <p:ext uri="{BB962C8B-B14F-4D97-AF65-F5344CB8AC3E}">
        <p14:creationId xmlns:p14="http://schemas.microsoft.com/office/powerpoint/2010/main" val="3955631772"/>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343C21-CF69-4966-B624-715F495D5D3A}"/>
              </a:ext>
            </a:extLst>
          </p:cNvPr>
          <p:cNvSpPr>
            <a:spLocks noGrp="1"/>
          </p:cNvSpPr>
          <p:nvPr>
            <p:ph type="title"/>
          </p:nvPr>
        </p:nvSpPr>
        <p:spPr/>
        <p:txBody>
          <a:bodyPr/>
          <a:lstStyle/>
          <a:p>
            <a:r>
              <a:rPr lang="en-US" altLang="zh-CN" sz="3200" dirty="0"/>
              <a:t>Strength of the 3-value version (1)</a:t>
            </a:r>
            <a:endParaRPr lang="zh-CN" altLang="en-US" sz="3200" dirty="0"/>
          </a:p>
        </p:txBody>
      </p:sp>
      <p:sp>
        <p:nvSpPr>
          <p:cNvPr id="3" name="内容占位符 2">
            <a:extLst>
              <a:ext uri="{FF2B5EF4-FFF2-40B4-BE49-F238E27FC236}">
                <a16:creationId xmlns:a16="http://schemas.microsoft.com/office/drawing/2014/main" id="{31166A36-04EE-43AD-A584-11E2F809E1F8}"/>
              </a:ext>
            </a:extLst>
          </p:cNvPr>
          <p:cNvSpPr>
            <a:spLocks noGrp="1"/>
          </p:cNvSpPr>
          <p:nvPr>
            <p:ph idx="1"/>
          </p:nvPr>
        </p:nvSpPr>
        <p:spPr/>
        <p:txBody>
          <a:bodyPr>
            <a:normAutofit/>
          </a:bodyPr>
          <a:lstStyle/>
          <a:p>
            <a:r>
              <a:rPr lang="en-US" altLang="zh-CN" dirty="0"/>
              <a:t>Suppose that the code (assume x and y are integers):</a:t>
            </a:r>
          </a:p>
          <a:p>
            <a:pPr marL="0" indent="0" algn="ctr">
              <a:buNone/>
            </a:pPr>
            <a:r>
              <a:rPr lang="en-US" altLang="zh-CN" dirty="0">
                <a:solidFill>
                  <a:schemeClr val="tx2"/>
                </a:solidFill>
              </a:rPr>
              <a:t>if (x &gt;= 15) then y := 0  </a:t>
            </a:r>
          </a:p>
          <a:p>
            <a:pPr marL="0" indent="0">
              <a:buNone/>
            </a:pPr>
            <a:r>
              <a:rPr lang="en-US" altLang="zh-CN" dirty="0"/>
              <a:t>   was incorrectly implemented as</a:t>
            </a:r>
            <a:r>
              <a:rPr lang="en-US" altLang="zh-CN" dirty="0">
                <a:solidFill>
                  <a:schemeClr val="tx2"/>
                </a:solidFill>
              </a:rPr>
              <a:t> </a:t>
            </a:r>
          </a:p>
          <a:p>
            <a:pPr marL="0" indent="0" algn="ctr">
              <a:buNone/>
            </a:pPr>
            <a:r>
              <a:rPr lang="en-US" altLang="zh-CN" dirty="0">
                <a:solidFill>
                  <a:schemeClr val="tx2"/>
                </a:solidFill>
              </a:rPr>
              <a:t>if (x == 15) then y := 0</a:t>
            </a:r>
          </a:p>
          <a:p>
            <a:r>
              <a:rPr lang="en-US" altLang="zh-CN" dirty="0"/>
              <a:t>In the2-value version, we test the boundary (x &gt;= 15), so the boundary values are 14 and 15. </a:t>
            </a:r>
          </a:p>
          <a:p>
            <a:pPr lvl="1"/>
            <a:r>
              <a:rPr lang="en-US" altLang="zh-CN" dirty="0"/>
              <a:t>In case of 14, we see that the outcomes of both correct and incorrect implementations of the predicate are FALSE, because it is not true that 14 &gt;= 15, and it is also not true that 14 = 15. </a:t>
            </a:r>
          </a:p>
          <a:p>
            <a:pPr lvl="1"/>
            <a:r>
              <a:rPr lang="en-US" altLang="zh-CN" dirty="0"/>
              <a:t>In case of 15 also, both implementations give the same logical value (TRUE): it is true that 15 &gt;= 15 and it is also true that 15 = 15. </a:t>
            </a:r>
          </a:p>
          <a:p>
            <a:pPr lvl="1"/>
            <a:r>
              <a:rPr lang="en-US" altLang="zh-CN" dirty="0"/>
              <a:t>Hence, neither the test 14, nor 15, detected the fault—in both cases, the expected and actual results are the same!</a:t>
            </a:r>
          </a:p>
        </p:txBody>
      </p:sp>
    </p:spTree>
    <p:extLst>
      <p:ext uri="{BB962C8B-B14F-4D97-AF65-F5344CB8AC3E}">
        <p14:creationId xmlns:p14="http://schemas.microsoft.com/office/powerpoint/2010/main" val="198657127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BFF4A9-B2F2-4C01-A57F-285D92649562}"/>
              </a:ext>
            </a:extLst>
          </p:cNvPr>
          <p:cNvSpPr>
            <a:spLocks noGrp="1"/>
          </p:cNvSpPr>
          <p:nvPr>
            <p:ph type="title"/>
          </p:nvPr>
        </p:nvSpPr>
        <p:spPr/>
        <p:txBody>
          <a:bodyPr/>
          <a:lstStyle/>
          <a:p>
            <a:r>
              <a:rPr lang="en-US" altLang="zh-CN" sz="3200" dirty="0"/>
              <a:t>Strength of the 3-value version (2)</a:t>
            </a:r>
            <a:endParaRPr lang="zh-CN" altLang="en-US" sz="3200" dirty="0"/>
          </a:p>
        </p:txBody>
      </p:sp>
      <p:sp>
        <p:nvSpPr>
          <p:cNvPr id="3" name="内容占位符 2">
            <a:extLst>
              <a:ext uri="{FF2B5EF4-FFF2-40B4-BE49-F238E27FC236}">
                <a16:creationId xmlns:a16="http://schemas.microsoft.com/office/drawing/2014/main" id="{7233AFDE-C8C7-4607-AF9C-12F5B7D31410}"/>
              </a:ext>
            </a:extLst>
          </p:cNvPr>
          <p:cNvSpPr>
            <a:spLocks noGrp="1"/>
          </p:cNvSpPr>
          <p:nvPr>
            <p:ph idx="1"/>
          </p:nvPr>
        </p:nvSpPr>
        <p:spPr/>
        <p:txBody>
          <a:bodyPr/>
          <a:lstStyle/>
          <a:p>
            <a:r>
              <a:rPr lang="en-US" altLang="zh-CN" dirty="0"/>
              <a:t>Suppose that the code (assume x and y are integers):</a:t>
            </a:r>
          </a:p>
          <a:p>
            <a:pPr marL="0" indent="0" algn="ctr">
              <a:buNone/>
            </a:pPr>
            <a:r>
              <a:rPr lang="en-US" altLang="zh-CN" dirty="0">
                <a:solidFill>
                  <a:schemeClr val="tx2"/>
                </a:solidFill>
              </a:rPr>
              <a:t>if (x &gt;= 15) then y := 0  </a:t>
            </a:r>
          </a:p>
          <a:p>
            <a:pPr marL="0" indent="0">
              <a:buNone/>
            </a:pPr>
            <a:r>
              <a:rPr lang="en-US" altLang="zh-CN" dirty="0"/>
              <a:t>   was incorrectly implemented as</a:t>
            </a:r>
            <a:r>
              <a:rPr lang="en-US" altLang="zh-CN" dirty="0">
                <a:solidFill>
                  <a:schemeClr val="tx2"/>
                </a:solidFill>
              </a:rPr>
              <a:t> </a:t>
            </a:r>
          </a:p>
          <a:p>
            <a:pPr marL="0" indent="0" algn="ctr">
              <a:buNone/>
            </a:pPr>
            <a:r>
              <a:rPr lang="en-US" altLang="zh-CN" dirty="0">
                <a:solidFill>
                  <a:schemeClr val="tx2"/>
                </a:solidFill>
              </a:rPr>
              <a:t>if (x == 15) then y := 0</a:t>
            </a:r>
          </a:p>
          <a:p>
            <a:r>
              <a:rPr lang="en-US" altLang="zh-CN" dirty="0"/>
              <a:t>If we use the 3-value version, we need to test not only 14 and 15, but also 16. </a:t>
            </a:r>
          </a:p>
          <a:p>
            <a:pPr lvl="1"/>
            <a:r>
              <a:rPr lang="en-US" altLang="zh-CN" dirty="0"/>
              <a:t>In case of 16, the condition (x &gt;= 15) is true (because 16 &gt; 15), but the outcome of the faulty implementation is false, since it is not true that 16 = 15. </a:t>
            </a:r>
          </a:p>
          <a:p>
            <a:pPr lvl="1"/>
            <a:r>
              <a:rPr lang="en-US" altLang="zh-CN" dirty="0"/>
              <a:t>Hence, we detected the fault: the expected result (true) is different from the actual one (false).</a:t>
            </a:r>
            <a:endParaRPr lang="zh-CN" altLang="en-US" dirty="0"/>
          </a:p>
          <a:p>
            <a:endParaRPr lang="zh-CN" altLang="en-US" dirty="0"/>
          </a:p>
        </p:txBody>
      </p:sp>
      <p:sp>
        <p:nvSpPr>
          <p:cNvPr id="4" name="灯片编号占位符 3">
            <a:extLst>
              <a:ext uri="{FF2B5EF4-FFF2-40B4-BE49-F238E27FC236}">
                <a16:creationId xmlns:a16="http://schemas.microsoft.com/office/drawing/2014/main" id="{1F1AB581-4D7A-4ABE-BDD0-53BFD01720CC}"/>
              </a:ext>
            </a:extLst>
          </p:cNvPr>
          <p:cNvSpPr>
            <a:spLocks noGrp="1"/>
          </p:cNvSpPr>
          <p:nvPr>
            <p:ph type="sldNum" sz="quarter" idx="12"/>
          </p:nvPr>
        </p:nvSpPr>
        <p:spPr/>
        <p:txBody>
          <a:bodyPr/>
          <a:lstStyle/>
          <a:p>
            <a:pPr>
              <a:defRPr/>
            </a:pPr>
            <a:fld id="{FE742154-05E0-4FD4-B04E-B92FD3670A3A}" type="slidenum">
              <a:rPr lang="en-US" smtClean="0"/>
              <a:pPr>
                <a:defRPr/>
              </a:pPr>
              <a:t>58</a:t>
            </a:fld>
            <a:endParaRPr lang="en-US"/>
          </a:p>
        </p:txBody>
      </p:sp>
    </p:spTree>
    <p:extLst>
      <p:ext uri="{BB962C8B-B14F-4D97-AF65-F5344CB8AC3E}">
        <p14:creationId xmlns:p14="http://schemas.microsoft.com/office/powerpoint/2010/main" val="3201486419"/>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9EE8BD-CE2A-41E0-9AFD-C3263CA0E804}"/>
              </a:ext>
            </a:extLst>
          </p:cNvPr>
          <p:cNvSpPr>
            <a:spLocks noGrp="1"/>
          </p:cNvSpPr>
          <p:nvPr>
            <p:ph type="title"/>
          </p:nvPr>
        </p:nvSpPr>
        <p:spPr/>
        <p:txBody>
          <a:bodyPr/>
          <a:lstStyle/>
          <a:p>
            <a:r>
              <a:rPr lang="en-US" altLang="zh-CN" sz="3200" dirty="0"/>
              <a:t>How to deal with continuous domains?</a:t>
            </a:r>
            <a:endParaRPr lang="zh-CN" altLang="en-US" sz="3200" dirty="0"/>
          </a:p>
        </p:txBody>
      </p:sp>
      <p:sp>
        <p:nvSpPr>
          <p:cNvPr id="3" name="内容占位符 2">
            <a:extLst>
              <a:ext uri="{FF2B5EF4-FFF2-40B4-BE49-F238E27FC236}">
                <a16:creationId xmlns:a16="http://schemas.microsoft.com/office/drawing/2014/main" id="{FC8D974C-C2C1-4027-BEA6-4B3940556279}"/>
              </a:ext>
            </a:extLst>
          </p:cNvPr>
          <p:cNvSpPr>
            <a:spLocks noGrp="1"/>
          </p:cNvSpPr>
          <p:nvPr>
            <p:ph idx="1"/>
          </p:nvPr>
        </p:nvSpPr>
        <p:spPr/>
        <p:txBody>
          <a:bodyPr>
            <a:normAutofit/>
          </a:bodyPr>
          <a:lstStyle/>
          <a:p>
            <a:r>
              <a:rPr lang="en-US" altLang="zh-CN" dirty="0"/>
              <a:t>Suppose we have a set of real numbers from 0 to 1 inclusively. </a:t>
            </a:r>
          </a:p>
          <a:p>
            <a:pPr lvl="1"/>
            <a:r>
              <a:rPr lang="en-US" altLang="zh-CN" dirty="0"/>
              <a:t>The boundary values of this class are obviously 0 and 1, but what are the neighbors from the adjoining classes? </a:t>
            </a:r>
          </a:p>
          <a:p>
            <a:pPr lvl="1"/>
            <a:r>
              <a:rPr lang="en-US" altLang="zh-CN" dirty="0"/>
              <a:t>E.g., what is the value just above 1? Is it 2? Or 1.01? Or may be 1.0001? </a:t>
            </a:r>
          </a:p>
          <a:p>
            <a:pPr lvl="1"/>
            <a:r>
              <a:rPr lang="en-US" altLang="zh-CN" dirty="0"/>
              <a:t>In fact, for every such value, we can find some smaller one, but still greater than 1.</a:t>
            </a:r>
            <a:endParaRPr lang="zh-CN" altLang="zh-CN" dirty="0"/>
          </a:p>
          <a:p>
            <a:pPr lvl="1"/>
            <a:r>
              <a:rPr lang="en-US" altLang="zh-CN" dirty="0"/>
              <a:t>It is because the set of real numbers is dense. </a:t>
            </a:r>
          </a:p>
          <a:p>
            <a:endParaRPr lang="zh-CN" altLang="en-US" dirty="0"/>
          </a:p>
        </p:txBody>
      </p:sp>
    </p:spTree>
    <p:extLst>
      <p:ext uri="{BB962C8B-B14F-4D97-AF65-F5344CB8AC3E}">
        <p14:creationId xmlns:p14="http://schemas.microsoft.com/office/powerpoint/2010/main" val="2570552428"/>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DE1D92-9459-4307-AC0D-80EB771963F4}"/>
              </a:ext>
            </a:extLst>
          </p:cNvPr>
          <p:cNvSpPr>
            <a:spLocks noGrp="1"/>
          </p:cNvSpPr>
          <p:nvPr>
            <p:ph type="title"/>
          </p:nvPr>
        </p:nvSpPr>
        <p:spPr/>
        <p:txBody>
          <a:bodyPr/>
          <a:lstStyle/>
          <a:p>
            <a:r>
              <a:rPr lang="en-US" altLang="zh-CN" dirty="0"/>
              <a:t>Practical Solutions</a:t>
            </a:r>
            <a:endParaRPr lang="zh-CN" altLang="en-US" dirty="0"/>
          </a:p>
        </p:txBody>
      </p:sp>
      <p:sp>
        <p:nvSpPr>
          <p:cNvPr id="3" name="内容占位符 2">
            <a:extLst>
              <a:ext uri="{FF2B5EF4-FFF2-40B4-BE49-F238E27FC236}">
                <a16:creationId xmlns:a16="http://schemas.microsoft.com/office/drawing/2014/main" id="{AB5AAF1B-BB2A-40CC-A2FA-6461DB66CDAA}"/>
              </a:ext>
            </a:extLst>
          </p:cNvPr>
          <p:cNvSpPr>
            <a:spLocks noGrp="1"/>
          </p:cNvSpPr>
          <p:nvPr>
            <p:ph idx="1"/>
          </p:nvPr>
        </p:nvSpPr>
        <p:spPr/>
        <p:txBody>
          <a:bodyPr/>
          <a:lstStyle/>
          <a:p>
            <a:r>
              <a:rPr lang="en-US" altLang="zh-CN" dirty="0"/>
              <a:t>The smallest increment is defined either by the nature of the problem, or by the way the numbers are represented in the computer memory. </a:t>
            </a:r>
          </a:p>
          <a:p>
            <a:pPr lvl="1"/>
            <a:r>
              <a:rPr lang="en-US" altLang="zh-CN" dirty="0"/>
              <a:t>E.g., if we test an e-shop application and the considered variable stores some price in dollars, it is obvious that the smallest increment is $0.01 (one cent). In this case, the boundary values for the set [0, 1] will be 0.01 and 1.01 dollars. </a:t>
            </a:r>
          </a:p>
          <a:p>
            <a:r>
              <a:rPr lang="en-US" altLang="zh-CN" dirty="0"/>
              <a:t>If the variable represents some physical value (like the rocket velocity), the precision is defined by the way the value is represented in the memory. The tester may also define other greater, reasonable increment.</a:t>
            </a:r>
            <a:endParaRPr lang="zh-CN" altLang="zh-CN" dirty="0"/>
          </a:p>
          <a:p>
            <a:endParaRPr lang="zh-CN" altLang="en-US" dirty="0"/>
          </a:p>
        </p:txBody>
      </p:sp>
      <p:sp>
        <p:nvSpPr>
          <p:cNvPr id="4" name="灯片编号占位符 3">
            <a:extLst>
              <a:ext uri="{FF2B5EF4-FFF2-40B4-BE49-F238E27FC236}">
                <a16:creationId xmlns:a16="http://schemas.microsoft.com/office/drawing/2014/main" id="{E9ED0C08-1651-477B-AA34-8D1A6A00CB4B}"/>
              </a:ext>
            </a:extLst>
          </p:cNvPr>
          <p:cNvSpPr>
            <a:spLocks noGrp="1"/>
          </p:cNvSpPr>
          <p:nvPr>
            <p:ph type="sldNum" sz="quarter" idx="12"/>
          </p:nvPr>
        </p:nvSpPr>
        <p:spPr/>
        <p:txBody>
          <a:bodyPr/>
          <a:lstStyle/>
          <a:p>
            <a:pPr>
              <a:defRPr/>
            </a:pPr>
            <a:fld id="{FE742154-05E0-4FD4-B04E-B92FD3670A3A}" type="slidenum">
              <a:rPr lang="en-US" smtClean="0"/>
              <a:pPr>
                <a:defRPr/>
              </a:pPr>
              <a:t>60</a:t>
            </a:fld>
            <a:endParaRPr lang="en-US"/>
          </a:p>
        </p:txBody>
      </p:sp>
    </p:spTree>
    <p:extLst>
      <p:ext uri="{BB962C8B-B14F-4D97-AF65-F5344CB8AC3E}">
        <p14:creationId xmlns:p14="http://schemas.microsoft.com/office/powerpoint/2010/main" val="2217688472"/>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E11CB9-307A-45EE-A8CD-CD3E5DF7A756}"/>
              </a:ext>
            </a:extLst>
          </p:cNvPr>
          <p:cNvSpPr>
            <a:spLocks noGrp="1"/>
          </p:cNvSpPr>
          <p:nvPr>
            <p:ph type="title"/>
          </p:nvPr>
        </p:nvSpPr>
        <p:spPr/>
        <p:txBody>
          <a:bodyPr/>
          <a:lstStyle/>
          <a:p>
            <a:r>
              <a:rPr lang="en-US" altLang="zh-CN" dirty="0"/>
              <a:t>Exercise 1</a:t>
            </a:r>
            <a:endParaRPr lang="zh-CN" altLang="en-US" dirty="0"/>
          </a:p>
        </p:txBody>
      </p:sp>
      <p:sp>
        <p:nvSpPr>
          <p:cNvPr id="3" name="内容占位符 2">
            <a:extLst>
              <a:ext uri="{FF2B5EF4-FFF2-40B4-BE49-F238E27FC236}">
                <a16:creationId xmlns:a16="http://schemas.microsoft.com/office/drawing/2014/main" id="{576F89F0-6E53-41BA-8084-6DF6F5A65B16}"/>
              </a:ext>
            </a:extLst>
          </p:cNvPr>
          <p:cNvSpPr>
            <a:spLocks noGrp="1"/>
          </p:cNvSpPr>
          <p:nvPr>
            <p:ph idx="1"/>
          </p:nvPr>
        </p:nvSpPr>
        <p:spPr/>
        <p:txBody>
          <a:bodyPr/>
          <a:lstStyle/>
          <a:p>
            <a:pPr marL="0" indent="0">
              <a:buNone/>
            </a:pPr>
            <a:r>
              <a:rPr lang="en-US" altLang="zh-CN" dirty="0"/>
              <a:t>For which of the following variables, the application of the BVA method is possible?</a:t>
            </a:r>
            <a:endParaRPr lang="zh-CN" altLang="zh-CN" dirty="0"/>
          </a:p>
          <a:p>
            <a:pPr marL="0" indent="0">
              <a:buNone/>
            </a:pPr>
            <a:r>
              <a:rPr lang="en-US" altLang="zh-CN" dirty="0"/>
              <a:t>(a) The set of integer numbers</a:t>
            </a:r>
            <a:endParaRPr lang="zh-CN" altLang="zh-CN" dirty="0"/>
          </a:p>
          <a:p>
            <a:pPr marL="0" indent="0">
              <a:buNone/>
            </a:pPr>
            <a:r>
              <a:rPr lang="en-US" altLang="zh-CN" dirty="0"/>
              <a:t>(b) The set of real numbers</a:t>
            </a:r>
            <a:endParaRPr lang="zh-CN" altLang="zh-CN" dirty="0"/>
          </a:p>
          <a:p>
            <a:pPr marL="0" indent="0">
              <a:buNone/>
            </a:pPr>
            <a:r>
              <a:rPr lang="en-US" altLang="zh-CN" dirty="0"/>
              <a:t>(c) The set {5, 6, 7}</a:t>
            </a:r>
            <a:endParaRPr lang="zh-CN" altLang="zh-CN" dirty="0"/>
          </a:p>
          <a:p>
            <a:pPr marL="0" indent="0">
              <a:buNone/>
            </a:pPr>
            <a:r>
              <a:rPr lang="en-US" altLang="zh-CN" dirty="0"/>
              <a:t>(d) The set of all strings of length 1, 2 or 3</a:t>
            </a:r>
            <a:endParaRPr lang="zh-CN" altLang="zh-CN" dirty="0"/>
          </a:p>
          <a:p>
            <a:pPr marL="0" indent="0">
              <a:buNone/>
            </a:pPr>
            <a:r>
              <a:rPr lang="en-US" altLang="zh-CN" dirty="0"/>
              <a:t>(e) The set {Linux, Windows, MacOS}</a:t>
            </a:r>
            <a:endParaRPr lang="zh-CN" altLang="zh-CN" dirty="0"/>
          </a:p>
          <a:p>
            <a:endParaRPr lang="zh-CN" altLang="en-US" dirty="0"/>
          </a:p>
        </p:txBody>
      </p:sp>
      <p:sp>
        <p:nvSpPr>
          <p:cNvPr id="4" name="矩形 3">
            <a:extLst>
              <a:ext uri="{FF2B5EF4-FFF2-40B4-BE49-F238E27FC236}">
                <a16:creationId xmlns:a16="http://schemas.microsoft.com/office/drawing/2014/main" id="{1213DC77-6079-4C71-86B3-F43FB111D8F8}"/>
              </a:ext>
            </a:extLst>
          </p:cNvPr>
          <p:cNvSpPr/>
          <p:nvPr/>
        </p:nvSpPr>
        <p:spPr>
          <a:xfrm>
            <a:off x="1708432" y="4411474"/>
            <a:ext cx="8756318" cy="2246769"/>
          </a:xfrm>
          <a:prstGeom prst="rect">
            <a:avLst/>
          </a:prstGeom>
        </p:spPr>
        <p:txBody>
          <a:bodyPr wrap="square">
            <a:spAutoFit/>
          </a:bodyPr>
          <a:lstStyle/>
          <a:p>
            <a:pPr marL="342900" indent="-342900">
              <a:buFont typeface="Arial" panose="020B0604020202020204" pitchFamily="34" charset="0"/>
              <a:buChar char="•"/>
            </a:pPr>
            <a:r>
              <a:rPr lang="en-US" altLang="zh-CN" b="0" dirty="0">
                <a:latin typeface="Gill Sans MT" panose="020B0502020104020203" pitchFamily="34" charset="0"/>
              </a:rPr>
              <a:t>For A, B, and C, we can apply BVA method, because these domains are ordered.</a:t>
            </a:r>
          </a:p>
          <a:p>
            <a:pPr marL="342900" indent="-342900">
              <a:buFont typeface="Arial" panose="020B0604020202020204" pitchFamily="34" charset="0"/>
              <a:buChar char="•"/>
            </a:pPr>
            <a:r>
              <a:rPr lang="en-US" altLang="zh-CN" b="0" dirty="0">
                <a:latin typeface="Gill Sans MT" panose="020B0502020104020203" pitchFamily="34" charset="0"/>
              </a:rPr>
              <a:t>For D and E, we cannot apply BVA method, because the elements are incomparable. However, we could introduce the ordering on these sets and then apply the BVA method. </a:t>
            </a:r>
          </a:p>
          <a:p>
            <a:pPr marL="342900" indent="-342900">
              <a:buFont typeface="Arial" panose="020B0604020202020204" pitchFamily="34" charset="0"/>
              <a:buChar char="•"/>
            </a:pPr>
            <a:r>
              <a:rPr lang="en-US" altLang="zh-CN" b="0" dirty="0">
                <a:latin typeface="Gill Sans MT" panose="020B0502020104020203" pitchFamily="34" charset="0"/>
              </a:rPr>
              <a:t>For example, in case of strings, we could introduce the classical, lexicographic ordering. Then, each string could be compared with another, for example: </a:t>
            </a:r>
            <a:r>
              <a:rPr lang="en-US" altLang="zh-CN" b="0" dirty="0" err="1">
                <a:latin typeface="Gill Sans MT" panose="020B0502020104020203" pitchFamily="34" charset="0"/>
              </a:rPr>
              <a:t>aaa</a:t>
            </a:r>
            <a:r>
              <a:rPr lang="en-US" altLang="zh-CN" b="0" dirty="0">
                <a:latin typeface="Gill Sans MT" panose="020B0502020104020203" pitchFamily="34" charset="0"/>
              </a:rPr>
              <a:t> &lt; </a:t>
            </a:r>
            <a:r>
              <a:rPr lang="en-US" altLang="zh-CN" b="0" dirty="0" err="1">
                <a:latin typeface="Gill Sans MT" panose="020B0502020104020203" pitchFamily="34" charset="0"/>
              </a:rPr>
              <a:t>aab</a:t>
            </a:r>
            <a:r>
              <a:rPr lang="en-US" altLang="zh-CN" b="0" dirty="0">
                <a:latin typeface="Gill Sans MT" panose="020B0502020104020203" pitchFamily="34" charset="0"/>
              </a:rPr>
              <a:t>, </a:t>
            </a:r>
            <a:r>
              <a:rPr lang="en-US" altLang="zh-CN" b="0" dirty="0" err="1">
                <a:latin typeface="Gill Sans MT" panose="020B0502020104020203" pitchFamily="34" charset="0"/>
              </a:rPr>
              <a:t>az</a:t>
            </a:r>
            <a:r>
              <a:rPr lang="en-US" altLang="zh-CN" b="0" dirty="0">
                <a:latin typeface="Gill Sans MT" panose="020B0502020104020203" pitchFamily="34" charset="0"/>
              </a:rPr>
              <a:t> &lt; </a:t>
            </a:r>
            <a:r>
              <a:rPr lang="en-US" altLang="zh-CN" b="0" dirty="0" err="1">
                <a:latin typeface="Gill Sans MT" panose="020B0502020104020203" pitchFamily="34" charset="0"/>
              </a:rPr>
              <a:t>ba</a:t>
            </a:r>
            <a:r>
              <a:rPr lang="en-US" altLang="zh-CN" b="0" dirty="0">
                <a:latin typeface="Gill Sans MT" panose="020B0502020104020203" pitchFamily="34" charset="0"/>
              </a:rPr>
              <a:t> etc.</a:t>
            </a:r>
            <a:endParaRPr lang="zh-CN" altLang="en-US" b="0" dirty="0">
              <a:latin typeface="Gill Sans MT" panose="020B0502020104020203" pitchFamily="34" charset="0"/>
            </a:endParaRPr>
          </a:p>
        </p:txBody>
      </p:sp>
    </p:spTree>
    <p:extLst>
      <p:ext uri="{BB962C8B-B14F-4D97-AF65-F5344CB8AC3E}">
        <p14:creationId xmlns:p14="http://schemas.microsoft.com/office/powerpoint/2010/main" val="207789814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CA0476-59A4-4CD1-ADE7-BED75F55FA2B}"/>
              </a:ext>
            </a:extLst>
          </p:cNvPr>
          <p:cNvSpPr>
            <a:spLocks noGrp="1"/>
          </p:cNvSpPr>
          <p:nvPr>
            <p:ph type="title"/>
          </p:nvPr>
        </p:nvSpPr>
        <p:spPr/>
        <p:txBody>
          <a:bodyPr/>
          <a:lstStyle/>
          <a:p>
            <a:r>
              <a:rPr lang="en-US" altLang="zh-CN" dirty="0"/>
              <a:t>Exercise 2</a:t>
            </a:r>
            <a:endParaRPr lang="zh-CN" altLang="en-US" dirty="0"/>
          </a:p>
        </p:txBody>
      </p:sp>
      <p:sp>
        <p:nvSpPr>
          <p:cNvPr id="3" name="内容占位符 2">
            <a:extLst>
              <a:ext uri="{FF2B5EF4-FFF2-40B4-BE49-F238E27FC236}">
                <a16:creationId xmlns:a16="http://schemas.microsoft.com/office/drawing/2014/main" id="{8950FEB4-4DE2-4B37-A31E-C8DB69ACA7CE}"/>
              </a:ext>
            </a:extLst>
          </p:cNvPr>
          <p:cNvSpPr>
            <a:spLocks noGrp="1"/>
          </p:cNvSpPr>
          <p:nvPr>
            <p:ph idx="1"/>
          </p:nvPr>
        </p:nvSpPr>
        <p:spPr/>
        <p:txBody>
          <a:bodyPr/>
          <a:lstStyle/>
          <a:p>
            <a:pPr marL="0" indent="0">
              <a:buNone/>
            </a:pPr>
            <a:r>
              <a:rPr lang="en-US" altLang="zh-CN" dirty="0"/>
              <a:t>A system accepts the year of birth (an integer number). The valid years are between 1900 and 2020. Which of the following is the minimal set of test values that achieves both boundary value and equivalence partition coverage?</a:t>
            </a:r>
            <a:endParaRPr lang="zh-CN" altLang="zh-CN" dirty="0"/>
          </a:p>
          <a:p>
            <a:pPr marL="0" indent="0">
              <a:buNone/>
            </a:pPr>
            <a:r>
              <a:rPr lang="en-US" altLang="zh-CN" dirty="0"/>
              <a:t>A. 2003</a:t>
            </a:r>
            <a:endParaRPr lang="zh-CN" altLang="zh-CN" dirty="0"/>
          </a:p>
          <a:p>
            <a:pPr marL="0" indent="0">
              <a:buNone/>
            </a:pPr>
            <a:r>
              <a:rPr lang="en-US" altLang="zh-CN" dirty="0"/>
              <a:t>B. 1900, 2020</a:t>
            </a:r>
            <a:endParaRPr lang="zh-CN" altLang="zh-CN" dirty="0"/>
          </a:p>
          <a:p>
            <a:pPr marL="0" indent="0">
              <a:buNone/>
            </a:pPr>
            <a:r>
              <a:rPr lang="en-US" altLang="zh-CN" dirty="0"/>
              <a:t>C. 1900, 2003, 2020</a:t>
            </a:r>
            <a:endParaRPr lang="zh-CN" altLang="zh-CN" dirty="0"/>
          </a:p>
          <a:p>
            <a:pPr marL="0" indent="0">
              <a:buNone/>
            </a:pPr>
            <a:r>
              <a:rPr lang="en-US" altLang="zh-CN" dirty="0"/>
              <a:t>D. 1899, 1900, 2020, 2021</a:t>
            </a:r>
            <a:endParaRPr lang="zh-CN" altLang="zh-CN" dirty="0"/>
          </a:p>
          <a:p>
            <a:pPr marL="0" indent="0">
              <a:buNone/>
            </a:pPr>
            <a:r>
              <a:rPr lang="en-US" altLang="zh-CN" dirty="0"/>
              <a:t>E. 1899, 1900, 2003, 2020, 2021</a:t>
            </a:r>
            <a:endParaRPr lang="zh-CN" altLang="zh-CN" dirty="0"/>
          </a:p>
          <a:p>
            <a:endParaRPr lang="zh-CN" altLang="en-US" sz="2000" kern="1200" dirty="0">
              <a:solidFill>
                <a:srgbClr val="FAFD00"/>
              </a:solidFill>
            </a:endParaRPr>
          </a:p>
        </p:txBody>
      </p:sp>
      <p:sp>
        <p:nvSpPr>
          <p:cNvPr id="4" name="矩形 3">
            <a:extLst>
              <a:ext uri="{FF2B5EF4-FFF2-40B4-BE49-F238E27FC236}">
                <a16:creationId xmlns:a16="http://schemas.microsoft.com/office/drawing/2014/main" id="{52FC01EB-AA68-4CEE-B94E-969583B8DC1B}"/>
              </a:ext>
            </a:extLst>
          </p:cNvPr>
          <p:cNvSpPr/>
          <p:nvPr/>
        </p:nvSpPr>
        <p:spPr>
          <a:xfrm>
            <a:off x="1614793" y="5129945"/>
            <a:ext cx="8800288" cy="1938992"/>
          </a:xfrm>
          <a:prstGeom prst="rect">
            <a:avLst/>
          </a:prstGeom>
        </p:spPr>
        <p:txBody>
          <a:bodyPr wrap="square">
            <a:spAutoFit/>
          </a:bodyPr>
          <a:lstStyle/>
          <a:p>
            <a:pPr marL="342900" indent="-342900">
              <a:buFont typeface="Arial" panose="020B0604020202020204" pitchFamily="34" charset="0"/>
              <a:buChar char="•"/>
            </a:pPr>
            <a:r>
              <a:rPr lang="en-US" altLang="zh-CN" b="0" dirty="0">
                <a:latin typeface="Gill Sans MT" panose="020B0502020104020203" pitchFamily="34" charset="0"/>
              </a:rPr>
              <a:t>Equivalence classes: {..., 1898, 1899}, {1900, 1901, ..., 2019, 2020},{2021, 2022, . . .}. </a:t>
            </a:r>
          </a:p>
          <a:p>
            <a:pPr marL="342900" indent="-342900">
              <a:buFont typeface="Arial" panose="020B0604020202020204" pitchFamily="34" charset="0"/>
              <a:buChar char="•"/>
            </a:pPr>
            <a:r>
              <a:rPr lang="en-US" altLang="zh-CN" b="0" dirty="0">
                <a:latin typeface="Gill Sans MT" panose="020B0502020104020203" pitchFamily="34" charset="0"/>
              </a:rPr>
              <a:t>Boundary values: 1899, 1900, 2020, 2021. </a:t>
            </a:r>
          </a:p>
          <a:p>
            <a:pPr marL="342900" indent="-342900">
              <a:buFont typeface="Arial" panose="020B0604020202020204" pitchFamily="34" charset="0"/>
              <a:buChar char="•"/>
            </a:pPr>
            <a:r>
              <a:rPr lang="en-US" altLang="zh-CN" b="0" dirty="0">
                <a:latin typeface="Gill Sans MT" panose="020B0502020104020203" pitchFamily="34" charset="0"/>
              </a:rPr>
              <a:t>Notice that a boundary value belonging to a class C is also the value from this class, so it covers the partition C. </a:t>
            </a:r>
          </a:p>
          <a:p>
            <a:pPr marL="342900" indent="-342900">
              <a:buFont typeface="Arial" panose="020B0604020202020204" pitchFamily="34" charset="0"/>
              <a:buChar char="•"/>
            </a:pPr>
            <a:r>
              <a:rPr lang="en-US" altLang="zh-CN" b="0" dirty="0">
                <a:latin typeface="Gill Sans MT" panose="020B0502020104020203" pitchFamily="34" charset="0"/>
              </a:rPr>
              <a:t>Hence, four tests are enough and the correct answer is D.</a:t>
            </a:r>
            <a:endParaRPr lang="zh-CN" altLang="en-US" b="0" dirty="0">
              <a:latin typeface="Gill Sans MT" panose="020B0502020104020203" pitchFamily="34" charset="0"/>
            </a:endParaRPr>
          </a:p>
        </p:txBody>
      </p:sp>
    </p:spTree>
    <p:extLst>
      <p:ext uri="{BB962C8B-B14F-4D97-AF65-F5344CB8AC3E}">
        <p14:creationId xmlns:p14="http://schemas.microsoft.com/office/powerpoint/2010/main" val="149299161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4" end="4"/>
                                            </p:txEl>
                                          </p:spTgt>
                                        </p:tgtEl>
                                        <p:attrNameLst>
                                          <p:attrName>style.color</p:attrName>
                                        </p:attrNameLst>
                                      </p:cBhvr>
                                      <p:to>
                                        <a:srgbClr val="FF0000"/>
                                      </p:to>
                                    </p:animClr>
                                    <p:animClr clrSpc="rgb" dir="cw">
                                      <p:cBhvr>
                                        <p:cTn id="7" dur="500" fill="hold"/>
                                        <p:tgtEl>
                                          <p:spTgt spid="3">
                                            <p:txEl>
                                              <p:pRg st="4" end="4"/>
                                            </p:txEl>
                                          </p:spTgt>
                                        </p:tgtEl>
                                        <p:attrNameLst>
                                          <p:attrName>fillcolor</p:attrName>
                                        </p:attrNameLst>
                                      </p:cBhvr>
                                      <p:to>
                                        <a:srgbClr val="FF0000"/>
                                      </p:to>
                                    </p:animClr>
                                    <p:set>
                                      <p:cBhvr>
                                        <p:cTn id="8" dur="500" fill="hold"/>
                                        <p:tgtEl>
                                          <p:spTgt spid="3">
                                            <p:txEl>
                                              <p:pRg st="4" end="4"/>
                                            </p:txEl>
                                          </p:spTgt>
                                        </p:tgtEl>
                                        <p:attrNameLst>
                                          <p:attrName>fill.type</p:attrName>
                                        </p:attrNameLst>
                                      </p:cBhvr>
                                      <p:to>
                                        <p:strVal val="solid"/>
                                      </p:to>
                                    </p:set>
                                    <p:set>
                                      <p:cBhvr>
                                        <p:cTn id="9" dur="500" fill="hold"/>
                                        <p:tgtEl>
                                          <p:spTgt spid="3">
                                            <p:txEl>
                                              <p:pRg st="4" end="4"/>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84B72D-01DF-4FCB-B1B3-7A144A5319F6}"/>
              </a:ext>
            </a:extLst>
          </p:cNvPr>
          <p:cNvSpPr>
            <a:spLocks noGrp="1"/>
          </p:cNvSpPr>
          <p:nvPr>
            <p:ph type="title"/>
          </p:nvPr>
        </p:nvSpPr>
        <p:spPr/>
        <p:txBody>
          <a:bodyPr/>
          <a:lstStyle/>
          <a:p>
            <a:r>
              <a:rPr lang="en-US" altLang="zh-CN" dirty="0"/>
              <a:t>Exercise 3</a:t>
            </a:r>
            <a:endParaRPr lang="zh-CN" altLang="en-US" dirty="0"/>
          </a:p>
        </p:txBody>
      </p:sp>
      <p:sp>
        <p:nvSpPr>
          <p:cNvPr id="3" name="内容占位符 2">
            <a:extLst>
              <a:ext uri="{FF2B5EF4-FFF2-40B4-BE49-F238E27FC236}">
                <a16:creationId xmlns:a16="http://schemas.microsoft.com/office/drawing/2014/main" id="{87F9D3BF-8E62-4D9E-ABC7-4F72C5C43EAE}"/>
              </a:ext>
            </a:extLst>
          </p:cNvPr>
          <p:cNvSpPr>
            <a:spLocks noGrp="1"/>
          </p:cNvSpPr>
          <p:nvPr>
            <p:ph idx="1"/>
          </p:nvPr>
        </p:nvSpPr>
        <p:spPr/>
        <p:txBody>
          <a:bodyPr/>
          <a:lstStyle/>
          <a:p>
            <a:pPr marL="0" indent="0">
              <a:buNone/>
            </a:pPr>
            <a:r>
              <a:rPr lang="zh-CN" altLang="en-US" dirty="0"/>
              <a:t>当电梯中人员的总重量超过 </a:t>
            </a:r>
            <a:r>
              <a:rPr lang="en-US" altLang="zh-CN" dirty="0"/>
              <a:t>280 kg </a:t>
            </a:r>
            <a:r>
              <a:rPr lang="zh-CN" altLang="en-US" dirty="0"/>
              <a:t>时，重量传感器可检测电梯过载情况。你希望验证传感器是否正确实现了该要求。每个测试模拟一定负载（以千克为量）。如果采用边界值划分（</a:t>
            </a:r>
            <a:r>
              <a:rPr lang="en-US" altLang="zh-CN" dirty="0"/>
              <a:t>BVA</a:t>
            </a:r>
            <a:r>
              <a:rPr lang="zh-CN" altLang="en-US" dirty="0"/>
              <a:t>）方法，试分别给出采用 </a:t>
            </a:r>
            <a:r>
              <a:rPr lang="en-US" altLang="zh-CN" dirty="0"/>
              <a:t>2-value BVA </a:t>
            </a:r>
            <a:r>
              <a:rPr lang="zh-CN" altLang="en-US" dirty="0"/>
              <a:t>和 </a:t>
            </a:r>
            <a:r>
              <a:rPr lang="en-US" altLang="zh-CN" dirty="0"/>
              <a:t>3-value BVA </a:t>
            </a:r>
            <a:r>
              <a:rPr lang="zh-CN" altLang="en-US" dirty="0"/>
              <a:t>两种不同方式达到 </a:t>
            </a:r>
            <a:r>
              <a:rPr lang="en-US" altLang="zh-CN" dirty="0"/>
              <a:t>100%BVA </a:t>
            </a:r>
            <a:r>
              <a:rPr lang="zh-CN" altLang="en-US" dirty="0"/>
              <a:t>覆盖的最小测试用例集合。</a:t>
            </a:r>
            <a:endParaRPr lang="en-US" altLang="zh-CN" dirty="0"/>
          </a:p>
          <a:p>
            <a:endParaRPr lang="en-US" altLang="zh-CN" dirty="0"/>
          </a:p>
          <a:p>
            <a:r>
              <a:rPr lang="zh-CN" altLang="en-US" kern="1200" dirty="0">
                <a:solidFill>
                  <a:srgbClr val="FAFD00"/>
                </a:solidFill>
                <a:latin typeface="微软雅黑" panose="020B0503020204020204" pitchFamily="34" charset="-122"/>
                <a:ea typeface="微软雅黑" panose="020B0503020204020204" pitchFamily="34" charset="-122"/>
              </a:rPr>
              <a:t>边界条件为 </a:t>
            </a:r>
            <a:r>
              <a:rPr lang="en-US" altLang="zh-CN" kern="1200" dirty="0">
                <a:solidFill>
                  <a:srgbClr val="FAFD00"/>
                </a:solidFill>
                <a:latin typeface="微软雅黑" panose="020B0503020204020204" pitchFamily="34" charset="-122"/>
                <a:ea typeface="微软雅黑" panose="020B0503020204020204" pitchFamily="34" charset="-122"/>
              </a:rPr>
              <a:t>w &gt; 280</a:t>
            </a:r>
            <a:r>
              <a:rPr lang="zh-CN" altLang="en-US" kern="1200" dirty="0">
                <a:solidFill>
                  <a:srgbClr val="FAFD00"/>
                </a:solidFill>
                <a:latin typeface="微软雅黑" panose="020B0503020204020204" pitchFamily="34" charset="-122"/>
                <a:ea typeface="微软雅黑" panose="020B0503020204020204" pitchFamily="34" charset="-122"/>
              </a:rPr>
              <a:t>，</a:t>
            </a:r>
            <a:endParaRPr lang="en-US" altLang="zh-CN" kern="1200" dirty="0">
              <a:solidFill>
                <a:srgbClr val="FAFD00"/>
              </a:solidFill>
              <a:latin typeface="微软雅黑" panose="020B0503020204020204" pitchFamily="34" charset="-122"/>
              <a:ea typeface="微软雅黑" panose="020B0503020204020204" pitchFamily="34" charset="-122"/>
            </a:endParaRPr>
          </a:p>
          <a:p>
            <a:r>
              <a:rPr lang="zh-CN" altLang="en-US" kern="1200" dirty="0">
                <a:solidFill>
                  <a:srgbClr val="FAFD00"/>
                </a:solidFill>
                <a:latin typeface="微软雅黑" panose="020B0503020204020204" pitchFamily="34" charset="-122"/>
                <a:ea typeface="微软雅黑" panose="020B0503020204020204" pitchFamily="34" charset="-122"/>
              </a:rPr>
              <a:t>等价类：</a:t>
            </a:r>
            <a:r>
              <a:rPr lang="en-US" altLang="zh-CN" kern="1200" dirty="0">
                <a:solidFill>
                  <a:srgbClr val="FAFD00"/>
                </a:solidFill>
                <a:latin typeface="微软雅黑" panose="020B0503020204020204" pitchFamily="34" charset="-122"/>
                <a:ea typeface="微软雅黑" panose="020B0503020204020204" pitchFamily="34" charset="-122"/>
              </a:rPr>
              <a:t>{. . ., 279, 280}</a:t>
            </a:r>
            <a:r>
              <a:rPr lang="zh-CN" altLang="en-US" kern="1200" dirty="0">
                <a:solidFill>
                  <a:srgbClr val="FAFD00"/>
                </a:solidFill>
                <a:latin typeface="微软雅黑" panose="020B0503020204020204" pitchFamily="34" charset="-122"/>
                <a:ea typeface="微软雅黑" panose="020B0503020204020204" pitchFamily="34" charset="-122"/>
              </a:rPr>
              <a:t>和</a:t>
            </a:r>
            <a:r>
              <a:rPr lang="en-US" altLang="zh-CN" kern="1200" dirty="0">
                <a:solidFill>
                  <a:srgbClr val="FAFD00"/>
                </a:solidFill>
                <a:latin typeface="微软雅黑" panose="020B0503020204020204" pitchFamily="34" charset="-122"/>
                <a:ea typeface="微软雅黑" panose="020B0503020204020204" pitchFamily="34" charset="-122"/>
              </a:rPr>
              <a:t>{281, 282, . . .}</a:t>
            </a:r>
          </a:p>
          <a:p>
            <a:r>
              <a:rPr lang="zh-CN" altLang="en-US" kern="1200" dirty="0">
                <a:solidFill>
                  <a:srgbClr val="FAFD00"/>
                </a:solidFill>
                <a:latin typeface="微软雅黑" panose="020B0503020204020204" pitchFamily="34" charset="-122"/>
                <a:ea typeface="微软雅黑" panose="020B0503020204020204" pitchFamily="34" charset="-122"/>
              </a:rPr>
              <a:t>采用 </a:t>
            </a:r>
            <a:r>
              <a:rPr lang="en-US" altLang="zh-CN" kern="1200" dirty="0">
                <a:solidFill>
                  <a:srgbClr val="FAFD00"/>
                </a:solidFill>
                <a:latin typeface="微软雅黑" panose="020B0503020204020204" pitchFamily="34" charset="-122"/>
                <a:ea typeface="微软雅黑" panose="020B0503020204020204" pitchFamily="34" charset="-122"/>
              </a:rPr>
              <a:t>2-value </a:t>
            </a:r>
            <a:r>
              <a:rPr lang="zh-CN" altLang="en-US" kern="1200" dirty="0">
                <a:solidFill>
                  <a:srgbClr val="FAFD00"/>
                </a:solidFill>
                <a:latin typeface="微软雅黑" panose="020B0503020204020204" pitchFamily="34" charset="-122"/>
                <a:ea typeface="微软雅黑" panose="020B0503020204020204" pitchFamily="34" charset="-122"/>
              </a:rPr>
              <a:t>方式：达到 </a:t>
            </a:r>
            <a:r>
              <a:rPr lang="en-US" altLang="zh-CN" kern="1200" dirty="0">
                <a:solidFill>
                  <a:srgbClr val="FAFD00"/>
                </a:solidFill>
                <a:latin typeface="微软雅黑" panose="020B0503020204020204" pitchFamily="34" charset="-122"/>
                <a:ea typeface="微软雅黑" panose="020B0503020204020204" pitchFamily="34" charset="-122"/>
              </a:rPr>
              <a:t>100%BVA </a:t>
            </a:r>
            <a:r>
              <a:rPr lang="zh-CN" altLang="en-US" kern="1200" dirty="0">
                <a:solidFill>
                  <a:srgbClr val="FAFD00"/>
                </a:solidFill>
                <a:latin typeface="微软雅黑" panose="020B0503020204020204" pitchFamily="34" charset="-122"/>
                <a:ea typeface="微软雅黑" panose="020B0503020204020204" pitchFamily="34" charset="-122"/>
              </a:rPr>
              <a:t>覆盖的最小测试用例集合：</a:t>
            </a:r>
            <a:r>
              <a:rPr lang="en-US" altLang="zh-CN" kern="1200" dirty="0">
                <a:solidFill>
                  <a:srgbClr val="FAFD00"/>
                </a:solidFill>
                <a:latin typeface="微软雅黑" panose="020B0503020204020204" pitchFamily="34" charset="-122"/>
                <a:ea typeface="微软雅黑" panose="020B0503020204020204" pitchFamily="34" charset="-122"/>
              </a:rPr>
              <a:t>{280</a:t>
            </a:r>
            <a:r>
              <a:rPr lang="zh-CN" altLang="en-US" kern="1200" dirty="0">
                <a:solidFill>
                  <a:srgbClr val="FAFD00"/>
                </a:solidFill>
                <a:latin typeface="微软雅黑" panose="020B0503020204020204" pitchFamily="34" charset="-122"/>
                <a:ea typeface="微软雅黑" panose="020B0503020204020204" pitchFamily="34" charset="-122"/>
              </a:rPr>
              <a:t>，</a:t>
            </a:r>
            <a:r>
              <a:rPr lang="en-US" altLang="zh-CN" kern="1200" dirty="0">
                <a:solidFill>
                  <a:srgbClr val="FAFD00"/>
                </a:solidFill>
                <a:latin typeface="微软雅黑" panose="020B0503020204020204" pitchFamily="34" charset="-122"/>
                <a:ea typeface="微软雅黑" panose="020B0503020204020204" pitchFamily="34" charset="-122"/>
              </a:rPr>
              <a:t>281}</a:t>
            </a:r>
          </a:p>
          <a:p>
            <a:r>
              <a:rPr lang="zh-CN" altLang="en-US" kern="1200" dirty="0">
                <a:solidFill>
                  <a:srgbClr val="FAFD00"/>
                </a:solidFill>
                <a:latin typeface="微软雅黑" panose="020B0503020204020204" pitchFamily="34" charset="-122"/>
                <a:ea typeface="微软雅黑" panose="020B0503020204020204" pitchFamily="34" charset="-122"/>
              </a:rPr>
              <a:t>采用 </a:t>
            </a:r>
            <a:r>
              <a:rPr lang="en-US" altLang="zh-CN" kern="1200" dirty="0">
                <a:solidFill>
                  <a:srgbClr val="FAFD00"/>
                </a:solidFill>
                <a:latin typeface="微软雅黑" panose="020B0503020204020204" pitchFamily="34" charset="-122"/>
                <a:ea typeface="微软雅黑" panose="020B0503020204020204" pitchFamily="34" charset="-122"/>
              </a:rPr>
              <a:t>3-value </a:t>
            </a:r>
            <a:r>
              <a:rPr lang="zh-CN" altLang="en-US" kern="1200" dirty="0">
                <a:solidFill>
                  <a:srgbClr val="FAFD00"/>
                </a:solidFill>
                <a:latin typeface="微软雅黑" panose="020B0503020204020204" pitchFamily="34" charset="-122"/>
                <a:ea typeface="微软雅黑" panose="020B0503020204020204" pitchFamily="34" charset="-122"/>
              </a:rPr>
              <a:t>方式：达到 </a:t>
            </a:r>
            <a:r>
              <a:rPr lang="en-US" altLang="zh-CN" kern="1200" dirty="0">
                <a:solidFill>
                  <a:srgbClr val="FAFD00"/>
                </a:solidFill>
                <a:latin typeface="微软雅黑" panose="020B0503020204020204" pitchFamily="34" charset="-122"/>
                <a:ea typeface="微软雅黑" panose="020B0503020204020204" pitchFamily="34" charset="-122"/>
              </a:rPr>
              <a:t>100%BVA </a:t>
            </a:r>
            <a:r>
              <a:rPr lang="zh-CN" altLang="en-US" kern="1200" dirty="0">
                <a:solidFill>
                  <a:srgbClr val="FAFD00"/>
                </a:solidFill>
                <a:latin typeface="微软雅黑" panose="020B0503020204020204" pitchFamily="34" charset="-122"/>
                <a:ea typeface="微软雅黑" panose="020B0503020204020204" pitchFamily="34" charset="-122"/>
              </a:rPr>
              <a:t>覆盖的最小测试用例集合：</a:t>
            </a:r>
            <a:r>
              <a:rPr lang="en-US" altLang="zh-CN" kern="1200" dirty="0">
                <a:solidFill>
                  <a:srgbClr val="FAFD00"/>
                </a:solidFill>
                <a:latin typeface="微软雅黑" panose="020B0503020204020204" pitchFamily="34" charset="-122"/>
                <a:ea typeface="微软雅黑" panose="020B0503020204020204" pitchFamily="34" charset="-122"/>
              </a:rPr>
              <a:t>{279</a:t>
            </a:r>
            <a:r>
              <a:rPr lang="zh-CN" altLang="en-US" kern="1200" dirty="0">
                <a:solidFill>
                  <a:srgbClr val="FAFD00"/>
                </a:solidFill>
                <a:latin typeface="微软雅黑" panose="020B0503020204020204" pitchFamily="34" charset="-122"/>
                <a:ea typeface="微软雅黑" panose="020B0503020204020204" pitchFamily="34" charset="-122"/>
              </a:rPr>
              <a:t>，</a:t>
            </a:r>
            <a:r>
              <a:rPr lang="en-US" altLang="zh-CN" kern="1200" dirty="0">
                <a:solidFill>
                  <a:srgbClr val="FAFD00"/>
                </a:solidFill>
                <a:latin typeface="微软雅黑" panose="020B0503020204020204" pitchFamily="34" charset="-122"/>
                <a:ea typeface="微软雅黑" panose="020B0503020204020204" pitchFamily="34" charset="-122"/>
              </a:rPr>
              <a:t>280</a:t>
            </a:r>
            <a:r>
              <a:rPr lang="zh-CN" altLang="en-US" kern="1200" dirty="0">
                <a:solidFill>
                  <a:srgbClr val="FAFD00"/>
                </a:solidFill>
                <a:latin typeface="微软雅黑" panose="020B0503020204020204" pitchFamily="34" charset="-122"/>
                <a:ea typeface="微软雅黑" panose="020B0503020204020204" pitchFamily="34" charset="-122"/>
              </a:rPr>
              <a:t>，</a:t>
            </a:r>
            <a:r>
              <a:rPr lang="en-US" altLang="zh-CN" kern="1200" dirty="0">
                <a:solidFill>
                  <a:srgbClr val="FAFD00"/>
                </a:solidFill>
                <a:latin typeface="微软雅黑" panose="020B0503020204020204" pitchFamily="34" charset="-122"/>
                <a:ea typeface="微软雅黑" panose="020B0503020204020204" pitchFamily="34" charset="-122"/>
              </a:rPr>
              <a:t>281</a:t>
            </a:r>
            <a:r>
              <a:rPr lang="zh-CN" altLang="en-US" kern="1200" dirty="0">
                <a:solidFill>
                  <a:srgbClr val="FAFD00"/>
                </a:solidFill>
                <a:latin typeface="微软雅黑" panose="020B0503020204020204" pitchFamily="34" charset="-122"/>
                <a:ea typeface="微软雅黑" panose="020B0503020204020204" pitchFamily="34" charset="-122"/>
              </a:rPr>
              <a:t>，</a:t>
            </a:r>
            <a:r>
              <a:rPr lang="en-US" altLang="zh-CN" kern="1200" dirty="0">
                <a:solidFill>
                  <a:srgbClr val="FAFD00"/>
                </a:solidFill>
                <a:latin typeface="微软雅黑" panose="020B0503020204020204" pitchFamily="34" charset="-122"/>
                <a:ea typeface="微软雅黑" panose="020B0503020204020204" pitchFamily="34" charset="-122"/>
              </a:rPr>
              <a:t>282}</a:t>
            </a:r>
            <a:endParaRPr lang="zh-CN" altLang="en-US" kern="1200" dirty="0">
              <a:solidFill>
                <a:srgbClr val="FAFD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3291973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74AA188-7D1E-4347-A856-DBE5D1825162}"/>
              </a:ext>
            </a:extLst>
          </p:cNvPr>
          <p:cNvSpPr>
            <a:spLocks noGrp="1"/>
          </p:cNvSpPr>
          <p:nvPr>
            <p:ph type="title"/>
          </p:nvPr>
        </p:nvSpPr>
        <p:spPr/>
        <p:txBody>
          <a:bodyPr/>
          <a:lstStyle/>
          <a:p>
            <a:r>
              <a:rPr lang="en-US" altLang="zh-CN" dirty="0"/>
              <a:t>Exercise 4</a:t>
            </a:r>
            <a:endParaRPr lang="zh-CN" altLang="en-US" dirty="0"/>
          </a:p>
        </p:txBody>
      </p:sp>
      <p:sp>
        <p:nvSpPr>
          <p:cNvPr id="2" name="内容占位符 1">
            <a:extLst>
              <a:ext uri="{FF2B5EF4-FFF2-40B4-BE49-F238E27FC236}">
                <a16:creationId xmlns:a16="http://schemas.microsoft.com/office/drawing/2014/main" id="{F5981A59-40A5-4D41-AAA5-81C768FB0C55}"/>
              </a:ext>
            </a:extLst>
          </p:cNvPr>
          <p:cNvSpPr>
            <a:spLocks noGrp="1"/>
          </p:cNvSpPr>
          <p:nvPr>
            <p:ph idx="1"/>
          </p:nvPr>
        </p:nvSpPr>
        <p:spPr/>
        <p:txBody>
          <a:bodyPr>
            <a:normAutofit fontScale="92500" lnSpcReduction="10000"/>
          </a:bodyPr>
          <a:lstStyle/>
          <a:p>
            <a:pPr marL="0" indent="0">
              <a:buNone/>
            </a:pPr>
            <a:r>
              <a:rPr lang="en-US" altLang="zh-CN" dirty="0"/>
              <a:t>A shopping discount system takes as an input the total price T (a positive integer with precision of 1 cent), rounds it to the nearest integer value (in dollars), and basing on this value calculates a discount using the rules presented in the following table.</a:t>
            </a:r>
            <a:endParaRPr lang="zh-CN" altLang="zh-CN" dirty="0"/>
          </a:p>
          <a:p>
            <a:endParaRPr lang="en-US" altLang="zh-CN" dirty="0"/>
          </a:p>
          <a:p>
            <a:endParaRPr lang="en-US" altLang="zh-CN" dirty="0"/>
          </a:p>
          <a:p>
            <a:endParaRPr lang="en-US" altLang="zh-CN" dirty="0"/>
          </a:p>
          <a:p>
            <a:endParaRPr lang="en-US" altLang="zh-CN" dirty="0"/>
          </a:p>
          <a:p>
            <a:pPr marL="0" indent="0">
              <a:buNone/>
            </a:pPr>
            <a:r>
              <a:rPr lang="en-US" altLang="zh-CN" dirty="0"/>
              <a:t>You want to test if the system correctly calculates the discount for a given total price T. Which of the following is a set of boundary values for one of the equivalence classes of a variable T? Assume that you follow 2-point boundary value analysis.</a:t>
            </a:r>
            <a:endParaRPr lang="zh-CN" altLang="zh-CN" dirty="0"/>
          </a:p>
          <a:p>
            <a:pPr marL="385763" indent="-385763">
              <a:buFont typeface="+mj-lt"/>
              <a:buAutoNum type="alphaUcPeriod"/>
            </a:pPr>
            <a:r>
              <a:rPr lang="en-US" altLang="zh-CN" dirty="0"/>
              <a:t>$0.01, $99.49</a:t>
            </a:r>
            <a:endParaRPr lang="zh-CN" altLang="zh-CN" dirty="0"/>
          </a:p>
          <a:p>
            <a:pPr marL="385763" indent="-385763">
              <a:buFont typeface="+mj-lt"/>
              <a:buAutoNum type="alphaUcPeriod"/>
            </a:pPr>
            <a:r>
              <a:rPr lang="en-US" altLang="zh-CN" dirty="0"/>
              <a:t>$0, $100</a:t>
            </a:r>
            <a:endParaRPr lang="zh-CN" altLang="zh-CN" dirty="0"/>
          </a:p>
          <a:p>
            <a:pPr marL="385763" indent="-385763">
              <a:buFont typeface="+mj-lt"/>
              <a:buAutoNum type="alphaUcPeriod"/>
            </a:pPr>
            <a:r>
              <a:rPr lang="en-US" altLang="zh-CN" dirty="0"/>
              <a:t>$100, $299</a:t>
            </a:r>
            <a:endParaRPr lang="zh-CN" altLang="zh-CN" dirty="0"/>
          </a:p>
          <a:p>
            <a:pPr marL="385763" indent="-385763">
              <a:buFont typeface="+mj-lt"/>
              <a:buAutoNum type="alphaUcPeriod"/>
            </a:pPr>
            <a:r>
              <a:rPr lang="en-US" altLang="zh-CN" dirty="0"/>
              <a:t>$299.49, $299.50</a:t>
            </a:r>
            <a:endParaRPr lang="zh-CN" altLang="zh-CN" dirty="0"/>
          </a:p>
        </p:txBody>
      </p:sp>
      <p:pic>
        <p:nvPicPr>
          <p:cNvPr id="3" name="图片 2" descr="Screenshot from 2021-03-17 19-41-24">
            <a:extLst>
              <a:ext uri="{FF2B5EF4-FFF2-40B4-BE49-F238E27FC236}">
                <a16:creationId xmlns:a16="http://schemas.microsoft.com/office/drawing/2014/main" id="{D3658A89-863D-42DC-A8B0-7F12789C1803}"/>
              </a:ext>
            </a:extLst>
          </p:cNvPr>
          <p:cNvPicPr/>
          <p:nvPr/>
        </p:nvPicPr>
        <p:blipFill>
          <a:blip r:embed="rId3"/>
          <a:stretch>
            <a:fillRect/>
          </a:stretch>
        </p:blipFill>
        <p:spPr>
          <a:xfrm>
            <a:off x="3932465" y="2145778"/>
            <a:ext cx="3954780" cy="1077278"/>
          </a:xfrm>
          <a:prstGeom prst="rect">
            <a:avLst/>
          </a:prstGeom>
        </p:spPr>
      </p:pic>
      <p:sp>
        <p:nvSpPr>
          <p:cNvPr id="6" name="矩形 5">
            <a:extLst>
              <a:ext uri="{FF2B5EF4-FFF2-40B4-BE49-F238E27FC236}">
                <a16:creationId xmlns:a16="http://schemas.microsoft.com/office/drawing/2014/main" id="{6A003B43-FD06-4062-8917-63473E2530D5}"/>
              </a:ext>
            </a:extLst>
          </p:cNvPr>
          <p:cNvSpPr/>
          <p:nvPr/>
        </p:nvSpPr>
        <p:spPr>
          <a:xfrm>
            <a:off x="6258949" y="5382000"/>
            <a:ext cx="2081275" cy="400110"/>
          </a:xfrm>
          <a:prstGeom prst="rect">
            <a:avLst/>
          </a:prstGeom>
        </p:spPr>
        <p:txBody>
          <a:bodyPr wrap="none">
            <a:spAutoFit/>
          </a:bodyPr>
          <a:lstStyle/>
          <a:p>
            <a:r>
              <a:rPr lang="en-US" altLang="zh-CN" dirty="0">
                <a:latin typeface="Gill Sans MT" panose="020B0502020104020203" pitchFamily="34" charset="0"/>
              </a:rPr>
              <a:t>Correct answer: A</a:t>
            </a:r>
            <a:endParaRPr lang="zh-CN" altLang="en-US" dirty="0">
              <a:latin typeface="Gill Sans MT" panose="020B0502020104020203" pitchFamily="34" charset="0"/>
            </a:endParaRPr>
          </a:p>
        </p:txBody>
      </p:sp>
    </p:spTree>
    <p:extLst>
      <p:ext uri="{BB962C8B-B14F-4D97-AF65-F5344CB8AC3E}">
        <p14:creationId xmlns:p14="http://schemas.microsoft.com/office/powerpoint/2010/main" val="62851640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2">
                                            <p:txEl>
                                              <p:pRg st="6" end="6"/>
                                            </p:txEl>
                                          </p:spTgt>
                                        </p:tgtEl>
                                        <p:attrNameLst>
                                          <p:attrName>style.color</p:attrName>
                                        </p:attrNameLst>
                                      </p:cBhvr>
                                      <p:to>
                                        <a:srgbClr val="FF0000"/>
                                      </p:to>
                                    </p:animClr>
                                    <p:animClr clrSpc="rgb" dir="cw">
                                      <p:cBhvr>
                                        <p:cTn id="7" dur="500" fill="hold"/>
                                        <p:tgtEl>
                                          <p:spTgt spid="2">
                                            <p:txEl>
                                              <p:pRg st="6" end="6"/>
                                            </p:txEl>
                                          </p:spTgt>
                                        </p:tgtEl>
                                        <p:attrNameLst>
                                          <p:attrName>fillcolor</p:attrName>
                                        </p:attrNameLst>
                                      </p:cBhvr>
                                      <p:to>
                                        <a:srgbClr val="FF0000"/>
                                      </p:to>
                                    </p:animClr>
                                    <p:set>
                                      <p:cBhvr>
                                        <p:cTn id="8" dur="500" fill="hold"/>
                                        <p:tgtEl>
                                          <p:spTgt spid="2">
                                            <p:txEl>
                                              <p:pRg st="6" end="6"/>
                                            </p:txEl>
                                          </p:spTgt>
                                        </p:tgtEl>
                                        <p:attrNameLst>
                                          <p:attrName>fill.type</p:attrName>
                                        </p:attrNameLst>
                                      </p:cBhvr>
                                      <p:to>
                                        <p:strVal val="solid"/>
                                      </p:to>
                                    </p:set>
                                    <p:set>
                                      <p:cBhvr>
                                        <p:cTn id="9" dur="500" fill="hold"/>
                                        <p:tgtEl>
                                          <p:spTgt spid="2">
                                            <p:txEl>
                                              <p:pRg st="6" end="6"/>
                                            </p:txEl>
                                          </p:spTgt>
                                        </p:tgtEl>
                                        <p:attrNameLst>
                                          <p:attrName>fill.on</p:attrName>
                                        </p:attrNameLst>
                                      </p:cBhvr>
                                      <p:to>
                                        <p:strVal val="true"/>
                                      </p:to>
                                    </p:set>
                                  </p:childTnLst>
                                </p:cTn>
                              </p:par>
                              <p:par>
                                <p:cTn id="10" presetID="1"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AAAB0F1-975E-49AC-A277-3C821AD5F85D}"/>
              </a:ext>
            </a:extLst>
          </p:cNvPr>
          <p:cNvSpPr>
            <a:spLocks noGrp="1"/>
          </p:cNvSpPr>
          <p:nvPr>
            <p:ph type="title"/>
          </p:nvPr>
        </p:nvSpPr>
        <p:spPr/>
        <p:txBody>
          <a:bodyPr/>
          <a:lstStyle/>
          <a:p>
            <a:r>
              <a:rPr lang="en-US" altLang="zh-CN" dirty="0"/>
              <a:t>Exercise 5</a:t>
            </a:r>
            <a:endParaRPr lang="zh-CN" altLang="en-US" dirty="0"/>
          </a:p>
        </p:txBody>
      </p:sp>
      <p:sp>
        <p:nvSpPr>
          <p:cNvPr id="2" name="内容占位符 1">
            <a:extLst>
              <a:ext uri="{FF2B5EF4-FFF2-40B4-BE49-F238E27FC236}">
                <a16:creationId xmlns:a16="http://schemas.microsoft.com/office/drawing/2014/main" id="{5A48704A-1335-49B8-8B41-96145BD50D5A}"/>
              </a:ext>
            </a:extLst>
          </p:cNvPr>
          <p:cNvSpPr>
            <a:spLocks noGrp="1"/>
          </p:cNvSpPr>
          <p:nvPr>
            <p:ph idx="1"/>
          </p:nvPr>
        </p:nvSpPr>
        <p:spPr/>
        <p:txBody>
          <a:bodyPr/>
          <a:lstStyle/>
          <a:p>
            <a:pPr marL="0" indent="0">
              <a:buNone/>
            </a:pPr>
            <a:r>
              <a:rPr lang="en-US" altLang="zh-CN" sz="2400" dirty="0"/>
              <a:t>You test one of the on-line banking system functions that verifies the correctness of the PIN for a credit card. A valid PIN:</a:t>
            </a:r>
            <a:endParaRPr lang="zh-CN" altLang="zh-CN" sz="2400" dirty="0"/>
          </a:p>
          <a:p>
            <a:r>
              <a:rPr lang="en-US" altLang="zh-CN" sz="2400" dirty="0"/>
              <a:t>Must contain at least 4 and at most 6 digits</a:t>
            </a:r>
            <a:endParaRPr lang="zh-CN" altLang="zh-CN" sz="2400" dirty="0"/>
          </a:p>
          <a:p>
            <a:r>
              <a:rPr lang="en-US" altLang="zh-CN" sz="2400" dirty="0"/>
              <a:t>Must contain at least 2 different digits</a:t>
            </a:r>
            <a:endParaRPr lang="zh-CN" altLang="zh-CN" sz="2400" dirty="0"/>
          </a:p>
          <a:p>
            <a:pPr marL="0" indent="0">
              <a:buNone/>
            </a:pPr>
            <a:r>
              <a:rPr lang="en-US" altLang="zh-CN" sz="2400" dirty="0"/>
              <a:t>You want to apply a 2-point boundary value analysis for checking that the system follows the two above rules. A test case consists of a PIN number. Which set of test cases covers all the boundary values that you need to test?</a:t>
            </a:r>
            <a:endParaRPr lang="zh-CN" altLang="zh-CN" sz="2400" dirty="0"/>
          </a:p>
          <a:p>
            <a:pPr marL="385763" indent="-385763">
              <a:buFont typeface="+mj-lt"/>
              <a:buAutoNum type="alphaUcPeriod"/>
            </a:pPr>
            <a:r>
              <a:rPr lang="en-US" altLang="zh-CN" sz="2400" dirty="0"/>
              <a:t>123, 1234, 123456, 1234567</a:t>
            </a:r>
            <a:endParaRPr lang="zh-CN" altLang="zh-CN" sz="2400" dirty="0"/>
          </a:p>
          <a:p>
            <a:pPr marL="385763" indent="-385763">
              <a:buFont typeface="+mj-lt"/>
              <a:buAutoNum type="alphaUcPeriod"/>
            </a:pPr>
            <a:r>
              <a:rPr lang="en-US" altLang="zh-CN" sz="2400" dirty="0"/>
              <a:t>949, 0011, 33333, 123123, 6667778</a:t>
            </a:r>
            <a:endParaRPr lang="zh-CN" altLang="zh-CN" sz="2400" dirty="0"/>
          </a:p>
          <a:p>
            <a:pPr marL="385763" indent="-385763">
              <a:buFont typeface="+mj-lt"/>
              <a:buAutoNum type="alphaUcPeriod"/>
            </a:pPr>
            <a:r>
              <a:rPr lang="en-US" altLang="zh-CN" sz="2400" dirty="0"/>
              <a:t>123, 1111, 123456, 1234567</a:t>
            </a:r>
            <a:endParaRPr lang="zh-CN" altLang="zh-CN" sz="2400" dirty="0"/>
          </a:p>
          <a:p>
            <a:pPr marL="385763" indent="-385763">
              <a:buFont typeface="+mj-lt"/>
              <a:buAutoNum type="alphaUcPeriod"/>
            </a:pPr>
            <a:r>
              <a:rPr lang="en-US" altLang="zh-CN" sz="2400" dirty="0"/>
              <a:t>777, 8888, 999999, 4444444</a:t>
            </a:r>
            <a:endParaRPr lang="zh-CN" altLang="zh-CN" sz="2400" dirty="0"/>
          </a:p>
          <a:p>
            <a:endParaRPr lang="zh-CN" altLang="en-US" sz="2400" dirty="0"/>
          </a:p>
        </p:txBody>
      </p:sp>
      <p:sp>
        <p:nvSpPr>
          <p:cNvPr id="4" name="矩形 3">
            <a:extLst>
              <a:ext uri="{FF2B5EF4-FFF2-40B4-BE49-F238E27FC236}">
                <a16:creationId xmlns:a16="http://schemas.microsoft.com/office/drawing/2014/main" id="{E13B9F3D-044D-432D-A894-4C69232B32F8}"/>
              </a:ext>
            </a:extLst>
          </p:cNvPr>
          <p:cNvSpPr/>
          <p:nvPr/>
        </p:nvSpPr>
        <p:spPr>
          <a:xfrm>
            <a:off x="6258948" y="5382000"/>
            <a:ext cx="2070054" cy="400110"/>
          </a:xfrm>
          <a:prstGeom prst="rect">
            <a:avLst/>
          </a:prstGeom>
        </p:spPr>
        <p:txBody>
          <a:bodyPr wrap="none">
            <a:spAutoFit/>
          </a:bodyPr>
          <a:lstStyle/>
          <a:p>
            <a:r>
              <a:rPr lang="en-US" altLang="zh-CN" dirty="0">
                <a:latin typeface="Gill Sans MT" panose="020B0502020104020203" pitchFamily="34" charset="0"/>
              </a:rPr>
              <a:t>Correct answer: B</a:t>
            </a:r>
            <a:endParaRPr lang="zh-CN" altLang="en-US" dirty="0">
              <a:latin typeface="Gill Sans MT" panose="020B0502020104020203" pitchFamily="34" charset="0"/>
            </a:endParaRPr>
          </a:p>
        </p:txBody>
      </p:sp>
    </p:spTree>
    <p:extLst>
      <p:ext uri="{BB962C8B-B14F-4D97-AF65-F5344CB8AC3E}">
        <p14:creationId xmlns:p14="http://schemas.microsoft.com/office/powerpoint/2010/main" val="403480543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2">
                                            <p:txEl>
                                              <p:pRg st="5" end="5"/>
                                            </p:txEl>
                                          </p:spTgt>
                                        </p:tgtEl>
                                        <p:attrNameLst>
                                          <p:attrName>style.color</p:attrName>
                                        </p:attrNameLst>
                                      </p:cBhvr>
                                      <p:to>
                                        <a:srgbClr val="FF0000"/>
                                      </p:to>
                                    </p:animClr>
                                    <p:animClr clrSpc="rgb" dir="cw">
                                      <p:cBhvr>
                                        <p:cTn id="7" dur="500" fill="hold"/>
                                        <p:tgtEl>
                                          <p:spTgt spid="2">
                                            <p:txEl>
                                              <p:pRg st="5" end="5"/>
                                            </p:txEl>
                                          </p:spTgt>
                                        </p:tgtEl>
                                        <p:attrNameLst>
                                          <p:attrName>fillcolor</p:attrName>
                                        </p:attrNameLst>
                                      </p:cBhvr>
                                      <p:to>
                                        <a:srgbClr val="FF0000"/>
                                      </p:to>
                                    </p:animClr>
                                    <p:set>
                                      <p:cBhvr>
                                        <p:cTn id="8" dur="500" fill="hold"/>
                                        <p:tgtEl>
                                          <p:spTgt spid="2">
                                            <p:txEl>
                                              <p:pRg st="5" end="5"/>
                                            </p:txEl>
                                          </p:spTgt>
                                        </p:tgtEl>
                                        <p:attrNameLst>
                                          <p:attrName>fill.type</p:attrName>
                                        </p:attrNameLst>
                                      </p:cBhvr>
                                      <p:to>
                                        <p:strVal val="solid"/>
                                      </p:to>
                                    </p:set>
                                    <p:set>
                                      <p:cBhvr>
                                        <p:cTn id="9" dur="500" fill="hold"/>
                                        <p:tgtEl>
                                          <p:spTgt spid="2">
                                            <p:txEl>
                                              <p:pRg st="5" end="5"/>
                                            </p:txEl>
                                          </p:spTgt>
                                        </p:tgtEl>
                                        <p:attrNameLst>
                                          <p:attrName>fill.on</p:attrName>
                                        </p:attrNameLst>
                                      </p:cBhvr>
                                      <p:to>
                                        <p:strVal val="true"/>
                                      </p:to>
                                    </p:set>
                                  </p:childTnLst>
                                </p:cTn>
                              </p:par>
                              <p:par>
                                <p:cTn id="10" presetID="1"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intro">
  <a:themeElements>
    <a:clrScheme name="Custom 5">
      <a:dk1>
        <a:srgbClr val="5F5F5F"/>
      </a:dk1>
      <a:lt1>
        <a:srgbClr val="FFFFFF"/>
      </a:lt1>
      <a:dk2>
        <a:srgbClr val="000099"/>
      </a:dk2>
      <a:lt2>
        <a:srgbClr val="FFFF00"/>
      </a:lt2>
      <a:accent1>
        <a:srgbClr val="FF9900"/>
      </a:accent1>
      <a:accent2>
        <a:srgbClr val="66CCFF"/>
      </a:accent2>
      <a:accent3>
        <a:srgbClr val="AAAACA"/>
      </a:accent3>
      <a:accent4>
        <a:srgbClr val="DADADA"/>
      </a:accent4>
      <a:accent5>
        <a:srgbClr val="FFCAAA"/>
      </a:accent5>
      <a:accent6>
        <a:srgbClr val="5CB9E7"/>
      </a:accent6>
      <a:hlink>
        <a:srgbClr val="FFFF00"/>
      </a:hlink>
      <a:folHlink>
        <a:srgbClr val="FFC000"/>
      </a:folHlink>
    </a:clrScheme>
    <a:fontScheme name="intro">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rgbClr val="FAFD00"/>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rgbClr val="FAFD00"/>
            </a:solidFill>
            <a:effectLst/>
            <a:latin typeface="Times New Roman" pitchFamily="18" charset="0"/>
          </a:defRPr>
        </a:defPPr>
      </a:lstStyle>
    </a:lnDef>
  </a:objectDefaults>
  <a:extraClrSchemeLst>
    <a:extraClrScheme>
      <a:clrScheme name="intro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ntro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intro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ntro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ntro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ntro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intro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a:\intro.ppt</Template>
  <TotalTime>21881</TotalTime>
  <Pages>49</Pages>
  <Words>7324</Words>
  <Application>Microsoft Office PowerPoint</Application>
  <PresentationFormat>宽屏</PresentationFormat>
  <Paragraphs>1019</Paragraphs>
  <Slides>65</Slides>
  <Notes>32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65</vt:i4>
      </vt:variant>
    </vt:vector>
  </HeadingPairs>
  <TitlesOfParts>
    <vt:vector size="75" baseType="lpstr">
      <vt:lpstr>Gill Sans MT</vt:lpstr>
      <vt:lpstr>等线</vt:lpstr>
      <vt:lpstr>微软雅黑</vt:lpstr>
      <vt:lpstr>Arial</vt:lpstr>
      <vt:lpstr>Calibri</vt:lpstr>
      <vt:lpstr>Comic Sans MS</vt:lpstr>
      <vt:lpstr>Times New Roman</vt:lpstr>
      <vt:lpstr>Verdana</vt:lpstr>
      <vt:lpstr>Wingdings</vt:lpstr>
      <vt:lpstr>intro</vt:lpstr>
      <vt:lpstr>Chapter 2  Input Space Partition</vt:lpstr>
      <vt:lpstr>本节课程目标</vt:lpstr>
      <vt:lpstr>Ch. 2 : Input Space Coverage</vt:lpstr>
      <vt:lpstr>Input Domains</vt:lpstr>
      <vt:lpstr>Benefits of ISP</vt:lpstr>
      <vt:lpstr>Partitioning Domains</vt:lpstr>
      <vt:lpstr>In-Class Exercise</vt:lpstr>
      <vt:lpstr>Using Partitions – Assumptions</vt:lpstr>
      <vt:lpstr>Choosing Partitions</vt:lpstr>
      <vt:lpstr>Properties of Partitions</vt:lpstr>
      <vt:lpstr>Modeling the Input Domain</vt:lpstr>
      <vt:lpstr>Modeling the Input Domain</vt:lpstr>
      <vt:lpstr>Modeling the Input Domain (cont)</vt:lpstr>
      <vt:lpstr>Steps 1 &amp; 2—Identifying Functionalities, Parameters and  Characteristics</vt:lpstr>
      <vt:lpstr>Step 3 : Modeling the Input Domain</vt:lpstr>
      <vt:lpstr>Two Approaches to Input Domain Modeling</vt:lpstr>
      <vt:lpstr>1. Interface-Based Approach</vt:lpstr>
      <vt:lpstr>Interface-Based –triang()</vt:lpstr>
      <vt:lpstr>Interface-Based IDM—triang()</vt:lpstr>
      <vt:lpstr>2. Functionality-Based Approach</vt:lpstr>
      <vt:lpstr>2. Functionality-Based Example</vt:lpstr>
      <vt:lpstr>Functionality-Based IDM—triang()</vt:lpstr>
      <vt:lpstr>Functionality-Based IDM—triang()</vt:lpstr>
      <vt:lpstr>Functionality-Based IDM—triang()</vt:lpstr>
      <vt:lpstr>Using More than One IDM</vt:lpstr>
      <vt:lpstr>Step 4 – Choosing Combinations of Values  (6.2)</vt:lpstr>
      <vt:lpstr>ISP Criteria – All Combinations</vt:lpstr>
      <vt:lpstr>ISP Criteria – ACoC Tests</vt:lpstr>
      <vt:lpstr>Example</vt:lpstr>
      <vt:lpstr>In-class exercise</vt:lpstr>
      <vt:lpstr>In-class exercise (answer)</vt:lpstr>
      <vt:lpstr>ISP Criteria – Each Choice</vt:lpstr>
      <vt:lpstr>In-class exercise</vt:lpstr>
      <vt:lpstr>In-class exercise (answer)</vt:lpstr>
      <vt:lpstr>ISP Criteria – Pair-Wise</vt:lpstr>
      <vt:lpstr>In-class exercise</vt:lpstr>
      <vt:lpstr>In-class exercise (answer)</vt:lpstr>
      <vt:lpstr>ISP Criteria –T-Wise</vt:lpstr>
      <vt:lpstr>ISP Criteria – Base Choice</vt:lpstr>
      <vt:lpstr>Base Choice Notes</vt:lpstr>
      <vt:lpstr>In-class exercise</vt:lpstr>
      <vt:lpstr>In-class exercise (answer)</vt:lpstr>
      <vt:lpstr>ISP Criteria – Multiple Base Choice</vt:lpstr>
      <vt:lpstr>In-class exercise</vt:lpstr>
      <vt:lpstr>In-class exercise (answer)</vt:lpstr>
      <vt:lpstr>ISP Coverage Criteria Subsumption </vt:lpstr>
      <vt:lpstr>Constraints Among Characteristics</vt:lpstr>
      <vt:lpstr>Example Handling Constraints</vt:lpstr>
      <vt:lpstr>Input Space Partitioning Summary</vt:lpstr>
      <vt:lpstr>Boundary value analysis (BVA)</vt:lpstr>
      <vt:lpstr>Requirements of BVA</vt:lpstr>
      <vt:lpstr>Two variants of the BVA method (1)</vt:lpstr>
      <vt:lpstr>Two variants of the BVA method (2)</vt:lpstr>
      <vt:lpstr>An Example</vt:lpstr>
      <vt:lpstr>2-value versions of the BVA</vt:lpstr>
      <vt:lpstr>3-value versions of the BVA</vt:lpstr>
      <vt:lpstr>Strength of the 3-value version (1)</vt:lpstr>
      <vt:lpstr>Strength of the 3-value version (2)</vt:lpstr>
      <vt:lpstr>How to deal with continuous domains?</vt:lpstr>
      <vt:lpstr>Practical Solutions</vt:lpstr>
      <vt:lpstr>Exercise 1</vt:lpstr>
      <vt:lpstr>Exercise 2</vt:lpstr>
      <vt:lpstr>Exercise 3</vt:lpstr>
      <vt:lpstr>Exercise 4</vt:lpstr>
      <vt:lpstr>Exercise 5</vt:lpstr>
    </vt:vector>
  </TitlesOfParts>
  <Company>George Mason Unviersity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 4: Input Space Partitioning</dc:title>
  <dc:creator>Jeff Offutt</dc:creator>
  <cp:lastModifiedBy>Yue Zhang</cp:lastModifiedBy>
  <cp:revision>399</cp:revision>
  <cp:lastPrinted>2016-09-26T14:41:26Z</cp:lastPrinted>
  <dcterms:created xsi:type="dcterms:W3CDTF">1996-06-15T03:21:08Z</dcterms:created>
  <dcterms:modified xsi:type="dcterms:W3CDTF">2026-03-10T10:20:33Z</dcterms:modified>
</cp:coreProperties>
</file>