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6" r:id="rId2"/>
    <p:sldId id="423" r:id="rId3"/>
    <p:sldId id="411" r:id="rId4"/>
    <p:sldId id="412" r:id="rId5"/>
    <p:sldId id="422" r:id="rId6"/>
    <p:sldId id="419" r:id="rId7"/>
    <p:sldId id="418" r:id="rId8"/>
  </p:sldIdLst>
  <p:sldSz cx="12192000" cy="6858000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rgbClr val="FAFD00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6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145A"/>
    <a:srgbClr val="001E5A"/>
    <a:srgbClr val="5F5F5F"/>
    <a:srgbClr val="000000"/>
    <a:srgbClr val="6699FF"/>
    <a:srgbClr val="3399FF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41" autoAdjust="0"/>
    <p:restoredTop sz="91019" autoAdjust="0"/>
  </p:normalViewPr>
  <p:slideViewPr>
    <p:cSldViewPr snapToGrid="0">
      <p:cViewPr varScale="1">
        <p:scale>
          <a:sx n="68" d="100"/>
          <a:sy n="68" d="100"/>
        </p:scale>
        <p:origin x="744" y="36"/>
      </p:cViewPr>
      <p:guideLst>
        <p:guide orient="horz" pos="2280"/>
        <p:guide pos="36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defTabSz="924539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9396" y="1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algn="r" defTabSz="924539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195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b" anchorCtr="0" compatLnSpc="1">
            <a:prstTxWarp prst="textNoShape">
              <a:avLst/>
            </a:prstTxWarp>
          </a:bodyPr>
          <a:lstStyle>
            <a:lvl1pPr defTabSz="924539">
              <a:defRPr sz="1100" b="0" i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b" anchorCtr="0" compatLnSpc="1">
            <a:prstTxWarp prst="textNoShape">
              <a:avLst/>
            </a:prstTxWarp>
          </a:bodyPr>
          <a:lstStyle>
            <a:lvl1pPr algn="r" defTabSz="924539">
              <a:defRPr sz="1100" b="0" i="1"/>
            </a:lvl1pPr>
          </a:lstStyle>
          <a:p>
            <a:pPr>
              <a:defRPr/>
            </a:pPr>
            <a:fld id="{5C724F8B-CF3C-4940-A0F6-7D50BAC7A7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196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defTabSz="924539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396" y="1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t" anchorCtr="0" compatLnSpc="1">
            <a:prstTxWarp prst="textNoShape">
              <a:avLst/>
            </a:prstTxWarp>
          </a:bodyPr>
          <a:lstStyle>
            <a:lvl1pPr algn="r" defTabSz="924539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195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b" anchorCtr="0" compatLnSpc="1">
            <a:prstTxWarp prst="textNoShape">
              <a:avLst/>
            </a:prstTxWarp>
          </a:bodyPr>
          <a:lstStyle>
            <a:lvl1pPr defTabSz="924539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257" tIns="0" rIns="19257" bIns="0" numCol="1" anchor="b" anchorCtr="0" compatLnSpc="1">
            <a:prstTxWarp prst="textNoShape">
              <a:avLst/>
            </a:prstTxWarp>
          </a:bodyPr>
          <a:lstStyle>
            <a:lvl1pPr algn="r" defTabSz="924539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CBAAF57-92C6-4A47-B918-EB072432AF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6978" y="4414560"/>
            <a:ext cx="5047858" cy="418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72" tIns="46537" rIns="93072" bIns="465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9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7663" y="698500"/>
            <a:ext cx="6186487" cy="34813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3070513" y="8853714"/>
            <a:ext cx="739295" cy="27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8260" tIns="44932" rIns="88260" bIns="44932">
            <a:spAutoFit/>
          </a:bodyPr>
          <a:lstStyle>
            <a:lvl1pPr defTabSz="917575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17575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17575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17575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17575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300" b="0">
                <a:solidFill>
                  <a:schemeClr val="tx1"/>
                </a:solidFill>
              </a:rPr>
              <a:t>Page </a:t>
            </a:r>
            <a:fld id="{008BE9BF-BC08-4D4B-A8F4-FCDA4A2F1C41}" type="slidenum">
              <a:rPr lang="en-US" altLang="en-US" sz="1300" b="0">
                <a:solidFill>
                  <a:schemeClr val="tx1"/>
                </a:solidFill>
              </a:rPr>
              <a:pPr algn="ctr">
                <a:lnSpc>
                  <a:spcPct val="90000"/>
                </a:lnSpc>
              </a:pPr>
              <a:t>‹#›</a:t>
            </a:fld>
            <a:endParaRPr lang="en-US" altLang="en-US" sz="13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658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DB9BC07-199F-4B83-8EFF-B504F691E9EA}" type="slidenum">
              <a:rPr lang="en-US" altLang="en-US" sz="1100" b="0">
                <a:solidFill>
                  <a:schemeClr val="tx1"/>
                </a:solidFill>
              </a:rPr>
              <a:pPr/>
              <a:t>1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257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CD39582-AB69-4670-9B55-D8A6E7B64FEA}" type="slidenum">
              <a:rPr lang="en-US" altLang="en-US" sz="1100" b="0">
                <a:solidFill>
                  <a:schemeClr val="tx1"/>
                </a:solidFill>
              </a:rPr>
              <a:pPr/>
              <a:t>3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3503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874441">
              <a:defRPr/>
            </a:pPr>
            <a:r>
              <a:rPr lang="en-US" dirty="0"/>
              <a:t>I stop before the “Rewriting to …”</a:t>
            </a:r>
            <a:r>
              <a:rPr lang="en-US" baseline="0" dirty="0"/>
              <a:t> box</a:t>
            </a:r>
            <a:r>
              <a:rPr lang="en-US" dirty="0"/>
              <a:t> and ask the students to</a:t>
            </a:r>
            <a:r>
              <a:rPr lang="en-US" baseline="0" dirty="0"/>
              <a:t> write the predicate formally.</a:t>
            </a:r>
            <a:endParaRPr lang="en-US" dirty="0"/>
          </a:p>
          <a:p>
            <a:endParaRPr lang="en-US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B66D8AE7-6537-4D07-B321-99BE6B54F5DD}" type="slidenum">
              <a:rPr lang="en-US" altLang="en-US" sz="1100" b="0">
                <a:solidFill>
                  <a:schemeClr val="tx1"/>
                </a:solidFill>
              </a:rPr>
              <a:pPr/>
              <a:t>4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977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7663" y="698500"/>
            <a:ext cx="6186487" cy="3481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stop before the “ACC tests are ‘all true’ …” and ask the students to</a:t>
            </a:r>
            <a:r>
              <a:rPr lang="en-US" baseline="0" dirty="0"/>
              <a:t> work out ACC for A &amp; B &amp;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BAAF57-92C6-4A47-B918-EB072432AFD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4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47663" y="698500"/>
            <a:ext cx="6186487" cy="34813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stop before the “ACC tests are ‘all true’ …” and ask the students to</a:t>
            </a:r>
            <a:r>
              <a:rPr lang="en-US" baseline="0" dirty="0"/>
              <a:t> work out ACC for A &amp; B &amp; 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BAAF57-92C6-4A47-B918-EB072432AFD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24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47663" y="698500"/>
            <a:ext cx="6186487" cy="3481388"/>
          </a:xfrm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err="1"/>
              <a:t>OCL（Object</a:t>
            </a:r>
            <a:r>
              <a:rPr lang="en-US" altLang="en-US"/>
              <a:t> Constraint Language）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10483" indent="-273263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09305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530271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4pPr>
            <a:lvl5pPr marL="1967492" indent="-218610" defTabSz="924539">
              <a:defRPr sz="19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40471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841932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27915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716373" indent="-218610" defTabSz="924539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B145472-D96C-457A-B39C-C61AA697C36F}" type="slidenum">
              <a:rPr lang="en-US" altLang="en-US" sz="1100" b="0">
                <a:solidFill>
                  <a:schemeClr val="tx1"/>
                </a:solidFill>
              </a:rPr>
              <a:pPr/>
              <a:t>7</a:t>
            </a:fld>
            <a:endParaRPr lang="en-US" altLang="en-US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466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5FE19-7629-415C-98BB-4CC3FDD943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4289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33B24-5C13-4AA2-AD77-BA06FD33D5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0684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0543F-DF5E-4757-8BCA-0BD6F7A174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965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4152" y="966789"/>
            <a:ext cx="5810249" cy="5381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66789"/>
            <a:ext cx="5810251" cy="5381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DFEEA-BE90-4A59-AC4A-712CA97690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0497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F63F1-7C05-4A0E-B81C-415BC3C139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064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341F6-7202-4FE3-ABBE-104B76807B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2519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F29A6-780C-4917-BEAB-073CE206D1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31597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1FA61-CFE3-4A6A-8131-E47C1CA2A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66279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B572E5-F945-4F0A-8A31-A55CF2268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937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067D2-99B9-45BA-B4D3-8E2E4BC82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88906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52984" y="96839"/>
            <a:ext cx="2954867" cy="62515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4152" y="96839"/>
            <a:ext cx="8665633" cy="62515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7FFA0-9706-477F-AC58-4F2332192F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11265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6838"/>
            <a:ext cx="10363200" cy="7985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4152" y="966789"/>
            <a:ext cx="5810249" cy="5381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966788"/>
            <a:ext cx="5810251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733801"/>
            <a:ext cx="5810251" cy="261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0919F0-53F1-4CD2-AA50-C640910A05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2306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6838"/>
            <a:ext cx="10363200" cy="7985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4152" y="966789"/>
            <a:ext cx="5810249" cy="5381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66789"/>
            <a:ext cx="5810251" cy="5381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EB4F21-61B2-4EB7-B561-4D9324CC55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0769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00004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79918" y="6554968"/>
            <a:ext cx="5050367" cy="2395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Introduction to Software Testing, Edition 2  (Ch 8)</a:t>
            </a:r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54651" y="6555179"/>
            <a:ext cx="3860800" cy="247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© Ammann &amp; Offutt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29233" y="6541102"/>
            <a:ext cx="2540000" cy="254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9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BE111F0-E617-439B-BE58-529B005E91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1801" y="96838"/>
            <a:ext cx="12026900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534" y="890650"/>
            <a:ext cx="11954933" cy="5640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 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 </a:t>
            </a:r>
          </a:p>
          <a:p>
            <a:pPr lvl="4"/>
            <a:r>
              <a:rPr lang="en-US" altLang="en-US" dirty="0"/>
              <a:t>Fifth level </a:t>
            </a:r>
          </a:p>
        </p:txBody>
      </p:sp>
      <p:sp>
        <p:nvSpPr>
          <p:cNvPr id="8" name="Line 10"/>
          <p:cNvSpPr>
            <a:spLocks noChangeShapeType="1"/>
          </p:cNvSpPr>
          <p:nvPr userDrawn="1"/>
        </p:nvSpPr>
        <p:spPr bwMode="auto">
          <a:xfrm>
            <a:off x="-1" y="729143"/>
            <a:ext cx="12158444" cy="0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sz="20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itchFamily="18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85000"/>
        <a:buChar char="•"/>
        <a:defRPr sz="2800" b="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400" b="0">
          <a:solidFill>
            <a:schemeClr val="tx1"/>
          </a:solidFill>
          <a:latin typeface="Gill Sans MT" panose="020B0502020104020203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Gill Sans MT" panose="020B0502020104020203" pitchFamily="34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1"/>
          </a:solidFill>
          <a:latin typeface="Gill Sans MT" panose="020B0502020104020203" pitchFamily="34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sz="2000" b="0">
          <a:solidFill>
            <a:schemeClr val="tx1"/>
          </a:solidFill>
          <a:latin typeface="Gill Sans MT" panose="020B0502020104020203" pitchFamily="34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Ø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Chapter 4 Logic Coverage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52700" y="3877236"/>
            <a:ext cx="7086600" cy="17526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3200" dirty="0"/>
              <a:t>Logic Coverage for Specifications</a:t>
            </a:r>
          </a:p>
          <a:p>
            <a:pPr>
              <a:lnSpc>
                <a:spcPct val="100000"/>
              </a:lnSpc>
              <a:spcBef>
                <a:spcPct val="0"/>
              </a:spcBef>
              <a:buSzTx/>
            </a:pPr>
            <a:r>
              <a:rPr lang="en-US" altLang="en-US" sz="3200" dirty="0"/>
              <a:t>(</a:t>
            </a:r>
            <a:r>
              <a:rPr lang="en-US" altLang="zh-CN" sz="3200" dirty="0"/>
              <a:t>8</a:t>
            </a:r>
            <a:r>
              <a:rPr lang="en-US" altLang="en-US" sz="3200" dirty="0"/>
              <a:t>.4 Logic Coverage </a:t>
            </a:r>
            <a:r>
              <a:rPr lang="en-US" altLang="zh-CN" sz="3200" dirty="0"/>
              <a:t>for </a:t>
            </a:r>
            <a:r>
              <a:rPr lang="en-US" altLang="en-US" sz="3200" dirty="0"/>
              <a:t>Specification</a:t>
            </a:r>
            <a:r>
              <a:rPr lang="en-US" altLang="zh-CN" sz="3200" dirty="0"/>
              <a:t>s</a:t>
            </a:r>
            <a:r>
              <a:rPr lang="en-US" altLang="en-US" sz="3200" dirty="0"/>
              <a:t>)</a:t>
            </a:r>
            <a:endParaRPr lang="en-US" altLang="en-US"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E9407-5E0A-4BDB-96E8-1EF4F24B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本节课程目标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59B72-5ACF-4331-8441-93E3617B9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能将非形式化（自然语言）表示的规约转写成对应的逻辑表达式；</a:t>
            </a:r>
          </a:p>
          <a:p>
            <a:r>
              <a:rPr lang="zh-CN" altLang="zh-CN" dirty="0"/>
              <a:t>对于合取范式（</a:t>
            </a:r>
            <a:r>
              <a:rPr lang="en-US" altLang="zh-CN" dirty="0"/>
              <a:t>CNF</a:t>
            </a:r>
            <a:r>
              <a:rPr lang="zh-CN" altLang="zh-CN" dirty="0"/>
              <a:t>）</a:t>
            </a:r>
            <a:r>
              <a:rPr lang="en-US" altLang="zh-CN" dirty="0"/>
              <a:t>/</a:t>
            </a:r>
            <a:r>
              <a:rPr lang="zh-CN" altLang="zh-CN" dirty="0"/>
              <a:t>析取范式（</a:t>
            </a:r>
            <a:r>
              <a:rPr lang="en-US" altLang="zh-CN" dirty="0"/>
              <a:t>DNF</a:t>
            </a:r>
            <a:r>
              <a:rPr lang="zh-CN" altLang="zh-CN" dirty="0"/>
              <a:t>）形式的逻辑表达式，能直接写出满足有效子句覆盖</a:t>
            </a:r>
            <a:r>
              <a:rPr lang="en-US" altLang="zh-CN" dirty="0"/>
              <a:t>ACC</a:t>
            </a:r>
            <a:r>
              <a:rPr lang="zh-CN" altLang="zh-CN" dirty="0"/>
              <a:t>的</a:t>
            </a:r>
            <a:r>
              <a:rPr lang="zh-CN" altLang="zh-CN"/>
              <a:t>测试需求</a:t>
            </a:r>
            <a:r>
              <a:rPr lang="zh-CN" altLang="en-US"/>
              <a:t>。</a:t>
            </a:r>
            <a:endParaRPr lang="zh-CN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049FCE-26CB-4709-BBEA-54F209BC4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33B24-5C13-4AA2-AD77-BA06FD33D5F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4735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70B5E676-46E7-499F-BD90-958E4D4CD90E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3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Specifications in Software</a:t>
            </a:r>
          </a:p>
        </p:txBody>
      </p:sp>
      <p:sp>
        <p:nvSpPr>
          <p:cNvPr id="247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Specifications can be </a:t>
            </a:r>
            <a:r>
              <a:rPr lang="en-US" altLang="en-US" dirty="0">
                <a:solidFill>
                  <a:schemeClr val="tx2"/>
                </a:solidFill>
              </a:rPr>
              <a:t>formal</a:t>
            </a:r>
            <a:r>
              <a:rPr lang="en-US" altLang="en-US" dirty="0"/>
              <a:t> or </a:t>
            </a:r>
            <a:r>
              <a:rPr lang="en-US" altLang="en-US" dirty="0">
                <a:solidFill>
                  <a:schemeClr val="tx2"/>
                </a:solidFill>
              </a:rPr>
              <a:t>informal</a:t>
            </a:r>
          </a:p>
          <a:p>
            <a:pPr lvl="1"/>
            <a:r>
              <a:rPr lang="en-US" altLang="en-US" dirty="0"/>
              <a:t>Formal specs are usually expressed </a:t>
            </a:r>
            <a:r>
              <a:rPr lang="en-US" altLang="en-US" dirty="0">
                <a:solidFill>
                  <a:schemeClr val="tx2"/>
                </a:solidFill>
              </a:rPr>
              <a:t>mathematically</a:t>
            </a:r>
          </a:p>
          <a:p>
            <a:pPr lvl="1"/>
            <a:r>
              <a:rPr lang="en-US" altLang="en-US" dirty="0"/>
              <a:t>Informal specs are usually expressed in </a:t>
            </a:r>
            <a:r>
              <a:rPr lang="en-US" altLang="en-US" i="1" dirty="0">
                <a:solidFill>
                  <a:schemeClr val="tx2"/>
                </a:solidFill>
              </a:rPr>
              <a:t>natural language</a:t>
            </a:r>
          </a:p>
          <a:p>
            <a:r>
              <a:rPr lang="en-US" altLang="en-US" dirty="0"/>
              <a:t>Lots of </a:t>
            </a:r>
            <a:r>
              <a:rPr lang="en-US" altLang="en-US" dirty="0">
                <a:solidFill>
                  <a:schemeClr val="tx2"/>
                </a:solidFill>
              </a:rPr>
              <a:t>formal languages</a:t>
            </a:r>
            <a:r>
              <a:rPr lang="en-US" altLang="en-US" dirty="0"/>
              <a:t> and </a:t>
            </a:r>
            <a:r>
              <a:rPr lang="en-US" altLang="en-US" dirty="0">
                <a:solidFill>
                  <a:schemeClr val="tx2"/>
                </a:solidFill>
              </a:rPr>
              <a:t>informal styles</a:t>
            </a:r>
            <a:r>
              <a:rPr lang="en-US" altLang="en-US" dirty="0"/>
              <a:t> are available</a:t>
            </a:r>
          </a:p>
          <a:p>
            <a:r>
              <a:rPr lang="en-US" altLang="en-US" dirty="0"/>
              <a:t>Most specification languages include </a:t>
            </a:r>
            <a:r>
              <a:rPr lang="en-US" altLang="en-US" dirty="0">
                <a:solidFill>
                  <a:schemeClr val="tx2"/>
                </a:solidFill>
              </a:rPr>
              <a:t>explicit logical expressions</a:t>
            </a:r>
            <a:r>
              <a:rPr lang="en-US" altLang="en-US" dirty="0"/>
              <a:t>, so it is very easy to apply logic coverage criteria</a:t>
            </a:r>
          </a:p>
          <a:p>
            <a:r>
              <a:rPr lang="en-US" altLang="en-US" dirty="0"/>
              <a:t>Implicit logical expressions in natural-language specifications should be </a:t>
            </a:r>
            <a:r>
              <a:rPr lang="en-US" altLang="en-US" dirty="0">
                <a:solidFill>
                  <a:schemeClr val="tx2"/>
                </a:solidFill>
              </a:rPr>
              <a:t>re-written</a:t>
            </a:r>
            <a:r>
              <a:rPr lang="en-US" altLang="en-US" dirty="0"/>
              <a:t> as explicit logical expressions as part of test design</a:t>
            </a:r>
          </a:p>
          <a:p>
            <a:pPr lvl="1"/>
            <a:r>
              <a:rPr lang="en-US" altLang="en-US" dirty="0"/>
              <a:t>You will often find mistakes</a:t>
            </a:r>
          </a:p>
          <a:p>
            <a:r>
              <a:rPr lang="en-US" altLang="en-US" dirty="0"/>
              <a:t>One of the most common is </a:t>
            </a:r>
            <a:r>
              <a:rPr lang="en-US" altLang="en-US" dirty="0">
                <a:solidFill>
                  <a:schemeClr val="tx2"/>
                </a:solidFill>
              </a:rPr>
              <a:t>preconditions</a:t>
            </a:r>
            <a:r>
              <a:rPr lang="en-US" altLang="en-US" dirty="0"/>
              <a:t> 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Preconditions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Programmers often include </a:t>
            </a:r>
            <a:r>
              <a:rPr lang="en-US" altLang="en-US" dirty="0">
                <a:solidFill>
                  <a:schemeClr val="tx2"/>
                </a:solidFill>
              </a:rPr>
              <a:t>preconditions</a:t>
            </a:r>
            <a:r>
              <a:rPr lang="en-US" altLang="en-US" dirty="0"/>
              <a:t> for their methods</a:t>
            </a:r>
          </a:p>
          <a:p>
            <a:r>
              <a:rPr lang="en-US" altLang="en-US" dirty="0"/>
              <a:t>The preconditions are often expressed in </a:t>
            </a:r>
            <a:r>
              <a:rPr lang="en-US" altLang="en-US" dirty="0">
                <a:solidFill>
                  <a:schemeClr val="tx2"/>
                </a:solidFill>
              </a:rPr>
              <a:t>comments</a:t>
            </a:r>
            <a:r>
              <a:rPr lang="en-US" altLang="en-US" dirty="0"/>
              <a:t> in method headers</a:t>
            </a:r>
          </a:p>
          <a:p>
            <a:r>
              <a:rPr lang="en-US" altLang="en-US" dirty="0"/>
              <a:t>Preconditions can be in </a:t>
            </a:r>
            <a:r>
              <a:rPr lang="en-US" altLang="en-US" dirty="0" err="1">
                <a:solidFill>
                  <a:schemeClr val="tx2"/>
                </a:solidFill>
              </a:rPr>
              <a:t>javadoc</a:t>
            </a:r>
            <a:r>
              <a:rPr lang="en-US" altLang="en-US" dirty="0"/>
              <a:t>, “requires”,  “pre”, …</a:t>
            </a:r>
          </a:p>
        </p:txBody>
      </p:sp>
      <p:sp>
        <p:nvSpPr>
          <p:cNvPr id="4100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755D14F-9F0A-4A21-85D3-AA95C6C3DD42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4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sp>
        <p:nvSpPr>
          <p:cNvPr id="248836" name="Text Box 4"/>
          <p:cNvSpPr txBox="1">
            <a:spLocks noChangeArrowheads="1"/>
          </p:cNvSpPr>
          <p:nvPr/>
        </p:nvSpPr>
        <p:spPr bwMode="auto">
          <a:xfrm>
            <a:off x="4124326" y="3061958"/>
            <a:ext cx="3941763" cy="210026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u="sng" dirty="0">
                <a:latin typeface="Gill Sans MT" panose="020B0502020104020203" pitchFamily="34" charset="0"/>
              </a:rPr>
              <a:t>Example – Saving addresses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// </a:t>
            </a:r>
            <a:r>
              <a:rPr lang="en-US" altLang="en-US" u="sng" dirty="0">
                <a:solidFill>
                  <a:schemeClr val="tx1"/>
                </a:solidFill>
                <a:latin typeface="Gill Sans MT" panose="020B0502020104020203" pitchFamily="34" charset="0"/>
              </a:rPr>
              <a:t>name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must not be empty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// </a:t>
            </a:r>
            <a:r>
              <a:rPr lang="en-US" altLang="en-US" u="sng" dirty="0">
                <a:solidFill>
                  <a:schemeClr val="tx1"/>
                </a:solidFill>
                <a:latin typeface="Gill Sans MT" panose="020B0502020104020203" pitchFamily="34" charset="0"/>
              </a:rPr>
              <a:t>state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must be valid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// </a:t>
            </a:r>
            <a:r>
              <a:rPr lang="en-US" altLang="en-US" u="sng" dirty="0">
                <a:solidFill>
                  <a:schemeClr val="tx1"/>
                </a:solidFill>
                <a:latin typeface="Gill Sans MT" panose="020B0502020104020203" pitchFamily="34" charset="0"/>
              </a:rPr>
              <a:t>zip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must be 5 numeric digits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// </a:t>
            </a:r>
            <a:r>
              <a:rPr lang="en-US" altLang="en-US" u="sng" dirty="0">
                <a:solidFill>
                  <a:schemeClr val="tx1"/>
                </a:solidFill>
                <a:latin typeface="Gill Sans MT" panose="020B0502020104020203" pitchFamily="34" charset="0"/>
              </a:rPr>
              <a:t>street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must not be empty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// </a:t>
            </a:r>
            <a:r>
              <a:rPr lang="en-US" altLang="en-US" u="sng" dirty="0">
                <a:solidFill>
                  <a:schemeClr val="tx1"/>
                </a:solidFill>
                <a:latin typeface="Gill Sans MT" panose="020B0502020104020203" pitchFamily="34" charset="0"/>
              </a:rPr>
              <a:t>city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must not be empty</a:t>
            </a:r>
          </a:p>
        </p:txBody>
      </p:sp>
      <p:sp>
        <p:nvSpPr>
          <p:cNvPr id="248837" name="Text Box 5"/>
          <p:cNvSpPr txBox="1">
            <a:spLocks noChangeArrowheads="1"/>
          </p:cNvSpPr>
          <p:nvPr/>
        </p:nvSpPr>
        <p:spPr bwMode="auto">
          <a:xfrm>
            <a:off x="2221835" y="5386058"/>
            <a:ext cx="7736305" cy="1065212"/>
          </a:xfrm>
          <a:prstGeom prst="rect">
            <a:avLst/>
          </a:prstGeom>
          <a:solidFill>
            <a:srgbClr val="000099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10000"/>
              </a:spcBef>
            </a:pPr>
            <a:r>
              <a:rPr lang="en-US" altLang="en-US" u="sng" dirty="0">
                <a:latin typeface="Gill Sans MT" panose="020B0502020104020203" pitchFamily="34" charset="0"/>
              </a:rPr>
              <a:t>Rewriting to logical expression</a:t>
            </a:r>
          </a:p>
          <a:p>
            <a:pPr>
              <a:spcBef>
                <a:spcPct val="10000"/>
              </a:spcBef>
            </a:pP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name != “”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state in </a:t>
            </a:r>
            <a:r>
              <a:rPr lang="en-US" altLang="en-US" dirty="0" err="1">
                <a:solidFill>
                  <a:schemeClr val="tx1"/>
                </a:solidFill>
                <a:latin typeface="Gill Sans MT" panose="020B0502020104020203" pitchFamily="34" charset="0"/>
              </a:rPr>
              <a:t>stateList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zip &gt;= 00000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zip &lt;= 99999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street != “” </a:t>
            </a:r>
            <a:r>
              <a:rPr lang="en-US" altLang="en-US" dirty="0">
                <a:solidFill>
                  <a:schemeClr val="tx2"/>
                </a:solidFill>
                <a:latin typeface="Gill Sans MT" panose="020B0502020104020203" pitchFamily="34" charset="0"/>
                <a:sym typeface="Symbol" pitchFamily="18" charset="2"/>
              </a:rPr>
              <a:t></a:t>
            </a:r>
            <a:r>
              <a:rPr lang="en-US" altLang="en-US" dirty="0">
                <a:latin typeface="Gill Sans MT" panose="020B0502020104020203" pitchFamily="34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latin typeface="Gill Sans MT" panose="020B0502020104020203" pitchFamily="34" charset="0"/>
              </a:rPr>
              <a:t>city != “”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3593433" y="5803444"/>
            <a:ext cx="344487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9392994" y="5803444"/>
            <a:ext cx="344488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7632370" y="5803444"/>
            <a:ext cx="344488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5848768" y="5803444"/>
            <a:ext cx="344487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3594225" y="6117895"/>
            <a:ext cx="3429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endParaRPr lang="en-US" alt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740776" y="4298620"/>
            <a:ext cx="1650499" cy="70788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US" altLang="en-US">
                <a:latin typeface="Gill Sans MT" panose="020B0502020104020203" pitchFamily="34" charset="0"/>
              </a:rPr>
              <a:t>Conjunctive Normal Form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6" grpId="0" animBg="1"/>
      <p:bldP spid="24883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Shortcut for Predicates in Conjunctive Normal Form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 predicate is in conjunctive normal form (CNF) if it consists of clauses or </a:t>
            </a:r>
            <a:r>
              <a:rPr lang="en-US" altLang="en-US" sz="2400" dirty="0" err="1"/>
              <a:t>disjuncts</a:t>
            </a:r>
            <a:r>
              <a:rPr lang="en-US" altLang="en-US" sz="2400" dirty="0"/>
              <a:t> connected by the </a:t>
            </a:r>
            <a:r>
              <a:rPr lang="en-US" altLang="en-US" sz="2400" dirty="0">
                <a:solidFill>
                  <a:schemeClr val="tx2"/>
                </a:solidFill>
              </a:rPr>
              <a:t>and</a:t>
            </a:r>
            <a:r>
              <a:rPr lang="en-US" altLang="en-US" sz="2400" dirty="0"/>
              <a:t> operator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en-US" altLang="en-US" dirty="0"/>
              <a:t>A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B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C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…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en-US" altLang="en-US" dirty="0"/>
              <a:t>(A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B)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(C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D)</a:t>
            </a:r>
          </a:p>
          <a:p>
            <a:r>
              <a:rPr lang="en-US" altLang="en-US" sz="2400" dirty="0"/>
              <a:t>A major clause is made active by making all other clauses </a:t>
            </a:r>
            <a:r>
              <a:rPr lang="en-US" altLang="en-US" sz="2400" dirty="0">
                <a:solidFill>
                  <a:schemeClr val="tx2"/>
                </a:solidFill>
              </a:rPr>
              <a:t>true</a:t>
            </a: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858772D-B440-461C-ACB2-107E03801DEE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5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graphicFrame>
        <p:nvGraphicFramePr>
          <p:cNvPr id="7" name="Group 7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7946671"/>
              </p:ext>
            </p:extLst>
          </p:nvPr>
        </p:nvGraphicFramePr>
        <p:xfrm>
          <a:off x="4610101" y="3643241"/>
          <a:ext cx="2974975" cy="2912049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4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6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26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611551" y="3242997"/>
            <a:ext cx="8966200" cy="50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85000"/>
              <a:buChar char="•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400" kern="0" dirty="0"/>
              <a:t>ACC tests are “</a:t>
            </a:r>
            <a:r>
              <a:rPr lang="en-US" altLang="en-US" sz="2400" kern="0" dirty="0">
                <a:solidFill>
                  <a:schemeClr val="tx2"/>
                </a:solidFill>
              </a:rPr>
              <a:t>all true</a:t>
            </a:r>
            <a:r>
              <a:rPr lang="en-US" altLang="en-US" sz="2400" kern="0" dirty="0"/>
              <a:t>” and then a “</a:t>
            </a:r>
            <a:r>
              <a:rPr lang="en-US" altLang="en-US" sz="2400" kern="0" dirty="0">
                <a:solidFill>
                  <a:schemeClr val="tx2"/>
                </a:solidFill>
              </a:rPr>
              <a:t>diagonal</a:t>
            </a:r>
            <a:r>
              <a:rPr lang="en-US" altLang="en-US" sz="2400" kern="0" dirty="0"/>
              <a:t>” of false values:</a:t>
            </a:r>
          </a:p>
        </p:txBody>
      </p:sp>
    </p:spTree>
    <p:extLst>
      <p:ext uri="{BB962C8B-B14F-4D97-AF65-F5344CB8AC3E}">
        <p14:creationId xmlns:p14="http://schemas.microsoft.com/office/powerpoint/2010/main" val="37701822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Shortcut for Predicates in Disjunctive Normal Form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A predicate is in disjunctive normal form (DNF) if it consists of clauses or conjuncts connected by the </a:t>
            </a:r>
            <a:r>
              <a:rPr lang="en-US" altLang="en-US" sz="2400" dirty="0">
                <a:solidFill>
                  <a:schemeClr val="tx2"/>
                </a:solidFill>
              </a:rPr>
              <a:t>or</a:t>
            </a:r>
            <a:r>
              <a:rPr lang="en-US" altLang="en-US" sz="2400" dirty="0"/>
              <a:t> operator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en-US" altLang="en-US" dirty="0"/>
              <a:t>A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B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C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…</a:t>
            </a:r>
          </a:p>
          <a:p>
            <a:pPr lvl="1">
              <a:lnSpc>
                <a:spcPct val="80000"/>
              </a:lnSpc>
              <a:spcBef>
                <a:spcPts val="1200"/>
              </a:spcBef>
            </a:pPr>
            <a:r>
              <a:rPr lang="en-US" altLang="en-US" dirty="0"/>
              <a:t>(A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B)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</a:t>
            </a:r>
            <a:r>
              <a:rPr lang="en-US" altLang="en-US" dirty="0"/>
              <a:t> (C </a:t>
            </a:r>
            <a:r>
              <a:rPr lang="en-US" altLang="en-US" sz="2800" b="1" dirty="0">
                <a:solidFill>
                  <a:schemeClr val="tx2"/>
                </a:solidFill>
                <a:cs typeface="Times New Roman" pitchFamily="18" charset="0"/>
                <a:sym typeface="Symbol" pitchFamily="18" charset="2"/>
              </a:rPr>
              <a:t></a:t>
            </a:r>
            <a:r>
              <a:rPr lang="en-US" altLang="en-US" dirty="0"/>
              <a:t> D)</a:t>
            </a:r>
          </a:p>
          <a:p>
            <a:r>
              <a:rPr lang="en-US" altLang="en-US" sz="2400" dirty="0"/>
              <a:t>A major clause is made active by making all other clauses </a:t>
            </a:r>
            <a:r>
              <a:rPr lang="en-US" altLang="en-US" sz="2400" dirty="0">
                <a:solidFill>
                  <a:schemeClr val="tx2"/>
                </a:solidFill>
              </a:rPr>
              <a:t>false</a:t>
            </a:r>
          </a:p>
        </p:txBody>
      </p:sp>
      <p:sp>
        <p:nvSpPr>
          <p:cNvPr id="51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2858772D-B440-461C-ACB2-107E03801DEE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6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  <p:graphicFrame>
        <p:nvGraphicFramePr>
          <p:cNvPr id="7" name="Group 7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2801468"/>
              </p:ext>
            </p:extLst>
          </p:nvPr>
        </p:nvGraphicFramePr>
        <p:xfrm>
          <a:off x="4610101" y="3643241"/>
          <a:ext cx="2974975" cy="2912049"/>
        </p:xfrm>
        <a:graphic>
          <a:graphicData uri="http://schemas.openxmlformats.org/drawingml/2006/table">
            <a:tbl>
              <a:tblPr/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44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369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262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33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611551" y="3242997"/>
            <a:ext cx="8966200" cy="508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85000"/>
              <a:buChar char="•"/>
              <a:defRPr sz="2800" b="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400" b="0"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sz="2000" b="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2400" kern="0" dirty="0"/>
              <a:t>ACC tests are “</a:t>
            </a:r>
            <a:r>
              <a:rPr lang="en-US" altLang="en-US" sz="2400" kern="0" dirty="0">
                <a:solidFill>
                  <a:schemeClr val="tx2"/>
                </a:solidFill>
              </a:rPr>
              <a:t>all false</a:t>
            </a:r>
            <a:r>
              <a:rPr lang="en-US" altLang="en-US" sz="2400" kern="0" dirty="0"/>
              <a:t>” and then a “</a:t>
            </a:r>
            <a:r>
              <a:rPr lang="en-US" altLang="en-US" sz="2400" kern="0" dirty="0">
                <a:solidFill>
                  <a:schemeClr val="tx2"/>
                </a:solidFill>
              </a:rPr>
              <a:t>diagonal</a:t>
            </a:r>
            <a:r>
              <a:rPr lang="en-US" altLang="en-US" sz="2400" kern="0" dirty="0"/>
              <a:t>” of true values: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 : Logic Coverage for Specs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Logical specifications can come from </a:t>
            </a:r>
            <a:r>
              <a:rPr lang="en-US" altLang="en-US" dirty="0">
                <a:solidFill>
                  <a:schemeClr val="tx2"/>
                </a:solidFill>
              </a:rPr>
              <a:t>lots of places </a:t>
            </a:r>
            <a:r>
              <a:rPr lang="en-US" altLang="en-US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Preconditions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Java asserts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Contracts (in design-by-contract development)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OCL conditions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Formal languages</a:t>
            </a:r>
          </a:p>
          <a:p>
            <a:r>
              <a:rPr lang="en-US" altLang="en-US" dirty="0"/>
              <a:t>Logic specifications can describe behavior at </a:t>
            </a:r>
            <a:r>
              <a:rPr lang="en-US" altLang="en-US" dirty="0">
                <a:solidFill>
                  <a:schemeClr val="tx2"/>
                </a:solidFill>
              </a:rPr>
              <a:t>many levels </a:t>
            </a:r>
            <a:r>
              <a:rPr lang="en-US" altLang="en-US" dirty="0"/>
              <a:t>: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Methods and classes (unit and module testing)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Connections among classes and components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System-level behavior</a:t>
            </a:r>
          </a:p>
          <a:p>
            <a:r>
              <a:rPr lang="en-US" altLang="en-US" dirty="0"/>
              <a:t>Many predicates in specifications are in </a:t>
            </a:r>
            <a:r>
              <a:rPr lang="en-US" altLang="en-US" dirty="0">
                <a:solidFill>
                  <a:schemeClr val="tx2"/>
                </a:solidFill>
              </a:rPr>
              <a:t>disjunctive</a:t>
            </a:r>
            <a:r>
              <a:rPr lang="en-US" altLang="en-US" dirty="0"/>
              <a:t> normal or </a:t>
            </a:r>
            <a:r>
              <a:rPr lang="en-US" altLang="en-US" dirty="0">
                <a:solidFill>
                  <a:schemeClr val="tx2"/>
                </a:solidFill>
              </a:rPr>
              <a:t>conjunctive</a:t>
            </a:r>
            <a:r>
              <a:rPr lang="en-US" altLang="en-US" dirty="0"/>
              <a:t> normal form—simplifying the computations</a:t>
            </a:r>
          </a:p>
        </p:txBody>
      </p:sp>
      <p:sp>
        <p:nvSpPr>
          <p:cNvPr id="71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C767F28F-C4A2-4D4A-BD58-4AE3713670D2}" type="slidenum">
              <a:rPr lang="en-US" altLang="en-US" sz="900" b="0">
                <a:solidFill>
                  <a:schemeClr val="tx1"/>
                </a:solidFill>
                <a:latin typeface="Arial" pitchFamily="34" charset="0"/>
              </a:rPr>
              <a:pPr/>
              <a:t>7</a:t>
            </a:fld>
            <a:endParaRPr lang="en-US" altLang="en-US" sz="900" b="0">
              <a:solidFill>
                <a:schemeClr val="tx1"/>
              </a:solidFill>
              <a:latin typeface="Arial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intro">
  <a:themeElements>
    <a:clrScheme name="Custom 12">
      <a:dk1>
        <a:srgbClr val="5F5F5F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66CC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5CB9E7"/>
      </a:accent6>
      <a:hlink>
        <a:srgbClr val="FFFF00"/>
      </a:hlink>
      <a:folHlink>
        <a:srgbClr val="FFC000"/>
      </a:folHlink>
    </a:clrScheme>
    <a:fontScheme name="intr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rgbClr val="FAFD00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intr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a:\intro.ppt</Template>
  <TotalTime>284</TotalTime>
  <Pages>49</Pages>
  <Words>603</Words>
  <Application>Microsoft Office PowerPoint</Application>
  <PresentationFormat>宽屏</PresentationFormat>
  <Paragraphs>122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Gill Sans MT</vt:lpstr>
      <vt:lpstr>Arial</vt:lpstr>
      <vt:lpstr>Times New Roman</vt:lpstr>
      <vt:lpstr>Verdana</vt:lpstr>
      <vt:lpstr>Wingdings</vt:lpstr>
      <vt:lpstr>intro</vt:lpstr>
      <vt:lpstr>Chapter 4 Logic Coverage</vt:lpstr>
      <vt:lpstr>本节课程目标</vt:lpstr>
      <vt:lpstr>Specifications in Software</vt:lpstr>
      <vt:lpstr>Preconditions</vt:lpstr>
      <vt:lpstr>Shortcut for Predicates in Conjunctive Normal Form</vt:lpstr>
      <vt:lpstr>Shortcut for Predicates in Disjunctive Normal Form</vt:lpstr>
      <vt:lpstr>Summary : Logic Coverage for Specs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Logic Coverage</dc:title>
  <dc:creator>Jeff Offutt</dc:creator>
  <cp:lastModifiedBy>Yue Zhang</cp:lastModifiedBy>
  <cp:revision>227</cp:revision>
  <cp:lastPrinted>2016-04-18T15:07:22Z</cp:lastPrinted>
  <dcterms:created xsi:type="dcterms:W3CDTF">1996-06-15T03:21:08Z</dcterms:created>
  <dcterms:modified xsi:type="dcterms:W3CDTF">2026-04-27T14:56:17Z</dcterms:modified>
</cp:coreProperties>
</file>