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424" r:id="rId2"/>
    <p:sldId id="442" r:id="rId3"/>
    <p:sldId id="411" r:id="rId4"/>
    <p:sldId id="418" r:id="rId5"/>
    <p:sldId id="432" r:id="rId6"/>
    <p:sldId id="433" r:id="rId7"/>
    <p:sldId id="441" r:id="rId8"/>
    <p:sldId id="436" r:id="rId9"/>
    <p:sldId id="431" r:id="rId10"/>
    <p:sldId id="438" r:id="rId11"/>
    <p:sldId id="437" r:id="rId12"/>
    <p:sldId id="427" r:id="rId13"/>
    <p:sldId id="422" r:id="rId14"/>
    <p:sldId id="423" r:id="rId15"/>
    <p:sldId id="425" r:id="rId16"/>
  </p:sldIdLst>
  <p:sldSz cx="12192000" cy="6858000"/>
  <p:notesSz cx="6881813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0" userDrawn="1">
          <p15:clr>
            <a:srgbClr val="A4A3A4"/>
          </p15:clr>
        </p15:guide>
        <p15:guide id="2" pos="36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33CC33"/>
    <a:srgbClr val="00145A"/>
    <a:srgbClr val="001E5A"/>
    <a:srgbClr val="5F5F5F"/>
    <a:srgbClr val="6699FF"/>
    <a:srgbClr val="333399"/>
    <a:srgbClr val="0000CC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1" autoAdjust="0"/>
    <p:restoredTop sz="95928" autoAdjust="0"/>
  </p:normalViewPr>
  <p:slideViewPr>
    <p:cSldViewPr snapToGrid="0">
      <p:cViewPr varScale="1">
        <p:scale>
          <a:sx n="70" d="100"/>
          <a:sy n="70" d="100"/>
        </p:scale>
        <p:origin x="321" y="45"/>
      </p:cViewPr>
      <p:guideLst>
        <p:guide orient="horz" pos="2280"/>
        <p:guide pos="369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60" d="100"/>
        <a:sy n="160" d="100"/>
      </p:scale>
      <p:origin x="0" y="55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82418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254" tIns="0" rIns="19254" bIns="0" numCol="1" anchor="t" anchorCtr="0" compatLnSpc="1">
            <a:prstTxWarp prst="textNoShape">
              <a:avLst/>
            </a:prstTxWarp>
          </a:bodyPr>
          <a:lstStyle>
            <a:lvl1pPr defTabSz="924404">
              <a:defRPr sz="11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99396" y="1"/>
            <a:ext cx="2982417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254" tIns="0" rIns="19254" bIns="0" numCol="1" anchor="t" anchorCtr="0" compatLnSpc="1">
            <a:prstTxWarp prst="textNoShape">
              <a:avLst/>
            </a:prstTxWarp>
          </a:bodyPr>
          <a:lstStyle>
            <a:lvl1pPr algn="r" defTabSz="924404">
              <a:defRPr sz="11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2195"/>
            <a:ext cx="2982418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254" tIns="0" rIns="19254" bIns="0" numCol="1" anchor="b" anchorCtr="0" compatLnSpc="1">
            <a:prstTxWarp prst="textNoShape">
              <a:avLst/>
            </a:prstTxWarp>
          </a:bodyPr>
          <a:lstStyle>
            <a:lvl1pPr defTabSz="924404">
              <a:defRPr sz="11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99396" y="8832195"/>
            <a:ext cx="2982417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254" tIns="0" rIns="19254" bIns="0" numCol="1" anchor="b" anchorCtr="0" compatLnSpc="1">
            <a:prstTxWarp prst="textNoShape">
              <a:avLst/>
            </a:prstTxWarp>
          </a:bodyPr>
          <a:lstStyle>
            <a:lvl1pPr algn="r" defTabSz="924404">
              <a:defRPr sz="1100" b="0" i="1"/>
            </a:lvl1pPr>
          </a:lstStyle>
          <a:p>
            <a:pPr>
              <a:defRPr/>
            </a:pPr>
            <a:fld id="{9680A32F-CD24-41C5-A879-B99CDF0B4E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5910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82418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254" tIns="0" rIns="19254" bIns="0" numCol="1" anchor="t" anchorCtr="0" compatLnSpc="1">
            <a:prstTxWarp prst="textNoShape">
              <a:avLst/>
            </a:prstTxWarp>
          </a:bodyPr>
          <a:lstStyle>
            <a:lvl1pPr defTabSz="924404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396" y="1"/>
            <a:ext cx="2982417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254" tIns="0" rIns="19254" bIns="0" numCol="1" anchor="t" anchorCtr="0" compatLnSpc="1">
            <a:prstTxWarp prst="textNoShape">
              <a:avLst/>
            </a:prstTxWarp>
          </a:bodyPr>
          <a:lstStyle>
            <a:lvl1pPr algn="r" defTabSz="924404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195"/>
            <a:ext cx="2982418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254" tIns="0" rIns="19254" bIns="0" numCol="1" anchor="b" anchorCtr="0" compatLnSpc="1">
            <a:prstTxWarp prst="textNoShape">
              <a:avLst/>
            </a:prstTxWarp>
          </a:bodyPr>
          <a:lstStyle>
            <a:lvl1pPr defTabSz="924404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396" y="8832195"/>
            <a:ext cx="2982417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254" tIns="0" rIns="19254" bIns="0" numCol="1" anchor="b" anchorCtr="0" compatLnSpc="1">
            <a:prstTxWarp prst="textNoShape">
              <a:avLst/>
            </a:prstTxWarp>
          </a:bodyPr>
          <a:lstStyle>
            <a:lvl1pPr algn="r" defTabSz="924404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B1B433C8-D9D6-4000-8598-C045E701D8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6978" y="4414560"/>
            <a:ext cx="5047858" cy="4182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59" tIns="46531" rIns="93059" bIns="465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2535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47663" y="698500"/>
            <a:ext cx="6186487" cy="3481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3092167" y="8853714"/>
            <a:ext cx="695985" cy="256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8246" tIns="44925" rIns="88246" bIns="44925">
            <a:spAutoFit/>
          </a:bodyPr>
          <a:lstStyle/>
          <a:p>
            <a:pPr algn="ctr" defTabSz="877349">
              <a:lnSpc>
                <a:spcPct val="90000"/>
              </a:lnSpc>
              <a:defRPr/>
            </a:pPr>
            <a:r>
              <a:rPr lang="en-US" sz="1200" b="0" dirty="0">
                <a:solidFill>
                  <a:schemeClr val="tx1"/>
                </a:solidFill>
              </a:rPr>
              <a:t>Page </a:t>
            </a:r>
            <a:fld id="{12406AAB-7E86-4D9B-B5A7-D01C317ABD86}" type="slidenum">
              <a:rPr lang="en-US" sz="1200" b="0">
                <a:solidFill>
                  <a:schemeClr val="tx1"/>
                </a:solidFill>
              </a:rPr>
              <a:pPr algn="ctr" defTabSz="877349">
                <a:lnSpc>
                  <a:spcPct val="90000"/>
                </a:lnSpc>
                <a:defRPr/>
              </a:pPr>
              <a:t>‹#›</a:t>
            </a:fld>
            <a:endParaRPr lang="en-US" sz="12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74423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47663" y="698500"/>
            <a:ext cx="6186487" cy="3481388"/>
          </a:xfrm>
          <a:ln/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animation in these slides turns the example in the non-active</a:t>
            </a:r>
            <a:r>
              <a:rPr lang="en-US" baseline="0" dirty="0"/>
              <a:t> version into an active in-class exercise. Let the students try the work, then show the answers here.</a:t>
            </a:r>
            <a:br>
              <a:rPr lang="en-US" baseline="0" dirty="0"/>
            </a:br>
            <a:r>
              <a:rPr lang="en-US" baseline="0" dirty="0"/>
              <a:t>It really helps to have the FSM in slides 3 visible at all times. I draw it on a board on the side while they’re working on slide 4.</a:t>
            </a: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021">
              <a:defRPr sz="19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10483" indent="-273263" defTabSz="923021">
              <a:defRPr sz="19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093051" indent="-218610" defTabSz="923021">
              <a:defRPr sz="19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530271" indent="-218610" defTabSz="923021">
              <a:defRPr sz="1900" b="1">
                <a:solidFill>
                  <a:srgbClr val="FAFD00"/>
                </a:solidFill>
                <a:latin typeface="Times New Roman" pitchFamily="18" charset="0"/>
              </a:defRPr>
            </a:lvl4pPr>
            <a:lvl5pPr marL="1967492" indent="-218610" defTabSz="923021">
              <a:defRPr sz="19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404712" indent="-218610" defTabSz="92302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841932" indent="-218610" defTabSz="92302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279153" indent="-218610" defTabSz="92302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716373" indent="-218610" defTabSz="92302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61DAB8DB-D27F-4A21-A6CA-8F3C9875CD01}" type="slidenum">
              <a:rPr lang="en-US" altLang="en-US" sz="1100" b="0">
                <a:solidFill>
                  <a:schemeClr val="tx1"/>
                </a:solidFill>
              </a:rPr>
              <a:pPr/>
              <a:t>1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62136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47663" y="698500"/>
            <a:ext cx="6186487" cy="3481388"/>
          </a:xfrm>
          <a:ln/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021">
              <a:defRPr sz="19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10483" indent="-273263" defTabSz="923021">
              <a:defRPr sz="19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093051" indent="-218610" defTabSz="923021">
              <a:defRPr sz="19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530271" indent="-218610" defTabSz="923021">
              <a:defRPr sz="1900" b="1">
                <a:solidFill>
                  <a:srgbClr val="FAFD00"/>
                </a:solidFill>
                <a:latin typeface="Times New Roman" pitchFamily="18" charset="0"/>
              </a:defRPr>
            </a:lvl4pPr>
            <a:lvl5pPr marL="1967492" indent="-218610" defTabSz="923021">
              <a:defRPr sz="19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404712" indent="-218610" defTabSz="92302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841932" indent="-218610" defTabSz="92302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279153" indent="-218610" defTabSz="92302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716373" indent="-218610" defTabSz="92302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AD760426-93FA-43D0-B080-3CBF8B337D8A}" type="slidenum">
              <a:rPr lang="en-US" altLang="en-US" sz="1100" b="0">
                <a:solidFill>
                  <a:schemeClr val="tx1"/>
                </a:solidFill>
              </a:rPr>
              <a:pPr/>
              <a:t>3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98010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47663" y="698500"/>
            <a:ext cx="6186487" cy="3481388"/>
          </a:xfrm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It really helps to have the FSM in slides 3 visible at all times. I draw it on a board on the side while they’re working on slide 4.</a:t>
            </a: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021">
              <a:defRPr sz="19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10483" indent="-273263" defTabSz="923021">
              <a:defRPr sz="19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093051" indent="-218610" defTabSz="923021">
              <a:defRPr sz="19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530271" indent="-218610" defTabSz="923021">
              <a:defRPr sz="1900" b="1">
                <a:solidFill>
                  <a:srgbClr val="FAFD00"/>
                </a:solidFill>
                <a:latin typeface="Times New Roman" pitchFamily="18" charset="0"/>
              </a:defRPr>
            </a:lvl4pPr>
            <a:lvl5pPr marL="1967492" indent="-218610" defTabSz="923021">
              <a:defRPr sz="19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404712" indent="-218610" defTabSz="92302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841932" indent="-218610" defTabSz="92302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279153" indent="-218610" defTabSz="92302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716373" indent="-218610" defTabSz="92302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B58D4847-03C4-46B9-9E5F-13CBD2ADC70A}" type="slidenum">
              <a:rPr lang="en-US" altLang="en-US" sz="1100" b="0">
                <a:solidFill>
                  <a:schemeClr val="tx1"/>
                </a:solidFill>
              </a:rPr>
              <a:pPr/>
              <a:t>4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46487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47663" y="698500"/>
            <a:ext cx="6186487" cy="3481388"/>
          </a:xfrm>
          <a:ln/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/>
              <a:t>By this time, most students</a:t>
            </a:r>
            <a:r>
              <a:rPr lang="en-US" altLang="en-US" baseline="0" dirty="0"/>
              <a:t> should be able to do this quickly, without going through the computations.</a:t>
            </a:r>
            <a:endParaRPr lang="en-US" altLang="en-US" dirty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021">
              <a:defRPr sz="19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10483" indent="-273263" defTabSz="923021">
              <a:defRPr sz="19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093051" indent="-218610" defTabSz="923021">
              <a:defRPr sz="19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530271" indent="-218610" defTabSz="923021">
              <a:defRPr sz="1900" b="1">
                <a:solidFill>
                  <a:srgbClr val="FAFD00"/>
                </a:solidFill>
                <a:latin typeface="Times New Roman" pitchFamily="18" charset="0"/>
              </a:defRPr>
            </a:lvl4pPr>
            <a:lvl5pPr marL="1967492" indent="-218610" defTabSz="923021">
              <a:defRPr sz="19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404712" indent="-218610" defTabSz="92302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841932" indent="-218610" defTabSz="92302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279153" indent="-218610" defTabSz="92302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716373" indent="-218610" defTabSz="92302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C992FF4C-4CB8-47F8-A317-1C9619E63F55}" type="slidenum">
              <a:rPr lang="en-US" altLang="en-US" sz="1100" b="0">
                <a:solidFill>
                  <a:schemeClr val="tx1"/>
                </a:solidFill>
              </a:rPr>
              <a:pPr/>
              <a:t>5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62689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47663" y="698500"/>
            <a:ext cx="6186487" cy="3481388"/>
          </a:xfrm>
          <a:ln/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021">
              <a:defRPr sz="19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10483" indent="-273263" defTabSz="923021">
              <a:defRPr sz="19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093051" indent="-218610" defTabSz="923021">
              <a:defRPr sz="19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530271" indent="-218610" defTabSz="923021">
              <a:defRPr sz="1900" b="1">
                <a:solidFill>
                  <a:srgbClr val="FAFD00"/>
                </a:solidFill>
                <a:latin typeface="Times New Roman" pitchFamily="18" charset="0"/>
              </a:defRPr>
            </a:lvl4pPr>
            <a:lvl5pPr marL="1967492" indent="-218610" defTabSz="923021">
              <a:defRPr sz="19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404712" indent="-218610" defTabSz="92302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841932" indent="-218610" defTabSz="92302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279153" indent="-218610" defTabSz="92302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716373" indent="-218610" defTabSz="92302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C992FF4C-4CB8-47F8-A317-1C9619E63F55}" type="slidenum">
              <a:rPr lang="en-US" altLang="en-US" sz="1100" b="0">
                <a:solidFill>
                  <a:schemeClr val="tx1"/>
                </a:solidFill>
              </a:rPr>
              <a:pPr/>
              <a:t>6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59507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7663" y="698500"/>
            <a:ext cx="6186487" cy="34813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a mean teacher would tell the students</a:t>
            </a:r>
            <a:r>
              <a:rPr lang="en-US" baseline="0" dirty="0"/>
              <a:t> this is easy.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B433C8-D9D6-4000-8598-C045E701D8DE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8456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47663" y="698500"/>
            <a:ext cx="6186487" cy="3481388"/>
          </a:xfrm>
          <a:ln/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021">
              <a:defRPr sz="19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10483" indent="-273263" defTabSz="923021">
              <a:defRPr sz="19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093051" indent="-218610" defTabSz="923021">
              <a:defRPr sz="19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530271" indent="-218610" defTabSz="923021">
              <a:defRPr sz="1900" b="1">
                <a:solidFill>
                  <a:srgbClr val="FAFD00"/>
                </a:solidFill>
                <a:latin typeface="Times New Roman" pitchFamily="18" charset="0"/>
              </a:defRPr>
            </a:lvl4pPr>
            <a:lvl5pPr marL="1967492" indent="-218610" defTabSz="923021">
              <a:defRPr sz="19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404712" indent="-218610" defTabSz="92302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841932" indent="-218610" defTabSz="92302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279153" indent="-218610" defTabSz="92302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716373" indent="-218610" defTabSz="92302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A7BBCAA1-A51C-424D-962B-DCD74746FDC9}" type="slidenum">
              <a:rPr lang="en-US" altLang="en-US" sz="1100" b="0">
                <a:solidFill>
                  <a:schemeClr val="tx1"/>
                </a:solidFill>
              </a:rPr>
              <a:pPr/>
              <a:t>13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74942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47663" y="698500"/>
            <a:ext cx="6186487" cy="3481388"/>
          </a:xfrm>
          <a:ln/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021">
              <a:defRPr sz="19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10483" indent="-273263" defTabSz="923021">
              <a:defRPr sz="19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093051" indent="-218610" defTabSz="923021">
              <a:defRPr sz="19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530271" indent="-218610" defTabSz="923021">
              <a:defRPr sz="1900" b="1">
                <a:solidFill>
                  <a:srgbClr val="FAFD00"/>
                </a:solidFill>
                <a:latin typeface="Times New Roman" pitchFamily="18" charset="0"/>
              </a:defRPr>
            </a:lvl4pPr>
            <a:lvl5pPr marL="1967492" indent="-218610" defTabSz="923021">
              <a:defRPr sz="19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404712" indent="-218610" defTabSz="92302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841932" indent="-218610" defTabSz="92302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279153" indent="-218610" defTabSz="92302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716373" indent="-218610" defTabSz="923021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8232921E-5A2A-469E-A8FA-A82650251BAA}" type="slidenum">
              <a:rPr lang="en-US" altLang="en-US" sz="1100" b="0">
                <a:solidFill>
                  <a:schemeClr val="tx1"/>
                </a:solidFill>
              </a:rPr>
              <a:pPr/>
              <a:t>14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7913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8)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8B8FA9-A451-44FD-8093-97F40538A8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603457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151" y="876300"/>
            <a:ext cx="11823700" cy="55392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085" y="6578929"/>
            <a:ext cx="5226049" cy="255959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8)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49384" y="6570673"/>
            <a:ext cx="3860800" cy="26421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07551" y="6562416"/>
            <a:ext cx="2540000" cy="27247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A23B6A-A111-4B79-9B96-4B0C2AB782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445126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8)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9BA517-5FFB-48A2-89FC-64BFEC5A2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4852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4152" y="1085850"/>
            <a:ext cx="5810249" cy="53149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085850"/>
            <a:ext cx="5810251" cy="53149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8)</a:t>
            </a: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8C069D-4A44-4B4F-A2AE-B6FBDCAAF9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43826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8)</a:t>
            </a:r>
            <a:endParaRPr 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E20814-C1E1-47F2-8D72-CB57D81D35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32565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8)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7164A8-1AE9-437C-A63B-023F30ED14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24770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8)</a:t>
            </a:r>
            <a:endParaRPr 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319797-6662-4892-A0ED-1D1FD7E933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200979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8)</a:t>
            </a: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33FC60-2CCE-4CB9-A0BD-2F60956DEF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40986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8)</a:t>
            </a: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3DCB52-A659-4704-A303-B9227B0CFE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3155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8)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4278B7-BF18-4158-9513-D44597DA9A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087153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52984" y="96838"/>
            <a:ext cx="2954867" cy="63039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4152" y="96838"/>
            <a:ext cx="8665633" cy="63039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8)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23D178-FF6C-4E79-A261-90ECF19DA4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514046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96839"/>
            <a:ext cx="10363200" cy="9159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84151" y="1085850"/>
            <a:ext cx="11823700" cy="531495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8)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FA3D6E-6C24-40DF-A934-319844D45B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84230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00004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4085" y="6577713"/>
            <a:ext cx="5226049" cy="27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b" anchorCtr="0" compatLnSpc="1">
            <a:prstTxWarp prst="textNoShape">
              <a:avLst/>
            </a:prstTxWarp>
          </a:bodyPr>
          <a:lstStyle>
            <a:lvl1pPr>
              <a:defRPr sz="9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Introduction to Software Testing, Edition 2  (Ch 8)</a:t>
            </a:r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492751" y="6569775"/>
            <a:ext cx="3860800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ctr">
              <a:defRPr sz="9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© Ammann &amp; Offutt</a:t>
            </a:r>
            <a:endParaRPr 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607551" y="6560251"/>
            <a:ext cx="25400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r">
              <a:defRPr sz="9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7E18E52E-C440-44E8-BE0C-A6F3C27455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9677" y="103188"/>
            <a:ext cx="12117087" cy="728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" y="831274"/>
            <a:ext cx="12158441" cy="5747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 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 </a:t>
            </a:r>
          </a:p>
          <a:p>
            <a:pPr lvl="4"/>
            <a:r>
              <a:rPr lang="en-US" altLang="en-US" dirty="0"/>
              <a:t>Fifth level </a:t>
            </a:r>
          </a:p>
        </p:txBody>
      </p:sp>
      <p:sp>
        <p:nvSpPr>
          <p:cNvPr id="8" name="Line 10"/>
          <p:cNvSpPr>
            <a:spLocks noChangeShapeType="1"/>
          </p:cNvSpPr>
          <p:nvPr userDrawn="1"/>
        </p:nvSpPr>
        <p:spPr bwMode="auto">
          <a:xfrm>
            <a:off x="-1" y="729143"/>
            <a:ext cx="12158444" cy="0"/>
          </a:xfrm>
          <a:prstGeom prst="line">
            <a:avLst/>
          </a:prstGeom>
          <a:noFill/>
          <a:ln w="5715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sz="200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  <p:sldLayoutId id="2147483859" r:id="rId6"/>
    <p:sldLayoutId id="2147483860" r:id="rId7"/>
    <p:sldLayoutId id="2147483861" r:id="rId8"/>
    <p:sldLayoutId id="2147483862" r:id="rId9"/>
    <p:sldLayoutId id="2147483863" r:id="rId10"/>
    <p:sldLayoutId id="2147483864" r:id="rId11"/>
    <p:sldLayoutId id="2147483865" r:id="rId12"/>
  </p:sldLayoutIdLst>
  <p:transition spd="med"/>
  <p:hf hdr="0" ft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85000"/>
        <a:buChar char="•"/>
        <a:defRPr sz="2800" b="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400" b="0">
          <a:solidFill>
            <a:schemeClr val="tx1"/>
          </a:solidFill>
          <a:latin typeface="Gill Sans MT" panose="020B0502020104020203" pitchFamily="34" charset="0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000" b="0">
          <a:solidFill>
            <a:schemeClr val="tx1"/>
          </a:solidFill>
          <a:latin typeface="Gill Sans MT" panose="020B0502020104020203" pitchFamily="34" charset="0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0">
          <a:solidFill>
            <a:schemeClr val="tx1"/>
          </a:solidFill>
          <a:latin typeface="Gill Sans MT" panose="020B0502020104020203" pitchFamily="34" charset="0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sz="2000" b="0">
          <a:solidFill>
            <a:schemeClr val="tx1"/>
          </a:solidFill>
          <a:latin typeface="Gill Sans MT" panose="020B0502020104020203" pitchFamily="34" charset="0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Chapter 4 Logic Coverage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8.5 Logic Coverage of FSMs</a:t>
            </a:r>
            <a:endParaRPr lang="zh-CN" altLang="en-US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3C1292-AA09-4825-AAA6-11E6F7274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本节课程目标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140380-8F80-4477-896A-0F60D13D0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掌握将逻辑覆盖应用到有限状态机（</a:t>
            </a:r>
            <a:r>
              <a:rPr lang="en-US" altLang="zh-CN" dirty="0"/>
              <a:t>FSM</a:t>
            </a:r>
            <a:r>
              <a:rPr lang="zh-CN" altLang="zh-CN" dirty="0"/>
              <a:t>）的思路和方法；</a:t>
            </a:r>
          </a:p>
          <a:p>
            <a:r>
              <a:rPr lang="zh-CN" altLang="zh-CN" dirty="0"/>
              <a:t>结合测试需求分析其中可能存在的不可行测试需求、意外跳转等问题；</a:t>
            </a:r>
          </a:p>
          <a:p>
            <a:r>
              <a:rPr lang="zh-CN" altLang="zh-CN" dirty="0"/>
              <a:t>明确测试自动化涉及的可达性和可控制性（映射）问题。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EC46B3-2F77-443C-9058-253BBD634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A23B6A-A111-4B79-9B96-4B0C2AB782A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9979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Covering Finite State Machines</a:t>
            </a:r>
          </a:p>
        </p:txBody>
      </p:sp>
      <p:sp>
        <p:nvSpPr>
          <p:cNvPr id="1536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FSMs are graphs</a:t>
            </a:r>
          </a:p>
          <a:p>
            <a:pPr lvl="1"/>
            <a:r>
              <a:rPr lang="en-US" altLang="en-US" dirty="0"/>
              <a:t>Nodes represent state</a:t>
            </a:r>
          </a:p>
          <a:p>
            <a:pPr lvl="1"/>
            <a:r>
              <a:rPr lang="en-US" altLang="en-US" dirty="0"/>
              <a:t>Edges represent transitions among states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Transitions often have logical expressions as guards or triggers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As we said :</a:t>
            </a:r>
          </a:p>
        </p:txBody>
      </p:sp>
      <p:sp>
        <p:nvSpPr>
          <p:cNvPr id="1536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18B5F7BF-0BB5-4DD8-A0DB-0EA4018DAEEA}" type="slidenum">
              <a:rPr lang="en-US" altLang="en-US" sz="900" b="0">
                <a:solidFill>
                  <a:schemeClr val="tx1"/>
                </a:solidFill>
                <a:latin typeface="Arial" pitchFamily="34" charset="0"/>
              </a:rPr>
              <a:pPr/>
              <a:t>3</a:t>
            </a:fld>
            <a:endParaRPr lang="en-US" altLang="en-US" sz="900" b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247813" name="Text Box 5"/>
          <p:cNvSpPr txBox="1">
            <a:spLocks noChangeArrowheads="1"/>
          </p:cNvSpPr>
          <p:nvPr/>
        </p:nvSpPr>
        <p:spPr bwMode="auto">
          <a:xfrm>
            <a:off x="2977059" y="4864714"/>
            <a:ext cx="6223083" cy="523220"/>
          </a:xfrm>
          <a:prstGeom prst="rect">
            <a:avLst/>
          </a:prstGeom>
          <a:solidFill>
            <a:srgbClr val="0000FF"/>
          </a:solidFill>
          <a:ln w="28575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800">
                <a:solidFill>
                  <a:schemeClr val="tx2"/>
                </a:solidFill>
                <a:latin typeface="Gill Sans MT" panose="020B0502020104020203" pitchFamily="34" charset="0"/>
              </a:rPr>
              <a:t>Find a </a:t>
            </a:r>
            <a:r>
              <a:rPr lang="en-US" altLang="en-US" sz="2800" i="1">
                <a:solidFill>
                  <a:schemeClr val="tx2"/>
                </a:solidFill>
                <a:latin typeface="Gill Sans MT" panose="020B0502020104020203" pitchFamily="34" charset="0"/>
              </a:rPr>
              <a:t>logical expression</a:t>
            </a:r>
            <a:r>
              <a:rPr lang="en-US" altLang="en-US" sz="2800">
                <a:solidFill>
                  <a:schemeClr val="tx2"/>
                </a:solidFill>
                <a:latin typeface="Gill Sans MT" panose="020B0502020104020203" pitchFamily="34" charset="0"/>
              </a:rPr>
              <a:t> and cover it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7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78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5F8E8DEB-A9BF-4A7E-977D-B49168718346}" type="slidenum">
              <a:rPr lang="en-US" altLang="en-US" sz="900" b="0">
                <a:solidFill>
                  <a:schemeClr val="tx1"/>
                </a:solidFill>
                <a:latin typeface="Arial" pitchFamily="34" charset="0"/>
              </a:rPr>
              <a:pPr/>
              <a:t>4</a:t>
            </a:fld>
            <a:endParaRPr lang="en-US" altLang="en-US" sz="900" b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96840"/>
            <a:ext cx="7772400" cy="744733"/>
          </a:xfrm>
        </p:spPr>
        <p:txBody>
          <a:bodyPr/>
          <a:lstStyle/>
          <a:p>
            <a:r>
              <a:rPr lang="en-US" altLang="en-US" dirty="0"/>
              <a:t>Example—Subway Train</a:t>
            </a:r>
          </a:p>
        </p:txBody>
      </p:sp>
      <p:sp>
        <p:nvSpPr>
          <p:cNvPr id="16389" name="AutoShape 5"/>
          <p:cNvSpPr>
            <a:spLocks noChangeArrowheads="1"/>
          </p:cNvSpPr>
          <p:nvPr/>
        </p:nvSpPr>
        <p:spPr bwMode="auto">
          <a:xfrm>
            <a:off x="5033963" y="1270000"/>
            <a:ext cx="2125662" cy="901700"/>
          </a:xfrm>
          <a:prstGeom prst="roundRect">
            <a:avLst>
              <a:gd name="adj" fmla="val 16667"/>
            </a:avLst>
          </a:prstGeom>
          <a:solidFill>
            <a:srgbClr val="0033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All Doors</a:t>
            </a:r>
          </a:p>
          <a:p>
            <a:pPr algn="ctr"/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Open</a:t>
            </a:r>
          </a:p>
        </p:txBody>
      </p:sp>
      <p:cxnSp>
        <p:nvCxnSpPr>
          <p:cNvPr id="16390" name="AutoShape 29"/>
          <p:cNvCxnSpPr>
            <a:cxnSpLocks noChangeShapeType="1"/>
            <a:stCxn id="16393" idx="3"/>
            <a:endCxn id="16392" idx="2"/>
          </p:cNvCxnSpPr>
          <p:nvPr/>
        </p:nvCxnSpPr>
        <p:spPr bwMode="auto">
          <a:xfrm flipV="1">
            <a:off x="7158039" y="3241676"/>
            <a:ext cx="2001837" cy="1757363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391" name="AutoShape 47"/>
          <p:cNvSpPr>
            <a:spLocks noChangeArrowheads="1"/>
          </p:cNvSpPr>
          <p:nvPr/>
        </p:nvSpPr>
        <p:spPr bwMode="auto">
          <a:xfrm>
            <a:off x="2070101" y="2339975"/>
            <a:ext cx="2125663" cy="901700"/>
          </a:xfrm>
          <a:prstGeom prst="roundRect">
            <a:avLst>
              <a:gd name="adj" fmla="val 16667"/>
            </a:avLst>
          </a:prstGeom>
          <a:solidFill>
            <a:srgbClr val="0033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 sz="2400">
                <a:solidFill>
                  <a:schemeClr val="tx1"/>
                </a:solidFill>
                <a:latin typeface="Gill Sans MT" panose="020B0502020104020203" pitchFamily="34" charset="0"/>
              </a:rPr>
              <a:t>Left Doors</a:t>
            </a:r>
          </a:p>
          <a:p>
            <a:pPr algn="ctr"/>
            <a:r>
              <a:rPr lang="en-US" altLang="en-US" sz="2400">
                <a:solidFill>
                  <a:schemeClr val="tx1"/>
                </a:solidFill>
                <a:latin typeface="Gill Sans MT" panose="020B0502020104020203" pitchFamily="34" charset="0"/>
              </a:rPr>
              <a:t>Open</a:t>
            </a:r>
          </a:p>
        </p:txBody>
      </p:sp>
      <p:sp>
        <p:nvSpPr>
          <p:cNvPr id="16392" name="AutoShape 48"/>
          <p:cNvSpPr>
            <a:spLocks noChangeArrowheads="1"/>
          </p:cNvSpPr>
          <p:nvPr/>
        </p:nvSpPr>
        <p:spPr bwMode="auto">
          <a:xfrm>
            <a:off x="8096251" y="2339975"/>
            <a:ext cx="2125663" cy="901700"/>
          </a:xfrm>
          <a:prstGeom prst="roundRect">
            <a:avLst>
              <a:gd name="adj" fmla="val 16667"/>
            </a:avLst>
          </a:prstGeom>
          <a:solidFill>
            <a:srgbClr val="0033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 sz="2400">
                <a:solidFill>
                  <a:schemeClr val="tx1"/>
                </a:solidFill>
                <a:latin typeface="Gill Sans MT" panose="020B0502020104020203" pitchFamily="34" charset="0"/>
              </a:rPr>
              <a:t>Right Doors</a:t>
            </a:r>
          </a:p>
          <a:p>
            <a:pPr algn="ctr"/>
            <a:r>
              <a:rPr lang="en-US" altLang="en-US" sz="2400">
                <a:solidFill>
                  <a:schemeClr val="tx1"/>
                </a:solidFill>
                <a:latin typeface="Gill Sans MT" panose="020B0502020104020203" pitchFamily="34" charset="0"/>
              </a:rPr>
              <a:t>Open</a:t>
            </a:r>
          </a:p>
        </p:txBody>
      </p:sp>
      <p:sp>
        <p:nvSpPr>
          <p:cNvPr id="16393" name="AutoShape 49"/>
          <p:cNvSpPr>
            <a:spLocks noChangeArrowheads="1"/>
          </p:cNvSpPr>
          <p:nvPr/>
        </p:nvSpPr>
        <p:spPr bwMode="auto">
          <a:xfrm>
            <a:off x="5032376" y="4548188"/>
            <a:ext cx="2125663" cy="901700"/>
          </a:xfrm>
          <a:prstGeom prst="roundRect">
            <a:avLst>
              <a:gd name="adj" fmla="val 16667"/>
            </a:avLst>
          </a:prstGeom>
          <a:solidFill>
            <a:srgbClr val="0033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 sz="2400">
                <a:solidFill>
                  <a:schemeClr val="tx1"/>
                </a:solidFill>
                <a:latin typeface="Gill Sans MT" panose="020B0502020104020203" pitchFamily="34" charset="0"/>
              </a:rPr>
              <a:t>All Doors</a:t>
            </a:r>
          </a:p>
          <a:p>
            <a:pPr algn="ctr"/>
            <a:r>
              <a:rPr lang="en-US" altLang="en-US" sz="2400">
                <a:solidFill>
                  <a:schemeClr val="tx1"/>
                </a:solidFill>
                <a:latin typeface="Gill Sans MT" panose="020B0502020104020203" pitchFamily="34" charset="0"/>
              </a:rPr>
              <a:t>Closed</a:t>
            </a:r>
          </a:p>
        </p:txBody>
      </p:sp>
      <p:sp>
        <p:nvSpPr>
          <p:cNvPr id="16394" name="Text Box 51"/>
          <p:cNvSpPr txBox="1">
            <a:spLocks noChangeArrowheads="1"/>
          </p:cNvSpPr>
          <p:nvPr/>
        </p:nvSpPr>
        <p:spPr bwMode="auto">
          <a:xfrm>
            <a:off x="7186700" y="4947154"/>
            <a:ext cx="340911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b="0" dirty="0" err="1">
                <a:latin typeface="Gill Sans MT" panose="020B0502020104020203" pitchFamily="34" charset="0"/>
              </a:rPr>
              <a:t>trainSpeed</a:t>
            </a:r>
            <a:r>
              <a:rPr lang="en-US" altLang="en-US" sz="1800" b="0" dirty="0">
                <a:latin typeface="Gill Sans MT" panose="020B0502020104020203" pitchFamily="34" charset="0"/>
              </a:rPr>
              <a:t> = 0 </a:t>
            </a:r>
            <a:r>
              <a:rPr lang="en-US" altLang="en-US" sz="1800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 platform=right </a:t>
            </a:r>
            <a:r>
              <a:rPr lang="en-US" altLang="en-US" sz="1800" b="0" dirty="0">
                <a:latin typeface="Gill Sans MT" panose="020B0502020104020203" pitchFamily="34" charset="0"/>
              </a:rPr>
              <a:t> (location = </a:t>
            </a:r>
            <a:r>
              <a:rPr lang="en-US" altLang="en-US" sz="1800" b="0" dirty="0" err="1">
                <a:latin typeface="Gill Sans MT" panose="020B0502020104020203" pitchFamily="34" charset="0"/>
              </a:rPr>
              <a:t>inStation</a:t>
            </a:r>
            <a:r>
              <a:rPr lang="en-US" altLang="en-US" sz="1800" b="0" dirty="0">
                <a:latin typeface="Gill Sans MT" panose="020B0502020104020203" pitchFamily="34" charset="0"/>
              </a:rPr>
              <a:t> </a:t>
            </a:r>
            <a:r>
              <a:rPr lang="en-US" altLang="en-US" sz="1800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</a:t>
            </a:r>
            <a:r>
              <a:rPr lang="en-US" altLang="en-US" sz="1800" b="0" dirty="0">
                <a:latin typeface="Gill Sans MT" panose="020B0502020104020203" pitchFamily="34" charset="0"/>
              </a:rPr>
              <a:t> (</a:t>
            </a:r>
            <a:r>
              <a:rPr lang="en-US" altLang="en-US" sz="1800" b="0" dirty="0" err="1">
                <a:latin typeface="Gill Sans MT" panose="020B0502020104020203" pitchFamily="34" charset="0"/>
              </a:rPr>
              <a:t>emergencyStop</a:t>
            </a:r>
            <a:r>
              <a:rPr lang="en-US" altLang="en-US" sz="1800" b="0" dirty="0">
                <a:latin typeface="Gill Sans MT" panose="020B0502020104020203" pitchFamily="34" charset="0"/>
              </a:rPr>
              <a:t> </a:t>
            </a:r>
            <a:r>
              <a:rPr lang="en-US" altLang="en-US" sz="1800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</a:t>
            </a:r>
            <a:r>
              <a:rPr lang="en-US" altLang="en-US" sz="1800" b="0" dirty="0">
                <a:latin typeface="Gill Sans MT" panose="020B0502020104020203" pitchFamily="34" charset="0"/>
              </a:rPr>
              <a:t> </a:t>
            </a:r>
            <a:r>
              <a:rPr lang="en-US" altLang="en-US" sz="1800" b="0" dirty="0" err="1">
                <a:latin typeface="Gill Sans MT" panose="020B0502020104020203" pitchFamily="34" charset="0"/>
              </a:rPr>
              <a:t>overrideOpen</a:t>
            </a:r>
            <a:r>
              <a:rPr lang="en-US" altLang="en-US" sz="1800" b="0" dirty="0">
                <a:latin typeface="Gill Sans MT" panose="020B0502020104020203" pitchFamily="34" charset="0"/>
              </a:rPr>
              <a:t> </a:t>
            </a:r>
            <a:r>
              <a:rPr lang="en-US" altLang="en-US" sz="1800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 </a:t>
            </a:r>
            <a:r>
              <a:rPr lang="en-US" altLang="en-US" sz="1800" b="0" dirty="0">
                <a:latin typeface="Gill Sans MT" panose="020B0502020104020203" pitchFamily="34" charset="0"/>
              </a:rPr>
              <a:t>location = </a:t>
            </a:r>
            <a:r>
              <a:rPr lang="en-US" altLang="en-US" sz="1800" b="0" dirty="0" err="1">
                <a:latin typeface="Gill Sans MT" panose="020B0502020104020203" pitchFamily="34" charset="0"/>
              </a:rPr>
              <a:t>inTunnel</a:t>
            </a:r>
            <a:r>
              <a:rPr lang="en-US" altLang="en-US" sz="1800" b="0" dirty="0">
                <a:latin typeface="Gill Sans MT" panose="020B0502020104020203" pitchFamily="34" charset="0"/>
              </a:rPr>
              <a:t>))</a:t>
            </a:r>
          </a:p>
        </p:txBody>
      </p:sp>
      <p:cxnSp>
        <p:nvCxnSpPr>
          <p:cNvPr id="16395" name="AutoShape 52"/>
          <p:cNvCxnSpPr>
            <a:cxnSpLocks noChangeShapeType="1"/>
            <a:stCxn id="16393" idx="1"/>
            <a:endCxn id="16391" idx="2"/>
          </p:cNvCxnSpPr>
          <p:nvPr/>
        </p:nvCxnSpPr>
        <p:spPr bwMode="auto">
          <a:xfrm rot="10800000">
            <a:off x="3133725" y="3241676"/>
            <a:ext cx="1898650" cy="1757363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396" name="Text Box 53"/>
          <p:cNvSpPr txBox="1">
            <a:spLocks noChangeArrowheads="1"/>
          </p:cNvSpPr>
          <p:nvPr/>
        </p:nvSpPr>
        <p:spPr bwMode="auto">
          <a:xfrm>
            <a:off x="1612901" y="4953253"/>
            <a:ext cx="352107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b="0" dirty="0" err="1">
                <a:latin typeface="Gill Sans MT" panose="020B0502020104020203" pitchFamily="34" charset="0"/>
              </a:rPr>
              <a:t>trainSpeed</a:t>
            </a:r>
            <a:r>
              <a:rPr lang="en-US" altLang="en-US" sz="1800" b="0" dirty="0">
                <a:latin typeface="Gill Sans MT" panose="020B0502020104020203" pitchFamily="34" charset="0"/>
              </a:rPr>
              <a:t> = 0 </a:t>
            </a:r>
            <a:r>
              <a:rPr lang="en-US" altLang="en-US" sz="1800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 platform=left </a:t>
            </a:r>
            <a:r>
              <a:rPr lang="en-US" altLang="en-US" sz="1800" b="0" dirty="0">
                <a:latin typeface="Gill Sans MT" panose="020B0502020104020203" pitchFamily="34" charset="0"/>
              </a:rPr>
              <a:t> (location = </a:t>
            </a:r>
            <a:r>
              <a:rPr lang="en-US" altLang="en-US" sz="1800" b="0" dirty="0" err="1">
                <a:latin typeface="Gill Sans MT" panose="020B0502020104020203" pitchFamily="34" charset="0"/>
              </a:rPr>
              <a:t>inStation</a:t>
            </a:r>
            <a:r>
              <a:rPr lang="en-US" altLang="en-US" sz="1800" b="0" dirty="0">
                <a:latin typeface="Gill Sans MT" panose="020B0502020104020203" pitchFamily="34" charset="0"/>
              </a:rPr>
              <a:t> </a:t>
            </a:r>
            <a:r>
              <a:rPr lang="en-US" altLang="en-US" sz="1800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</a:t>
            </a:r>
            <a:r>
              <a:rPr lang="en-US" altLang="en-US" sz="1800" b="0" dirty="0">
                <a:latin typeface="Gill Sans MT" panose="020B0502020104020203" pitchFamily="34" charset="0"/>
              </a:rPr>
              <a:t> (</a:t>
            </a:r>
            <a:r>
              <a:rPr lang="en-US" altLang="en-US" sz="1800" b="0" dirty="0" err="1">
                <a:latin typeface="Gill Sans MT" panose="020B0502020104020203" pitchFamily="34" charset="0"/>
              </a:rPr>
              <a:t>emergencyStop</a:t>
            </a:r>
            <a:r>
              <a:rPr lang="en-US" altLang="en-US" sz="1800" b="0" dirty="0">
                <a:latin typeface="Gill Sans MT" panose="020B0502020104020203" pitchFamily="34" charset="0"/>
              </a:rPr>
              <a:t> </a:t>
            </a:r>
            <a:r>
              <a:rPr lang="en-US" altLang="en-US" sz="1800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</a:t>
            </a:r>
            <a:r>
              <a:rPr lang="en-US" altLang="en-US" sz="1800" b="0" dirty="0">
                <a:latin typeface="Gill Sans MT" panose="020B0502020104020203" pitchFamily="34" charset="0"/>
              </a:rPr>
              <a:t> </a:t>
            </a:r>
            <a:r>
              <a:rPr lang="en-US" altLang="en-US" sz="1800" b="0" dirty="0" err="1">
                <a:latin typeface="Gill Sans MT" panose="020B0502020104020203" pitchFamily="34" charset="0"/>
              </a:rPr>
              <a:t>overrideOpen</a:t>
            </a:r>
            <a:r>
              <a:rPr lang="en-US" altLang="en-US" sz="1800" b="0" dirty="0">
                <a:latin typeface="Gill Sans MT" panose="020B0502020104020203" pitchFamily="34" charset="0"/>
              </a:rPr>
              <a:t> </a:t>
            </a:r>
            <a:r>
              <a:rPr lang="en-US" altLang="en-US" sz="1800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 </a:t>
            </a:r>
            <a:r>
              <a:rPr lang="en-US" altLang="en-US" sz="1800" b="0" dirty="0">
                <a:latin typeface="Gill Sans MT" panose="020B0502020104020203" pitchFamily="34" charset="0"/>
              </a:rPr>
              <a:t>location = </a:t>
            </a:r>
            <a:r>
              <a:rPr lang="en-US" altLang="en-US" sz="1800" b="0" dirty="0" err="1">
                <a:latin typeface="Gill Sans MT" panose="020B0502020104020203" pitchFamily="34" charset="0"/>
              </a:rPr>
              <a:t>inTunnel</a:t>
            </a:r>
            <a:r>
              <a:rPr lang="en-US" altLang="en-US" sz="1800" b="0" dirty="0">
                <a:latin typeface="Gill Sans MT" panose="020B0502020104020203" pitchFamily="34" charset="0"/>
              </a:rPr>
              <a:t>))</a:t>
            </a:r>
          </a:p>
        </p:txBody>
      </p:sp>
      <p:cxnSp>
        <p:nvCxnSpPr>
          <p:cNvPr id="16397" name="AutoShape 54"/>
          <p:cNvCxnSpPr>
            <a:cxnSpLocks noChangeShapeType="1"/>
            <a:stCxn id="16391" idx="0"/>
            <a:endCxn id="16389" idx="1"/>
          </p:cNvCxnSpPr>
          <p:nvPr/>
        </p:nvCxnSpPr>
        <p:spPr bwMode="auto">
          <a:xfrm rot="-5400000">
            <a:off x="3774282" y="1080294"/>
            <a:ext cx="619125" cy="1900238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398" name="AutoShape 55"/>
          <p:cNvCxnSpPr>
            <a:cxnSpLocks noChangeShapeType="1"/>
            <a:stCxn id="16392" idx="0"/>
            <a:endCxn id="16389" idx="3"/>
          </p:cNvCxnSpPr>
          <p:nvPr/>
        </p:nvCxnSpPr>
        <p:spPr bwMode="auto">
          <a:xfrm rot="5400000" flipH="1">
            <a:off x="7850188" y="1030288"/>
            <a:ext cx="619125" cy="2000250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399" name="Text Box 56"/>
          <p:cNvSpPr txBox="1">
            <a:spLocks noChangeArrowheads="1"/>
          </p:cNvSpPr>
          <p:nvPr/>
        </p:nvSpPr>
        <p:spPr bwMode="auto">
          <a:xfrm>
            <a:off x="2417764" y="1414463"/>
            <a:ext cx="25161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1800" b="0" dirty="0" err="1">
                <a:latin typeface="Gill Sans MT" panose="020B0502020104020203" pitchFamily="34" charset="0"/>
              </a:rPr>
              <a:t>secondP</a:t>
            </a:r>
            <a:r>
              <a:rPr lang="en-US" altLang="en-US" sz="1800" b="0" dirty="0" err="1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latform</a:t>
            </a:r>
            <a:r>
              <a:rPr lang="en-US" altLang="en-US" sz="1800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 = right</a:t>
            </a:r>
            <a:endParaRPr lang="en-US" altLang="en-US" sz="1800" b="0" dirty="0">
              <a:latin typeface="Gill Sans MT" panose="020B0502020104020203" pitchFamily="34" charset="0"/>
            </a:endParaRPr>
          </a:p>
        </p:txBody>
      </p:sp>
      <p:sp>
        <p:nvSpPr>
          <p:cNvPr id="16400" name="Text Box 57"/>
          <p:cNvSpPr txBox="1">
            <a:spLocks noChangeArrowheads="1"/>
          </p:cNvSpPr>
          <p:nvPr/>
        </p:nvSpPr>
        <p:spPr bwMode="auto">
          <a:xfrm>
            <a:off x="7261226" y="1416051"/>
            <a:ext cx="24923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b="0" dirty="0" err="1">
                <a:latin typeface="Gill Sans MT" panose="020B0502020104020203" pitchFamily="34" charset="0"/>
              </a:rPr>
              <a:t>secondP</a:t>
            </a:r>
            <a:r>
              <a:rPr lang="en-US" altLang="en-US" sz="1800" b="0" dirty="0" err="1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latform</a:t>
            </a:r>
            <a:r>
              <a:rPr lang="en-US" altLang="en-US" sz="1800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= left</a:t>
            </a:r>
            <a:endParaRPr lang="en-US" altLang="en-US" sz="1800" b="0" dirty="0">
              <a:latin typeface="Gill Sans MT" panose="020B0502020104020203" pitchFamily="34" charset="0"/>
            </a:endParaRPr>
          </a:p>
        </p:txBody>
      </p:sp>
      <p:cxnSp>
        <p:nvCxnSpPr>
          <p:cNvPr id="16401" name="AutoShape 58"/>
          <p:cNvCxnSpPr>
            <a:cxnSpLocks noChangeShapeType="1"/>
            <a:stCxn id="16392" idx="1"/>
            <a:endCxn id="16404" idx="0"/>
          </p:cNvCxnSpPr>
          <p:nvPr/>
        </p:nvCxnSpPr>
        <p:spPr bwMode="auto">
          <a:xfrm rot="10800000" flipV="1">
            <a:off x="6191250" y="2790826"/>
            <a:ext cx="1905000" cy="1757363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02" name="AutoShape 59"/>
          <p:cNvCxnSpPr>
            <a:cxnSpLocks noChangeShapeType="1"/>
            <a:stCxn id="16391" idx="3"/>
            <a:endCxn id="16405" idx="0"/>
          </p:cNvCxnSpPr>
          <p:nvPr/>
        </p:nvCxnSpPr>
        <p:spPr bwMode="auto">
          <a:xfrm>
            <a:off x="4195763" y="2790826"/>
            <a:ext cx="1814512" cy="1757363"/>
          </a:xfrm>
          <a:prstGeom prst="curvedConnector2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03" name="AutoShape 60"/>
          <p:cNvCxnSpPr>
            <a:cxnSpLocks noChangeShapeType="1"/>
            <a:stCxn id="16389" idx="2"/>
            <a:endCxn id="16393" idx="0"/>
          </p:cNvCxnSpPr>
          <p:nvPr/>
        </p:nvCxnSpPr>
        <p:spPr bwMode="auto">
          <a:xfrm rot="5400000">
            <a:off x="4908550" y="3359150"/>
            <a:ext cx="2376488" cy="1588"/>
          </a:xfrm>
          <a:prstGeom prst="curvedConnector3">
            <a:avLst>
              <a:gd name="adj1" fmla="val 49968"/>
            </a:avLst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04" name="Rectangle 61"/>
          <p:cNvSpPr>
            <a:spLocks noChangeArrowheads="1"/>
          </p:cNvSpPr>
          <p:nvPr/>
        </p:nvSpPr>
        <p:spPr bwMode="auto">
          <a:xfrm>
            <a:off x="6105525" y="4548189"/>
            <a:ext cx="171450" cy="87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6405" name="Rectangle 62"/>
          <p:cNvSpPr>
            <a:spLocks noChangeArrowheads="1"/>
          </p:cNvSpPr>
          <p:nvPr/>
        </p:nvSpPr>
        <p:spPr bwMode="auto">
          <a:xfrm>
            <a:off x="5924550" y="4548189"/>
            <a:ext cx="171450" cy="87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6406" name="Text Box 64"/>
          <p:cNvSpPr txBox="1">
            <a:spLocks noChangeArrowheads="1"/>
          </p:cNvSpPr>
          <p:nvPr/>
        </p:nvSpPr>
        <p:spPr bwMode="auto">
          <a:xfrm>
            <a:off x="4229101" y="2190751"/>
            <a:ext cx="3921125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b="0" dirty="0">
                <a:solidFill>
                  <a:schemeClr val="tx2"/>
                </a:solidFill>
                <a:latin typeface="Gill Sans MT" panose="020B0502020104020203" pitchFamily="34" charset="0"/>
              </a:rPr>
              <a:t>¬</a:t>
            </a:r>
            <a:r>
              <a:rPr lang="en-US" altLang="en-US" sz="1800" b="0" dirty="0">
                <a:latin typeface="Gill Sans MT" panose="020B0502020104020203" pitchFamily="34" charset="0"/>
              </a:rPr>
              <a:t> </a:t>
            </a:r>
            <a:r>
              <a:rPr lang="en-US" altLang="en-US" sz="1800" b="0" dirty="0" err="1">
                <a:latin typeface="Gill Sans MT" panose="020B0502020104020203" pitchFamily="34" charset="0"/>
              </a:rPr>
              <a:t>emergencyStop</a:t>
            </a:r>
            <a:r>
              <a:rPr lang="en-US" altLang="en-US" sz="1800" b="0" dirty="0">
                <a:latin typeface="Gill Sans MT" panose="020B0502020104020203" pitchFamily="34" charset="0"/>
              </a:rPr>
              <a:t> </a:t>
            </a:r>
            <a:r>
              <a:rPr lang="en-US" altLang="en-US" sz="1800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</a:t>
            </a:r>
            <a:r>
              <a:rPr lang="en-US" altLang="en-US" sz="1800" b="0" dirty="0">
                <a:latin typeface="Gill Sans MT" panose="020B0502020104020203" pitchFamily="34" charset="0"/>
              </a:rPr>
              <a:t> </a:t>
            </a:r>
            <a:r>
              <a:rPr lang="en-US" altLang="en-US" sz="1800" b="0" dirty="0">
                <a:solidFill>
                  <a:schemeClr val="tx2"/>
                </a:solidFill>
                <a:latin typeface="Gill Sans MT" panose="020B0502020104020203" pitchFamily="34" charset="0"/>
              </a:rPr>
              <a:t>¬</a:t>
            </a:r>
            <a:r>
              <a:rPr lang="en-US" altLang="en-US" sz="1800" b="0" dirty="0">
                <a:latin typeface="Gill Sans MT" panose="020B0502020104020203" pitchFamily="34" charset="0"/>
              </a:rPr>
              <a:t> </a:t>
            </a:r>
            <a:r>
              <a:rPr lang="en-US" altLang="en-US" sz="1800" b="0" dirty="0" err="1">
                <a:latin typeface="Gill Sans MT" panose="020B0502020104020203" pitchFamily="34" charset="0"/>
              </a:rPr>
              <a:t>overrideOpen</a:t>
            </a:r>
            <a:r>
              <a:rPr lang="en-US" altLang="en-US" sz="1800" b="0" dirty="0">
                <a:latin typeface="Gill Sans MT" panose="020B0502020104020203" pitchFamily="34" charset="0"/>
              </a:rPr>
              <a:t> </a:t>
            </a:r>
            <a:r>
              <a:rPr lang="en-US" altLang="en-US" sz="1800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</a:t>
            </a:r>
            <a:r>
              <a:rPr lang="en-US" altLang="en-US" sz="1800" b="0" dirty="0">
                <a:latin typeface="Gill Sans MT" panose="020B0502020104020203" pitchFamily="34" charset="0"/>
              </a:rPr>
              <a:t> </a:t>
            </a:r>
            <a:r>
              <a:rPr lang="en-US" altLang="en-US" sz="1800" b="0" dirty="0" err="1">
                <a:latin typeface="Gill Sans MT" panose="020B0502020104020203" pitchFamily="34" charset="0"/>
              </a:rPr>
              <a:t>doorsClear</a:t>
            </a:r>
            <a:r>
              <a:rPr lang="en-US" altLang="en-US" sz="1800" b="0" dirty="0">
                <a:latin typeface="Gill Sans MT" panose="020B0502020104020203" pitchFamily="34" charset="0"/>
              </a:rPr>
              <a:t> </a:t>
            </a:r>
            <a:r>
              <a:rPr lang="en-US" altLang="en-US" sz="1800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 </a:t>
            </a:r>
            <a:r>
              <a:rPr lang="en-US" altLang="en-US" sz="1800" b="0" dirty="0" err="1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closeDoorPressed</a:t>
            </a:r>
            <a:endParaRPr lang="en-US" altLang="en-US" sz="1800" b="0" dirty="0">
              <a:solidFill>
                <a:schemeClr val="tx2"/>
              </a:solidFill>
              <a:latin typeface="Gill Sans MT" panose="020B0502020104020203" pitchFamily="34" charset="0"/>
              <a:sym typeface="Symbol" pitchFamily="18" charset="2"/>
            </a:endParaRPr>
          </a:p>
          <a:p>
            <a:pPr algn="ctr">
              <a:spcBef>
                <a:spcPct val="50000"/>
              </a:spcBef>
            </a:pPr>
            <a:r>
              <a:rPr lang="en-US" altLang="en-US" sz="1800" b="0" dirty="0">
                <a:latin typeface="Gill Sans MT" panose="020B0502020104020203" pitchFamily="34" charset="0"/>
              </a:rPr>
              <a:t>(applies to </a:t>
            </a:r>
            <a:r>
              <a:rPr lang="en-US" altLang="en-US" sz="1800" b="0" i="1" dirty="0">
                <a:latin typeface="Gill Sans MT" panose="020B0502020104020203" pitchFamily="34" charset="0"/>
              </a:rPr>
              <a:t>all three transitions</a:t>
            </a:r>
            <a:r>
              <a:rPr lang="en-US" altLang="en-US" sz="1800" b="0" dirty="0">
                <a:latin typeface="Gill Sans MT" panose="020B0502020104020203" pitchFamily="34" charset="0"/>
              </a:rPr>
              <a:t>)</a:t>
            </a:r>
          </a:p>
        </p:txBody>
      </p:sp>
      <p:sp>
        <p:nvSpPr>
          <p:cNvPr id="16407" name="Line 66"/>
          <p:cNvSpPr>
            <a:spLocks noChangeShapeType="1"/>
          </p:cNvSpPr>
          <p:nvPr/>
        </p:nvSpPr>
        <p:spPr bwMode="auto">
          <a:xfrm flipV="1">
            <a:off x="6096000" y="5451476"/>
            <a:ext cx="0" cy="6524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Oval 1"/>
          <p:cNvSpPr/>
          <p:nvPr/>
        </p:nvSpPr>
        <p:spPr bwMode="auto">
          <a:xfrm>
            <a:off x="1564461" y="4766210"/>
            <a:ext cx="3785581" cy="1634591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DFD6399A-7897-4DAC-A222-6D7E449660B9}" type="slidenum">
              <a:rPr lang="en-US" altLang="en-US" sz="900" b="0">
                <a:solidFill>
                  <a:schemeClr val="tx1"/>
                </a:solidFill>
                <a:latin typeface="Arial" pitchFamily="34" charset="0"/>
              </a:rPr>
              <a:pPr/>
              <a:t>5</a:t>
            </a:fld>
            <a:endParaRPr lang="en-US" altLang="en-US" sz="900" b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>
          <a:xfrm>
            <a:off x="1572128" y="96840"/>
            <a:ext cx="9032875" cy="744733"/>
          </a:xfrm>
        </p:spPr>
        <p:txBody>
          <a:bodyPr/>
          <a:lstStyle/>
          <a:p>
            <a:r>
              <a:rPr lang="en-US" altLang="en-US" dirty="0"/>
              <a:t>Determination of the Predicate</a:t>
            </a:r>
          </a:p>
        </p:txBody>
      </p:sp>
      <p:sp>
        <p:nvSpPr>
          <p:cNvPr id="260100" name="Text Box 4"/>
          <p:cNvSpPr txBox="1">
            <a:spLocks noChangeArrowheads="1"/>
          </p:cNvSpPr>
          <p:nvPr/>
        </p:nvSpPr>
        <p:spPr bwMode="auto">
          <a:xfrm>
            <a:off x="1708263" y="827575"/>
            <a:ext cx="8773621" cy="707886"/>
          </a:xfrm>
          <a:prstGeom prst="rect">
            <a:avLst/>
          </a:prstGeom>
          <a:solidFill>
            <a:srgbClr val="0033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b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trainSpeed</a:t>
            </a:r>
            <a:r>
              <a:rPr lang="en-US" b="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= 0 </a:t>
            </a:r>
            <a:r>
              <a:rPr lang="en-US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sym typeface="Symbol" pitchFamily="18" charset="2"/>
              </a:rPr>
              <a:t> platform=left </a:t>
            </a:r>
            <a:r>
              <a:rPr lang="en-US" b="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(location = </a:t>
            </a:r>
            <a:r>
              <a:rPr lang="en-US" b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inStation</a:t>
            </a:r>
            <a:r>
              <a:rPr lang="en-US" b="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</a:t>
            </a:r>
            <a:r>
              <a:rPr lang="en-US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sym typeface="Symbol" pitchFamily="18" charset="2"/>
              </a:rPr>
              <a:t></a:t>
            </a:r>
            <a:r>
              <a:rPr lang="en-US" b="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(</a:t>
            </a:r>
            <a:r>
              <a:rPr lang="en-US" b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emergencyStop</a:t>
            </a:r>
            <a:r>
              <a:rPr lang="en-US" b="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</a:t>
            </a:r>
            <a:r>
              <a:rPr lang="en-US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sym typeface="Symbol" pitchFamily="18" charset="2"/>
              </a:rPr>
              <a:t></a:t>
            </a:r>
            <a:r>
              <a:rPr lang="en-US" b="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</a:t>
            </a:r>
            <a:r>
              <a:rPr lang="en-US" b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overrideOpen</a:t>
            </a:r>
            <a:r>
              <a:rPr lang="en-US" b="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</a:t>
            </a:r>
            <a:r>
              <a:rPr lang="en-US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sym typeface="Symbol" pitchFamily="18" charset="2"/>
              </a:rPr>
              <a:t> location = </a:t>
            </a:r>
            <a:r>
              <a:rPr lang="en-US" b="0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sym typeface="Symbol" pitchFamily="18" charset="2"/>
              </a:rPr>
              <a:t>inTunnel</a:t>
            </a:r>
            <a:r>
              <a:rPr lang="en-US" b="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))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11628" y="2308738"/>
            <a:ext cx="6366888" cy="2308324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Find the truth assignments that let the all six clauses determine the value of the predicate.</a:t>
            </a:r>
          </a:p>
          <a:p>
            <a:pPr algn="ctr"/>
            <a:endParaRPr lang="en-US" sz="2400" b="0" i="1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 algn="ctr"/>
            <a:r>
              <a:rPr lang="en-US" sz="2400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That is, solve for </a:t>
            </a:r>
            <a:r>
              <a:rPr lang="en-US" sz="2400" b="0" i="1" dirty="0" err="1">
                <a:solidFill>
                  <a:schemeClr val="tx1"/>
                </a:solidFill>
                <a:latin typeface="Gill Sans MT" panose="020B0502020104020203" pitchFamily="34" charset="0"/>
              </a:rPr>
              <a:t>P</a:t>
            </a:r>
            <a:r>
              <a:rPr lang="en-US" sz="3200" b="0" i="1" baseline="-25000" dirty="0" err="1">
                <a:solidFill>
                  <a:schemeClr val="tx1"/>
                </a:solidFill>
                <a:latin typeface="Gill Sans MT" panose="020B0502020104020203" pitchFamily="34" charset="0"/>
              </a:rPr>
              <a:t>trainSpeed</a:t>
            </a:r>
            <a:r>
              <a:rPr lang="en-US" sz="2400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, then </a:t>
            </a:r>
            <a:r>
              <a:rPr lang="en-US" sz="2400" b="0" i="1" dirty="0" err="1">
                <a:solidFill>
                  <a:schemeClr val="tx1"/>
                </a:solidFill>
                <a:latin typeface="Gill Sans MT" panose="020B0502020104020203" pitchFamily="34" charset="0"/>
              </a:rPr>
              <a:t>P</a:t>
            </a:r>
            <a:r>
              <a:rPr lang="en-US" sz="3200" b="0" i="1" baseline="-25000" dirty="0" err="1">
                <a:solidFill>
                  <a:schemeClr val="tx1"/>
                </a:solidFill>
                <a:latin typeface="Gill Sans MT" panose="020B0502020104020203" pitchFamily="34" charset="0"/>
              </a:rPr>
              <a:t>platform</a:t>
            </a:r>
            <a:r>
              <a:rPr lang="en-US" sz="3200" b="0" i="1" baseline="-25000" dirty="0">
                <a:solidFill>
                  <a:schemeClr val="tx1"/>
                </a:solidFill>
                <a:latin typeface="Gill Sans MT" panose="020B0502020104020203" pitchFamily="34" charset="0"/>
              </a:rPr>
              <a:t>=left</a:t>
            </a:r>
            <a:r>
              <a:rPr lang="en-US" sz="2400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, etc.</a:t>
            </a:r>
          </a:p>
          <a:p>
            <a:pPr algn="ctr"/>
            <a:endParaRPr lang="en-US" sz="2400" b="0" i="1" dirty="0">
              <a:solidFill>
                <a:schemeClr val="tx1"/>
              </a:solidFill>
              <a:latin typeface="Gill Sans MT" panose="020B0502020104020203" pitchFamily="34" charset="0"/>
            </a:endParaRP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3344334" y="5111708"/>
            <a:ext cx="5494867" cy="523220"/>
          </a:xfrm>
          <a:prstGeom prst="rect">
            <a:avLst/>
          </a:prstGeom>
          <a:solidFill>
            <a:srgbClr val="0033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a </a:t>
            </a:r>
            <a:r>
              <a:rPr lang="en-US" sz="2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sym typeface="Symbol" pitchFamily="18" charset="2"/>
              </a:rPr>
              <a:t> b </a:t>
            </a:r>
            <a:r>
              <a:rPr lang="en-US" sz="2800" b="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(c </a:t>
            </a:r>
            <a:r>
              <a:rPr lang="en-US" sz="2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sym typeface="Symbol" pitchFamily="18" charset="2"/>
              </a:rPr>
              <a:t></a:t>
            </a:r>
            <a:r>
              <a:rPr lang="en-US" sz="2800" b="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(d </a:t>
            </a:r>
            <a:r>
              <a:rPr lang="en-US" sz="2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sym typeface="Symbol" pitchFamily="18" charset="2"/>
              </a:rPr>
              <a:t></a:t>
            </a:r>
            <a:r>
              <a:rPr lang="en-US" sz="2800" b="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e </a:t>
            </a:r>
            <a:r>
              <a:rPr lang="en-US" sz="2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sym typeface="Symbol" pitchFamily="18" charset="2"/>
              </a:rPr>
              <a:t> f</a:t>
            </a:r>
            <a:r>
              <a:rPr lang="en-US" sz="2800" b="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275233057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DFD6399A-7897-4DAC-A222-6D7E449660B9}" type="slidenum">
              <a:rPr lang="en-US" altLang="en-US" sz="900" b="0">
                <a:solidFill>
                  <a:schemeClr val="tx1"/>
                </a:solidFill>
                <a:latin typeface="Arial" pitchFamily="34" charset="0"/>
              </a:rPr>
              <a:pPr/>
              <a:t>6</a:t>
            </a:fld>
            <a:endParaRPr lang="en-US" altLang="en-US" sz="900" b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>
          <a:xfrm>
            <a:off x="1572128" y="96840"/>
            <a:ext cx="9032875" cy="744733"/>
          </a:xfrm>
        </p:spPr>
        <p:txBody>
          <a:bodyPr/>
          <a:lstStyle/>
          <a:p>
            <a:r>
              <a:rPr lang="en-US" altLang="en-US" dirty="0"/>
              <a:t>Determination of the Predicate</a:t>
            </a:r>
          </a:p>
        </p:txBody>
      </p:sp>
      <p:sp>
        <p:nvSpPr>
          <p:cNvPr id="260100" name="Text Box 4"/>
          <p:cNvSpPr txBox="1">
            <a:spLocks noChangeArrowheads="1"/>
          </p:cNvSpPr>
          <p:nvPr/>
        </p:nvSpPr>
        <p:spPr bwMode="auto">
          <a:xfrm>
            <a:off x="1708263" y="827575"/>
            <a:ext cx="8773621" cy="707886"/>
          </a:xfrm>
          <a:prstGeom prst="rect">
            <a:avLst/>
          </a:prstGeom>
          <a:solidFill>
            <a:srgbClr val="0033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b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trainSpeed</a:t>
            </a:r>
            <a:r>
              <a:rPr lang="en-US" b="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= 0 </a:t>
            </a:r>
            <a:r>
              <a:rPr lang="en-US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sym typeface="Symbol" pitchFamily="18" charset="2"/>
              </a:rPr>
              <a:t> platform=left </a:t>
            </a:r>
            <a:r>
              <a:rPr lang="en-US" b="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(location = </a:t>
            </a:r>
            <a:r>
              <a:rPr lang="en-US" b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inStation</a:t>
            </a:r>
            <a:r>
              <a:rPr lang="en-US" b="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</a:t>
            </a:r>
            <a:r>
              <a:rPr lang="en-US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sym typeface="Symbol" pitchFamily="18" charset="2"/>
              </a:rPr>
              <a:t></a:t>
            </a:r>
            <a:r>
              <a:rPr lang="en-US" b="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(</a:t>
            </a:r>
            <a:r>
              <a:rPr lang="en-US" b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emergencyStop</a:t>
            </a:r>
            <a:r>
              <a:rPr lang="en-US" b="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</a:t>
            </a:r>
            <a:r>
              <a:rPr lang="en-US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sym typeface="Symbol" pitchFamily="18" charset="2"/>
              </a:rPr>
              <a:t></a:t>
            </a:r>
            <a:r>
              <a:rPr lang="en-US" b="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</a:t>
            </a:r>
            <a:r>
              <a:rPr lang="en-US" b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overrideOpen</a:t>
            </a:r>
            <a:r>
              <a:rPr lang="en-US" b="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</a:t>
            </a:r>
            <a:r>
              <a:rPr lang="en-US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sym typeface="Symbol" pitchFamily="18" charset="2"/>
              </a:rPr>
              <a:t> location = </a:t>
            </a:r>
            <a:r>
              <a:rPr lang="en-US" b="0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sym typeface="Symbol" pitchFamily="18" charset="2"/>
              </a:rPr>
              <a:t>inTunnel</a:t>
            </a:r>
            <a:r>
              <a:rPr lang="en-US" b="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))</a:t>
            </a:r>
          </a:p>
        </p:txBody>
      </p:sp>
      <p:sp>
        <p:nvSpPr>
          <p:cNvPr id="260101" name="Text Box 5"/>
          <p:cNvSpPr txBox="1">
            <a:spLocks noChangeArrowheads="1"/>
          </p:cNvSpPr>
          <p:nvPr/>
        </p:nvSpPr>
        <p:spPr bwMode="auto">
          <a:xfrm>
            <a:off x="1961138" y="1633506"/>
            <a:ext cx="8261350" cy="777136"/>
          </a:xfrm>
          <a:prstGeom prst="rect">
            <a:avLst/>
          </a:prstGeom>
          <a:solidFill>
            <a:srgbClr val="0033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300"/>
              </a:spcBef>
            </a:pPr>
            <a:r>
              <a:rPr lang="en-US" altLang="en-US" sz="2400" b="0" dirty="0" err="1">
                <a:latin typeface="Gill Sans MT" panose="020B0502020104020203" pitchFamily="34" charset="0"/>
              </a:rPr>
              <a:t>P</a:t>
            </a:r>
            <a:r>
              <a:rPr lang="en-US" altLang="en-US" sz="2400" b="0" baseline="-25000" dirty="0" err="1">
                <a:latin typeface="Gill Sans MT" panose="020B0502020104020203" pitchFamily="34" charset="0"/>
              </a:rPr>
              <a:t>trainSpeed</a:t>
            </a:r>
            <a:r>
              <a:rPr lang="en-US" altLang="en-US" sz="2400" b="0" baseline="-25000" dirty="0">
                <a:latin typeface="Gill Sans MT" panose="020B0502020104020203" pitchFamily="34" charset="0"/>
              </a:rPr>
              <a:t> = 0</a:t>
            </a:r>
            <a:r>
              <a:rPr lang="en-US" altLang="en-US" b="0" dirty="0">
                <a:latin typeface="Gill Sans MT" panose="020B0502020104020203" pitchFamily="34" charset="0"/>
              </a:rPr>
              <a:t> </a:t>
            </a:r>
            <a:r>
              <a:rPr lang="en-US" altLang="en-US" sz="1800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: 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  <a:sym typeface="Symbol" pitchFamily="18" charset="2"/>
              </a:rPr>
              <a:t>platform = left </a:t>
            </a:r>
            <a:r>
              <a:rPr lang="en-US" altLang="en-US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(location = 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inStation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altLang="en-US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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(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emergencyStop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altLang="en-US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</a:t>
            </a:r>
            <a:endParaRPr lang="en-US" altLang="en-US" sz="1800" b="0" dirty="0">
              <a:solidFill>
                <a:schemeClr val="tx1"/>
              </a:solidFill>
              <a:latin typeface="Gill Sans MT" panose="020B0502020104020203" pitchFamily="34" charset="0"/>
              <a:sym typeface="Symbol" pitchFamily="18" charset="2"/>
            </a:endParaRPr>
          </a:p>
          <a:p>
            <a:pPr>
              <a:spcBef>
                <a:spcPts val="300"/>
              </a:spcBef>
            </a:pP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  <a:sym typeface="Symbol" pitchFamily="18" charset="2"/>
              </a:rPr>
              <a:t>                         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overrideOpen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altLang="en-US" sz="1800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location = 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inTunnel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))</a:t>
            </a:r>
          </a:p>
        </p:txBody>
      </p:sp>
      <p:sp>
        <p:nvSpPr>
          <p:cNvPr id="260102" name="Text Box 6"/>
          <p:cNvSpPr txBox="1">
            <a:spLocks noChangeArrowheads="1"/>
          </p:cNvSpPr>
          <p:nvPr/>
        </p:nvSpPr>
        <p:spPr bwMode="auto">
          <a:xfrm>
            <a:off x="1961138" y="2455254"/>
            <a:ext cx="8261350" cy="777136"/>
          </a:xfrm>
          <a:prstGeom prst="rect">
            <a:avLst/>
          </a:prstGeom>
          <a:solidFill>
            <a:srgbClr val="0033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300"/>
              </a:spcBef>
            </a:pPr>
            <a:r>
              <a:rPr lang="en-US" altLang="en-US" sz="2400" b="0" dirty="0" err="1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P</a:t>
            </a:r>
            <a:r>
              <a:rPr lang="en-US" altLang="en-US" sz="2400" b="0" baseline="-25000" dirty="0" err="1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platform</a:t>
            </a:r>
            <a:r>
              <a:rPr lang="en-US" altLang="en-US" sz="2400" b="0" baseline="-2500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 = left</a:t>
            </a: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  <a:sym typeface="Symbol" pitchFamily="18" charset="2"/>
              </a:rPr>
              <a:t> 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  <a:sym typeface="Symbol" pitchFamily="18" charset="2"/>
              </a:rPr>
              <a:t>: 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trainSpeed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= 0 </a:t>
            </a:r>
            <a:r>
              <a:rPr lang="en-US" altLang="en-US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(location = 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inStation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altLang="en-US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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(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emergencyStop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altLang="en-US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</a:t>
            </a:r>
          </a:p>
          <a:p>
            <a:pPr>
              <a:spcBef>
                <a:spcPts val="300"/>
              </a:spcBef>
            </a:pPr>
            <a:r>
              <a:rPr lang="en-US" altLang="en-US" sz="1800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                       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overrideOpen</a:t>
            </a:r>
            <a:r>
              <a:rPr lang="en-US" altLang="en-US" sz="1800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 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location = 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inTunnel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))</a:t>
            </a:r>
          </a:p>
        </p:txBody>
      </p:sp>
      <p:sp>
        <p:nvSpPr>
          <p:cNvPr id="260104" name="Text Box 8"/>
          <p:cNvSpPr txBox="1">
            <a:spLocks noChangeArrowheads="1"/>
          </p:cNvSpPr>
          <p:nvPr/>
        </p:nvSpPr>
        <p:spPr bwMode="auto">
          <a:xfrm>
            <a:off x="1961139" y="3277002"/>
            <a:ext cx="8261350" cy="777136"/>
          </a:xfrm>
          <a:prstGeom prst="rect">
            <a:avLst/>
          </a:prstGeom>
          <a:solidFill>
            <a:srgbClr val="0033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300"/>
              </a:spcBef>
            </a:pPr>
            <a:r>
              <a:rPr lang="en-US" altLang="en-US" sz="2400" b="0" dirty="0" err="1">
                <a:solidFill>
                  <a:schemeClr val="tx2"/>
                </a:solidFill>
                <a:latin typeface="Gill Sans MT" panose="020B0502020104020203" pitchFamily="34" charset="0"/>
              </a:rPr>
              <a:t>P</a:t>
            </a:r>
            <a:r>
              <a:rPr lang="en-US" altLang="en-US" sz="2400" b="0" baseline="-25000" dirty="0" err="1">
                <a:solidFill>
                  <a:schemeClr val="tx2"/>
                </a:solidFill>
                <a:latin typeface="Gill Sans MT" panose="020B0502020104020203" pitchFamily="34" charset="0"/>
              </a:rPr>
              <a:t>location</a:t>
            </a:r>
            <a:r>
              <a:rPr lang="en-US" altLang="en-US" sz="2400" b="0" baseline="-25000" dirty="0">
                <a:solidFill>
                  <a:schemeClr val="tx2"/>
                </a:solidFill>
                <a:latin typeface="Gill Sans MT" panose="020B0502020104020203" pitchFamily="34" charset="0"/>
              </a:rPr>
              <a:t> = </a:t>
            </a:r>
            <a:r>
              <a:rPr lang="en-US" altLang="en-US" sz="2400" b="0" baseline="-25000" dirty="0" err="1">
                <a:solidFill>
                  <a:schemeClr val="tx2"/>
                </a:solidFill>
                <a:latin typeface="Gill Sans MT" panose="020B0502020104020203" pitchFamily="34" charset="0"/>
              </a:rPr>
              <a:t>inStation</a:t>
            </a: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: 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trainSpeed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= 0 </a:t>
            </a:r>
            <a:r>
              <a:rPr lang="en-US" altLang="en-US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  <a:sym typeface="Symbol" pitchFamily="18" charset="2"/>
              </a:rPr>
              <a:t> platform = left </a:t>
            </a:r>
            <a:r>
              <a:rPr lang="en-US" altLang="en-US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(</a:t>
            </a:r>
            <a:r>
              <a:rPr lang="en-US" altLang="en-US" sz="1800" b="0" dirty="0">
                <a:solidFill>
                  <a:schemeClr val="tx2"/>
                </a:solidFill>
                <a:latin typeface="Gill Sans MT" panose="020B0502020104020203" pitchFamily="34" charset="0"/>
              </a:rPr>
              <a:t>¬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emergencyStop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altLang="en-US" sz="2400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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</a:p>
          <a:p>
            <a:pPr>
              <a:spcBef>
                <a:spcPts val="300"/>
              </a:spcBef>
            </a:pP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                              </a:t>
            </a:r>
            <a:r>
              <a:rPr lang="en-US" altLang="en-US" sz="1800" b="0" dirty="0">
                <a:solidFill>
                  <a:schemeClr val="tx2"/>
                </a:solidFill>
                <a:latin typeface="Gill Sans MT" panose="020B0502020104020203" pitchFamily="34" charset="0"/>
              </a:rPr>
              <a:t>¬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overrideOpen</a:t>
            </a:r>
            <a:r>
              <a:rPr lang="en-US" altLang="en-US" sz="1800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  </a:t>
            </a:r>
            <a:r>
              <a:rPr lang="en-US" altLang="en-US" sz="1800" b="0" dirty="0">
                <a:solidFill>
                  <a:schemeClr val="tx2"/>
                </a:solidFill>
                <a:latin typeface="Gill Sans MT" panose="020B0502020104020203" pitchFamily="34" charset="0"/>
              </a:rPr>
              <a:t>¬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location = 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inTunnel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)</a:t>
            </a:r>
          </a:p>
        </p:txBody>
      </p:sp>
      <p:sp>
        <p:nvSpPr>
          <p:cNvPr id="260105" name="Text Box 9"/>
          <p:cNvSpPr txBox="1">
            <a:spLocks noChangeArrowheads="1"/>
          </p:cNvSpPr>
          <p:nvPr/>
        </p:nvSpPr>
        <p:spPr bwMode="auto">
          <a:xfrm>
            <a:off x="1961139" y="4098750"/>
            <a:ext cx="8261351" cy="777136"/>
          </a:xfrm>
          <a:prstGeom prst="rect">
            <a:avLst/>
          </a:prstGeom>
          <a:solidFill>
            <a:srgbClr val="0033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300"/>
              </a:spcBef>
            </a:pPr>
            <a:r>
              <a:rPr lang="en-US" altLang="en-US" sz="2400" b="0" dirty="0" err="1">
                <a:solidFill>
                  <a:schemeClr val="tx2"/>
                </a:solidFill>
                <a:latin typeface="Gill Sans MT" panose="020B0502020104020203" pitchFamily="34" charset="0"/>
              </a:rPr>
              <a:t>P</a:t>
            </a:r>
            <a:r>
              <a:rPr lang="en-US" altLang="en-US" sz="2400" b="0" baseline="-25000" dirty="0" err="1">
                <a:solidFill>
                  <a:schemeClr val="tx2"/>
                </a:solidFill>
                <a:latin typeface="Gill Sans MT" panose="020B0502020104020203" pitchFamily="34" charset="0"/>
              </a:rPr>
              <a:t>emergencyStop</a:t>
            </a: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: 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trainSpeed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= 0 </a:t>
            </a:r>
            <a:r>
              <a:rPr lang="en-US" altLang="en-US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  <a:sym typeface="Symbol" pitchFamily="18" charset="2"/>
              </a:rPr>
              <a:t> platform = left </a:t>
            </a:r>
            <a:r>
              <a:rPr lang="en-US" altLang="en-US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(</a:t>
            </a:r>
            <a:r>
              <a:rPr lang="en-US" altLang="en-US" sz="1800" b="0" dirty="0">
                <a:solidFill>
                  <a:schemeClr val="tx2"/>
                </a:solidFill>
                <a:latin typeface="Gill Sans MT" panose="020B0502020104020203" pitchFamily="34" charset="0"/>
              </a:rPr>
              <a:t>¬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location = 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inStation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altLang="en-US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</a:t>
            </a:r>
          </a:p>
          <a:p>
            <a:pPr>
              <a:spcBef>
                <a:spcPts val="300"/>
              </a:spcBef>
            </a:pPr>
            <a:r>
              <a:rPr lang="en-US" altLang="en-US" sz="1800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                        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overrideOpen</a:t>
            </a:r>
            <a:r>
              <a:rPr lang="en-US" altLang="en-US" sz="1800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 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location = 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inTunnel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)</a:t>
            </a:r>
          </a:p>
        </p:txBody>
      </p:sp>
      <p:sp>
        <p:nvSpPr>
          <p:cNvPr id="260106" name="Text Box 10"/>
          <p:cNvSpPr txBox="1">
            <a:spLocks noChangeArrowheads="1"/>
          </p:cNvSpPr>
          <p:nvPr/>
        </p:nvSpPr>
        <p:spPr bwMode="auto">
          <a:xfrm>
            <a:off x="1961139" y="4920498"/>
            <a:ext cx="8261350" cy="777136"/>
          </a:xfrm>
          <a:prstGeom prst="rect">
            <a:avLst/>
          </a:prstGeom>
          <a:solidFill>
            <a:srgbClr val="0033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300"/>
              </a:spcBef>
            </a:pPr>
            <a:r>
              <a:rPr lang="en-US" altLang="en-US" sz="2400" b="0" dirty="0" err="1">
                <a:solidFill>
                  <a:schemeClr val="tx2"/>
                </a:solidFill>
                <a:latin typeface="Gill Sans MT" panose="020B0502020104020203" pitchFamily="34" charset="0"/>
              </a:rPr>
              <a:t>P</a:t>
            </a:r>
            <a:r>
              <a:rPr lang="en-US" altLang="en-US" sz="2400" b="0" baseline="-25000" dirty="0" err="1">
                <a:solidFill>
                  <a:schemeClr val="tx2"/>
                </a:solidFill>
                <a:latin typeface="Gill Sans MT" panose="020B0502020104020203" pitchFamily="34" charset="0"/>
              </a:rPr>
              <a:t>overrideOpen</a:t>
            </a: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: 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trainSpeed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= 0 </a:t>
            </a:r>
            <a:r>
              <a:rPr lang="en-US" altLang="en-US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  <a:sym typeface="Symbol" pitchFamily="18" charset="2"/>
              </a:rPr>
              <a:t> platform = left </a:t>
            </a:r>
            <a:r>
              <a:rPr lang="en-US" altLang="en-US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(</a:t>
            </a:r>
            <a:r>
              <a:rPr lang="en-US" altLang="en-US" sz="1800" b="0" dirty="0">
                <a:solidFill>
                  <a:schemeClr val="tx2"/>
                </a:solidFill>
                <a:latin typeface="Gill Sans MT" panose="020B0502020104020203" pitchFamily="34" charset="0"/>
              </a:rPr>
              <a:t>¬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location = 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inStation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altLang="en-US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</a:t>
            </a:r>
          </a:p>
          <a:p>
            <a:pPr>
              <a:spcBef>
                <a:spcPts val="300"/>
              </a:spcBef>
            </a:pPr>
            <a:r>
              <a:rPr lang="en-US" altLang="en-US" sz="1800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                      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emergencyStop</a:t>
            </a:r>
            <a:r>
              <a:rPr lang="en-US" altLang="en-US" sz="1800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 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location = 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inTunnel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)</a:t>
            </a: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1969155" y="5742247"/>
            <a:ext cx="8261350" cy="777136"/>
          </a:xfrm>
          <a:prstGeom prst="rect">
            <a:avLst/>
          </a:prstGeom>
          <a:solidFill>
            <a:srgbClr val="0033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300"/>
              </a:spcBef>
            </a:pPr>
            <a:r>
              <a:rPr lang="en-US" altLang="en-US" sz="2400" b="0" dirty="0" err="1">
                <a:solidFill>
                  <a:schemeClr val="tx2"/>
                </a:solidFill>
                <a:latin typeface="Gill Sans MT" panose="020B0502020104020203" pitchFamily="34" charset="0"/>
              </a:rPr>
              <a:t>P</a:t>
            </a:r>
            <a:r>
              <a:rPr lang="en-US" altLang="en-US" sz="2400" b="0" baseline="-25000" dirty="0" err="1">
                <a:solidFill>
                  <a:schemeClr val="tx2"/>
                </a:solidFill>
                <a:latin typeface="Gill Sans MT" panose="020B0502020104020203" pitchFamily="34" charset="0"/>
              </a:rPr>
              <a:t>location</a:t>
            </a:r>
            <a:r>
              <a:rPr lang="en-US" altLang="en-US" sz="2400" b="0" baseline="-25000" dirty="0">
                <a:solidFill>
                  <a:schemeClr val="tx2"/>
                </a:solidFill>
                <a:latin typeface="Gill Sans MT" panose="020B0502020104020203" pitchFamily="34" charset="0"/>
              </a:rPr>
              <a:t> = </a:t>
            </a:r>
            <a:r>
              <a:rPr lang="en-US" altLang="en-US" sz="2400" b="0" baseline="-25000" dirty="0" err="1">
                <a:solidFill>
                  <a:schemeClr val="tx2"/>
                </a:solidFill>
                <a:latin typeface="Gill Sans MT" panose="020B0502020104020203" pitchFamily="34" charset="0"/>
              </a:rPr>
              <a:t>inTunnel</a:t>
            </a:r>
            <a:r>
              <a:rPr lang="en-US" alt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: 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trainSpeed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= 0 </a:t>
            </a:r>
            <a:r>
              <a:rPr lang="en-US" altLang="en-US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  <a:sym typeface="Symbol" pitchFamily="18" charset="2"/>
              </a:rPr>
              <a:t> platform = left </a:t>
            </a:r>
            <a:r>
              <a:rPr lang="en-US" altLang="en-US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(</a:t>
            </a:r>
            <a:r>
              <a:rPr lang="en-US" altLang="en-US" sz="1800" b="0" dirty="0">
                <a:solidFill>
                  <a:schemeClr val="tx2"/>
                </a:solidFill>
                <a:latin typeface="Gill Sans MT" panose="020B0502020104020203" pitchFamily="34" charset="0"/>
              </a:rPr>
              <a:t>¬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location = 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inStation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altLang="en-US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</a:t>
            </a:r>
          </a:p>
          <a:p>
            <a:pPr>
              <a:spcBef>
                <a:spcPts val="300"/>
              </a:spcBef>
            </a:pPr>
            <a:r>
              <a:rPr lang="en-US" altLang="en-US" sz="1800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                             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emergencyStop</a:t>
            </a:r>
            <a:r>
              <a:rPr lang="en-US" altLang="en-US" sz="1800" b="0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 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altLang="en-US" sz="18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overrideOpen</a:t>
            </a:r>
            <a:r>
              <a:rPr lang="en-US" altLang="en-US" sz="1800" b="0" dirty="0">
                <a:solidFill>
                  <a:schemeClr val="tx1"/>
                </a:solidFill>
                <a:latin typeface="Gill Sans MT" panose="020B0502020104020203" pitchFamily="34" charset="0"/>
              </a:rPr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2679" y="2046677"/>
            <a:ext cx="2861734" cy="400110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Solution for </a:t>
            </a:r>
            <a:r>
              <a:rPr lang="en-US" b="0" i="1" dirty="0" err="1">
                <a:solidFill>
                  <a:schemeClr val="tx1"/>
                </a:solidFill>
                <a:latin typeface="Gill Sans MT" panose="020B0502020104020203" pitchFamily="34" charset="0"/>
              </a:rPr>
              <a:t>P</a:t>
            </a:r>
            <a:r>
              <a:rPr lang="en-US" sz="2800" b="0" i="1" baseline="-25000" dirty="0" err="1">
                <a:solidFill>
                  <a:schemeClr val="tx1"/>
                </a:solidFill>
                <a:latin typeface="Gill Sans MT" panose="020B0502020104020203" pitchFamily="34" charset="0"/>
              </a:rPr>
              <a:t>trainSpeed</a:t>
            </a:r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 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85159" y="2885279"/>
            <a:ext cx="2552654" cy="707886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Solution for </a:t>
            </a:r>
            <a:r>
              <a:rPr lang="en-US" b="0" i="1" dirty="0" err="1">
                <a:solidFill>
                  <a:schemeClr val="tx1"/>
                </a:solidFill>
                <a:latin typeface="Gill Sans MT" panose="020B0502020104020203" pitchFamily="34" charset="0"/>
              </a:rPr>
              <a:t>P</a:t>
            </a:r>
            <a:r>
              <a:rPr lang="en-US" sz="2800" b="0" i="1" baseline="-25000" dirty="0" err="1">
                <a:solidFill>
                  <a:schemeClr val="tx1"/>
                </a:solidFill>
                <a:latin typeface="Gill Sans MT" panose="020B0502020104020203" pitchFamily="34" charset="0"/>
              </a:rPr>
              <a:t>platform</a:t>
            </a:r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 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89575" y="3662415"/>
            <a:ext cx="2573856" cy="707886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Solution for </a:t>
            </a:r>
            <a:r>
              <a:rPr lang="en-US" b="0" i="1" dirty="0" err="1">
                <a:solidFill>
                  <a:schemeClr val="tx1"/>
                </a:solidFill>
                <a:latin typeface="Gill Sans MT" panose="020B0502020104020203" pitchFamily="34" charset="0"/>
              </a:rPr>
              <a:t>P</a:t>
            </a:r>
            <a:r>
              <a:rPr lang="en-US" sz="2800" b="0" i="1" baseline="-25000" dirty="0" err="1">
                <a:solidFill>
                  <a:schemeClr val="tx1"/>
                </a:solidFill>
                <a:latin typeface="Gill Sans MT" panose="020B0502020104020203" pitchFamily="34" charset="0"/>
              </a:rPr>
              <a:t>inStation</a:t>
            </a:r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 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1810" y="4475776"/>
            <a:ext cx="3196363" cy="707886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Solution for </a:t>
            </a:r>
            <a:r>
              <a:rPr lang="en-US" b="0" i="1" dirty="0" err="1">
                <a:solidFill>
                  <a:schemeClr val="tx1"/>
                </a:solidFill>
                <a:latin typeface="Gill Sans MT" panose="020B0502020104020203" pitchFamily="34" charset="0"/>
              </a:rPr>
              <a:t>P</a:t>
            </a:r>
            <a:r>
              <a:rPr lang="en-US" sz="2800" b="0" i="1" baseline="-25000" dirty="0" err="1">
                <a:solidFill>
                  <a:schemeClr val="tx1"/>
                </a:solidFill>
                <a:latin typeface="Gill Sans MT" panose="020B0502020104020203" pitchFamily="34" charset="0"/>
              </a:rPr>
              <a:t>emergencyStop</a:t>
            </a:r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 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2271" y="5342137"/>
            <a:ext cx="3031160" cy="707886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Solution for </a:t>
            </a:r>
            <a:r>
              <a:rPr lang="en-US" b="0" i="1" dirty="0" err="1">
                <a:solidFill>
                  <a:schemeClr val="tx1"/>
                </a:solidFill>
                <a:latin typeface="Gill Sans MT" panose="020B0502020104020203" pitchFamily="34" charset="0"/>
              </a:rPr>
              <a:t>P</a:t>
            </a:r>
            <a:r>
              <a:rPr lang="en-US" sz="2800" b="0" i="1" baseline="-25000" dirty="0" err="1">
                <a:solidFill>
                  <a:schemeClr val="tx1"/>
                </a:solidFill>
                <a:latin typeface="Gill Sans MT" panose="020B0502020104020203" pitchFamily="34" charset="0"/>
              </a:rPr>
              <a:t>overrideOpen</a:t>
            </a:r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 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39763" y="6203810"/>
            <a:ext cx="2527105" cy="707886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Solution for </a:t>
            </a:r>
            <a:r>
              <a:rPr lang="en-US" b="0" i="1" dirty="0" err="1">
                <a:solidFill>
                  <a:schemeClr val="tx1"/>
                </a:solidFill>
                <a:latin typeface="Gill Sans MT" panose="020B0502020104020203" pitchFamily="34" charset="0"/>
              </a:rPr>
              <a:t>P</a:t>
            </a:r>
            <a:r>
              <a:rPr lang="en-US" sz="2800" b="0" i="1" baseline="-25000" dirty="0" err="1">
                <a:solidFill>
                  <a:schemeClr val="tx1"/>
                </a:solidFill>
                <a:latin typeface="Gill Sans MT" panose="020B0502020104020203" pitchFamily="34" charset="0"/>
              </a:rPr>
              <a:t>location</a:t>
            </a:r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 …</a:t>
            </a:r>
          </a:p>
        </p:txBody>
      </p:sp>
    </p:spTree>
    <p:extLst>
      <p:ext uri="{BB962C8B-B14F-4D97-AF65-F5344CB8AC3E}">
        <p14:creationId xmlns:p14="http://schemas.microsoft.com/office/powerpoint/2010/main" val="275233057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60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60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60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60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260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5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0101" grpId="0" animBg="1"/>
      <p:bldP spid="260102" grpId="0" animBg="1"/>
      <p:bldP spid="260104" grpId="0" animBg="1"/>
      <p:bldP spid="260105" grpId="0" animBg="1"/>
      <p:bldP spid="260106" grpId="0" animBg="1"/>
      <p:bldP spid="12" grpId="0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Test Truth Assignments (CACC)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164A8-1AE9-437C-A63B-023F30ED14E5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708263" y="803511"/>
            <a:ext cx="8773621" cy="707886"/>
          </a:xfrm>
          <a:prstGeom prst="rect">
            <a:avLst/>
          </a:prstGeom>
          <a:solidFill>
            <a:srgbClr val="0033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b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trainSpeed</a:t>
            </a:r>
            <a:r>
              <a:rPr lang="en-US" b="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= 0 </a:t>
            </a:r>
            <a:r>
              <a:rPr lang="en-US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sym typeface="Symbol" pitchFamily="18" charset="2"/>
              </a:rPr>
              <a:t> platform=left </a:t>
            </a:r>
            <a:r>
              <a:rPr lang="en-US" b="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(location = </a:t>
            </a:r>
            <a:r>
              <a:rPr lang="en-US" b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inStation</a:t>
            </a:r>
            <a:r>
              <a:rPr lang="en-US" b="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</a:t>
            </a:r>
            <a:r>
              <a:rPr lang="en-US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sym typeface="Symbol" pitchFamily="18" charset="2"/>
              </a:rPr>
              <a:t></a:t>
            </a:r>
            <a:r>
              <a:rPr lang="en-US" b="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(</a:t>
            </a:r>
            <a:r>
              <a:rPr lang="en-US" b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emergencyStop</a:t>
            </a:r>
            <a:r>
              <a:rPr lang="en-US" b="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</a:t>
            </a:r>
            <a:r>
              <a:rPr lang="en-US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sym typeface="Symbol" pitchFamily="18" charset="2"/>
              </a:rPr>
              <a:t></a:t>
            </a:r>
            <a:r>
              <a:rPr lang="en-US" b="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</a:t>
            </a:r>
            <a:r>
              <a:rPr lang="en-US" b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overrideOpen</a:t>
            </a:r>
            <a:r>
              <a:rPr lang="en-US" b="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</a:t>
            </a:r>
            <a:r>
              <a:rPr lang="en-US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sym typeface="Symbol" pitchFamily="18" charset="2"/>
              </a:rPr>
              <a:t> location = </a:t>
            </a:r>
            <a:r>
              <a:rPr lang="en-US" b="0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sym typeface="Symbol" pitchFamily="18" charset="2"/>
              </a:rPr>
              <a:t>inTunnel</a:t>
            </a:r>
            <a:r>
              <a:rPr lang="en-US" b="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))</a:t>
            </a:r>
          </a:p>
        </p:txBody>
      </p:sp>
      <p:graphicFrame>
        <p:nvGraphicFramePr>
          <p:cNvPr id="7" name="Group 29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3318501"/>
              </p:ext>
            </p:extLst>
          </p:nvPr>
        </p:nvGraphicFramePr>
        <p:xfrm>
          <a:off x="1608223" y="1672389"/>
          <a:ext cx="8963523" cy="4700016"/>
        </p:xfrm>
        <a:graphic>
          <a:graphicData uri="http://schemas.openxmlformats.org/drawingml/2006/table">
            <a:tbl>
              <a:tblPr/>
              <a:tblGrid>
                <a:gridCol w="1564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78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03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21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00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874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09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9250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Major Clause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Speed=0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platform=left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inStation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emergStop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overrideOpen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inTunnel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88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trainSpeed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 =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trainSpeed !=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25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platform = left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50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platform != left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63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inStation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85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¬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 inStation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800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emergencyStop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522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¬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emergStop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38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overrideOpen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544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¬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overrideOpen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544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inTunnel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544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¬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inTunnel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57690" y="2926831"/>
            <a:ext cx="3888844" cy="1323439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Fill in the remaining truth assignments based on the expressions computed for the previous slide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6018869" y="2040464"/>
            <a:ext cx="4149598" cy="262468"/>
            <a:chOff x="4494869" y="2040464"/>
            <a:chExt cx="4149598" cy="262468"/>
          </a:xfrm>
        </p:grpSpPr>
        <p:sp>
          <p:nvSpPr>
            <p:cNvPr id="10" name="Rounded Rectangle 9"/>
            <p:cNvSpPr/>
            <p:nvPr/>
          </p:nvSpPr>
          <p:spPr bwMode="auto">
            <a:xfrm>
              <a:off x="4494869" y="2048932"/>
              <a:ext cx="364995" cy="254000"/>
            </a:xfrm>
            <a:prstGeom prst="roundRect">
              <a:avLst/>
            </a:prstGeom>
            <a:noFill/>
            <a:ln w="28575" cap="flat" cmpd="sng" algn="ctr">
              <a:solidFill>
                <a:srgbClr val="33CC33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Rounded Rectangle 10"/>
            <p:cNvSpPr/>
            <p:nvPr/>
          </p:nvSpPr>
          <p:spPr bwMode="auto">
            <a:xfrm>
              <a:off x="5731003" y="2040464"/>
              <a:ext cx="2913464" cy="254000"/>
            </a:xfrm>
            <a:prstGeom prst="roundRect">
              <a:avLst/>
            </a:prstGeom>
            <a:noFill/>
            <a:ln w="28575" cap="flat" cmpd="sng" algn="ctr">
              <a:solidFill>
                <a:srgbClr val="33CC33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cxnSp>
          <p:nvCxnSpPr>
            <p:cNvPr id="12" name="Straight Connector 11"/>
            <p:cNvCxnSpPr>
              <a:stCxn id="10" idx="3"/>
              <a:endCxn id="11" idx="1"/>
            </p:cNvCxnSpPr>
            <p:nvPr/>
          </p:nvCxnSpPr>
          <p:spPr bwMode="auto">
            <a:xfrm flipV="1">
              <a:off x="4859864" y="2167464"/>
              <a:ext cx="871139" cy="8468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33CC33"/>
              </a:solidFill>
              <a:prstDash val="sysDash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13" name="8-Point Star 12"/>
          <p:cNvSpPr/>
          <p:nvPr/>
        </p:nvSpPr>
        <p:spPr bwMode="auto">
          <a:xfrm>
            <a:off x="6110115" y="2023524"/>
            <a:ext cx="1418637" cy="728132"/>
          </a:xfrm>
          <a:prstGeom prst="star8">
            <a:avLst/>
          </a:prstGeom>
          <a:solidFill>
            <a:srgbClr val="00B050"/>
          </a:solidFill>
          <a:ln w="28575" cap="flat" cmpd="sng" algn="ctr">
            <a:solidFill>
              <a:srgbClr val="33CC33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 b="0" dirty="0">
                <a:solidFill>
                  <a:schemeClr val="tx1"/>
                </a:solidFill>
                <a:latin typeface="Gill Sans MT" panose="020B0502020104020203" pitchFamily="34" charset="0"/>
              </a:rPr>
              <a:t>One of these must be true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6018869" y="2412993"/>
            <a:ext cx="4149598" cy="262468"/>
            <a:chOff x="4494869" y="2040464"/>
            <a:chExt cx="4149598" cy="262468"/>
          </a:xfrm>
        </p:grpSpPr>
        <p:sp>
          <p:nvSpPr>
            <p:cNvPr id="15" name="Rounded Rectangle 14"/>
            <p:cNvSpPr/>
            <p:nvPr/>
          </p:nvSpPr>
          <p:spPr bwMode="auto">
            <a:xfrm>
              <a:off x="4494869" y="2048932"/>
              <a:ext cx="364995" cy="254000"/>
            </a:xfrm>
            <a:prstGeom prst="roundRect">
              <a:avLst/>
            </a:prstGeom>
            <a:noFill/>
            <a:ln w="28575" cap="flat" cmpd="sng" algn="ctr">
              <a:solidFill>
                <a:srgbClr val="33CC33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Rounded Rectangle 15"/>
            <p:cNvSpPr/>
            <p:nvPr/>
          </p:nvSpPr>
          <p:spPr bwMode="auto">
            <a:xfrm>
              <a:off x="5731003" y="2040464"/>
              <a:ext cx="2913464" cy="254000"/>
            </a:xfrm>
            <a:prstGeom prst="roundRect">
              <a:avLst/>
            </a:prstGeom>
            <a:noFill/>
            <a:ln w="28575" cap="flat" cmpd="sng" algn="ctr">
              <a:solidFill>
                <a:srgbClr val="33CC33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cxnSp>
          <p:nvCxnSpPr>
            <p:cNvPr id="17" name="Straight Connector 16"/>
            <p:cNvCxnSpPr>
              <a:stCxn id="15" idx="3"/>
              <a:endCxn id="16" idx="1"/>
            </p:cNvCxnSpPr>
            <p:nvPr/>
          </p:nvCxnSpPr>
          <p:spPr bwMode="auto">
            <a:xfrm flipV="1">
              <a:off x="4859864" y="2167464"/>
              <a:ext cx="871139" cy="8468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33CC33"/>
              </a:solidFill>
              <a:prstDash val="sysDash"/>
              <a:round/>
              <a:headEnd type="none" w="sm" len="sm"/>
              <a:tailEnd type="none" w="sm" len="sm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4989669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Test Truth Assignments (CACC)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164A8-1AE9-437C-A63B-023F30ED14E5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708263" y="803511"/>
            <a:ext cx="8773621" cy="707886"/>
          </a:xfrm>
          <a:prstGeom prst="rect">
            <a:avLst/>
          </a:prstGeom>
          <a:solidFill>
            <a:srgbClr val="0033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b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trainSpeed</a:t>
            </a:r>
            <a:r>
              <a:rPr lang="en-US" b="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= 0 </a:t>
            </a:r>
            <a:r>
              <a:rPr lang="en-US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sym typeface="Symbol" pitchFamily="18" charset="2"/>
              </a:rPr>
              <a:t> platform=left </a:t>
            </a:r>
            <a:r>
              <a:rPr lang="en-US" b="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(location = </a:t>
            </a:r>
            <a:r>
              <a:rPr lang="en-US" b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inStation</a:t>
            </a:r>
            <a:r>
              <a:rPr lang="en-US" b="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</a:t>
            </a:r>
            <a:r>
              <a:rPr lang="en-US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sym typeface="Symbol" pitchFamily="18" charset="2"/>
              </a:rPr>
              <a:t></a:t>
            </a:r>
            <a:r>
              <a:rPr lang="en-US" b="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(</a:t>
            </a:r>
            <a:r>
              <a:rPr lang="en-US" b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emergencyStop</a:t>
            </a:r>
            <a:r>
              <a:rPr lang="en-US" b="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</a:t>
            </a:r>
            <a:r>
              <a:rPr lang="en-US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sym typeface="Symbol" pitchFamily="18" charset="2"/>
              </a:rPr>
              <a:t></a:t>
            </a:r>
            <a:r>
              <a:rPr lang="en-US" b="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</a:t>
            </a:r>
            <a:r>
              <a:rPr lang="en-US" b="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overrideOpen</a:t>
            </a:r>
            <a:r>
              <a:rPr lang="en-US" b="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 </a:t>
            </a:r>
            <a:r>
              <a:rPr lang="en-US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sym typeface="Symbol" pitchFamily="18" charset="2"/>
              </a:rPr>
              <a:t> location = </a:t>
            </a:r>
            <a:r>
              <a:rPr lang="en-US" b="0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  <a:sym typeface="Symbol" pitchFamily="18" charset="2"/>
              </a:rPr>
              <a:t>inTunnel</a:t>
            </a:r>
            <a:r>
              <a:rPr lang="en-US" b="0" dirty="0">
                <a:effectLst>
                  <a:outerShdw blurRad="38100" dist="38100" dir="2700000" algn="tl">
                    <a:srgbClr val="000000"/>
                  </a:outerShdw>
                </a:effectLst>
                <a:latin typeface="Gill Sans MT" panose="020B0502020104020203" pitchFamily="34" charset="0"/>
              </a:rPr>
              <a:t>))</a:t>
            </a:r>
          </a:p>
        </p:txBody>
      </p:sp>
      <p:graphicFrame>
        <p:nvGraphicFramePr>
          <p:cNvPr id="7" name="Group 29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8039442"/>
              </p:ext>
            </p:extLst>
          </p:nvPr>
        </p:nvGraphicFramePr>
        <p:xfrm>
          <a:off x="1620921" y="1672386"/>
          <a:ext cx="8963523" cy="4700016"/>
        </p:xfrm>
        <a:graphic>
          <a:graphicData uri="http://schemas.openxmlformats.org/drawingml/2006/table">
            <a:tbl>
              <a:tblPr/>
              <a:tblGrid>
                <a:gridCol w="1564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78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03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21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00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874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09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9250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Major Clause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Speed=0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platform=left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inStation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emergStop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overrideOpen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inTunnel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88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trainSpeed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 =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trainSpeed !=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25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platform = left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50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platform != left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63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inStation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85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¬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 inStation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800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emergencyStop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522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¬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emergStop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38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overrideOpen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544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¬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overrideOpen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544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inTunnel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544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¬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inTunnel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9" name="Group 29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67556218"/>
              </p:ext>
            </p:extLst>
          </p:nvPr>
        </p:nvGraphicFramePr>
        <p:xfrm>
          <a:off x="1620921" y="1672386"/>
          <a:ext cx="8963523" cy="4700016"/>
        </p:xfrm>
        <a:graphic>
          <a:graphicData uri="http://schemas.openxmlformats.org/drawingml/2006/table">
            <a:tbl>
              <a:tblPr/>
              <a:tblGrid>
                <a:gridCol w="1564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78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03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21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00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874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09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9250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Major Clause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Speed=0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platform=left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inStation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emergStop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overrideOpen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inTunnel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88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trainSpeed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 =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trainSpeed !=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25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platform = left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50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platform != left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63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inStation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85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¬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inStation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800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emergencyStop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522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¬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emergStop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38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overrideOpen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544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¬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overrideOpen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544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inTunnel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544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¬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inTunnel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pSp>
        <p:nvGrpSpPr>
          <p:cNvPr id="16" name="Group 15"/>
          <p:cNvGrpSpPr/>
          <p:nvPr/>
        </p:nvGrpSpPr>
        <p:grpSpPr>
          <a:xfrm>
            <a:off x="6018869" y="2040464"/>
            <a:ext cx="4149598" cy="262468"/>
            <a:chOff x="4494869" y="2040464"/>
            <a:chExt cx="4149598" cy="262468"/>
          </a:xfrm>
        </p:grpSpPr>
        <p:sp>
          <p:nvSpPr>
            <p:cNvPr id="8" name="Rounded Rectangle 7"/>
            <p:cNvSpPr/>
            <p:nvPr/>
          </p:nvSpPr>
          <p:spPr bwMode="auto">
            <a:xfrm>
              <a:off x="4494869" y="2048932"/>
              <a:ext cx="364995" cy="254000"/>
            </a:xfrm>
            <a:prstGeom prst="roundRect">
              <a:avLst/>
            </a:prstGeom>
            <a:noFill/>
            <a:ln w="28575" cap="flat" cmpd="sng" algn="ctr">
              <a:solidFill>
                <a:srgbClr val="33CC33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Rounded Rectangle 9"/>
            <p:cNvSpPr/>
            <p:nvPr/>
          </p:nvSpPr>
          <p:spPr bwMode="auto">
            <a:xfrm>
              <a:off x="5731003" y="2040464"/>
              <a:ext cx="2913464" cy="254000"/>
            </a:xfrm>
            <a:prstGeom prst="roundRect">
              <a:avLst/>
            </a:prstGeom>
            <a:noFill/>
            <a:ln w="28575" cap="flat" cmpd="sng" algn="ctr">
              <a:solidFill>
                <a:srgbClr val="33CC33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cxnSp>
          <p:nvCxnSpPr>
            <p:cNvPr id="12" name="Straight Connector 11"/>
            <p:cNvCxnSpPr>
              <a:stCxn id="8" idx="3"/>
              <a:endCxn id="10" idx="1"/>
            </p:cNvCxnSpPr>
            <p:nvPr/>
          </p:nvCxnSpPr>
          <p:spPr bwMode="auto">
            <a:xfrm flipV="1">
              <a:off x="4859864" y="2167464"/>
              <a:ext cx="871139" cy="8468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33CC33"/>
              </a:solidFill>
              <a:prstDash val="sysDash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14" name="8-Point Star 13"/>
          <p:cNvSpPr/>
          <p:nvPr/>
        </p:nvSpPr>
        <p:spPr bwMode="auto">
          <a:xfrm>
            <a:off x="6110115" y="2023524"/>
            <a:ext cx="1418637" cy="728132"/>
          </a:xfrm>
          <a:prstGeom prst="star8">
            <a:avLst/>
          </a:prstGeom>
          <a:solidFill>
            <a:srgbClr val="00B050"/>
          </a:solidFill>
          <a:ln w="28575" cap="flat" cmpd="sng" algn="ctr">
            <a:solidFill>
              <a:srgbClr val="33CC33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 b="0" dirty="0">
                <a:solidFill>
                  <a:schemeClr val="tx1"/>
                </a:solidFill>
                <a:latin typeface="Gill Sans MT" panose="020B0502020104020203" pitchFamily="34" charset="0"/>
              </a:rPr>
              <a:t>One of these must be true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6018869" y="2412993"/>
            <a:ext cx="4149598" cy="262468"/>
            <a:chOff x="4494869" y="2040464"/>
            <a:chExt cx="4149598" cy="262468"/>
          </a:xfrm>
        </p:grpSpPr>
        <p:sp>
          <p:nvSpPr>
            <p:cNvPr id="18" name="Rounded Rectangle 17"/>
            <p:cNvSpPr/>
            <p:nvPr/>
          </p:nvSpPr>
          <p:spPr bwMode="auto">
            <a:xfrm>
              <a:off x="4494869" y="2048932"/>
              <a:ext cx="364995" cy="254000"/>
            </a:xfrm>
            <a:prstGeom prst="roundRect">
              <a:avLst/>
            </a:prstGeom>
            <a:noFill/>
            <a:ln w="28575" cap="flat" cmpd="sng" algn="ctr">
              <a:solidFill>
                <a:srgbClr val="33CC33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Rounded Rectangle 18"/>
            <p:cNvSpPr/>
            <p:nvPr/>
          </p:nvSpPr>
          <p:spPr bwMode="auto">
            <a:xfrm>
              <a:off x="5731003" y="2040464"/>
              <a:ext cx="2913464" cy="254000"/>
            </a:xfrm>
            <a:prstGeom prst="roundRect">
              <a:avLst/>
            </a:prstGeom>
            <a:noFill/>
            <a:ln w="28575" cap="flat" cmpd="sng" algn="ctr">
              <a:solidFill>
                <a:srgbClr val="33CC33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cxnSp>
          <p:nvCxnSpPr>
            <p:cNvPr id="20" name="Straight Connector 19"/>
            <p:cNvCxnSpPr>
              <a:stCxn id="18" idx="3"/>
              <a:endCxn id="19" idx="1"/>
            </p:cNvCxnSpPr>
            <p:nvPr/>
          </p:nvCxnSpPr>
          <p:spPr bwMode="auto">
            <a:xfrm flipV="1">
              <a:off x="4859864" y="2167464"/>
              <a:ext cx="871139" cy="8468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33CC33"/>
              </a:solidFill>
              <a:prstDash val="sysDash"/>
              <a:round/>
              <a:headEnd type="none" w="sm" len="sm"/>
              <a:tailEnd type="none" w="sm" len="sm"/>
            </a:ln>
            <a:effectLst/>
          </p:spPr>
        </p:cxnSp>
      </p:grpSp>
      <p:grpSp>
        <p:nvGrpSpPr>
          <p:cNvPr id="21" name="Group 20"/>
          <p:cNvGrpSpPr/>
          <p:nvPr/>
        </p:nvGrpSpPr>
        <p:grpSpPr>
          <a:xfrm>
            <a:off x="6018869" y="2751656"/>
            <a:ext cx="4149598" cy="262468"/>
            <a:chOff x="4494869" y="2040464"/>
            <a:chExt cx="4149598" cy="262468"/>
          </a:xfrm>
        </p:grpSpPr>
        <p:sp>
          <p:nvSpPr>
            <p:cNvPr id="22" name="Rounded Rectangle 21"/>
            <p:cNvSpPr/>
            <p:nvPr/>
          </p:nvSpPr>
          <p:spPr bwMode="auto">
            <a:xfrm>
              <a:off x="4494869" y="2048932"/>
              <a:ext cx="364995" cy="254000"/>
            </a:xfrm>
            <a:prstGeom prst="roundRect">
              <a:avLst/>
            </a:prstGeom>
            <a:noFill/>
            <a:ln w="28575" cap="flat" cmpd="sng" algn="ctr">
              <a:solidFill>
                <a:srgbClr val="33CC33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Rounded Rectangle 22"/>
            <p:cNvSpPr/>
            <p:nvPr/>
          </p:nvSpPr>
          <p:spPr bwMode="auto">
            <a:xfrm>
              <a:off x="5731003" y="2040464"/>
              <a:ext cx="2913464" cy="254000"/>
            </a:xfrm>
            <a:prstGeom prst="roundRect">
              <a:avLst/>
            </a:prstGeom>
            <a:noFill/>
            <a:ln w="28575" cap="flat" cmpd="sng" algn="ctr">
              <a:solidFill>
                <a:srgbClr val="33CC33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cxnSp>
          <p:nvCxnSpPr>
            <p:cNvPr id="24" name="Straight Connector 23"/>
            <p:cNvCxnSpPr>
              <a:stCxn id="22" idx="3"/>
              <a:endCxn id="23" idx="1"/>
            </p:cNvCxnSpPr>
            <p:nvPr/>
          </p:nvCxnSpPr>
          <p:spPr bwMode="auto">
            <a:xfrm flipV="1">
              <a:off x="4859864" y="2167464"/>
              <a:ext cx="871139" cy="8468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33CC33"/>
              </a:solidFill>
              <a:prstDash val="sysDash"/>
              <a:round/>
              <a:headEnd type="none" w="sm" len="sm"/>
              <a:tailEnd type="none" w="sm" len="sm"/>
            </a:ln>
            <a:effectLst/>
          </p:spPr>
        </p:cxnSp>
      </p:grpSp>
      <p:grpSp>
        <p:nvGrpSpPr>
          <p:cNvPr id="25" name="Group 24"/>
          <p:cNvGrpSpPr/>
          <p:nvPr/>
        </p:nvGrpSpPr>
        <p:grpSpPr>
          <a:xfrm>
            <a:off x="6018869" y="3124185"/>
            <a:ext cx="4149598" cy="262468"/>
            <a:chOff x="4494869" y="2040464"/>
            <a:chExt cx="4149598" cy="262468"/>
          </a:xfrm>
        </p:grpSpPr>
        <p:sp>
          <p:nvSpPr>
            <p:cNvPr id="26" name="Rounded Rectangle 25"/>
            <p:cNvSpPr/>
            <p:nvPr/>
          </p:nvSpPr>
          <p:spPr bwMode="auto">
            <a:xfrm>
              <a:off x="4494869" y="2048932"/>
              <a:ext cx="364995" cy="254000"/>
            </a:xfrm>
            <a:prstGeom prst="roundRect">
              <a:avLst/>
            </a:prstGeom>
            <a:noFill/>
            <a:ln w="28575" cap="flat" cmpd="sng" algn="ctr">
              <a:solidFill>
                <a:srgbClr val="33CC33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Rounded Rectangle 26"/>
            <p:cNvSpPr/>
            <p:nvPr/>
          </p:nvSpPr>
          <p:spPr bwMode="auto">
            <a:xfrm>
              <a:off x="5731003" y="2040464"/>
              <a:ext cx="2913464" cy="254000"/>
            </a:xfrm>
            <a:prstGeom prst="roundRect">
              <a:avLst/>
            </a:prstGeom>
            <a:noFill/>
            <a:ln w="28575" cap="flat" cmpd="sng" algn="ctr">
              <a:solidFill>
                <a:srgbClr val="33CC33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cxnSp>
          <p:nvCxnSpPr>
            <p:cNvPr id="28" name="Straight Connector 27"/>
            <p:cNvCxnSpPr>
              <a:stCxn id="26" idx="3"/>
              <a:endCxn id="27" idx="1"/>
            </p:cNvCxnSpPr>
            <p:nvPr/>
          </p:nvCxnSpPr>
          <p:spPr bwMode="auto">
            <a:xfrm flipV="1">
              <a:off x="4859864" y="2167464"/>
              <a:ext cx="871139" cy="8468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33CC33"/>
              </a:solidFill>
              <a:prstDash val="sysDash"/>
              <a:round/>
              <a:headEnd type="none" w="sm" len="sm"/>
              <a:tailEnd type="none" w="sm" len="sm"/>
            </a:ln>
            <a:effectLst/>
          </p:spPr>
        </p:cxnSp>
      </p:grpSp>
      <p:sp>
        <p:nvSpPr>
          <p:cNvPr id="31" name="Rounded Rectangle 30"/>
          <p:cNvSpPr/>
          <p:nvPr/>
        </p:nvSpPr>
        <p:spPr bwMode="auto">
          <a:xfrm>
            <a:off x="7255003" y="3479790"/>
            <a:ext cx="2913464" cy="254000"/>
          </a:xfrm>
          <a:prstGeom prst="roundRect">
            <a:avLst/>
          </a:prstGeom>
          <a:noFill/>
          <a:ln w="28575" cap="flat" cmpd="sng" algn="ctr">
            <a:solidFill>
              <a:srgbClr val="33CC33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Rounded Rectangle 32"/>
          <p:cNvSpPr/>
          <p:nvPr/>
        </p:nvSpPr>
        <p:spPr bwMode="auto">
          <a:xfrm>
            <a:off x="7255003" y="3843849"/>
            <a:ext cx="2913464" cy="254000"/>
          </a:xfrm>
          <a:prstGeom prst="roundRect">
            <a:avLst/>
          </a:prstGeom>
          <a:noFill/>
          <a:ln w="28575" cap="flat" cmpd="sng" algn="ctr">
            <a:solidFill>
              <a:srgbClr val="33CC33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" name="8-Point Star 33"/>
          <p:cNvSpPr/>
          <p:nvPr/>
        </p:nvSpPr>
        <p:spPr bwMode="auto">
          <a:xfrm>
            <a:off x="7413981" y="3395117"/>
            <a:ext cx="1418637" cy="728132"/>
          </a:xfrm>
          <a:prstGeom prst="star8">
            <a:avLst/>
          </a:prstGeom>
          <a:solidFill>
            <a:srgbClr val="00B050"/>
          </a:solidFill>
          <a:ln w="28575" cap="flat" cmpd="sng" algn="ctr">
            <a:solidFill>
              <a:srgbClr val="33CC33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 b="0" dirty="0">
                <a:solidFill>
                  <a:schemeClr val="tx1"/>
                </a:solidFill>
                <a:latin typeface="Gill Sans MT" panose="020B0502020104020203" pitchFamily="34" charset="0"/>
              </a:rPr>
              <a:t>One of these must be false</a:t>
            </a:r>
          </a:p>
        </p:txBody>
      </p:sp>
    </p:spTree>
    <p:extLst>
      <p:ext uri="{BB962C8B-B14F-4D97-AF65-F5344CB8AC3E}">
        <p14:creationId xmlns:p14="http://schemas.microsoft.com/office/powerpoint/2010/main" val="354170021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8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9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1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31" grpId="0" animBg="1"/>
      <p:bldP spid="33" grpId="0" animBg="1"/>
      <p:bldP spid="3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With a Predicate?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164A8-1AE9-437C-A63B-023F30ED14E5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graphicFrame>
        <p:nvGraphicFramePr>
          <p:cNvPr id="9" name="Group 29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4578588"/>
              </p:ext>
            </p:extLst>
          </p:nvPr>
        </p:nvGraphicFramePr>
        <p:xfrm>
          <a:off x="1608222" y="922471"/>
          <a:ext cx="8963527" cy="1393952"/>
        </p:xfrm>
        <a:graphic>
          <a:graphicData uri="http://schemas.openxmlformats.org/drawingml/2006/table">
            <a:tbl>
              <a:tblPr/>
              <a:tblGrid>
                <a:gridCol w="1191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55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14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45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58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58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5918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trainSpeed=0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platform=left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inStation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emergencyStop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overrideOpen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inTunnel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inStation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¬ 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inStation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 Box 293"/>
          <p:cNvSpPr txBox="1">
            <a:spLocks noChangeArrowheads="1"/>
          </p:cNvSpPr>
          <p:nvPr/>
        </p:nvSpPr>
        <p:spPr bwMode="auto">
          <a:xfrm>
            <a:off x="2754153" y="2784091"/>
            <a:ext cx="6917709" cy="2169825"/>
          </a:xfrm>
          <a:prstGeom prst="rect">
            <a:avLst/>
          </a:prstGeom>
          <a:solidFill>
            <a:schemeClr val="bg1"/>
          </a:solidFill>
          <a:ln w="28575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ts val="600"/>
              </a:spcBef>
            </a:pP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The model only has two locations</a:t>
            </a:r>
          </a:p>
          <a:p>
            <a:pPr algn="ctr">
              <a:spcBef>
                <a:spcPts val="600"/>
              </a:spcBef>
            </a:pP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altLang="en-US" sz="2400" b="0" i="1" dirty="0" err="1">
                <a:solidFill>
                  <a:schemeClr val="tx1"/>
                </a:solidFill>
                <a:latin typeface="Gill Sans MT" panose="020B0502020104020203" pitchFamily="34" charset="0"/>
              </a:rPr>
              <a:t>inStation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and </a:t>
            </a:r>
            <a:r>
              <a:rPr lang="en-US" altLang="en-US" sz="2400" b="0" i="1" dirty="0" err="1">
                <a:solidFill>
                  <a:schemeClr val="tx1"/>
                </a:solidFill>
                <a:latin typeface="Gill Sans MT" panose="020B0502020104020203" pitchFamily="34" charset="0"/>
              </a:rPr>
              <a:t>inTunnel</a:t>
            </a:r>
            <a:endParaRPr lang="en-US" altLang="en-US" sz="2400" b="0" i="1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 algn="ctr">
              <a:spcBef>
                <a:spcPts val="600"/>
              </a:spcBef>
            </a:pPr>
            <a:r>
              <a:rPr lang="en-US" altLang="en-US" sz="2400" b="0" dirty="0">
                <a:solidFill>
                  <a:schemeClr val="tx2"/>
                </a:solidFill>
                <a:latin typeface="Gill Sans MT" panose="020B0502020104020203" pitchFamily="34" charset="0"/>
              </a:rPr>
              <a:t>So these cannot both be false!</a:t>
            </a:r>
          </a:p>
          <a:p>
            <a:pPr algn="ctr">
              <a:spcBef>
                <a:spcPts val="600"/>
              </a:spcBef>
            </a:pP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If the train is not in the station (</a:t>
            </a:r>
            <a:r>
              <a:rPr lang="en-US" altLang="en-US" sz="2400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location != </a:t>
            </a:r>
            <a:r>
              <a:rPr lang="en-US" altLang="en-US" sz="2400" b="0" i="1" dirty="0" err="1">
                <a:solidFill>
                  <a:schemeClr val="tx1"/>
                </a:solidFill>
                <a:latin typeface="Gill Sans MT" panose="020B0502020104020203" pitchFamily="34" charset="0"/>
              </a:rPr>
              <a:t>inStation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), then it must be in a tunnel (</a:t>
            </a:r>
            <a:r>
              <a:rPr lang="en-US" altLang="en-US" sz="2400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location = </a:t>
            </a:r>
            <a:r>
              <a:rPr lang="en-US" altLang="en-US" sz="2400" b="0" i="1" dirty="0" err="1">
                <a:solidFill>
                  <a:schemeClr val="tx1"/>
                </a:solidFill>
                <a:latin typeface="Gill Sans MT" panose="020B0502020104020203" pitchFamily="34" charset="0"/>
              </a:rPr>
              <a:t>inTunnel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)</a:t>
            </a:r>
          </a:p>
        </p:txBody>
      </p:sp>
      <p:sp>
        <p:nvSpPr>
          <p:cNvPr id="12" name="Oval 295"/>
          <p:cNvSpPr>
            <a:spLocks noChangeArrowheads="1"/>
          </p:cNvSpPr>
          <p:nvPr/>
        </p:nvSpPr>
        <p:spPr bwMode="auto">
          <a:xfrm>
            <a:off x="5661706" y="1807072"/>
            <a:ext cx="558739" cy="367350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endParaRPr lang="en-US" altLang="en-US">
              <a:latin typeface="Gill Sans MT" panose="020B0502020104020203" pitchFamily="34" charset="0"/>
            </a:endParaRPr>
          </a:p>
        </p:txBody>
      </p:sp>
      <p:sp>
        <p:nvSpPr>
          <p:cNvPr id="15" name="Oval 295"/>
          <p:cNvSpPr>
            <a:spLocks noChangeArrowheads="1"/>
          </p:cNvSpPr>
          <p:nvPr/>
        </p:nvSpPr>
        <p:spPr bwMode="auto">
          <a:xfrm>
            <a:off x="9671862" y="1807072"/>
            <a:ext cx="558739" cy="367350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endParaRPr lang="en-US" altLang="en-US">
              <a:latin typeface="Gill Sans MT" panose="020B0502020104020203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989806" y="5033791"/>
            <a:ext cx="821288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 dirty="0">
                <a:solidFill>
                  <a:schemeClr val="tx2"/>
                </a:solidFill>
                <a:latin typeface="Gill Sans MT" panose="020B0502020104020203" pitchFamily="34" charset="0"/>
              </a:rPr>
              <a:t>Possible solutions </a:t>
            </a:r>
            <a:r>
              <a:rPr 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:</a:t>
            </a:r>
          </a:p>
          <a:p>
            <a:pPr marL="457200" indent="-457200">
              <a:buFontTx/>
              <a:buAutoNum type="arabicPeriod"/>
            </a:pPr>
            <a:r>
              <a:rPr 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Check with the </a:t>
            </a:r>
            <a:r>
              <a:rPr lang="en-US" sz="2400" b="0" dirty="0">
                <a:solidFill>
                  <a:schemeClr val="tx2"/>
                </a:solidFill>
                <a:latin typeface="Gill Sans MT" panose="020B0502020104020203" pitchFamily="34" charset="0"/>
              </a:rPr>
              <a:t>developer</a:t>
            </a:r>
            <a:r>
              <a:rPr 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for mistakes (</a:t>
            </a:r>
            <a:r>
              <a:rPr 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do this first</a:t>
            </a:r>
            <a:r>
              <a:rPr 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)</a:t>
            </a:r>
          </a:p>
          <a:p>
            <a:pPr marL="457200" indent="-457200">
              <a:buAutoNum type="arabicPeriod"/>
            </a:pPr>
            <a:r>
              <a:rPr lang="en-US" sz="2400" b="0" dirty="0">
                <a:solidFill>
                  <a:schemeClr val="tx2"/>
                </a:solidFill>
                <a:latin typeface="Gill Sans MT" panose="020B0502020104020203" pitchFamily="34" charset="0"/>
              </a:rPr>
              <a:t>Rewrite the predicate</a:t>
            </a:r>
            <a:r>
              <a:rPr 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to eliminate dependencies (</a:t>
            </a:r>
            <a:r>
              <a:rPr lang="en-US" b="0" dirty="0">
                <a:solidFill>
                  <a:schemeClr val="tx1"/>
                </a:solidFill>
                <a:latin typeface="Gill Sans MT" panose="020B0502020104020203" pitchFamily="34" charset="0"/>
              </a:rPr>
              <a:t>if possible</a:t>
            </a:r>
            <a:r>
              <a:rPr 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)</a:t>
            </a:r>
          </a:p>
          <a:p>
            <a:pPr marL="457200" indent="-457200">
              <a:buAutoNum type="arabicPeriod"/>
            </a:pPr>
            <a:r>
              <a:rPr lang="en-US" sz="2400" b="0" dirty="0">
                <a:solidFill>
                  <a:schemeClr val="tx2"/>
                </a:solidFill>
                <a:latin typeface="Gill Sans MT" panose="020B0502020104020203" pitchFamily="34" charset="0"/>
              </a:rPr>
              <a:t>Change</a:t>
            </a:r>
            <a:r>
              <a:rPr 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truth assignment :  t  </a:t>
            </a:r>
            <a:r>
              <a:rPr lang="en-US" sz="24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t</a:t>
            </a:r>
            <a:r>
              <a:rPr 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 </a:t>
            </a:r>
            <a:r>
              <a:rPr lang="en-US" sz="2400" b="0" dirty="0">
                <a:solidFill>
                  <a:schemeClr val="tx2"/>
                </a:solidFill>
                <a:latin typeface="Gill Sans MT" panose="020B0502020104020203" pitchFamily="34" charset="0"/>
              </a:rPr>
              <a:t>F</a:t>
            </a:r>
            <a:r>
              <a:rPr 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 </a:t>
            </a:r>
            <a:r>
              <a:rPr lang="en-US" sz="24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f</a:t>
            </a:r>
            <a:r>
              <a:rPr 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 </a:t>
            </a:r>
            <a:r>
              <a:rPr lang="en-US" sz="2400" b="0" dirty="0" err="1">
                <a:solidFill>
                  <a:schemeClr val="tx1"/>
                </a:solidFill>
                <a:latin typeface="Gill Sans MT" panose="020B0502020104020203" pitchFamily="34" charset="0"/>
              </a:rPr>
              <a:t>f</a:t>
            </a:r>
            <a:r>
              <a:rPr 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 </a:t>
            </a:r>
            <a:r>
              <a:rPr lang="en-US" sz="2400" b="0" dirty="0">
                <a:solidFill>
                  <a:schemeClr val="tx2"/>
                </a:solidFill>
                <a:latin typeface="Gill Sans MT" panose="020B0502020104020203" pitchFamily="34" charset="0"/>
              </a:rPr>
              <a:t>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41490" y="2417375"/>
            <a:ext cx="3101444" cy="400110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Do you see a problem here?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3024" y="2514058"/>
            <a:ext cx="3372377" cy="707886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Think about these two values …</a:t>
            </a:r>
          </a:p>
        </p:txBody>
      </p:sp>
    </p:spTree>
    <p:extLst>
      <p:ext uri="{BB962C8B-B14F-4D97-AF65-F5344CB8AC3E}">
        <p14:creationId xmlns:p14="http://schemas.microsoft.com/office/powerpoint/2010/main" val="420142966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5" grpId="0" animBg="1"/>
      <p:bldP spid="17" grpId="0"/>
      <p:bldP spid="14" grpId="0" animBg="1"/>
      <p:bldP spid="14" grpId="1" animBg="1"/>
      <p:bldP spid="18" grpId="0" animBg="1"/>
      <p:bldP spid="18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Results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164A8-1AE9-437C-A63B-023F30ED14E5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438399" y="710918"/>
            <a:ext cx="7916563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dirty="0">
                <a:solidFill>
                  <a:schemeClr val="tx1"/>
                </a:solidFill>
                <a:latin typeface="Gill Sans MT" panose="020B0502020104020203" pitchFamily="34" charset="0"/>
              </a:rPr>
              <a:t>Expected outputs are read from the FSM 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When the major clause is true, the transition is taken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When false, the transition is not taken</a:t>
            </a:r>
          </a:p>
        </p:txBody>
      </p:sp>
      <p:graphicFrame>
        <p:nvGraphicFramePr>
          <p:cNvPr id="8" name="Group 29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20908106"/>
              </p:ext>
            </p:extLst>
          </p:nvPr>
        </p:nvGraphicFramePr>
        <p:xfrm>
          <a:off x="1703300" y="1931243"/>
          <a:ext cx="3875649" cy="4686127"/>
        </p:xfrm>
        <a:graphic>
          <a:graphicData uri="http://schemas.openxmlformats.org/drawingml/2006/table">
            <a:tbl>
              <a:tblPr/>
              <a:tblGrid>
                <a:gridCol w="1852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3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945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Expected Results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31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trainSpeed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 =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45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trainSpeed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 !=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45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platform = left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3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platform != left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84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inStation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99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¬ inStation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45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emergencyStop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901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¬ emergencyStop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805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overrideOpen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55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¬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overrideOpen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945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inTunnel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863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¬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inTunnel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628623" y="2809614"/>
            <a:ext cx="1992311" cy="707886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Fill in the expected results</a:t>
            </a:r>
          </a:p>
        </p:txBody>
      </p:sp>
    </p:spTree>
    <p:extLst>
      <p:ext uri="{BB962C8B-B14F-4D97-AF65-F5344CB8AC3E}">
        <p14:creationId xmlns:p14="http://schemas.microsoft.com/office/powerpoint/2010/main" val="32481289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29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39304565"/>
              </p:ext>
            </p:extLst>
          </p:nvPr>
        </p:nvGraphicFramePr>
        <p:xfrm>
          <a:off x="1699067" y="1943560"/>
          <a:ext cx="3875649" cy="4672436"/>
        </p:xfrm>
        <a:graphic>
          <a:graphicData uri="http://schemas.openxmlformats.org/drawingml/2006/table">
            <a:tbl>
              <a:tblPr/>
              <a:tblGrid>
                <a:gridCol w="1852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3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789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Expected Results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31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trainSpeed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 =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45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trainSpeed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 !=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45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platform = left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3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platform != left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84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inStation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99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¬ inStation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45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emergencyStop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901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¬ emergencyStop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805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overrideOpen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55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¬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overrideOpen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945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inTunnel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863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¬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inTunnel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8" name="Group 29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39375239"/>
              </p:ext>
            </p:extLst>
          </p:nvPr>
        </p:nvGraphicFramePr>
        <p:xfrm>
          <a:off x="1699067" y="1936716"/>
          <a:ext cx="3875649" cy="4686127"/>
        </p:xfrm>
        <a:graphic>
          <a:graphicData uri="http://schemas.openxmlformats.org/drawingml/2006/table">
            <a:tbl>
              <a:tblPr/>
              <a:tblGrid>
                <a:gridCol w="1852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3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945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Expected Results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31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trainSpeed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 =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Left Doors Open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45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trainSpeed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 !=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All Doors Closed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45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platform = left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Left Doors Open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3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platform != left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All Doors Closed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84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inStation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Left Doors Open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99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¬ inStation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All Doors Closed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45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emergencyStop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Left Doors Open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901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¬ emergencyStop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All Doors Closed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805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overrideOpen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Left Doors Open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55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¬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overrideOpen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All Doors Closed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945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inTunnel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Left Doors Open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863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¬ 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inTunnel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All Doors Closed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Results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164A8-1AE9-437C-A63B-023F30ED14E5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438399" y="710918"/>
            <a:ext cx="7916563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dirty="0">
                <a:solidFill>
                  <a:schemeClr val="tx1"/>
                </a:solidFill>
                <a:latin typeface="Gill Sans MT" panose="020B0502020104020203" pitchFamily="34" charset="0"/>
              </a:rPr>
              <a:t>Expected outputs are read from the FSM 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When the major clause is true, the transition is taken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When false, the transition is not taken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46890" y="2132621"/>
            <a:ext cx="1966910" cy="101566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Do you notice anything “funny”?</a:t>
            </a:r>
          </a:p>
        </p:txBody>
      </p:sp>
      <p:sp>
        <p:nvSpPr>
          <p:cNvPr id="15" name="Oval 295"/>
          <p:cNvSpPr>
            <a:spLocks noChangeArrowheads="1"/>
          </p:cNvSpPr>
          <p:nvPr/>
        </p:nvSpPr>
        <p:spPr bwMode="auto">
          <a:xfrm>
            <a:off x="3665189" y="3387893"/>
            <a:ext cx="1911179" cy="424962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endParaRPr lang="en-US" altLang="en-US">
              <a:latin typeface="Gill Sans MT" panose="020B0502020104020203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15835" y="3246431"/>
            <a:ext cx="1966910" cy="707886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What about here?</a:t>
            </a:r>
          </a:p>
        </p:txBody>
      </p:sp>
      <p:sp>
        <p:nvSpPr>
          <p:cNvPr id="17" name="Text Box 293"/>
          <p:cNvSpPr txBox="1">
            <a:spLocks noChangeArrowheads="1"/>
          </p:cNvSpPr>
          <p:nvPr/>
        </p:nvSpPr>
        <p:spPr bwMode="auto">
          <a:xfrm>
            <a:off x="5880405" y="2654921"/>
            <a:ext cx="4204678" cy="2123658"/>
          </a:xfrm>
          <a:prstGeom prst="rect">
            <a:avLst/>
          </a:prstGeom>
          <a:solidFill>
            <a:schemeClr val="bg1"/>
          </a:solidFill>
          <a:ln w="28575">
            <a:solidFill>
              <a:schemeClr val="hlink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If </a:t>
            </a:r>
            <a:r>
              <a:rPr lang="en-US" altLang="en-US" sz="2400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platform !=left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, then </a:t>
            </a:r>
            <a:r>
              <a:rPr lang="en-US" altLang="en-US" sz="2400" b="0" i="1" dirty="0">
                <a:solidFill>
                  <a:schemeClr val="tx1"/>
                </a:solidFill>
                <a:latin typeface="Gill Sans MT" panose="020B0502020104020203" pitchFamily="34" charset="0"/>
              </a:rPr>
              <a:t>platform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must equal </a:t>
            </a:r>
            <a:r>
              <a:rPr lang="en-US" altLang="en-US" sz="2400" i="1" dirty="0">
                <a:solidFill>
                  <a:schemeClr val="tx1"/>
                </a:solidFill>
                <a:latin typeface="Gill Sans MT" panose="020B0502020104020203" pitchFamily="34" charset="0"/>
              </a:rPr>
              <a:t>right</a:t>
            </a:r>
          </a:p>
          <a:p>
            <a:pPr>
              <a:spcBef>
                <a:spcPct val="50000"/>
              </a:spcBef>
            </a:pP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So the expected output of this test is to go to state “</a:t>
            </a:r>
            <a:r>
              <a:rPr lang="en-US" altLang="en-US" sz="2400" dirty="0">
                <a:solidFill>
                  <a:schemeClr val="tx1"/>
                </a:solidFill>
                <a:latin typeface="Gill Sans MT" panose="020B0502020104020203" pitchFamily="34" charset="0"/>
              </a:rPr>
              <a:t>Right Doors Open</a:t>
            </a:r>
            <a:r>
              <a:rPr lang="en-US" alt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”</a:t>
            </a:r>
          </a:p>
        </p:txBody>
      </p:sp>
      <p:sp>
        <p:nvSpPr>
          <p:cNvPr id="18" name="Rounded Rectangle 17"/>
          <p:cNvSpPr/>
          <p:nvPr/>
        </p:nvSpPr>
        <p:spPr bwMode="auto">
          <a:xfrm>
            <a:off x="5692701" y="5052278"/>
            <a:ext cx="4580089" cy="1549625"/>
          </a:xfrm>
          <a:prstGeom prst="roundRect">
            <a:avLst/>
          </a:prstGeom>
          <a:solidFill>
            <a:schemeClr val="bg1">
              <a:lumMod val="60000"/>
              <a:lumOff val="40000"/>
            </a:schemeClr>
          </a:solidFill>
          <a:ln w="38100" cap="flat" cmpd="sng" algn="ctr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400" b="0" i="1" dirty="0">
                <a:solidFill>
                  <a:schemeClr val="tx2"/>
                </a:solidFill>
                <a:latin typeface="Gill Sans MT" panose="020B0502020104020203" pitchFamily="34" charset="0"/>
              </a:rPr>
              <a:t>Accidental transitions</a:t>
            </a:r>
            <a:r>
              <a:rPr lang="en-US" sz="2400" b="0" dirty="0">
                <a:solidFill>
                  <a:schemeClr val="tx1"/>
                </a:solidFill>
                <a:latin typeface="Gill Sans MT" panose="020B0502020104020203" pitchFamily="34" charset="0"/>
              </a:rPr>
              <a:t> must be recognized when designing expected results during test automation</a:t>
            </a:r>
          </a:p>
        </p:txBody>
      </p:sp>
    </p:spTree>
    <p:extLst>
      <p:ext uri="{BB962C8B-B14F-4D97-AF65-F5344CB8AC3E}">
        <p14:creationId xmlns:p14="http://schemas.microsoft.com/office/powerpoint/2010/main" val="325707364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3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5" grpId="0" animBg="1"/>
      <p:bldP spid="16" grpId="0" animBg="1"/>
      <p:bldP spid="16" grpId="1" animBg="1"/>
      <p:bldP spid="17" grpId="0" animBg="1"/>
      <p:bldP spid="1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Early Identification is a Win!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164A8-1AE9-437C-A63B-023F30ED14E5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6" name="Rounded Rectangle 5"/>
          <p:cNvSpPr/>
          <p:nvPr/>
        </p:nvSpPr>
        <p:spPr bwMode="auto">
          <a:xfrm>
            <a:off x="2899645" y="1820708"/>
            <a:ext cx="6392707" cy="3623359"/>
          </a:xfrm>
          <a:prstGeom prst="roundRect">
            <a:avLst/>
          </a:prstGeom>
          <a:solidFill>
            <a:schemeClr val="bg1">
              <a:lumMod val="60000"/>
              <a:lumOff val="40000"/>
            </a:schemeClr>
          </a:solidFill>
          <a:ln w="38100" cap="flat" cmpd="sng" algn="ctr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200" b="0" dirty="0">
                <a:solidFill>
                  <a:schemeClr val="tx1"/>
                </a:solidFill>
                <a:latin typeface="Gill Sans MT" panose="020B0502020104020203" pitchFamily="34" charset="0"/>
              </a:rPr>
              <a:t>The process of modeling software artifacts for test design can help us find defects in the artifacts</a:t>
            </a:r>
          </a:p>
          <a:p>
            <a:pPr algn="ctr"/>
            <a:endParaRPr lang="en-US" sz="3200" b="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 algn="ctr"/>
            <a:r>
              <a:rPr lang="en-US" sz="3200" b="0" dirty="0">
                <a:solidFill>
                  <a:schemeClr val="tx1"/>
                </a:solidFill>
                <a:latin typeface="Gill Sans MT" panose="020B0502020104020203" pitchFamily="34" charset="0"/>
              </a:rPr>
              <a:t>This is a very powerful side-effect of the model-driven test design process</a:t>
            </a:r>
          </a:p>
        </p:txBody>
      </p:sp>
    </p:spTree>
    <p:extLst>
      <p:ext uri="{BB962C8B-B14F-4D97-AF65-F5344CB8AC3E}">
        <p14:creationId xmlns:p14="http://schemas.microsoft.com/office/powerpoint/2010/main" val="420015633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Complicating Issues</a:t>
            </a:r>
          </a:p>
        </p:txBody>
      </p:sp>
      <p:sp>
        <p:nvSpPr>
          <p:cNvPr id="262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dirty="0"/>
              <a:t>Some buttons must be pressed </a:t>
            </a:r>
            <a:r>
              <a:rPr lang="en-US" altLang="en-US" dirty="0">
                <a:solidFill>
                  <a:schemeClr val="tx2"/>
                </a:solidFill>
              </a:rPr>
              <a:t>simultaneously</a:t>
            </a:r>
            <a:r>
              <a:rPr lang="en-US" altLang="en-US" dirty="0"/>
              <a:t> to have effect – so timing must be tested</a:t>
            </a:r>
          </a:p>
          <a:p>
            <a:pPr>
              <a:lnSpc>
                <a:spcPct val="80000"/>
              </a:lnSpc>
            </a:pPr>
            <a:r>
              <a:rPr lang="en-US" altLang="en-US" dirty="0">
                <a:solidFill>
                  <a:schemeClr val="tx2"/>
                </a:solidFill>
              </a:rPr>
              <a:t>Reachability</a:t>
            </a:r>
            <a:r>
              <a:rPr lang="en-US" altLang="en-US" dirty="0"/>
              <a:t> : The tests must reach the state where the transition starts (the </a:t>
            </a:r>
            <a:r>
              <a:rPr lang="en-US" altLang="en-US" dirty="0">
                <a:solidFill>
                  <a:schemeClr val="tx2"/>
                </a:solidFill>
              </a:rPr>
              <a:t>prefix</a:t>
            </a:r>
            <a:r>
              <a:rPr lang="en-US" altLang="en-US" dirty="0"/>
              <a:t>)</a:t>
            </a:r>
          </a:p>
          <a:p>
            <a:pPr>
              <a:lnSpc>
                <a:spcPct val="80000"/>
              </a:lnSpc>
            </a:pPr>
            <a:r>
              <a:rPr lang="en-US" altLang="en-US" dirty="0">
                <a:solidFill>
                  <a:schemeClr val="tx2"/>
                </a:solidFill>
              </a:rPr>
              <a:t>Exit</a:t>
            </a:r>
            <a:r>
              <a:rPr lang="en-US" altLang="en-US" dirty="0"/>
              <a:t> : Some tests must continue executing to an </a:t>
            </a:r>
            <a:r>
              <a:rPr lang="en-US" altLang="en-US" dirty="0">
                <a:solidFill>
                  <a:schemeClr val="tx2"/>
                </a:solidFill>
              </a:rPr>
              <a:t>end state</a:t>
            </a:r>
            <a:endParaRPr lang="en-US" altLang="en-US" dirty="0"/>
          </a:p>
          <a:p>
            <a:pPr>
              <a:lnSpc>
                <a:spcPct val="80000"/>
              </a:lnSpc>
            </a:pPr>
            <a:r>
              <a:rPr lang="en-US" altLang="en-US" dirty="0">
                <a:solidFill>
                  <a:schemeClr val="tx2"/>
                </a:solidFill>
              </a:rPr>
              <a:t>Expected output</a:t>
            </a:r>
            <a:r>
              <a:rPr lang="en-US" altLang="en-US" dirty="0"/>
              <a:t> : The expected output is the state that the </a:t>
            </a:r>
            <a:r>
              <a:rPr lang="en-US" altLang="en-US" dirty="0">
                <a:solidFill>
                  <a:schemeClr val="tx2"/>
                </a:solidFill>
              </a:rPr>
              <a:t>transition reaches</a:t>
            </a:r>
            <a:r>
              <a:rPr lang="en-US" altLang="en-US" dirty="0"/>
              <a:t> for true values, or same state for false values</a:t>
            </a:r>
          </a:p>
          <a:p>
            <a:pPr>
              <a:lnSpc>
                <a:spcPct val="80000"/>
              </a:lnSpc>
            </a:pPr>
            <a:r>
              <a:rPr lang="en-US" altLang="en-US" dirty="0">
                <a:solidFill>
                  <a:schemeClr val="tx2"/>
                </a:solidFill>
              </a:rPr>
              <a:t>Accidental transitions</a:t>
            </a:r>
            <a:r>
              <a:rPr lang="en-US" altLang="en-US" dirty="0"/>
              <a:t> : Sometimes a false value for one transition happens to be a true value for another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The alternate expected output must be recognized</a:t>
            </a:r>
          </a:p>
        </p:txBody>
      </p:sp>
      <p:sp>
        <p:nvSpPr>
          <p:cNvPr id="1945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C9697515-A6F8-44EA-AE68-639856212FC4}" type="slidenum">
              <a:rPr lang="en-US" altLang="en-US" sz="900" b="0">
                <a:solidFill>
                  <a:schemeClr val="tx1"/>
                </a:solidFill>
                <a:latin typeface="Arial" pitchFamily="34" charset="0"/>
              </a:rPr>
              <a:pPr/>
              <a:t>13</a:t>
            </a:fld>
            <a:endParaRPr lang="en-US" altLang="en-US" sz="900" b="0">
              <a:solidFill>
                <a:schemeClr val="tx1"/>
              </a:solidFill>
              <a:latin typeface="Arial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147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Test Automation Issues</a:t>
            </a:r>
          </a:p>
        </p:txBody>
      </p:sp>
      <p:sp>
        <p:nvSpPr>
          <p:cNvPr id="263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  <a:spcAft>
                <a:spcPts val="600"/>
              </a:spcAft>
            </a:pPr>
            <a:r>
              <a:rPr lang="en-US" altLang="en-US" dirty="0">
                <a:solidFill>
                  <a:schemeClr val="tx2"/>
                </a:solidFill>
              </a:rPr>
              <a:t>Mapping problem</a:t>
            </a:r>
            <a:r>
              <a:rPr lang="en-US" altLang="en-US" dirty="0"/>
              <a:t> : The names used in the FSMs may not match the names in the program</a:t>
            </a:r>
          </a:p>
          <a:p>
            <a:pPr>
              <a:lnSpc>
                <a:spcPct val="80000"/>
              </a:lnSpc>
              <a:spcAft>
                <a:spcPts val="600"/>
              </a:spcAft>
            </a:pPr>
            <a:r>
              <a:rPr lang="en-US" altLang="en-US" dirty="0"/>
              <a:t>Examples</a:t>
            </a:r>
          </a:p>
          <a:p>
            <a:pPr lvl="1">
              <a:lnSpc>
                <a:spcPct val="80000"/>
              </a:lnSpc>
              <a:spcAft>
                <a:spcPts val="600"/>
              </a:spcAft>
            </a:pPr>
            <a:r>
              <a:rPr lang="en-US" altLang="en-US" i="1" dirty="0"/>
              <a:t>platform = left</a:t>
            </a:r>
            <a:r>
              <a:rPr lang="en-US" altLang="en-US" dirty="0"/>
              <a:t> requires the train to go to a specific station</a:t>
            </a:r>
          </a:p>
          <a:p>
            <a:pPr lvl="1">
              <a:lnSpc>
                <a:spcPct val="80000"/>
              </a:lnSpc>
              <a:spcAft>
                <a:spcPts val="600"/>
              </a:spcAft>
            </a:pPr>
            <a:r>
              <a:rPr lang="en-US" altLang="en-US" i="1" dirty="0" err="1"/>
              <a:t>trainspeed</a:t>
            </a:r>
            <a:r>
              <a:rPr lang="en-US" altLang="en-US" i="1" dirty="0"/>
              <a:t> = 0</a:t>
            </a:r>
            <a:r>
              <a:rPr lang="en-US" altLang="en-US" dirty="0"/>
              <a:t> probably requires the brake to be applied multiple times</a:t>
            </a:r>
          </a:p>
          <a:p>
            <a:pPr>
              <a:lnSpc>
                <a:spcPct val="80000"/>
              </a:lnSpc>
              <a:spcAft>
                <a:spcPts val="600"/>
              </a:spcAft>
            </a:pPr>
            <a:r>
              <a:rPr lang="en-US" altLang="en-US" dirty="0"/>
              <a:t>The solution to this is </a:t>
            </a:r>
            <a:r>
              <a:rPr lang="en-US" altLang="en-US" dirty="0">
                <a:solidFill>
                  <a:schemeClr val="tx2"/>
                </a:solidFill>
              </a:rPr>
              <a:t>implementation-specific</a:t>
            </a:r>
            <a:endParaRPr lang="en-US" altLang="en-US" dirty="0"/>
          </a:p>
          <a:p>
            <a:pPr lvl="1">
              <a:lnSpc>
                <a:spcPct val="80000"/>
              </a:lnSpc>
            </a:pPr>
            <a:r>
              <a:rPr lang="en-US" altLang="en-US" dirty="0"/>
              <a:t>Sometimes a </a:t>
            </a:r>
            <a:r>
              <a:rPr lang="en-US" altLang="en-US" dirty="0">
                <a:solidFill>
                  <a:schemeClr val="tx2"/>
                </a:solidFill>
              </a:rPr>
              <a:t>direct name-to-name mapping</a:t>
            </a:r>
            <a:r>
              <a:rPr lang="en-US" altLang="en-US" dirty="0"/>
              <a:t> can be found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Sometimes </a:t>
            </a:r>
            <a:r>
              <a:rPr lang="en-US" altLang="en-US" dirty="0">
                <a:solidFill>
                  <a:schemeClr val="tx2"/>
                </a:solidFill>
              </a:rPr>
              <a:t>more complicated</a:t>
            </a:r>
            <a:r>
              <a:rPr lang="en-US" altLang="en-US" dirty="0"/>
              <a:t> actions must be taken to assign the appropriate values</a:t>
            </a:r>
          </a:p>
          <a:p>
            <a:pPr lvl="1">
              <a:lnSpc>
                <a:spcPct val="80000"/>
              </a:lnSpc>
            </a:pPr>
            <a:r>
              <a:rPr lang="en-US" altLang="en-US" dirty="0">
                <a:solidFill>
                  <a:schemeClr val="tx2"/>
                </a:solidFill>
              </a:rPr>
              <a:t>Simulation</a:t>
            </a:r>
            <a:r>
              <a:rPr lang="en-US" altLang="en-US" dirty="0"/>
              <a:t> : Directly inserting value assignments into the middle of the program</a:t>
            </a:r>
          </a:p>
          <a:p>
            <a:pPr>
              <a:lnSpc>
                <a:spcPct val="80000"/>
              </a:lnSpc>
            </a:pPr>
            <a:r>
              <a:rPr lang="en-US" altLang="en-US" dirty="0"/>
              <a:t>This is an issue of </a:t>
            </a:r>
            <a:r>
              <a:rPr lang="en-US" altLang="en-US" dirty="0">
                <a:solidFill>
                  <a:schemeClr val="tx2"/>
                </a:solidFill>
              </a:rPr>
              <a:t>controllability</a:t>
            </a:r>
          </a:p>
        </p:txBody>
      </p:sp>
      <p:sp>
        <p:nvSpPr>
          <p:cNvPr id="2048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868A72EA-31E5-4FAB-9075-6F693AE6B417}" type="slidenum">
              <a:rPr lang="en-US" altLang="en-US" sz="900" b="0">
                <a:solidFill>
                  <a:schemeClr val="tx1"/>
                </a:solidFill>
                <a:latin typeface="Arial" pitchFamily="34" charset="0"/>
              </a:rPr>
              <a:pPr/>
              <a:t>14</a:t>
            </a:fld>
            <a:endParaRPr lang="en-US" altLang="en-US" sz="900" b="0">
              <a:solidFill>
                <a:schemeClr val="tx1"/>
              </a:solidFill>
              <a:latin typeface="Arial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171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Summary FSM Logic Testing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FSMs are </a:t>
            </a:r>
            <a:r>
              <a:rPr lang="en-US" altLang="en-US" dirty="0">
                <a:solidFill>
                  <a:schemeClr val="tx2"/>
                </a:solidFill>
              </a:rPr>
              <a:t>widely used</a:t>
            </a:r>
            <a:r>
              <a:rPr lang="en-US" altLang="en-US" dirty="0"/>
              <a:t> at all levels of abstraction</a:t>
            </a:r>
          </a:p>
          <a:p>
            <a:r>
              <a:rPr lang="en-US" altLang="en-US" dirty="0"/>
              <a:t>Many ways to </a:t>
            </a:r>
            <a:r>
              <a:rPr lang="en-US" altLang="en-US" dirty="0">
                <a:solidFill>
                  <a:schemeClr val="tx2"/>
                </a:solidFill>
              </a:rPr>
              <a:t>express</a:t>
            </a:r>
            <a:r>
              <a:rPr lang="en-US" altLang="en-US" dirty="0"/>
              <a:t> FSMs</a:t>
            </a:r>
          </a:p>
          <a:p>
            <a:pPr lvl="1"/>
            <a:r>
              <a:rPr lang="en-US" altLang="en-US" dirty="0" err="1"/>
              <a:t>Statecharts</a:t>
            </a:r>
            <a:r>
              <a:rPr lang="en-US" altLang="en-US" dirty="0"/>
              <a:t>, tables, Z, decision tables, Petri nets, …</a:t>
            </a:r>
          </a:p>
          <a:p>
            <a:r>
              <a:rPr lang="en-US" altLang="en-US" dirty="0"/>
              <a:t>Predicates are usually </a:t>
            </a:r>
            <a:r>
              <a:rPr lang="en-US" altLang="en-US" dirty="0">
                <a:solidFill>
                  <a:schemeClr val="tx2"/>
                </a:solidFill>
              </a:rPr>
              <a:t>explicitly included</a:t>
            </a:r>
            <a:r>
              <a:rPr lang="en-US" altLang="en-US" dirty="0"/>
              <a:t> on the transitions</a:t>
            </a:r>
          </a:p>
          <a:p>
            <a:pPr lvl="1"/>
            <a:r>
              <a:rPr lang="en-US" altLang="en-US" dirty="0">
                <a:solidFill>
                  <a:schemeClr val="tx2"/>
                </a:solidFill>
              </a:rPr>
              <a:t>Guards</a:t>
            </a:r>
          </a:p>
          <a:p>
            <a:pPr lvl="1"/>
            <a:r>
              <a:rPr lang="en-US" altLang="en-US" dirty="0">
                <a:solidFill>
                  <a:schemeClr val="tx2"/>
                </a:solidFill>
              </a:rPr>
              <a:t>Actions</a:t>
            </a:r>
          </a:p>
          <a:p>
            <a:pPr lvl="1"/>
            <a:r>
              <a:rPr lang="en-US" altLang="en-US" dirty="0"/>
              <a:t>Often represent </a:t>
            </a:r>
            <a:r>
              <a:rPr lang="en-US" altLang="en-US" dirty="0">
                <a:solidFill>
                  <a:schemeClr val="tx2"/>
                </a:solidFill>
              </a:rPr>
              <a:t>safety constraints</a:t>
            </a:r>
          </a:p>
          <a:p>
            <a:r>
              <a:rPr lang="en-US" altLang="en-US" dirty="0"/>
              <a:t>FSMs are often used in </a:t>
            </a:r>
            <a:r>
              <a:rPr lang="en-US" altLang="en-US" dirty="0">
                <a:solidFill>
                  <a:schemeClr val="tx2"/>
                </a:solidFill>
              </a:rPr>
              <a:t>embedded</a:t>
            </a:r>
            <a:r>
              <a:rPr lang="en-US" altLang="en-US" dirty="0"/>
              <a:t> software</a:t>
            </a:r>
          </a:p>
          <a:p>
            <a:pPr lvl="1"/>
            <a:endParaRPr lang="en-US" altLang="en-US" dirty="0"/>
          </a:p>
        </p:txBody>
      </p:sp>
      <p:sp>
        <p:nvSpPr>
          <p:cNvPr id="215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1990BAB4-7078-49DA-811F-623016E64276}" type="slidenum">
              <a:rPr lang="en-US" altLang="en-US" sz="900" b="0">
                <a:solidFill>
                  <a:schemeClr val="tx1"/>
                </a:solidFill>
                <a:latin typeface="Arial" pitchFamily="34" charset="0"/>
              </a:rPr>
              <a:pPr/>
              <a:t>15</a:t>
            </a:fld>
            <a:endParaRPr lang="en-US" altLang="en-US" sz="900" b="0">
              <a:solidFill>
                <a:schemeClr val="tx1"/>
              </a:solidFill>
              <a:latin typeface="Arial" pitchFamily="34" charset="0"/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intro">
  <a:themeElements>
    <a:clrScheme name="Custom 14">
      <a:dk1>
        <a:srgbClr val="5F5F5F"/>
      </a:dk1>
      <a:lt1>
        <a:srgbClr val="FFFFFF"/>
      </a:lt1>
      <a:dk2>
        <a:srgbClr val="000099"/>
      </a:dk2>
      <a:lt2>
        <a:srgbClr val="FFFF00"/>
      </a:lt2>
      <a:accent1>
        <a:srgbClr val="FF9900"/>
      </a:accent1>
      <a:accent2>
        <a:srgbClr val="66CCFF"/>
      </a:accent2>
      <a:accent3>
        <a:srgbClr val="AAAACA"/>
      </a:accent3>
      <a:accent4>
        <a:srgbClr val="DADADA"/>
      </a:accent4>
      <a:accent5>
        <a:srgbClr val="FFCAAA"/>
      </a:accent5>
      <a:accent6>
        <a:srgbClr val="5CB9E7"/>
      </a:accent6>
      <a:hlink>
        <a:srgbClr val="FFFF00"/>
      </a:hlink>
      <a:folHlink>
        <a:srgbClr val="FFC000"/>
      </a:folHlink>
    </a:clrScheme>
    <a:fontScheme name="intro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rgbClr val="FAFD00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rgbClr val="FAFD00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intro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ro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a:\intro.ppt</Template>
  <TotalTime>1051</TotalTime>
  <Pages>49</Pages>
  <Words>1483</Words>
  <Application>Microsoft Office PowerPoint</Application>
  <PresentationFormat>宽屏</PresentationFormat>
  <Paragraphs>363</Paragraphs>
  <Slides>15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1" baseType="lpstr">
      <vt:lpstr>Gill Sans MT</vt:lpstr>
      <vt:lpstr>Arial</vt:lpstr>
      <vt:lpstr>Times New Roman</vt:lpstr>
      <vt:lpstr>Verdana</vt:lpstr>
      <vt:lpstr>Wingdings</vt:lpstr>
      <vt:lpstr>intro</vt:lpstr>
      <vt:lpstr>Chapter 4 Logic Coverage</vt:lpstr>
      <vt:lpstr>本节课程目标</vt:lpstr>
      <vt:lpstr>Covering Finite State Machines</vt:lpstr>
      <vt:lpstr>Example—Subway Train</vt:lpstr>
      <vt:lpstr>Determination of the Predicate</vt:lpstr>
      <vt:lpstr>Determination of the Predicate</vt:lpstr>
      <vt:lpstr>Test Truth Assignments (CACC)</vt:lpstr>
      <vt:lpstr>Test Truth Assignments (CACC)</vt:lpstr>
      <vt:lpstr>Problem With a Predicate?</vt:lpstr>
      <vt:lpstr>Expected Results</vt:lpstr>
      <vt:lpstr>Expected Results</vt:lpstr>
      <vt:lpstr>Early Identification is a Win!</vt:lpstr>
      <vt:lpstr>Complicating Issues</vt:lpstr>
      <vt:lpstr>Test Automation Issues</vt:lpstr>
      <vt:lpstr>Summary FSM Logic Testing</vt:lpstr>
    </vt:vector>
  </TitlesOfParts>
  <Company>George Mason Unviersity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SWE 637: Logic Coverage</dc:title>
  <dc:creator>Jeff Offutt</dc:creator>
  <cp:lastModifiedBy>Yue Zhang</cp:lastModifiedBy>
  <cp:revision>282</cp:revision>
  <cp:lastPrinted>2016-04-18T15:07:07Z</cp:lastPrinted>
  <dcterms:created xsi:type="dcterms:W3CDTF">1996-06-15T03:21:08Z</dcterms:created>
  <dcterms:modified xsi:type="dcterms:W3CDTF">2026-04-27T14:57:20Z</dcterms:modified>
</cp:coreProperties>
</file>