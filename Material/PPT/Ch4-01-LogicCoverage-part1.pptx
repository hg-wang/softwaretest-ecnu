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36" r:id="rId2"/>
    <p:sldId id="415" r:id="rId3"/>
    <p:sldId id="424" r:id="rId4"/>
    <p:sldId id="428" r:id="rId5"/>
    <p:sldId id="430" r:id="rId6"/>
    <p:sldId id="431" r:id="rId7"/>
    <p:sldId id="377" r:id="rId8"/>
    <p:sldId id="418" r:id="rId9"/>
    <p:sldId id="387" r:id="rId10"/>
    <p:sldId id="439" r:id="rId11"/>
    <p:sldId id="395" r:id="rId12"/>
    <p:sldId id="388" r:id="rId13"/>
    <p:sldId id="433" r:id="rId14"/>
    <p:sldId id="434" r:id="rId15"/>
    <p:sldId id="391" r:id="rId16"/>
    <p:sldId id="393" r:id="rId17"/>
    <p:sldId id="394" r:id="rId18"/>
    <p:sldId id="396" r:id="rId19"/>
    <p:sldId id="397" r:id="rId20"/>
    <p:sldId id="400" r:id="rId21"/>
    <p:sldId id="405" r:id="rId22"/>
    <p:sldId id="414" r:id="rId23"/>
    <p:sldId id="440" r:id="rId24"/>
    <p:sldId id="406" r:id="rId25"/>
    <p:sldId id="437" r:id="rId26"/>
    <p:sldId id="436" r:id="rId27"/>
    <p:sldId id="438" r:id="rId28"/>
  </p:sldIdLst>
  <p:sldSz cx="12192000" cy="6858000"/>
  <p:notesSz cx="9866313" cy="67357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e Zhang" initials="YZ" lastIdx="1" clrIdx="0">
    <p:extLst>
      <p:ext uri="{19B8F6BF-5375-455C-9EA6-DF929625EA0E}">
        <p15:presenceInfo xmlns:p15="http://schemas.microsoft.com/office/powerpoint/2012/main" userId="614f75c4feaed7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145A"/>
    <a:srgbClr val="001E5A"/>
    <a:srgbClr val="5F5F5F"/>
    <a:srgbClr val="000000"/>
    <a:srgbClr val="6699FF"/>
    <a:srgbClr val="3399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25" autoAdjust="0"/>
    <p:restoredTop sz="92252" autoAdjust="0"/>
  </p:normalViewPr>
  <p:slideViewPr>
    <p:cSldViewPr snapToGrid="0">
      <p:cViewPr varScale="1">
        <p:scale>
          <a:sx n="90" d="100"/>
          <a:sy n="90" d="100"/>
        </p:scale>
        <p:origin x="1344" y="72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45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831" cy="33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698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0484" y="0"/>
            <a:ext cx="4275830" cy="33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698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9421"/>
            <a:ext cx="4275831" cy="33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698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0484" y="6399421"/>
            <a:ext cx="4275830" cy="33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698">
              <a:defRPr sz="1200" b="0" i="1"/>
            </a:lvl1pPr>
          </a:lstStyle>
          <a:p>
            <a:pPr>
              <a:defRPr/>
            </a:pPr>
            <a:fld id="{D9F5B512-CDD9-4BC1-B82A-5A4144EC01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37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831" cy="33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0484" y="0"/>
            <a:ext cx="4275830" cy="33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9421"/>
            <a:ext cx="4275831" cy="33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0484" y="6399421"/>
            <a:ext cx="4275830" cy="336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A34E319-0424-425B-9C80-9677C9F2A8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14653" y="3198596"/>
            <a:ext cx="7237009" cy="3030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6" tIns="48659" rIns="97316" bIns="48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608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0813" y="506413"/>
            <a:ext cx="4484687" cy="25225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4537535" y="6415014"/>
            <a:ext cx="789102" cy="288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85" tIns="46981" rIns="92285" bIns="46981">
            <a:spAutoFit/>
          </a:bodyPr>
          <a:lstStyle>
            <a:lvl1pPr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400" b="0">
                <a:solidFill>
                  <a:schemeClr val="tx1"/>
                </a:solidFill>
              </a:rPr>
              <a:t>Page </a:t>
            </a:r>
            <a:fld id="{0C6F441A-AA09-4A39-B609-07294F4F15BB}" type="slidenum">
              <a:rPr lang="en-US" altLang="en-US" sz="1400" b="0">
                <a:solidFill>
                  <a:schemeClr val="tx1"/>
                </a:solidFill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4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7656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87FFF3F-CB7B-4387-A81F-AEEAA4A7BFF5}" type="slidenum">
              <a:rPr lang="en-US" altLang="en-US" sz="1200" b="0" smtClean="0">
                <a:solidFill>
                  <a:schemeClr val="tx1"/>
                </a:solidFill>
              </a:rPr>
              <a:pPr/>
              <a:t>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6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0813" y="506413"/>
            <a:ext cx="4484687" cy="2522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61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51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74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39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9D9B8CA-6D86-4969-B4C7-1E6672A2711E}" type="slidenum">
              <a:rPr lang="en-US" altLang="en-US" sz="1200" b="0" smtClean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50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32BBAEE-A8E0-4173-B23D-AE8A7F183E3C}" type="slidenum">
              <a:rPr lang="en-US" altLang="en-US" sz="1200" b="0" smtClean="0">
                <a:solidFill>
                  <a:schemeClr val="tx1"/>
                </a:solidFill>
              </a:rPr>
              <a:pPr/>
              <a:t>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765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912147A-6F8B-4E89-AC03-28A82DC0BEE9}" type="slidenum">
              <a:rPr lang="en-US" altLang="en-US" sz="1200" b="0" smtClean="0">
                <a:solidFill>
                  <a:schemeClr val="tx1"/>
                </a:solidFill>
              </a:rPr>
              <a:pPr/>
              <a:t>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530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38357-7386-7A73-8A42-701CC9BC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579F00BD-7D22-8331-5CF0-94C7C635D0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8BEDEA1B-CC31-3CB8-6F5D-86B3A0D73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如</a:t>
            </a:r>
            <a:r>
              <a:rPr lang="en-US" altLang="zh-CN" dirty="0" err="1"/>
              <a:t>a</a:t>
            </a:r>
            <a:r>
              <a:rPr lang="en-US" altLang="en-US" sz="1200" dirty="0" err="1">
                <a:solidFill>
                  <a:schemeClr val="tx2"/>
                </a:solidFill>
                <a:latin typeface="Gill Sans MT" panose="020B0502020104020203" pitchFamily="34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1200" b="0" dirty="0" err="1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b</a:t>
            </a:r>
            <a:r>
              <a:rPr lang="zh-CN" altLang="en-US" sz="1200" b="0" dirty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中，</a:t>
            </a:r>
            <a:r>
              <a:rPr lang="en-US" altLang="zh-CN" sz="1200" b="0" dirty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a=T, b=F</a:t>
            </a:r>
            <a:r>
              <a:rPr lang="zh-CN" altLang="en-US" sz="1200" b="0" dirty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和</a:t>
            </a:r>
            <a:r>
              <a:rPr lang="en-US" altLang="zh-CN" sz="1200" b="0" dirty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a=F, b=T</a:t>
            </a:r>
            <a:r>
              <a:rPr lang="zh-CN" altLang="en-US" sz="1200" b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满足子句覆盖，但不满足谓词覆盖。</a:t>
            </a:r>
            <a:endParaRPr lang="en-US" altLang="en-US" dirty="0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8E1AD591-5C4F-CC89-EC66-6B5D0C138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D2C04F8-2A24-4D16-A6CB-0335FAC9781A}" type="slidenum">
              <a:rPr lang="en-US" altLang="en-US" sz="1200" b="0" smtClean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497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如</a:t>
            </a:r>
            <a:r>
              <a:rPr lang="en-US" altLang="zh-CN" dirty="0" err="1"/>
              <a:t>a</a:t>
            </a:r>
            <a:r>
              <a:rPr lang="en-US" altLang="en-US" sz="1200" dirty="0" err="1">
                <a:solidFill>
                  <a:schemeClr val="tx2"/>
                </a:solidFill>
                <a:latin typeface="Gill Sans MT" panose="020B0502020104020203" pitchFamily="34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sz="1200" b="0" dirty="0" err="1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b</a:t>
            </a:r>
            <a:r>
              <a:rPr lang="zh-CN" altLang="en-US" sz="1200" b="0" dirty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中，</a:t>
            </a:r>
            <a:r>
              <a:rPr lang="en-US" altLang="zh-CN" sz="1200" b="0" dirty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a=T, b=F</a:t>
            </a:r>
            <a:r>
              <a:rPr lang="zh-CN" altLang="en-US" sz="1200" b="0" dirty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和</a:t>
            </a:r>
            <a:r>
              <a:rPr lang="en-US" altLang="zh-CN" sz="1200" b="0" dirty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a=F, b=T</a:t>
            </a:r>
            <a:r>
              <a:rPr lang="zh-CN" altLang="en-US" sz="1200" b="0">
                <a:solidFill>
                  <a:schemeClr val="tx1"/>
                </a:solidFill>
                <a:latin typeface="Gill Sans MT" panose="020B0502020104020203" pitchFamily="34" charset="0"/>
                <a:cs typeface="+mn-cs"/>
                <a:sym typeface="Symbol" pitchFamily="18" charset="2"/>
              </a:rPr>
              <a:t>满足子句覆盖，但不满足谓词覆盖。</a:t>
            </a:r>
            <a:endParaRPr lang="en-US" altLang="en-US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D2C04F8-2A24-4D16-A6CB-0335FAC9781A}" type="slidenum">
              <a:rPr lang="en-US" altLang="en-US" sz="1200" b="0" smtClean="0">
                <a:solidFill>
                  <a:schemeClr val="tx1"/>
                </a:solidFill>
              </a:rPr>
              <a:pPr/>
              <a:t>12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332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65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3FFA813-68C5-4836-A38B-768894F9BBF2}" type="slidenum">
              <a:rPr lang="en-US" altLang="en-US" sz="1200" b="0" smtClean="0">
                <a:solidFill>
                  <a:schemeClr val="tx1"/>
                </a:solidFill>
              </a:rPr>
              <a:pPr/>
              <a:t>16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839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0813" y="506413"/>
            <a:ext cx="4484687" cy="25225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MCDC: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Modified condition/decision coverage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（修正条件判定覆盖）</a:t>
            </a:r>
            <a:endParaRPr lang="en-US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FAA: </a:t>
            </a:r>
            <a:r>
              <a:rPr lang="en-US" altLang="en-US" dirty="0"/>
              <a:t>Federal Aviation Administration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90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7D9D2D0-1F35-4793-BA8B-B0F6BAE10BFF}" type="slidenum">
              <a:rPr lang="en-US" altLang="en-US" sz="1200" b="0" smtClean="0">
                <a:solidFill>
                  <a:schemeClr val="tx1"/>
                </a:solidFill>
              </a:rPr>
              <a:pPr/>
              <a:t>19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033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34F14CB-3FF5-45D9-82D7-72C9B32C6781}" type="slidenum">
              <a:rPr lang="en-US" altLang="en-US" sz="1200" b="0" smtClean="0">
                <a:solidFill>
                  <a:schemeClr val="tx1"/>
                </a:solidFill>
              </a:rPr>
              <a:pPr/>
              <a:t>20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344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0813" y="506413"/>
            <a:ext cx="4484687" cy="2522537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A0F6AAE-ED4C-442C-A9B2-80341760B0B4}" type="slidenum">
              <a:rPr lang="en-US" altLang="en-US" sz="1200" b="0" smtClean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610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1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309BD-AF2B-43B5-943C-297635D561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164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B0AC8-263E-4BC2-8316-EF38483797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877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900A7-DC3A-4248-8F88-4E7EA883A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1793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4885" y="860425"/>
            <a:ext cx="5869516" cy="5592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60425"/>
            <a:ext cx="5869517" cy="5592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FA7F6-2645-45EE-B629-B6B09A102A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6528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94B31-9459-46F3-B8F4-2909EBC07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63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6CF6B-98B7-407E-B371-58066DCC3A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7245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93535-583A-4C7E-B683-33983836B4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311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D9EDC-03CF-482D-B14B-AB919A89F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187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3A9B8-912F-4593-B920-3E7C524AAB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245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DA3E3-0053-4E43-B5FC-8ECC539034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8776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82618" y="46038"/>
            <a:ext cx="2984500" cy="6407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4884" y="46038"/>
            <a:ext cx="8754533" cy="6407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A0468-236F-441B-B660-08AD417F9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3199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6038"/>
            <a:ext cx="10363200" cy="8001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4885" y="860425"/>
            <a:ext cx="5869516" cy="559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60425"/>
            <a:ext cx="5869517" cy="559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6508750"/>
            <a:ext cx="5302251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49384" y="6499226"/>
            <a:ext cx="3860800" cy="314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7551" y="6489700"/>
            <a:ext cx="25400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079ED-A84C-489D-8652-BBA1953C1F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4876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6038"/>
            <a:ext cx="10363200" cy="8001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4885" y="860425"/>
            <a:ext cx="5869516" cy="559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860425"/>
            <a:ext cx="5869517" cy="2719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732214"/>
            <a:ext cx="5869517" cy="2720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65100" y="6500813"/>
            <a:ext cx="5173133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640917" y="6491289"/>
            <a:ext cx="3860800" cy="314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626600" y="6481763"/>
            <a:ext cx="25400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2E5244-DC11-41C9-B8C1-BDFCA1FC4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2699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5467" y="6586040"/>
            <a:ext cx="5202767" cy="22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11284" y="6578930"/>
            <a:ext cx="3860800" cy="23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26600" y="6571820"/>
            <a:ext cx="2540000" cy="24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E3C558B-0F1F-4E78-AAAB-3F1AFC5A16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8534" y="46038"/>
            <a:ext cx="11935884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4885" y="860426"/>
            <a:ext cx="11942233" cy="5682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 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 </a:t>
            </a:r>
          </a:p>
          <a:p>
            <a:pPr lvl="4"/>
            <a:r>
              <a:rPr lang="en-US" altLang="en-US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anose="020B0502020104020203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anose="020B0502020104020203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anose="020B0502020104020203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anose="020B0502020104020203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Chapter 4 Logic Coverage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13764" y="3886200"/>
            <a:ext cx="6976998" cy="17526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zh-CN" sz="3200" dirty="0"/>
              <a:t>8.1Logic Coverage</a:t>
            </a:r>
            <a:endParaRPr lang="en-US" alt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Ch. 4 : Logic Coverage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A1E189-A5E4-460C-B525-E80730F3D25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038600" y="914401"/>
            <a:ext cx="4114800" cy="974725"/>
          </a:xfrm>
          <a:prstGeom prst="rect">
            <a:avLst/>
          </a:prstGeom>
          <a:gradFill rotWithShape="1">
            <a:gsLst>
              <a:gs pos="0">
                <a:srgbClr val="FAF400"/>
              </a:gs>
              <a:gs pos="100000">
                <a:srgbClr val="FAF40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cs typeface="Arial" pitchFamily="34" charset="0"/>
              </a:rPr>
              <a:t>Four Structures for Modeling Software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1728789" y="1905001"/>
            <a:ext cx="8682037" cy="1102287"/>
            <a:chOff x="204788" y="1905000"/>
            <a:chExt cx="8682037" cy="1102287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3139017" y="2484067"/>
              <a:ext cx="1498600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Graphs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5262034" y="2484067"/>
              <a:ext cx="1500187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Logic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04788" y="2484067"/>
              <a:ext cx="2309812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 Space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7386638" y="2484067"/>
              <a:ext cx="1500187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Syntax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V="1">
              <a:off x="1359694" y="2184400"/>
              <a:ext cx="6787356" cy="111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1357535" y="21844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6007105" y="2195514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4551363" y="19050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8137525" y="21717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3889110" y="2194718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340766" y="3024702"/>
            <a:ext cx="3201988" cy="3611563"/>
            <a:chOff x="5816766" y="3024701"/>
            <a:chExt cx="3201988" cy="3611563"/>
          </a:xfrm>
        </p:grpSpPr>
        <p:sp>
          <p:nvSpPr>
            <p:cNvPr id="22" name="AutoShape 42"/>
            <p:cNvSpPr>
              <a:spLocks noChangeArrowheads="1"/>
            </p:cNvSpPr>
            <p:nvPr/>
          </p:nvSpPr>
          <p:spPr bwMode="auto">
            <a:xfrm>
              <a:off x="5816766" y="5296414"/>
              <a:ext cx="3201988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7867816" y="6079051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24" name="Text Box 44"/>
            <p:cNvSpPr txBox="1">
              <a:spLocks noChangeArrowheads="1"/>
            </p:cNvSpPr>
            <p:nvPr/>
          </p:nvSpPr>
          <p:spPr bwMode="auto">
            <a:xfrm>
              <a:off x="7205829" y="5428176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Models</a:t>
              </a:r>
            </a:p>
          </p:txBody>
        </p:sp>
        <p:sp>
          <p:nvSpPr>
            <p:cNvPr id="25" name="Text Box 45"/>
            <p:cNvSpPr txBox="1">
              <a:spLocks noChangeArrowheads="1"/>
            </p:cNvSpPr>
            <p:nvPr/>
          </p:nvSpPr>
          <p:spPr bwMode="auto">
            <a:xfrm>
              <a:off x="6545429" y="6079051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Integ</a:t>
              </a:r>
            </a:p>
          </p:txBody>
        </p:sp>
        <p:sp>
          <p:nvSpPr>
            <p:cNvPr id="26" name="Text Box 46"/>
            <p:cNvSpPr txBox="1">
              <a:spLocks noChangeArrowheads="1"/>
            </p:cNvSpPr>
            <p:nvPr/>
          </p:nvSpPr>
          <p:spPr bwMode="auto">
            <a:xfrm>
              <a:off x="5904079" y="5426589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27" name="Line 47"/>
            <p:cNvSpPr>
              <a:spLocks noChangeShapeType="1"/>
            </p:cNvSpPr>
            <p:nvPr/>
          </p:nvSpPr>
          <p:spPr bwMode="auto">
            <a:xfrm>
              <a:off x="6421604" y="5026539"/>
              <a:ext cx="199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8"/>
            <p:cNvSpPr>
              <a:spLocks noChangeShapeType="1"/>
            </p:cNvSpPr>
            <p:nvPr/>
          </p:nvSpPr>
          <p:spPr bwMode="auto">
            <a:xfrm flipV="1">
              <a:off x="6435891" y="5026539"/>
              <a:ext cx="0" cy="392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49"/>
            <p:cNvSpPr>
              <a:spLocks noChangeShapeType="1"/>
            </p:cNvSpPr>
            <p:nvPr/>
          </p:nvSpPr>
          <p:spPr bwMode="auto">
            <a:xfrm flipV="1">
              <a:off x="7737641" y="5026539"/>
              <a:ext cx="0" cy="398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50"/>
            <p:cNvSpPr>
              <a:spLocks noChangeShapeType="1"/>
            </p:cNvSpPr>
            <p:nvPr/>
          </p:nvSpPr>
          <p:spPr bwMode="auto">
            <a:xfrm flipV="1">
              <a:off x="7077241" y="5036064"/>
              <a:ext cx="0" cy="1046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51"/>
            <p:cNvSpPr>
              <a:spLocks noChangeShapeType="1"/>
            </p:cNvSpPr>
            <p:nvPr/>
          </p:nvSpPr>
          <p:spPr bwMode="auto">
            <a:xfrm flipV="1">
              <a:off x="8399629" y="5026539"/>
              <a:ext cx="0" cy="1039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52"/>
            <p:cNvSpPr>
              <a:spLocks noChangeShapeType="1"/>
            </p:cNvSpPr>
            <p:nvPr/>
          </p:nvSpPr>
          <p:spPr bwMode="auto">
            <a:xfrm>
              <a:off x="8150391" y="3024701"/>
              <a:ext cx="0" cy="1990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Box 53"/>
            <p:cNvSpPr txBox="1">
              <a:spLocks noChangeArrowheads="1"/>
            </p:cNvSpPr>
            <p:nvPr/>
          </p:nvSpPr>
          <p:spPr bwMode="auto">
            <a:xfrm>
              <a:off x="7415379" y="3575564"/>
              <a:ext cx="112077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129063" y="2989264"/>
            <a:ext cx="3305175" cy="1971675"/>
            <a:chOff x="3605062" y="2989263"/>
            <a:chExt cx="3305175" cy="1971675"/>
          </a:xfrm>
        </p:grpSpPr>
        <p:sp>
          <p:nvSpPr>
            <p:cNvPr id="35" name="AutoShape 29"/>
            <p:cNvSpPr>
              <a:spLocks noChangeArrowheads="1"/>
            </p:cNvSpPr>
            <p:nvPr/>
          </p:nvSpPr>
          <p:spPr bwMode="auto">
            <a:xfrm>
              <a:off x="3605062" y="3621088"/>
              <a:ext cx="3305175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5727550" y="4383088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DNF</a:t>
              </a:r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4387700" y="4402138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5089375" y="3706813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FSMs</a:t>
              </a:r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3749525" y="3727451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41" name="Line 35"/>
            <p:cNvSpPr>
              <a:spLocks noChangeShapeType="1"/>
            </p:cNvSpPr>
            <p:nvPr/>
          </p:nvSpPr>
          <p:spPr bwMode="auto">
            <a:xfrm>
              <a:off x="4292450" y="3336926"/>
              <a:ext cx="199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 flipV="1">
              <a:off x="4294037" y="3336926"/>
              <a:ext cx="0" cy="3730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 flipV="1">
              <a:off x="5633887" y="3336926"/>
              <a:ext cx="0" cy="3794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38"/>
            <p:cNvSpPr>
              <a:spLocks noChangeShapeType="1"/>
            </p:cNvSpPr>
            <p:nvPr/>
          </p:nvSpPr>
          <p:spPr bwMode="auto">
            <a:xfrm flipV="1">
              <a:off x="4932212" y="3346451"/>
              <a:ext cx="0" cy="1046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39"/>
            <p:cNvSpPr>
              <a:spLocks noChangeShapeType="1"/>
            </p:cNvSpPr>
            <p:nvPr/>
          </p:nvSpPr>
          <p:spPr bwMode="auto">
            <a:xfrm flipV="1">
              <a:off x="6272062" y="3336926"/>
              <a:ext cx="0" cy="1039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Box 40"/>
            <p:cNvSpPr txBox="1">
              <a:spLocks noChangeArrowheads="1"/>
            </p:cNvSpPr>
            <p:nvPr/>
          </p:nvSpPr>
          <p:spPr bwMode="auto">
            <a:xfrm>
              <a:off x="4871887" y="2989263"/>
              <a:ext cx="15890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6008312" y="3024188"/>
              <a:ext cx="0" cy="320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699838" y="3005139"/>
            <a:ext cx="4138612" cy="3598863"/>
            <a:chOff x="175838" y="3005138"/>
            <a:chExt cx="4138612" cy="3598863"/>
          </a:xfrm>
        </p:grpSpPr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4030512" y="3035301"/>
              <a:ext cx="0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AutoShape 16"/>
            <p:cNvSpPr>
              <a:spLocks noChangeArrowheads="1"/>
            </p:cNvSpPr>
            <p:nvPr/>
          </p:nvSpPr>
          <p:spPr bwMode="auto">
            <a:xfrm>
              <a:off x="175838" y="5264151"/>
              <a:ext cx="4138612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17"/>
            <p:cNvSpPr txBox="1">
              <a:spLocks noChangeArrowheads="1"/>
            </p:cNvSpPr>
            <p:nvPr/>
          </p:nvSpPr>
          <p:spPr bwMode="auto">
            <a:xfrm>
              <a:off x="2798388" y="60547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Use cases</a:t>
              </a:r>
            </a:p>
          </p:txBody>
        </p:sp>
        <p:sp>
          <p:nvSpPr>
            <p:cNvPr id="50" name="Text Box 18"/>
            <p:cNvSpPr txBox="1">
              <a:spLocks noChangeArrowheads="1"/>
            </p:cNvSpPr>
            <p:nvPr/>
          </p:nvSpPr>
          <p:spPr bwMode="auto">
            <a:xfrm>
              <a:off x="1968125" y="53816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1109288" y="60547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Design</a:t>
              </a:r>
            </a:p>
          </p:txBody>
        </p:sp>
        <p:sp>
          <p:nvSpPr>
            <p:cNvPr id="52" name="Text Box 20"/>
            <p:cNvSpPr txBox="1">
              <a:spLocks noChangeArrowheads="1"/>
            </p:cNvSpPr>
            <p:nvPr/>
          </p:nvSpPr>
          <p:spPr bwMode="auto">
            <a:xfrm>
              <a:off x="272675" y="53816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972763" y="3355976"/>
              <a:ext cx="30686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 flipV="1">
              <a:off x="988638" y="3336926"/>
              <a:ext cx="0" cy="20399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24"/>
            <p:cNvSpPr>
              <a:spLocks noChangeShapeType="1"/>
            </p:cNvSpPr>
            <p:nvPr/>
          </p:nvSpPr>
          <p:spPr bwMode="auto">
            <a:xfrm flipV="1">
              <a:off x="2690438" y="3346451"/>
              <a:ext cx="0" cy="20367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V="1">
              <a:off x="1833188" y="3346451"/>
              <a:ext cx="0" cy="2690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 flipV="1">
              <a:off x="3522287" y="3355976"/>
              <a:ext cx="0" cy="2687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2638978" y="3005138"/>
              <a:ext cx="112077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</p:grpSp>
      <p:sp>
        <p:nvSpPr>
          <p:cNvPr id="61" name="Rectangle 55"/>
          <p:cNvSpPr>
            <a:spLocks noChangeArrowheads="1"/>
          </p:cNvSpPr>
          <p:nvPr/>
        </p:nvSpPr>
        <p:spPr bwMode="auto">
          <a:xfrm>
            <a:off x="8601242" y="2020890"/>
            <a:ext cx="2066759" cy="4604723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2" name="Rectangle 56"/>
          <p:cNvSpPr>
            <a:spLocks noChangeArrowheads="1"/>
          </p:cNvSpPr>
          <p:nvPr/>
        </p:nvSpPr>
        <p:spPr bwMode="auto">
          <a:xfrm>
            <a:off x="1616578" y="5015426"/>
            <a:ext cx="6984664" cy="1610186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6" name="Rectangle 56"/>
          <p:cNvSpPr>
            <a:spLocks noChangeArrowheads="1"/>
          </p:cNvSpPr>
          <p:nvPr/>
        </p:nvSpPr>
        <p:spPr bwMode="auto">
          <a:xfrm>
            <a:off x="1616578" y="2020890"/>
            <a:ext cx="3477837" cy="2994537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7" name="Rectangle 56"/>
          <p:cNvSpPr>
            <a:spLocks noChangeArrowheads="1"/>
          </p:cNvSpPr>
          <p:nvPr/>
        </p:nvSpPr>
        <p:spPr bwMode="auto">
          <a:xfrm>
            <a:off x="5094415" y="2023282"/>
            <a:ext cx="1332379" cy="1166800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8" name="Rectangle 56"/>
          <p:cNvSpPr>
            <a:spLocks noChangeArrowheads="1"/>
          </p:cNvSpPr>
          <p:nvPr/>
        </p:nvSpPr>
        <p:spPr bwMode="auto">
          <a:xfrm>
            <a:off x="5094414" y="3187700"/>
            <a:ext cx="614888" cy="335757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05905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6" grpId="0" animBg="1"/>
      <p:bldP spid="67" grpId="0" animBg="1"/>
      <p:bldP spid="6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8CC2E5-51F9-485D-BE6F-1E01D517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5CA172-8D69-4727-B6DE-814B7E786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Identify predicates and clauses in logical expressions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Compare PC, CC, and CoC, and explain their limitations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Explain how each clause independently affects the predicate in ACC (GACC, CACC, RACC)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 Analyze test requirements for logical expressions under different logic coverage criteria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896183-0E54-4BAF-900C-59173E4C0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63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AD412-C2E0-432A-9776-545FBDD74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0E744-C955-4BA0-8E4E-13A0E1DF2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/>
              <a:t>	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sz="2800" dirty="0"/>
              <a:t>Consider:</a:t>
            </a:r>
          </a:p>
          <a:p>
            <a:pPr marL="0" indent="0" algn="ctr">
              <a:buNone/>
            </a:pPr>
            <a:r>
              <a:rPr lang="pt-BR" altLang="en-US" dirty="0"/>
              <a:t>if ((a &lt; b) || (f(z) &amp;&amp; D &amp;&amp; (m &gt;= n*o))) { ... }</a:t>
            </a:r>
          </a:p>
          <a:p>
            <a:pPr marL="0" indent="0" algn="ctr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Questions:</a:t>
            </a:r>
          </a:p>
          <a:p>
            <a:pPr marL="0" indent="0">
              <a:buNone/>
            </a:pPr>
            <a:r>
              <a:rPr lang="en-US" altLang="zh-CN" dirty="0"/>
              <a:t>		• Would 2 test cases be enough to test the logic expression?</a:t>
            </a:r>
          </a:p>
          <a:p>
            <a:pPr marL="0" indent="0">
              <a:buNone/>
            </a:pPr>
            <a:r>
              <a:rPr lang="en-US" altLang="zh-CN" dirty="0"/>
              <a:t>		• If we already achieve branch coverage, is that sufficient?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40593F-ACF5-49B2-BD35-52C74D15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941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C017E-5F00-4DC0-90A2-EF1D8633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Graph Coverage to Logic Coverage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46DFC9-CCA4-4965-8124-30F479324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Previously: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Statement Coverage → </a:t>
            </a:r>
            <a:r>
              <a:rPr lang="en-US" altLang="zh-CN" dirty="0">
                <a:solidFill>
                  <a:schemeClr val="tx2"/>
                </a:solidFill>
              </a:rPr>
              <a:t>execute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2"/>
                </a:solidFill>
              </a:rPr>
              <a:t>each statement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Branch Coverage → </a:t>
            </a:r>
            <a:r>
              <a:rPr lang="en-US" altLang="zh-CN" dirty="0">
                <a:solidFill>
                  <a:schemeClr val="tx2"/>
                </a:solidFill>
              </a:rPr>
              <a:t>take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2"/>
                </a:solidFill>
              </a:rPr>
              <a:t>each decision outcome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However: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These criteria focus on execution </a:t>
            </a:r>
            <a:r>
              <a:rPr lang="en-US" altLang="zh-CN" dirty="0">
                <a:solidFill>
                  <a:schemeClr val="tx2"/>
                </a:solidFill>
              </a:rPr>
              <a:t>structure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Complex </a:t>
            </a:r>
            <a:r>
              <a:rPr lang="en-US" altLang="zh-CN" dirty="0">
                <a:solidFill>
                  <a:srgbClr val="FFFF00"/>
                </a:solidFill>
              </a:rPr>
              <a:t>logical expressions </a:t>
            </a:r>
            <a:r>
              <a:rPr lang="en-US" altLang="zh-CN" dirty="0"/>
              <a:t>are treated as </a:t>
            </a:r>
            <a:r>
              <a:rPr lang="en-US" altLang="zh-CN" b="1" dirty="0">
                <a:solidFill>
                  <a:schemeClr val="tx2"/>
                </a:solidFill>
              </a:rPr>
              <a:t>a single Boolean </a:t>
            </a:r>
            <a:r>
              <a:rPr lang="en-US" altLang="zh-CN" b="1" dirty="0">
                <a:solidFill>
                  <a:srgbClr val="FFFF00"/>
                </a:solidFill>
              </a:rPr>
              <a:t>result</a:t>
            </a:r>
          </a:p>
          <a:p>
            <a:pPr lvl="1">
              <a:spcBef>
                <a:spcPts val="600"/>
              </a:spcBef>
            </a:pPr>
            <a:r>
              <a:rPr lang="en-US" altLang="zh-CN" b="1" dirty="0">
                <a:solidFill>
                  <a:srgbClr val="FFFF00"/>
                </a:solidFill>
              </a:rPr>
              <a:t>Internal</a:t>
            </a:r>
            <a:r>
              <a:rPr lang="en-US" altLang="zh-CN" dirty="0"/>
              <a:t> logic within expressions are </a:t>
            </a:r>
            <a:r>
              <a:rPr lang="en-US" altLang="zh-CN" b="1" dirty="0">
                <a:solidFill>
                  <a:srgbClr val="FFFF00"/>
                </a:solidFill>
              </a:rPr>
              <a:t>NOT</a:t>
            </a:r>
            <a:r>
              <a:rPr lang="en-US" altLang="zh-CN" dirty="0"/>
              <a:t> explicitly tested</a:t>
            </a:r>
          </a:p>
          <a:p>
            <a:pPr>
              <a:spcBef>
                <a:spcPts val="600"/>
              </a:spcBef>
            </a:pP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Are we testing execution paths, or the logical semantics inside expressions?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Solution: </a:t>
            </a:r>
            <a:r>
              <a:rPr lang="en-US" altLang="zh-CN" b="1" dirty="0">
                <a:solidFill>
                  <a:srgbClr val="FFFF00"/>
                </a:solidFill>
              </a:rPr>
              <a:t>Logic Coverage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A set of criteria for testing logical expressions</a:t>
            </a:r>
          </a:p>
          <a:p>
            <a:pPr lvl="1">
              <a:spcBef>
                <a:spcPts val="600"/>
              </a:spcBef>
            </a:pPr>
            <a:r>
              <a:rPr lang="en-US" altLang="zh-CN" dirty="0"/>
              <a:t>Focuses on how </a:t>
            </a:r>
            <a:r>
              <a:rPr lang="en-US" altLang="zh-CN" b="1" dirty="0">
                <a:solidFill>
                  <a:srgbClr val="FFFF00"/>
                </a:solidFill>
              </a:rPr>
              <a:t>different parts of a logical expression affect the overall outcome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CA06F-8E8E-4200-83C1-C7A319FB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771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CC63D-9812-491F-B06A-A79EF98F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Semantic Logic Coverage Criteria  (8.1)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CB6E31-592B-4A6C-8255-4142B4864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86" y="860426"/>
            <a:ext cx="11929532" cy="5682879"/>
          </a:xfrm>
        </p:spPr>
        <p:txBody>
          <a:bodyPr/>
          <a:lstStyle/>
          <a:p>
            <a:r>
              <a:rPr lang="en-US" altLang="en-US" dirty="0"/>
              <a:t>Logic expressions define system behavior in many contexts: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Decisions in </a:t>
            </a:r>
            <a:r>
              <a:rPr lang="en-US" altLang="en-US" dirty="0">
                <a:solidFill>
                  <a:schemeClr val="tx2"/>
                </a:solidFill>
              </a:rPr>
              <a:t>programs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Guards in </a:t>
            </a:r>
            <a:r>
              <a:rPr lang="en-US" altLang="en-US" dirty="0">
                <a:solidFill>
                  <a:schemeClr val="tx2"/>
                </a:solidFill>
              </a:rPr>
              <a:t>state-based systems </a:t>
            </a:r>
            <a:r>
              <a:rPr lang="en-US" altLang="en-US" dirty="0"/>
              <a:t>(FSMs and </a:t>
            </a:r>
            <a:r>
              <a:rPr lang="en-US" altLang="en-US" dirty="0" err="1"/>
              <a:t>statecharts</a:t>
            </a:r>
            <a:r>
              <a:rPr lang="en-US" altLang="en-US" dirty="0"/>
              <a:t>)</a:t>
            </a:r>
            <a:endParaRPr lang="en-US" altLang="en-US" dirty="0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dirty="0"/>
              <a:t>Decisions in </a:t>
            </a:r>
            <a:r>
              <a:rPr lang="en-US" altLang="en-US" dirty="0">
                <a:solidFill>
                  <a:schemeClr val="tx2"/>
                </a:solidFill>
              </a:rPr>
              <a:t>UML</a:t>
            </a:r>
            <a:r>
              <a:rPr lang="en-US" altLang="en-US" dirty="0"/>
              <a:t> activity graphs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Constraints in </a:t>
            </a:r>
            <a:r>
              <a:rPr lang="en-US" altLang="en-US" dirty="0">
                <a:solidFill>
                  <a:schemeClr val="tx2"/>
                </a:solidFill>
              </a:rPr>
              <a:t>requirements</a:t>
            </a:r>
            <a:r>
              <a:rPr lang="en-US" altLang="en-US" dirty="0"/>
              <a:t>, both formal and informal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Conditions in</a:t>
            </a:r>
            <a:r>
              <a:rPr lang="en-US" altLang="en-US" dirty="0">
                <a:solidFill>
                  <a:schemeClr val="tx2"/>
                </a:solidFill>
              </a:rPr>
              <a:t> SQL</a:t>
            </a:r>
            <a:r>
              <a:rPr lang="en-US" altLang="en-US" dirty="0"/>
              <a:t> queries</a:t>
            </a:r>
          </a:p>
          <a:p>
            <a:r>
              <a:rPr lang="en-US" altLang="en-US" dirty="0"/>
              <a:t>Covering logic expressions is required by the US Federal Aviation Administration (FAA) for </a:t>
            </a:r>
            <a:r>
              <a:rPr lang="en-US" altLang="en-US" b="1" dirty="0">
                <a:solidFill>
                  <a:srgbClr val="FFFF00"/>
                </a:solidFill>
              </a:rPr>
              <a:t>safety-critical</a:t>
            </a:r>
            <a:r>
              <a:rPr lang="en-US" altLang="en-US" dirty="0"/>
              <a:t> software</a:t>
            </a:r>
          </a:p>
          <a:p>
            <a:r>
              <a:rPr lang="en-US" altLang="en-US" dirty="0"/>
              <a:t>Key Insight: </a:t>
            </a:r>
          </a:p>
          <a:p>
            <a:pPr lvl="1"/>
            <a:r>
              <a:rPr lang="en-US" altLang="en-US" dirty="0"/>
              <a:t>Testing selects </a:t>
            </a:r>
            <a:r>
              <a:rPr lang="en-US" altLang="en-US" b="1" dirty="0">
                <a:solidFill>
                  <a:srgbClr val="FFFF00"/>
                </a:solidFill>
              </a:rPr>
              <a:t>a subset of all possible </a:t>
            </a:r>
            <a:r>
              <a:rPr lang="en-US" altLang="en-US" dirty="0"/>
              <a:t>truth assignments. </a:t>
            </a:r>
          </a:p>
          <a:p>
            <a:pPr lvl="1"/>
            <a:r>
              <a:rPr lang="en-US" altLang="zh-CN" dirty="0"/>
              <a:t>Different </a:t>
            </a:r>
            <a:r>
              <a:rPr lang="en-US" altLang="zh-CN" b="1" dirty="0">
                <a:solidFill>
                  <a:srgbClr val="FFFF00"/>
                </a:solidFill>
              </a:rPr>
              <a:t>truth assignments </a:t>
            </a:r>
            <a:r>
              <a:rPr lang="en-US" altLang="zh-CN" dirty="0"/>
              <a:t>represent different system behaviors</a:t>
            </a:r>
            <a:endParaRPr lang="en-US" altLang="en-US" dirty="0"/>
          </a:p>
          <a:p>
            <a:r>
              <a:rPr lang="en-US" altLang="en-US" dirty="0"/>
              <a:t>We need systematic </a:t>
            </a:r>
            <a:r>
              <a:rPr lang="en-US" altLang="en-US" b="1" dirty="0">
                <a:solidFill>
                  <a:srgbClr val="FFFF00"/>
                </a:solidFill>
              </a:rPr>
              <a:t>criteria</a:t>
            </a:r>
            <a:r>
              <a:rPr lang="en-US" altLang="en-US" dirty="0"/>
              <a:t> to select </a:t>
            </a:r>
            <a:r>
              <a:rPr lang="en-US" altLang="en-US" b="1" dirty="0">
                <a:solidFill>
                  <a:srgbClr val="FFFF00"/>
                </a:solidFill>
              </a:rPr>
              <a:t>effective</a:t>
            </a:r>
            <a:r>
              <a:rPr lang="en-US" altLang="en-US" dirty="0"/>
              <a:t> tests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CC5830-B11F-495C-83C6-0A01C9517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532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Logic Predicates and Clauses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chemeClr val="tx2"/>
                </a:solidFill>
              </a:rPr>
              <a:t>predicate</a:t>
            </a:r>
            <a:r>
              <a:rPr lang="zh-CN" altLang="en-US" dirty="0">
                <a:solidFill>
                  <a:schemeClr val="tx2"/>
                </a:solidFill>
              </a:rPr>
              <a:t>（谓词）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is a logical expression that evaluates to a </a:t>
            </a:r>
            <a:r>
              <a:rPr lang="en-US" altLang="en-US" dirty="0">
                <a:solidFill>
                  <a:schemeClr val="tx2"/>
                </a:solidFill>
              </a:rPr>
              <a:t>Boolean</a:t>
            </a:r>
            <a:r>
              <a:rPr lang="en-US" altLang="en-US" dirty="0"/>
              <a:t> value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Predicates can contain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Boolean variables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comparisons</a:t>
            </a:r>
            <a:r>
              <a:rPr lang="en-US" altLang="en-US" dirty="0">
                <a:solidFill>
                  <a:schemeClr val="tx2"/>
                </a:solidFill>
              </a:rPr>
              <a:t> (&gt;, &lt;, ==, &gt;=, &lt;=, !=)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Boolean </a:t>
            </a:r>
            <a:r>
              <a:rPr lang="en-US" altLang="en-US" dirty="0">
                <a:solidFill>
                  <a:schemeClr val="tx2"/>
                </a:solidFill>
              </a:rPr>
              <a:t>function</a:t>
            </a:r>
            <a:r>
              <a:rPr lang="en-US" altLang="en-US" dirty="0"/>
              <a:t> calls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Internal structure is created by logical operators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rgbClr val="FFFF00"/>
                </a:solidFill>
                <a:cs typeface="Times New Roman" pitchFamily="18" charset="0"/>
              </a:rPr>
              <a:t>¬ (</a:t>
            </a:r>
            <a:r>
              <a:rPr lang="en-US" altLang="en-US" i="1" dirty="0">
                <a:solidFill>
                  <a:srgbClr val="FFFF00"/>
                </a:solidFill>
                <a:cs typeface="Times New Roman" pitchFamily="18" charset="0"/>
              </a:rPr>
              <a:t>not), </a:t>
            </a:r>
            <a:r>
              <a:rPr lang="en-US" altLang="en-US" dirty="0">
                <a:solidFill>
                  <a:srgbClr val="FFFF00"/>
                </a:solidFill>
                <a:cs typeface="Times New Roman" pitchFamily="18" charset="0"/>
                <a:sym typeface="Symbol" pitchFamily="18" charset="2"/>
              </a:rPr>
              <a:t> (</a:t>
            </a:r>
            <a:r>
              <a:rPr lang="en-US" altLang="en-US" i="1" dirty="0">
                <a:solidFill>
                  <a:srgbClr val="FFFF00"/>
                </a:solidFill>
                <a:cs typeface="Times New Roman" pitchFamily="18" charset="0"/>
              </a:rPr>
              <a:t>and), </a:t>
            </a:r>
            <a:r>
              <a:rPr lang="en-US" altLang="en-US" dirty="0">
                <a:solidFill>
                  <a:srgbClr val="FFFF00"/>
                </a:solidFill>
                <a:cs typeface="Times New Roman" pitchFamily="18" charset="0"/>
                <a:sym typeface="Symbol" pitchFamily="18" charset="2"/>
              </a:rPr>
              <a:t> (</a:t>
            </a:r>
            <a:r>
              <a:rPr lang="en-US" altLang="en-US" i="1" dirty="0">
                <a:solidFill>
                  <a:srgbClr val="FFFF00"/>
                </a:solidFill>
                <a:cs typeface="Times New Roman" pitchFamily="18" charset="0"/>
              </a:rPr>
              <a:t>or), </a:t>
            </a:r>
            <a:r>
              <a:rPr lang="en-US" altLang="en-US" dirty="0">
                <a:solidFill>
                  <a:srgbClr val="FFFF00"/>
                </a:solidFill>
                <a:latin typeface="Sylfae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en-US" dirty="0">
                <a:solidFill>
                  <a:srgbClr val="FFFF00"/>
                </a:solidFill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FFFF00"/>
                </a:solidFill>
                <a:cs typeface="Times New Roman" pitchFamily="18" charset="0"/>
              </a:rPr>
              <a:t>(</a:t>
            </a:r>
            <a:r>
              <a:rPr lang="en-US" altLang="en-US" i="1" dirty="0">
                <a:solidFill>
                  <a:srgbClr val="FFFF00"/>
                </a:solidFill>
                <a:cs typeface="Times New Roman" pitchFamily="18" charset="0"/>
                <a:sym typeface="Wingdings" pitchFamily="2" charset="2"/>
              </a:rPr>
              <a:t>implies), </a:t>
            </a:r>
            <a:r>
              <a:rPr lang="en-US" altLang="en-US" dirty="0">
                <a:solidFill>
                  <a:srgbClr val="FFFF00"/>
                </a:solidFill>
                <a:cs typeface="Times New Roman" pitchFamily="18" charset="0"/>
                <a:sym typeface="Symbol" pitchFamily="18" charset="2"/>
              </a:rPr>
              <a:t></a:t>
            </a:r>
            <a:r>
              <a:rPr lang="en-US" altLang="en-US" dirty="0">
                <a:solidFill>
                  <a:srgbClr val="FFFF00"/>
                </a:solidFill>
                <a:cs typeface="Times New Roman" pitchFamily="18" charset="0"/>
                <a:sym typeface="Wingdings" pitchFamily="2" charset="2"/>
              </a:rPr>
              <a:t> (</a:t>
            </a:r>
            <a:r>
              <a:rPr lang="en-US" altLang="en-US" i="1" dirty="0" err="1">
                <a:solidFill>
                  <a:srgbClr val="FFFF00"/>
                </a:solidFill>
                <a:cs typeface="Times New Roman" pitchFamily="18" charset="0"/>
                <a:sym typeface="Wingdings" pitchFamily="2" charset="2"/>
              </a:rPr>
              <a:t>xor</a:t>
            </a:r>
            <a:r>
              <a:rPr lang="en-US" altLang="en-US" i="1" dirty="0">
                <a:solidFill>
                  <a:srgbClr val="FFFF00"/>
                </a:solidFill>
                <a:cs typeface="Times New Roman" pitchFamily="18" charset="0"/>
                <a:sym typeface="Wingdings" pitchFamily="2" charset="2"/>
              </a:rPr>
              <a:t>), </a:t>
            </a:r>
            <a:r>
              <a:rPr lang="en-US" altLang="en-US" dirty="0">
                <a:solidFill>
                  <a:srgbClr val="FFFF00"/>
                </a:solidFill>
                <a:latin typeface="Sylfae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FFFF00"/>
                </a:solidFill>
                <a:latin typeface="Sylfaen" pitchFamily="18" charset="0"/>
                <a:cs typeface="Times New Roman" pitchFamily="18" charset="0"/>
                <a:sym typeface="Symbol" pitchFamily="18" charset="2"/>
              </a:rPr>
              <a:t></a:t>
            </a:r>
            <a:r>
              <a:rPr lang="en-US" altLang="en-US" dirty="0">
                <a:solidFill>
                  <a:srgbClr val="FFFF00"/>
                </a:solidFill>
                <a:cs typeface="Times New Roman" pitchFamily="18" charset="0"/>
                <a:sym typeface="Wingdings" pitchFamily="2" charset="2"/>
              </a:rPr>
              <a:t> </a:t>
            </a:r>
            <a:r>
              <a:rPr lang="en-US" altLang="en-US" dirty="0">
                <a:solidFill>
                  <a:srgbClr val="FFFF00"/>
                </a:solidFill>
                <a:cs typeface="Times New Roman" pitchFamily="18" charset="0"/>
              </a:rPr>
              <a:t>(</a:t>
            </a:r>
            <a:r>
              <a:rPr lang="en-US" altLang="en-US" i="1" dirty="0">
                <a:solidFill>
                  <a:srgbClr val="FFFF00"/>
                </a:solidFill>
                <a:cs typeface="Times New Roman" pitchFamily="18" charset="0"/>
                <a:sym typeface="Wingdings" pitchFamily="2" charset="2"/>
              </a:rPr>
              <a:t>equivalence)</a:t>
            </a:r>
            <a:endParaRPr lang="en-US" altLang="en-US" dirty="0">
              <a:solidFill>
                <a:srgbClr val="FFFF00"/>
              </a:solidFill>
              <a:cs typeface="Times New Roman" pitchFamily="18" charset="0"/>
              <a:sym typeface="Wingdings" pitchFamily="2" charset="2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dirty="0">
                <a:solidFill>
                  <a:schemeClr val="tx2"/>
                </a:solidFill>
              </a:rPr>
              <a:t>clause</a:t>
            </a:r>
            <a:r>
              <a:rPr lang="zh-CN" altLang="en-US" dirty="0">
                <a:solidFill>
                  <a:schemeClr val="tx2"/>
                </a:solidFill>
              </a:rPr>
              <a:t>（子句）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is </a:t>
            </a:r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dirty="0"/>
              <a:t>logical expression</a:t>
            </a:r>
            <a:r>
              <a:rPr lang="en-US" altLang="en-US" dirty="0">
                <a:cs typeface="Times New Roman" pitchFamily="18" charset="0"/>
              </a:rPr>
              <a:t> with no logical operators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cs typeface="Times New Roman" pitchFamily="18" charset="0"/>
              </a:rPr>
              <a:t>It represents a basic unit in a logical expression</a:t>
            </a:r>
          </a:p>
          <a:p>
            <a:pPr>
              <a:lnSpc>
                <a:spcPct val="80000"/>
              </a:lnSpc>
            </a:pPr>
            <a:r>
              <a:rPr lang="en-US" altLang="zh-CN" dirty="0"/>
              <a:t>In programming, we often call </a:t>
            </a:r>
            <a:r>
              <a:rPr lang="en-US" altLang="zh-CN" dirty="0">
                <a:solidFill>
                  <a:srgbClr val="FFFF00"/>
                </a:solidFill>
              </a:rPr>
              <a:t>predicates “decisions”</a:t>
            </a:r>
            <a:r>
              <a:rPr lang="zh-CN" altLang="en-US" dirty="0">
                <a:solidFill>
                  <a:srgbClr val="FFFF00"/>
                </a:solidFill>
              </a:rPr>
              <a:t>（判定）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FFFF00"/>
                </a:solidFill>
              </a:rPr>
              <a:t>clauses “conditions”</a:t>
            </a:r>
            <a:r>
              <a:rPr lang="zh-CN" altLang="en-US" dirty="0">
                <a:solidFill>
                  <a:srgbClr val="FFFF00"/>
                </a:solidFill>
              </a:rPr>
              <a:t>（条件）</a:t>
            </a:r>
            <a:r>
              <a:rPr lang="en-US" altLang="zh-CN" dirty="0">
                <a:solidFill>
                  <a:srgbClr val="FFFF00"/>
                </a:solidFill>
              </a:rPr>
              <a:t>.</a:t>
            </a:r>
            <a:endParaRPr lang="en-US" altLang="en-US" dirty="0">
              <a:solidFill>
                <a:srgbClr val="FFFF00"/>
              </a:solidFill>
              <a:cs typeface="Times New Roman" pitchFamily="18" charset="0"/>
            </a:endParaRP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74EB18D-ABCE-46B9-8FB9-4AE0056E993B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7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4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4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and Observations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E.g.,	 (a </a:t>
            </a:r>
            <a:r>
              <a:rPr lang="en-US" altLang="en-US" dirty="0">
                <a:solidFill>
                  <a:schemeClr val="tx2"/>
                </a:solidFill>
              </a:rPr>
              <a:t>&lt;</a:t>
            </a:r>
            <a:r>
              <a:rPr lang="en-US" altLang="en-US" dirty="0"/>
              <a:t> b)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||</a:t>
            </a:r>
            <a:r>
              <a:rPr lang="en-US" altLang="en-US" dirty="0"/>
              <a:t> (f (z)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&amp;&amp;</a:t>
            </a:r>
            <a:r>
              <a:rPr lang="en-US" altLang="en-US" dirty="0"/>
              <a:t> D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&amp;&amp; </a:t>
            </a:r>
            <a:r>
              <a:rPr lang="en-US" altLang="en-US" dirty="0"/>
              <a:t>(m </a:t>
            </a:r>
            <a:r>
              <a:rPr lang="en-US" altLang="en-US" dirty="0">
                <a:solidFill>
                  <a:schemeClr val="tx2"/>
                </a:solidFill>
              </a:rPr>
              <a:t>&gt;=</a:t>
            </a:r>
            <a:r>
              <a:rPr lang="en-US" altLang="en-US" dirty="0"/>
              <a:t> n*o) ) has four </a:t>
            </a:r>
            <a:r>
              <a:rPr lang="en-US" altLang="en-US" b="1" dirty="0">
                <a:solidFill>
                  <a:schemeClr val="tx2"/>
                </a:solidFill>
              </a:rPr>
              <a:t>clauses</a:t>
            </a:r>
            <a:r>
              <a:rPr lang="en-US" altLang="en-US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(a </a:t>
            </a:r>
            <a:r>
              <a:rPr lang="en-US" altLang="en-US" dirty="0">
                <a:solidFill>
                  <a:schemeClr val="tx2"/>
                </a:solidFill>
              </a:rPr>
              <a:t>&lt;</a:t>
            </a:r>
            <a:r>
              <a:rPr lang="en-US" altLang="en-US" dirty="0"/>
              <a:t> b) – relational expression</a:t>
            </a:r>
            <a:endParaRPr lang="en-US" altLang="en-US" dirty="0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dirty="0"/>
              <a:t> f (z) – </a:t>
            </a:r>
            <a:r>
              <a:rPr lang="en-US" altLang="en-US" dirty="0" err="1"/>
              <a:t>boolean</a:t>
            </a:r>
            <a:r>
              <a:rPr lang="en-US" altLang="en-US" dirty="0"/>
              <a:t>-valued function</a:t>
            </a:r>
            <a:endParaRPr lang="en-US" altLang="en-US" dirty="0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dirty="0"/>
              <a:t> D – </a:t>
            </a:r>
            <a:r>
              <a:rPr lang="en-US" altLang="en-US" dirty="0" err="1"/>
              <a:t>boolean</a:t>
            </a:r>
            <a:r>
              <a:rPr lang="en-US" altLang="en-US" dirty="0"/>
              <a:t> variable</a:t>
            </a:r>
            <a:endParaRPr lang="en-US" altLang="en-US" dirty="0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altLang="en-US" dirty="0"/>
              <a:t> (m </a:t>
            </a:r>
            <a:r>
              <a:rPr lang="en-US" altLang="en-US" dirty="0">
                <a:solidFill>
                  <a:schemeClr val="tx2"/>
                </a:solidFill>
              </a:rPr>
              <a:t>&gt;=</a:t>
            </a:r>
            <a:r>
              <a:rPr lang="en-US" altLang="en-US" dirty="0"/>
              <a:t> n*o) – relational expression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Most predicates have </a:t>
            </a:r>
            <a:r>
              <a:rPr lang="en-US" altLang="en-US" dirty="0">
                <a:solidFill>
                  <a:schemeClr val="tx2"/>
                </a:solidFill>
              </a:rPr>
              <a:t>few clauses</a:t>
            </a:r>
            <a:r>
              <a:rPr lang="zh-CN" altLang="en-US" dirty="0">
                <a:solidFill>
                  <a:schemeClr val="tx2"/>
                </a:solidFill>
              </a:rPr>
              <a:t> </a:t>
            </a:r>
            <a:r>
              <a:rPr lang="en-US" altLang="zh-CN" dirty="0"/>
              <a:t>(</a:t>
            </a:r>
            <a:r>
              <a:rPr lang="en-US" altLang="zh-CN" i="1" dirty="0"/>
              <a:t>from a study of 63 open source programs, &gt;400,000 predicates)</a:t>
            </a:r>
            <a:endParaRPr lang="en-US" altLang="en-US" dirty="0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dirty="0"/>
              <a:t>88.5% have 1 clause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9.5% have 2 clauses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1.35% have 3 clauses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Only 0.65% have 4 or more !</a:t>
            </a: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Exhaustive testing may be feasible for small predicates,  but becomes costly as clauses increase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EDD6F9F-0630-469A-8657-CDC174F97EE2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8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0903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4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4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4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4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Predicate Coverage (PC)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8CDA57-673E-7B13-D9DF-92161772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endParaRPr lang="en-US" altLang="en-US" dirty="0"/>
          </a:p>
          <a:p>
            <a:pPr>
              <a:spcBef>
                <a:spcPts val="600"/>
              </a:spcBef>
            </a:pPr>
            <a:endParaRPr lang="en-US" altLang="en-US" dirty="0"/>
          </a:p>
          <a:p>
            <a:pPr>
              <a:spcBef>
                <a:spcPts val="600"/>
              </a:spcBef>
            </a:pPr>
            <a:endParaRPr lang="en-US" altLang="en-US" dirty="0"/>
          </a:p>
          <a:p>
            <a:pPr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648AA08-A60E-41D4-BC53-D1EF5FFCD976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9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6853" name="Text Box 5"/>
          <p:cNvSpPr txBox="1">
            <a:spLocks noChangeArrowheads="1"/>
          </p:cNvSpPr>
          <p:nvPr/>
        </p:nvSpPr>
        <p:spPr bwMode="auto">
          <a:xfrm>
            <a:off x="925316" y="3601974"/>
            <a:ext cx="4822825" cy="181588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en-US" sz="2400" u="sng" dirty="0">
                <a:latin typeface="Gill Sans MT" panose="020B0502020104020203" pitchFamily="34" charset="0"/>
              </a:rPr>
              <a:t>Testcase for Predicate = true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a = 5, b = 10, D = true, m = 1, n = 1, o = 1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p = ((5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&lt;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10)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true)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(1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&gt;=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1*1)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= (true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true)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latin typeface="Gill Sans MT" panose="020B0502020104020203" pitchFamily="34" charset="0"/>
              </a:rPr>
              <a:t> 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true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= true</a:t>
            </a:r>
          </a:p>
        </p:txBody>
      </p:sp>
      <p:sp>
        <p:nvSpPr>
          <p:cNvPr id="206854" name="Text Box 6"/>
          <p:cNvSpPr txBox="1">
            <a:spLocks noChangeArrowheads="1"/>
          </p:cNvSpPr>
          <p:nvPr/>
        </p:nvSpPr>
        <p:spPr bwMode="auto">
          <a:xfrm>
            <a:off x="6096000" y="3601974"/>
            <a:ext cx="4822825" cy="181588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en-US" sz="2400" u="sng" dirty="0">
                <a:latin typeface="Gill Sans MT" panose="020B0502020104020203" pitchFamily="34" charset="0"/>
              </a:rPr>
              <a:t>Testcase for Predicate = false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a = 10, b = 5, D = false, m = 1, n = 1, o = 1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p = ((10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&lt;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5)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false)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(1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&gt;=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1*1)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= (false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false)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true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= false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0340317-DF32-45FC-8DD7-EB5D057DA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959" y="901182"/>
            <a:ext cx="4551971" cy="165276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Predicate Coverage (PC)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The predicate p must evaluate to: 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True at least once  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False at least once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A71C4E-D5D0-7C18-D108-0F8BF10758EE}"/>
              </a:ext>
            </a:extLst>
          </p:cNvPr>
          <p:cNvSpPr txBox="1"/>
          <p:nvPr/>
        </p:nvSpPr>
        <p:spPr>
          <a:xfrm>
            <a:off x="2909454" y="294182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E.g., p = ((a &lt; b) </a:t>
            </a:r>
            <a:r>
              <a:rPr lang="en-US" alt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D) </a:t>
            </a:r>
            <a:r>
              <a:rPr lang="en-US" alt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</a:t>
            </a:r>
            <a:r>
              <a:rPr lang="en-US" alt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(m &gt;= n*o)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685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06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68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6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68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68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68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06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06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068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068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068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3" grpId="0" uiExpand="1" build="p" animBg="1"/>
      <p:bldP spid="206854" grpId="0" build="p" animBg="1"/>
      <p:bldP spid="7" grpId="0" animBg="1" autoUpdateAnimBg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49CA8-A673-9561-942E-A486382F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>
            <a:extLst>
              <a:ext uri="{FF2B5EF4-FFF2-40B4-BE49-F238E27FC236}">
                <a16:creationId xmlns:a16="http://schemas.microsoft.com/office/drawing/2014/main" id="{644EC786-73AA-22D1-14CC-0A06D0168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Limitations with PC</a:t>
            </a:r>
          </a:p>
        </p:txBody>
      </p:sp>
      <p:sp>
        <p:nvSpPr>
          <p:cNvPr id="25606" name="Rectangle 3">
            <a:extLst>
              <a:ext uri="{FF2B5EF4-FFF2-40B4-BE49-F238E27FC236}">
                <a16:creationId xmlns:a16="http://schemas.microsoft.com/office/drawing/2014/main" id="{999ECE38-64FC-9AD6-FBB5-545B84B089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PC does not ensure all clauses take both true and false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PC does not </a:t>
            </a:r>
            <a:r>
              <a:rPr lang="en-US" altLang="en-US" dirty="0">
                <a:solidFill>
                  <a:schemeClr val="tx2"/>
                </a:solidFill>
              </a:rPr>
              <a:t>fully exercise </a:t>
            </a:r>
            <a:r>
              <a:rPr lang="en-US" altLang="en-US" dirty="0"/>
              <a:t>all the clauses, especially in the presence of short circuit evaluation</a:t>
            </a:r>
          </a:p>
        </p:txBody>
      </p:sp>
      <p:sp>
        <p:nvSpPr>
          <p:cNvPr id="25604" name="Slide Number Placeholder 5">
            <a:extLst>
              <a:ext uri="{FF2B5EF4-FFF2-40B4-BE49-F238E27FC236}">
                <a16:creationId xmlns:a16="http://schemas.microsoft.com/office/drawing/2014/main" id="{F6A248B1-1B16-CEE9-3F22-2BCABDD0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8E757E4-1437-4B9B-AC71-CB43AB2764B2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10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04FDC9FF-FAB9-205F-B62E-4153BDF3E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6208" y="1602221"/>
            <a:ext cx="4143226" cy="141577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altLang="en-US" sz="2400" u="sng" dirty="0">
                <a:latin typeface="Gill Sans MT" panose="020B0502020104020203" pitchFamily="34" charset="0"/>
              </a:rPr>
              <a:t>P = A </a:t>
            </a:r>
            <a:r>
              <a:rPr lang="en-US" altLang="en-US" sz="28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u="sng" dirty="0">
                <a:latin typeface="Gill Sans MT" panose="020B0502020104020203" pitchFamily="34" charset="0"/>
              </a:rPr>
              <a:t> B</a:t>
            </a:r>
          </a:p>
          <a:p>
            <a:pPr>
              <a:spcBef>
                <a:spcPts val="6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A = true, B = true → p = true</a:t>
            </a:r>
          </a:p>
          <a:p>
            <a:pPr>
              <a:spcBef>
                <a:spcPts val="6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A = false, B = true → p = false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B4B3DD-1C95-9650-750E-5EFD8D0F24F6}"/>
              </a:ext>
            </a:extLst>
          </p:cNvPr>
          <p:cNvSpPr txBox="1"/>
          <p:nvPr/>
        </p:nvSpPr>
        <p:spPr>
          <a:xfrm>
            <a:off x="1373028" y="3198167"/>
            <a:ext cx="8282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Here B is always true → B never takes value false</a:t>
            </a:r>
            <a:endParaRPr lang="zh-CN" altLang="en-US" sz="2400" b="0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24B4D9C-ED01-B7E5-901F-396E8561ED91}"/>
              </a:ext>
            </a:extLst>
          </p:cNvPr>
          <p:cNvSpPr/>
          <p:nvPr/>
        </p:nvSpPr>
        <p:spPr bwMode="auto">
          <a:xfrm>
            <a:off x="4876800" y="2570585"/>
            <a:ext cx="1274618" cy="461665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>
              <a:ln>
                <a:noFill/>
              </a:ln>
              <a:solidFill>
                <a:srgbClr val="FAFD00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EB83B4-0F96-6EFB-105D-D944DC1B7FA1}"/>
              </a:ext>
            </a:extLst>
          </p:cNvPr>
          <p:cNvSpPr txBox="1"/>
          <p:nvPr/>
        </p:nvSpPr>
        <p:spPr>
          <a:xfrm>
            <a:off x="7915440" y="2098606"/>
            <a:ext cx="29878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B is NOT evaluated (short-circuit)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A992C9B-69F7-269E-2BC7-1714A358ECAE}"/>
              </a:ext>
            </a:extLst>
          </p:cNvPr>
          <p:cNvCxnSpPr>
            <a:cxnSpLocks/>
            <a:stCxn id="5" idx="6"/>
          </p:cNvCxnSpPr>
          <p:nvPr/>
        </p:nvCxnSpPr>
        <p:spPr bwMode="auto">
          <a:xfrm flipV="1">
            <a:off x="6151418" y="2514104"/>
            <a:ext cx="2209800" cy="28731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72477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6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Clause Coverage (CC)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01882AF-6F5B-4157-A822-6DDD9031B47C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11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4582" name="Rectangle 3"/>
          <p:cNvSpPr>
            <a:spLocks noChangeArrowheads="1"/>
          </p:cNvSpPr>
          <p:nvPr/>
        </p:nvSpPr>
        <p:spPr bwMode="auto">
          <a:xfrm>
            <a:off x="3872295" y="2498476"/>
            <a:ext cx="4283470" cy="545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b="0" dirty="0">
                <a:latin typeface="Gill Sans MT" panose="020B0502020104020203" pitchFamily="34" charset="0"/>
              </a:rPr>
              <a:t>E.g., </a:t>
            </a:r>
            <a:r>
              <a:rPr lang="en-US" altLang="en-US" dirty="0">
                <a:latin typeface="Gill Sans MT" panose="020B0502020104020203" pitchFamily="34" charset="0"/>
              </a:rPr>
              <a:t>((a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</a:rPr>
              <a:t>&lt;</a:t>
            </a:r>
            <a:r>
              <a:rPr lang="en-US" altLang="en-US" dirty="0">
                <a:latin typeface="Gill Sans MT" panose="020B0502020104020203" pitchFamily="34" charset="0"/>
              </a:rPr>
              <a:t> b) </a:t>
            </a:r>
            <a:r>
              <a:rPr lang="en-US" altLang="en-US" sz="3200" dirty="0">
                <a:solidFill>
                  <a:schemeClr val="tx2"/>
                </a:solidFill>
                <a:latin typeface="Gill Sans MT" panose="020B0502020104020203" pitchFamily="34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>
                <a:latin typeface="Gill Sans MT" panose="020B0502020104020203" pitchFamily="34" charset="0"/>
              </a:rPr>
              <a:t> D) </a:t>
            </a:r>
            <a:r>
              <a:rPr lang="en-US" altLang="en-US" sz="3200" dirty="0">
                <a:solidFill>
                  <a:schemeClr val="tx2"/>
                </a:solidFill>
                <a:latin typeface="Gill Sans MT" panose="020B0502020104020203" pitchFamily="34" charset="0"/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sz="2800" dirty="0">
                <a:solidFill>
                  <a:schemeClr val="tx2"/>
                </a:solidFill>
                <a:latin typeface="Gill Sans MT" panose="020B0502020104020203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dirty="0">
                <a:latin typeface="Gill Sans MT" panose="020B0502020104020203" pitchFamily="34" charset="0"/>
              </a:rPr>
              <a:t>(m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</a:rPr>
              <a:t>&gt;=</a:t>
            </a:r>
            <a:r>
              <a:rPr lang="en-US" altLang="en-US" dirty="0">
                <a:latin typeface="Gill Sans MT" panose="020B0502020104020203" pitchFamily="34" charset="0"/>
              </a:rPr>
              <a:t> n*o)</a:t>
            </a:r>
          </a:p>
        </p:txBody>
      </p:sp>
      <p:sp>
        <p:nvSpPr>
          <p:cNvPr id="215045" name="Text Box 5"/>
          <p:cNvSpPr txBox="1">
            <a:spLocks noChangeArrowheads="1"/>
          </p:cNvSpPr>
          <p:nvPr/>
        </p:nvSpPr>
        <p:spPr bwMode="auto">
          <a:xfrm>
            <a:off x="3444876" y="5360348"/>
            <a:ext cx="5395913" cy="133985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457200" indent="-457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b="0" u="sng">
                <a:latin typeface="Gill Sans MT" panose="020B0502020104020203" pitchFamily="34" charset="0"/>
              </a:rPr>
              <a:t>Two tests</a:t>
            </a:r>
          </a:p>
          <a:p>
            <a:pPr>
              <a:spcBef>
                <a:spcPct val="50000"/>
              </a:spcBef>
            </a:pPr>
            <a:endParaRPr lang="en-US" altLang="en-US" b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b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130550" y="3180704"/>
            <a:ext cx="3424238" cy="863601"/>
            <a:chOff x="399" y="1345"/>
            <a:chExt cx="2157" cy="544"/>
          </a:xfrm>
        </p:grpSpPr>
        <p:sp>
          <p:nvSpPr>
            <p:cNvPr id="24603" name="Text Box 4"/>
            <p:cNvSpPr txBox="1">
              <a:spLocks noChangeArrowheads="1"/>
            </p:cNvSpPr>
            <p:nvPr/>
          </p:nvSpPr>
          <p:spPr bwMode="auto">
            <a:xfrm>
              <a:off x="399" y="1345"/>
              <a:ext cx="1059" cy="543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 u="sng" dirty="0">
                  <a:latin typeface="Gill Sans MT" panose="020B0502020104020203" pitchFamily="34" charset="0"/>
                </a:rPr>
                <a:t>(a &lt; b) = true</a:t>
              </a:r>
            </a:p>
            <a:p>
              <a:pPr>
                <a:spcBef>
                  <a:spcPct val="50000"/>
                </a:spcBef>
              </a:pPr>
              <a:r>
                <a:rPr lang="en-US" altLang="en-US" b="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a = 5, b = 10</a:t>
              </a:r>
            </a:p>
          </p:txBody>
        </p:sp>
        <p:sp>
          <p:nvSpPr>
            <p:cNvPr id="24604" name="Text Box 6"/>
            <p:cNvSpPr txBox="1">
              <a:spLocks noChangeArrowheads="1"/>
            </p:cNvSpPr>
            <p:nvPr/>
          </p:nvSpPr>
          <p:spPr bwMode="auto">
            <a:xfrm>
              <a:off x="1453" y="1346"/>
              <a:ext cx="1103" cy="543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 u="sng">
                  <a:latin typeface="Gill Sans MT" panose="020B0502020104020203" pitchFamily="34" charset="0"/>
                </a:rPr>
                <a:t>(a &lt; b) = false</a:t>
              </a:r>
            </a:p>
            <a:p>
              <a:pPr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a = 10, b = 5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713539" y="3180703"/>
            <a:ext cx="2346325" cy="863601"/>
            <a:chOff x="1943" y="1504"/>
            <a:chExt cx="1478" cy="544"/>
          </a:xfrm>
        </p:grpSpPr>
        <p:sp>
          <p:nvSpPr>
            <p:cNvPr id="24601" name="Text Box 7"/>
            <p:cNvSpPr txBox="1">
              <a:spLocks noChangeArrowheads="1"/>
            </p:cNvSpPr>
            <p:nvPr/>
          </p:nvSpPr>
          <p:spPr bwMode="auto">
            <a:xfrm>
              <a:off x="1943" y="1504"/>
              <a:ext cx="741" cy="543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 u="sng">
                  <a:latin typeface="Gill Sans MT" panose="020B0502020104020203" pitchFamily="34" charset="0"/>
                </a:rPr>
                <a:t>D = true</a:t>
              </a:r>
            </a:p>
            <a:p>
              <a:pPr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D = true</a:t>
              </a:r>
            </a:p>
          </p:txBody>
        </p:sp>
        <p:sp>
          <p:nvSpPr>
            <p:cNvPr id="24602" name="Text Box 8"/>
            <p:cNvSpPr txBox="1">
              <a:spLocks noChangeArrowheads="1"/>
            </p:cNvSpPr>
            <p:nvPr/>
          </p:nvSpPr>
          <p:spPr bwMode="auto">
            <a:xfrm>
              <a:off x="2680" y="1505"/>
              <a:ext cx="741" cy="543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 u="sng">
                  <a:latin typeface="Gill Sans MT" panose="020B0502020104020203" pitchFamily="34" charset="0"/>
                </a:rPr>
                <a:t>D = false</a:t>
              </a:r>
            </a:p>
            <a:p>
              <a:pPr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D = false</a:t>
              </a: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3944939" y="4322115"/>
            <a:ext cx="4300537" cy="863600"/>
            <a:chOff x="1985" y="2077"/>
            <a:chExt cx="2709" cy="544"/>
          </a:xfrm>
        </p:grpSpPr>
        <p:sp>
          <p:nvSpPr>
            <p:cNvPr id="24599" name="Text Box 11"/>
            <p:cNvSpPr txBox="1">
              <a:spLocks noChangeArrowheads="1"/>
            </p:cNvSpPr>
            <p:nvPr/>
          </p:nvSpPr>
          <p:spPr bwMode="auto">
            <a:xfrm>
              <a:off x="1985" y="2078"/>
              <a:ext cx="1361" cy="543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 u="sng">
                  <a:latin typeface="Gill Sans MT" panose="020B0502020104020203" pitchFamily="34" charset="0"/>
                </a:rPr>
                <a:t>m &gt;= n*o = true</a:t>
              </a:r>
            </a:p>
            <a:p>
              <a:pPr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m = 1, n = 1, o = 1</a:t>
              </a:r>
            </a:p>
          </p:txBody>
        </p:sp>
        <p:sp>
          <p:nvSpPr>
            <p:cNvPr id="24600" name="Text Box 12"/>
            <p:cNvSpPr txBox="1">
              <a:spLocks noChangeArrowheads="1"/>
            </p:cNvSpPr>
            <p:nvPr/>
          </p:nvSpPr>
          <p:spPr bwMode="auto">
            <a:xfrm>
              <a:off x="3333" y="2077"/>
              <a:ext cx="1361" cy="543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 u="sng">
                  <a:latin typeface="Gill Sans MT" panose="020B0502020104020203" pitchFamily="34" charset="0"/>
                </a:rPr>
                <a:t>m &gt;= n*o = false</a:t>
              </a:r>
            </a:p>
            <a:p>
              <a:pPr>
                <a:spcBef>
                  <a:spcPct val="50000"/>
                </a:spcBef>
              </a:pPr>
              <a:r>
                <a:rPr lang="en-US" altLang="en-US" b="0">
                  <a:solidFill>
                    <a:schemeClr val="tx1"/>
                  </a:solidFill>
                  <a:latin typeface="Gill Sans MT" panose="020B0502020104020203" pitchFamily="34" charset="0"/>
                </a:rPr>
                <a:t>m = 1, n = 2, o = 2</a:t>
              </a:r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1854200" y="4049075"/>
            <a:ext cx="6884988" cy="2168526"/>
            <a:chOff x="208" y="2167"/>
            <a:chExt cx="4337" cy="1366"/>
          </a:xfrm>
        </p:grpSpPr>
        <p:cxnSp>
          <p:nvCxnSpPr>
            <p:cNvPr id="24594" name="AutoShape 15"/>
            <p:cNvCxnSpPr>
              <a:cxnSpLocks noChangeShapeType="1"/>
              <a:stCxn id="24603" idx="2"/>
              <a:endCxn id="24598" idx="1"/>
            </p:cNvCxnSpPr>
            <p:nvPr/>
          </p:nvCxnSpPr>
          <p:spPr bwMode="auto">
            <a:xfrm rot="5400000">
              <a:off x="756" y="2623"/>
              <a:ext cx="1241" cy="330"/>
            </a:xfrm>
            <a:prstGeom prst="curvedConnector4">
              <a:avLst>
                <a:gd name="adj1" fmla="val 44962"/>
                <a:gd name="adj2" fmla="val 143703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5" name="AutoShape 16"/>
            <p:cNvCxnSpPr>
              <a:cxnSpLocks noChangeShapeType="1"/>
              <a:stCxn id="24601" idx="2"/>
              <a:endCxn id="24598" idx="1"/>
            </p:cNvCxnSpPr>
            <p:nvPr/>
          </p:nvCxnSpPr>
          <p:spPr bwMode="auto">
            <a:xfrm rot="5400000">
              <a:off x="1805" y="1574"/>
              <a:ext cx="1241" cy="2428"/>
            </a:xfrm>
            <a:prstGeom prst="curvedConnector4">
              <a:avLst>
                <a:gd name="adj1" fmla="val 44962"/>
                <a:gd name="adj2" fmla="val 105932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6" name="AutoShape 17"/>
            <p:cNvCxnSpPr>
              <a:cxnSpLocks noChangeShapeType="1"/>
              <a:stCxn id="24599" idx="2"/>
              <a:endCxn id="24598" idx="1"/>
            </p:cNvCxnSpPr>
            <p:nvPr/>
          </p:nvCxnSpPr>
          <p:spPr bwMode="auto">
            <a:xfrm rot="5400000">
              <a:off x="1448" y="2651"/>
              <a:ext cx="521" cy="994"/>
            </a:xfrm>
            <a:prstGeom prst="curvedConnector4">
              <a:avLst>
                <a:gd name="adj1" fmla="val 37996"/>
                <a:gd name="adj2" fmla="val 114494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7" name="Text Box 18"/>
            <p:cNvSpPr txBox="1">
              <a:spLocks noChangeArrowheads="1"/>
            </p:cNvSpPr>
            <p:nvPr/>
          </p:nvSpPr>
          <p:spPr bwMode="auto">
            <a:xfrm>
              <a:off x="208" y="3175"/>
              <a:ext cx="81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>
                  <a:latin typeface="Gill Sans MT" panose="020B0502020104020203" pitchFamily="34" charset="0"/>
                </a:rPr>
                <a:t>true cases</a:t>
              </a:r>
            </a:p>
          </p:txBody>
        </p:sp>
        <p:sp>
          <p:nvSpPr>
            <p:cNvPr id="24598" name="Text Box 20"/>
            <p:cNvSpPr txBox="1">
              <a:spLocks noChangeArrowheads="1"/>
            </p:cNvSpPr>
            <p:nvPr/>
          </p:nvSpPr>
          <p:spPr bwMode="auto">
            <a:xfrm>
              <a:off x="1212" y="3283"/>
              <a:ext cx="33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b="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1) a = 5, b = 10, D = true, m = 1, n = 1, o = 1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3448050" y="4050661"/>
            <a:ext cx="6624638" cy="2627313"/>
            <a:chOff x="1212" y="2168"/>
            <a:chExt cx="4173" cy="1655"/>
          </a:xfrm>
        </p:grpSpPr>
        <p:sp>
          <p:nvSpPr>
            <p:cNvPr id="24589" name="Text Box 19"/>
            <p:cNvSpPr txBox="1">
              <a:spLocks noChangeArrowheads="1"/>
            </p:cNvSpPr>
            <p:nvPr/>
          </p:nvSpPr>
          <p:spPr bwMode="auto">
            <a:xfrm>
              <a:off x="4571" y="2544"/>
              <a:ext cx="81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b="0">
                  <a:latin typeface="Gill Sans MT" panose="020B0502020104020203" pitchFamily="34" charset="0"/>
                </a:rPr>
                <a:t>false cases</a:t>
              </a:r>
            </a:p>
          </p:txBody>
        </p:sp>
        <p:sp>
          <p:nvSpPr>
            <p:cNvPr id="24590" name="Text Box 21"/>
            <p:cNvSpPr txBox="1">
              <a:spLocks noChangeArrowheads="1"/>
            </p:cNvSpPr>
            <p:nvPr/>
          </p:nvSpPr>
          <p:spPr bwMode="auto">
            <a:xfrm>
              <a:off x="1212" y="3573"/>
              <a:ext cx="33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b="0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2) a = 10, b = 5, D = false, m = 1, n = 2, o = 2</a:t>
              </a:r>
            </a:p>
          </p:txBody>
        </p:sp>
        <p:cxnSp>
          <p:nvCxnSpPr>
            <p:cNvPr id="24591" name="AutoShape 22"/>
            <p:cNvCxnSpPr>
              <a:cxnSpLocks noChangeShapeType="1"/>
              <a:stCxn id="24604" idx="2"/>
              <a:endCxn id="24590" idx="3"/>
            </p:cNvCxnSpPr>
            <p:nvPr/>
          </p:nvCxnSpPr>
          <p:spPr bwMode="auto">
            <a:xfrm rot="16200000" flipH="1">
              <a:off x="2831" y="1955"/>
              <a:ext cx="1530" cy="1956"/>
            </a:xfrm>
            <a:prstGeom prst="curvedConnector4">
              <a:avLst>
                <a:gd name="adj1" fmla="val 45914"/>
                <a:gd name="adj2" fmla="val 107360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2" name="AutoShape 23"/>
            <p:cNvCxnSpPr>
              <a:cxnSpLocks noChangeShapeType="1"/>
              <a:stCxn id="24602" idx="2"/>
              <a:endCxn id="24590" idx="3"/>
            </p:cNvCxnSpPr>
            <p:nvPr/>
          </p:nvCxnSpPr>
          <p:spPr bwMode="auto">
            <a:xfrm rot="16200000" flipH="1">
              <a:off x="3710" y="2834"/>
              <a:ext cx="1530" cy="197"/>
            </a:xfrm>
            <a:prstGeom prst="curvedConnector4">
              <a:avLst>
                <a:gd name="adj1" fmla="val 45914"/>
                <a:gd name="adj2" fmla="val 260508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593" name="AutoShape 24"/>
            <p:cNvCxnSpPr>
              <a:cxnSpLocks noChangeShapeType="1"/>
              <a:stCxn id="24600" idx="2"/>
              <a:endCxn id="24590" idx="3"/>
            </p:cNvCxnSpPr>
            <p:nvPr/>
          </p:nvCxnSpPr>
          <p:spPr bwMode="auto">
            <a:xfrm rot="16200000" flipH="1">
              <a:off x="3658" y="2782"/>
              <a:ext cx="812" cy="1020"/>
            </a:xfrm>
            <a:prstGeom prst="curvedConnector4">
              <a:avLst>
                <a:gd name="adj1" fmla="val 42300"/>
                <a:gd name="adj2" fmla="val 114111"/>
              </a:avLst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" name="Text Box 4">
            <a:extLst>
              <a:ext uri="{FF2B5EF4-FFF2-40B4-BE49-F238E27FC236}">
                <a16:creationId xmlns:a16="http://schemas.microsoft.com/office/drawing/2014/main" id="{E5EE6A6C-BFA2-4550-B7F3-3FBB580E4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903" y="795243"/>
            <a:ext cx="4551971" cy="165276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Clause Coverage (CC)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Each clause must evaluate to: 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True at least once  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False at least once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/>
      <p:bldP spid="215045" grpId="0" animBg="1"/>
      <p:bldP spid="2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Limitations with CC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CC does not always </a:t>
            </a:r>
            <a:r>
              <a:rPr lang="en-US" altLang="en-US" dirty="0">
                <a:solidFill>
                  <a:schemeClr val="tx2"/>
                </a:solidFill>
              </a:rPr>
              <a:t>ensure </a:t>
            </a:r>
            <a:r>
              <a:rPr lang="en-US" altLang="en-US" dirty="0"/>
              <a:t>the predicate to be both true and false</a:t>
            </a:r>
            <a:endParaRPr lang="en-US" altLang="en-US" dirty="0">
              <a:solidFill>
                <a:schemeClr val="tx2"/>
              </a:solidFill>
            </a:endParaRP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endParaRPr lang="en-US" altLang="zh-CN" dirty="0"/>
          </a:p>
          <a:p>
            <a:r>
              <a:rPr lang="en-US" altLang="zh-CN" dirty="0"/>
              <a:t>Both PC and CC are insufficient: </a:t>
            </a:r>
          </a:p>
          <a:p>
            <a:pPr lvl="1"/>
            <a:r>
              <a:rPr lang="en-US" altLang="zh-CN" dirty="0"/>
              <a:t>PC focuses on the predicate outcome</a:t>
            </a:r>
          </a:p>
          <a:p>
            <a:pPr lvl="1"/>
            <a:r>
              <a:rPr lang="en-US" altLang="zh-CN" dirty="0"/>
              <a:t>CC focuses on individual clauses </a:t>
            </a:r>
          </a:p>
          <a:p>
            <a:r>
              <a:rPr lang="en-US" altLang="zh-CN" dirty="0"/>
              <a:t>How can we systematically test combinations of clause values?</a:t>
            </a: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8E757E4-1437-4B9B-AC71-CB43AB2764B2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12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3C9EEF84-E759-0988-7743-B170A5186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87" y="1429040"/>
            <a:ext cx="4143226" cy="141577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altLang="en-US" sz="2400" i="1" u="sng" dirty="0">
                <a:latin typeface="Gill Sans MT" panose="020B0502020104020203" pitchFamily="34" charset="0"/>
              </a:rPr>
              <a:t>p</a:t>
            </a:r>
            <a:r>
              <a:rPr lang="en-US" altLang="en-US" sz="2400" u="sng" dirty="0">
                <a:latin typeface="Gill Sans MT" panose="020B0502020104020203" pitchFamily="34" charset="0"/>
              </a:rPr>
              <a:t> =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A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8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 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B</a:t>
            </a:r>
          </a:p>
          <a:p>
            <a:pPr>
              <a:spcBef>
                <a:spcPts val="6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(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true,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false) →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true</a:t>
            </a:r>
          </a:p>
          <a:p>
            <a:pPr>
              <a:spcBef>
                <a:spcPts val="6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(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false,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true) →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true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6437EE-9673-4A51-0AB6-94779A7D82F5}"/>
              </a:ext>
            </a:extLst>
          </p:cNvPr>
          <p:cNvSpPr txBox="1"/>
          <p:nvPr/>
        </p:nvSpPr>
        <p:spPr>
          <a:xfrm>
            <a:off x="786051" y="2951761"/>
            <a:ext cx="10619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Here each clause takes both true and false, but the predicate never changes</a:t>
            </a:r>
            <a:endParaRPr lang="en-US" altLang="en-US" sz="2400" b="0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6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6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6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6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uiExpand="1" build="p"/>
      <p:bldP spid="2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74FE21C-12FE-04E1-E36B-18814187B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Combinatorial Coverage</a:t>
            </a:r>
            <a:r>
              <a:rPr lang="zh-CN" altLang="en-US" dirty="0"/>
              <a:t>（</a:t>
            </a:r>
            <a:r>
              <a:rPr lang="en-US" altLang="zh-CN" dirty="0"/>
              <a:t>CoC</a:t>
            </a:r>
            <a:r>
              <a:rPr lang="zh-CN" altLang="en-US" dirty="0"/>
              <a:t>）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78590B2-4E4C-9B49-8C2C-F1FE51908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BF3DCF-82EE-B651-39D3-4FD61828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9079ED-A84C-489D-8652-BBA1953C1FA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10" name="Group 222">
            <a:extLst>
              <a:ext uri="{FF2B5EF4-FFF2-40B4-BE49-F238E27FC236}">
                <a16:creationId xmlns:a16="http://schemas.microsoft.com/office/drawing/2014/main" id="{5E621744-672C-E39D-6889-7FAEBF5D24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7851289"/>
              </p:ext>
            </p:extLst>
          </p:nvPr>
        </p:nvGraphicFramePr>
        <p:xfrm>
          <a:off x="2773657" y="2777464"/>
          <a:ext cx="6119876" cy="3401460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4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59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&lt;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b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D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&gt;=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n*o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((a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&lt;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b)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D)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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(m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&gt;=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n*o)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3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5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6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7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8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9BB4493B-116D-49E7-97CB-005808A6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918" y="1007339"/>
            <a:ext cx="6691355" cy="1243417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Combinatorial Coverage (CoC)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All possible combinations of clause values.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Sometimes called Multiple Condition Coverage.</a:t>
            </a:r>
          </a:p>
        </p:txBody>
      </p:sp>
    </p:spTree>
    <p:extLst>
      <p:ext uri="{BB962C8B-B14F-4D97-AF65-F5344CB8AC3E}">
        <p14:creationId xmlns:p14="http://schemas.microsoft.com/office/powerpoint/2010/main" val="18361953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B2057-79DD-D7C2-FDA9-32E9C7C3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From Combinatorial Coverage to Efficient Testing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A272F0-7E18-8DDD-0183-ABB488549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Observation (from CoC):</a:t>
            </a:r>
          </a:p>
          <a:p>
            <a:pPr lvl="1"/>
            <a:r>
              <a:rPr lang="en-US" altLang="zh-CN" dirty="0"/>
              <a:t>Testing all combinations is </a:t>
            </a:r>
            <a:r>
              <a:rPr lang="en-US" altLang="en-US" dirty="0"/>
              <a:t>simple, neat, clean, and comprehensive </a:t>
            </a:r>
          </a:p>
          <a:p>
            <a:pPr lvl="1"/>
            <a:r>
              <a:rPr lang="en-US" altLang="en-US" dirty="0"/>
              <a:t>But quite </a:t>
            </a:r>
            <a:r>
              <a:rPr lang="en-US" altLang="en-US" dirty="0">
                <a:solidFill>
                  <a:schemeClr val="tx2"/>
                </a:solidFill>
              </a:rPr>
              <a:t>expensive: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tx2"/>
                </a:solidFill>
              </a:rPr>
              <a:t>2</a:t>
            </a:r>
            <a:r>
              <a:rPr lang="en-US" altLang="en-US" i="1" baseline="30000" dirty="0">
                <a:solidFill>
                  <a:schemeClr val="tx2"/>
                </a:solidFill>
              </a:rPr>
              <a:t>N</a:t>
            </a:r>
            <a:r>
              <a:rPr lang="en-US" altLang="en-US" dirty="0"/>
              <a:t> tests (</a:t>
            </a:r>
            <a:r>
              <a:rPr lang="en-US" altLang="en-US" i="1" dirty="0">
                <a:solidFill>
                  <a:schemeClr val="tx2"/>
                </a:solidFill>
              </a:rPr>
              <a:t>N</a:t>
            </a:r>
            <a:r>
              <a:rPr lang="en-US" altLang="en-US" dirty="0"/>
              <a:t> = number of clauses)</a:t>
            </a:r>
          </a:p>
          <a:p>
            <a:pPr lvl="1"/>
            <a:r>
              <a:rPr lang="en-US" altLang="zh-CN" dirty="0"/>
              <a:t>Impractical for predicates with more than a few clauses</a:t>
            </a:r>
          </a:p>
          <a:p>
            <a:r>
              <a:rPr lang="en-US" altLang="zh-CN" dirty="0"/>
              <a:t>Instead of testing all combinations,  test how each clause affects the predicate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What </a:t>
            </a:r>
            <a:r>
              <a:rPr lang="en-US" altLang="en-US" b="0" dirty="0">
                <a:latin typeface="Gill Sans MT" panose="020B0502020104020203" pitchFamily="34" charset="0"/>
              </a:rPr>
              <a:t>exactly </a:t>
            </a:r>
            <a:r>
              <a:rPr lang="en-US" altLang="zh-CN" dirty="0"/>
              <a:t>does “</a:t>
            </a:r>
            <a:r>
              <a:rPr lang="en-US" altLang="zh-CN" dirty="0">
                <a:solidFill>
                  <a:schemeClr val="tx2"/>
                </a:solidFill>
              </a:rPr>
              <a:t>independently</a:t>
            </a:r>
            <a:r>
              <a:rPr lang="en-US" altLang="zh-CN" dirty="0"/>
              <a:t>” mean?</a:t>
            </a:r>
          </a:p>
          <a:p>
            <a:r>
              <a:rPr lang="en-US" altLang="zh-CN" dirty="0"/>
              <a:t>The textbook presents this idea as “</a:t>
            </a:r>
            <a:r>
              <a:rPr lang="en-US" altLang="zh-CN" dirty="0">
                <a:solidFill>
                  <a:schemeClr val="tx2"/>
                </a:solidFill>
              </a:rPr>
              <a:t>making clauses active</a:t>
            </a:r>
            <a:r>
              <a:rPr lang="en-US" altLang="zh-CN" dirty="0"/>
              <a:t>”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0A8814-1CAC-0B9D-0836-804CD1E5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A6E53E6-372A-4E41-A521-8F36487A1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095" y="3440255"/>
            <a:ext cx="9206722" cy="52322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 dirty="0">
                <a:latin typeface="Gill Sans MT" panose="020B0502020104020203" pitchFamily="34" charset="0"/>
              </a:rPr>
              <a:t>Test each clause independently from the other clauses</a:t>
            </a:r>
            <a:endParaRPr lang="en-US" altLang="en-US" sz="28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7289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Active Clauses (</a:t>
            </a:r>
            <a:r>
              <a:rPr lang="en-US" altLang="zh-CN" dirty="0"/>
              <a:t>8</a:t>
            </a:r>
            <a:r>
              <a:rPr lang="en-US" altLang="en-US" dirty="0"/>
              <a:t>.</a:t>
            </a:r>
            <a:r>
              <a:rPr lang="en-US" altLang="zh-CN" dirty="0"/>
              <a:t>1.2</a:t>
            </a:r>
            <a:r>
              <a:rPr lang="en-US" altLang="en-US" dirty="0"/>
              <a:t>)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en-US" dirty="0"/>
              <a:t>Clause coverage has a weakness: Clause values do NOT always affect the predicate</a:t>
            </a:r>
          </a:p>
          <a:p>
            <a:pPr>
              <a:lnSpc>
                <a:spcPct val="100000"/>
              </a:lnSpc>
            </a:pPr>
            <a:r>
              <a:rPr lang="en-US" altLang="en-US" dirty="0"/>
              <a:t>To really test the results of a clause, the clause should be the </a:t>
            </a:r>
            <a:r>
              <a:rPr lang="en-US" altLang="en-US" dirty="0">
                <a:solidFill>
                  <a:schemeClr val="tx2"/>
                </a:solidFill>
              </a:rPr>
              <a:t>determining factor </a:t>
            </a:r>
            <a:r>
              <a:rPr lang="en-US" altLang="en-US" dirty="0"/>
              <a:t>in the value of the predicate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AF2BC74-F817-4382-9C98-4AF6DFF1C72C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15</a:t>
            </a:fld>
            <a:endParaRPr lang="en-US" altLang="en-US" sz="900" b="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10954" name="Rectangle 10"/>
          <p:cNvSpPr>
            <a:spLocks noChangeArrowheads="1"/>
          </p:cNvSpPr>
          <p:nvPr/>
        </p:nvSpPr>
        <p:spPr bwMode="auto">
          <a:xfrm>
            <a:off x="1662112" y="4831383"/>
            <a:ext cx="8867775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85000"/>
              <a:buChar char="•"/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SzPct val="100000"/>
            </a:pPr>
            <a:r>
              <a:rPr lang="en-US" altLang="en-US" sz="2800" b="0" dirty="0">
                <a:latin typeface="Gill Sans MT" panose="020B0502020104020203" pitchFamily="34" charset="0"/>
              </a:rPr>
              <a:t>This is considered to </a:t>
            </a:r>
            <a:r>
              <a:rPr lang="en-US" altLang="en-US" sz="2800" b="0" i="1" dirty="0">
                <a:solidFill>
                  <a:schemeClr val="tx2"/>
                </a:solidFill>
                <a:latin typeface="Gill Sans MT" panose="020B0502020104020203" pitchFamily="34" charset="0"/>
              </a:rPr>
              <a:t>make the clause active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1FCA2F8C-A2B8-435D-ACB2-B9333C04F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9021" y="3177900"/>
            <a:ext cx="8553956" cy="1200329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1800"/>
              </a:spcBef>
            </a:pPr>
            <a:r>
              <a:rPr lang="en-US" altLang="en-US" sz="2400" i="1" u="sng" dirty="0">
                <a:solidFill>
                  <a:schemeClr val="tx2"/>
                </a:solidFill>
                <a:latin typeface="Gill Sans MT" panose="020B0502020104020203" pitchFamily="34" charset="0"/>
              </a:rPr>
              <a:t>Determination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: A clause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c</a:t>
            </a:r>
            <a:r>
              <a:rPr lang="en-US" altLang="en-US" sz="2400" i="1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i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in predicate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called the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major clause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determines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if and only if the values of the remaining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minor clauses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Gill Sans MT" panose="020B0502020104020203" pitchFamily="34" charset="0"/>
              </a:rPr>
              <a:t>c</a:t>
            </a:r>
            <a:r>
              <a:rPr lang="en-US" altLang="en-US" sz="2400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j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are such that changing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c</a:t>
            </a:r>
            <a:r>
              <a:rPr lang="en-US" altLang="en-US" sz="2400" i="1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i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changes the value of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build="p"/>
      <p:bldP spid="210954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E5D45DC-9F21-474F-8990-A3AF75DE05D6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16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Determining Predicates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9171" y="4249766"/>
            <a:ext cx="9258156" cy="1950143"/>
          </a:xfrm>
        </p:spPr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Goal</a:t>
            </a:r>
            <a:r>
              <a:rPr lang="en-US" altLang="en-US" dirty="0"/>
              <a:t> : Find tests for each clause when the clause </a:t>
            </a:r>
            <a:r>
              <a:rPr lang="en-US" altLang="en-US" dirty="0">
                <a:solidFill>
                  <a:schemeClr val="tx2"/>
                </a:solidFill>
              </a:rPr>
              <a:t>determines</a:t>
            </a:r>
            <a:r>
              <a:rPr lang="en-US" altLang="en-US" dirty="0"/>
              <a:t> the value of the predicate</a:t>
            </a:r>
          </a:p>
          <a:p>
            <a:r>
              <a:rPr lang="en-US" altLang="en-US" dirty="0"/>
              <a:t>This is formalized in a </a:t>
            </a:r>
            <a:r>
              <a:rPr lang="en-US" altLang="en-US" dirty="0">
                <a:solidFill>
                  <a:schemeClr val="tx2"/>
                </a:solidFill>
              </a:rPr>
              <a:t>family of criteria</a:t>
            </a:r>
            <a:r>
              <a:rPr lang="en-US" altLang="en-US" dirty="0"/>
              <a:t> that have subtle, but very important, differences</a:t>
            </a:r>
          </a:p>
        </p:txBody>
      </p:sp>
      <p:sp>
        <p:nvSpPr>
          <p:cNvPr id="212997" name="Text Box 5"/>
          <p:cNvSpPr txBox="1">
            <a:spLocks noChangeArrowheads="1"/>
          </p:cNvSpPr>
          <p:nvPr/>
        </p:nvSpPr>
        <p:spPr bwMode="auto">
          <a:xfrm>
            <a:off x="3343632" y="1067657"/>
            <a:ext cx="5485688" cy="275460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altLang="en-US" sz="2400" u="sng" dirty="0">
                <a:latin typeface="Gill Sans MT" panose="020B0502020104020203" pitchFamily="34" charset="0"/>
              </a:rPr>
              <a:t>P = A </a:t>
            </a:r>
            <a:r>
              <a:rPr lang="en-US" altLang="en-US" sz="28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2400" u="sng" dirty="0">
                <a:latin typeface="Gill Sans MT" panose="020B0502020104020203" pitchFamily="34" charset="0"/>
              </a:rPr>
              <a:t> B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if </a:t>
            </a:r>
            <a:r>
              <a:rPr lang="en-US" altLang="en-US" sz="2400" b="0" i="1" dirty="0">
                <a:solidFill>
                  <a:schemeClr val="tx2"/>
                </a:solidFill>
                <a:latin typeface="Gill Sans MT" panose="020B0502020104020203" pitchFamily="34" charset="0"/>
              </a:rPr>
              <a:t>B = true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does NOT determine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.</a:t>
            </a:r>
          </a:p>
          <a:p>
            <a:pPr marL="108585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changes,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does NOT change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if </a:t>
            </a:r>
            <a:r>
              <a:rPr lang="en-US" altLang="en-US" sz="2400" b="0" i="1" dirty="0">
                <a:solidFill>
                  <a:schemeClr val="tx2"/>
                </a:solidFill>
                <a:latin typeface="Gill Sans MT" panose="020B0502020104020203" pitchFamily="34" charset="0"/>
              </a:rPr>
              <a:t>B = false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determines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.</a:t>
            </a:r>
          </a:p>
          <a:p>
            <a:pPr marL="108585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= 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true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true </a:t>
            </a:r>
          </a:p>
          <a:p>
            <a:pPr marL="108585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A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false 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false</a:t>
            </a:r>
            <a:endParaRPr lang="en-US" altLang="en-US" sz="24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99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2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2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2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2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2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2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/>
      <p:bldP spid="212997" grpId="0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808BC32-DE6E-4E2F-A4B6-CA9E78673114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17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197101" y="2581440"/>
            <a:ext cx="4203699" cy="2254250"/>
            <a:chOff x="1332" y="2184"/>
            <a:chExt cx="1746" cy="1420"/>
          </a:xfrm>
        </p:grpSpPr>
        <p:sp>
          <p:nvSpPr>
            <p:cNvPr id="30740" name="Text Box 5"/>
            <p:cNvSpPr txBox="1">
              <a:spLocks noChangeArrowheads="1"/>
            </p:cNvSpPr>
            <p:nvPr/>
          </p:nvSpPr>
          <p:spPr bwMode="auto">
            <a:xfrm>
              <a:off x="1335" y="2184"/>
              <a:ext cx="1743" cy="1420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457200" indent="-4572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i="1" u="sng" dirty="0">
                  <a:latin typeface="Gill Sans MT" panose="020B0502020104020203" pitchFamily="34" charset="0"/>
                </a:rPr>
                <a:t>p</a:t>
              </a:r>
              <a:r>
                <a:rPr lang="en-US" altLang="en-US" u="sng" dirty="0">
                  <a:latin typeface="Gill Sans MT" panose="020B0502020104020203" pitchFamily="34" charset="0"/>
                </a:rPr>
                <a:t> = </a:t>
              </a:r>
              <a:r>
                <a:rPr lang="en-US" altLang="en-US" i="1" u="sng" dirty="0">
                  <a:latin typeface="Gill Sans MT" panose="020B0502020104020203" pitchFamily="34" charset="0"/>
                </a:rPr>
                <a:t>a</a:t>
              </a:r>
              <a:r>
                <a:rPr lang="en-US" altLang="en-US" u="sng" dirty="0">
                  <a:latin typeface="Gill Sans MT" panose="020B0502020104020203" pitchFamily="34" charset="0"/>
                </a:rPr>
                <a:t> </a:t>
              </a:r>
              <a:r>
                <a:rPr lang="en-US" altLang="en-US" u="sng" dirty="0">
                  <a:solidFill>
                    <a:schemeClr val="tx2"/>
                  </a:solidFill>
                  <a:latin typeface="Gill Sans MT" panose="020B0502020104020203" pitchFamily="34" charset="0"/>
                  <a:sym typeface="Symbol" pitchFamily="18" charset="2"/>
                </a:rPr>
                <a:t></a:t>
              </a:r>
              <a:r>
                <a:rPr lang="en-US" altLang="en-US" u="sng" dirty="0">
                  <a:latin typeface="Gill Sans MT" panose="020B0502020104020203" pitchFamily="34" charset="0"/>
                </a:rPr>
                <a:t> </a:t>
              </a:r>
              <a:r>
                <a:rPr lang="en-US" altLang="en-US" i="1" u="sng" dirty="0">
                  <a:latin typeface="Gill Sans MT" panose="020B0502020104020203" pitchFamily="34" charset="0"/>
                </a:rPr>
                <a:t>b</a:t>
              </a:r>
            </a:p>
            <a:p>
              <a:pPr>
                <a:spcBef>
                  <a:spcPct val="50000"/>
                </a:spcBef>
                <a:buFontTx/>
                <a:buAutoNum type="arabicParenR"/>
              </a:pPr>
              <a:r>
                <a:rPr lang="en-US" altLang="en-US" i="1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a</a:t>
              </a: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 = true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, </a:t>
              </a:r>
              <a:r>
                <a:rPr lang="en-US" altLang="en-US" i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b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 = false 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 </a:t>
              </a:r>
              <a:r>
                <a:rPr lang="en-US" altLang="en-US" i="1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p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 = true</a:t>
              </a:r>
              <a:endParaRPr lang="en-US" altLang="en-US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pPr>
                <a:spcBef>
                  <a:spcPct val="50000"/>
                </a:spcBef>
                <a:buFontTx/>
                <a:buAutoNum type="arabicParenR"/>
              </a:pPr>
              <a:r>
                <a:rPr lang="en-US" altLang="en-US" i="1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a</a:t>
              </a: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 = false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,</a:t>
              </a:r>
              <a:r>
                <a:rPr lang="en-US" altLang="en-US" i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 b 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= false 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 </a:t>
              </a:r>
              <a:r>
                <a:rPr lang="en-US" altLang="en-US" i="1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p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 = false</a:t>
              </a:r>
              <a:endParaRPr lang="en-US" altLang="en-US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pPr>
                <a:spcBef>
                  <a:spcPct val="50000"/>
                </a:spcBef>
                <a:buFontTx/>
                <a:buAutoNum type="arabicParenR"/>
              </a:pPr>
              <a:r>
                <a:rPr lang="en-US" altLang="en-US" i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a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 = false, </a:t>
              </a:r>
              <a:r>
                <a:rPr lang="en-US" altLang="en-US" i="1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b</a:t>
              </a: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 = true </a:t>
              </a: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 </a:t>
              </a:r>
              <a:r>
                <a:rPr lang="en-US" altLang="en-US" i="1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p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 = true</a:t>
              </a:r>
              <a:endParaRPr lang="en-US" altLang="en-US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  <a:p>
              <a:pPr>
                <a:spcBef>
                  <a:spcPct val="50000"/>
                </a:spcBef>
                <a:buFontTx/>
                <a:buAutoNum type="arabicParenR"/>
              </a:pPr>
              <a:r>
                <a:rPr lang="en-US" altLang="en-US" i="1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a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</a:rPr>
                <a:t> = false, </a:t>
              </a:r>
              <a:r>
                <a:rPr lang="en-US" altLang="en-US" i="1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b</a:t>
              </a: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 = false </a:t>
              </a: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 </a:t>
              </a:r>
              <a:r>
                <a:rPr lang="en-US" altLang="en-US" i="1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p</a:t>
              </a:r>
              <a:r>
                <a:rPr lang="en-US" altLang="en-US" dirty="0">
                  <a:solidFill>
                    <a:schemeClr val="tx1"/>
                  </a:solidFill>
                  <a:latin typeface="Gill Sans MT" panose="020B0502020104020203" pitchFamily="34" charset="0"/>
                  <a:sym typeface="Wingdings" panose="05000000000000000000" pitchFamily="2" charset="2"/>
                </a:rPr>
                <a:t> = false</a:t>
              </a:r>
              <a:endParaRPr lang="en-US" altLang="en-US" dirty="0">
                <a:solidFill>
                  <a:schemeClr val="tx1"/>
                </a:solidFill>
                <a:latin typeface="Gill Sans MT" panose="020B0502020104020203" pitchFamily="34" charset="0"/>
              </a:endParaRPr>
            </a:p>
          </p:txBody>
        </p:sp>
        <p:sp>
          <p:nvSpPr>
            <p:cNvPr id="30741" name="Line 6"/>
            <p:cNvSpPr>
              <a:spLocks noChangeShapeType="1"/>
            </p:cNvSpPr>
            <p:nvPr/>
          </p:nvSpPr>
          <p:spPr bwMode="auto">
            <a:xfrm>
              <a:off x="1332" y="3039"/>
              <a:ext cx="17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  <p:sp>
        <p:nvSpPr>
          <p:cNvPr id="307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Active Clause Coverage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5014" y="4911190"/>
            <a:ext cx="9979759" cy="159844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This is a form of </a:t>
            </a:r>
            <a:r>
              <a:rPr lang="en-US" altLang="en-US" dirty="0">
                <a:solidFill>
                  <a:schemeClr val="tx2"/>
                </a:solidFill>
              </a:rPr>
              <a:t>MCDC (Modified Condition/Decision Coverage)</a:t>
            </a:r>
            <a:r>
              <a:rPr lang="en-US" altLang="en-US" dirty="0"/>
              <a:t>, which is required by the FAA for safety critical software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Ambiguity</a:t>
            </a:r>
            <a:r>
              <a:rPr lang="en-US" altLang="en-US" dirty="0"/>
              <a:t> : Should the minor clauses remain the </a:t>
            </a:r>
            <a:r>
              <a:rPr lang="en-US" altLang="en-US" dirty="0">
                <a:solidFill>
                  <a:schemeClr val="tx2"/>
                </a:solidFill>
              </a:rPr>
              <a:t>same value </a:t>
            </a:r>
            <a:r>
              <a:rPr lang="en-US" altLang="en-US" dirty="0"/>
              <a:t>when ci = true and ci = false?</a:t>
            </a:r>
          </a:p>
        </p:txBody>
      </p:sp>
      <p:sp>
        <p:nvSpPr>
          <p:cNvPr id="214020" name="Text Box 4"/>
          <p:cNvSpPr txBox="1">
            <a:spLocks noChangeArrowheads="1"/>
          </p:cNvSpPr>
          <p:nvPr/>
        </p:nvSpPr>
        <p:spPr bwMode="auto">
          <a:xfrm>
            <a:off x="2712691" y="894536"/>
            <a:ext cx="6747569" cy="1243417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Active Clause Coverage (ACC)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: 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For each clause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: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true once,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ci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false once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 each test,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(major clause) must determine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endParaRPr lang="en-US" sz="2400" i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</a:endParaRP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073275" y="4386435"/>
            <a:ext cx="5500686" cy="461963"/>
            <a:chOff x="1254" y="3331"/>
            <a:chExt cx="3465" cy="291"/>
          </a:xfrm>
        </p:grpSpPr>
        <p:sp>
          <p:nvSpPr>
            <p:cNvPr id="30738" name="Line 9"/>
            <p:cNvSpPr>
              <a:spLocks noChangeShapeType="1"/>
            </p:cNvSpPr>
            <p:nvPr/>
          </p:nvSpPr>
          <p:spPr bwMode="auto">
            <a:xfrm flipV="1">
              <a:off x="1254" y="3501"/>
              <a:ext cx="246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Text Box 10"/>
            <p:cNvSpPr txBox="1">
              <a:spLocks noChangeArrowheads="1"/>
            </p:cNvSpPr>
            <p:nvPr/>
          </p:nvSpPr>
          <p:spPr bwMode="auto">
            <a:xfrm>
              <a:off x="3716" y="3331"/>
              <a:ext cx="1003" cy="291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marL="457200" indent="-4572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400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Duplicate</a:t>
              </a:r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581275" y="2830678"/>
            <a:ext cx="6415089" cy="1185862"/>
            <a:chOff x="666" y="1821"/>
            <a:chExt cx="4041" cy="747"/>
          </a:xfrm>
        </p:grpSpPr>
        <p:sp>
          <p:nvSpPr>
            <p:cNvPr id="30735" name="Line 10"/>
            <p:cNvSpPr>
              <a:spLocks noChangeShapeType="1"/>
            </p:cNvSpPr>
            <p:nvPr/>
          </p:nvSpPr>
          <p:spPr bwMode="auto">
            <a:xfrm flipV="1">
              <a:off x="1484" y="1951"/>
              <a:ext cx="1195" cy="21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6" name="Text Box 11"/>
            <p:cNvSpPr txBox="1">
              <a:spLocks noChangeArrowheads="1"/>
            </p:cNvSpPr>
            <p:nvPr/>
          </p:nvSpPr>
          <p:spPr bwMode="auto">
            <a:xfrm>
              <a:off x="2678" y="1821"/>
              <a:ext cx="2029" cy="44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Gill Sans MT" panose="020B0502020104020203" pitchFamily="34" charset="0"/>
                </a:rPr>
                <a:t>Fix </a:t>
              </a:r>
              <a:r>
                <a:rPr lang="en-US" altLang="en-US" i="1" dirty="0">
                  <a:latin typeface="Gill Sans MT" panose="020B0502020104020203" pitchFamily="34" charset="0"/>
                </a:rPr>
                <a:t>b</a:t>
              </a:r>
              <a:r>
                <a:rPr lang="en-US" altLang="en-US" dirty="0">
                  <a:latin typeface="Gill Sans MT" panose="020B0502020104020203" pitchFamily="34" charset="0"/>
                </a:rPr>
                <a:t> = false,  </a:t>
              </a:r>
              <a:r>
                <a:rPr lang="en-US" altLang="en-US" i="1" dirty="0">
                  <a:latin typeface="Gill Sans MT" panose="020B0502020104020203" pitchFamily="34" charset="0"/>
                </a:rPr>
                <a:t>a</a:t>
              </a:r>
              <a:r>
                <a:rPr lang="en-US" altLang="en-US" dirty="0">
                  <a:latin typeface="Gill Sans MT" panose="020B0502020104020203" pitchFamily="34" charset="0"/>
                </a:rPr>
                <a:t> is the major clause determines </a:t>
              </a:r>
              <a:r>
                <a:rPr lang="en-US" altLang="en-US" i="1" dirty="0">
                  <a:latin typeface="Gill Sans MT" panose="020B0502020104020203" pitchFamily="34" charset="0"/>
                </a:rPr>
                <a:t>p</a:t>
              </a:r>
            </a:p>
          </p:txBody>
        </p:sp>
        <p:sp>
          <p:nvSpPr>
            <p:cNvPr id="30737" name="Oval 9"/>
            <p:cNvSpPr>
              <a:spLocks noChangeArrowheads="1"/>
            </p:cNvSpPr>
            <p:nvPr/>
          </p:nvSpPr>
          <p:spPr bwMode="auto">
            <a:xfrm rot="4710281">
              <a:off x="752" y="1834"/>
              <a:ext cx="648" cy="819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3586164" y="3730791"/>
            <a:ext cx="6249986" cy="1185863"/>
            <a:chOff x="666" y="1821"/>
            <a:chExt cx="3937" cy="747"/>
          </a:xfrm>
        </p:grpSpPr>
        <p:sp>
          <p:nvSpPr>
            <p:cNvPr id="30732" name="Line 10"/>
            <p:cNvSpPr>
              <a:spLocks noChangeShapeType="1"/>
            </p:cNvSpPr>
            <p:nvPr/>
          </p:nvSpPr>
          <p:spPr bwMode="auto">
            <a:xfrm flipV="1">
              <a:off x="1484" y="1951"/>
              <a:ext cx="1195" cy="21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0733" name="Text Box 11"/>
            <p:cNvSpPr txBox="1">
              <a:spLocks noChangeArrowheads="1"/>
            </p:cNvSpPr>
            <p:nvPr/>
          </p:nvSpPr>
          <p:spPr bwMode="auto">
            <a:xfrm>
              <a:off x="2678" y="1821"/>
              <a:ext cx="1925" cy="44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Gill Sans MT" panose="020B0502020104020203" pitchFamily="34" charset="0"/>
                </a:rPr>
                <a:t>Fix </a:t>
              </a:r>
              <a:r>
                <a:rPr lang="en-US" altLang="en-US" i="1" dirty="0">
                  <a:latin typeface="Gill Sans MT" panose="020B0502020104020203" pitchFamily="34" charset="0"/>
                </a:rPr>
                <a:t>a</a:t>
              </a:r>
              <a:r>
                <a:rPr lang="en-US" altLang="en-US" dirty="0">
                  <a:latin typeface="Gill Sans MT" panose="020B0502020104020203" pitchFamily="34" charset="0"/>
                </a:rPr>
                <a:t> = false, </a:t>
              </a:r>
              <a:r>
                <a:rPr lang="en-US" altLang="en-US" i="1" dirty="0">
                  <a:latin typeface="Gill Sans MT" panose="020B0502020104020203" pitchFamily="34" charset="0"/>
                </a:rPr>
                <a:t>b </a:t>
              </a:r>
              <a:r>
                <a:rPr lang="en-US" altLang="en-US" dirty="0">
                  <a:latin typeface="Gill Sans MT" panose="020B0502020104020203" pitchFamily="34" charset="0"/>
                </a:rPr>
                <a:t>is the major clause determines </a:t>
              </a:r>
              <a:r>
                <a:rPr lang="en-US" altLang="en-US" i="1" dirty="0">
                  <a:latin typeface="Gill Sans MT" panose="020B0502020104020203" pitchFamily="34" charset="0"/>
                </a:rPr>
                <a:t>p</a:t>
              </a:r>
            </a:p>
          </p:txBody>
        </p:sp>
        <p:sp>
          <p:nvSpPr>
            <p:cNvPr id="30734" name="Oval 9"/>
            <p:cNvSpPr>
              <a:spLocks noChangeArrowheads="1"/>
            </p:cNvSpPr>
            <p:nvPr/>
          </p:nvSpPr>
          <p:spPr bwMode="auto">
            <a:xfrm rot="4710281">
              <a:off x="752" y="1834"/>
              <a:ext cx="648" cy="819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build="p"/>
      <p:bldP spid="214020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7A732E7-9E47-43A4-BE5B-5721DF78CD5D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18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Resolving the Ambiguity in ACC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4279" y="3375633"/>
            <a:ext cx="9868092" cy="3071813"/>
          </a:xfrm>
        </p:spPr>
        <p:txBody>
          <a:bodyPr/>
          <a:lstStyle/>
          <a:p>
            <a:r>
              <a:rPr lang="en-US" altLang="en-US" dirty="0"/>
              <a:t>This question caused </a:t>
            </a:r>
            <a:r>
              <a:rPr lang="en-US" altLang="en-US" dirty="0">
                <a:solidFill>
                  <a:schemeClr val="tx2"/>
                </a:solidFill>
              </a:rPr>
              <a:t>confusion</a:t>
            </a:r>
            <a:r>
              <a:rPr lang="en-US" altLang="en-US" dirty="0"/>
              <a:t> among testers for years</a:t>
            </a:r>
          </a:p>
          <a:p>
            <a:r>
              <a:rPr lang="en-US" altLang="en-US" dirty="0"/>
              <a:t>Considering this carefully leads to </a:t>
            </a:r>
            <a:r>
              <a:rPr lang="en-US" altLang="en-US" dirty="0">
                <a:solidFill>
                  <a:schemeClr val="tx2"/>
                </a:solidFill>
              </a:rPr>
              <a:t>three</a:t>
            </a:r>
            <a:r>
              <a:rPr lang="en-US" altLang="en-US" dirty="0"/>
              <a:t> separate criteria :</a:t>
            </a:r>
          </a:p>
          <a:p>
            <a:pPr lvl="1"/>
            <a:r>
              <a:rPr lang="en-US" altLang="en-US" dirty="0"/>
              <a:t>GACC: Minor clauses </a:t>
            </a:r>
            <a:r>
              <a:rPr lang="en-US" altLang="en-US" dirty="0">
                <a:solidFill>
                  <a:schemeClr val="tx2"/>
                </a:solidFill>
              </a:rPr>
              <a:t>do not</a:t>
            </a:r>
            <a:r>
              <a:rPr lang="en-US" altLang="en-US" dirty="0"/>
              <a:t> need to be the same</a:t>
            </a:r>
          </a:p>
          <a:p>
            <a:pPr lvl="1"/>
            <a:r>
              <a:rPr lang="en-US" altLang="en-US" dirty="0"/>
              <a:t>RACC: Minor clauses </a:t>
            </a:r>
            <a:r>
              <a:rPr lang="en-US" altLang="en-US" dirty="0">
                <a:solidFill>
                  <a:schemeClr val="tx2"/>
                </a:solidFill>
              </a:rPr>
              <a:t>do</a:t>
            </a:r>
            <a:r>
              <a:rPr lang="en-US" altLang="en-US" dirty="0"/>
              <a:t> need to be the same</a:t>
            </a:r>
          </a:p>
          <a:p>
            <a:pPr lvl="1"/>
            <a:r>
              <a:rPr lang="en-US" altLang="en-US" dirty="0"/>
              <a:t>CACC: Minor clauses </a:t>
            </a:r>
            <a:r>
              <a:rPr lang="en-US" altLang="en-US" dirty="0">
                <a:solidFill>
                  <a:schemeClr val="tx2"/>
                </a:solidFill>
              </a:rPr>
              <a:t>force the predicate</a:t>
            </a:r>
            <a:r>
              <a:rPr lang="en-US" altLang="en-US" dirty="0"/>
              <a:t> to become both true and false</a:t>
            </a:r>
          </a:p>
        </p:txBody>
      </p:sp>
      <p:sp>
        <p:nvSpPr>
          <p:cNvPr id="31751" name="Text Box 5"/>
          <p:cNvSpPr txBox="1">
            <a:spLocks noChangeArrowheads="1"/>
          </p:cNvSpPr>
          <p:nvPr/>
        </p:nvSpPr>
        <p:spPr bwMode="auto">
          <a:xfrm>
            <a:off x="2076450" y="954088"/>
            <a:ext cx="5134772" cy="2092881"/>
          </a:xfrm>
          <a:prstGeom prst="rect">
            <a:avLst/>
          </a:prstGeom>
          <a:solidFill>
            <a:srgbClr val="0033CC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1200"/>
              </a:spcBef>
            </a:pPr>
            <a:r>
              <a:rPr lang="en-US" altLang="en-US" sz="2400" u="sng" dirty="0">
                <a:latin typeface="Gill Sans MT" panose="020B0502020104020203" pitchFamily="34" charset="0"/>
              </a:rPr>
              <a:t>p =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a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8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</a:t>
            </a:r>
            <a:r>
              <a:rPr lang="en-US" altLang="en-US" sz="2400" u="sng" dirty="0">
                <a:latin typeface="Gill Sans MT" panose="020B0502020104020203" pitchFamily="34" charset="0"/>
              </a:rPr>
              <a:t>(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b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8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c</a:t>
            </a:r>
            <a:r>
              <a:rPr lang="en-US" altLang="en-US" sz="2400" u="sng" dirty="0">
                <a:latin typeface="Gill Sans MT" panose="020B0502020104020203" pitchFamily="34" charset="0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Major clause : </a:t>
            </a: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</a:p>
          <a:p>
            <a:pPr>
              <a:spcBef>
                <a:spcPts val="1200"/>
              </a:spcBef>
            </a:pP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true,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false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true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true</a:t>
            </a:r>
            <a:endParaRPr lang="en-US" alt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false,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false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c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false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false</a:t>
            </a:r>
            <a:endParaRPr lang="en-US" alt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42AE013-A02A-4693-B3F3-345C0F8F2BF2}"/>
              </a:ext>
            </a:extLst>
          </p:cNvPr>
          <p:cNvSpPr txBox="1"/>
          <p:nvPr/>
        </p:nvSpPr>
        <p:spPr>
          <a:xfrm>
            <a:off x="7365801" y="1195102"/>
            <a:ext cx="3585567" cy="70788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Gill Sans MT" panose="020B0502020104020203" pitchFamily="34" charset="0"/>
              </a:rPr>
              <a:t>Do these two tests satisfy ACC for clause </a:t>
            </a:r>
            <a:r>
              <a:rPr lang="en-US" altLang="zh-CN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zh-CN" dirty="0">
                <a:solidFill>
                  <a:schemeClr val="tx2"/>
                </a:solidFill>
                <a:latin typeface="Gill Sans MT" panose="020B0502020104020203" pitchFamily="34" charset="0"/>
              </a:rPr>
              <a:t>?</a:t>
            </a:r>
            <a:endParaRPr lang="zh-CN" altLang="en-US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410220-CD01-496A-BD2E-7C677CA48A1E}"/>
              </a:ext>
            </a:extLst>
          </p:cNvPr>
          <p:cNvSpPr txBox="1"/>
          <p:nvPr/>
        </p:nvSpPr>
        <p:spPr>
          <a:xfrm>
            <a:off x="7365801" y="2231652"/>
            <a:ext cx="4249937" cy="70788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Gill Sans MT" panose="020B0502020104020203" pitchFamily="34" charset="0"/>
              </a:rPr>
              <a:t>Should the minor clauses (</a:t>
            </a:r>
            <a:r>
              <a:rPr lang="en-US" altLang="zh-CN" i="1" dirty="0">
                <a:solidFill>
                  <a:schemeClr val="tx2"/>
                </a:solidFill>
                <a:latin typeface="Gill Sans MT" panose="020B0502020104020203" pitchFamily="34" charset="0"/>
              </a:rPr>
              <a:t>b</a:t>
            </a:r>
            <a:r>
              <a:rPr lang="en-US" altLang="zh-CN" dirty="0">
                <a:solidFill>
                  <a:schemeClr val="tx2"/>
                </a:solidFill>
                <a:latin typeface="Gill Sans MT" panose="020B0502020104020203" pitchFamily="34" charset="0"/>
              </a:rPr>
              <a:t>, </a:t>
            </a:r>
            <a:r>
              <a:rPr lang="en-US" altLang="zh-CN" i="1" dirty="0">
                <a:solidFill>
                  <a:schemeClr val="tx2"/>
                </a:solidFill>
                <a:latin typeface="Gill Sans MT" panose="020B0502020104020203" pitchFamily="34" charset="0"/>
              </a:rPr>
              <a:t>c</a:t>
            </a:r>
            <a:r>
              <a:rPr lang="en-US" altLang="zh-CN" dirty="0">
                <a:solidFill>
                  <a:schemeClr val="tx2"/>
                </a:solidFill>
                <a:latin typeface="Gill Sans MT" panose="020B0502020104020203" pitchFamily="34" charset="0"/>
              </a:rPr>
              <a:t>) be the same when </a:t>
            </a:r>
            <a:r>
              <a:rPr lang="en-US" altLang="zh-CN" i="1" dirty="0">
                <a:solidFill>
                  <a:schemeClr val="tx2"/>
                </a:solidFill>
                <a:latin typeface="Gill Sans MT" panose="020B0502020104020203" pitchFamily="34" charset="0"/>
              </a:rPr>
              <a:t>a </a:t>
            </a:r>
            <a:r>
              <a:rPr lang="en-US" altLang="zh-CN" dirty="0">
                <a:solidFill>
                  <a:schemeClr val="tx2"/>
                </a:solidFill>
                <a:latin typeface="Gill Sans MT" panose="020B0502020104020203" pitchFamily="34" charset="0"/>
              </a:rPr>
              <a:t>= true and </a:t>
            </a:r>
            <a:r>
              <a:rPr lang="en-US" altLang="zh-CN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zh-CN" dirty="0">
                <a:solidFill>
                  <a:schemeClr val="tx2"/>
                </a:solidFill>
                <a:latin typeface="Gill Sans MT" panose="020B0502020104020203" pitchFamily="34" charset="0"/>
              </a:rPr>
              <a:t> = false?</a:t>
            </a:r>
            <a:endParaRPr lang="zh-CN" altLang="en-US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 bldLvl="2"/>
      <p:bldP spid="13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E56E523-9119-48A0-8A85-8A216575D79E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19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1612901" y="46038"/>
            <a:ext cx="8951913" cy="976646"/>
          </a:xfrm>
        </p:spPr>
        <p:txBody>
          <a:bodyPr/>
          <a:lstStyle/>
          <a:p>
            <a:r>
              <a:rPr lang="en-US" altLang="en-US" dirty="0"/>
              <a:t>General Active Clause Coverage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298" y="5107258"/>
            <a:ext cx="10091116" cy="1218143"/>
          </a:xfrm>
        </p:spPr>
        <p:txBody>
          <a:bodyPr/>
          <a:lstStyle/>
          <a:p>
            <a:r>
              <a:rPr lang="en-US" altLang="en-US" dirty="0"/>
              <a:t>GACC </a:t>
            </a:r>
            <a:r>
              <a:rPr lang="en-US" altLang="en-US" dirty="0">
                <a:solidFill>
                  <a:schemeClr val="tx2"/>
                </a:solidFill>
              </a:rPr>
              <a:t>does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2"/>
                </a:solidFill>
              </a:rPr>
              <a:t>NOT guarantee </a:t>
            </a:r>
            <a:r>
              <a:rPr lang="en-US" altLang="en-US" dirty="0"/>
              <a:t>predicate coverage</a:t>
            </a:r>
          </a:p>
          <a:p>
            <a:r>
              <a:rPr lang="en-US" altLang="en-US" dirty="0"/>
              <a:t>We </a:t>
            </a:r>
            <a:r>
              <a:rPr lang="en-US" altLang="en-US" dirty="0">
                <a:solidFill>
                  <a:schemeClr val="tx2"/>
                </a:solidFill>
              </a:rPr>
              <a:t>really want</a:t>
            </a:r>
            <a:r>
              <a:rPr lang="en-US" altLang="en-US" dirty="0"/>
              <a:t> to cause predicates to be both true and false !</a:t>
            </a:r>
          </a:p>
        </p:txBody>
      </p:sp>
      <p:sp>
        <p:nvSpPr>
          <p:cNvPr id="218116" name="Text Box 4"/>
          <p:cNvSpPr txBox="1">
            <a:spLocks noChangeArrowheads="1"/>
          </p:cNvSpPr>
          <p:nvPr/>
        </p:nvSpPr>
        <p:spPr bwMode="auto">
          <a:xfrm>
            <a:off x="2748235" y="986002"/>
            <a:ext cx="6681243" cy="1575816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General Active Clause Coverage (GACC)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For each clause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: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true once,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false once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 each test,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(major clause) must determine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p,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minor clauses do not need to be the same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95BEC7E1-7459-46FE-90D1-A7DEA9875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914" y="2893885"/>
            <a:ext cx="4367124" cy="1800493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altLang="en-US" sz="2400" u="sng" dirty="0">
                <a:latin typeface="Gill Sans MT" panose="020B0502020104020203" pitchFamily="34" charset="0"/>
              </a:rPr>
              <a:t>p =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a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⊕ 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b</a:t>
            </a:r>
          </a:p>
          <a:p>
            <a:pPr algn="ctr">
              <a:spcBef>
                <a:spcPts val="6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Major clause: a</a:t>
            </a:r>
          </a:p>
          <a:p>
            <a:pPr>
              <a:spcBef>
                <a:spcPts val="600"/>
              </a:spcBef>
              <a:buFontTx/>
              <a:buAutoNum type="arabicParenR"/>
            </a:pP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 = true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false 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true</a:t>
            </a:r>
            <a:endParaRPr lang="en-US" alt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  <a:buFontTx/>
              <a:buAutoNum type="arabicParenR"/>
            </a:pP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 = false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</a:rPr>
              <a:t>true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true</a:t>
            </a:r>
            <a:endParaRPr lang="en-US" alt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5A4415-BBF7-4A2A-AE14-80E54AFF3DC8}"/>
              </a:ext>
            </a:extLst>
          </p:cNvPr>
          <p:cNvSpPr txBox="1"/>
          <p:nvPr/>
        </p:nvSpPr>
        <p:spPr>
          <a:xfrm>
            <a:off x="6210752" y="3009301"/>
            <a:ext cx="4196477" cy="156966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a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determines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under the chosen minor clause values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GACC satisfied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But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is always True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uiExpand="1" build="p"/>
      <p:bldP spid="218116" grpId="0" animBg="1" autoUpdateAnimBg="0"/>
      <p:bldP spid="7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C2BA4E5-BA3B-44A4-B324-DCB720D1A183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20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1612901" y="46038"/>
            <a:ext cx="8951913" cy="988679"/>
          </a:xfrm>
        </p:spPr>
        <p:txBody>
          <a:bodyPr/>
          <a:lstStyle/>
          <a:p>
            <a:r>
              <a:rPr lang="en-US" altLang="en-US" dirty="0"/>
              <a:t>Restricted Active Clause Coverage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1124" y="4435248"/>
            <a:ext cx="11889751" cy="2279618"/>
          </a:xfrm>
        </p:spPr>
        <p:txBody>
          <a:bodyPr/>
          <a:lstStyle/>
          <a:p>
            <a:r>
              <a:rPr lang="en-US" altLang="en-US" dirty="0"/>
              <a:t>RACC strictly controls minor clauses</a:t>
            </a:r>
          </a:p>
          <a:p>
            <a:r>
              <a:rPr lang="en-US" altLang="en-US" dirty="0"/>
              <a:t>Clear </a:t>
            </a:r>
            <a:r>
              <a:rPr lang="en-US" altLang="en-US" dirty="0">
                <a:solidFill>
                  <a:schemeClr val="tx2"/>
                </a:solidFill>
              </a:rPr>
              <a:t>cause-effect</a:t>
            </a:r>
            <a:r>
              <a:rPr lang="en-US" altLang="en-US" dirty="0"/>
              <a:t> relationship. </a:t>
            </a:r>
            <a:r>
              <a:rPr lang="en-US" altLang="en-US" dirty="0">
                <a:solidFill>
                  <a:schemeClr val="tx2"/>
                </a:solidFill>
              </a:rPr>
              <a:t>Ensures </a:t>
            </a:r>
            <a:r>
              <a:rPr lang="en-US" altLang="en-US" dirty="0"/>
              <a:t>the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predicate outcome changes</a:t>
            </a:r>
          </a:p>
          <a:p>
            <a:r>
              <a:rPr lang="en-US" altLang="en-US" dirty="0"/>
              <a:t>May lead to </a:t>
            </a:r>
            <a:r>
              <a:rPr lang="en-US" altLang="en-US" dirty="0">
                <a:solidFill>
                  <a:schemeClr val="tx2"/>
                </a:solidFill>
              </a:rPr>
              <a:t>infeasible test requirements; Hard to satisfy </a:t>
            </a:r>
            <a:r>
              <a:rPr lang="en-US" altLang="en-US" dirty="0"/>
              <a:t>for some predicates</a:t>
            </a:r>
          </a:p>
          <a:p>
            <a:r>
              <a:rPr lang="en-US" altLang="en-US" dirty="0"/>
              <a:t>Closely related to MCDC. Widely used in safety-critical software (e.g., aviation)</a:t>
            </a:r>
          </a:p>
        </p:txBody>
      </p:sp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2737084" y="869118"/>
            <a:ext cx="6703545" cy="1575816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Restricted Active Clause Coverage (RACC)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 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For each clause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: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true once,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false once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 each test,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(major clause) must determine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minor clauses must remain the same</a:t>
            </a:r>
            <a:endParaRPr lang="en-US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0829058-931B-4A2A-BF20-051DE1806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365" y="2539844"/>
            <a:ext cx="4504654" cy="1800493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altLang="en-US" sz="2400" i="1" u="sng" dirty="0">
                <a:latin typeface="Gill Sans MT" panose="020B0502020104020203" pitchFamily="34" charset="0"/>
              </a:rPr>
              <a:t>p</a:t>
            </a:r>
            <a:r>
              <a:rPr lang="en-US" altLang="en-US" sz="2400" u="sng" dirty="0">
                <a:latin typeface="Gill Sans MT" panose="020B0502020104020203" pitchFamily="34" charset="0"/>
              </a:rPr>
              <a:t> =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a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⊕ 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b</a:t>
            </a:r>
          </a:p>
          <a:p>
            <a:pPr algn="ctr">
              <a:spcBef>
                <a:spcPts val="6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Major clause: a</a:t>
            </a:r>
          </a:p>
          <a:p>
            <a:pPr>
              <a:spcBef>
                <a:spcPts val="600"/>
              </a:spcBef>
              <a:buFontTx/>
              <a:buAutoNum type="arabicParenR"/>
            </a:pP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 = true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false 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true</a:t>
            </a:r>
            <a:endParaRPr lang="en-US" alt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  <a:buFontTx/>
              <a:buAutoNum type="arabicParenR"/>
            </a:pP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 = false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</a:rPr>
              <a:t>false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false</a:t>
            </a:r>
            <a:endParaRPr lang="en-US" alt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84EEC1-59A2-4FD4-96D1-D1D78D187D5E}"/>
              </a:ext>
            </a:extLst>
          </p:cNvPr>
          <p:cNvSpPr txBox="1"/>
          <p:nvPr/>
        </p:nvSpPr>
        <p:spPr>
          <a:xfrm>
            <a:off x="6633165" y="3013501"/>
            <a:ext cx="4196477" cy="83099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Only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a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changes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Effect is observable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  <p:bldP spid="222212" grpId="0" animBg="1" autoUpdateAnimBg="0"/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A7821B5-0F7E-41D3-B24A-DF7255078690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21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6038"/>
            <a:ext cx="9144000" cy="976647"/>
          </a:xfrm>
        </p:spPr>
        <p:txBody>
          <a:bodyPr/>
          <a:lstStyle/>
          <a:p>
            <a:r>
              <a:rPr lang="en-US" altLang="en-US" dirty="0"/>
              <a:t>Correlated Active Clause Coverage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0943" y="4619372"/>
            <a:ext cx="11770114" cy="1575816"/>
          </a:xfrm>
        </p:spPr>
        <p:txBody>
          <a:bodyPr/>
          <a:lstStyle/>
          <a:p>
            <a:r>
              <a:rPr lang="en-US" altLang="en-US" dirty="0"/>
              <a:t>CACC </a:t>
            </a:r>
            <a:r>
              <a:rPr lang="en-US" altLang="en-US" dirty="0">
                <a:solidFill>
                  <a:schemeClr val="tx2"/>
                </a:solidFill>
              </a:rPr>
              <a:t>guarantees</a:t>
            </a:r>
            <a:r>
              <a:rPr lang="en-US" altLang="en-US" dirty="0"/>
              <a:t> predicate coverage</a:t>
            </a:r>
          </a:p>
          <a:p>
            <a:r>
              <a:rPr lang="en-US" altLang="zh-CN" dirty="0"/>
              <a:t>Ensuring observable effect on the Predicate</a:t>
            </a:r>
          </a:p>
          <a:p>
            <a:r>
              <a:rPr lang="en-US" altLang="en-US" dirty="0"/>
              <a:t>Compared to RACC, CACC does not require minor clauses to remain the same</a:t>
            </a:r>
          </a:p>
        </p:txBody>
      </p:sp>
      <p:sp>
        <p:nvSpPr>
          <p:cNvPr id="228356" name="Text Box 4"/>
          <p:cNvSpPr txBox="1">
            <a:spLocks noChangeArrowheads="1"/>
          </p:cNvSpPr>
          <p:nvPr/>
        </p:nvSpPr>
        <p:spPr bwMode="auto">
          <a:xfrm>
            <a:off x="2367272" y="943014"/>
            <a:ext cx="7457455" cy="1575816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Correlated Active Clause Coverage (CACC)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For each clause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: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ci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true once,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false once</a:t>
            </a:r>
          </a:p>
          <a:p>
            <a:pPr marL="342900" indent="-34290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 each test,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(major clause) must determine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p,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the predicate must change: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true) ≠ p(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ci 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false)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FEDFE9A-BF0A-4E9E-9339-48BBD9372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323" y="2654684"/>
            <a:ext cx="4690386" cy="1800493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457200" indent="-457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altLang="en-US" sz="2400" u="sng" dirty="0">
                <a:latin typeface="Gill Sans MT" panose="020B0502020104020203" pitchFamily="34" charset="0"/>
              </a:rPr>
              <a:t>p =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a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⊕ 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i="1" u="sng" dirty="0">
                <a:latin typeface="Gill Sans MT" panose="020B0502020104020203" pitchFamily="34" charset="0"/>
              </a:rPr>
              <a:t>b</a:t>
            </a:r>
          </a:p>
          <a:p>
            <a:pPr algn="ctr">
              <a:spcBef>
                <a:spcPts val="600"/>
              </a:spcBef>
            </a:pP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Major clause: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</a:p>
          <a:p>
            <a:pPr>
              <a:spcBef>
                <a:spcPts val="600"/>
              </a:spcBef>
              <a:buFontTx/>
              <a:buAutoNum type="arabicParenR"/>
            </a:pP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 = true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false 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true</a:t>
            </a:r>
            <a:endParaRPr lang="en-US" alt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ts val="600"/>
              </a:spcBef>
              <a:buFontTx/>
              <a:buAutoNum type="arabicParenR"/>
            </a:pPr>
            <a:r>
              <a:rPr lang="en-US" altLang="en-US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sz="2400" dirty="0">
                <a:solidFill>
                  <a:schemeClr val="tx2"/>
                </a:solidFill>
                <a:latin typeface="Gill Sans MT" panose="020B0502020104020203" pitchFamily="34" charset="0"/>
              </a:rPr>
              <a:t> = false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altLang="zh-CN" sz="2400" dirty="0">
                <a:solidFill>
                  <a:schemeClr val="tx1"/>
                </a:solidFill>
                <a:latin typeface="Gill Sans MT" panose="020B0502020104020203" pitchFamily="34" charset="0"/>
              </a:rPr>
              <a:t>false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 = false</a:t>
            </a:r>
            <a:endParaRPr lang="en-US" altLang="en-US" sz="24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491263-D5E9-4E75-9A6C-93E6BF8CC4E0}"/>
              </a:ext>
            </a:extLst>
          </p:cNvPr>
          <p:cNvSpPr txBox="1"/>
          <p:nvPr/>
        </p:nvSpPr>
        <p:spPr>
          <a:xfrm>
            <a:off x="6676758" y="2977227"/>
            <a:ext cx="3764501" cy="120032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The effect of </a:t>
            </a:r>
            <a:r>
              <a:rPr lang="en-US" altLang="zh-CN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must be observable in </a:t>
            </a:r>
            <a:r>
              <a:rPr lang="en-US" altLang="zh-CN" sz="2400" i="1" dirty="0">
                <a:solidFill>
                  <a:schemeClr val="tx2"/>
                </a:solidFill>
                <a:latin typeface="Gill Sans MT" panose="020B0502020104020203" pitchFamily="34" charset="0"/>
              </a:rPr>
              <a:t>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Minor clauses may differ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/>
      <p:bldP spid="228356" grpId="0" animBg="1" autoUpdateAnimBg="0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CACC and RACC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35D2F70-9525-4621-A23F-E21C21738D33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22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6" name="Group 18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6564210"/>
              </p:ext>
            </p:extLst>
          </p:nvPr>
        </p:nvGraphicFramePr>
        <p:xfrm>
          <a:off x="1617663" y="860426"/>
          <a:ext cx="4100512" cy="3632201"/>
        </p:xfrm>
        <a:graphic>
          <a:graphicData uri="http://schemas.openxmlformats.org/drawingml/2006/table">
            <a:tbl>
              <a:tblPr/>
              <a:tblGrid>
                <a:gridCol w="449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2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(b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 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2076450" y="862013"/>
            <a:ext cx="514350" cy="3632200"/>
            <a:chOff x="552048" y="862193"/>
            <a:chExt cx="514350" cy="3631858"/>
          </a:xfrm>
        </p:grpSpPr>
        <p:sp>
          <p:nvSpPr>
            <p:cNvPr id="35983" name="Rectangle 167"/>
            <p:cNvSpPr>
              <a:spLocks noChangeArrowheads="1"/>
            </p:cNvSpPr>
            <p:nvPr/>
          </p:nvSpPr>
          <p:spPr bwMode="auto">
            <a:xfrm>
              <a:off x="552048" y="862193"/>
              <a:ext cx="514350" cy="3631858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984" name="Line 168"/>
            <p:cNvSpPr>
              <a:spLocks noChangeShapeType="1"/>
            </p:cNvSpPr>
            <p:nvPr/>
          </p:nvSpPr>
          <p:spPr bwMode="auto">
            <a:xfrm>
              <a:off x="556811" y="1312051"/>
              <a:ext cx="504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85" name="Line 170"/>
            <p:cNvSpPr>
              <a:spLocks noChangeShapeType="1"/>
            </p:cNvSpPr>
            <p:nvPr/>
          </p:nvSpPr>
          <p:spPr bwMode="auto">
            <a:xfrm>
              <a:off x="556811" y="2912801"/>
              <a:ext cx="504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86" name="Text Box 171"/>
            <p:cNvSpPr txBox="1">
              <a:spLocks noChangeArrowheads="1"/>
            </p:cNvSpPr>
            <p:nvPr/>
          </p:nvSpPr>
          <p:spPr bwMode="auto">
            <a:xfrm>
              <a:off x="612337" y="1339644"/>
              <a:ext cx="333375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T</a:t>
              </a:r>
            </a:p>
          </p:txBody>
        </p:sp>
        <p:sp>
          <p:nvSpPr>
            <p:cNvPr id="35987" name="Text Box 172"/>
            <p:cNvSpPr txBox="1">
              <a:spLocks noChangeArrowheads="1"/>
            </p:cNvSpPr>
            <p:nvPr/>
          </p:nvSpPr>
          <p:spPr bwMode="auto">
            <a:xfrm>
              <a:off x="622386" y="2936048"/>
              <a:ext cx="333375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F</a:t>
              </a:r>
            </a:p>
          </p:txBody>
        </p:sp>
        <p:sp>
          <p:nvSpPr>
            <p:cNvPr id="35988" name="Text Box 174"/>
            <p:cNvSpPr txBox="1">
              <a:spLocks noChangeArrowheads="1"/>
            </p:cNvSpPr>
            <p:nvPr/>
          </p:nvSpPr>
          <p:spPr bwMode="auto">
            <a:xfrm>
              <a:off x="632433" y="909469"/>
              <a:ext cx="333375" cy="3139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 dirty="0">
                  <a:solidFill>
                    <a:schemeClr val="hlink"/>
                  </a:solidFill>
                </a:rPr>
                <a:t>a</a:t>
              </a:r>
            </a:p>
          </p:txBody>
        </p:sp>
      </p:grpSp>
      <p:grpSp>
        <p:nvGrpSpPr>
          <p:cNvPr id="8" name="Group 179"/>
          <p:cNvGrpSpPr>
            <a:grpSpLocks/>
          </p:cNvGrpSpPr>
          <p:nvPr/>
        </p:nvGrpSpPr>
        <p:grpSpPr bwMode="auto">
          <a:xfrm>
            <a:off x="2793014" y="4252913"/>
            <a:ext cx="2951162" cy="1173162"/>
            <a:chOff x="167" y="2435"/>
            <a:chExt cx="1859" cy="739"/>
          </a:xfrm>
        </p:grpSpPr>
        <p:sp>
          <p:nvSpPr>
            <p:cNvPr id="35981" name="Text Box 177"/>
            <p:cNvSpPr txBox="1">
              <a:spLocks noChangeArrowheads="1"/>
            </p:cNvSpPr>
            <p:nvPr/>
          </p:nvSpPr>
          <p:spPr bwMode="auto">
            <a:xfrm>
              <a:off x="167" y="2612"/>
              <a:ext cx="1859" cy="562"/>
            </a:xfrm>
            <a:prstGeom prst="rect">
              <a:avLst/>
            </a:prstGeom>
            <a:solidFill>
              <a:srgbClr val="0033CC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Gill Sans MT" panose="020B0502020104020203" pitchFamily="34" charset="0"/>
                </a:rPr>
                <a:t>major clause a</a:t>
              </a:r>
            </a:p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P</a:t>
              </a:r>
              <a:r>
                <a:rPr lang="en-US" altLang="en-US" sz="3200" baseline="-25000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a</a:t>
              </a: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 : b=true or c = true</a:t>
              </a:r>
            </a:p>
          </p:txBody>
        </p:sp>
        <p:sp>
          <p:nvSpPr>
            <p:cNvPr id="35982" name="Line 178"/>
            <p:cNvSpPr>
              <a:spLocks noChangeShapeType="1"/>
            </p:cNvSpPr>
            <p:nvPr/>
          </p:nvSpPr>
          <p:spPr bwMode="auto">
            <a:xfrm flipH="1" flipV="1">
              <a:off x="576" y="2435"/>
              <a:ext cx="88" cy="17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  <p:sp>
        <p:nvSpPr>
          <p:cNvPr id="32" name="Oval 31"/>
          <p:cNvSpPr>
            <a:spLocks noChangeArrowheads="1"/>
          </p:cNvSpPr>
          <p:nvPr/>
        </p:nvSpPr>
        <p:spPr bwMode="auto">
          <a:xfrm>
            <a:off x="1524001" y="1087438"/>
            <a:ext cx="3668713" cy="1517650"/>
          </a:xfrm>
          <a:prstGeom prst="ellipse">
            <a:avLst/>
          </a:prstGeom>
          <a:noFill/>
          <a:ln w="5715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1524001" y="2722563"/>
            <a:ext cx="3668713" cy="1516062"/>
          </a:xfrm>
          <a:prstGeom prst="ellipse">
            <a:avLst/>
          </a:prstGeom>
          <a:noFill/>
          <a:ln w="5715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pSp>
        <p:nvGrpSpPr>
          <p:cNvPr id="9" name="Group 183"/>
          <p:cNvGrpSpPr>
            <a:grpSpLocks/>
          </p:cNvGrpSpPr>
          <p:nvPr/>
        </p:nvGrpSpPr>
        <p:grpSpPr bwMode="auto">
          <a:xfrm>
            <a:off x="2887662" y="4119564"/>
            <a:ext cx="3881438" cy="2446337"/>
            <a:chOff x="327" y="2333"/>
            <a:chExt cx="2445" cy="1541"/>
          </a:xfrm>
        </p:grpSpPr>
        <p:sp>
          <p:nvSpPr>
            <p:cNvPr id="35979" name="Text Box 109"/>
            <p:cNvSpPr txBox="1">
              <a:spLocks noChangeArrowheads="1"/>
            </p:cNvSpPr>
            <p:nvPr/>
          </p:nvSpPr>
          <p:spPr bwMode="auto">
            <a:xfrm>
              <a:off x="327" y="3234"/>
              <a:ext cx="2445" cy="640"/>
            </a:xfrm>
            <a:prstGeom prst="rect">
              <a:avLst/>
            </a:prstGeom>
            <a:solidFill>
              <a:srgbClr val="0033CC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Gill Sans MT" panose="020B0502020104020203" pitchFamily="34" charset="0"/>
                </a:rPr>
                <a:t>CACC </a:t>
              </a: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can be satisfied by choosing any of rows 1, 2, 3 AND any of rows 5, 6, 7 – a total of nine pairs</a:t>
              </a:r>
            </a:p>
          </p:txBody>
        </p:sp>
        <p:sp>
          <p:nvSpPr>
            <p:cNvPr id="35980" name="Line 110"/>
            <p:cNvSpPr>
              <a:spLocks noChangeShapeType="1"/>
            </p:cNvSpPr>
            <p:nvPr/>
          </p:nvSpPr>
          <p:spPr bwMode="auto">
            <a:xfrm flipH="1" flipV="1">
              <a:off x="1298" y="2333"/>
              <a:ext cx="207" cy="899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  <p:graphicFrame>
        <p:nvGraphicFramePr>
          <p:cNvPr id="37" name="Group 185"/>
          <p:cNvGraphicFramePr>
            <a:graphicFrameLocks/>
          </p:cNvGraphicFramePr>
          <p:nvPr/>
        </p:nvGraphicFramePr>
        <p:xfrm>
          <a:off x="6411913" y="862014"/>
          <a:ext cx="4100512" cy="3632201"/>
        </p:xfrm>
        <a:graphic>
          <a:graphicData uri="http://schemas.openxmlformats.org/drawingml/2006/table">
            <a:tbl>
              <a:tblPr/>
              <a:tblGrid>
                <a:gridCol w="449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2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(b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 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0" name="Group 37"/>
          <p:cNvGrpSpPr>
            <a:grpSpLocks/>
          </p:cNvGrpSpPr>
          <p:nvPr/>
        </p:nvGrpSpPr>
        <p:grpSpPr bwMode="auto">
          <a:xfrm>
            <a:off x="6854825" y="866775"/>
            <a:ext cx="514350" cy="3627438"/>
            <a:chOff x="552048" y="865190"/>
            <a:chExt cx="514350" cy="3626932"/>
          </a:xfrm>
        </p:grpSpPr>
        <p:sp>
          <p:nvSpPr>
            <p:cNvPr id="35973" name="Rectangle 167"/>
            <p:cNvSpPr>
              <a:spLocks noChangeArrowheads="1"/>
            </p:cNvSpPr>
            <p:nvPr/>
          </p:nvSpPr>
          <p:spPr bwMode="auto">
            <a:xfrm>
              <a:off x="552048" y="865190"/>
              <a:ext cx="514350" cy="3626932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974" name="Line 168"/>
            <p:cNvSpPr>
              <a:spLocks noChangeShapeType="1"/>
            </p:cNvSpPr>
            <p:nvPr/>
          </p:nvSpPr>
          <p:spPr bwMode="auto">
            <a:xfrm>
              <a:off x="556811" y="1312051"/>
              <a:ext cx="504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75" name="Line 170"/>
            <p:cNvSpPr>
              <a:spLocks noChangeShapeType="1"/>
            </p:cNvSpPr>
            <p:nvPr/>
          </p:nvSpPr>
          <p:spPr bwMode="auto">
            <a:xfrm>
              <a:off x="556811" y="2912801"/>
              <a:ext cx="5048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976" name="Text Box 171"/>
            <p:cNvSpPr txBox="1">
              <a:spLocks noChangeArrowheads="1"/>
            </p:cNvSpPr>
            <p:nvPr/>
          </p:nvSpPr>
          <p:spPr bwMode="auto">
            <a:xfrm>
              <a:off x="612337" y="1339644"/>
              <a:ext cx="333375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T</a:t>
              </a:r>
            </a:p>
          </p:txBody>
        </p:sp>
        <p:sp>
          <p:nvSpPr>
            <p:cNvPr id="35977" name="Text Box 172"/>
            <p:cNvSpPr txBox="1">
              <a:spLocks noChangeArrowheads="1"/>
            </p:cNvSpPr>
            <p:nvPr/>
          </p:nvSpPr>
          <p:spPr bwMode="auto">
            <a:xfrm>
              <a:off x="622386" y="2936048"/>
              <a:ext cx="333375" cy="1538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F</a:t>
              </a:r>
            </a:p>
          </p:txBody>
        </p:sp>
        <p:sp>
          <p:nvSpPr>
            <p:cNvPr id="35978" name="Text Box 174"/>
            <p:cNvSpPr txBox="1">
              <a:spLocks noChangeArrowheads="1"/>
            </p:cNvSpPr>
            <p:nvPr/>
          </p:nvSpPr>
          <p:spPr bwMode="auto">
            <a:xfrm>
              <a:off x="632433" y="909469"/>
              <a:ext cx="333375" cy="31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en-US">
                  <a:solidFill>
                    <a:schemeClr val="hlink"/>
                  </a:solidFill>
                </a:rPr>
                <a:t>a</a:t>
              </a:r>
            </a:p>
          </p:txBody>
        </p:sp>
      </p:grp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7404101" y="1296989"/>
            <a:ext cx="936625" cy="439737"/>
          </a:xfrm>
          <a:prstGeom prst="ellipse">
            <a:avLst/>
          </a:prstGeom>
          <a:noFill/>
          <a:ln w="3810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7405688" y="2895600"/>
            <a:ext cx="938212" cy="439738"/>
          </a:xfrm>
          <a:prstGeom prst="ellipse">
            <a:avLst/>
          </a:prstGeom>
          <a:noFill/>
          <a:ln w="38100" algn="ctr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7429501" y="1692275"/>
            <a:ext cx="936625" cy="439738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8" name="Oval 47"/>
          <p:cNvSpPr>
            <a:spLocks noChangeArrowheads="1"/>
          </p:cNvSpPr>
          <p:nvPr/>
        </p:nvSpPr>
        <p:spPr bwMode="auto">
          <a:xfrm>
            <a:off x="7431089" y="3290889"/>
            <a:ext cx="936625" cy="439737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9" name="Oval 48"/>
          <p:cNvSpPr>
            <a:spLocks noChangeArrowheads="1"/>
          </p:cNvSpPr>
          <p:nvPr/>
        </p:nvSpPr>
        <p:spPr bwMode="auto">
          <a:xfrm>
            <a:off x="7407276" y="2076450"/>
            <a:ext cx="938213" cy="439738"/>
          </a:xfrm>
          <a:prstGeom prst="ellipse">
            <a:avLst/>
          </a:prstGeom>
          <a:noFill/>
          <a:ln w="38100" algn="ctr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7410451" y="3675064"/>
            <a:ext cx="936625" cy="439737"/>
          </a:xfrm>
          <a:prstGeom prst="ellipse">
            <a:avLst/>
          </a:prstGeom>
          <a:noFill/>
          <a:ln w="38100" algn="ctr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grpSp>
        <p:nvGrpSpPr>
          <p:cNvPr id="11" name="Group 184"/>
          <p:cNvGrpSpPr>
            <a:grpSpLocks/>
          </p:cNvGrpSpPr>
          <p:nvPr/>
        </p:nvGrpSpPr>
        <p:grpSpPr bwMode="auto">
          <a:xfrm>
            <a:off x="6918324" y="4119563"/>
            <a:ext cx="2481199" cy="2528887"/>
            <a:chOff x="3281" y="2916"/>
            <a:chExt cx="1512" cy="1593"/>
          </a:xfrm>
        </p:grpSpPr>
        <p:sp>
          <p:nvSpPr>
            <p:cNvPr id="35971" name="Text Box 112"/>
            <p:cNvSpPr txBox="1">
              <a:spLocks noChangeArrowheads="1"/>
            </p:cNvSpPr>
            <p:nvPr/>
          </p:nvSpPr>
          <p:spPr bwMode="auto">
            <a:xfrm>
              <a:off x="3281" y="3578"/>
              <a:ext cx="1512" cy="931"/>
            </a:xfrm>
            <a:prstGeom prst="rect">
              <a:avLst/>
            </a:prstGeom>
            <a:solidFill>
              <a:srgbClr val="0033CC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dirty="0">
                  <a:latin typeface="Gill Sans MT" panose="020B0502020104020203" pitchFamily="34" charset="0"/>
                </a:rPr>
                <a:t>RACC </a:t>
              </a: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can only be satisfied by row pairs (1, 5), (2, 6), or (3, 7)</a:t>
              </a:r>
            </a:p>
            <a:p>
              <a:pPr>
                <a:spcBef>
                  <a:spcPct val="50000"/>
                </a:spcBef>
              </a:pPr>
              <a:r>
                <a:rPr lang="en-US" altLang="en-US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Only three pairs</a:t>
              </a:r>
            </a:p>
          </p:txBody>
        </p:sp>
        <p:sp>
          <p:nvSpPr>
            <p:cNvPr id="35972" name="Line 113"/>
            <p:cNvSpPr>
              <a:spLocks noChangeShapeType="1"/>
            </p:cNvSpPr>
            <p:nvPr/>
          </p:nvSpPr>
          <p:spPr bwMode="auto">
            <a:xfrm flipH="1" flipV="1">
              <a:off x="4156" y="2916"/>
              <a:ext cx="139" cy="663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729ACD65-EAFD-4255-A130-9A0C3727A7EC}"/>
              </a:ext>
            </a:extLst>
          </p:cNvPr>
          <p:cNvSpPr txBox="1"/>
          <p:nvPr/>
        </p:nvSpPr>
        <p:spPr>
          <a:xfrm>
            <a:off x="142642" y="4972123"/>
            <a:ext cx="2513154" cy="132343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Gill Sans MT" panose="020B0502020104020203" pitchFamily="34" charset="0"/>
              </a:rPr>
              <a:t>CACC:</a:t>
            </a:r>
            <a:br>
              <a:rPr lang="en-US" altLang="zh-CN" dirty="0">
                <a:latin typeface="Gill Sans MT" panose="020B0502020104020203" pitchFamily="34" charset="0"/>
              </a:rPr>
            </a:br>
            <a:r>
              <a:rPr lang="en-US" altLang="zh-CN" dirty="0">
                <a:latin typeface="Gill Sans MT" panose="020B0502020104020203" pitchFamily="34" charset="0"/>
              </a:rPr>
              <a:t>• a must determine p</a:t>
            </a:r>
            <a:br>
              <a:rPr lang="en-US" altLang="zh-CN" dirty="0">
                <a:latin typeface="Gill Sans MT" panose="020B0502020104020203" pitchFamily="34" charset="0"/>
              </a:rPr>
            </a:br>
            <a:r>
              <a:rPr lang="en-US" altLang="zh-CN" dirty="0">
                <a:latin typeface="Gill Sans MT" panose="020B0502020104020203" pitchFamily="34" charset="0"/>
              </a:rPr>
              <a:t>• p must change</a:t>
            </a:r>
            <a:br>
              <a:rPr lang="en-US" altLang="zh-CN" dirty="0">
                <a:latin typeface="Gill Sans MT" panose="020B0502020104020203" pitchFamily="34" charset="0"/>
              </a:rPr>
            </a:br>
            <a:r>
              <a:rPr lang="en-US" altLang="zh-CN" dirty="0">
                <a:latin typeface="Gill Sans MT" panose="020B0502020104020203" pitchFamily="34" charset="0"/>
              </a:rPr>
              <a:t>• (b, c) can vary</a:t>
            </a:r>
            <a:endParaRPr lang="zh-CN" altLang="en-US" dirty="0">
              <a:latin typeface="Gill Sans MT" panose="020B0502020104020203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69E38A5-5D7E-4075-AABA-5F6397647C6E}"/>
              </a:ext>
            </a:extLst>
          </p:cNvPr>
          <p:cNvSpPr txBox="1"/>
          <p:nvPr/>
        </p:nvSpPr>
        <p:spPr>
          <a:xfrm>
            <a:off x="9567331" y="4934685"/>
            <a:ext cx="2447482" cy="163121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Gill Sans MT" panose="020B0502020104020203" pitchFamily="34" charset="0"/>
              </a:rPr>
              <a:t>RACC:</a:t>
            </a:r>
            <a:br>
              <a:rPr lang="en-US" altLang="zh-CN" dirty="0">
                <a:latin typeface="Gill Sans MT" panose="020B0502020104020203" pitchFamily="34" charset="0"/>
              </a:rPr>
            </a:br>
            <a:r>
              <a:rPr lang="en-US" altLang="zh-CN" dirty="0">
                <a:latin typeface="Gill Sans MT" panose="020B0502020104020203" pitchFamily="34" charset="0"/>
              </a:rPr>
              <a:t>• a must determine p</a:t>
            </a:r>
            <a:br>
              <a:rPr lang="en-US" altLang="zh-CN" dirty="0">
                <a:latin typeface="Gill Sans MT" panose="020B0502020104020203" pitchFamily="34" charset="0"/>
              </a:rPr>
            </a:br>
            <a:r>
              <a:rPr lang="en-US" altLang="zh-CN" dirty="0">
                <a:latin typeface="Gill Sans MT" panose="020B0502020104020203" pitchFamily="34" charset="0"/>
              </a:rPr>
              <a:t>• p must change</a:t>
            </a:r>
            <a:br>
              <a:rPr lang="en-US" altLang="zh-CN" dirty="0">
                <a:latin typeface="Gill Sans MT" panose="020B0502020104020203" pitchFamily="34" charset="0"/>
              </a:rPr>
            </a:br>
            <a:r>
              <a:rPr lang="en-US" altLang="zh-CN" dirty="0">
                <a:latin typeface="Gill Sans MT" panose="020B0502020104020203" pitchFamily="34" charset="0"/>
              </a:rPr>
              <a:t>• (b, c) must remain the same</a:t>
            </a:r>
            <a:endParaRPr lang="zh-CN" altLang="en-US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41" grpId="0" animBg="1"/>
      <p:bldP spid="4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97D43-6EA0-40CB-8402-47E95D98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Comparison of ACC Variants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31C4260-216E-4087-A40C-ADEF4B1A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76CF6B-98B7-407E-B371-58066DCC3AB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99E8E5-6787-4B0B-8405-C27FD05E4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250182"/>
              </p:ext>
            </p:extLst>
          </p:nvPr>
        </p:nvGraphicFramePr>
        <p:xfrm>
          <a:off x="2378695" y="2437315"/>
          <a:ext cx="7415561" cy="1983369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1453465">
                  <a:extLst>
                    <a:ext uri="{9D8B030D-6E8A-4147-A177-3AD203B41FA5}">
                      <a16:colId xmlns:a16="http://schemas.microsoft.com/office/drawing/2014/main" val="2645542086"/>
                    </a:ext>
                  </a:extLst>
                </a:gridCol>
                <a:gridCol w="2184628">
                  <a:extLst>
                    <a:ext uri="{9D8B030D-6E8A-4147-A177-3AD203B41FA5}">
                      <a16:colId xmlns:a16="http://schemas.microsoft.com/office/drawing/2014/main" val="4285090032"/>
                    </a:ext>
                  </a:extLst>
                </a:gridCol>
                <a:gridCol w="2014545">
                  <a:extLst>
                    <a:ext uri="{9D8B030D-6E8A-4147-A177-3AD203B41FA5}">
                      <a16:colId xmlns:a16="http://schemas.microsoft.com/office/drawing/2014/main" val="4109626690"/>
                    </a:ext>
                  </a:extLst>
                </a:gridCol>
                <a:gridCol w="1762923">
                  <a:extLst>
                    <a:ext uri="{9D8B030D-6E8A-4147-A177-3AD203B41FA5}">
                      <a16:colId xmlns:a16="http://schemas.microsoft.com/office/drawing/2014/main" val="1782036952"/>
                    </a:ext>
                  </a:extLst>
                </a:gridCol>
              </a:tblGrid>
              <a:tr h="793347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Criterion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Minor Clauses Fixed?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Guarantees p Changes?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Strength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9496308"/>
                  </a:ext>
                </a:extLst>
              </a:tr>
              <a:tr h="396674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GACC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No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 No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 Weakest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0109426"/>
                  </a:ext>
                </a:extLst>
              </a:tr>
              <a:tr h="396674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CACC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Partially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Yes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Medium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3652703"/>
                  </a:ext>
                </a:extLst>
              </a:tr>
              <a:tr h="396674"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RACC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Yes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>
                          <a:effectLst/>
                          <a:latin typeface="Gill Sans MT"/>
                          <a:cs typeface="Arial" panose="020B0604020202020204" pitchFamily="34" charset="0"/>
                        </a:rPr>
                        <a:t>Yes</a:t>
                      </a:r>
                      <a:endParaRPr lang="zh-CN" sz="2400" kern="10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kern="100" dirty="0">
                          <a:effectLst/>
                          <a:latin typeface="Gill Sans MT"/>
                          <a:cs typeface="Arial" panose="020B0604020202020204" pitchFamily="34" charset="0"/>
                        </a:rPr>
                        <a:t>Strongest</a:t>
                      </a:r>
                      <a:endParaRPr lang="zh-CN" sz="2400" kern="100" dirty="0">
                        <a:effectLst/>
                        <a:latin typeface="Gill Sans MT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3943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16113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AB4097C-89DF-40D5-A6F7-F40B2B7C0AEF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24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8917" name="Rectangle 6"/>
          <p:cNvSpPr>
            <a:spLocks noGrp="1" noChangeArrowheads="1"/>
          </p:cNvSpPr>
          <p:nvPr>
            <p:ph type="title"/>
          </p:nvPr>
        </p:nvSpPr>
        <p:spPr>
          <a:xfrm>
            <a:off x="1524001" y="96838"/>
            <a:ext cx="9143999" cy="817562"/>
          </a:xfrm>
        </p:spPr>
        <p:txBody>
          <a:bodyPr/>
          <a:lstStyle/>
          <a:p>
            <a:r>
              <a:rPr lang="en-US" altLang="en-US" dirty="0"/>
              <a:t>Logic Criteria </a:t>
            </a:r>
            <a:r>
              <a:rPr lang="en-US" altLang="en-US" dirty="0" err="1"/>
              <a:t>Subsumption</a:t>
            </a:r>
            <a:endParaRPr lang="en-US" altLang="en-US" dirty="0"/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4158455" y="914400"/>
            <a:ext cx="3875090" cy="5454650"/>
            <a:chOff x="1397" y="576"/>
            <a:chExt cx="2441" cy="3436"/>
          </a:xfrm>
        </p:grpSpPr>
        <p:sp>
          <p:nvSpPr>
            <p:cNvPr id="38919" name="Rectangle 4"/>
            <p:cNvSpPr>
              <a:spLocks noChangeArrowheads="1"/>
            </p:cNvSpPr>
            <p:nvPr/>
          </p:nvSpPr>
          <p:spPr bwMode="auto">
            <a:xfrm>
              <a:off x="3168" y="1610"/>
              <a:ext cx="255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grpSp>
          <p:nvGrpSpPr>
            <p:cNvPr id="38920" name="Group 10"/>
            <p:cNvGrpSpPr>
              <a:grpSpLocks/>
            </p:cNvGrpSpPr>
            <p:nvPr/>
          </p:nvGrpSpPr>
          <p:grpSpPr bwMode="auto">
            <a:xfrm>
              <a:off x="1616" y="3484"/>
              <a:ext cx="801" cy="526"/>
              <a:chOff x="1966" y="3448"/>
              <a:chExt cx="801" cy="526"/>
            </a:xfrm>
          </p:grpSpPr>
          <p:sp>
            <p:nvSpPr>
              <p:cNvPr id="38951" name="Text Box 11"/>
              <p:cNvSpPr txBox="1">
                <a:spLocks noChangeArrowheads="1"/>
              </p:cNvSpPr>
              <p:nvPr/>
            </p:nvSpPr>
            <p:spPr bwMode="auto">
              <a:xfrm>
                <a:off x="1966" y="3448"/>
                <a:ext cx="801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CC</a:t>
                </a:r>
              </a:p>
            </p:txBody>
          </p:sp>
          <p:sp>
            <p:nvSpPr>
              <p:cNvPr id="38952" name="Line 12"/>
              <p:cNvSpPr>
                <a:spLocks noChangeShapeType="1"/>
              </p:cNvSpPr>
              <p:nvPr/>
            </p:nvSpPr>
            <p:spPr bwMode="auto">
              <a:xfrm>
                <a:off x="2024" y="3771"/>
                <a:ext cx="6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21" name="Group 13"/>
            <p:cNvGrpSpPr>
              <a:grpSpLocks/>
            </p:cNvGrpSpPr>
            <p:nvPr/>
          </p:nvGrpSpPr>
          <p:grpSpPr bwMode="auto">
            <a:xfrm>
              <a:off x="3058" y="3486"/>
              <a:ext cx="780" cy="526"/>
              <a:chOff x="2108" y="2730"/>
              <a:chExt cx="780" cy="526"/>
            </a:xfrm>
          </p:grpSpPr>
          <p:sp>
            <p:nvSpPr>
              <p:cNvPr id="38949" name="Text Box 14"/>
              <p:cNvSpPr txBox="1">
                <a:spLocks noChangeArrowheads="1"/>
              </p:cNvSpPr>
              <p:nvPr/>
            </p:nvSpPr>
            <p:spPr bwMode="auto">
              <a:xfrm>
                <a:off x="2108" y="2730"/>
                <a:ext cx="780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Predicate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PC</a:t>
                </a:r>
              </a:p>
            </p:txBody>
          </p:sp>
          <p:sp>
            <p:nvSpPr>
              <p:cNvPr id="38950" name="Line 15"/>
              <p:cNvSpPr>
                <a:spLocks noChangeShapeType="1"/>
              </p:cNvSpPr>
              <p:nvPr/>
            </p:nvSpPr>
            <p:spPr bwMode="auto">
              <a:xfrm>
                <a:off x="2165" y="3053"/>
                <a:ext cx="66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22" name="Group 22"/>
            <p:cNvGrpSpPr>
              <a:grpSpLocks/>
            </p:cNvGrpSpPr>
            <p:nvPr/>
          </p:nvGrpSpPr>
          <p:grpSpPr bwMode="auto">
            <a:xfrm>
              <a:off x="2157" y="576"/>
              <a:ext cx="1434" cy="520"/>
              <a:chOff x="3049" y="576"/>
              <a:chExt cx="1283" cy="520"/>
            </a:xfrm>
          </p:grpSpPr>
          <p:sp>
            <p:nvSpPr>
              <p:cNvPr id="38947" name="Text Box 23"/>
              <p:cNvSpPr txBox="1">
                <a:spLocks noChangeArrowheads="1"/>
              </p:cNvSpPr>
              <p:nvPr/>
            </p:nvSpPr>
            <p:spPr bwMode="auto">
              <a:xfrm>
                <a:off x="3049" y="576"/>
                <a:ext cx="1283" cy="520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Combinatorial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COC</a:t>
                </a:r>
              </a:p>
            </p:txBody>
          </p:sp>
          <p:sp>
            <p:nvSpPr>
              <p:cNvPr id="38948" name="Line 24"/>
              <p:cNvSpPr>
                <a:spLocks noChangeShapeType="1"/>
              </p:cNvSpPr>
              <p:nvPr/>
            </p:nvSpPr>
            <p:spPr bwMode="auto">
              <a:xfrm>
                <a:off x="3225" y="899"/>
                <a:ext cx="9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sp>
          <p:nvSpPr>
            <p:cNvPr id="38924" name="Line 38"/>
            <p:cNvSpPr>
              <a:spLocks noChangeShapeType="1"/>
            </p:cNvSpPr>
            <p:nvPr/>
          </p:nvSpPr>
          <p:spPr bwMode="auto">
            <a:xfrm>
              <a:off x="2019" y="3289"/>
              <a:ext cx="4" cy="1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25" name="Line 39"/>
            <p:cNvSpPr>
              <a:spLocks noChangeShapeType="1"/>
            </p:cNvSpPr>
            <p:nvPr/>
          </p:nvSpPr>
          <p:spPr bwMode="auto">
            <a:xfrm>
              <a:off x="3077" y="2552"/>
              <a:ext cx="429" cy="9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grpSp>
          <p:nvGrpSpPr>
            <p:cNvPr id="38928" name="Group 19"/>
            <p:cNvGrpSpPr>
              <a:grpSpLocks/>
            </p:cNvGrpSpPr>
            <p:nvPr/>
          </p:nvGrpSpPr>
          <p:grpSpPr bwMode="auto">
            <a:xfrm>
              <a:off x="2156" y="1291"/>
              <a:ext cx="1265" cy="520"/>
              <a:chOff x="3810" y="1294"/>
              <a:chExt cx="1151" cy="520"/>
            </a:xfrm>
          </p:grpSpPr>
          <p:sp>
            <p:nvSpPr>
              <p:cNvPr id="38945" name="Text Box 20"/>
              <p:cNvSpPr txBox="1">
                <a:spLocks noChangeArrowheads="1"/>
              </p:cNvSpPr>
              <p:nvPr/>
            </p:nvSpPr>
            <p:spPr bwMode="auto">
              <a:xfrm>
                <a:off x="3810" y="1294"/>
                <a:ext cx="1151" cy="520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Restricted 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RACC</a:t>
                </a:r>
              </a:p>
            </p:txBody>
          </p:sp>
          <p:sp>
            <p:nvSpPr>
              <p:cNvPr id="38946" name="Line 21"/>
              <p:cNvSpPr>
                <a:spLocks noChangeShapeType="1"/>
              </p:cNvSpPr>
              <p:nvPr/>
            </p:nvSpPr>
            <p:spPr bwMode="auto">
              <a:xfrm>
                <a:off x="3925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30" name="Group 53"/>
            <p:cNvGrpSpPr>
              <a:grpSpLocks/>
            </p:cNvGrpSpPr>
            <p:nvPr/>
          </p:nvGrpSpPr>
          <p:grpSpPr bwMode="auto">
            <a:xfrm>
              <a:off x="1397" y="2769"/>
              <a:ext cx="1308" cy="526"/>
              <a:chOff x="3609" y="1294"/>
              <a:chExt cx="1092" cy="526"/>
            </a:xfrm>
          </p:grpSpPr>
          <p:sp>
            <p:nvSpPr>
              <p:cNvPr id="38941" name="Text Box 54"/>
              <p:cNvSpPr txBox="1">
                <a:spLocks noChangeArrowheads="1"/>
              </p:cNvSpPr>
              <p:nvPr/>
            </p:nvSpPr>
            <p:spPr bwMode="auto">
              <a:xfrm>
                <a:off x="3609" y="1294"/>
                <a:ext cx="1092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General 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GACC</a:t>
                </a:r>
              </a:p>
            </p:txBody>
          </p:sp>
          <p:sp>
            <p:nvSpPr>
              <p:cNvPr id="38942" name="Line 55"/>
              <p:cNvSpPr>
                <a:spLocks noChangeShapeType="1"/>
              </p:cNvSpPr>
              <p:nvPr/>
            </p:nvSpPr>
            <p:spPr bwMode="auto">
              <a:xfrm>
                <a:off x="3689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31" name="Group 50"/>
            <p:cNvGrpSpPr>
              <a:grpSpLocks/>
            </p:cNvGrpSpPr>
            <p:nvPr/>
          </p:nvGrpSpPr>
          <p:grpSpPr bwMode="auto">
            <a:xfrm>
              <a:off x="2041" y="2006"/>
              <a:ext cx="1379" cy="520"/>
              <a:chOff x="3955" y="1294"/>
              <a:chExt cx="1151" cy="520"/>
            </a:xfrm>
          </p:grpSpPr>
          <p:sp>
            <p:nvSpPr>
              <p:cNvPr id="38939" name="Text Box 51"/>
              <p:cNvSpPr txBox="1">
                <a:spLocks noChangeArrowheads="1"/>
              </p:cNvSpPr>
              <p:nvPr/>
            </p:nvSpPr>
            <p:spPr bwMode="auto">
              <a:xfrm>
                <a:off x="3955" y="1294"/>
                <a:ext cx="1151" cy="520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Correlated 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CACC</a:t>
                </a:r>
              </a:p>
            </p:txBody>
          </p:sp>
          <p:sp>
            <p:nvSpPr>
              <p:cNvPr id="38940" name="Line 52"/>
              <p:cNvSpPr>
                <a:spLocks noChangeShapeType="1"/>
              </p:cNvSpPr>
              <p:nvPr/>
            </p:nvSpPr>
            <p:spPr bwMode="auto">
              <a:xfrm>
                <a:off x="4091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sp>
          <p:nvSpPr>
            <p:cNvPr id="38933" name="Line 63"/>
            <p:cNvSpPr>
              <a:spLocks noChangeShapeType="1"/>
            </p:cNvSpPr>
            <p:nvPr/>
          </p:nvSpPr>
          <p:spPr bwMode="auto">
            <a:xfrm flipH="1">
              <a:off x="2797" y="1100"/>
              <a:ext cx="2" cy="1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34" name="Line 65"/>
            <p:cNvSpPr>
              <a:spLocks noChangeShapeType="1"/>
            </p:cNvSpPr>
            <p:nvPr/>
          </p:nvSpPr>
          <p:spPr bwMode="auto">
            <a:xfrm>
              <a:off x="2781" y="1835"/>
              <a:ext cx="2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35" name="Line 66"/>
            <p:cNvSpPr>
              <a:spLocks noChangeShapeType="1"/>
            </p:cNvSpPr>
            <p:nvPr/>
          </p:nvSpPr>
          <p:spPr bwMode="auto">
            <a:xfrm flipH="1">
              <a:off x="2023" y="2535"/>
              <a:ext cx="198" cy="2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B64C079-D927-47B3-9F95-774A9802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Logic Coverage in Safety-Critical Systems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D863D4E-4FC3-448D-BE98-6130B224B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Critical systems rely  on logical expressions</a:t>
            </a:r>
          </a:p>
          <a:p>
            <a:pPr lvl="1"/>
            <a:r>
              <a:rPr lang="en-US" altLang="zh-CN" dirty="0"/>
              <a:t>E.g., safety condition in control software (sensor status, system mode, emergency flag)</a:t>
            </a:r>
          </a:p>
          <a:p>
            <a:pPr lvl="1"/>
            <a:r>
              <a:rPr lang="en-US" altLang="zh-CN" dirty="0"/>
              <a:t>Each condition must </a:t>
            </a:r>
            <a:r>
              <a:rPr lang="en-US" altLang="zh-CN" dirty="0">
                <a:solidFill>
                  <a:schemeClr val="tx2"/>
                </a:solidFill>
              </a:rPr>
              <a:t>independently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2"/>
                </a:solidFill>
              </a:rPr>
              <a:t>affect</a:t>
            </a:r>
            <a:r>
              <a:rPr lang="en-US" altLang="zh-CN" dirty="0"/>
              <a:t> the decision outcome</a:t>
            </a:r>
          </a:p>
          <a:p>
            <a:r>
              <a:rPr lang="en-US" altLang="zh-CN" dirty="0"/>
              <a:t>Industry requirement: MCDC is </a:t>
            </a:r>
            <a:r>
              <a:rPr lang="en-US" altLang="zh-CN" dirty="0">
                <a:solidFill>
                  <a:schemeClr val="tx2"/>
                </a:solidFill>
              </a:rPr>
              <a:t>mandatory</a:t>
            </a:r>
            <a:r>
              <a:rPr lang="en-US" altLang="zh-CN" dirty="0"/>
              <a:t> for safety-critical software:</a:t>
            </a:r>
          </a:p>
          <a:p>
            <a:pPr lvl="1"/>
            <a:r>
              <a:rPr lang="en-US" altLang="zh-CN" dirty="0"/>
              <a:t>E.g., aviation (DO-178C, FAA), space systems, industrial control systems</a:t>
            </a:r>
          </a:p>
          <a:p>
            <a:r>
              <a:rPr lang="en-US" altLang="zh-CN" dirty="0"/>
              <a:t>Engineering trade-off:</a:t>
            </a:r>
          </a:p>
          <a:p>
            <a:pPr lvl="1"/>
            <a:r>
              <a:rPr lang="en-US" altLang="zh-CN" dirty="0"/>
              <a:t>CoC: 2ⁿ tests (not scalable)</a:t>
            </a:r>
          </a:p>
          <a:p>
            <a:pPr lvl="1"/>
            <a:r>
              <a:rPr lang="en-US" altLang="zh-CN" dirty="0"/>
              <a:t>MCDC/RACC (≈ ACC): linear growth (practical)</a:t>
            </a:r>
          </a:p>
          <a:p>
            <a:pPr lvl="2"/>
            <a:r>
              <a:rPr lang="en-US" altLang="zh-CN" dirty="0"/>
              <a:t>MCDC/RACC often needs ~ n + 1 tests (in many cases) to 2n tests</a:t>
            </a:r>
          </a:p>
          <a:p>
            <a:pPr lvl="2"/>
            <a:r>
              <a:rPr lang="en-US" altLang="zh-CN" dirty="0"/>
              <a:t>ACC typically stays within ~ n to 2n tests</a:t>
            </a:r>
          </a:p>
          <a:p>
            <a:r>
              <a:rPr lang="en-US" altLang="zh-CN" dirty="0"/>
              <a:t>Logic Coverage is not optional, it is required for certification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58734CE-7EDA-42E9-A3B2-FABBBBA0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76CF6B-98B7-407E-B371-58066DCC3AB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304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24C7E-2595-4747-A9BB-AD7BBA62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F53E93-E7BB-4295-919D-1DC64F489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we learned – semantic logic coverage</a:t>
            </a:r>
          </a:p>
          <a:p>
            <a:pPr lvl="1"/>
            <a:r>
              <a:rPr lang="en-US" altLang="zh-CN" dirty="0"/>
              <a:t>PC/CC/CoC: cover truth values and combinations</a:t>
            </a:r>
          </a:p>
          <a:p>
            <a:pPr lvl="1"/>
            <a:r>
              <a:rPr lang="en-US" altLang="zh-CN" dirty="0"/>
              <a:t>ACC (GACC/RACC/CACC): capture how each clause affects the predicate</a:t>
            </a:r>
          </a:p>
          <a:p>
            <a:r>
              <a:rPr lang="en-US" altLang="zh-CN" dirty="0"/>
              <a:t>Covering values is not enough, we must test whether each condition actually influences the outcome </a:t>
            </a:r>
          </a:p>
          <a:p>
            <a:r>
              <a:rPr lang="en-US" altLang="zh-CN" dirty="0"/>
              <a:t>Practical Guidance:</a:t>
            </a:r>
          </a:p>
          <a:p>
            <a:pPr lvl="1"/>
            <a:r>
              <a:rPr lang="en-US" altLang="zh-CN" dirty="0"/>
              <a:t>1 clause → PC is sufficient</a:t>
            </a:r>
          </a:p>
          <a:p>
            <a:pPr lvl="1"/>
            <a:r>
              <a:rPr lang="en-US" altLang="zh-CN" dirty="0"/>
              <a:t>2–3 clauses → CoC is feasible</a:t>
            </a:r>
          </a:p>
          <a:p>
            <a:pPr lvl="1"/>
            <a:r>
              <a:rPr lang="en-US" altLang="zh-CN" dirty="0"/>
              <a:t>Multiple clauses → ACC / MCDC</a:t>
            </a:r>
          </a:p>
          <a:p>
            <a:r>
              <a:rPr lang="en-US" altLang="zh-CN" dirty="0"/>
              <a:t>Logic coverage is not about more tests, but about testing meaningful behavior</a:t>
            </a:r>
          </a:p>
          <a:p>
            <a:pPr lvl="1"/>
            <a:r>
              <a:rPr lang="en-US" altLang="zh-CN" dirty="0"/>
              <a:t>Testing is not just about values, but about whether each condition matters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2BC153-4254-4363-97E6-D8F5C5F4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76CF6B-98B7-407E-B371-58066DCC3AB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823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D6237-3F8B-0038-B6EE-3D6FF0FE0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Next: From Logic Coverage to Test Construction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1505A5-3A77-033A-322F-49A77A5E1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When does a clause NOT matter? (Inactive Clause Coverage: GICC, RICC)</a:t>
            </a:r>
          </a:p>
          <a:p>
            <a:endParaRPr lang="en-US" altLang="zh-CN" dirty="0"/>
          </a:p>
          <a:p>
            <a:r>
              <a:rPr lang="en-US" altLang="zh-CN" dirty="0"/>
              <a:t>How to express coverage requirements using truth-table pairs (PC / CC / CoC / GACC / RACC / CACC / GICC / RICC)</a:t>
            </a:r>
          </a:p>
          <a:p>
            <a:endParaRPr lang="en-US" altLang="zh-CN" dirty="0"/>
          </a:p>
          <a:p>
            <a:r>
              <a:rPr lang="en-US" altLang="zh-CN" dirty="0"/>
              <a:t>How to compute when a clause determines a predicate (From criteria to systematic test construction)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01FF6E-A19C-47A8-C905-5EA33CF4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4099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11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2792</TotalTime>
  <Pages>49</Pages>
  <Words>2750</Words>
  <Application>Microsoft Office PowerPoint</Application>
  <PresentationFormat>宽屏</PresentationFormat>
  <Paragraphs>515</Paragraphs>
  <Slides>27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Gill Sans MT</vt:lpstr>
      <vt:lpstr>Arial</vt:lpstr>
      <vt:lpstr>Comic Sans MS</vt:lpstr>
      <vt:lpstr>Sylfaen</vt:lpstr>
      <vt:lpstr>Times New Roman</vt:lpstr>
      <vt:lpstr>Verdana</vt:lpstr>
      <vt:lpstr>Wingdings</vt:lpstr>
      <vt:lpstr>intro</vt:lpstr>
      <vt:lpstr>Chapter 4 Logic Coverage</vt:lpstr>
      <vt:lpstr>Ch. 4 : Logic Coverage</vt:lpstr>
      <vt:lpstr>Objectives</vt:lpstr>
      <vt:lpstr>Motivation</vt:lpstr>
      <vt:lpstr>From Graph Coverage to Logic Coverage</vt:lpstr>
      <vt:lpstr>Semantic Logic Coverage Criteria  (8.1)</vt:lpstr>
      <vt:lpstr>Logic Predicates and Clauses</vt:lpstr>
      <vt:lpstr>Example and Observations</vt:lpstr>
      <vt:lpstr>Predicate Coverage (PC)</vt:lpstr>
      <vt:lpstr>Limitations with PC</vt:lpstr>
      <vt:lpstr>Clause Coverage (CC)</vt:lpstr>
      <vt:lpstr>Limitations with CC</vt:lpstr>
      <vt:lpstr>Combinatorial Coverage（CoC）</vt:lpstr>
      <vt:lpstr>From Combinatorial Coverage to Efficient Testing</vt:lpstr>
      <vt:lpstr>Active Clauses (8.1.2)</vt:lpstr>
      <vt:lpstr>Determining Predicates</vt:lpstr>
      <vt:lpstr>Active Clause Coverage</vt:lpstr>
      <vt:lpstr>Resolving the Ambiguity in ACC</vt:lpstr>
      <vt:lpstr>General Active Clause Coverage</vt:lpstr>
      <vt:lpstr>Restricted Active Clause Coverage</vt:lpstr>
      <vt:lpstr>Correlated Active Clause Coverage</vt:lpstr>
      <vt:lpstr>CACC and RACC</vt:lpstr>
      <vt:lpstr>Comparison of ACC Variants</vt:lpstr>
      <vt:lpstr>Logic Criteria Subsumption</vt:lpstr>
      <vt:lpstr>Logic Coverage in Safety-Critical Systems</vt:lpstr>
      <vt:lpstr>Summary</vt:lpstr>
      <vt:lpstr>Next: From Logic Coverage to Test Construction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Logic Coverage</dc:title>
  <dc:creator>Jeff Offutt</dc:creator>
  <cp:lastModifiedBy>Yue Zhang</cp:lastModifiedBy>
  <cp:revision>429</cp:revision>
  <cp:lastPrinted>2026-04-28T01:24:12Z</cp:lastPrinted>
  <dcterms:created xsi:type="dcterms:W3CDTF">1996-06-15T03:21:08Z</dcterms:created>
  <dcterms:modified xsi:type="dcterms:W3CDTF">2026-04-28T04:14:27Z</dcterms:modified>
</cp:coreProperties>
</file>