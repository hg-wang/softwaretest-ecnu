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handoutMasterIdLst>
    <p:handoutMasterId r:id="rId45"/>
  </p:handoutMasterIdLst>
  <p:sldIdLst>
    <p:sldId id="468" r:id="rId2"/>
    <p:sldId id="478" r:id="rId3"/>
    <p:sldId id="429" r:id="rId4"/>
    <p:sldId id="430" r:id="rId5"/>
    <p:sldId id="446" r:id="rId6"/>
    <p:sldId id="431" r:id="rId7"/>
    <p:sldId id="447" r:id="rId8"/>
    <p:sldId id="443" r:id="rId9"/>
    <p:sldId id="444" r:id="rId10"/>
    <p:sldId id="449" r:id="rId11"/>
    <p:sldId id="445" r:id="rId12"/>
    <p:sldId id="433" r:id="rId13"/>
    <p:sldId id="434" r:id="rId14"/>
    <p:sldId id="435" r:id="rId15"/>
    <p:sldId id="436" r:id="rId16"/>
    <p:sldId id="437" r:id="rId17"/>
    <p:sldId id="438" r:id="rId18"/>
    <p:sldId id="439" r:id="rId19"/>
    <p:sldId id="463" r:id="rId20"/>
    <p:sldId id="469" r:id="rId21"/>
    <p:sldId id="450" r:id="rId22"/>
    <p:sldId id="460" r:id="rId23"/>
    <p:sldId id="451" r:id="rId24"/>
    <p:sldId id="461" r:id="rId25"/>
    <p:sldId id="453" r:id="rId26"/>
    <p:sldId id="462" r:id="rId27"/>
    <p:sldId id="476" r:id="rId28"/>
    <p:sldId id="471" r:id="rId29"/>
    <p:sldId id="477" r:id="rId30"/>
    <p:sldId id="455" r:id="rId31"/>
    <p:sldId id="336" r:id="rId32"/>
    <p:sldId id="399" r:id="rId33"/>
    <p:sldId id="400" r:id="rId34"/>
    <p:sldId id="401" r:id="rId35"/>
    <p:sldId id="412" r:id="rId36"/>
    <p:sldId id="413" r:id="rId37"/>
    <p:sldId id="414" r:id="rId38"/>
    <p:sldId id="406" r:id="rId39"/>
    <p:sldId id="407" r:id="rId40"/>
    <p:sldId id="408" r:id="rId41"/>
    <p:sldId id="409" r:id="rId42"/>
    <p:sldId id="411" r:id="rId43"/>
  </p:sldIdLst>
  <p:sldSz cx="12192000" cy="6858000"/>
  <p:notesSz cx="6881813" cy="9296400"/>
  <p:defaultTextStyle>
    <a:defPPr>
      <a:defRPr lang="en-US"/>
    </a:defPPr>
    <a:lvl1pPr algn="l" rtl="0" eaLnBrk="0" fontAlgn="base" hangingPunct="0">
      <a:spcBef>
        <a:spcPct val="0"/>
      </a:spcBef>
      <a:spcAft>
        <a:spcPct val="0"/>
      </a:spcAft>
      <a:defRPr sz="2000" b="1" kern="1200">
        <a:solidFill>
          <a:srgbClr val="FAFD00"/>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rgbClr val="FAFD00"/>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rgbClr val="FAFD00"/>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rgbClr val="FAFD00"/>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rgbClr val="FAFD00"/>
        </a:solidFill>
        <a:latin typeface="Times New Roman" pitchFamily="18" charset="0"/>
        <a:ea typeface="+mn-ea"/>
        <a:cs typeface="+mn-cs"/>
      </a:defRPr>
    </a:lvl5pPr>
    <a:lvl6pPr marL="2286000" algn="l" defTabSz="914400" rtl="0" eaLnBrk="1" latinLnBrk="0" hangingPunct="1">
      <a:defRPr sz="2000" b="1" kern="1200">
        <a:solidFill>
          <a:srgbClr val="FAFD00"/>
        </a:solidFill>
        <a:latin typeface="Times New Roman" pitchFamily="18" charset="0"/>
        <a:ea typeface="+mn-ea"/>
        <a:cs typeface="+mn-cs"/>
      </a:defRPr>
    </a:lvl6pPr>
    <a:lvl7pPr marL="2743200" algn="l" defTabSz="914400" rtl="0" eaLnBrk="1" latinLnBrk="0" hangingPunct="1">
      <a:defRPr sz="2000" b="1" kern="1200">
        <a:solidFill>
          <a:srgbClr val="FAFD00"/>
        </a:solidFill>
        <a:latin typeface="Times New Roman" pitchFamily="18" charset="0"/>
        <a:ea typeface="+mn-ea"/>
        <a:cs typeface="+mn-cs"/>
      </a:defRPr>
    </a:lvl7pPr>
    <a:lvl8pPr marL="3200400" algn="l" defTabSz="914400" rtl="0" eaLnBrk="1" latinLnBrk="0" hangingPunct="1">
      <a:defRPr sz="2000" b="1" kern="1200">
        <a:solidFill>
          <a:srgbClr val="FAFD00"/>
        </a:solidFill>
        <a:latin typeface="Times New Roman" pitchFamily="18" charset="0"/>
        <a:ea typeface="+mn-ea"/>
        <a:cs typeface="+mn-cs"/>
      </a:defRPr>
    </a:lvl8pPr>
    <a:lvl9pPr marL="3657600" algn="l" defTabSz="914400" rtl="0" eaLnBrk="1" latinLnBrk="0" hangingPunct="1">
      <a:defRPr sz="2000" b="1" kern="1200">
        <a:solidFill>
          <a:srgbClr val="FAFD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36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00"/>
    <a:srgbClr val="000000"/>
    <a:srgbClr val="00145A"/>
    <a:srgbClr val="001E5A"/>
    <a:srgbClr val="5F5F5F"/>
    <a:srgbClr val="6699FF"/>
    <a:srgbClr val="0066FF"/>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25" autoAdjust="0"/>
    <p:restoredTop sz="87458" autoAdjust="0"/>
  </p:normalViewPr>
  <p:slideViewPr>
    <p:cSldViewPr snapToGrid="0">
      <p:cViewPr varScale="1">
        <p:scale>
          <a:sx n="86" d="100"/>
          <a:sy n="86" d="100"/>
        </p:scale>
        <p:origin x="1504" y="56"/>
      </p:cViewPr>
      <p:guideLst>
        <p:guide orient="horz" pos="2280"/>
        <p:guide pos="369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2"/>
            <a:ext cx="2982418" cy="464205"/>
          </a:xfrm>
          <a:prstGeom prst="rect">
            <a:avLst/>
          </a:prstGeom>
          <a:noFill/>
          <a:ln w="9525">
            <a:noFill/>
            <a:miter lim="800000"/>
            <a:headEnd/>
            <a:tailEnd/>
          </a:ln>
          <a:effectLst/>
        </p:spPr>
        <p:txBody>
          <a:bodyPr vert="horz" wrap="square" lIns="19252" tIns="0" rIns="19252" bIns="0" numCol="1" anchor="t" anchorCtr="0" compatLnSpc="1">
            <a:prstTxWarp prst="textNoShape">
              <a:avLst/>
            </a:prstTxWarp>
          </a:bodyPr>
          <a:lstStyle>
            <a:lvl1pPr defTabSz="924104">
              <a:defRPr sz="1100" b="0" i="1"/>
            </a:lvl1pPr>
          </a:lstStyle>
          <a:p>
            <a:pPr>
              <a:defRPr/>
            </a:pPr>
            <a:endParaRPr lang="en-US"/>
          </a:p>
        </p:txBody>
      </p:sp>
      <p:sp>
        <p:nvSpPr>
          <p:cNvPr id="3075" name="Rectangle 3"/>
          <p:cNvSpPr>
            <a:spLocks noGrp="1" noChangeArrowheads="1"/>
          </p:cNvSpPr>
          <p:nvPr>
            <p:ph type="dt" sz="quarter" idx="1"/>
          </p:nvPr>
        </p:nvSpPr>
        <p:spPr bwMode="auto">
          <a:xfrm>
            <a:off x="3899397" y="2"/>
            <a:ext cx="2982417" cy="464205"/>
          </a:xfrm>
          <a:prstGeom prst="rect">
            <a:avLst/>
          </a:prstGeom>
          <a:noFill/>
          <a:ln w="9525">
            <a:noFill/>
            <a:miter lim="800000"/>
            <a:headEnd/>
            <a:tailEnd/>
          </a:ln>
          <a:effectLst/>
        </p:spPr>
        <p:txBody>
          <a:bodyPr vert="horz" wrap="square" lIns="19252" tIns="0" rIns="19252" bIns="0" numCol="1" anchor="t" anchorCtr="0" compatLnSpc="1">
            <a:prstTxWarp prst="textNoShape">
              <a:avLst/>
            </a:prstTxWarp>
          </a:bodyPr>
          <a:lstStyle>
            <a:lvl1pPr algn="r" defTabSz="924104">
              <a:defRPr sz="1100" b="0" i="1"/>
            </a:lvl1pPr>
          </a:lstStyle>
          <a:p>
            <a:pPr>
              <a:defRPr/>
            </a:pPr>
            <a:endParaRPr lang="en-US"/>
          </a:p>
        </p:txBody>
      </p:sp>
      <p:sp>
        <p:nvSpPr>
          <p:cNvPr id="3076" name="Rectangle 4"/>
          <p:cNvSpPr>
            <a:spLocks noGrp="1" noChangeArrowheads="1"/>
          </p:cNvSpPr>
          <p:nvPr>
            <p:ph type="ftr" sz="quarter" idx="2"/>
          </p:nvPr>
        </p:nvSpPr>
        <p:spPr bwMode="auto">
          <a:xfrm>
            <a:off x="0" y="8832196"/>
            <a:ext cx="2982418" cy="464205"/>
          </a:xfrm>
          <a:prstGeom prst="rect">
            <a:avLst/>
          </a:prstGeom>
          <a:noFill/>
          <a:ln w="9525">
            <a:noFill/>
            <a:miter lim="800000"/>
            <a:headEnd/>
            <a:tailEnd/>
          </a:ln>
          <a:effectLst/>
        </p:spPr>
        <p:txBody>
          <a:bodyPr vert="horz" wrap="square" lIns="19252" tIns="0" rIns="19252" bIns="0" numCol="1" anchor="b" anchorCtr="0" compatLnSpc="1">
            <a:prstTxWarp prst="textNoShape">
              <a:avLst/>
            </a:prstTxWarp>
          </a:bodyPr>
          <a:lstStyle>
            <a:lvl1pPr defTabSz="924104">
              <a:defRPr sz="1100" b="0" i="1"/>
            </a:lvl1pPr>
          </a:lstStyle>
          <a:p>
            <a:pPr>
              <a:defRPr/>
            </a:pPr>
            <a:endParaRPr lang="en-US"/>
          </a:p>
        </p:txBody>
      </p:sp>
      <p:sp>
        <p:nvSpPr>
          <p:cNvPr id="3077" name="Rectangle 5"/>
          <p:cNvSpPr>
            <a:spLocks noGrp="1" noChangeArrowheads="1"/>
          </p:cNvSpPr>
          <p:nvPr>
            <p:ph type="sldNum" sz="quarter" idx="3"/>
          </p:nvPr>
        </p:nvSpPr>
        <p:spPr bwMode="auto">
          <a:xfrm>
            <a:off x="3899397" y="8832196"/>
            <a:ext cx="2982417" cy="464205"/>
          </a:xfrm>
          <a:prstGeom prst="rect">
            <a:avLst/>
          </a:prstGeom>
          <a:noFill/>
          <a:ln w="9525">
            <a:noFill/>
            <a:miter lim="800000"/>
            <a:headEnd/>
            <a:tailEnd/>
          </a:ln>
          <a:effectLst/>
        </p:spPr>
        <p:txBody>
          <a:bodyPr vert="horz" wrap="square" lIns="19252" tIns="0" rIns="19252" bIns="0" numCol="1" anchor="b" anchorCtr="0" compatLnSpc="1">
            <a:prstTxWarp prst="textNoShape">
              <a:avLst/>
            </a:prstTxWarp>
          </a:bodyPr>
          <a:lstStyle>
            <a:lvl1pPr algn="r" defTabSz="924104">
              <a:defRPr sz="1100" b="0" i="1"/>
            </a:lvl1pPr>
          </a:lstStyle>
          <a:p>
            <a:pPr>
              <a:defRPr/>
            </a:pPr>
            <a:fld id="{EDDCBEC4-95F6-4ECC-9F85-953343CC41CF}" type="slidenum">
              <a:rPr lang="en-US"/>
              <a:pPr>
                <a:defRPr/>
              </a:pPr>
              <a:t>‹#›</a:t>
            </a:fld>
            <a:endParaRPr lang="en-US"/>
          </a:p>
        </p:txBody>
      </p:sp>
    </p:spTree>
    <p:extLst>
      <p:ext uri="{BB962C8B-B14F-4D97-AF65-F5344CB8AC3E}">
        <p14:creationId xmlns:p14="http://schemas.microsoft.com/office/powerpoint/2010/main" val="32581736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2"/>
            <a:ext cx="2982418" cy="464205"/>
          </a:xfrm>
          <a:prstGeom prst="rect">
            <a:avLst/>
          </a:prstGeom>
          <a:noFill/>
          <a:ln w="9525">
            <a:noFill/>
            <a:miter lim="800000"/>
            <a:headEnd/>
            <a:tailEnd/>
          </a:ln>
          <a:effectLst/>
        </p:spPr>
        <p:txBody>
          <a:bodyPr vert="horz" wrap="square" lIns="19252" tIns="0" rIns="19252" bIns="0" numCol="1" anchor="t" anchorCtr="0" compatLnSpc="1">
            <a:prstTxWarp prst="textNoShape">
              <a:avLst/>
            </a:prstTxWarp>
          </a:bodyPr>
          <a:lstStyle>
            <a:lvl1pPr defTabSz="924104">
              <a:defRPr sz="1100" b="0" i="1">
                <a:solidFill>
                  <a:schemeClr val="tx1"/>
                </a:solidFill>
              </a:defRPr>
            </a:lvl1pPr>
          </a:lstStyle>
          <a:p>
            <a:pPr>
              <a:defRPr/>
            </a:pPr>
            <a:endParaRPr lang="en-US"/>
          </a:p>
        </p:txBody>
      </p:sp>
      <p:sp>
        <p:nvSpPr>
          <p:cNvPr id="2051" name="Rectangle 3"/>
          <p:cNvSpPr>
            <a:spLocks noGrp="1" noChangeArrowheads="1"/>
          </p:cNvSpPr>
          <p:nvPr>
            <p:ph type="dt" idx="1"/>
          </p:nvPr>
        </p:nvSpPr>
        <p:spPr bwMode="auto">
          <a:xfrm>
            <a:off x="3899397" y="2"/>
            <a:ext cx="2982417" cy="464205"/>
          </a:xfrm>
          <a:prstGeom prst="rect">
            <a:avLst/>
          </a:prstGeom>
          <a:noFill/>
          <a:ln w="9525">
            <a:noFill/>
            <a:miter lim="800000"/>
            <a:headEnd/>
            <a:tailEnd/>
          </a:ln>
          <a:effectLst/>
        </p:spPr>
        <p:txBody>
          <a:bodyPr vert="horz" wrap="square" lIns="19252" tIns="0" rIns="19252" bIns="0" numCol="1" anchor="t" anchorCtr="0" compatLnSpc="1">
            <a:prstTxWarp prst="textNoShape">
              <a:avLst/>
            </a:prstTxWarp>
          </a:bodyPr>
          <a:lstStyle>
            <a:lvl1pPr algn="r" defTabSz="924104">
              <a:defRPr sz="1100" b="0" i="1">
                <a:solidFill>
                  <a:schemeClr val="tx1"/>
                </a:solidFill>
              </a:defRPr>
            </a:lvl1pPr>
          </a:lstStyle>
          <a:p>
            <a:pPr>
              <a:defRPr/>
            </a:pPr>
            <a:endParaRPr lang="en-US"/>
          </a:p>
        </p:txBody>
      </p:sp>
      <p:sp>
        <p:nvSpPr>
          <p:cNvPr id="2052" name="Rectangle 4"/>
          <p:cNvSpPr>
            <a:spLocks noGrp="1" noChangeArrowheads="1"/>
          </p:cNvSpPr>
          <p:nvPr>
            <p:ph type="ftr" sz="quarter" idx="4"/>
          </p:nvPr>
        </p:nvSpPr>
        <p:spPr bwMode="auto">
          <a:xfrm>
            <a:off x="0" y="8832196"/>
            <a:ext cx="2982418" cy="464205"/>
          </a:xfrm>
          <a:prstGeom prst="rect">
            <a:avLst/>
          </a:prstGeom>
          <a:noFill/>
          <a:ln w="9525">
            <a:noFill/>
            <a:miter lim="800000"/>
            <a:headEnd/>
            <a:tailEnd/>
          </a:ln>
          <a:effectLst/>
        </p:spPr>
        <p:txBody>
          <a:bodyPr vert="horz" wrap="square" lIns="19252" tIns="0" rIns="19252" bIns="0" numCol="1" anchor="b" anchorCtr="0" compatLnSpc="1">
            <a:prstTxWarp prst="textNoShape">
              <a:avLst/>
            </a:prstTxWarp>
          </a:bodyPr>
          <a:lstStyle>
            <a:lvl1pPr defTabSz="924104">
              <a:defRPr sz="1100" b="0" i="1">
                <a:solidFill>
                  <a:schemeClr val="tx1"/>
                </a:solidFill>
              </a:defRPr>
            </a:lvl1pPr>
          </a:lstStyle>
          <a:p>
            <a:pPr>
              <a:defRPr/>
            </a:pPr>
            <a:endParaRPr lang="en-US"/>
          </a:p>
        </p:txBody>
      </p:sp>
      <p:sp>
        <p:nvSpPr>
          <p:cNvPr id="2053" name="Rectangle 5"/>
          <p:cNvSpPr>
            <a:spLocks noGrp="1" noChangeArrowheads="1"/>
          </p:cNvSpPr>
          <p:nvPr>
            <p:ph type="sldNum" sz="quarter" idx="5"/>
          </p:nvPr>
        </p:nvSpPr>
        <p:spPr bwMode="auto">
          <a:xfrm>
            <a:off x="3899397" y="8832196"/>
            <a:ext cx="2982417" cy="464205"/>
          </a:xfrm>
          <a:prstGeom prst="rect">
            <a:avLst/>
          </a:prstGeom>
          <a:noFill/>
          <a:ln w="9525">
            <a:noFill/>
            <a:miter lim="800000"/>
            <a:headEnd/>
            <a:tailEnd/>
          </a:ln>
          <a:effectLst/>
        </p:spPr>
        <p:txBody>
          <a:bodyPr vert="horz" wrap="square" lIns="19252" tIns="0" rIns="19252" bIns="0" numCol="1" anchor="b" anchorCtr="0" compatLnSpc="1">
            <a:prstTxWarp prst="textNoShape">
              <a:avLst/>
            </a:prstTxWarp>
          </a:bodyPr>
          <a:lstStyle>
            <a:lvl1pPr algn="r" defTabSz="924104">
              <a:defRPr sz="1100" b="0" i="1">
                <a:solidFill>
                  <a:schemeClr val="tx1"/>
                </a:solidFill>
              </a:defRPr>
            </a:lvl1pPr>
          </a:lstStyle>
          <a:p>
            <a:pPr>
              <a:defRPr/>
            </a:pPr>
            <a:fld id="{15824474-4B81-4889-8ECF-AE8C11EE8328}" type="slidenum">
              <a:rPr lang="en-US"/>
              <a:pPr>
                <a:defRPr/>
              </a:pPr>
              <a:t>‹#›</a:t>
            </a:fld>
            <a:endParaRPr lang="en-US"/>
          </a:p>
        </p:txBody>
      </p:sp>
      <p:sp>
        <p:nvSpPr>
          <p:cNvPr id="2054" name="Rectangle 6"/>
          <p:cNvSpPr>
            <a:spLocks noGrp="1" noChangeArrowheads="1"/>
          </p:cNvSpPr>
          <p:nvPr>
            <p:ph type="body" sz="quarter" idx="3"/>
          </p:nvPr>
        </p:nvSpPr>
        <p:spPr bwMode="auto">
          <a:xfrm>
            <a:off x="915486" y="4414562"/>
            <a:ext cx="5050845" cy="4183995"/>
          </a:xfrm>
          <a:prstGeom prst="rect">
            <a:avLst/>
          </a:prstGeom>
          <a:noFill/>
          <a:ln w="9525">
            <a:noFill/>
            <a:miter lim="800000"/>
            <a:headEnd/>
            <a:tailEnd/>
          </a:ln>
          <a:effectLst/>
        </p:spPr>
        <p:txBody>
          <a:bodyPr vert="horz" wrap="square" lIns="93050" tIns="46527" rIns="93050" bIns="465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4039" name="Rectangle 7"/>
          <p:cNvSpPr>
            <a:spLocks noGrp="1" noRot="1" noChangeAspect="1" noChangeArrowheads="1" noTextEdit="1"/>
          </p:cNvSpPr>
          <p:nvPr>
            <p:ph type="sldImg" idx="2"/>
          </p:nvPr>
        </p:nvSpPr>
        <p:spPr bwMode="auto">
          <a:xfrm>
            <a:off x="347663" y="698500"/>
            <a:ext cx="6186487" cy="3481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6" name="Rectangle 8"/>
          <p:cNvSpPr>
            <a:spLocks noChangeArrowheads="1"/>
          </p:cNvSpPr>
          <p:nvPr/>
        </p:nvSpPr>
        <p:spPr bwMode="auto">
          <a:xfrm>
            <a:off x="3095922" y="8855253"/>
            <a:ext cx="742244" cy="278215"/>
          </a:xfrm>
          <a:prstGeom prst="rect">
            <a:avLst/>
          </a:prstGeom>
          <a:noFill/>
          <a:ln w="9525">
            <a:noFill/>
            <a:miter lim="800000"/>
            <a:headEnd/>
            <a:tailEnd/>
          </a:ln>
          <a:effectLst/>
        </p:spPr>
        <p:txBody>
          <a:bodyPr wrap="none" lIns="88239" tIns="44921" rIns="88239" bIns="44921">
            <a:spAutoFit/>
          </a:bodyPr>
          <a:lstStyle/>
          <a:p>
            <a:pPr algn="ctr" defTabSz="876795">
              <a:lnSpc>
                <a:spcPct val="90000"/>
              </a:lnSpc>
              <a:defRPr/>
            </a:pPr>
            <a:r>
              <a:rPr lang="en-US" sz="1300" b="0" dirty="0">
                <a:solidFill>
                  <a:schemeClr val="tx1"/>
                </a:solidFill>
              </a:rPr>
              <a:t>Page </a:t>
            </a:r>
            <a:fld id="{C4650599-843A-4FB9-AADE-7BC5C76BD1BE}" type="slidenum">
              <a:rPr lang="en-US" sz="1300" b="0">
                <a:solidFill>
                  <a:schemeClr val="tx1"/>
                </a:solidFill>
              </a:rPr>
              <a:pPr algn="ctr" defTabSz="876795">
                <a:lnSpc>
                  <a:spcPct val="90000"/>
                </a:lnSpc>
                <a:defRPr/>
              </a:pPr>
              <a:t>‹#›</a:t>
            </a:fld>
            <a:endParaRPr lang="en-US" sz="1300" b="0" dirty="0">
              <a:solidFill>
                <a:schemeClr val="tx1"/>
              </a:solidFill>
            </a:endParaRPr>
          </a:p>
        </p:txBody>
      </p:sp>
    </p:spTree>
    <p:extLst>
      <p:ext uri="{BB962C8B-B14F-4D97-AF65-F5344CB8AC3E}">
        <p14:creationId xmlns:p14="http://schemas.microsoft.com/office/powerpoint/2010/main" val="4083992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347663" y="698500"/>
            <a:ext cx="6186487" cy="3481388"/>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8F40E670-6213-4653-A4E7-F854BEF84772}" type="slidenum">
              <a:rPr lang="en-US" altLang="en-US" sz="1100" b="0">
                <a:solidFill>
                  <a:schemeClr val="tx1"/>
                </a:solidFill>
              </a:rPr>
              <a:pPr/>
              <a:t>1</a:t>
            </a:fld>
            <a:endParaRPr lang="en-US" altLang="en-US" sz="1100" b="0">
              <a:solidFill>
                <a:schemeClr val="tx1"/>
              </a:solidFill>
            </a:endParaRPr>
          </a:p>
        </p:txBody>
      </p:sp>
    </p:spTree>
    <p:extLst>
      <p:ext uri="{BB962C8B-B14F-4D97-AF65-F5344CB8AC3E}">
        <p14:creationId xmlns:p14="http://schemas.microsoft.com/office/powerpoint/2010/main" val="3320643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xfrm>
            <a:off x="347663" y="698500"/>
            <a:ext cx="6186487" cy="3481388"/>
          </a:xfrm>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363C5168-9AB1-4682-97F2-D3179FB11CE2}" type="slidenum">
              <a:rPr lang="en-US" altLang="en-US" sz="1100" b="0">
                <a:solidFill>
                  <a:schemeClr val="tx1"/>
                </a:solidFill>
              </a:rPr>
              <a:pPr/>
              <a:t>3</a:t>
            </a:fld>
            <a:endParaRPr lang="en-US" altLang="en-US" sz="1100" b="0">
              <a:solidFill>
                <a:schemeClr val="tx1"/>
              </a:solidFill>
            </a:endParaRPr>
          </a:p>
        </p:txBody>
      </p:sp>
    </p:spTree>
    <p:extLst>
      <p:ext uri="{BB962C8B-B14F-4D97-AF65-F5344CB8AC3E}">
        <p14:creationId xmlns:p14="http://schemas.microsoft.com/office/powerpoint/2010/main" val="3076736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xfrm>
            <a:off x="347663" y="698500"/>
            <a:ext cx="6186487" cy="3481388"/>
          </a:xfrm>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4AABBF74-574E-44C5-852B-5ED1BC9BD531}" type="slidenum">
              <a:rPr lang="en-US" altLang="en-US" sz="1100" b="0">
                <a:solidFill>
                  <a:schemeClr val="tx1"/>
                </a:solidFill>
              </a:rPr>
              <a:pPr/>
              <a:t>5</a:t>
            </a:fld>
            <a:endParaRPr lang="en-US" altLang="en-US" sz="1100" b="0">
              <a:solidFill>
                <a:schemeClr val="tx1"/>
              </a:solidFill>
            </a:endParaRPr>
          </a:p>
        </p:txBody>
      </p:sp>
    </p:spTree>
    <p:extLst>
      <p:ext uri="{BB962C8B-B14F-4D97-AF65-F5344CB8AC3E}">
        <p14:creationId xmlns:p14="http://schemas.microsoft.com/office/powerpoint/2010/main" val="670555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xfrm>
            <a:off x="347663" y="698500"/>
            <a:ext cx="6186487" cy="3481388"/>
          </a:xfrm>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8C28BA80-1B1C-4783-AAC1-F8821795EE3A}" type="slidenum">
              <a:rPr lang="en-US" altLang="en-US" sz="1100" b="0">
                <a:solidFill>
                  <a:schemeClr val="tx1"/>
                </a:solidFill>
              </a:rPr>
              <a:pPr/>
              <a:t>6</a:t>
            </a:fld>
            <a:endParaRPr lang="en-US" altLang="en-US" sz="1100" b="0">
              <a:solidFill>
                <a:schemeClr val="tx1"/>
              </a:solidFill>
            </a:endParaRPr>
          </a:p>
        </p:txBody>
      </p:sp>
    </p:spTree>
    <p:extLst>
      <p:ext uri="{BB962C8B-B14F-4D97-AF65-F5344CB8AC3E}">
        <p14:creationId xmlns:p14="http://schemas.microsoft.com/office/powerpoint/2010/main" val="1945818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xfrm>
            <a:off x="347663" y="698500"/>
            <a:ext cx="6186487" cy="3481388"/>
          </a:xfrm>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0BA99A3C-D1AF-44B5-902D-0FC5FB5B8E2C}" type="slidenum">
              <a:rPr lang="en-US" altLang="en-US" sz="1100" b="0">
                <a:solidFill>
                  <a:schemeClr val="tx1"/>
                </a:solidFill>
              </a:rPr>
              <a:pPr/>
              <a:t>11</a:t>
            </a:fld>
            <a:endParaRPr lang="en-US" altLang="en-US" sz="1100" b="0">
              <a:solidFill>
                <a:schemeClr val="tx1"/>
              </a:solidFill>
            </a:endParaRPr>
          </a:p>
        </p:txBody>
      </p:sp>
    </p:spTree>
    <p:extLst>
      <p:ext uri="{BB962C8B-B14F-4D97-AF65-F5344CB8AC3E}">
        <p14:creationId xmlns:p14="http://schemas.microsoft.com/office/powerpoint/2010/main" val="2779574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xfrm>
            <a:off x="347663" y="698500"/>
            <a:ext cx="6186487" cy="3481388"/>
          </a:xfrm>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FACB8017-B0C8-4B8D-B6FF-56D29E7CE276}" type="slidenum">
              <a:rPr lang="en-US" altLang="en-US" sz="1100" b="0">
                <a:solidFill>
                  <a:schemeClr val="tx1"/>
                </a:solidFill>
              </a:rPr>
              <a:pPr/>
              <a:t>13</a:t>
            </a:fld>
            <a:endParaRPr lang="en-US" altLang="en-US" sz="1100" b="0">
              <a:solidFill>
                <a:schemeClr val="tx1"/>
              </a:solidFill>
            </a:endParaRPr>
          </a:p>
        </p:txBody>
      </p:sp>
    </p:spTree>
    <p:extLst>
      <p:ext uri="{BB962C8B-B14F-4D97-AF65-F5344CB8AC3E}">
        <p14:creationId xmlns:p14="http://schemas.microsoft.com/office/powerpoint/2010/main" val="2453968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xfrm>
            <a:off x="347663" y="698500"/>
            <a:ext cx="6186487" cy="3481388"/>
          </a:xfrm>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SCR (Software Cost Reduction) is a tabular notation for specifying the </a:t>
            </a:r>
            <a:r>
              <a:rPr lang="en-US" altLang="zh-CN"/>
              <a:t>required behavior of </a:t>
            </a:r>
            <a:r>
              <a:rPr lang="en-US" altLang="zh-CN" dirty="0"/>
              <a:t>software systems</a:t>
            </a: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4D96109E-B144-43F7-A523-A7CB63EDDBCA}" type="slidenum">
              <a:rPr lang="en-US" altLang="en-US" sz="1100" b="0">
                <a:solidFill>
                  <a:schemeClr val="tx1"/>
                </a:solidFill>
              </a:rPr>
              <a:pPr/>
              <a:t>14</a:t>
            </a:fld>
            <a:endParaRPr lang="en-US" altLang="en-US" sz="1100" b="0">
              <a:solidFill>
                <a:schemeClr val="tx1"/>
              </a:solidFill>
            </a:endParaRPr>
          </a:p>
        </p:txBody>
      </p:sp>
    </p:spTree>
    <p:extLst>
      <p:ext uri="{BB962C8B-B14F-4D97-AF65-F5344CB8AC3E}">
        <p14:creationId xmlns:p14="http://schemas.microsoft.com/office/powerpoint/2010/main" val="1305385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347663" y="698500"/>
            <a:ext cx="6186487" cy="3481388"/>
          </a:xfrm>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D04BDD95-D82B-4935-8ED0-9BF7EC324A4F}" type="slidenum">
              <a:rPr lang="en-US" altLang="en-US" sz="1100" b="0">
                <a:solidFill>
                  <a:schemeClr val="tx1"/>
                </a:solidFill>
              </a:rPr>
              <a:pPr/>
              <a:t>15</a:t>
            </a:fld>
            <a:endParaRPr lang="en-US" altLang="en-US" sz="1100" b="0">
              <a:solidFill>
                <a:schemeClr val="tx1"/>
              </a:solidFill>
            </a:endParaRPr>
          </a:p>
        </p:txBody>
      </p:sp>
    </p:spTree>
    <p:extLst>
      <p:ext uri="{BB962C8B-B14F-4D97-AF65-F5344CB8AC3E}">
        <p14:creationId xmlns:p14="http://schemas.microsoft.com/office/powerpoint/2010/main" val="1638631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xfrm>
            <a:off x="347663" y="698500"/>
            <a:ext cx="6186487" cy="3481388"/>
          </a:xfrm>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0DD9B2D1-6873-4D17-B8B7-E1484094BCC9}" type="slidenum">
              <a:rPr lang="en-US" altLang="en-US" sz="1100" b="0">
                <a:solidFill>
                  <a:schemeClr val="tx1"/>
                </a:solidFill>
              </a:rPr>
              <a:pPr/>
              <a:t>17</a:t>
            </a:fld>
            <a:endParaRPr lang="en-US" altLang="en-US" sz="1100" b="0">
              <a:solidFill>
                <a:schemeClr val="tx1"/>
              </a:solidFill>
            </a:endParaRPr>
          </a:p>
        </p:txBody>
      </p:sp>
    </p:spTree>
    <p:extLst>
      <p:ext uri="{BB962C8B-B14F-4D97-AF65-F5344CB8AC3E}">
        <p14:creationId xmlns:p14="http://schemas.microsoft.com/office/powerpoint/2010/main" val="2078004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347663" y="698500"/>
            <a:ext cx="6186487" cy="3481388"/>
          </a:xfrm>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C3E31A8A-FA01-45AD-BD65-4F09E77E24B8}" type="slidenum">
              <a:rPr lang="en-US" altLang="en-US" sz="1100" b="0">
                <a:solidFill>
                  <a:schemeClr val="tx1"/>
                </a:solidFill>
              </a:rPr>
              <a:pPr/>
              <a:t>18</a:t>
            </a:fld>
            <a:endParaRPr lang="en-US" altLang="en-US" sz="1100" b="0">
              <a:solidFill>
                <a:schemeClr val="tx1"/>
              </a:solidFill>
            </a:endParaRPr>
          </a:p>
        </p:txBody>
      </p:sp>
    </p:spTree>
    <p:extLst>
      <p:ext uri="{BB962C8B-B14F-4D97-AF65-F5344CB8AC3E}">
        <p14:creationId xmlns:p14="http://schemas.microsoft.com/office/powerpoint/2010/main" val="3458787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347663" y="698500"/>
            <a:ext cx="6186487" cy="3481388"/>
          </a:xfrm>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5A98ACF7-B8B4-4E21-9AE3-D8E783B86803}" type="slidenum">
              <a:rPr lang="en-US" altLang="en-US" sz="1100" b="0">
                <a:solidFill>
                  <a:schemeClr val="tx1"/>
                </a:solidFill>
              </a:rPr>
              <a:pPr/>
              <a:t>19</a:t>
            </a:fld>
            <a:endParaRPr lang="en-US" altLang="en-US" sz="1100" b="0">
              <a:solidFill>
                <a:schemeClr val="tx1"/>
              </a:solidFill>
            </a:endParaRPr>
          </a:p>
        </p:txBody>
      </p:sp>
    </p:spTree>
    <p:extLst>
      <p:ext uri="{BB962C8B-B14F-4D97-AF65-F5344CB8AC3E}">
        <p14:creationId xmlns:p14="http://schemas.microsoft.com/office/powerpoint/2010/main" val="1169090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347663" y="698500"/>
            <a:ext cx="6186487" cy="3481388"/>
          </a:xfrm>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0D3D24D5-D3AB-4A4B-AD47-F2479B002E5C}" type="slidenum">
              <a:rPr lang="en-US" altLang="en-US" sz="1100" b="0">
                <a:solidFill>
                  <a:schemeClr val="tx1"/>
                </a:solidFill>
              </a:rPr>
              <a:pPr/>
              <a:t>20</a:t>
            </a:fld>
            <a:endParaRPr lang="en-US" altLang="en-US" sz="1100" b="0">
              <a:solidFill>
                <a:schemeClr val="tx1"/>
              </a:solidFill>
            </a:endParaRPr>
          </a:p>
        </p:txBody>
      </p:sp>
    </p:spTree>
    <p:extLst>
      <p:ext uri="{BB962C8B-B14F-4D97-AF65-F5344CB8AC3E}">
        <p14:creationId xmlns:p14="http://schemas.microsoft.com/office/powerpoint/2010/main" val="3429646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xfrm>
            <a:off x="347663" y="698500"/>
            <a:ext cx="6186487" cy="3481388"/>
          </a:xfrm>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4D1537A8-62B1-4E04-9700-CEDD3A30B3B0}" type="slidenum">
              <a:rPr lang="en-US" altLang="en-US" sz="1100" b="0">
                <a:solidFill>
                  <a:schemeClr val="tx1"/>
                </a:solidFill>
              </a:rPr>
              <a:pPr/>
              <a:t>21</a:t>
            </a:fld>
            <a:endParaRPr lang="en-US" altLang="en-US" sz="1100" b="0">
              <a:solidFill>
                <a:schemeClr val="tx1"/>
              </a:solidFill>
            </a:endParaRPr>
          </a:p>
        </p:txBody>
      </p:sp>
    </p:spTree>
    <p:extLst>
      <p:ext uri="{BB962C8B-B14F-4D97-AF65-F5344CB8AC3E}">
        <p14:creationId xmlns:p14="http://schemas.microsoft.com/office/powerpoint/2010/main" val="1223923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347663" y="698500"/>
            <a:ext cx="6186487" cy="3481388"/>
          </a:xfrm>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5CA40984-0C60-488B-8D7E-4816546C0C39}" type="slidenum">
              <a:rPr lang="en-US" altLang="en-US" sz="1100" b="0">
                <a:solidFill>
                  <a:schemeClr val="tx1"/>
                </a:solidFill>
              </a:rPr>
              <a:pPr/>
              <a:t>23</a:t>
            </a:fld>
            <a:endParaRPr lang="en-US" altLang="en-US" sz="1100" b="0">
              <a:solidFill>
                <a:schemeClr val="tx1"/>
              </a:solidFill>
            </a:endParaRPr>
          </a:p>
        </p:txBody>
      </p:sp>
    </p:spTree>
    <p:extLst>
      <p:ext uri="{BB962C8B-B14F-4D97-AF65-F5344CB8AC3E}">
        <p14:creationId xmlns:p14="http://schemas.microsoft.com/office/powerpoint/2010/main" val="3765207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347663" y="698500"/>
            <a:ext cx="6186487" cy="3481388"/>
          </a:xfrm>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1418F80E-0052-45AD-9A22-736419E2F0BB}" type="slidenum">
              <a:rPr lang="en-US" altLang="en-US" sz="1100" b="0">
                <a:solidFill>
                  <a:schemeClr val="tx1"/>
                </a:solidFill>
              </a:rPr>
              <a:pPr/>
              <a:t>24</a:t>
            </a:fld>
            <a:endParaRPr lang="en-US" altLang="en-US" sz="1100" b="0">
              <a:solidFill>
                <a:schemeClr val="tx1"/>
              </a:solidFill>
            </a:endParaRPr>
          </a:p>
        </p:txBody>
      </p:sp>
    </p:spTree>
    <p:extLst>
      <p:ext uri="{BB962C8B-B14F-4D97-AF65-F5344CB8AC3E}">
        <p14:creationId xmlns:p14="http://schemas.microsoft.com/office/powerpoint/2010/main" val="4117528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347663" y="698500"/>
            <a:ext cx="6186487" cy="3481388"/>
          </a:xfrm>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These next few slides do not match the book (edition 2), but we think it’s a better model.</a:t>
            </a: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61FC95B1-220A-45E6-A244-9C9E0261BE62}" type="slidenum">
              <a:rPr lang="en-US" altLang="en-US" sz="1100" b="0">
                <a:solidFill>
                  <a:schemeClr val="tx1"/>
                </a:solidFill>
              </a:rPr>
              <a:pPr/>
              <a:t>25</a:t>
            </a:fld>
            <a:endParaRPr lang="en-US" altLang="en-US" sz="1100" b="0">
              <a:solidFill>
                <a:schemeClr val="tx1"/>
              </a:solidFill>
            </a:endParaRPr>
          </a:p>
        </p:txBody>
      </p:sp>
    </p:spTree>
    <p:extLst>
      <p:ext uri="{BB962C8B-B14F-4D97-AF65-F5344CB8AC3E}">
        <p14:creationId xmlns:p14="http://schemas.microsoft.com/office/powerpoint/2010/main" val="3367103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7663" y="698500"/>
            <a:ext cx="6186487" cy="3481388"/>
          </a:xfrm>
        </p:spPr>
      </p:sp>
      <p:sp>
        <p:nvSpPr>
          <p:cNvPr id="3" name="Notes Placeholder 2"/>
          <p:cNvSpPr>
            <a:spLocks noGrp="1"/>
          </p:cNvSpPr>
          <p:nvPr>
            <p:ph type="body" idx="1"/>
          </p:nvPr>
        </p:nvSpPr>
        <p:spPr/>
        <p:txBody>
          <a:bodyPr/>
          <a:lstStyle/>
          <a:p>
            <a:r>
              <a:rPr lang="en-US" dirty="0"/>
              <a:t>This differs</a:t>
            </a:r>
            <a:r>
              <a:rPr lang="en-US" baseline="0" dirty="0"/>
              <a:t> from the book to give students two views of the same problem. Hierarchical FSMs are slightly more advanced, but probably more elegant for modeling </a:t>
            </a:r>
            <a:r>
              <a:rPr lang="en-US" baseline="0"/>
              <a:t>this example.</a:t>
            </a:r>
            <a:endParaRPr lang="en-US"/>
          </a:p>
        </p:txBody>
      </p:sp>
      <p:sp>
        <p:nvSpPr>
          <p:cNvPr id="4" name="Slide Number Placeholder 3"/>
          <p:cNvSpPr>
            <a:spLocks noGrp="1"/>
          </p:cNvSpPr>
          <p:nvPr>
            <p:ph type="sldNum" sz="quarter" idx="10"/>
          </p:nvPr>
        </p:nvSpPr>
        <p:spPr/>
        <p:txBody>
          <a:bodyPr/>
          <a:lstStyle/>
          <a:p>
            <a:pPr>
              <a:defRPr/>
            </a:pPr>
            <a:fld id="{15824474-4B81-4889-8ECF-AE8C11EE8328}" type="slidenum">
              <a:rPr lang="en-US" smtClean="0"/>
              <a:pPr>
                <a:defRPr/>
              </a:pPr>
              <a:t>29</a:t>
            </a:fld>
            <a:endParaRPr lang="en-US"/>
          </a:p>
        </p:txBody>
      </p:sp>
    </p:spTree>
    <p:extLst>
      <p:ext uri="{BB962C8B-B14F-4D97-AF65-F5344CB8AC3E}">
        <p14:creationId xmlns:p14="http://schemas.microsoft.com/office/powerpoint/2010/main" val="3235524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xfrm>
            <a:off x="347663" y="698500"/>
            <a:ext cx="6186487" cy="3481388"/>
          </a:xfrm>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18">
              <a:defRPr sz="1900" b="1">
                <a:solidFill>
                  <a:srgbClr val="FAFD00"/>
                </a:solidFill>
                <a:latin typeface="Times New Roman" pitchFamily="18" charset="0"/>
              </a:defRPr>
            </a:lvl1pPr>
            <a:lvl2pPr marL="710417" indent="-273238" defTabSz="921418">
              <a:defRPr sz="1900" b="1">
                <a:solidFill>
                  <a:srgbClr val="FAFD00"/>
                </a:solidFill>
                <a:latin typeface="Times New Roman" pitchFamily="18" charset="0"/>
              </a:defRPr>
            </a:lvl2pPr>
            <a:lvl3pPr marL="1092950" indent="-218590" defTabSz="921418">
              <a:defRPr sz="1900" b="1">
                <a:solidFill>
                  <a:srgbClr val="FAFD00"/>
                </a:solidFill>
                <a:latin typeface="Times New Roman" pitchFamily="18" charset="0"/>
              </a:defRPr>
            </a:lvl3pPr>
            <a:lvl4pPr marL="1530129" indent="-218590" defTabSz="921418">
              <a:defRPr sz="1900" b="1">
                <a:solidFill>
                  <a:srgbClr val="FAFD00"/>
                </a:solidFill>
                <a:latin typeface="Times New Roman" pitchFamily="18" charset="0"/>
              </a:defRPr>
            </a:lvl4pPr>
            <a:lvl5pPr marL="1967310" indent="-218590" defTabSz="921418">
              <a:defRPr sz="1900" b="1">
                <a:solidFill>
                  <a:srgbClr val="FAFD00"/>
                </a:solidFill>
                <a:latin typeface="Times New Roman" pitchFamily="18" charset="0"/>
              </a:defRPr>
            </a:lvl5pPr>
            <a:lvl6pPr marL="2404489" indent="-218590" defTabSz="921418" eaLnBrk="0" fontAlgn="base" hangingPunct="0">
              <a:spcBef>
                <a:spcPct val="0"/>
              </a:spcBef>
              <a:spcAft>
                <a:spcPct val="0"/>
              </a:spcAft>
              <a:defRPr sz="1900" b="1">
                <a:solidFill>
                  <a:srgbClr val="FAFD00"/>
                </a:solidFill>
                <a:latin typeface="Times New Roman" pitchFamily="18" charset="0"/>
              </a:defRPr>
            </a:lvl6pPr>
            <a:lvl7pPr marL="2841668" indent="-218590" defTabSz="921418" eaLnBrk="0" fontAlgn="base" hangingPunct="0">
              <a:spcBef>
                <a:spcPct val="0"/>
              </a:spcBef>
              <a:spcAft>
                <a:spcPct val="0"/>
              </a:spcAft>
              <a:defRPr sz="1900" b="1">
                <a:solidFill>
                  <a:srgbClr val="FAFD00"/>
                </a:solidFill>
                <a:latin typeface="Times New Roman" pitchFamily="18" charset="0"/>
              </a:defRPr>
            </a:lvl7pPr>
            <a:lvl8pPr marL="3278849" indent="-218590" defTabSz="921418" eaLnBrk="0" fontAlgn="base" hangingPunct="0">
              <a:spcBef>
                <a:spcPct val="0"/>
              </a:spcBef>
              <a:spcAft>
                <a:spcPct val="0"/>
              </a:spcAft>
              <a:defRPr sz="1900" b="1">
                <a:solidFill>
                  <a:srgbClr val="FAFD00"/>
                </a:solidFill>
                <a:latin typeface="Times New Roman" pitchFamily="18" charset="0"/>
              </a:defRPr>
            </a:lvl8pPr>
            <a:lvl9pPr marL="3716029" indent="-218590" defTabSz="921418" eaLnBrk="0" fontAlgn="base" hangingPunct="0">
              <a:spcBef>
                <a:spcPct val="0"/>
              </a:spcBef>
              <a:spcAft>
                <a:spcPct val="0"/>
              </a:spcAft>
              <a:defRPr sz="1900" b="1">
                <a:solidFill>
                  <a:srgbClr val="FAFD00"/>
                </a:solidFill>
                <a:latin typeface="Times New Roman" pitchFamily="18" charset="0"/>
              </a:defRPr>
            </a:lvl9pPr>
          </a:lstStyle>
          <a:p>
            <a:fld id="{710ACE41-DF85-4FBF-9CAB-1471CE3E04A3}" type="slidenum">
              <a:rPr lang="en-US" altLang="en-US" sz="1100" b="0">
                <a:solidFill>
                  <a:schemeClr val="tx1"/>
                </a:solidFill>
              </a:rPr>
              <a:pPr/>
              <a:t>30</a:t>
            </a:fld>
            <a:endParaRPr lang="en-US" altLang="en-US" sz="1100" b="0">
              <a:solidFill>
                <a:schemeClr val="tx1"/>
              </a:solidFill>
            </a:endParaRPr>
          </a:p>
        </p:txBody>
      </p:sp>
    </p:spTree>
    <p:extLst>
      <p:ext uri="{BB962C8B-B14F-4D97-AF65-F5344CB8AC3E}">
        <p14:creationId xmlns:p14="http://schemas.microsoft.com/office/powerpoint/2010/main" val="4002969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xfrm>
            <a:off x="347663" y="698500"/>
            <a:ext cx="6186487" cy="3481388"/>
          </a:xfrm>
          <a:ln/>
        </p:spPr>
      </p:sp>
      <p:sp>
        <p:nvSpPr>
          <p:cNvPr id="15363" name="Notes Placeholder 2"/>
          <p:cNvSpPr>
            <a:spLocks noGrp="1"/>
          </p:cNvSpPr>
          <p:nvPr>
            <p:ph type="body" idx="1"/>
          </p:nvPr>
        </p:nvSpPr>
        <p:spPr>
          <a:noFill/>
          <a:ln/>
        </p:spPr>
        <p:txBody>
          <a:bodyPr/>
          <a:lstStyle/>
          <a:p>
            <a:endParaRPr lang="en-US"/>
          </a:p>
        </p:txBody>
      </p:sp>
      <p:sp>
        <p:nvSpPr>
          <p:cNvPr id="15364" name="Slide Number Placeholder 3"/>
          <p:cNvSpPr>
            <a:spLocks noGrp="1"/>
          </p:cNvSpPr>
          <p:nvPr>
            <p:ph type="sldNum" sz="quarter" idx="5"/>
          </p:nvPr>
        </p:nvSpPr>
        <p:spPr>
          <a:noFill/>
        </p:spPr>
        <p:txBody>
          <a:bodyPr/>
          <a:lstStyle/>
          <a:p>
            <a:fld id="{540D635B-24C7-4A93-93EA-707DDAB9E7F1}" type="slidenum">
              <a:rPr lang="en-US" smtClean="0"/>
              <a:pPr/>
              <a:t>31</a:t>
            </a:fld>
            <a:endParaRPr lang="en-US"/>
          </a:p>
        </p:txBody>
      </p:sp>
    </p:spTree>
    <p:extLst>
      <p:ext uri="{BB962C8B-B14F-4D97-AF65-F5344CB8AC3E}">
        <p14:creationId xmlns:p14="http://schemas.microsoft.com/office/powerpoint/2010/main" val="661586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347663" y="698500"/>
            <a:ext cx="6186487" cy="3481388"/>
          </a:xfrm>
          <a:ln/>
        </p:spPr>
      </p:sp>
      <p:sp>
        <p:nvSpPr>
          <p:cNvPr id="16387" name="Notes Placeholder 2"/>
          <p:cNvSpPr>
            <a:spLocks noGrp="1"/>
          </p:cNvSpPr>
          <p:nvPr>
            <p:ph type="body" idx="1"/>
          </p:nvPr>
        </p:nvSpPr>
        <p:spPr>
          <a:noFill/>
          <a:ln/>
        </p:spPr>
        <p:txBody>
          <a:bodyPr/>
          <a:lstStyle/>
          <a:p>
            <a:endParaRPr lang="en-US"/>
          </a:p>
        </p:txBody>
      </p:sp>
      <p:sp>
        <p:nvSpPr>
          <p:cNvPr id="16388" name="Slide Number Placeholder 3"/>
          <p:cNvSpPr>
            <a:spLocks noGrp="1"/>
          </p:cNvSpPr>
          <p:nvPr>
            <p:ph type="sldNum" sz="quarter" idx="5"/>
          </p:nvPr>
        </p:nvSpPr>
        <p:spPr>
          <a:noFill/>
        </p:spPr>
        <p:txBody>
          <a:bodyPr/>
          <a:lstStyle/>
          <a:p>
            <a:fld id="{E06D9A45-40D6-4AD5-BEB0-E11E337DFE0F}" type="slidenum">
              <a:rPr lang="en-US" smtClean="0"/>
              <a:pPr/>
              <a:t>32</a:t>
            </a:fld>
            <a:endParaRPr lang="en-US"/>
          </a:p>
        </p:txBody>
      </p:sp>
    </p:spTree>
    <p:extLst>
      <p:ext uri="{BB962C8B-B14F-4D97-AF65-F5344CB8AC3E}">
        <p14:creationId xmlns:p14="http://schemas.microsoft.com/office/powerpoint/2010/main" val="1149163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xfrm>
            <a:off x="347663" y="698500"/>
            <a:ext cx="6186487" cy="3481388"/>
          </a:xfrm>
          <a:ln/>
        </p:spPr>
      </p:sp>
      <p:sp>
        <p:nvSpPr>
          <p:cNvPr id="17411" name="Notes Placeholder 2"/>
          <p:cNvSpPr>
            <a:spLocks noGrp="1"/>
          </p:cNvSpPr>
          <p:nvPr>
            <p:ph type="body" idx="1"/>
          </p:nvPr>
        </p:nvSpPr>
        <p:spPr>
          <a:noFill/>
          <a:ln/>
        </p:spPr>
        <p:txBody>
          <a:bodyPr/>
          <a:lstStyle/>
          <a:p>
            <a:endParaRPr lang="en-US"/>
          </a:p>
        </p:txBody>
      </p:sp>
      <p:sp>
        <p:nvSpPr>
          <p:cNvPr id="17412" name="Slide Number Placeholder 3"/>
          <p:cNvSpPr>
            <a:spLocks noGrp="1"/>
          </p:cNvSpPr>
          <p:nvPr>
            <p:ph type="sldNum" sz="quarter" idx="5"/>
          </p:nvPr>
        </p:nvSpPr>
        <p:spPr>
          <a:noFill/>
        </p:spPr>
        <p:txBody>
          <a:bodyPr/>
          <a:lstStyle/>
          <a:p>
            <a:fld id="{02A23011-DE0D-400B-8A82-F3B31166FB8B}" type="slidenum">
              <a:rPr lang="en-US" smtClean="0"/>
              <a:pPr/>
              <a:t>34</a:t>
            </a:fld>
            <a:endParaRPr lang="en-US"/>
          </a:p>
        </p:txBody>
      </p:sp>
    </p:spTree>
    <p:extLst>
      <p:ext uri="{BB962C8B-B14F-4D97-AF65-F5344CB8AC3E}">
        <p14:creationId xmlns:p14="http://schemas.microsoft.com/office/powerpoint/2010/main" val="4076245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xfrm>
            <a:off x="347663" y="698500"/>
            <a:ext cx="6186487" cy="3481388"/>
          </a:xfrm>
          <a:ln/>
        </p:spPr>
      </p:sp>
      <p:sp>
        <p:nvSpPr>
          <p:cNvPr id="21507" name="Notes Placeholder 2"/>
          <p:cNvSpPr>
            <a:spLocks noGrp="1"/>
          </p:cNvSpPr>
          <p:nvPr>
            <p:ph type="body" idx="1"/>
          </p:nvPr>
        </p:nvSpPr>
        <p:spPr>
          <a:noFill/>
          <a:ln/>
        </p:spPr>
        <p:txBody>
          <a:bodyPr/>
          <a:lstStyle/>
          <a:p>
            <a:r>
              <a:rPr lang="en-US" altLang="zh-CN" dirty="0"/>
              <a:t>Admonition:</a:t>
            </a:r>
            <a:r>
              <a:rPr lang="zh-CN" altLang="en-US"/>
              <a:t>告诫</a:t>
            </a:r>
            <a:endParaRPr lang="en-US"/>
          </a:p>
        </p:txBody>
      </p:sp>
      <p:sp>
        <p:nvSpPr>
          <p:cNvPr id="21508" name="Slide Number Placeholder 3"/>
          <p:cNvSpPr>
            <a:spLocks noGrp="1"/>
          </p:cNvSpPr>
          <p:nvPr>
            <p:ph type="sldNum" sz="quarter" idx="5"/>
          </p:nvPr>
        </p:nvSpPr>
        <p:spPr>
          <a:noFill/>
        </p:spPr>
        <p:txBody>
          <a:bodyPr/>
          <a:lstStyle/>
          <a:p>
            <a:fld id="{D31024CA-5DDE-4B46-9515-2A13784ED8B9}" type="slidenum">
              <a:rPr lang="en-US" smtClean="0"/>
              <a:pPr/>
              <a:t>38</a:t>
            </a:fld>
            <a:endParaRPr lang="en-US"/>
          </a:p>
        </p:txBody>
      </p:sp>
    </p:spTree>
    <p:extLst>
      <p:ext uri="{BB962C8B-B14F-4D97-AF65-F5344CB8AC3E}">
        <p14:creationId xmlns:p14="http://schemas.microsoft.com/office/powerpoint/2010/main" val="1350779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xfrm>
            <a:off x="347663" y="698500"/>
            <a:ext cx="6186487" cy="3481388"/>
          </a:xfrm>
          <a:ln/>
        </p:spPr>
      </p:sp>
      <p:sp>
        <p:nvSpPr>
          <p:cNvPr id="22531" name="Notes Placeholder 2"/>
          <p:cNvSpPr>
            <a:spLocks noGrp="1"/>
          </p:cNvSpPr>
          <p:nvPr>
            <p:ph type="body" idx="1"/>
          </p:nvPr>
        </p:nvSpPr>
        <p:spPr>
          <a:noFill/>
          <a:ln/>
        </p:spPr>
        <p:txBody>
          <a:bodyPr/>
          <a:lstStyle/>
          <a:p>
            <a:endParaRPr lang="en-US"/>
          </a:p>
        </p:txBody>
      </p:sp>
      <p:sp>
        <p:nvSpPr>
          <p:cNvPr id="22532" name="Slide Number Placeholder 3"/>
          <p:cNvSpPr>
            <a:spLocks noGrp="1"/>
          </p:cNvSpPr>
          <p:nvPr>
            <p:ph type="sldNum" sz="quarter" idx="5"/>
          </p:nvPr>
        </p:nvSpPr>
        <p:spPr>
          <a:noFill/>
        </p:spPr>
        <p:txBody>
          <a:bodyPr/>
          <a:lstStyle/>
          <a:p>
            <a:fld id="{D7F7C3C7-C646-401D-B207-87A6098A3FC4}" type="slidenum">
              <a:rPr lang="en-US" smtClean="0"/>
              <a:pPr/>
              <a:t>39</a:t>
            </a:fld>
            <a:endParaRPr lang="en-US"/>
          </a:p>
        </p:txBody>
      </p:sp>
    </p:spTree>
    <p:extLst>
      <p:ext uri="{BB962C8B-B14F-4D97-AF65-F5344CB8AC3E}">
        <p14:creationId xmlns:p14="http://schemas.microsoft.com/office/powerpoint/2010/main" val="41890258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347663" y="698500"/>
            <a:ext cx="6186487" cy="3481388"/>
          </a:xfrm>
          <a:ln/>
        </p:spPr>
      </p:sp>
      <p:sp>
        <p:nvSpPr>
          <p:cNvPr id="23555" name="Notes Placeholder 2"/>
          <p:cNvSpPr>
            <a:spLocks noGrp="1"/>
          </p:cNvSpPr>
          <p:nvPr>
            <p:ph type="body" idx="1"/>
          </p:nvPr>
        </p:nvSpPr>
        <p:spPr>
          <a:noFill/>
          <a:ln/>
        </p:spPr>
        <p:txBody>
          <a:bodyPr/>
          <a:lstStyle/>
          <a:p>
            <a:endParaRPr lang="en-US"/>
          </a:p>
        </p:txBody>
      </p:sp>
      <p:sp>
        <p:nvSpPr>
          <p:cNvPr id="23556" name="Slide Number Placeholder 3"/>
          <p:cNvSpPr>
            <a:spLocks noGrp="1"/>
          </p:cNvSpPr>
          <p:nvPr>
            <p:ph type="sldNum" sz="quarter" idx="5"/>
          </p:nvPr>
        </p:nvSpPr>
        <p:spPr>
          <a:noFill/>
        </p:spPr>
        <p:txBody>
          <a:bodyPr/>
          <a:lstStyle/>
          <a:p>
            <a:fld id="{703AB568-F253-4E3F-B2E7-A599F3D0CE59}" type="slidenum">
              <a:rPr lang="en-US" smtClean="0"/>
              <a:pPr/>
              <a:t>40</a:t>
            </a:fld>
            <a:endParaRPr lang="en-US"/>
          </a:p>
        </p:txBody>
      </p:sp>
    </p:spTree>
    <p:extLst>
      <p:ext uri="{BB962C8B-B14F-4D97-AF65-F5344CB8AC3E}">
        <p14:creationId xmlns:p14="http://schemas.microsoft.com/office/powerpoint/2010/main" val="3280920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xfrm>
            <a:off x="347663" y="698500"/>
            <a:ext cx="6186487" cy="3481388"/>
          </a:xfrm>
          <a:ln/>
        </p:spPr>
      </p:sp>
      <p:sp>
        <p:nvSpPr>
          <p:cNvPr id="24579" name="Notes Placeholder 2"/>
          <p:cNvSpPr>
            <a:spLocks noGrp="1"/>
          </p:cNvSpPr>
          <p:nvPr>
            <p:ph type="body" idx="1"/>
          </p:nvPr>
        </p:nvSpPr>
        <p:spPr>
          <a:noFill/>
          <a:ln/>
        </p:spPr>
        <p:txBody>
          <a:bodyPr/>
          <a:lstStyle/>
          <a:p>
            <a:endParaRPr lang="en-US"/>
          </a:p>
        </p:txBody>
      </p:sp>
      <p:sp>
        <p:nvSpPr>
          <p:cNvPr id="24580" name="Slide Number Placeholder 3"/>
          <p:cNvSpPr>
            <a:spLocks noGrp="1"/>
          </p:cNvSpPr>
          <p:nvPr>
            <p:ph type="sldNum" sz="quarter" idx="5"/>
          </p:nvPr>
        </p:nvSpPr>
        <p:spPr>
          <a:noFill/>
        </p:spPr>
        <p:txBody>
          <a:bodyPr/>
          <a:lstStyle/>
          <a:p>
            <a:fld id="{2332EEF1-A147-4E04-AEB8-80E81A03722E}" type="slidenum">
              <a:rPr lang="en-US" smtClean="0"/>
              <a:pPr/>
              <a:t>41</a:t>
            </a:fld>
            <a:endParaRPr lang="en-US"/>
          </a:p>
        </p:txBody>
      </p:sp>
    </p:spTree>
    <p:extLst>
      <p:ext uri="{BB962C8B-B14F-4D97-AF65-F5344CB8AC3E}">
        <p14:creationId xmlns:p14="http://schemas.microsoft.com/office/powerpoint/2010/main" val="3493826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2CB009AE-89CC-4665-9D30-801521254228}" type="slidenum">
              <a:rPr lang="en-US"/>
              <a:pPr>
                <a:defRPr/>
              </a:pPr>
              <a:t>‹#›</a:t>
            </a:fld>
            <a:endParaRPr lang="en-US"/>
          </a:p>
        </p:txBody>
      </p:sp>
    </p:spTree>
    <p:extLst>
      <p:ext uri="{BB962C8B-B14F-4D97-AF65-F5344CB8AC3E}">
        <p14:creationId xmlns:p14="http://schemas.microsoft.com/office/powerpoint/2010/main" val="298827731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6267" y="96839"/>
            <a:ext cx="11838517" cy="861105"/>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sz="900"/>
            </a:lvl1pPr>
          </a:lstStyle>
          <a:p>
            <a:pPr>
              <a:defRPr/>
            </a:pPr>
            <a:r>
              <a:rPr lang="en-US" altLang="zh-CN"/>
              <a:t>Introduction to Software Testing, edition 2  (Ch 07)</a:t>
            </a:r>
            <a:endParaRPr lang="en-US" dirty="0"/>
          </a:p>
        </p:txBody>
      </p:sp>
      <p:sp>
        <p:nvSpPr>
          <p:cNvPr id="5" name="Footer Placeholder 4"/>
          <p:cNvSpPr>
            <a:spLocks noGrp="1"/>
          </p:cNvSpPr>
          <p:nvPr>
            <p:ph type="ftr" sz="quarter" idx="11"/>
          </p:nvPr>
        </p:nvSpPr>
        <p:spPr/>
        <p:txBody>
          <a:bodyPr/>
          <a:lstStyle>
            <a:lvl1pPr>
              <a:defRPr sz="900"/>
            </a:lvl1pPr>
          </a:lstStyle>
          <a:p>
            <a:pPr>
              <a:defRPr/>
            </a:pPr>
            <a:r>
              <a:rPr lang="en-US"/>
              <a:t>© Ammann &amp; Offutt</a:t>
            </a:r>
          </a:p>
        </p:txBody>
      </p:sp>
      <p:sp>
        <p:nvSpPr>
          <p:cNvPr id="6" name="Slide Number Placeholder 5"/>
          <p:cNvSpPr>
            <a:spLocks noGrp="1"/>
          </p:cNvSpPr>
          <p:nvPr>
            <p:ph type="sldNum" sz="quarter" idx="12"/>
          </p:nvPr>
        </p:nvSpPr>
        <p:spPr/>
        <p:txBody>
          <a:bodyPr/>
          <a:lstStyle>
            <a:lvl1pPr>
              <a:defRPr sz="900"/>
            </a:lvl1pPr>
          </a:lstStyle>
          <a:p>
            <a:pPr>
              <a:defRPr/>
            </a:pPr>
            <a:fld id="{106C561A-138D-4822-ABE8-5DC9241D8533}" type="slidenum">
              <a:rPr lang="en-US"/>
              <a:pPr>
                <a:defRPr/>
              </a:pPr>
              <a:t>‹#›</a:t>
            </a:fld>
            <a:endParaRPr lang="en-US"/>
          </a:p>
        </p:txBody>
      </p:sp>
    </p:spTree>
    <p:extLst>
      <p:ext uri="{BB962C8B-B14F-4D97-AF65-F5344CB8AC3E}">
        <p14:creationId xmlns:p14="http://schemas.microsoft.com/office/powerpoint/2010/main" val="200200727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1910F7EE-E5AD-4288-9636-6E2A1C439C89}" type="slidenum">
              <a:rPr lang="en-US"/>
              <a:pPr>
                <a:defRPr/>
              </a:pPr>
              <a:t>‹#›</a:t>
            </a:fld>
            <a:endParaRPr lang="en-US"/>
          </a:p>
        </p:txBody>
      </p:sp>
    </p:spTree>
    <p:extLst>
      <p:ext uri="{BB962C8B-B14F-4D97-AF65-F5344CB8AC3E}">
        <p14:creationId xmlns:p14="http://schemas.microsoft.com/office/powerpoint/2010/main" val="2080571047"/>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4152" y="1085850"/>
            <a:ext cx="5810249" cy="5314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85850"/>
            <a:ext cx="5810251" cy="5314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6"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p:txBody>
          <a:bodyPr/>
          <a:lstStyle>
            <a:lvl1pPr>
              <a:defRPr/>
            </a:lvl1pPr>
          </a:lstStyle>
          <a:p>
            <a:pPr>
              <a:defRPr/>
            </a:pPr>
            <a:fld id="{6F100B60-60A6-4953-9D8E-6AC5A5462826}" type="slidenum">
              <a:rPr lang="en-US"/>
              <a:pPr>
                <a:defRPr/>
              </a:pPr>
              <a:t>‹#›</a:t>
            </a:fld>
            <a:endParaRPr lang="en-US"/>
          </a:p>
        </p:txBody>
      </p:sp>
    </p:spTree>
    <p:extLst>
      <p:ext uri="{BB962C8B-B14F-4D97-AF65-F5344CB8AC3E}">
        <p14:creationId xmlns:p14="http://schemas.microsoft.com/office/powerpoint/2010/main" val="230482627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8"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9" name="Rectangle 4"/>
          <p:cNvSpPr>
            <a:spLocks noGrp="1" noChangeArrowheads="1"/>
          </p:cNvSpPr>
          <p:nvPr>
            <p:ph type="sldNum" sz="quarter" idx="12"/>
          </p:nvPr>
        </p:nvSpPr>
        <p:spPr/>
        <p:txBody>
          <a:bodyPr/>
          <a:lstStyle>
            <a:lvl1pPr>
              <a:defRPr/>
            </a:lvl1pPr>
          </a:lstStyle>
          <a:p>
            <a:pPr>
              <a:defRPr/>
            </a:pPr>
            <a:fld id="{1665580E-EC7C-44D5-952F-88E83A816494}" type="slidenum">
              <a:rPr lang="en-US"/>
              <a:pPr>
                <a:defRPr/>
              </a:pPr>
              <a:t>‹#›</a:t>
            </a:fld>
            <a:endParaRPr lang="en-US"/>
          </a:p>
        </p:txBody>
      </p:sp>
    </p:spTree>
    <p:extLst>
      <p:ext uri="{BB962C8B-B14F-4D97-AF65-F5344CB8AC3E}">
        <p14:creationId xmlns:p14="http://schemas.microsoft.com/office/powerpoint/2010/main" val="425269693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4"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5" name="Rectangle 4"/>
          <p:cNvSpPr>
            <a:spLocks noGrp="1" noChangeArrowheads="1"/>
          </p:cNvSpPr>
          <p:nvPr>
            <p:ph type="sldNum" sz="quarter" idx="12"/>
          </p:nvPr>
        </p:nvSpPr>
        <p:spPr/>
        <p:txBody>
          <a:bodyPr/>
          <a:lstStyle>
            <a:lvl1pPr>
              <a:defRPr/>
            </a:lvl1pPr>
          </a:lstStyle>
          <a:p>
            <a:pPr>
              <a:defRPr/>
            </a:pPr>
            <a:fld id="{8BB25BB3-F2AA-4438-8A3B-B04F71E3A257}" type="slidenum">
              <a:rPr lang="en-US"/>
              <a:pPr>
                <a:defRPr/>
              </a:pPr>
              <a:t>‹#›</a:t>
            </a:fld>
            <a:endParaRPr lang="en-US"/>
          </a:p>
        </p:txBody>
      </p:sp>
    </p:spTree>
    <p:extLst>
      <p:ext uri="{BB962C8B-B14F-4D97-AF65-F5344CB8AC3E}">
        <p14:creationId xmlns:p14="http://schemas.microsoft.com/office/powerpoint/2010/main" val="167197633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3"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4" name="Rectangle 4"/>
          <p:cNvSpPr>
            <a:spLocks noGrp="1" noChangeArrowheads="1"/>
          </p:cNvSpPr>
          <p:nvPr>
            <p:ph type="sldNum" sz="quarter" idx="12"/>
          </p:nvPr>
        </p:nvSpPr>
        <p:spPr/>
        <p:txBody>
          <a:bodyPr/>
          <a:lstStyle>
            <a:lvl1pPr>
              <a:defRPr/>
            </a:lvl1pPr>
          </a:lstStyle>
          <a:p>
            <a:pPr>
              <a:defRPr/>
            </a:pPr>
            <a:fld id="{23F0AAE9-957E-478F-B76D-123FFE0ED0EC}" type="slidenum">
              <a:rPr lang="en-US"/>
              <a:pPr>
                <a:defRPr/>
              </a:pPr>
              <a:t>‹#›</a:t>
            </a:fld>
            <a:endParaRPr lang="en-US"/>
          </a:p>
        </p:txBody>
      </p:sp>
    </p:spTree>
    <p:extLst>
      <p:ext uri="{BB962C8B-B14F-4D97-AF65-F5344CB8AC3E}">
        <p14:creationId xmlns:p14="http://schemas.microsoft.com/office/powerpoint/2010/main" val="1001293471"/>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6"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p:txBody>
          <a:bodyPr/>
          <a:lstStyle>
            <a:lvl1pPr>
              <a:defRPr/>
            </a:lvl1pPr>
          </a:lstStyle>
          <a:p>
            <a:pPr>
              <a:defRPr/>
            </a:pPr>
            <a:fld id="{A88E2B46-098E-4BD8-AAD4-4EA091D6FFE3}" type="slidenum">
              <a:rPr lang="en-US"/>
              <a:pPr>
                <a:defRPr/>
              </a:pPr>
              <a:t>‹#›</a:t>
            </a:fld>
            <a:endParaRPr lang="en-US"/>
          </a:p>
        </p:txBody>
      </p:sp>
    </p:spTree>
    <p:extLst>
      <p:ext uri="{BB962C8B-B14F-4D97-AF65-F5344CB8AC3E}">
        <p14:creationId xmlns:p14="http://schemas.microsoft.com/office/powerpoint/2010/main" val="224300685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6"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p:txBody>
          <a:bodyPr/>
          <a:lstStyle>
            <a:lvl1pPr>
              <a:defRPr/>
            </a:lvl1pPr>
          </a:lstStyle>
          <a:p>
            <a:pPr>
              <a:defRPr/>
            </a:pPr>
            <a:fld id="{2815AA4C-46F4-44AC-8383-D6EF75ED740B}" type="slidenum">
              <a:rPr lang="en-US"/>
              <a:pPr>
                <a:defRPr/>
              </a:pPr>
              <a:t>‹#›</a:t>
            </a:fld>
            <a:endParaRPr lang="en-US"/>
          </a:p>
        </p:txBody>
      </p:sp>
    </p:spTree>
    <p:extLst>
      <p:ext uri="{BB962C8B-B14F-4D97-AF65-F5344CB8AC3E}">
        <p14:creationId xmlns:p14="http://schemas.microsoft.com/office/powerpoint/2010/main" val="230085818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140AB3A6-2E42-479A-8913-8FAB5DCE7CC2}" type="slidenum">
              <a:rPr lang="en-US"/>
              <a:pPr>
                <a:defRPr/>
              </a:pPr>
              <a:t>‹#›</a:t>
            </a:fld>
            <a:endParaRPr lang="en-US"/>
          </a:p>
        </p:txBody>
      </p:sp>
    </p:spTree>
    <p:extLst>
      <p:ext uri="{BB962C8B-B14F-4D97-AF65-F5344CB8AC3E}">
        <p14:creationId xmlns:p14="http://schemas.microsoft.com/office/powerpoint/2010/main" val="357623656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52984" y="96838"/>
            <a:ext cx="2954867" cy="6303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84152" y="96838"/>
            <a:ext cx="8665633" cy="6303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p:txBody>
          <a:bodyPr/>
          <a:lstStyle>
            <a:lvl1pPr>
              <a:defRPr/>
            </a:lvl1pPr>
          </a:lstStyle>
          <a:p>
            <a:pPr>
              <a:defRPr/>
            </a:pPr>
            <a:r>
              <a:rPr lang="en-US" altLang="zh-CN"/>
              <a:t>Introduction to Software Testing, edition 2  (Ch 07)</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08660B34-70B7-4AB0-82BF-31BEB5AD455F}" type="slidenum">
              <a:rPr lang="en-US"/>
              <a:pPr>
                <a:defRPr/>
              </a:pPr>
              <a:t>‹#›</a:t>
            </a:fld>
            <a:endParaRPr lang="en-US"/>
          </a:p>
        </p:txBody>
      </p:sp>
    </p:spTree>
    <p:extLst>
      <p:ext uri="{BB962C8B-B14F-4D97-AF65-F5344CB8AC3E}">
        <p14:creationId xmlns:p14="http://schemas.microsoft.com/office/powerpoint/2010/main" val="32780885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46275"/>
                <a:invGamma/>
              </a:schemeClr>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198968" y="6601723"/>
            <a:ext cx="4982633" cy="207065"/>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900" b="0">
                <a:solidFill>
                  <a:schemeClr val="tx1"/>
                </a:solidFill>
                <a:latin typeface="Arial" pitchFamily="34" charset="0"/>
                <a:cs typeface="Arial" pitchFamily="34" charset="0"/>
              </a:defRPr>
            </a:lvl1pPr>
          </a:lstStyle>
          <a:p>
            <a:pPr>
              <a:defRPr/>
            </a:pPr>
            <a:r>
              <a:rPr lang="en-US" altLang="zh-CN"/>
              <a:t>Introduction to Software Testing, edition 2  (Ch 07)</a:t>
            </a:r>
            <a:endParaRPr lang="en-US" dirty="0"/>
          </a:p>
        </p:txBody>
      </p:sp>
      <p:sp>
        <p:nvSpPr>
          <p:cNvPr id="1027" name="Rectangle 3"/>
          <p:cNvSpPr>
            <a:spLocks noGrp="1" noChangeArrowheads="1"/>
          </p:cNvSpPr>
          <p:nvPr>
            <p:ph type="ftr" sz="quarter" idx="3"/>
          </p:nvPr>
        </p:nvSpPr>
        <p:spPr bwMode="auto">
          <a:xfrm>
            <a:off x="5374217" y="6591869"/>
            <a:ext cx="3860800" cy="213744"/>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900" b="0">
                <a:solidFill>
                  <a:schemeClr val="tx1"/>
                </a:solidFill>
                <a:latin typeface="Arial" pitchFamily="34" charset="0"/>
                <a:cs typeface="Arial" pitchFamily="34" charset="0"/>
              </a:defRPr>
            </a:lvl1pPr>
          </a:lstStyle>
          <a:p>
            <a:pPr>
              <a:defRPr/>
            </a:pPr>
            <a:r>
              <a:rPr lang="en-US"/>
              <a:t>© Ammann &amp; Offutt</a:t>
            </a:r>
            <a:endParaRPr lang="en-US" dirty="0"/>
          </a:p>
        </p:txBody>
      </p:sp>
      <p:sp>
        <p:nvSpPr>
          <p:cNvPr id="1028" name="Rectangle 4"/>
          <p:cNvSpPr>
            <a:spLocks noGrp="1" noChangeArrowheads="1"/>
          </p:cNvSpPr>
          <p:nvPr>
            <p:ph type="sldNum" sz="quarter" idx="4"/>
          </p:nvPr>
        </p:nvSpPr>
        <p:spPr bwMode="auto">
          <a:xfrm>
            <a:off x="9423400" y="6607414"/>
            <a:ext cx="2540000" cy="220424"/>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900" b="0">
                <a:solidFill>
                  <a:schemeClr val="tx1"/>
                </a:solidFill>
                <a:latin typeface="Arial" pitchFamily="34" charset="0"/>
                <a:cs typeface="Arial" pitchFamily="34" charset="0"/>
              </a:defRPr>
            </a:lvl1pPr>
          </a:lstStyle>
          <a:p>
            <a:pPr>
              <a:defRPr/>
            </a:pPr>
            <a:fld id="{F179D784-E751-417E-82AC-5E25954728A3}" type="slidenum">
              <a:rPr lang="en-US" smtClean="0"/>
              <a:pPr>
                <a:defRPr/>
              </a:pPr>
              <a:t>‹#›</a:t>
            </a:fld>
            <a:endParaRPr lang="en-US" dirty="0"/>
          </a:p>
        </p:txBody>
      </p:sp>
      <p:sp>
        <p:nvSpPr>
          <p:cNvPr id="1029" name="Rectangle 5"/>
          <p:cNvSpPr>
            <a:spLocks noGrp="1" noChangeArrowheads="1"/>
          </p:cNvSpPr>
          <p:nvPr>
            <p:ph type="title"/>
          </p:nvPr>
        </p:nvSpPr>
        <p:spPr bwMode="auto">
          <a:xfrm>
            <a:off x="186267" y="96839"/>
            <a:ext cx="11838517"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dirty="0"/>
              <a:t>Click to edit Master title style</a:t>
            </a:r>
          </a:p>
        </p:txBody>
      </p:sp>
      <p:sp>
        <p:nvSpPr>
          <p:cNvPr id="1030" name="Rectangle 6"/>
          <p:cNvSpPr>
            <a:spLocks noGrp="1" noChangeArrowheads="1"/>
          </p:cNvSpPr>
          <p:nvPr>
            <p:ph type="body" idx="1"/>
          </p:nvPr>
        </p:nvSpPr>
        <p:spPr bwMode="auto">
          <a:xfrm>
            <a:off x="184151" y="955344"/>
            <a:ext cx="11823700" cy="56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dirty="0"/>
              <a:t>Click to edit Master text styles</a:t>
            </a:r>
          </a:p>
          <a:p>
            <a:pPr lvl="1"/>
            <a:r>
              <a:rPr lang="en-US" altLang="en-US" dirty="0"/>
              <a:t>Second level </a:t>
            </a:r>
          </a:p>
          <a:p>
            <a:pPr lvl="2"/>
            <a:r>
              <a:rPr lang="en-US" altLang="en-US" dirty="0"/>
              <a:t>Third level</a:t>
            </a:r>
          </a:p>
          <a:p>
            <a:pPr lvl="3"/>
            <a:r>
              <a:rPr lang="en-US" altLang="en-US" dirty="0"/>
              <a:t>Fourth level </a:t>
            </a:r>
          </a:p>
          <a:p>
            <a:pPr lvl="4"/>
            <a:r>
              <a:rPr lang="en-US" altLang="en-US" dirty="0"/>
              <a:t>Fifth level </a:t>
            </a:r>
          </a:p>
        </p:txBody>
      </p:sp>
      <p:sp>
        <p:nvSpPr>
          <p:cNvPr id="8" name="Line 10"/>
          <p:cNvSpPr>
            <a:spLocks noChangeShapeType="1"/>
          </p:cNvSpPr>
          <p:nvPr userDrawn="1"/>
        </p:nvSpPr>
        <p:spPr bwMode="auto">
          <a:xfrm>
            <a:off x="-1" y="729143"/>
            <a:ext cx="12158444" cy="0"/>
          </a:xfrm>
          <a:prstGeom prst="line">
            <a:avLst/>
          </a:prstGeom>
          <a:noFill/>
          <a:ln w="57150">
            <a:solidFill>
              <a:srgbClr val="009900"/>
            </a:solidFill>
            <a:round/>
            <a:headEnd/>
            <a:tailEnd/>
          </a:ln>
          <a:effectLst/>
        </p:spPr>
        <p:txBody>
          <a:bodyPr/>
          <a:lstStyle/>
          <a:p>
            <a:pPr>
              <a:defRPr/>
            </a:pPr>
            <a:endParaRPr lang="en-US" sz="2000"/>
          </a:p>
        </p:txBody>
      </p:sp>
    </p:spTree>
  </p:cSld>
  <p:clrMap bg1="dk2" tx1="lt1" bg2="dk1" tx2="lt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transition spd="med"/>
  <p:hf hdr="0" ftr="0" dt="0"/>
  <p:txStyles>
    <p:titleStyle>
      <a:lvl1pPr algn="ctr" rtl="0" eaLnBrk="0" fontAlgn="base" hangingPunct="0">
        <a:lnSpc>
          <a:spcPct val="90000"/>
        </a:lnSpc>
        <a:spcBef>
          <a:spcPct val="0"/>
        </a:spcBef>
        <a:spcAft>
          <a:spcPct val="0"/>
        </a:spcAft>
        <a:defRPr sz="3600" b="1">
          <a:solidFill>
            <a:schemeClr val="tx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defRPr>
      </a:lvl1pPr>
      <a:lvl2pPr algn="ctr" rtl="0" eaLnBrk="0" fontAlgn="base" hangingPunct="0">
        <a:lnSpc>
          <a:spcPct val="90000"/>
        </a:lnSpc>
        <a:spcBef>
          <a:spcPct val="0"/>
        </a:spcBef>
        <a:spcAft>
          <a:spcPct val="0"/>
        </a:spcAft>
        <a:defRPr sz="3600" b="1">
          <a:solidFill>
            <a:schemeClr val="tx2"/>
          </a:solidFill>
          <a:latin typeface="Times New Roman" pitchFamily="18" charset="0"/>
        </a:defRPr>
      </a:lvl2pPr>
      <a:lvl3pPr algn="ctr" rtl="0" eaLnBrk="0" fontAlgn="base" hangingPunct="0">
        <a:lnSpc>
          <a:spcPct val="90000"/>
        </a:lnSpc>
        <a:spcBef>
          <a:spcPct val="0"/>
        </a:spcBef>
        <a:spcAft>
          <a:spcPct val="0"/>
        </a:spcAft>
        <a:defRPr sz="3600" b="1">
          <a:solidFill>
            <a:schemeClr val="tx2"/>
          </a:solidFill>
          <a:latin typeface="Times New Roman" pitchFamily="18" charset="0"/>
        </a:defRPr>
      </a:lvl3pPr>
      <a:lvl4pPr algn="ctr" rtl="0" eaLnBrk="0" fontAlgn="base" hangingPunct="0">
        <a:lnSpc>
          <a:spcPct val="90000"/>
        </a:lnSpc>
        <a:spcBef>
          <a:spcPct val="0"/>
        </a:spcBef>
        <a:spcAft>
          <a:spcPct val="0"/>
        </a:spcAft>
        <a:defRPr sz="3600" b="1">
          <a:solidFill>
            <a:schemeClr val="tx2"/>
          </a:solidFill>
          <a:latin typeface="Times New Roman" pitchFamily="18" charset="0"/>
        </a:defRPr>
      </a:lvl4pPr>
      <a:lvl5pPr algn="ctr" rtl="0" eaLnBrk="0" fontAlgn="base" hangingPunct="0">
        <a:lnSpc>
          <a:spcPct val="90000"/>
        </a:lnSpc>
        <a:spcBef>
          <a:spcPct val="0"/>
        </a:spcBef>
        <a:spcAft>
          <a:spcPct val="0"/>
        </a:spcAft>
        <a:defRPr sz="3600" b="1">
          <a:solidFill>
            <a:schemeClr val="tx2"/>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p:titleStyle>
    <p:body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ctrTitle"/>
          </p:nvPr>
        </p:nvSpPr>
        <p:spPr/>
        <p:txBody>
          <a:bodyPr/>
          <a:lstStyle/>
          <a:p>
            <a:r>
              <a:rPr lang="en-US" altLang="zh-CN" dirty="0"/>
              <a:t>Chapter 2 Graph Coverage</a:t>
            </a:r>
            <a:endParaRPr lang="en-US" altLang="en-US" dirty="0"/>
          </a:p>
        </p:txBody>
      </p:sp>
      <p:sp>
        <p:nvSpPr>
          <p:cNvPr id="13315" name="Rectangle 5"/>
          <p:cNvSpPr>
            <a:spLocks noGrp="1" noChangeArrowheads="1"/>
          </p:cNvSpPr>
          <p:nvPr>
            <p:ph type="subTitle" idx="1"/>
          </p:nvPr>
        </p:nvSpPr>
        <p:spPr>
          <a:xfrm>
            <a:off x="2552700" y="3912326"/>
            <a:ext cx="7086600" cy="1752600"/>
          </a:xfrm>
        </p:spPr>
        <p:txBody>
          <a:bodyPr/>
          <a:lstStyle/>
          <a:p>
            <a:pPr>
              <a:lnSpc>
                <a:spcPct val="100000"/>
              </a:lnSpc>
              <a:spcBef>
                <a:spcPct val="0"/>
              </a:spcBef>
              <a:buSzTx/>
            </a:pPr>
            <a:r>
              <a:rPr lang="en-US" altLang="en-US" sz="3200" dirty="0"/>
              <a:t>3.5 Graph Coverage for Specifications</a:t>
            </a:r>
            <a:endParaRPr lang="en-US" altLang="en-US" b="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C397B-2289-49AC-A772-4F0F2503F154}"/>
              </a:ext>
            </a:extLst>
          </p:cNvPr>
          <p:cNvSpPr>
            <a:spLocks noGrp="1"/>
          </p:cNvSpPr>
          <p:nvPr>
            <p:ph type="title"/>
          </p:nvPr>
        </p:nvSpPr>
        <p:spPr/>
        <p:txBody>
          <a:bodyPr/>
          <a:lstStyle/>
          <a:p>
            <a:r>
              <a:rPr lang="zh-CN" altLang="en-US" dirty="0"/>
              <a:t>本节课程目标</a:t>
            </a:r>
          </a:p>
        </p:txBody>
      </p:sp>
      <p:sp>
        <p:nvSpPr>
          <p:cNvPr id="3" name="内容占位符 2">
            <a:extLst>
              <a:ext uri="{FF2B5EF4-FFF2-40B4-BE49-F238E27FC236}">
                <a16:creationId xmlns:a16="http://schemas.microsoft.com/office/drawing/2014/main" id="{EF215E6D-BDCB-4C89-BFB7-E0CF68710D23}"/>
              </a:ext>
            </a:extLst>
          </p:cNvPr>
          <p:cNvSpPr>
            <a:spLocks noGrp="1"/>
          </p:cNvSpPr>
          <p:nvPr>
            <p:ph idx="1"/>
          </p:nvPr>
        </p:nvSpPr>
        <p:spPr/>
        <p:txBody>
          <a:bodyPr/>
          <a:lstStyle/>
          <a:p>
            <a:r>
              <a:rPr lang="zh-CN" altLang="zh-CN" dirty="0"/>
              <a:t>明确针对顺序约束、状态机、用例图（活动图）进行图覆盖的思路，写出对应的测试需求和测试路径；</a:t>
            </a:r>
          </a:p>
          <a:p>
            <a:r>
              <a:rPr lang="zh-CN" altLang="zh-CN" dirty="0"/>
              <a:t>明确状态机的构造方法。</a:t>
            </a:r>
            <a:endParaRPr lang="zh-CN" altLang="en-US" dirty="0"/>
          </a:p>
        </p:txBody>
      </p:sp>
      <p:sp>
        <p:nvSpPr>
          <p:cNvPr id="4" name="灯片编号占位符 3">
            <a:extLst>
              <a:ext uri="{FF2B5EF4-FFF2-40B4-BE49-F238E27FC236}">
                <a16:creationId xmlns:a16="http://schemas.microsoft.com/office/drawing/2014/main" id="{2FCBA814-7CBC-44DD-86C9-F3C00200508A}"/>
              </a:ext>
            </a:extLst>
          </p:cNvPr>
          <p:cNvSpPr>
            <a:spLocks noGrp="1"/>
          </p:cNvSpPr>
          <p:nvPr>
            <p:ph type="sldNum" sz="quarter" idx="12"/>
          </p:nvPr>
        </p:nvSpPr>
        <p:spPr/>
        <p:txBody>
          <a:bodyPr/>
          <a:lstStyle/>
          <a:p>
            <a:pPr>
              <a:defRPr/>
            </a:pPr>
            <a:fld id="{106C561A-138D-4822-ABE8-5DC9241D8533}" type="slidenum">
              <a:rPr lang="en-US" smtClean="0"/>
              <a:pPr>
                <a:defRPr/>
              </a:pPr>
              <a:t>2</a:t>
            </a:fld>
            <a:endParaRPr lang="en-US"/>
          </a:p>
        </p:txBody>
      </p:sp>
    </p:spTree>
    <p:extLst>
      <p:ext uri="{BB962C8B-B14F-4D97-AF65-F5344CB8AC3E}">
        <p14:creationId xmlns:p14="http://schemas.microsoft.com/office/powerpoint/2010/main" val="150587376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4DC3096-7D6B-40F5-9220-785D9E6D6E16}" type="slidenum">
              <a:rPr lang="en-US" altLang="en-US" sz="900" b="0">
                <a:solidFill>
                  <a:schemeClr val="tx1"/>
                </a:solidFill>
              </a:rPr>
              <a:pPr/>
              <a:t>3</a:t>
            </a:fld>
            <a:endParaRPr lang="en-US" altLang="en-US" sz="900" b="0">
              <a:solidFill>
                <a:schemeClr val="tx1"/>
              </a:solidFill>
            </a:endParaRPr>
          </a:p>
        </p:txBody>
      </p:sp>
      <p:sp>
        <p:nvSpPr>
          <p:cNvPr id="14340" name="Rectangle 2"/>
          <p:cNvSpPr>
            <a:spLocks noGrp="1" noChangeArrowheads="1"/>
          </p:cNvSpPr>
          <p:nvPr>
            <p:ph type="title"/>
          </p:nvPr>
        </p:nvSpPr>
        <p:spPr/>
        <p:txBody>
          <a:bodyPr/>
          <a:lstStyle/>
          <a:p>
            <a:r>
              <a:rPr lang="en-US" altLang="en-US"/>
              <a:t>Design Specifications</a:t>
            </a:r>
          </a:p>
        </p:txBody>
      </p:sp>
      <p:sp>
        <p:nvSpPr>
          <p:cNvPr id="14341" name="Rectangle 3"/>
          <p:cNvSpPr>
            <a:spLocks noGrp="1" noChangeArrowheads="1"/>
          </p:cNvSpPr>
          <p:nvPr>
            <p:ph type="body" idx="1"/>
          </p:nvPr>
        </p:nvSpPr>
        <p:spPr/>
        <p:txBody>
          <a:bodyPr/>
          <a:lstStyle/>
          <a:p>
            <a:pPr marL="457200" indent="-457200"/>
            <a:r>
              <a:rPr lang="en-US" altLang="en-US" dirty="0"/>
              <a:t>A </a:t>
            </a:r>
            <a:r>
              <a:rPr lang="en-US" altLang="en-US" dirty="0">
                <a:solidFill>
                  <a:schemeClr val="tx2"/>
                </a:solidFill>
              </a:rPr>
              <a:t>design specification</a:t>
            </a:r>
            <a:r>
              <a:rPr lang="en-US" altLang="en-US" dirty="0"/>
              <a:t> describes aspects of </a:t>
            </a:r>
            <a:r>
              <a:rPr lang="en-US" altLang="en-US" dirty="0">
                <a:solidFill>
                  <a:schemeClr val="tx2"/>
                </a:solidFill>
              </a:rPr>
              <a:t>what </a:t>
            </a:r>
            <a:r>
              <a:rPr lang="en-US" altLang="en-US" dirty="0"/>
              <a:t>behavior software should exhibit</a:t>
            </a:r>
          </a:p>
          <a:p>
            <a:pPr marL="800100" lvl="1" indent="-342900"/>
            <a:endParaRPr lang="en-US" altLang="en-US" dirty="0"/>
          </a:p>
          <a:p>
            <a:pPr marL="457200" indent="-457200"/>
            <a:r>
              <a:rPr lang="en-US" altLang="en-US" dirty="0"/>
              <a:t>A design specification may or </a:t>
            </a:r>
            <a:r>
              <a:rPr lang="en-US" altLang="en-US" dirty="0">
                <a:solidFill>
                  <a:schemeClr val="tx2"/>
                </a:solidFill>
              </a:rPr>
              <a:t>may not reflect</a:t>
            </a:r>
            <a:r>
              <a:rPr lang="en-US" altLang="en-US" dirty="0"/>
              <a:t> the implementation</a:t>
            </a:r>
          </a:p>
          <a:p>
            <a:pPr marL="800100" lvl="1" indent="-342900"/>
            <a:r>
              <a:rPr lang="en-US" altLang="en-US" dirty="0">
                <a:solidFill>
                  <a:schemeClr val="tx2"/>
                </a:solidFill>
              </a:rPr>
              <a:t>More accurately</a:t>
            </a:r>
            <a:r>
              <a:rPr lang="en-US" altLang="en-US" dirty="0"/>
              <a:t> – the implementation may not exactly reflect the spec</a:t>
            </a:r>
          </a:p>
          <a:p>
            <a:pPr marL="800100" lvl="1" indent="-342900"/>
            <a:r>
              <a:rPr lang="en-US" altLang="en-US" dirty="0"/>
              <a:t>Design specifications are often called </a:t>
            </a:r>
            <a:r>
              <a:rPr lang="en-US" altLang="en-US" dirty="0">
                <a:solidFill>
                  <a:schemeClr val="tx2"/>
                </a:solidFill>
              </a:rPr>
              <a:t>models</a:t>
            </a:r>
            <a:r>
              <a:rPr lang="en-US" altLang="en-US" dirty="0"/>
              <a:t> of the software</a:t>
            </a:r>
          </a:p>
          <a:p>
            <a:pPr marL="1257300" lvl="2" indent="-342900"/>
            <a:endParaRPr lang="en-US" altLang="en-US" b="0" dirty="0"/>
          </a:p>
          <a:p>
            <a:pPr marL="457200" indent="-457200"/>
            <a:r>
              <a:rPr lang="en-US" altLang="en-US" dirty="0"/>
              <a:t>Two types of descriptions are used in this chapter</a:t>
            </a:r>
          </a:p>
          <a:p>
            <a:pPr marL="800100" lvl="1" indent="-342900">
              <a:buFontTx/>
              <a:buAutoNum type="arabicPeriod"/>
            </a:pPr>
            <a:r>
              <a:rPr lang="en-US" altLang="en-US" dirty="0">
                <a:solidFill>
                  <a:schemeClr val="tx2"/>
                </a:solidFill>
              </a:rPr>
              <a:t>Sequencing constraints</a:t>
            </a:r>
            <a:r>
              <a:rPr lang="en-US" altLang="en-US" dirty="0"/>
              <a:t> on class methods</a:t>
            </a:r>
          </a:p>
          <a:p>
            <a:pPr marL="800100" lvl="1" indent="-342900">
              <a:buFontTx/>
              <a:buAutoNum type="arabicPeriod"/>
            </a:pPr>
            <a:r>
              <a:rPr lang="en-US" altLang="en-US" dirty="0">
                <a:solidFill>
                  <a:schemeClr val="tx2"/>
                </a:solidFill>
              </a:rPr>
              <a:t>State behavior</a:t>
            </a:r>
            <a:r>
              <a:rPr lang="en-US" altLang="en-US" dirty="0"/>
              <a:t> descriptions of software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3709B3F-B052-4C07-BD65-F8E20D22BE83}" type="slidenum">
              <a:rPr lang="en-US" altLang="en-US" sz="900" b="0">
                <a:solidFill>
                  <a:schemeClr val="tx1"/>
                </a:solidFill>
              </a:rPr>
              <a:pPr/>
              <a:t>4</a:t>
            </a:fld>
            <a:endParaRPr lang="en-US" altLang="en-US" sz="900" b="0">
              <a:solidFill>
                <a:schemeClr val="tx1"/>
              </a:solidFill>
            </a:endParaRPr>
          </a:p>
        </p:txBody>
      </p:sp>
      <p:sp>
        <p:nvSpPr>
          <p:cNvPr id="15364" name="Rectangle 2"/>
          <p:cNvSpPr>
            <a:spLocks noGrp="1" noChangeArrowheads="1"/>
          </p:cNvSpPr>
          <p:nvPr>
            <p:ph type="title"/>
          </p:nvPr>
        </p:nvSpPr>
        <p:spPr/>
        <p:txBody>
          <a:bodyPr/>
          <a:lstStyle/>
          <a:p>
            <a:r>
              <a:rPr lang="en-US" altLang="en-US"/>
              <a:t>Sequencing Constraints</a:t>
            </a:r>
          </a:p>
        </p:txBody>
      </p:sp>
      <p:sp>
        <p:nvSpPr>
          <p:cNvPr id="15365" name="Rectangle 3"/>
          <p:cNvSpPr>
            <a:spLocks noGrp="1" noChangeArrowheads="1"/>
          </p:cNvSpPr>
          <p:nvPr>
            <p:ph type="body" idx="1"/>
          </p:nvPr>
        </p:nvSpPr>
        <p:spPr>
          <a:xfrm>
            <a:off x="1662114" y="719329"/>
            <a:ext cx="8867775" cy="2260728"/>
          </a:xfrm>
        </p:spPr>
        <p:txBody>
          <a:bodyPr/>
          <a:lstStyle/>
          <a:p>
            <a:pPr>
              <a:spcBef>
                <a:spcPts val="600"/>
              </a:spcBef>
            </a:pPr>
            <a:r>
              <a:rPr lang="en-US" altLang="zh-CN" b="0" dirty="0">
                <a:solidFill>
                  <a:schemeClr val="tx2"/>
                </a:solidFill>
                <a:ea typeface="宋体" pitchFamily="2" charset="-122"/>
              </a:rPr>
              <a:t>Sequencing constraints</a:t>
            </a:r>
            <a:r>
              <a:rPr lang="en-US" altLang="zh-CN" b="0" dirty="0">
                <a:ea typeface="宋体" pitchFamily="2" charset="-122"/>
              </a:rPr>
              <a:t> are </a:t>
            </a:r>
            <a:r>
              <a:rPr lang="en-US" altLang="zh-CN" b="0" dirty="0">
                <a:solidFill>
                  <a:schemeClr val="tx2"/>
                </a:solidFill>
                <a:ea typeface="宋体" pitchFamily="2" charset="-122"/>
              </a:rPr>
              <a:t>rules</a:t>
            </a:r>
            <a:r>
              <a:rPr lang="en-US" altLang="zh-CN" b="0" dirty="0">
                <a:ea typeface="宋体" pitchFamily="2" charset="-122"/>
              </a:rPr>
              <a:t> that impose constraints on the order in which methods may be called</a:t>
            </a:r>
          </a:p>
          <a:p>
            <a:pPr lvl="1">
              <a:spcBef>
                <a:spcPts val="600"/>
              </a:spcBef>
            </a:pPr>
            <a:r>
              <a:rPr lang="en-US" altLang="zh-CN" b="0" dirty="0">
                <a:ea typeface="宋体" pitchFamily="2" charset="-122"/>
              </a:rPr>
              <a:t>They can be encoded as preconditions or other specifications</a:t>
            </a:r>
          </a:p>
          <a:p>
            <a:pPr>
              <a:spcBef>
                <a:spcPts val="600"/>
              </a:spcBef>
            </a:pPr>
            <a:r>
              <a:rPr lang="en-US" altLang="zh-CN" b="0" dirty="0">
                <a:ea typeface="宋体" pitchFamily="2" charset="-122"/>
              </a:rPr>
              <a:t>Section 2.4 said that classes often have methods that do not call each other</a:t>
            </a:r>
            <a:endParaRPr lang="en-US" altLang="en-US" b="0" dirty="0"/>
          </a:p>
        </p:txBody>
      </p:sp>
      <p:grpSp>
        <p:nvGrpSpPr>
          <p:cNvPr id="2" name="Group 20"/>
          <p:cNvGrpSpPr>
            <a:grpSpLocks/>
          </p:cNvGrpSpPr>
          <p:nvPr/>
        </p:nvGrpSpPr>
        <p:grpSpPr bwMode="auto">
          <a:xfrm>
            <a:off x="1728789" y="3232469"/>
            <a:ext cx="8626475" cy="1712913"/>
            <a:chOff x="129" y="1921"/>
            <a:chExt cx="5434" cy="1079"/>
          </a:xfrm>
        </p:grpSpPr>
        <p:sp>
          <p:nvSpPr>
            <p:cNvPr id="15369" name="Text Box 4"/>
            <p:cNvSpPr txBox="1">
              <a:spLocks noChangeArrowheads="1"/>
            </p:cNvSpPr>
            <p:nvPr/>
          </p:nvSpPr>
          <p:spPr bwMode="auto">
            <a:xfrm>
              <a:off x="129" y="1964"/>
              <a:ext cx="2715" cy="834"/>
            </a:xfrm>
            <a:prstGeom prst="rect">
              <a:avLst/>
            </a:prstGeom>
            <a:solidFill>
              <a:srgbClr val="0066FF"/>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u="sng" dirty="0">
                  <a:solidFill>
                    <a:schemeClr val="tx1"/>
                  </a:solidFill>
                  <a:latin typeface="Helvetica" charset="0"/>
                </a:rPr>
                <a:t>Class stack</a:t>
              </a:r>
            </a:p>
            <a:p>
              <a:r>
                <a:rPr lang="en-US" altLang="en-US" dirty="0">
                  <a:solidFill>
                    <a:schemeClr val="tx1"/>
                  </a:solidFill>
                  <a:latin typeface="Helvetica" charset="0"/>
                </a:rPr>
                <a:t>public void push (Object o)</a:t>
              </a:r>
            </a:p>
            <a:p>
              <a:r>
                <a:rPr lang="en-US" altLang="en-US" dirty="0">
                  <a:solidFill>
                    <a:schemeClr val="tx1"/>
                  </a:solidFill>
                  <a:latin typeface="Helvetica" charset="0"/>
                </a:rPr>
                <a:t>public Object pop ( )</a:t>
              </a:r>
            </a:p>
            <a:p>
              <a:r>
                <a:rPr lang="en-US" altLang="en-US" dirty="0">
                  <a:solidFill>
                    <a:schemeClr val="tx1"/>
                  </a:solidFill>
                  <a:latin typeface="Helvetica" charset="0"/>
                </a:rPr>
                <a:t>public </a:t>
              </a:r>
              <a:r>
                <a:rPr lang="en-US" altLang="en-US" dirty="0" err="1">
                  <a:solidFill>
                    <a:schemeClr val="tx1"/>
                  </a:solidFill>
                  <a:latin typeface="Helvetica" charset="0"/>
                </a:rPr>
                <a:t>boolean</a:t>
              </a:r>
              <a:r>
                <a:rPr lang="en-US" altLang="en-US" dirty="0">
                  <a:solidFill>
                    <a:schemeClr val="tx1"/>
                  </a:solidFill>
                  <a:latin typeface="Helvetica" charset="0"/>
                </a:rPr>
                <a:t> </a:t>
              </a:r>
              <a:r>
                <a:rPr lang="en-US" altLang="en-US" dirty="0" err="1">
                  <a:solidFill>
                    <a:schemeClr val="tx1"/>
                  </a:solidFill>
                  <a:latin typeface="Helvetica" charset="0"/>
                </a:rPr>
                <a:t>isEmpty</a:t>
              </a:r>
              <a:r>
                <a:rPr lang="en-US" altLang="en-US" dirty="0">
                  <a:solidFill>
                    <a:schemeClr val="tx1"/>
                  </a:solidFill>
                  <a:latin typeface="Helvetica" charset="0"/>
                </a:rPr>
                <a:t> ( )</a:t>
              </a:r>
            </a:p>
          </p:txBody>
        </p:sp>
        <p:grpSp>
          <p:nvGrpSpPr>
            <p:cNvPr id="15370" name="Group 5"/>
            <p:cNvGrpSpPr>
              <a:grpSpLocks/>
            </p:cNvGrpSpPr>
            <p:nvPr/>
          </p:nvGrpSpPr>
          <p:grpSpPr bwMode="auto">
            <a:xfrm>
              <a:off x="2838" y="1921"/>
              <a:ext cx="2725" cy="1079"/>
              <a:chOff x="2838" y="1872"/>
              <a:chExt cx="2725" cy="1079"/>
            </a:xfrm>
          </p:grpSpPr>
          <p:grpSp>
            <p:nvGrpSpPr>
              <p:cNvPr id="15371" name="Group 6"/>
              <p:cNvGrpSpPr>
                <a:grpSpLocks/>
              </p:cNvGrpSpPr>
              <p:nvPr/>
            </p:nvGrpSpPr>
            <p:grpSpPr bwMode="auto">
              <a:xfrm>
                <a:off x="2838" y="2351"/>
                <a:ext cx="2725" cy="600"/>
                <a:chOff x="2896" y="2510"/>
                <a:chExt cx="2725" cy="600"/>
              </a:xfrm>
            </p:grpSpPr>
            <p:grpSp>
              <p:nvGrpSpPr>
                <p:cNvPr id="15373" name="Group 7"/>
                <p:cNvGrpSpPr>
                  <a:grpSpLocks/>
                </p:cNvGrpSpPr>
                <p:nvPr/>
              </p:nvGrpSpPr>
              <p:grpSpPr bwMode="auto">
                <a:xfrm>
                  <a:off x="3855" y="2510"/>
                  <a:ext cx="807" cy="600"/>
                  <a:chOff x="3221" y="2798"/>
                  <a:chExt cx="807" cy="600"/>
                </a:xfrm>
              </p:grpSpPr>
              <p:sp>
                <p:nvSpPr>
                  <p:cNvPr id="15380" name="Text Box 8"/>
                  <p:cNvSpPr txBox="1">
                    <a:spLocks noChangeArrowheads="1"/>
                  </p:cNvSpPr>
                  <p:nvPr/>
                </p:nvSpPr>
                <p:spPr bwMode="auto">
                  <a:xfrm>
                    <a:off x="3221" y="3140"/>
                    <a:ext cx="807" cy="258"/>
                  </a:xfrm>
                  <a:prstGeom prst="rect">
                    <a:avLst/>
                  </a:prstGeom>
                  <a:solidFill>
                    <a:srgbClr val="0066FF"/>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latin typeface="Helvetica" charset="0"/>
                      </a:rPr>
                      <a:t>pop</a:t>
                    </a:r>
                  </a:p>
                </p:txBody>
              </p:sp>
              <p:sp>
                <p:nvSpPr>
                  <p:cNvPr id="15381" name="Line 9"/>
                  <p:cNvSpPr>
                    <a:spLocks noChangeShapeType="1"/>
                  </p:cNvSpPr>
                  <p:nvPr/>
                </p:nvSpPr>
                <p:spPr bwMode="auto">
                  <a:xfrm>
                    <a:off x="3625" y="2798"/>
                    <a:ext cx="0" cy="32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5374" name="Group 10"/>
                <p:cNvGrpSpPr>
                  <a:grpSpLocks/>
                </p:cNvGrpSpPr>
                <p:nvPr/>
              </p:nvGrpSpPr>
              <p:grpSpPr bwMode="auto">
                <a:xfrm>
                  <a:off x="2896" y="2510"/>
                  <a:ext cx="807" cy="600"/>
                  <a:chOff x="2262" y="2798"/>
                  <a:chExt cx="807" cy="600"/>
                </a:xfrm>
              </p:grpSpPr>
              <p:sp>
                <p:nvSpPr>
                  <p:cNvPr id="15378" name="Text Box 11"/>
                  <p:cNvSpPr txBox="1">
                    <a:spLocks noChangeArrowheads="1"/>
                  </p:cNvSpPr>
                  <p:nvPr/>
                </p:nvSpPr>
                <p:spPr bwMode="auto">
                  <a:xfrm>
                    <a:off x="2262" y="3140"/>
                    <a:ext cx="807" cy="258"/>
                  </a:xfrm>
                  <a:prstGeom prst="rect">
                    <a:avLst/>
                  </a:prstGeom>
                  <a:solidFill>
                    <a:srgbClr val="0066FF"/>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dirty="0">
                        <a:solidFill>
                          <a:schemeClr val="tx1"/>
                        </a:solidFill>
                        <a:latin typeface="Helvetica" charset="0"/>
                      </a:rPr>
                      <a:t>push</a:t>
                    </a:r>
                  </a:p>
                </p:txBody>
              </p:sp>
              <p:sp>
                <p:nvSpPr>
                  <p:cNvPr id="15379" name="Line 12"/>
                  <p:cNvSpPr>
                    <a:spLocks noChangeShapeType="1"/>
                  </p:cNvSpPr>
                  <p:nvPr/>
                </p:nvSpPr>
                <p:spPr bwMode="auto">
                  <a:xfrm>
                    <a:off x="2666" y="2798"/>
                    <a:ext cx="0" cy="32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5375" name="Group 13"/>
                <p:cNvGrpSpPr>
                  <a:grpSpLocks/>
                </p:cNvGrpSpPr>
                <p:nvPr/>
              </p:nvGrpSpPr>
              <p:grpSpPr bwMode="auto">
                <a:xfrm>
                  <a:off x="4814" y="2510"/>
                  <a:ext cx="807" cy="600"/>
                  <a:chOff x="4180" y="2798"/>
                  <a:chExt cx="807" cy="600"/>
                </a:xfrm>
              </p:grpSpPr>
              <p:sp>
                <p:nvSpPr>
                  <p:cNvPr id="15376" name="Text Box 14"/>
                  <p:cNvSpPr txBox="1">
                    <a:spLocks noChangeArrowheads="1"/>
                  </p:cNvSpPr>
                  <p:nvPr/>
                </p:nvSpPr>
                <p:spPr bwMode="auto">
                  <a:xfrm>
                    <a:off x="4180" y="3140"/>
                    <a:ext cx="807" cy="258"/>
                  </a:xfrm>
                  <a:prstGeom prst="rect">
                    <a:avLst/>
                  </a:prstGeom>
                  <a:solidFill>
                    <a:srgbClr val="0066FF"/>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latin typeface="Helvetica" charset="0"/>
                      </a:rPr>
                      <a:t>isEmpty</a:t>
                    </a:r>
                  </a:p>
                </p:txBody>
              </p:sp>
              <p:sp>
                <p:nvSpPr>
                  <p:cNvPr id="15377" name="Line 15"/>
                  <p:cNvSpPr>
                    <a:spLocks noChangeShapeType="1"/>
                  </p:cNvSpPr>
                  <p:nvPr/>
                </p:nvSpPr>
                <p:spPr bwMode="auto">
                  <a:xfrm>
                    <a:off x="4584" y="2798"/>
                    <a:ext cx="0" cy="324"/>
                  </a:xfrm>
                  <a:prstGeom prst="line">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grpSp>
          </p:grpSp>
          <p:sp>
            <p:nvSpPr>
              <p:cNvPr id="15372" name="AutoShape 16"/>
              <p:cNvSpPr>
                <a:spLocks noChangeArrowheads="1"/>
              </p:cNvSpPr>
              <p:nvPr/>
            </p:nvSpPr>
            <p:spPr bwMode="auto">
              <a:xfrm>
                <a:off x="3084" y="1872"/>
                <a:ext cx="2233" cy="425"/>
              </a:xfrm>
              <a:prstGeom prst="cloudCallout">
                <a:avLst>
                  <a:gd name="adj1" fmla="val -23491"/>
                  <a:gd name="adj2" fmla="val 24352"/>
                </a:avLst>
              </a:prstGeom>
              <a:solidFill>
                <a:srgbClr val="0066FF"/>
              </a:solidFill>
              <a:ln w="12700">
                <a:solidFill>
                  <a:schemeClr val="tx1"/>
                </a:solidFill>
                <a:round/>
                <a:headEnd type="none" w="sm" len="sm"/>
                <a:tailEnd type="none" w="sm" len="sm"/>
              </a:ln>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 ? ?</a:t>
                </a:r>
              </a:p>
            </p:txBody>
          </p:sp>
        </p:grpSp>
      </p:grpSp>
      <p:sp>
        <p:nvSpPr>
          <p:cNvPr id="260113" name="Rectangle 17"/>
          <p:cNvSpPr>
            <a:spLocks noChangeArrowheads="1"/>
          </p:cNvSpPr>
          <p:nvPr/>
        </p:nvSpPr>
        <p:spPr bwMode="auto">
          <a:xfrm>
            <a:off x="1662114" y="4974337"/>
            <a:ext cx="8867775"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80000"/>
              </a:lnSpc>
              <a:spcBef>
                <a:spcPts val="600"/>
              </a:spcBef>
              <a:buSzPct val="85000"/>
              <a:buFontTx/>
              <a:buChar char="•"/>
            </a:pPr>
            <a:r>
              <a:rPr lang="en-US" altLang="zh-CN" sz="2800" b="0" dirty="0">
                <a:solidFill>
                  <a:schemeClr val="tx1"/>
                </a:solidFill>
                <a:latin typeface="Gill Sans MT" panose="020B0502020104020203" pitchFamily="34" charset="0"/>
                <a:ea typeface="宋体" pitchFamily="2" charset="-122"/>
              </a:rPr>
              <a:t>Tests can be created for these classes as </a:t>
            </a:r>
            <a:r>
              <a:rPr lang="en-US" altLang="zh-CN" sz="2800" b="0" dirty="0">
                <a:solidFill>
                  <a:schemeClr val="tx2"/>
                </a:solidFill>
                <a:latin typeface="Gill Sans MT" panose="020B0502020104020203" pitchFamily="34" charset="0"/>
                <a:ea typeface="宋体" pitchFamily="2" charset="-122"/>
              </a:rPr>
              <a:t>sequences of method calls</a:t>
            </a:r>
          </a:p>
          <a:p>
            <a:pPr>
              <a:lnSpc>
                <a:spcPct val="80000"/>
              </a:lnSpc>
              <a:spcBef>
                <a:spcPts val="600"/>
              </a:spcBef>
              <a:buSzPct val="85000"/>
              <a:buFontTx/>
              <a:buChar char="•"/>
            </a:pPr>
            <a:r>
              <a:rPr lang="en-US" altLang="zh-CN" sz="2800" b="0" dirty="0">
                <a:solidFill>
                  <a:schemeClr val="tx2"/>
                </a:solidFill>
                <a:latin typeface="Gill Sans MT" panose="020B0502020104020203" pitchFamily="34" charset="0"/>
                <a:ea typeface="宋体" pitchFamily="2" charset="-122"/>
              </a:rPr>
              <a:t>Sequencing constraints</a:t>
            </a:r>
            <a:r>
              <a:rPr lang="en-US" altLang="zh-CN" sz="2800" b="0" dirty="0">
                <a:solidFill>
                  <a:schemeClr val="tx1"/>
                </a:solidFill>
                <a:latin typeface="Gill Sans MT" panose="020B0502020104020203" pitchFamily="34" charset="0"/>
                <a:ea typeface="宋体" pitchFamily="2" charset="-122"/>
              </a:rPr>
              <a:t> give an easy and effective way to choose which sequences to use</a:t>
            </a:r>
            <a:endParaRPr lang="en-US" altLang="en-US" sz="2800" b="0" dirty="0">
              <a:solidFill>
                <a:schemeClr val="tx1"/>
              </a:solidFill>
              <a:latin typeface="Gill Sans MT" panose="020B0502020104020203"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0113">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601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1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0309D329-3409-4159-A8C1-442B63E7DB51}" type="slidenum">
              <a:rPr lang="en-US" altLang="en-US" sz="900" b="0">
                <a:solidFill>
                  <a:schemeClr val="tx1"/>
                </a:solidFill>
              </a:rPr>
              <a:pPr/>
              <a:t>5</a:t>
            </a:fld>
            <a:endParaRPr lang="en-US" altLang="en-US" sz="900" b="0">
              <a:solidFill>
                <a:schemeClr val="tx1"/>
              </a:solidFill>
            </a:endParaRPr>
          </a:p>
        </p:txBody>
      </p:sp>
      <p:sp>
        <p:nvSpPr>
          <p:cNvPr id="16388" name="Rectangle 2"/>
          <p:cNvSpPr>
            <a:spLocks noGrp="1" noChangeArrowheads="1"/>
          </p:cNvSpPr>
          <p:nvPr>
            <p:ph type="title"/>
          </p:nvPr>
        </p:nvSpPr>
        <p:spPr/>
        <p:txBody>
          <a:bodyPr/>
          <a:lstStyle/>
          <a:p>
            <a:r>
              <a:rPr lang="en-US" altLang="en-US"/>
              <a:t>Sequencing Constraints Overview</a:t>
            </a:r>
          </a:p>
        </p:txBody>
      </p:sp>
      <p:sp>
        <p:nvSpPr>
          <p:cNvPr id="16389" name="Rectangle 3"/>
          <p:cNvSpPr>
            <a:spLocks noGrp="1" noChangeArrowheads="1"/>
          </p:cNvSpPr>
          <p:nvPr>
            <p:ph type="body" idx="1"/>
          </p:nvPr>
        </p:nvSpPr>
        <p:spPr>
          <a:xfrm>
            <a:off x="1662114" y="1042989"/>
            <a:ext cx="8867775" cy="5318125"/>
          </a:xfrm>
        </p:spPr>
        <p:txBody>
          <a:bodyPr/>
          <a:lstStyle/>
          <a:p>
            <a:pPr>
              <a:lnSpc>
                <a:spcPct val="80000"/>
              </a:lnSpc>
            </a:pPr>
            <a:r>
              <a:rPr lang="en-US" altLang="en-US"/>
              <a:t>Sequencing constraints might be</a:t>
            </a:r>
          </a:p>
          <a:p>
            <a:pPr lvl="1">
              <a:lnSpc>
                <a:spcPct val="80000"/>
              </a:lnSpc>
            </a:pPr>
            <a:r>
              <a:rPr lang="en-US" altLang="en-US"/>
              <a:t>Expressed </a:t>
            </a:r>
            <a:r>
              <a:rPr lang="en-US" altLang="en-US">
                <a:solidFill>
                  <a:schemeClr val="tx2"/>
                </a:solidFill>
              </a:rPr>
              <a:t>explicitly</a:t>
            </a:r>
          </a:p>
          <a:p>
            <a:pPr lvl="1">
              <a:lnSpc>
                <a:spcPct val="80000"/>
              </a:lnSpc>
            </a:pPr>
            <a:r>
              <a:rPr lang="en-US" altLang="en-US"/>
              <a:t>Expressed </a:t>
            </a:r>
            <a:r>
              <a:rPr lang="en-US" altLang="en-US">
                <a:solidFill>
                  <a:schemeClr val="tx2"/>
                </a:solidFill>
              </a:rPr>
              <a:t>implicitly</a:t>
            </a:r>
          </a:p>
          <a:p>
            <a:pPr lvl="1">
              <a:lnSpc>
                <a:spcPct val="80000"/>
              </a:lnSpc>
            </a:pPr>
            <a:r>
              <a:rPr lang="en-US" altLang="en-US">
                <a:solidFill>
                  <a:schemeClr val="tx2"/>
                </a:solidFill>
              </a:rPr>
              <a:t>Not</a:t>
            </a:r>
            <a:r>
              <a:rPr lang="en-US" altLang="en-US"/>
              <a:t> expressed at all</a:t>
            </a:r>
          </a:p>
          <a:p>
            <a:pPr>
              <a:lnSpc>
                <a:spcPct val="80000"/>
              </a:lnSpc>
            </a:pPr>
            <a:r>
              <a:rPr lang="en-US" altLang="en-US"/>
              <a:t>Testers should </a:t>
            </a:r>
            <a:r>
              <a:rPr lang="en-US" altLang="en-US">
                <a:solidFill>
                  <a:schemeClr val="tx2"/>
                </a:solidFill>
              </a:rPr>
              <a:t>derive them</a:t>
            </a:r>
            <a:r>
              <a:rPr lang="en-US" altLang="en-US"/>
              <a:t> if they do not exist</a:t>
            </a:r>
          </a:p>
          <a:p>
            <a:pPr lvl="1">
              <a:lnSpc>
                <a:spcPct val="80000"/>
              </a:lnSpc>
            </a:pPr>
            <a:r>
              <a:rPr lang="en-US" altLang="en-US"/>
              <a:t>Look at existing design documents</a:t>
            </a:r>
          </a:p>
          <a:p>
            <a:pPr lvl="1">
              <a:lnSpc>
                <a:spcPct val="80000"/>
              </a:lnSpc>
            </a:pPr>
            <a:r>
              <a:rPr lang="en-US" altLang="en-US"/>
              <a:t>Look at requirements documents</a:t>
            </a:r>
          </a:p>
          <a:p>
            <a:pPr lvl="1">
              <a:lnSpc>
                <a:spcPct val="80000"/>
              </a:lnSpc>
            </a:pPr>
            <a:r>
              <a:rPr lang="en-US" altLang="en-US"/>
              <a:t>Ask the developers</a:t>
            </a:r>
          </a:p>
          <a:p>
            <a:pPr lvl="1">
              <a:lnSpc>
                <a:spcPct val="80000"/>
              </a:lnSpc>
            </a:pPr>
            <a:r>
              <a:rPr lang="en-US" altLang="en-US"/>
              <a:t>Last choice : Look at the implementation</a:t>
            </a:r>
          </a:p>
          <a:p>
            <a:pPr>
              <a:lnSpc>
                <a:spcPct val="80000"/>
              </a:lnSpc>
            </a:pPr>
            <a:r>
              <a:rPr lang="en-US" altLang="en-US"/>
              <a:t>If they don’t exist, expect to find </a:t>
            </a:r>
            <a:r>
              <a:rPr lang="en-US" altLang="en-US">
                <a:solidFill>
                  <a:schemeClr val="tx2"/>
                </a:solidFill>
              </a:rPr>
              <a:t>more</a:t>
            </a:r>
            <a:r>
              <a:rPr lang="en-US" altLang="en-US"/>
              <a:t> faults !</a:t>
            </a:r>
          </a:p>
          <a:p>
            <a:pPr>
              <a:lnSpc>
                <a:spcPct val="80000"/>
              </a:lnSpc>
            </a:pPr>
            <a:r>
              <a:rPr lang="en-US" altLang="en-US"/>
              <a:t>Share with designers </a:t>
            </a:r>
            <a:r>
              <a:rPr lang="en-US" altLang="en-US">
                <a:solidFill>
                  <a:schemeClr val="tx2"/>
                </a:solidFill>
              </a:rPr>
              <a:t>before</a:t>
            </a:r>
            <a:r>
              <a:rPr lang="en-US" altLang="en-US"/>
              <a:t> designing tests</a:t>
            </a:r>
          </a:p>
          <a:p>
            <a:pPr>
              <a:lnSpc>
                <a:spcPct val="80000"/>
              </a:lnSpc>
            </a:pPr>
            <a:r>
              <a:rPr lang="en-US" altLang="en-US"/>
              <a:t>Sequencing constraints </a:t>
            </a:r>
            <a:r>
              <a:rPr lang="en-US" altLang="en-US">
                <a:solidFill>
                  <a:schemeClr val="tx2"/>
                </a:solidFill>
              </a:rPr>
              <a:t>do not capture all behavior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ED47E5CF-F2C8-45B0-9474-85DA356CC944}" type="slidenum">
              <a:rPr lang="en-US" altLang="en-US" sz="900" b="0">
                <a:solidFill>
                  <a:schemeClr val="tx1"/>
                </a:solidFill>
              </a:rPr>
              <a:pPr/>
              <a:t>6</a:t>
            </a:fld>
            <a:endParaRPr lang="en-US" altLang="en-US" sz="900" b="0">
              <a:solidFill>
                <a:schemeClr val="tx1"/>
              </a:solidFill>
            </a:endParaRPr>
          </a:p>
        </p:txBody>
      </p:sp>
      <p:sp>
        <p:nvSpPr>
          <p:cNvPr id="17412" name="Rectangle 2"/>
          <p:cNvSpPr>
            <a:spLocks noGrp="1" noChangeArrowheads="1"/>
          </p:cNvSpPr>
          <p:nvPr>
            <p:ph type="title"/>
          </p:nvPr>
        </p:nvSpPr>
        <p:spPr/>
        <p:txBody>
          <a:bodyPr/>
          <a:lstStyle/>
          <a:p>
            <a:r>
              <a:rPr lang="en-US" altLang="en-US"/>
              <a:t>Queue Example</a:t>
            </a:r>
          </a:p>
        </p:txBody>
      </p:sp>
      <p:sp>
        <p:nvSpPr>
          <p:cNvPr id="17413" name="Rectangle 3"/>
          <p:cNvSpPr>
            <a:spLocks noGrp="1" noChangeArrowheads="1"/>
          </p:cNvSpPr>
          <p:nvPr>
            <p:ph type="body" idx="1"/>
          </p:nvPr>
        </p:nvSpPr>
        <p:spPr>
          <a:xfrm>
            <a:off x="1662114" y="3867151"/>
            <a:ext cx="8867775" cy="2551113"/>
          </a:xfrm>
        </p:spPr>
        <p:txBody>
          <a:bodyPr/>
          <a:lstStyle/>
          <a:p>
            <a:r>
              <a:rPr lang="en-US" altLang="en-US" dirty="0"/>
              <a:t>Sequencing constraints are </a:t>
            </a:r>
            <a:r>
              <a:rPr lang="en-US" altLang="en-US" dirty="0">
                <a:solidFill>
                  <a:schemeClr val="tx2"/>
                </a:solidFill>
              </a:rPr>
              <a:t>implicitly</a:t>
            </a:r>
            <a:r>
              <a:rPr lang="en-US" altLang="en-US" dirty="0"/>
              <a:t> embedded in the pre and </a:t>
            </a:r>
            <a:r>
              <a:rPr lang="en-US" altLang="en-US" dirty="0" err="1"/>
              <a:t>postconditions</a:t>
            </a:r>
            <a:endParaRPr lang="en-US" altLang="en-US" dirty="0"/>
          </a:p>
          <a:p>
            <a:pPr lvl="1"/>
            <a:r>
              <a:rPr lang="en-US" altLang="en-US" dirty="0" err="1">
                <a:latin typeface="Helvetica" charset="0"/>
              </a:rPr>
              <a:t>enQueue</a:t>
            </a:r>
            <a:r>
              <a:rPr lang="en-US" altLang="en-US" dirty="0">
                <a:latin typeface="Helvetica" charset="0"/>
              </a:rPr>
              <a:t> ()</a:t>
            </a:r>
            <a:r>
              <a:rPr lang="en-US" altLang="en-US" dirty="0"/>
              <a:t> must be called </a:t>
            </a:r>
            <a:r>
              <a:rPr lang="en-US" altLang="en-US" dirty="0">
                <a:solidFill>
                  <a:schemeClr val="tx2"/>
                </a:solidFill>
              </a:rPr>
              <a:t>before</a:t>
            </a:r>
            <a:r>
              <a:rPr lang="en-US" altLang="en-US" dirty="0"/>
              <a:t> </a:t>
            </a:r>
            <a:r>
              <a:rPr lang="en-US" altLang="en-US" dirty="0" err="1">
                <a:latin typeface="Helvetica" charset="0"/>
              </a:rPr>
              <a:t>deQueue</a:t>
            </a:r>
            <a:r>
              <a:rPr lang="en-US" altLang="en-US" dirty="0">
                <a:latin typeface="Helvetica" charset="0"/>
              </a:rPr>
              <a:t> ()</a:t>
            </a:r>
          </a:p>
          <a:p>
            <a:r>
              <a:rPr lang="en-US" altLang="en-US" dirty="0"/>
              <a:t>Does </a:t>
            </a:r>
            <a:r>
              <a:rPr lang="en-US" altLang="en-US" dirty="0">
                <a:solidFill>
                  <a:schemeClr val="tx2"/>
                </a:solidFill>
              </a:rPr>
              <a:t>not</a:t>
            </a:r>
            <a:r>
              <a:rPr lang="en-US" altLang="en-US" dirty="0"/>
              <a:t> include the requirement that we must have at least as many </a:t>
            </a:r>
            <a:r>
              <a:rPr lang="en-US" altLang="en-US" dirty="0" err="1"/>
              <a:t>enQueue</a:t>
            </a:r>
            <a:r>
              <a:rPr lang="en-US" altLang="en-US" dirty="0"/>
              <a:t> () calls as </a:t>
            </a:r>
            <a:r>
              <a:rPr lang="en-US" altLang="en-US" dirty="0" err="1"/>
              <a:t>deQueue</a:t>
            </a:r>
            <a:r>
              <a:rPr lang="en-US" altLang="en-US" dirty="0"/>
              <a:t> () calls</a:t>
            </a:r>
          </a:p>
          <a:p>
            <a:pPr lvl="1"/>
            <a:r>
              <a:rPr lang="en-US" altLang="en-US" dirty="0"/>
              <a:t>Can be handled by </a:t>
            </a:r>
            <a:r>
              <a:rPr lang="en-US" altLang="en-US" dirty="0">
                <a:solidFill>
                  <a:schemeClr val="tx2"/>
                </a:solidFill>
              </a:rPr>
              <a:t>state behavior</a:t>
            </a:r>
            <a:r>
              <a:rPr lang="en-US" altLang="en-US" dirty="0"/>
              <a:t> techniques</a:t>
            </a:r>
          </a:p>
        </p:txBody>
      </p:sp>
      <p:sp>
        <p:nvSpPr>
          <p:cNvPr id="17414" name="Text Box 4"/>
          <p:cNvSpPr txBox="1">
            <a:spLocks noChangeArrowheads="1"/>
          </p:cNvSpPr>
          <p:nvPr/>
        </p:nvSpPr>
        <p:spPr bwMode="auto">
          <a:xfrm>
            <a:off x="2138363" y="893764"/>
            <a:ext cx="7916862" cy="2840037"/>
          </a:xfrm>
          <a:prstGeom prst="rect">
            <a:avLst/>
          </a:prstGeom>
          <a:solidFill>
            <a:srgbClr val="0066FF"/>
          </a:solidFill>
          <a:ln w="9525">
            <a:solidFill>
              <a:schemeClr val="tx1"/>
            </a:solidFill>
            <a:miter lim="800000"/>
            <a:headEnd/>
            <a:tailEnd/>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400" dirty="0">
                <a:solidFill>
                  <a:schemeClr val="tx1"/>
                </a:solidFill>
                <a:latin typeface="Helvetica" charset="0"/>
                <a:ea typeface="楷体_GB2312" pitchFamily="49" charset="-122"/>
              </a:rPr>
              <a:t>public </a:t>
            </a:r>
            <a:r>
              <a:rPr kumimoji="1" lang="en-US" altLang="zh-CN" sz="2400" dirty="0" err="1">
                <a:solidFill>
                  <a:schemeClr val="tx1"/>
                </a:solidFill>
                <a:latin typeface="Helvetica" charset="0"/>
                <a:ea typeface="楷体_GB2312" pitchFamily="49" charset="-122"/>
              </a:rPr>
              <a:t>int</a:t>
            </a:r>
            <a:r>
              <a:rPr kumimoji="1" lang="en-US" altLang="zh-CN" sz="2400" dirty="0">
                <a:solidFill>
                  <a:schemeClr val="tx1"/>
                </a:solidFill>
                <a:latin typeface="Helvetica" charset="0"/>
                <a:ea typeface="楷体_GB2312" pitchFamily="49" charset="-122"/>
              </a:rPr>
              <a:t> </a:t>
            </a:r>
            <a:r>
              <a:rPr kumimoji="1" lang="en-US" altLang="zh-CN" sz="2400" dirty="0" err="1">
                <a:solidFill>
                  <a:schemeClr val="tx1"/>
                </a:solidFill>
                <a:latin typeface="Helvetica" charset="0"/>
                <a:ea typeface="楷体_GB2312" pitchFamily="49" charset="-122"/>
              </a:rPr>
              <a:t>deQueue</a:t>
            </a:r>
            <a:r>
              <a:rPr kumimoji="1" lang="en-US" altLang="zh-CN" sz="2400" dirty="0">
                <a:solidFill>
                  <a:schemeClr val="tx1"/>
                </a:solidFill>
                <a:latin typeface="Helvetica" charset="0"/>
                <a:ea typeface="楷体_GB2312" pitchFamily="49" charset="-122"/>
              </a:rPr>
              <a:t>()</a:t>
            </a:r>
            <a:br>
              <a:rPr kumimoji="1" lang="en-US" altLang="zh-CN" sz="2400" dirty="0">
                <a:solidFill>
                  <a:schemeClr val="tx1"/>
                </a:solidFill>
                <a:latin typeface="Helvetica" charset="0"/>
                <a:ea typeface="楷体_GB2312" pitchFamily="49" charset="-122"/>
              </a:rPr>
            </a:br>
            <a:r>
              <a:rPr kumimoji="1" lang="en-US" altLang="zh-CN" sz="2400" dirty="0">
                <a:solidFill>
                  <a:schemeClr val="tx1"/>
                </a:solidFill>
                <a:latin typeface="Helvetica" charset="0"/>
                <a:ea typeface="楷体_GB2312" pitchFamily="49" charset="-122"/>
              </a:rPr>
              <a:t>{</a:t>
            </a:r>
            <a:br>
              <a:rPr kumimoji="1" lang="en-US" altLang="zh-CN" sz="2400" dirty="0">
                <a:solidFill>
                  <a:schemeClr val="tx1"/>
                </a:solidFill>
                <a:latin typeface="Helvetica" charset="0"/>
                <a:ea typeface="楷体_GB2312" pitchFamily="49" charset="-122"/>
              </a:rPr>
            </a:br>
            <a:r>
              <a:rPr kumimoji="1" lang="en-US" altLang="zh-CN" sz="2400" dirty="0">
                <a:solidFill>
                  <a:schemeClr val="tx1"/>
                </a:solidFill>
                <a:latin typeface="Helvetica" charset="0"/>
                <a:ea typeface="楷体_GB2312" pitchFamily="49" charset="-122"/>
              </a:rPr>
              <a:t>   // Pre: At least one element must be on the queue.</a:t>
            </a:r>
            <a:br>
              <a:rPr kumimoji="1" lang="en-US" altLang="zh-CN" sz="2400" dirty="0">
                <a:solidFill>
                  <a:schemeClr val="tx1"/>
                </a:solidFill>
                <a:latin typeface="Helvetica" charset="0"/>
                <a:ea typeface="楷体_GB2312" pitchFamily="49" charset="-122"/>
              </a:rPr>
            </a:br>
            <a:r>
              <a:rPr kumimoji="1" lang="en-US" altLang="zh-CN" sz="2400" dirty="0">
                <a:solidFill>
                  <a:schemeClr val="tx1"/>
                </a:solidFill>
                <a:latin typeface="Helvetica" charset="0"/>
                <a:ea typeface="楷体_GB2312" pitchFamily="49" charset="-122"/>
              </a:rPr>
              <a:t>   … …</a:t>
            </a:r>
          </a:p>
          <a:p>
            <a:pPr eaLnBrk="1" hangingPunct="1">
              <a:spcBef>
                <a:spcPct val="50000"/>
              </a:spcBef>
            </a:pPr>
            <a:r>
              <a:rPr kumimoji="1" lang="en-US" altLang="zh-CN" sz="2400" dirty="0">
                <a:solidFill>
                  <a:schemeClr val="tx1"/>
                </a:solidFill>
                <a:latin typeface="Helvetica" charset="0"/>
                <a:ea typeface="楷体_GB2312" pitchFamily="49" charset="-122"/>
              </a:rPr>
              <a:t>public </a:t>
            </a:r>
            <a:r>
              <a:rPr kumimoji="1" lang="en-US" altLang="zh-CN" sz="2400" dirty="0" err="1">
                <a:solidFill>
                  <a:schemeClr val="tx1"/>
                </a:solidFill>
                <a:latin typeface="Helvetica" charset="0"/>
                <a:ea typeface="楷体_GB2312" pitchFamily="49" charset="-122"/>
              </a:rPr>
              <a:t>enQueue</a:t>
            </a:r>
            <a:r>
              <a:rPr kumimoji="1" lang="en-US" altLang="zh-CN" sz="2400" dirty="0">
                <a:solidFill>
                  <a:schemeClr val="tx1"/>
                </a:solidFill>
                <a:latin typeface="Helvetica" charset="0"/>
                <a:ea typeface="楷体_GB2312" pitchFamily="49" charset="-122"/>
              </a:rPr>
              <a:t> (</a:t>
            </a:r>
            <a:r>
              <a:rPr kumimoji="1" lang="en-US" altLang="zh-CN" sz="2400" dirty="0" err="1">
                <a:solidFill>
                  <a:schemeClr val="tx1"/>
                </a:solidFill>
                <a:latin typeface="Helvetica" charset="0"/>
                <a:ea typeface="楷体_GB2312" pitchFamily="49" charset="-122"/>
              </a:rPr>
              <a:t>int</a:t>
            </a:r>
            <a:r>
              <a:rPr kumimoji="1" lang="en-US" altLang="zh-CN" sz="2400" dirty="0">
                <a:solidFill>
                  <a:schemeClr val="tx1"/>
                </a:solidFill>
                <a:latin typeface="Helvetica" charset="0"/>
                <a:ea typeface="楷体_GB2312" pitchFamily="49" charset="-122"/>
              </a:rPr>
              <a:t> e)</a:t>
            </a:r>
            <a:br>
              <a:rPr kumimoji="1" lang="en-US" altLang="zh-CN" sz="2400" dirty="0">
                <a:solidFill>
                  <a:schemeClr val="tx1"/>
                </a:solidFill>
                <a:latin typeface="Helvetica" charset="0"/>
                <a:ea typeface="楷体_GB2312" pitchFamily="49" charset="-122"/>
              </a:rPr>
            </a:br>
            <a:r>
              <a:rPr kumimoji="1" lang="en-US" altLang="zh-CN" sz="2400" dirty="0">
                <a:solidFill>
                  <a:schemeClr val="tx1"/>
                </a:solidFill>
                <a:latin typeface="Helvetica" charset="0"/>
                <a:ea typeface="楷体_GB2312" pitchFamily="49" charset="-122"/>
              </a:rPr>
              <a:t>{</a:t>
            </a:r>
            <a:br>
              <a:rPr kumimoji="1" lang="en-US" altLang="zh-CN" sz="2400" dirty="0">
                <a:solidFill>
                  <a:schemeClr val="tx1"/>
                </a:solidFill>
                <a:latin typeface="Helvetica" charset="0"/>
                <a:ea typeface="楷体_GB2312" pitchFamily="49" charset="-122"/>
              </a:rPr>
            </a:br>
            <a:r>
              <a:rPr kumimoji="1" lang="en-US" altLang="zh-CN" sz="2400" dirty="0">
                <a:solidFill>
                  <a:schemeClr val="tx1"/>
                </a:solidFill>
                <a:latin typeface="Helvetica" charset="0"/>
                <a:ea typeface="楷体_GB2312" pitchFamily="49" charset="-122"/>
              </a:rPr>
              <a:t>   // Post: e is on the end of the queue.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A1BC235B-3ED8-41FE-AB0E-EAEEB9931C1E}" type="slidenum">
              <a:rPr lang="en-US" altLang="en-US" sz="900" b="0">
                <a:solidFill>
                  <a:schemeClr val="tx1"/>
                </a:solidFill>
              </a:rPr>
              <a:pPr/>
              <a:t>7</a:t>
            </a:fld>
            <a:endParaRPr lang="en-US" altLang="en-US" sz="900" b="0">
              <a:solidFill>
                <a:schemeClr val="tx1"/>
              </a:solidFill>
            </a:endParaRPr>
          </a:p>
        </p:txBody>
      </p:sp>
      <p:sp>
        <p:nvSpPr>
          <p:cNvPr id="18436" name="Rectangle 2"/>
          <p:cNvSpPr>
            <a:spLocks noGrp="1" noChangeArrowheads="1"/>
          </p:cNvSpPr>
          <p:nvPr>
            <p:ph type="title"/>
          </p:nvPr>
        </p:nvSpPr>
        <p:spPr/>
        <p:txBody>
          <a:bodyPr/>
          <a:lstStyle/>
          <a:p>
            <a:r>
              <a:rPr lang="en-US" altLang="en-US" dirty="0"/>
              <a:t>File ADT Example</a:t>
            </a:r>
          </a:p>
        </p:txBody>
      </p:sp>
      <p:sp>
        <p:nvSpPr>
          <p:cNvPr id="18437" name="Text Box 3"/>
          <p:cNvSpPr txBox="1">
            <a:spLocks noChangeArrowheads="1"/>
          </p:cNvSpPr>
          <p:nvPr/>
        </p:nvSpPr>
        <p:spPr bwMode="auto">
          <a:xfrm>
            <a:off x="1752601" y="1095375"/>
            <a:ext cx="7312025" cy="14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lnSpc>
                <a:spcPct val="80000"/>
              </a:lnSpc>
              <a:spcBef>
                <a:spcPct val="35000"/>
              </a:spcBef>
            </a:pPr>
            <a:r>
              <a:rPr kumimoji="1" lang="en-US" altLang="zh-CN" b="0" dirty="0">
                <a:solidFill>
                  <a:schemeClr val="tx1"/>
                </a:solidFill>
                <a:latin typeface="Gill Sans MT" panose="020B0502020104020203" pitchFamily="34" charset="0"/>
                <a:ea typeface="楷体_GB2312" pitchFamily="49" charset="-122"/>
              </a:rPr>
              <a:t>class </a:t>
            </a:r>
            <a:r>
              <a:rPr kumimoji="1" lang="en-US" altLang="zh-CN" b="0" dirty="0" err="1">
                <a:solidFill>
                  <a:schemeClr val="tx1"/>
                </a:solidFill>
                <a:latin typeface="Gill Sans MT" panose="020B0502020104020203" pitchFamily="34" charset="0"/>
                <a:ea typeface="楷体_GB2312" pitchFamily="49" charset="-122"/>
              </a:rPr>
              <a:t>FileADT</a:t>
            </a:r>
            <a:r>
              <a:rPr kumimoji="1" lang="en-US" altLang="zh-CN" b="0" dirty="0">
                <a:solidFill>
                  <a:schemeClr val="tx1"/>
                </a:solidFill>
                <a:latin typeface="Gill Sans MT" panose="020B0502020104020203" pitchFamily="34" charset="0"/>
                <a:ea typeface="楷体_GB2312" pitchFamily="49" charset="-122"/>
              </a:rPr>
              <a:t> has three methods:</a:t>
            </a:r>
          </a:p>
          <a:p>
            <a:pPr eaLnBrk="1" hangingPunct="1">
              <a:lnSpc>
                <a:spcPct val="80000"/>
              </a:lnSpc>
              <a:spcBef>
                <a:spcPct val="35000"/>
              </a:spcBef>
              <a:buFontTx/>
              <a:buChar char="•"/>
            </a:pPr>
            <a:r>
              <a:rPr kumimoji="1" lang="en-US" altLang="zh-CN" dirty="0">
                <a:solidFill>
                  <a:schemeClr val="tx1"/>
                </a:solidFill>
                <a:latin typeface="Helvetica" charset="0"/>
                <a:ea typeface="楷体_GB2312" pitchFamily="49" charset="-122"/>
              </a:rPr>
              <a:t>open (String </a:t>
            </a:r>
            <a:r>
              <a:rPr kumimoji="1" lang="en-US" altLang="zh-CN" dirty="0" err="1">
                <a:solidFill>
                  <a:schemeClr val="tx1"/>
                </a:solidFill>
                <a:latin typeface="Helvetica" charset="0"/>
                <a:ea typeface="楷体_GB2312" pitchFamily="49" charset="-122"/>
              </a:rPr>
              <a:t>fName</a:t>
            </a:r>
            <a:r>
              <a:rPr kumimoji="1" lang="en-US" altLang="zh-CN" dirty="0">
                <a:solidFill>
                  <a:schemeClr val="tx1"/>
                </a:solidFill>
                <a:latin typeface="Helvetica" charset="0"/>
                <a:ea typeface="楷体_GB2312" pitchFamily="49" charset="-122"/>
              </a:rPr>
              <a:t>)</a:t>
            </a:r>
            <a:r>
              <a:rPr kumimoji="1" lang="en-US" altLang="zh-CN" dirty="0">
                <a:solidFill>
                  <a:schemeClr val="tx1"/>
                </a:solidFill>
                <a:ea typeface="楷体_GB2312" pitchFamily="49" charset="-122"/>
              </a:rPr>
              <a:t> </a:t>
            </a:r>
            <a:r>
              <a:rPr kumimoji="1" lang="en-US" altLang="zh-CN" b="0" dirty="0">
                <a:solidFill>
                  <a:schemeClr val="tx1"/>
                </a:solidFill>
                <a:latin typeface="Gill Sans MT" panose="020B0502020104020203" pitchFamily="34" charset="0"/>
                <a:ea typeface="楷体_GB2312" pitchFamily="49" charset="-122"/>
              </a:rPr>
              <a:t>// Opens file with name </a:t>
            </a:r>
            <a:r>
              <a:rPr kumimoji="1" lang="en-US" altLang="zh-CN" b="0" dirty="0" err="1">
                <a:solidFill>
                  <a:schemeClr val="tx1"/>
                </a:solidFill>
                <a:latin typeface="Gill Sans MT" panose="020B0502020104020203" pitchFamily="34" charset="0"/>
                <a:ea typeface="楷体_GB2312" pitchFamily="49" charset="-122"/>
              </a:rPr>
              <a:t>fName</a:t>
            </a:r>
            <a:endParaRPr kumimoji="1" lang="en-US" altLang="zh-CN" b="0" dirty="0">
              <a:solidFill>
                <a:schemeClr val="tx1"/>
              </a:solidFill>
              <a:latin typeface="Gill Sans MT" panose="020B0502020104020203" pitchFamily="34" charset="0"/>
              <a:ea typeface="楷体_GB2312" pitchFamily="49" charset="-122"/>
            </a:endParaRPr>
          </a:p>
          <a:p>
            <a:pPr eaLnBrk="1" hangingPunct="1">
              <a:lnSpc>
                <a:spcPct val="80000"/>
              </a:lnSpc>
              <a:spcBef>
                <a:spcPct val="35000"/>
              </a:spcBef>
              <a:buFontTx/>
              <a:buChar char="•"/>
            </a:pPr>
            <a:r>
              <a:rPr kumimoji="1" lang="en-US" altLang="zh-CN" dirty="0">
                <a:solidFill>
                  <a:schemeClr val="tx1"/>
                </a:solidFill>
                <a:latin typeface="Helvetica" charset="0"/>
                <a:ea typeface="楷体_GB2312" pitchFamily="49" charset="-122"/>
              </a:rPr>
              <a:t>close ()</a:t>
            </a:r>
            <a:r>
              <a:rPr kumimoji="1" lang="en-US" altLang="zh-CN" dirty="0">
                <a:solidFill>
                  <a:schemeClr val="tx1"/>
                </a:solidFill>
                <a:ea typeface="楷体_GB2312" pitchFamily="49" charset="-122"/>
              </a:rPr>
              <a:t> </a:t>
            </a:r>
            <a:r>
              <a:rPr kumimoji="1" lang="en-US" altLang="zh-CN" b="0" dirty="0">
                <a:solidFill>
                  <a:schemeClr val="tx1"/>
                </a:solidFill>
                <a:latin typeface="Gill Sans MT" panose="020B0502020104020203" pitchFamily="34" charset="0"/>
                <a:ea typeface="楷体_GB2312" pitchFamily="49" charset="-122"/>
              </a:rPr>
              <a:t>// Closes the file and makes it unavailable</a:t>
            </a:r>
          </a:p>
          <a:p>
            <a:pPr eaLnBrk="1" hangingPunct="1">
              <a:lnSpc>
                <a:spcPct val="80000"/>
              </a:lnSpc>
              <a:spcBef>
                <a:spcPct val="35000"/>
              </a:spcBef>
              <a:buFontTx/>
              <a:buChar char="•"/>
            </a:pPr>
            <a:r>
              <a:rPr kumimoji="1" lang="en-US" altLang="zh-CN" dirty="0">
                <a:solidFill>
                  <a:schemeClr val="tx1"/>
                </a:solidFill>
                <a:latin typeface="Helvetica" charset="0"/>
                <a:ea typeface="楷体_GB2312" pitchFamily="49" charset="-122"/>
              </a:rPr>
              <a:t>write (String </a:t>
            </a:r>
            <a:r>
              <a:rPr kumimoji="1" lang="en-US" altLang="zh-CN" dirty="0" err="1">
                <a:solidFill>
                  <a:schemeClr val="tx1"/>
                </a:solidFill>
                <a:latin typeface="Helvetica" charset="0"/>
                <a:ea typeface="楷体_GB2312" pitchFamily="49" charset="-122"/>
              </a:rPr>
              <a:t>textLine</a:t>
            </a:r>
            <a:r>
              <a:rPr kumimoji="1" lang="en-US" altLang="zh-CN" dirty="0">
                <a:solidFill>
                  <a:schemeClr val="tx1"/>
                </a:solidFill>
                <a:ea typeface="楷体_GB2312" pitchFamily="49" charset="-122"/>
              </a:rPr>
              <a:t>) </a:t>
            </a:r>
            <a:r>
              <a:rPr kumimoji="1" lang="en-US" altLang="zh-CN" b="0" dirty="0">
                <a:solidFill>
                  <a:schemeClr val="tx1"/>
                </a:solidFill>
                <a:latin typeface="Gill Sans MT" panose="020B0502020104020203" pitchFamily="34" charset="0"/>
                <a:ea typeface="楷体_GB2312" pitchFamily="49" charset="-122"/>
              </a:rPr>
              <a:t>// Writes a line of text to the file</a:t>
            </a:r>
          </a:p>
        </p:txBody>
      </p:sp>
      <p:sp>
        <p:nvSpPr>
          <p:cNvPr id="277508" name="Text Box 4"/>
          <p:cNvSpPr txBox="1">
            <a:spLocks noChangeArrowheads="1"/>
          </p:cNvSpPr>
          <p:nvPr/>
        </p:nvSpPr>
        <p:spPr bwMode="auto">
          <a:xfrm>
            <a:off x="1768476" y="2779714"/>
            <a:ext cx="5700713" cy="356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lnSpc>
                <a:spcPct val="80000"/>
              </a:lnSpc>
              <a:spcBef>
                <a:spcPct val="35000"/>
              </a:spcBef>
            </a:pPr>
            <a:r>
              <a:rPr kumimoji="1" lang="en-US" altLang="zh-CN" sz="2400" b="0" u="sng" dirty="0">
                <a:solidFill>
                  <a:schemeClr val="tx1"/>
                </a:solidFill>
                <a:latin typeface="Gill Sans MT" panose="020B0502020104020203" pitchFamily="34" charset="0"/>
                <a:ea typeface="楷体_GB2312" pitchFamily="49" charset="-122"/>
              </a:rPr>
              <a:t>Valid sequencing constraints on </a:t>
            </a:r>
            <a:r>
              <a:rPr kumimoji="1" lang="en-US" altLang="zh-CN" sz="2400" b="0" u="sng" dirty="0" err="1">
                <a:solidFill>
                  <a:schemeClr val="tx1"/>
                </a:solidFill>
                <a:latin typeface="Gill Sans MT" panose="020B0502020104020203" pitchFamily="34" charset="0"/>
                <a:ea typeface="楷体_GB2312" pitchFamily="49" charset="-122"/>
              </a:rPr>
              <a:t>FileADT</a:t>
            </a:r>
            <a:r>
              <a:rPr kumimoji="1" lang="en-US" altLang="zh-CN" sz="2400" b="0" dirty="0">
                <a:solidFill>
                  <a:schemeClr val="tx1"/>
                </a:solidFill>
                <a:latin typeface="Gill Sans MT" panose="020B0502020104020203" pitchFamily="34" charset="0"/>
                <a:ea typeface="楷体_GB2312" pitchFamily="49" charset="-122"/>
              </a:rPr>
              <a:t>:</a:t>
            </a:r>
          </a:p>
          <a:p>
            <a:pPr eaLnBrk="1" hangingPunct="1">
              <a:lnSpc>
                <a:spcPct val="80000"/>
              </a:lnSpc>
              <a:spcBef>
                <a:spcPct val="35000"/>
              </a:spcBef>
              <a:buFontTx/>
              <a:buAutoNum type="arabicPeriod"/>
            </a:pPr>
            <a:r>
              <a:rPr kumimoji="1" lang="en-US" altLang="zh-CN" sz="2400" b="0" dirty="0">
                <a:solidFill>
                  <a:schemeClr val="tx1"/>
                </a:solidFill>
                <a:latin typeface="Gill Sans MT" panose="020B0502020104020203" pitchFamily="34" charset="0"/>
                <a:ea typeface="楷体_GB2312" pitchFamily="49" charset="-122"/>
              </a:rPr>
              <a:t>An open (f) </a:t>
            </a:r>
            <a:r>
              <a:rPr kumimoji="1" lang="en-US" altLang="zh-CN" sz="2400" b="0" dirty="0">
                <a:solidFill>
                  <a:srgbClr val="FFFF00"/>
                </a:solidFill>
                <a:latin typeface="Gill Sans MT" panose="020B0502020104020203" pitchFamily="34" charset="0"/>
                <a:ea typeface="楷体_GB2312" pitchFamily="49" charset="-122"/>
              </a:rPr>
              <a:t>must</a:t>
            </a:r>
            <a:r>
              <a:rPr kumimoji="1" lang="en-US" altLang="zh-CN" sz="2400" b="0" dirty="0">
                <a:solidFill>
                  <a:schemeClr val="tx1"/>
                </a:solidFill>
                <a:latin typeface="Gill Sans MT" panose="020B0502020104020203" pitchFamily="34" charset="0"/>
                <a:ea typeface="楷体_GB2312" pitchFamily="49" charset="-122"/>
              </a:rPr>
              <a:t> be executed before every write (t)</a:t>
            </a:r>
          </a:p>
          <a:p>
            <a:pPr eaLnBrk="1" hangingPunct="1">
              <a:lnSpc>
                <a:spcPct val="80000"/>
              </a:lnSpc>
              <a:spcBef>
                <a:spcPct val="35000"/>
              </a:spcBef>
              <a:buFontTx/>
              <a:buAutoNum type="arabicPeriod"/>
            </a:pPr>
            <a:r>
              <a:rPr kumimoji="1" lang="en-US" altLang="zh-CN" sz="2400" b="0" dirty="0">
                <a:solidFill>
                  <a:schemeClr val="tx1"/>
                </a:solidFill>
                <a:latin typeface="Gill Sans MT" panose="020B0502020104020203" pitchFamily="34" charset="0"/>
                <a:ea typeface="楷体_GB2312" pitchFamily="49" charset="-122"/>
              </a:rPr>
              <a:t>An open (f) </a:t>
            </a:r>
            <a:r>
              <a:rPr kumimoji="1" lang="en-US" altLang="zh-CN" sz="2400" b="0" dirty="0">
                <a:solidFill>
                  <a:srgbClr val="FFFF00"/>
                </a:solidFill>
                <a:latin typeface="Gill Sans MT" panose="020B0502020104020203" pitchFamily="34" charset="0"/>
                <a:ea typeface="楷体_GB2312" pitchFamily="49" charset="-122"/>
              </a:rPr>
              <a:t>must</a:t>
            </a:r>
            <a:r>
              <a:rPr kumimoji="1" lang="en-US" altLang="zh-CN" sz="2400" b="0" dirty="0">
                <a:solidFill>
                  <a:schemeClr val="tx1"/>
                </a:solidFill>
                <a:latin typeface="Gill Sans MT" panose="020B0502020104020203" pitchFamily="34" charset="0"/>
                <a:ea typeface="楷体_GB2312" pitchFamily="49" charset="-122"/>
              </a:rPr>
              <a:t> be executed before every close ()</a:t>
            </a:r>
          </a:p>
          <a:p>
            <a:pPr eaLnBrk="1" hangingPunct="1">
              <a:lnSpc>
                <a:spcPct val="80000"/>
              </a:lnSpc>
              <a:spcBef>
                <a:spcPct val="35000"/>
              </a:spcBef>
              <a:buFontTx/>
              <a:buAutoNum type="arabicPeriod"/>
            </a:pPr>
            <a:r>
              <a:rPr kumimoji="1" lang="en-US" altLang="zh-CN" sz="2400" b="0" dirty="0">
                <a:solidFill>
                  <a:schemeClr val="tx1"/>
                </a:solidFill>
                <a:latin typeface="Gill Sans MT" panose="020B0502020104020203" pitchFamily="34" charset="0"/>
                <a:ea typeface="楷体_GB2312" pitchFamily="49" charset="-122"/>
              </a:rPr>
              <a:t>A write (f) </a:t>
            </a:r>
            <a:r>
              <a:rPr kumimoji="1" lang="en-US" altLang="zh-CN" sz="2400" b="0" dirty="0">
                <a:solidFill>
                  <a:srgbClr val="FFFF00"/>
                </a:solidFill>
                <a:latin typeface="Gill Sans MT" panose="020B0502020104020203" pitchFamily="34" charset="0"/>
                <a:ea typeface="楷体_GB2312" pitchFamily="49" charset="-122"/>
              </a:rPr>
              <a:t>may not </a:t>
            </a:r>
            <a:r>
              <a:rPr kumimoji="1" lang="en-US" altLang="zh-CN" sz="2400" b="0" dirty="0">
                <a:solidFill>
                  <a:schemeClr val="tx1"/>
                </a:solidFill>
                <a:latin typeface="Gill Sans MT" panose="020B0502020104020203" pitchFamily="34" charset="0"/>
                <a:ea typeface="楷体_GB2312" pitchFamily="49" charset="-122"/>
              </a:rPr>
              <a:t>be executed after a close () unless there is an open (f) in between</a:t>
            </a:r>
          </a:p>
          <a:p>
            <a:pPr eaLnBrk="1" hangingPunct="1">
              <a:lnSpc>
                <a:spcPct val="80000"/>
              </a:lnSpc>
              <a:spcBef>
                <a:spcPct val="35000"/>
              </a:spcBef>
              <a:buFontTx/>
              <a:buAutoNum type="arabicPeriod"/>
            </a:pPr>
            <a:r>
              <a:rPr kumimoji="1" lang="en-US" altLang="zh-CN" sz="2400" b="0" dirty="0">
                <a:solidFill>
                  <a:schemeClr val="tx1"/>
                </a:solidFill>
                <a:latin typeface="Gill Sans MT" panose="020B0502020104020203" pitchFamily="34" charset="0"/>
                <a:ea typeface="楷体_GB2312" pitchFamily="49" charset="-122"/>
              </a:rPr>
              <a:t>A write (t) </a:t>
            </a:r>
            <a:r>
              <a:rPr kumimoji="1" lang="en-US" altLang="zh-CN" sz="2400" b="0" dirty="0">
                <a:solidFill>
                  <a:srgbClr val="FFFF00"/>
                </a:solidFill>
                <a:latin typeface="Gill Sans MT" panose="020B0502020104020203" pitchFamily="34" charset="0"/>
                <a:ea typeface="楷体_GB2312" pitchFamily="49" charset="-122"/>
              </a:rPr>
              <a:t>should</a:t>
            </a:r>
            <a:r>
              <a:rPr kumimoji="1" lang="en-US" altLang="zh-CN" sz="2400" b="0" dirty="0">
                <a:solidFill>
                  <a:schemeClr val="tx1"/>
                </a:solidFill>
                <a:latin typeface="Gill Sans MT" panose="020B0502020104020203" pitchFamily="34" charset="0"/>
                <a:ea typeface="楷体_GB2312" pitchFamily="49" charset="-122"/>
              </a:rPr>
              <a:t> be executed before every close ()</a:t>
            </a:r>
          </a:p>
        </p:txBody>
      </p:sp>
      <p:grpSp>
        <p:nvGrpSpPr>
          <p:cNvPr id="2" name="Group 43"/>
          <p:cNvGrpSpPr>
            <a:grpSpLocks/>
          </p:cNvGrpSpPr>
          <p:nvPr/>
        </p:nvGrpSpPr>
        <p:grpSpPr bwMode="auto">
          <a:xfrm>
            <a:off x="7402513" y="2644775"/>
            <a:ext cx="3048000" cy="3543300"/>
            <a:chOff x="3703" y="1260"/>
            <a:chExt cx="1920" cy="2232"/>
          </a:xfrm>
        </p:grpSpPr>
        <p:sp>
          <p:nvSpPr>
            <p:cNvPr id="18441" name="Rectangle 41"/>
            <p:cNvSpPr>
              <a:spLocks noChangeArrowheads="1"/>
            </p:cNvSpPr>
            <p:nvPr/>
          </p:nvSpPr>
          <p:spPr bwMode="auto">
            <a:xfrm>
              <a:off x="3745" y="1260"/>
              <a:ext cx="1836" cy="2232"/>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dirty="0">
                <a:latin typeface="Gill Sans MT" panose="020B0502020104020203" pitchFamily="34" charset="0"/>
              </a:endParaRPr>
            </a:p>
          </p:txBody>
        </p:sp>
        <p:grpSp>
          <p:nvGrpSpPr>
            <p:cNvPr id="18442" name="Group 42"/>
            <p:cNvGrpSpPr>
              <a:grpSpLocks/>
            </p:cNvGrpSpPr>
            <p:nvPr/>
          </p:nvGrpSpPr>
          <p:grpSpPr bwMode="auto">
            <a:xfrm>
              <a:off x="3703" y="1437"/>
              <a:ext cx="1920" cy="1945"/>
              <a:chOff x="3703" y="1404"/>
              <a:chExt cx="1920" cy="1945"/>
            </a:xfrm>
          </p:grpSpPr>
          <p:grpSp>
            <p:nvGrpSpPr>
              <p:cNvPr id="18443" name="Group 35"/>
              <p:cNvGrpSpPr>
                <a:grpSpLocks/>
              </p:cNvGrpSpPr>
              <p:nvPr/>
            </p:nvGrpSpPr>
            <p:grpSpPr bwMode="auto">
              <a:xfrm>
                <a:off x="4527" y="1625"/>
                <a:ext cx="288" cy="240"/>
                <a:chOff x="4543" y="1625"/>
                <a:chExt cx="288" cy="240"/>
              </a:xfrm>
            </p:grpSpPr>
            <p:sp>
              <p:nvSpPr>
                <p:cNvPr id="18471" name="Oval 7"/>
                <p:cNvSpPr>
                  <a:spLocks noChangeArrowheads="1"/>
                </p:cNvSpPr>
                <p:nvPr/>
              </p:nvSpPr>
              <p:spPr bwMode="auto">
                <a:xfrm>
                  <a:off x="4543" y="162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8472" name="Text Box 8"/>
                <p:cNvSpPr txBox="1">
                  <a:spLocks noChangeArrowheads="1"/>
                </p:cNvSpPr>
                <p:nvPr/>
              </p:nvSpPr>
              <p:spPr bwMode="auto">
                <a:xfrm>
                  <a:off x="4543" y="1629"/>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1</a:t>
                  </a:r>
                  <a:endParaRPr kumimoji="1" lang="en-US" altLang="zh-CN" sz="1800" baseline="-25000" dirty="0">
                    <a:solidFill>
                      <a:schemeClr val="tx1"/>
                    </a:solidFill>
                    <a:ea typeface="楷体_GB2312" pitchFamily="49" charset="-122"/>
                  </a:endParaRPr>
                </a:p>
              </p:txBody>
            </p:sp>
          </p:grpSp>
          <p:grpSp>
            <p:nvGrpSpPr>
              <p:cNvPr id="18444" name="Group 36"/>
              <p:cNvGrpSpPr>
                <a:grpSpLocks/>
              </p:cNvGrpSpPr>
              <p:nvPr/>
            </p:nvGrpSpPr>
            <p:grpSpPr bwMode="auto">
              <a:xfrm>
                <a:off x="4207" y="2153"/>
                <a:ext cx="288" cy="240"/>
                <a:chOff x="4207" y="2153"/>
                <a:chExt cx="288" cy="240"/>
              </a:xfrm>
            </p:grpSpPr>
            <p:sp>
              <p:nvSpPr>
                <p:cNvPr id="18469" name="Oval 10"/>
                <p:cNvSpPr>
                  <a:spLocks noChangeArrowheads="1"/>
                </p:cNvSpPr>
                <p:nvPr/>
              </p:nvSpPr>
              <p:spPr bwMode="auto">
                <a:xfrm>
                  <a:off x="4207" y="2153"/>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endParaRPr lang="en-US" altLang="en-US" dirty="0"/>
                </a:p>
              </p:txBody>
            </p:sp>
            <p:sp>
              <p:nvSpPr>
                <p:cNvPr id="18470" name="Text Box 11"/>
                <p:cNvSpPr txBox="1">
                  <a:spLocks noChangeArrowheads="1"/>
                </p:cNvSpPr>
                <p:nvPr/>
              </p:nvSpPr>
              <p:spPr bwMode="auto">
                <a:xfrm>
                  <a:off x="4207" y="2157"/>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2</a:t>
                  </a:r>
                  <a:endParaRPr kumimoji="1" lang="en-US" altLang="zh-CN" sz="1800" baseline="-25000" dirty="0">
                    <a:solidFill>
                      <a:schemeClr val="tx1"/>
                    </a:solidFill>
                    <a:ea typeface="楷体_GB2312" pitchFamily="49" charset="-122"/>
                  </a:endParaRPr>
                </a:p>
              </p:txBody>
            </p:sp>
          </p:grpSp>
          <p:grpSp>
            <p:nvGrpSpPr>
              <p:cNvPr id="18445" name="Group 37"/>
              <p:cNvGrpSpPr>
                <a:grpSpLocks/>
              </p:cNvGrpSpPr>
              <p:nvPr/>
            </p:nvGrpSpPr>
            <p:grpSpPr bwMode="auto">
              <a:xfrm>
                <a:off x="4878" y="2105"/>
                <a:ext cx="288" cy="240"/>
                <a:chOff x="4879" y="2105"/>
                <a:chExt cx="288" cy="240"/>
              </a:xfrm>
            </p:grpSpPr>
            <p:sp>
              <p:nvSpPr>
                <p:cNvPr id="18467" name="Oval 13"/>
                <p:cNvSpPr>
                  <a:spLocks noChangeArrowheads="1"/>
                </p:cNvSpPr>
                <p:nvPr/>
              </p:nvSpPr>
              <p:spPr bwMode="auto">
                <a:xfrm>
                  <a:off x="4879" y="210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8468" name="Text Box 14"/>
                <p:cNvSpPr txBox="1">
                  <a:spLocks noChangeArrowheads="1"/>
                </p:cNvSpPr>
                <p:nvPr/>
              </p:nvSpPr>
              <p:spPr bwMode="auto">
                <a:xfrm>
                  <a:off x="4879" y="210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3</a:t>
                  </a:r>
                  <a:endParaRPr kumimoji="1" lang="en-US" altLang="zh-CN" sz="1800" baseline="-25000" dirty="0">
                    <a:solidFill>
                      <a:schemeClr val="tx1"/>
                    </a:solidFill>
                    <a:ea typeface="楷体_GB2312" pitchFamily="49" charset="-122"/>
                  </a:endParaRPr>
                </a:p>
              </p:txBody>
            </p:sp>
          </p:grpSp>
          <p:grpSp>
            <p:nvGrpSpPr>
              <p:cNvPr id="18446" name="Group 38"/>
              <p:cNvGrpSpPr>
                <a:grpSpLocks/>
              </p:cNvGrpSpPr>
              <p:nvPr/>
            </p:nvGrpSpPr>
            <p:grpSpPr bwMode="auto">
              <a:xfrm>
                <a:off x="4527" y="2575"/>
                <a:ext cx="288" cy="240"/>
                <a:chOff x="4543" y="2585"/>
                <a:chExt cx="288" cy="240"/>
              </a:xfrm>
            </p:grpSpPr>
            <p:sp>
              <p:nvSpPr>
                <p:cNvPr id="18465" name="Oval 16"/>
                <p:cNvSpPr>
                  <a:spLocks noChangeArrowheads="1"/>
                </p:cNvSpPr>
                <p:nvPr/>
              </p:nvSpPr>
              <p:spPr bwMode="auto">
                <a:xfrm>
                  <a:off x="4543" y="258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8466" name="Text Box 17"/>
                <p:cNvSpPr txBox="1">
                  <a:spLocks noChangeArrowheads="1"/>
                </p:cNvSpPr>
                <p:nvPr/>
              </p:nvSpPr>
              <p:spPr bwMode="auto">
                <a:xfrm>
                  <a:off x="4543" y="258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4</a:t>
                  </a:r>
                  <a:endParaRPr kumimoji="1" lang="en-US" altLang="zh-CN" sz="1800" baseline="-25000" dirty="0">
                    <a:solidFill>
                      <a:schemeClr val="tx1"/>
                    </a:solidFill>
                    <a:ea typeface="楷体_GB2312" pitchFamily="49" charset="-122"/>
                  </a:endParaRPr>
                </a:p>
              </p:txBody>
            </p:sp>
          </p:grpSp>
          <p:grpSp>
            <p:nvGrpSpPr>
              <p:cNvPr id="18447" name="Group 39"/>
              <p:cNvGrpSpPr>
                <a:grpSpLocks/>
              </p:cNvGrpSpPr>
              <p:nvPr/>
            </p:nvGrpSpPr>
            <p:grpSpPr bwMode="auto">
              <a:xfrm>
                <a:off x="4878" y="2575"/>
                <a:ext cx="288" cy="240"/>
                <a:chOff x="4975" y="2537"/>
                <a:chExt cx="288" cy="240"/>
              </a:xfrm>
            </p:grpSpPr>
            <p:sp>
              <p:nvSpPr>
                <p:cNvPr id="18463" name="Oval 19"/>
                <p:cNvSpPr>
                  <a:spLocks noChangeArrowheads="1"/>
                </p:cNvSpPr>
                <p:nvPr/>
              </p:nvSpPr>
              <p:spPr bwMode="auto">
                <a:xfrm>
                  <a:off x="4975" y="2537"/>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8464" name="Text Box 20"/>
                <p:cNvSpPr txBox="1">
                  <a:spLocks noChangeArrowheads="1"/>
                </p:cNvSpPr>
                <p:nvPr/>
              </p:nvSpPr>
              <p:spPr bwMode="auto">
                <a:xfrm>
                  <a:off x="4975" y="2541"/>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5</a:t>
                  </a:r>
                  <a:endParaRPr kumimoji="1" lang="en-US" altLang="zh-CN" sz="1800" baseline="-25000" dirty="0">
                    <a:solidFill>
                      <a:schemeClr val="tx1"/>
                    </a:solidFill>
                    <a:ea typeface="楷体_GB2312" pitchFamily="49" charset="-122"/>
                  </a:endParaRPr>
                </a:p>
              </p:txBody>
            </p:sp>
          </p:grpSp>
          <p:grpSp>
            <p:nvGrpSpPr>
              <p:cNvPr id="18448" name="Group 40"/>
              <p:cNvGrpSpPr>
                <a:grpSpLocks/>
              </p:cNvGrpSpPr>
              <p:nvPr/>
            </p:nvGrpSpPr>
            <p:grpSpPr bwMode="auto">
              <a:xfrm>
                <a:off x="4526" y="3109"/>
                <a:ext cx="289" cy="240"/>
                <a:chOff x="4510" y="3109"/>
                <a:chExt cx="289" cy="240"/>
              </a:xfrm>
            </p:grpSpPr>
            <p:sp>
              <p:nvSpPr>
                <p:cNvPr id="18461" name="Oval 21"/>
                <p:cNvSpPr>
                  <a:spLocks noChangeArrowheads="1"/>
                </p:cNvSpPr>
                <p:nvPr/>
              </p:nvSpPr>
              <p:spPr bwMode="auto">
                <a:xfrm>
                  <a:off x="4511" y="3109"/>
                  <a:ext cx="288" cy="240"/>
                </a:xfrm>
                <a:prstGeom prst="ellipse">
                  <a:avLst/>
                </a:prstGeom>
                <a:solidFill>
                  <a:srgbClr val="0066FF"/>
                </a:solidFill>
                <a:ln w="25400">
                  <a:solidFill>
                    <a:schemeClr val="accent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8462" name="Text Box 22"/>
                <p:cNvSpPr txBox="1">
                  <a:spLocks noChangeArrowheads="1"/>
                </p:cNvSpPr>
                <p:nvPr/>
              </p:nvSpPr>
              <p:spPr bwMode="auto">
                <a:xfrm>
                  <a:off x="4510" y="3113"/>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6</a:t>
                  </a:r>
                  <a:endParaRPr kumimoji="1" lang="en-US" altLang="zh-CN" sz="1800" baseline="-25000" dirty="0">
                    <a:solidFill>
                      <a:schemeClr val="tx1"/>
                    </a:solidFill>
                    <a:ea typeface="楷体_GB2312" pitchFamily="49" charset="-122"/>
                  </a:endParaRPr>
                </a:p>
              </p:txBody>
            </p:sp>
          </p:grpSp>
          <p:sp>
            <p:nvSpPr>
              <p:cNvPr id="18449" name="Line 23"/>
              <p:cNvSpPr>
                <a:spLocks noChangeShapeType="1"/>
              </p:cNvSpPr>
              <p:nvPr/>
            </p:nvSpPr>
            <p:spPr bwMode="auto">
              <a:xfrm flipH="1">
                <a:off x="4411" y="1865"/>
                <a:ext cx="192"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0" name="Line 24"/>
              <p:cNvSpPr>
                <a:spLocks noChangeShapeType="1"/>
              </p:cNvSpPr>
              <p:nvPr/>
            </p:nvSpPr>
            <p:spPr bwMode="auto">
              <a:xfrm>
                <a:off x="4737" y="1865"/>
                <a:ext cx="240" cy="24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1" name="Line 25"/>
              <p:cNvSpPr>
                <a:spLocks noChangeShapeType="1"/>
              </p:cNvSpPr>
              <p:nvPr/>
            </p:nvSpPr>
            <p:spPr bwMode="auto">
              <a:xfrm>
                <a:off x="4406" y="2394"/>
                <a:ext cx="196" cy="199"/>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2" name="Line 26"/>
              <p:cNvSpPr>
                <a:spLocks noChangeShapeType="1"/>
              </p:cNvSpPr>
              <p:nvPr/>
            </p:nvSpPr>
            <p:spPr bwMode="auto">
              <a:xfrm flipH="1">
                <a:off x="4759" y="2345"/>
                <a:ext cx="192" cy="254"/>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Line 27"/>
              <p:cNvSpPr>
                <a:spLocks noChangeShapeType="1"/>
              </p:cNvSpPr>
              <p:nvPr/>
            </p:nvSpPr>
            <p:spPr bwMode="auto">
              <a:xfrm>
                <a:off x="5022" y="2345"/>
                <a:ext cx="0" cy="22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4" name="Line 28"/>
              <p:cNvSpPr>
                <a:spLocks noChangeShapeType="1"/>
              </p:cNvSpPr>
              <p:nvPr/>
            </p:nvSpPr>
            <p:spPr bwMode="auto">
              <a:xfrm>
                <a:off x="4670" y="2825"/>
                <a:ext cx="0"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5" name="Line 29"/>
              <p:cNvSpPr>
                <a:spLocks noChangeShapeType="1"/>
              </p:cNvSpPr>
              <p:nvPr/>
            </p:nvSpPr>
            <p:spPr bwMode="auto">
              <a:xfrm>
                <a:off x="4671" y="1404"/>
                <a:ext cx="0" cy="221"/>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18456" name="AutoShape 30"/>
              <p:cNvCxnSpPr>
                <a:cxnSpLocks noChangeShapeType="1"/>
                <a:stCxn id="18464" idx="3"/>
                <a:endCxn id="18468" idx="3"/>
              </p:cNvCxnSpPr>
              <p:nvPr/>
            </p:nvCxnSpPr>
            <p:spPr bwMode="auto">
              <a:xfrm flipV="1">
                <a:off x="5166" y="2225"/>
                <a:ext cx="1" cy="470"/>
              </a:xfrm>
              <a:prstGeom prst="curvedConnector3">
                <a:avLst>
                  <a:gd name="adj1" fmla="val 14400005"/>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cxnSp>
          <p:sp>
            <p:nvSpPr>
              <p:cNvPr id="18457" name="Text Box 31"/>
              <p:cNvSpPr txBox="1">
                <a:spLocks noChangeArrowheads="1"/>
              </p:cNvSpPr>
              <p:nvPr/>
            </p:nvSpPr>
            <p:spPr bwMode="auto">
              <a:xfrm>
                <a:off x="4807" y="1577"/>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dirty="0">
                    <a:solidFill>
                      <a:schemeClr val="hlink"/>
                    </a:solidFill>
                    <a:latin typeface="Gill Sans MT" panose="020B0502020104020203" pitchFamily="34" charset="0"/>
                    <a:ea typeface="楷体_GB2312" pitchFamily="49" charset="-122"/>
                  </a:rPr>
                  <a:t>open (f)</a:t>
                </a:r>
              </a:p>
            </p:txBody>
          </p:sp>
          <p:sp>
            <p:nvSpPr>
              <p:cNvPr id="18458" name="Text Box 32"/>
              <p:cNvSpPr txBox="1">
                <a:spLocks noChangeArrowheads="1"/>
              </p:cNvSpPr>
              <p:nvPr/>
            </p:nvSpPr>
            <p:spPr bwMode="auto">
              <a:xfrm>
                <a:off x="3703" y="2153"/>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write(t)</a:t>
                </a:r>
              </a:p>
            </p:txBody>
          </p:sp>
          <p:sp>
            <p:nvSpPr>
              <p:cNvPr id="18459" name="Text Box 33"/>
              <p:cNvSpPr txBox="1">
                <a:spLocks noChangeArrowheads="1"/>
              </p:cNvSpPr>
              <p:nvPr/>
            </p:nvSpPr>
            <p:spPr bwMode="auto">
              <a:xfrm>
                <a:off x="4951" y="2777"/>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write (t)</a:t>
                </a:r>
              </a:p>
            </p:txBody>
          </p:sp>
          <p:sp>
            <p:nvSpPr>
              <p:cNvPr id="18460" name="Text Box 34"/>
              <p:cNvSpPr txBox="1">
                <a:spLocks noChangeArrowheads="1"/>
              </p:cNvSpPr>
              <p:nvPr/>
            </p:nvSpPr>
            <p:spPr bwMode="auto">
              <a:xfrm>
                <a:off x="4807" y="3113"/>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close ()</a:t>
                </a:r>
              </a:p>
            </p:txBody>
          </p:sp>
        </p:grpSp>
      </p:grpSp>
      <p:sp>
        <p:nvSpPr>
          <p:cNvPr id="41" name="TextBox 40"/>
          <p:cNvSpPr txBox="1"/>
          <p:nvPr/>
        </p:nvSpPr>
        <p:spPr>
          <a:xfrm>
            <a:off x="7559041" y="2571750"/>
            <a:ext cx="2752677" cy="400110"/>
          </a:xfrm>
          <a:prstGeom prst="rect">
            <a:avLst/>
          </a:prstGeom>
          <a:noFill/>
        </p:spPr>
        <p:txBody>
          <a:bodyPr wrap="none" rtlCol="0">
            <a:spAutoFit/>
          </a:bodyPr>
          <a:lstStyle/>
          <a:p>
            <a:r>
              <a:rPr lang="en-US" b="0" dirty="0">
                <a:latin typeface="Gill Sans MT" panose="020B0502020104020203" pitchFamily="34" charset="0"/>
              </a:rPr>
              <a:t>Client that uses </a:t>
            </a:r>
            <a:r>
              <a:rPr lang="en-US" b="0" dirty="0" err="1">
                <a:latin typeface="Gill Sans MT" panose="020B0502020104020203" pitchFamily="34" charset="0"/>
              </a:rPr>
              <a:t>FileADT</a:t>
            </a:r>
            <a:endParaRPr lang="en-US" b="0" dirty="0">
              <a:latin typeface="Gill Sans MT" panose="020B0502020104020203"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750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750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750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750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750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2000"/>
                                        <p:tgtEl>
                                          <p:spTgt spid="2"/>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8" grpId="0" build="p"/>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78BD9F9-4225-4D07-882A-F81CCED0E7D7}" type="slidenum">
              <a:rPr lang="en-US" altLang="en-US" sz="900" b="0">
                <a:solidFill>
                  <a:schemeClr val="tx1"/>
                </a:solidFill>
              </a:rPr>
              <a:pPr/>
              <a:t>8</a:t>
            </a:fld>
            <a:endParaRPr lang="en-US" altLang="en-US" sz="900" b="0">
              <a:solidFill>
                <a:schemeClr val="tx1"/>
              </a:solidFill>
            </a:endParaRPr>
          </a:p>
        </p:txBody>
      </p:sp>
      <p:sp>
        <p:nvSpPr>
          <p:cNvPr id="19460" name="Rectangle 2"/>
          <p:cNvSpPr>
            <a:spLocks noGrp="1" noChangeArrowheads="1"/>
          </p:cNvSpPr>
          <p:nvPr>
            <p:ph type="title"/>
          </p:nvPr>
        </p:nvSpPr>
        <p:spPr/>
        <p:txBody>
          <a:bodyPr/>
          <a:lstStyle/>
          <a:p>
            <a:r>
              <a:rPr lang="en-US" altLang="en-US"/>
              <a:t>Static Checking</a:t>
            </a:r>
          </a:p>
        </p:txBody>
      </p:sp>
      <p:sp>
        <p:nvSpPr>
          <p:cNvPr id="273411" name="Rectangle 3"/>
          <p:cNvSpPr>
            <a:spLocks noGrp="1" noChangeArrowheads="1"/>
          </p:cNvSpPr>
          <p:nvPr>
            <p:ph type="body" idx="1"/>
          </p:nvPr>
        </p:nvSpPr>
        <p:spPr>
          <a:xfrm>
            <a:off x="4678363" y="1724724"/>
            <a:ext cx="5884862" cy="3097212"/>
          </a:xfrm>
        </p:spPr>
        <p:txBody>
          <a:bodyPr/>
          <a:lstStyle/>
          <a:p>
            <a:r>
              <a:rPr lang="en-US" altLang="en-US" dirty="0"/>
              <a:t>Is there a path to a write() that does not go through an open() ?</a:t>
            </a:r>
          </a:p>
          <a:p>
            <a:r>
              <a:rPr lang="en-US" altLang="en-US" dirty="0"/>
              <a:t>Is there a path to a close() that does not go through an open() ?</a:t>
            </a:r>
          </a:p>
          <a:p>
            <a:r>
              <a:rPr lang="en-US" altLang="en-US" dirty="0"/>
              <a:t>Is there a path from a close() to a write()?</a:t>
            </a:r>
          </a:p>
          <a:p>
            <a:r>
              <a:rPr lang="en-US" altLang="en-US" dirty="0"/>
              <a:t>Is there a path from an open() to a close() that does not go through a write() ? (“write-clear” path)</a:t>
            </a:r>
          </a:p>
        </p:txBody>
      </p:sp>
      <p:grpSp>
        <p:nvGrpSpPr>
          <p:cNvPr id="2" name="Group 4"/>
          <p:cNvGrpSpPr>
            <a:grpSpLocks/>
          </p:cNvGrpSpPr>
          <p:nvPr/>
        </p:nvGrpSpPr>
        <p:grpSpPr bwMode="auto">
          <a:xfrm>
            <a:off x="1598613" y="2012950"/>
            <a:ext cx="3048000" cy="3543300"/>
            <a:chOff x="3703" y="1260"/>
            <a:chExt cx="1920" cy="2232"/>
          </a:xfrm>
        </p:grpSpPr>
        <p:sp>
          <p:nvSpPr>
            <p:cNvPr id="19466" name="Rectangle 5"/>
            <p:cNvSpPr>
              <a:spLocks noChangeArrowheads="1"/>
            </p:cNvSpPr>
            <p:nvPr/>
          </p:nvSpPr>
          <p:spPr bwMode="auto">
            <a:xfrm>
              <a:off x="3745" y="1260"/>
              <a:ext cx="1836" cy="2232"/>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nvGrpSpPr>
            <p:cNvPr id="19467" name="Group 6"/>
            <p:cNvGrpSpPr>
              <a:grpSpLocks/>
            </p:cNvGrpSpPr>
            <p:nvPr/>
          </p:nvGrpSpPr>
          <p:grpSpPr bwMode="auto">
            <a:xfrm>
              <a:off x="3703" y="1370"/>
              <a:ext cx="1920" cy="2012"/>
              <a:chOff x="3703" y="1337"/>
              <a:chExt cx="1920" cy="2012"/>
            </a:xfrm>
          </p:grpSpPr>
          <p:grpSp>
            <p:nvGrpSpPr>
              <p:cNvPr id="19468" name="Group 7"/>
              <p:cNvGrpSpPr>
                <a:grpSpLocks/>
              </p:cNvGrpSpPr>
              <p:nvPr/>
            </p:nvGrpSpPr>
            <p:grpSpPr bwMode="auto">
              <a:xfrm>
                <a:off x="4527" y="1625"/>
                <a:ext cx="288" cy="240"/>
                <a:chOff x="4543" y="1625"/>
                <a:chExt cx="288" cy="240"/>
              </a:xfrm>
            </p:grpSpPr>
            <p:sp>
              <p:nvSpPr>
                <p:cNvPr id="19496" name="Oval 8"/>
                <p:cNvSpPr>
                  <a:spLocks noChangeArrowheads="1"/>
                </p:cNvSpPr>
                <p:nvPr/>
              </p:nvSpPr>
              <p:spPr bwMode="auto">
                <a:xfrm>
                  <a:off x="4543" y="162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9497" name="Text Box 9"/>
                <p:cNvSpPr txBox="1">
                  <a:spLocks noChangeArrowheads="1"/>
                </p:cNvSpPr>
                <p:nvPr/>
              </p:nvSpPr>
              <p:spPr bwMode="auto">
                <a:xfrm>
                  <a:off x="4543" y="162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1</a:t>
                  </a:r>
                  <a:endParaRPr kumimoji="1" lang="en-US" altLang="zh-CN" sz="1800" baseline="-25000" dirty="0">
                    <a:solidFill>
                      <a:schemeClr val="tx1"/>
                    </a:solidFill>
                    <a:ea typeface="楷体_GB2312" pitchFamily="49" charset="-122"/>
                  </a:endParaRPr>
                </a:p>
              </p:txBody>
            </p:sp>
          </p:grpSp>
          <p:grpSp>
            <p:nvGrpSpPr>
              <p:cNvPr id="19469" name="Group 10"/>
              <p:cNvGrpSpPr>
                <a:grpSpLocks/>
              </p:cNvGrpSpPr>
              <p:nvPr/>
            </p:nvGrpSpPr>
            <p:grpSpPr bwMode="auto">
              <a:xfrm>
                <a:off x="4207" y="2153"/>
                <a:ext cx="288" cy="240"/>
                <a:chOff x="4207" y="2153"/>
                <a:chExt cx="288" cy="240"/>
              </a:xfrm>
            </p:grpSpPr>
            <p:sp>
              <p:nvSpPr>
                <p:cNvPr id="19494" name="Oval 11"/>
                <p:cNvSpPr>
                  <a:spLocks noChangeArrowheads="1"/>
                </p:cNvSpPr>
                <p:nvPr/>
              </p:nvSpPr>
              <p:spPr bwMode="auto">
                <a:xfrm>
                  <a:off x="4207" y="2153"/>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9495" name="Text Box 12"/>
                <p:cNvSpPr txBox="1">
                  <a:spLocks noChangeArrowheads="1"/>
                </p:cNvSpPr>
                <p:nvPr/>
              </p:nvSpPr>
              <p:spPr bwMode="auto">
                <a:xfrm>
                  <a:off x="4207" y="2157"/>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2</a:t>
                  </a:r>
                  <a:endParaRPr kumimoji="1" lang="en-US" altLang="zh-CN" sz="1800" baseline="-25000" dirty="0">
                    <a:solidFill>
                      <a:schemeClr val="tx1"/>
                    </a:solidFill>
                    <a:ea typeface="楷体_GB2312" pitchFamily="49" charset="-122"/>
                  </a:endParaRPr>
                </a:p>
              </p:txBody>
            </p:sp>
          </p:grpSp>
          <p:grpSp>
            <p:nvGrpSpPr>
              <p:cNvPr id="19470" name="Group 13"/>
              <p:cNvGrpSpPr>
                <a:grpSpLocks/>
              </p:cNvGrpSpPr>
              <p:nvPr/>
            </p:nvGrpSpPr>
            <p:grpSpPr bwMode="auto">
              <a:xfrm>
                <a:off x="4878" y="2105"/>
                <a:ext cx="288" cy="240"/>
                <a:chOff x="4879" y="2105"/>
                <a:chExt cx="288" cy="240"/>
              </a:xfrm>
            </p:grpSpPr>
            <p:sp>
              <p:nvSpPr>
                <p:cNvPr id="19492" name="Oval 14"/>
                <p:cNvSpPr>
                  <a:spLocks noChangeArrowheads="1"/>
                </p:cNvSpPr>
                <p:nvPr/>
              </p:nvSpPr>
              <p:spPr bwMode="auto">
                <a:xfrm>
                  <a:off x="4879" y="210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endParaRPr lang="en-US" altLang="en-US" dirty="0"/>
                </a:p>
              </p:txBody>
            </p:sp>
            <p:sp>
              <p:nvSpPr>
                <p:cNvPr id="19493" name="Text Box 15"/>
                <p:cNvSpPr txBox="1">
                  <a:spLocks noChangeArrowheads="1"/>
                </p:cNvSpPr>
                <p:nvPr/>
              </p:nvSpPr>
              <p:spPr bwMode="auto">
                <a:xfrm>
                  <a:off x="4879" y="210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3</a:t>
                  </a:r>
                  <a:endParaRPr kumimoji="1" lang="en-US" altLang="zh-CN" sz="1800" baseline="-25000" dirty="0">
                    <a:solidFill>
                      <a:schemeClr val="tx1"/>
                    </a:solidFill>
                    <a:ea typeface="楷体_GB2312" pitchFamily="49" charset="-122"/>
                  </a:endParaRPr>
                </a:p>
              </p:txBody>
            </p:sp>
          </p:grpSp>
          <p:grpSp>
            <p:nvGrpSpPr>
              <p:cNvPr id="19471" name="Group 16"/>
              <p:cNvGrpSpPr>
                <a:grpSpLocks/>
              </p:cNvGrpSpPr>
              <p:nvPr/>
            </p:nvGrpSpPr>
            <p:grpSpPr bwMode="auto">
              <a:xfrm>
                <a:off x="4527" y="2575"/>
                <a:ext cx="288" cy="240"/>
                <a:chOff x="4543" y="2585"/>
                <a:chExt cx="288" cy="240"/>
              </a:xfrm>
            </p:grpSpPr>
            <p:sp>
              <p:nvSpPr>
                <p:cNvPr id="19490" name="Oval 17"/>
                <p:cNvSpPr>
                  <a:spLocks noChangeArrowheads="1"/>
                </p:cNvSpPr>
                <p:nvPr/>
              </p:nvSpPr>
              <p:spPr bwMode="auto">
                <a:xfrm>
                  <a:off x="4543" y="258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9491" name="Text Box 18"/>
                <p:cNvSpPr txBox="1">
                  <a:spLocks noChangeArrowheads="1"/>
                </p:cNvSpPr>
                <p:nvPr/>
              </p:nvSpPr>
              <p:spPr bwMode="auto">
                <a:xfrm>
                  <a:off x="4543" y="258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4</a:t>
                  </a:r>
                  <a:endParaRPr kumimoji="1" lang="en-US" altLang="zh-CN" sz="1800" baseline="-25000" dirty="0">
                    <a:solidFill>
                      <a:schemeClr val="tx1"/>
                    </a:solidFill>
                    <a:ea typeface="楷体_GB2312" pitchFamily="49" charset="-122"/>
                  </a:endParaRPr>
                </a:p>
              </p:txBody>
            </p:sp>
          </p:grpSp>
          <p:grpSp>
            <p:nvGrpSpPr>
              <p:cNvPr id="19472" name="Group 19"/>
              <p:cNvGrpSpPr>
                <a:grpSpLocks/>
              </p:cNvGrpSpPr>
              <p:nvPr/>
            </p:nvGrpSpPr>
            <p:grpSpPr bwMode="auto">
              <a:xfrm>
                <a:off x="4878" y="2575"/>
                <a:ext cx="288" cy="240"/>
                <a:chOff x="4975" y="2537"/>
                <a:chExt cx="288" cy="240"/>
              </a:xfrm>
            </p:grpSpPr>
            <p:sp>
              <p:nvSpPr>
                <p:cNvPr id="19488" name="Oval 20"/>
                <p:cNvSpPr>
                  <a:spLocks noChangeArrowheads="1"/>
                </p:cNvSpPr>
                <p:nvPr/>
              </p:nvSpPr>
              <p:spPr bwMode="auto">
                <a:xfrm>
                  <a:off x="4975" y="2537"/>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9489" name="Text Box 21"/>
                <p:cNvSpPr txBox="1">
                  <a:spLocks noChangeArrowheads="1"/>
                </p:cNvSpPr>
                <p:nvPr/>
              </p:nvSpPr>
              <p:spPr bwMode="auto">
                <a:xfrm>
                  <a:off x="4975" y="2541"/>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5</a:t>
                  </a:r>
                  <a:endParaRPr kumimoji="1" lang="en-US" altLang="zh-CN" sz="1800" baseline="-25000" dirty="0">
                    <a:solidFill>
                      <a:schemeClr val="tx1"/>
                    </a:solidFill>
                    <a:ea typeface="楷体_GB2312" pitchFamily="49" charset="-122"/>
                  </a:endParaRPr>
                </a:p>
              </p:txBody>
            </p:sp>
          </p:grpSp>
          <p:grpSp>
            <p:nvGrpSpPr>
              <p:cNvPr id="19473" name="Group 22"/>
              <p:cNvGrpSpPr>
                <a:grpSpLocks/>
              </p:cNvGrpSpPr>
              <p:nvPr/>
            </p:nvGrpSpPr>
            <p:grpSpPr bwMode="auto">
              <a:xfrm>
                <a:off x="4526" y="3109"/>
                <a:ext cx="289" cy="240"/>
                <a:chOff x="4510" y="3109"/>
                <a:chExt cx="289" cy="240"/>
              </a:xfrm>
            </p:grpSpPr>
            <p:sp>
              <p:nvSpPr>
                <p:cNvPr id="19486" name="Oval 23"/>
                <p:cNvSpPr>
                  <a:spLocks noChangeArrowheads="1"/>
                </p:cNvSpPr>
                <p:nvPr/>
              </p:nvSpPr>
              <p:spPr bwMode="auto">
                <a:xfrm>
                  <a:off x="4511" y="3109"/>
                  <a:ext cx="288" cy="240"/>
                </a:xfrm>
                <a:prstGeom prst="ellipse">
                  <a:avLst/>
                </a:prstGeom>
                <a:solidFill>
                  <a:srgbClr val="0066FF"/>
                </a:solidFill>
                <a:ln w="25400">
                  <a:solidFill>
                    <a:schemeClr val="accent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9487" name="Text Box 24"/>
                <p:cNvSpPr txBox="1">
                  <a:spLocks noChangeArrowheads="1"/>
                </p:cNvSpPr>
                <p:nvPr/>
              </p:nvSpPr>
              <p:spPr bwMode="auto">
                <a:xfrm>
                  <a:off x="4510" y="3113"/>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6</a:t>
                  </a:r>
                  <a:endParaRPr kumimoji="1" lang="en-US" altLang="zh-CN" sz="1800" baseline="-25000" dirty="0">
                    <a:solidFill>
                      <a:schemeClr val="tx1"/>
                    </a:solidFill>
                    <a:ea typeface="楷体_GB2312" pitchFamily="49" charset="-122"/>
                  </a:endParaRPr>
                </a:p>
              </p:txBody>
            </p:sp>
          </p:grpSp>
          <p:sp>
            <p:nvSpPr>
              <p:cNvPr id="19474" name="Line 25"/>
              <p:cNvSpPr>
                <a:spLocks noChangeShapeType="1"/>
              </p:cNvSpPr>
              <p:nvPr/>
            </p:nvSpPr>
            <p:spPr bwMode="auto">
              <a:xfrm flipH="1">
                <a:off x="4411" y="1865"/>
                <a:ext cx="192"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5" name="Line 26"/>
              <p:cNvSpPr>
                <a:spLocks noChangeShapeType="1"/>
              </p:cNvSpPr>
              <p:nvPr/>
            </p:nvSpPr>
            <p:spPr bwMode="auto">
              <a:xfrm>
                <a:off x="4737" y="1865"/>
                <a:ext cx="240" cy="24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6" name="Line 27"/>
              <p:cNvSpPr>
                <a:spLocks noChangeShapeType="1"/>
              </p:cNvSpPr>
              <p:nvPr/>
            </p:nvSpPr>
            <p:spPr bwMode="auto">
              <a:xfrm>
                <a:off x="4406" y="2394"/>
                <a:ext cx="196" cy="199"/>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7" name="Line 28"/>
              <p:cNvSpPr>
                <a:spLocks noChangeShapeType="1"/>
              </p:cNvSpPr>
              <p:nvPr/>
            </p:nvSpPr>
            <p:spPr bwMode="auto">
              <a:xfrm flipH="1">
                <a:off x="4759" y="2345"/>
                <a:ext cx="192" cy="254"/>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8" name="Line 29"/>
              <p:cNvSpPr>
                <a:spLocks noChangeShapeType="1"/>
              </p:cNvSpPr>
              <p:nvPr/>
            </p:nvSpPr>
            <p:spPr bwMode="auto">
              <a:xfrm>
                <a:off x="5022" y="2345"/>
                <a:ext cx="0" cy="22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79" name="Line 30"/>
              <p:cNvSpPr>
                <a:spLocks noChangeShapeType="1"/>
              </p:cNvSpPr>
              <p:nvPr/>
            </p:nvSpPr>
            <p:spPr bwMode="auto">
              <a:xfrm>
                <a:off x="4670" y="2825"/>
                <a:ext cx="0"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80" name="Line 31"/>
              <p:cNvSpPr>
                <a:spLocks noChangeShapeType="1"/>
              </p:cNvSpPr>
              <p:nvPr/>
            </p:nvSpPr>
            <p:spPr bwMode="auto">
              <a:xfrm>
                <a:off x="4671" y="1337"/>
                <a:ext cx="0"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19481" name="AutoShape 32"/>
              <p:cNvCxnSpPr>
                <a:cxnSpLocks noChangeShapeType="1"/>
                <a:stCxn id="19489" idx="3"/>
                <a:endCxn id="19493" idx="3"/>
              </p:cNvCxnSpPr>
              <p:nvPr/>
            </p:nvCxnSpPr>
            <p:spPr bwMode="auto">
              <a:xfrm flipV="1">
                <a:off x="5166" y="2225"/>
                <a:ext cx="1" cy="470"/>
              </a:xfrm>
              <a:prstGeom prst="curvedConnector3">
                <a:avLst>
                  <a:gd name="adj1" fmla="val 14400005"/>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cxnSp>
          <p:sp>
            <p:nvSpPr>
              <p:cNvPr id="19482" name="Text Box 33"/>
              <p:cNvSpPr txBox="1">
                <a:spLocks noChangeArrowheads="1"/>
              </p:cNvSpPr>
              <p:nvPr/>
            </p:nvSpPr>
            <p:spPr bwMode="auto">
              <a:xfrm>
                <a:off x="4807" y="1577"/>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open (f)</a:t>
                </a:r>
              </a:p>
            </p:txBody>
          </p:sp>
          <p:sp>
            <p:nvSpPr>
              <p:cNvPr id="19483" name="Text Box 34"/>
              <p:cNvSpPr txBox="1">
                <a:spLocks noChangeArrowheads="1"/>
              </p:cNvSpPr>
              <p:nvPr/>
            </p:nvSpPr>
            <p:spPr bwMode="auto">
              <a:xfrm>
                <a:off x="3703" y="2153"/>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dirty="0">
                    <a:solidFill>
                      <a:schemeClr val="hlink"/>
                    </a:solidFill>
                    <a:latin typeface="Gill Sans MT" panose="020B0502020104020203" pitchFamily="34" charset="0"/>
                    <a:ea typeface="楷体_GB2312" pitchFamily="49" charset="-122"/>
                  </a:rPr>
                  <a:t>write(t)</a:t>
                </a:r>
              </a:p>
            </p:txBody>
          </p:sp>
          <p:sp>
            <p:nvSpPr>
              <p:cNvPr id="19484" name="Text Box 35"/>
              <p:cNvSpPr txBox="1">
                <a:spLocks noChangeArrowheads="1"/>
              </p:cNvSpPr>
              <p:nvPr/>
            </p:nvSpPr>
            <p:spPr bwMode="auto">
              <a:xfrm>
                <a:off x="4951" y="2777"/>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write (t)</a:t>
                </a:r>
              </a:p>
            </p:txBody>
          </p:sp>
          <p:sp>
            <p:nvSpPr>
              <p:cNvPr id="19485" name="Text Box 36"/>
              <p:cNvSpPr txBox="1">
                <a:spLocks noChangeArrowheads="1"/>
              </p:cNvSpPr>
              <p:nvPr/>
            </p:nvSpPr>
            <p:spPr bwMode="auto">
              <a:xfrm>
                <a:off x="4807" y="3113"/>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close ()</a:t>
                </a:r>
              </a:p>
            </p:txBody>
          </p:sp>
        </p:grpSp>
      </p:grpSp>
      <p:sp>
        <p:nvSpPr>
          <p:cNvPr id="19463" name="Text Box 38"/>
          <p:cNvSpPr txBox="1">
            <a:spLocks noChangeArrowheads="1"/>
          </p:cNvSpPr>
          <p:nvPr/>
        </p:nvSpPr>
        <p:spPr bwMode="auto">
          <a:xfrm>
            <a:off x="1878014" y="966450"/>
            <a:ext cx="843597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90000"/>
              </a:lnSpc>
              <a:spcBef>
                <a:spcPct val="30000"/>
              </a:spcBef>
              <a:buSzPct val="85000"/>
            </a:pPr>
            <a:r>
              <a:rPr lang="en-US" altLang="en-US" sz="2400" dirty="0">
                <a:solidFill>
                  <a:schemeClr val="tx2"/>
                </a:solidFill>
                <a:latin typeface="Gill Sans MT" panose="020B0502020104020203" pitchFamily="34" charset="0"/>
              </a:rPr>
              <a:t>Is there a path that violates any of the sequencing constraints ?</a:t>
            </a:r>
          </a:p>
        </p:txBody>
      </p:sp>
      <p:sp>
        <p:nvSpPr>
          <p:cNvPr id="273447" name="Text Box 39"/>
          <p:cNvSpPr txBox="1">
            <a:spLocks noChangeArrowheads="1"/>
          </p:cNvSpPr>
          <p:nvPr/>
        </p:nvSpPr>
        <p:spPr bwMode="auto">
          <a:xfrm>
            <a:off x="5192713" y="5705031"/>
            <a:ext cx="4627562" cy="469900"/>
          </a:xfrm>
          <a:prstGeom prst="rect">
            <a:avLst/>
          </a:prstGeom>
          <a:solidFill>
            <a:schemeClr val="bg1"/>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t>[ 1, 3, 4, 6 ] </a:t>
            </a:r>
            <a:r>
              <a:rPr lang="en-US" altLang="en-US" sz="2400" dirty="0">
                <a:latin typeface="Gill Sans MT" panose="020B0502020104020203" pitchFamily="34" charset="0"/>
              </a:rPr>
              <a:t>– ADT use anomaly!</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73411">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73411">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73411">
                                            <p:txEl>
                                              <p:pRg st="2" end="2"/>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73411">
                                            <p:txEl>
                                              <p:pRg st="3" end="3"/>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73447"/>
                                        </p:tgtEl>
                                        <p:attrNameLst>
                                          <p:attrName>style.visibility</p:attrName>
                                        </p:attrNameLst>
                                      </p:cBhvr>
                                      <p:to>
                                        <p:strVal val="visible"/>
                                      </p:to>
                                    </p:set>
                                    <p:animEffect transition="in" filter="dissolve">
                                      <p:cBhvr>
                                        <p:cTn id="28" dur="500"/>
                                        <p:tgtEl>
                                          <p:spTgt spid="273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build="p" bldLvl="2"/>
      <p:bldP spid="27344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B73F5480-419F-49E5-8F3D-677BB82B4582}" type="slidenum">
              <a:rPr lang="en-US" altLang="en-US" sz="900" b="0">
                <a:solidFill>
                  <a:schemeClr val="tx1"/>
                </a:solidFill>
              </a:rPr>
              <a:pPr/>
              <a:t>9</a:t>
            </a:fld>
            <a:endParaRPr lang="en-US" altLang="en-US" sz="900" b="0">
              <a:solidFill>
                <a:schemeClr val="tx1"/>
              </a:solidFill>
            </a:endParaRPr>
          </a:p>
        </p:txBody>
      </p:sp>
      <p:sp>
        <p:nvSpPr>
          <p:cNvPr id="20484" name="Rectangle 2"/>
          <p:cNvSpPr>
            <a:spLocks noGrp="1" noChangeArrowheads="1"/>
          </p:cNvSpPr>
          <p:nvPr>
            <p:ph type="title"/>
          </p:nvPr>
        </p:nvSpPr>
        <p:spPr/>
        <p:txBody>
          <a:bodyPr/>
          <a:lstStyle/>
          <a:p>
            <a:r>
              <a:rPr lang="en-US" altLang="en-US"/>
              <a:t>Static Checking</a:t>
            </a:r>
          </a:p>
        </p:txBody>
      </p:sp>
      <p:grpSp>
        <p:nvGrpSpPr>
          <p:cNvPr id="2" name="Group 58"/>
          <p:cNvGrpSpPr>
            <a:grpSpLocks/>
          </p:cNvGrpSpPr>
          <p:nvPr/>
        </p:nvGrpSpPr>
        <p:grpSpPr bwMode="auto">
          <a:xfrm>
            <a:off x="4171950" y="1831976"/>
            <a:ext cx="3848100" cy="3567113"/>
            <a:chOff x="1668" y="1154"/>
            <a:chExt cx="2424" cy="2247"/>
          </a:xfrm>
        </p:grpSpPr>
        <p:sp>
          <p:nvSpPr>
            <p:cNvPr id="20489" name="Rectangle 53"/>
            <p:cNvSpPr>
              <a:spLocks noChangeArrowheads="1"/>
            </p:cNvSpPr>
            <p:nvPr/>
          </p:nvSpPr>
          <p:spPr bwMode="auto">
            <a:xfrm>
              <a:off x="1687" y="1154"/>
              <a:ext cx="2405" cy="2247"/>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490" name="Text Box 32"/>
            <p:cNvSpPr txBox="1">
              <a:spLocks noChangeArrowheads="1"/>
            </p:cNvSpPr>
            <p:nvPr/>
          </p:nvSpPr>
          <p:spPr bwMode="auto">
            <a:xfrm>
              <a:off x="1668" y="3051"/>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close ()</a:t>
              </a:r>
            </a:p>
          </p:txBody>
        </p:sp>
        <p:sp>
          <p:nvSpPr>
            <p:cNvPr id="20491" name="Oval 6"/>
            <p:cNvSpPr>
              <a:spLocks noChangeArrowheads="1"/>
            </p:cNvSpPr>
            <p:nvPr/>
          </p:nvSpPr>
          <p:spPr bwMode="auto">
            <a:xfrm>
              <a:off x="2332" y="1516"/>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endParaRPr lang="en-US" altLang="en-US"/>
            </a:p>
          </p:txBody>
        </p:sp>
        <p:sp>
          <p:nvSpPr>
            <p:cNvPr id="20492" name="Text Box 7"/>
            <p:cNvSpPr txBox="1">
              <a:spLocks noChangeArrowheads="1"/>
            </p:cNvSpPr>
            <p:nvPr/>
          </p:nvSpPr>
          <p:spPr bwMode="auto">
            <a:xfrm>
              <a:off x="2332" y="152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1</a:t>
              </a:r>
              <a:endParaRPr kumimoji="1" lang="en-US" altLang="zh-CN" sz="1800" baseline="-25000" dirty="0">
                <a:solidFill>
                  <a:schemeClr val="tx1"/>
                </a:solidFill>
                <a:ea typeface="楷体_GB2312" pitchFamily="49" charset="-122"/>
              </a:endParaRPr>
            </a:p>
          </p:txBody>
        </p:sp>
        <p:sp>
          <p:nvSpPr>
            <p:cNvPr id="20493" name="Oval 9"/>
            <p:cNvSpPr>
              <a:spLocks noChangeArrowheads="1"/>
            </p:cNvSpPr>
            <p:nvPr/>
          </p:nvSpPr>
          <p:spPr bwMode="auto">
            <a:xfrm>
              <a:off x="2031" y="2020"/>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494" name="Text Box 10"/>
            <p:cNvSpPr txBox="1">
              <a:spLocks noChangeArrowheads="1"/>
            </p:cNvSpPr>
            <p:nvPr/>
          </p:nvSpPr>
          <p:spPr bwMode="auto">
            <a:xfrm>
              <a:off x="2031" y="2024"/>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2</a:t>
              </a:r>
              <a:endParaRPr kumimoji="1" lang="en-US" altLang="zh-CN" sz="1800" baseline="-25000" dirty="0">
                <a:solidFill>
                  <a:schemeClr val="tx1"/>
                </a:solidFill>
                <a:ea typeface="楷体_GB2312" pitchFamily="49" charset="-122"/>
              </a:endParaRPr>
            </a:p>
          </p:txBody>
        </p:sp>
        <p:sp>
          <p:nvSpPr>
            <p:cNvPr id="20495" name="Oval 12"/>
            <p:cNvSpPr>
              <a:spLocks noChangeArrowheads="1"/>
            </p:cNvSpPr>
            <p:nvPr/>
          </p:nvSpPr>
          <p:spPr bwMode="auto">
            <a:xfrm>
              <a:off x="2668" y="2020"/>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496" name="Text Box 13"/>
            <p:cNvSpPr txBox="1">
              <a:spLocks noChangeArrowheads="1"/>
            </p:cNvSpPr>
            <p:nvPr/>
          </p:nvSpPr>
          <p:spPr bwMode="auto">
            <a:xfrm>
              <a:off x="2668" y="2024"/>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3</a:t>
              </a:r>
              <a:endParaRPr kumimoji="1" lang="en-US" altLang="zh-CN" sz="1800" baseline="-25000" dirty="0">
                <a:solidFill>
                  <a:schemeClr val="tx1"/>
                </a:solidFill>
                <a:ea typeface="楷体_GB2312" pitchFamily="49" charset="-122"/>
              </a:endParaRPr>
            </a:p>
          </p:txBody>
        </p:sp>
        <p:sp>
          <p:nvSpPr>
            <p:cNvPr id="20497" name="Oval 15"/>
            <p:cNvSpPr>
              <a:spLocks noChangeArrowheads="1"/>
            </p:cNvSpPr>
            <p:nvPr/>
          </p:nvSpPr>
          <p:spPr bwMode="auto">
            <a:xfrm>
              <a:off x="2332" y="2476"/>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498" name="Text Box 16"/>
            <p:cNvSpPr txBox="1">
              <a:spLocks noChangeArrowheads="1"/>
            </p:cNvSpPr>
            <p:nvPr/>
          </p:nvSpPr>
          <p:spPr bwMode="auto">
            <a:xfrm>
              <a:off x="2332" y="248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4</a:t>
              </a:r>
              <a:endParaRPr kumimoji="1" lang="en-US" altLang="zh-CN" sz="1800" baseline="-25000" dirty="0">
                <a:solidFill>
                  <a:schemeClr val="tx1"/>
                </a:solidFill>
                <a:ea typeface="楷体_GB2312" pitchFamily="49" charset="-122"/>
              </a:endParaRPr>
            </a:p>
          </p:txBody>
        </p:sp>
        <p:sp>
          <p:nvSpPr>
            <p:cNvPr id="20499" name="Oval 18"/>
            <p:cNvSpPr>
              <a:spLocks noChangeArrowheads="1"/>
            </p:cNvSpPr>
            <p:nvPr/>
          </p:nvSpPr>
          <p:spPr bwMode="auto">
            <a:xfrm>
              <a:off x="2922" y="2416"/>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500" name="Text Box 19"/>
            <p:cNvSpPr txBox="1">
              <a:spLocks noChangeArrowheads="1"/>
            </p:cNvSpPr>
            <p:nvPr/>
          </p:nvSpPr>
          <p:spPr bwMode="auto">
            <a:xfrm>
              <a:off x="2922" y="242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5</a:t>
              </a:r>
              <a:endParaRPr kumimoji="1" lang="en-US" altLang="zh-CN" sz="1800" baseline="-25000" dirty="0">
                <a:solidFill>
                  <a:schemeClr val="tx1"/>
                </a:solidFill>
                <a:ea typeface="楷体_GB2312" pitchFamily="49" charset="-122"/>
              </a:endParaRPr>
            </a:p>
          </p:txBody>
        </p:sp>
        <p:sp>
          <p:nvSpPr>
            <p:cNvPr id="20501" name="Oval 20"/>
            <p:cNvSpPr>
              <a:spLocks noChangeArrowheads="1"/>
            </p:cNvSpPr>
            <p:nvPr/>
          </p:nvSpPr>
          <p:spPr bwMode="auto">
            <a:xfrm>
              <a:off x="2332" y="3004"/>
              <a:ext cx="288" cy="240"/>
            </a:xfrm>
            <a:prstGeom prst="ellipse">
              <a:avLst/>
            </a:prstGeom>
            <a:solidFill>
              <a:srgbClr val="0066FF"/>
            </a:solidFill>
            <a:ln w="25400">
              <a:solidFill>
                <a:schemeClr val="accent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502" name="Text Box 21"/>
            <p:cNvSpPr txBox="1">
              <a:spLocks noChangeArrowheads="1"/>
            </p:cNvSpPr>
            <p:nvPr/>
          </p:nvSpPr>
          <p:spPr bwMode="auto">
            <a:xfrm>
              <a:off x="2332" y="300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8</a:t>
              </a:r>
              <a:endParaRPr kumimoji="1" lang="en-US" altLang="zh-CN" sz="1800" baseline="-25000" dirty="0">
                <a:solidFill>
                  <a:schemeClr val="tx1"/>
                </a:solidFill>
                <a:ea typeface="楷体_GB2312" pitchFamily="49" charset="-122"/>
              </a:endParaRPr>
            </a:p>
          </p:txBody>
        </p:sp>
        <p:sp>
          <p:nvSpPr>
            <p:cNvPr id="20503" name="Line 22"/>
            <p:cNvSpPr>
              <a:spLocks noChangeShapeType="1"/>
            </p:cNvSpPr>
            <p:nvPr/>
          </p:nvSpPr>
          <p:spPr bwMode="auto">
            <a:xfrm flipH="1">
              <a:off x="2229" y="1749"/>
              <a:ext cx="177" cy="273"/>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4" name="Line 23"/>
            <p:cNvSpPr>
              <a:spLocks noChangeShapeType="1"/>
            </p:cNvSpPr>
            <p:nvPr/>
          </p:nvSpPr>
          <p:spPr bwMode="auto">
            <a:xfrm>
              <a:off x="2556" y="1734"/>
              <a:ext cx="205" cy="304"/>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5" name="Line 24"/>
            <p:cNvSpPr>
              <a:spLocks noChangeShapeType="1"/>
            </p:cNvSpPr>
            <p:nvPr/>
          </p:nvSpPr>
          <p:spPr bwMode="auto">
            <a:xfrm>
              <a:off x="2238" y="2256"/>
              <a:ext cx="168" cy="242"/>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6" name="Line 25"/>
            <p:cNvSpPr>
              <a:spLocks noChangeShapeType="1"/>
            </p:cNvSpPr>
            <p:nvPr/>
          </p:nvSpPr>
          <p:spPr bwMode="auto">
            <a:xfrm flipH="1">
              <a:off x="2556" y="2236"/>
              <a:ext cx="184" cy="247"/>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7" name="Line 26"/>
            <p:cNvSpPr>
              <a:spLocks noChangeShapeType="1"/>
            </p:cNvSpPr>
            <p:nvPr/>
          </p:nvSpPr>
          <p:spPr bwMode="auto">
            <a:xfrm>
              <a:off x="2879" y="2263"/>
              <a:ext cx="141" cy="175"/>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8" name="Line 27"/>
            <p:cNvSpPr>
              <a:spLocks noChangeShapeType="1"/>
            </p:cNvSpPr>
            <p:nvPr/>
          </p:nvSpPr>
          <p:spPr bwMode="auto">
            <a:xfrm>
              <a:off x="2476" y="2716"/>
              <a:ext cx="0"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9" name="Line 28"/>
            <p:cNvSpPr>
              <a:spLocks noChangeShapeType="1"/>
            </p:cNvSpPr>
            <p:nvPr/>
          </p:nvSpPr>
          <p:spPr bwMode="auto">
            <a:xfrm>
              <a:off x="2476" y="1228"/>
              <a:ext cx="0" cy="288"/>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0" name="Text Box 29"/>
            <p:cNvSpPr txBox="1">
              <a:spLocks noChangeArrowheads="1"/>
            </p:cNvSpPr>
            <p:nvPr/>
          </p:nvSpPr>
          <p:spPr bwMode="auto">
            <a:xfrm>
              <a:off x="2546" y="1475"/>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eaLnBrk="1" hangingPunct="1">
                <a:spcBef>
                  <a:spcPct val="50000"/>
                </a:spcBef>
              </a:pPr>
              <a:r>
                <a:rPr kumimoji="1" lang="en-US" altLang="zh-CN" sz="1800" dirty="0">
                  <a:solidFill>
                    <a:schemeClr val="hlink"/>
                  </a:solidFill>
                  <a:latin typeface="Gill Sans MT" panose="020B0502020104020203" pitchFamily="34" charset="0"/>
                  <a:ea typeface="楷体_GB2312" pitchFamily="49" charset="-122"/>
                </a:rPr>
                <a:t>open (f)</a:t>
              </a:r>
            </a:p>
          </p:txBody>
        </p:sp>
        <p:sp>
          <p:nvSpPr>
            <p:cNvPr id="20511" name="Text Box 30"/>
            <p:cNvSpPr txBox="1">
              <a:spLocks noChangeArrowheads="1"/>
            </p:cNvSpPr>
            <p:nvPr/>
          </p:nvSpPr>
          <p:spPr bwMode="auto">
            <a:xfrm>
              <a:off x="1771" y="2527"/>
              <a:ext cx="57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write (t)</a:t>
              </a:r>
            </a:p>
          </p:txBody>
        </p:sp>
        <p:sp>
          <p:nvSpPr>
            <p:cNvPr id="20512" name="Text Box 31"/>
            <p:cNvSpPr txBox="1">
              <a:spLocks noChangeArrowheads="1"/>
            </p:cNvSpPr>
            <p:nvPr/>
          </p:nvSpPr>
          <p:spPr bwMode="auto">
            <a:xfrm>
              <a:off x="3124" y="2284"/>
              <a:ext cx="66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eaLnBrk="1" hangingPunct="1">
                <a:spcBef>
                  <a:spcPct val="50000"/>
                </a:spcBef>
              </a:pPr>
              <a:r>
                <a:rPr kumimoji="1" lang="en-US" altLang="zh-CN" sz="1800" dirty="0">
                  <a:solidFill>
                    <a:schemeClr val="hlink"/>
                  </a:solidFill>
                  <a:latin typeface="Gill Sans MT" panose="020B0502020104020203" pitchFamily="34" charset="0"/>
                  <a:ea typeface="楷体_GB2312" pitchFamily="49" charset="-122"/>
                </a:rPr>
                <a:t>write (t)</a:t>
              </a:r>
            </a:p>
          </p:txBody>
        </p:sp>
        <p:sp>
          <p:nvSpPr>
            <p:cNvPr id="20513" name="Oval 34"/>
            <p:cNvSpPr>
              <a:spLocks noChangeArrowheads="1"/>
            </p:cNvSpPr>
            <p:nvPr/>
          </p:nvSpPr>
          <p:spPr bwMode="auto">
            <a:xfrm>
              <a:off x="2730" y="2800"/>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0514" name="Text Box 35"/>
            <p:cNvSpPr txBox="1">
              <a:spLocks noChangeArrowheads="1"/>
            </p:cNvSpPr>
            <p:nvPr/>
          </p:nvSpPr>
          <p:spPr bwMode="auto">
            <a:xfrm>
              <a:off x="2730" y="2804"/>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6</a:t>
              </a:r>
              <a:endParaRPr kumimoji="1" lang="en-US" altLang="zh-CN" sz="1800" baseline="-25000" dirty="0">
                <a:solidFill>
                  <a:schemeClr val="tx1"/>
                </a:solidFill>
                <a:ea typeface="楷体_GB2312" pitchFamily="49" charset="-122"/>
              </a:endParaRPr>
            </a:p>
          </p:txBody>
        </p:sp>
        <p:sp>
          <p:nvSpPr>
            <p:cNvPr id="20515" name="Oval 37"/>
            <p:cNvSpPr>
              <a:spLocks noChangeArrowheads="1"/>
            </p:cNvSpPr>
            <p:nvPr/>
          </p:nvSpPr>
          <p:spPr bwMode="auto">
            <a:xfrm>
              <a:off x="3210" y="2800"/>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endParaRPr lang="en-US" altLang="en-US" dirty="0"/>
            </a:p>
          </p:txBody>
        </p:sp>
        <p:sp>
          <p:nvSpPr>
            <p:cNvPr id="20516" name="Text Box 38"/>
            <p:cNvSpPr txBox="1">
              <a:spLocks noChangeArrowheads="1"/>
            </p:cNvSpPr>
            <p:nvPr/>
          </p:nvSpPr>
          <p:spPr bwMode="auto">
            <a:xfrm>
              <a:off x="3210" y="2804"/>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7</a:t>
              </a:r>
              <a:endParaRPr kumimoji="1" lang="en-US" altLang="zh-CN" sz="1800" baseline="-25000" dirty="0">
                <a:solidFill>
                  <a:schemeClr val="tx1"/>
                </a:solidFill>
                <a:ea typeface="楷体_GB2312" pitchFamily="49" charset="-122"/>
              </a:endParaRPr>
            </a:p>
          </p:txBody>
        </p:sp>
        <p:sp>
          <p:nvSpPr>
            <p:cNvPr id="20517" name="Line 39"/>
            <p:cNvSpPr>
              <a:spLocks noChangeShapeType="1"/>
            </p:cNvSpPr>
            <p:nvPr/>
          </p:nvSpPr>
          <p:spPr bwMode="auto">
            <a:xfrm flipH="1">
              <a:off x="2898" y="2663"/>
              <a:ext cx="110" cy="137"/>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8" name="Line 40"/>
            <p:cNvSpPr>
              <a:spLocks noChangeShapeType="1"/>
            </p:cNvSpPr>
            <p:nvPr/>
          </p:nvSpPr>
          <p:spPr bwMode="auto">
            <a:xfrm>
              <a:off x="3145" y="2630"/>
              <a:ext cx="123" cy="187"/>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20519" name="AutoShape 41"/>
            <p:cNvCxnSpPr>
              <a:cxnSpLocks noChangeShapeType="1"/>
              <a:stCxn id="20513" idx="4"/>
              <a:endCxn id="20515" idx="4"/>
            </p:cNvCxnSpPr>
            <p:nvPr/>
          </p:nvCxnSpPr>
          <p:spPr bwMode="auto">
            <a:xfrm rot="16200000" flipH="1">
              <a:off x="3113" y="2801"/>
              <a:ext cx="1" cy="480"/>
            </a:xfrm>
            <a:prstGeom prst="curvedConnector3">
              <a:avLst>
                <a:gd name="adj1" fmla="val 14400005"/>
              </a:avLst>
            </a:prstGeom>
            <a:noFill/>
            <a:ln w="25400">
              <a:solidFill>
                <a:schemeClr val="folHlink"/>
              </a:solidFill>
              <a:round/>
              <a:headEnd/>
              <a:tailEnd/>
            </a:ln>
            <a:extLst>
              <a:ext uri="{909E8E84-426E-40DD-AFC4-6F175D3DCCD1}">
                <a14:hiddenFill xmlns:a14="http://schemas.microsoft.com/office/drawing/2010/main">
                  <a:noFill/>
                </a14:hiddenFill>
              </a:ext>
            </a:extLst>
          </p:spPr>
        </p:cxnSp>
        <p:sp>
          <p:nvSpPr>
            <p:cNvPr id="20520" name="Freeform 42"/>
            <p:cNvSpPr>
              <a:spLocks/>
            </p:cNvSpPr>
            <p:nvPr/>
          </p:nvSpPr>
          <p:spPr bwMode="auto">
            <a:xfrm>
              <a:off x="2947" y="2012"/>
              <a:ext cx="1113" cy="1271"/>
            </a:xfrm>
            <a:custGeom>
              <a:avLst/>
              <a:gdLst>
                <a:gd name="T0" fmla="*/ 174 w 1128"/>
                <a:gd name="T1" fmla="*/ 1918 h 1184"/>
                <a:gd name="T2" fmla="*/ 474 w 1128"/>
                <a:gd name="T3" fmla="*/ 2088 h 1184"/>
                <a:gd name="T4" fmla="*/ 777 w 1128"/>
                <a:gd name="T5" fmla="*/ 1918 h 1184"/>
                <a:gd name="T6" fmla="*/ 992 w 1128"/>
                <a:gd name="T7" fmla="*/ 1412 h 1184"/>
                <a:gd name="T8" fmla="*/ 906 w 1128"/>
                <a:gd name="T9" fmla="*/ 481 h 1184"/>
                <a:gd name="T10" fmla="*/ 474 w 1128"/>
                <a:gd name="T11" fmla="*/ 56 h 1184"/>
                <a:gd name="T12" fmla="*/ 0 w 1128"/>
                <a:gd name="T13" fmla="*/ 141 h 1184"/>
                <a:gd name="T14" fmla="*/ 0 60000 65536"/>
                <a:gd name="T15" fmla="*/ 0 60000 65536"/>
                <a:gd name="T16" fmla="*/ 0 60000 65536"/>
                <a:gd name="T17" fmla="*/ 0 60000 65536"/>
                <a:gd name="T18" fmla="*/ 0 60000 65536"/>
                <a:gd name="T19" fmla="*/ 0 60000 65536"/>
                <a:gd name="T20" fmla="*/ 0 60000 65536"/>
                <a:gd name="T21" fmla="*/ 0 w 1128"/>
                <a:gd name="T22" fmla="*/ 0 h 1184"/>
                <a:gd name="T23" fmla="*/ 1128 w 1128"/>
                <a:gd name="T24" fmla="*/ 1184 h 11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8" h="1184">
                  <a:moveTo>
                    <a:pt x="192" y="1088"/>
                  </a:moveTo>
                  <a:cubicBezTo>
                    <a:pt x="304" y="1136"/>
                    <a:pt x="416" y="1184"/>
                    <a:pt x="528" y="1184"/>
                  </a:cubicBezTo>
                  <a:cubicBezTo>
                    <a:pt x="640" y="1184"/>
                    <a:pt x="768" y="1152"/>
                    <a:pt x="864" y="1088"/>
                  </a:cubicBezTo>
                  <a:cubicBezTo>
                    <a:pt x="960" y="1024"/>
                    <a:pt x="1080" y="936"/>
                    <a:pt x="1104" y="800"/>
                  </a:cubicBezTo>
                  <a:cubicBezTo>
                    <a:pt x="1128" y="664"/>
                    <a:pt x="1104" y="400"/>
                    <a:pt x="1008" y="272"/>
                  </a:cubicBezTo>
                  <a:cubicBezTo>
                    <a:pt x="912" y="144"/>
                    <a:pt x="696" y="64"/>
                    <a:pt x="528" y="32"/>
                  </a:cubicBezTo>
                  <a:cubicBezTo>
                    <a:pt x="360" y="0"/>
                    <a:pt x="88" y="72"/>
                    <a:pt x="0" y="80"/>
                  </a:cubicBezTo>
                </a:path>
              </a:pathLst>
            </a:custGeom>
            <a:noFill/>
            <a:ln w="25400">
              <a:solidFill>
                <a:schemeClr val="fo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21" name="Text Box 43"/>
            <p:cNvSpPr txBox="1">
              <a:spLocks noChangeArrowheads="1"/>
            </p:cNvSpPr>
            <p:nvPr/>
          </p:nvSpPr>
          <p:spPr bwMode="auto">
            <a:xfrm>
              <a:off x="3370" y="2716"/>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eaLnBrk="1" hangingPunct="1">
                <a:spcBef>
                  <a:spcPct val="50000"/>
                </a:spcBef>
              </a:pPr>
              <a:r>
                <a:rPr kumimoji="1" lang="en-US" altLang="zh-CN" sz="1800" dirty="0">
                  <a:solidFill>
                    <a:schemeClr val="hlink"/>
                  </a:solidFill>
                  <a:latin typeface="Gill Sans MT" panose="020B0502020104020203" pitchFamily="34" charset="0"/>
                  <a:ea typeface="楷体_GB2312" pitchFamily="49" charset="-122"/>
                </a:rPr>
                <a:t>close ()</a:t>
              </a:r>
            </a:p>
          </p:txBody>
        </p:sp>
      </p:grpSp>
      <p:sp>
        <p:nvSpPr>
          <p:cNvPr id="20486" name="Text Box 56"/>
          <p:cNvSpPr txBox="1">
            <a:spLocks noChangeArrowheads="1"/>
          </p:cNvSpPr>
          <p:nvPr/>
        </p:nvSpPr>
        <p:spPr bwMode="auto">
          <a:xfrm>
            <a:off x="1878014" y="1074738"/>
            <a:ext cx="84359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90000"/>
              </a:lnSpc>
              <a:spcBef>
                <a:spcPct val="30000"/>
              </a:spcBef>
              <a:buSzPct val="85000"/>
            </a:pPr>
            <a:r>
              <a:rPr lang="en-US" altLang="en-US" sz="2800" dirty="0">
                <a:solidFill>
                  <a:schemeClr val="tx1"/>
                </a:solidFill>
                <a:latin typeface="Gill Sans MT" panose="020B0502020104020203" pitchFamily="34" charset="0"/>
              </a:rPr>
              <a:t>Consider the following graph :</a:t>
            </a:r>
          </a:p>
        </p:txBody>
      </p:sp>
      <p:sp>
        <p:nvSpPr>
          <p:cNvPr id="274489" name="Text Box 57"/>
          <p:cNvSpPr txBox="1">
            <a:spLocks noChangeArrowheads="1"/>
          </p:cNvSpPr>
          <p:nvPr/>
        </p:nvSpPr>
        <p:spPr bwMode="auto">
          <a:xfrm>
            <a:off x="3593433" y="5680076"/>
            <a:ext cx="4979570" cy="461665"/>
          </a:xfrm>
          <a:prstGeom prst="rect">
            <a:avLst/>
          </a:prstGeom>
          <a:solidFill>
            <a:schemeClr val="bg1"/>
          </a:solidFill>
          <a:ln w="12700">
            <a:solidFill>
              <a:schemeClr val="tx1"/>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t>[ 7, 3, 4 ] – </a:t>
            </a:r>
            <a:r>
              <a:rPr lang="en-US" altLang="en-US" sz="2400" dirty="0">
                <a:latin typeface="Gill Sans MT" panose="020B0502020104020203" pitchFamily="34" charset="0"/>
              </a:rPr>
              <a:t>close () before write ()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4489"/>
                                        </p:tgtEl>
                                        <p:attrNameLst>
                                          <p:attrName>style.visibility</p:attrName>
                                        </p:attrNameLst>
                                      </p:cBhvr>
                                      <p:to>
                                        <p:strVal val="visible"/>
                                      </p:to>
                                    </p:set>
                                    <p:animEffect transition="in" filter="dissolve">
                                      <p:cBhvr>
                                        <p:cTn id="12" dur="500"/>
                                        <p:tgtEl>
                                          <p:spTgt spid="274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8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21824769-B40C-4F9C-A1F9-2C5C694F9244}" type="slidenum">
              <a:rPr lang="en-US" altLang="en-US" sz="900" b="0">
                <a:solidFill>
                  <a:schemeClr val="tx1"/>
                </a:solidFill>
              </a:rPr>
              <a:pPr/>
              <a:t>10</a:t>
            </a:fld>
            <a:endParaRPr lang="en-US" altLang="en-US" sz="900" b="0">
              <a:solidFill>
                <a:schemeClr val="tx1"/>
              </a:solidFill>
            </a:endParaRPr>
          </a:p>
        </p:txBody>
      </p:sp>
      <p:sp>
        <p:nvSpPr>
          <p:cNvPr id="21508" name="Rectangle 2"/>
          <p:cNvSpPr>
            <a:spLocks noGrp="1" noChangeArrowheads="1"/>
          </p:cNvSpPr>
          <p:nvPr>
            <p:ph type="title"/>
          </p:nvPr>
        </p:nvSpPr>
        <p:spPr/>
        <p:txBody>
          <a:bodyPr/>
          <a:lstStyle/>
          <a:p>
            <a:r>
              <a:rPr lang="en-US" altLang="en-US"/>
              <a:t>Generating Test Requirements</a:t>
            </a:r>
          </a:p>
        </p:txBody>
      </p:sp>
      <p:sp>
        <p:nvSpPr>
          <p:cNvPr id="280579" name="Rectangle 3"/>
          <p:cNvSpPr>
            <a:spLocks noGrp="1" noChangeArrowheads="1"/>
          </p:cNvSpPr>
          <p:nvPr>
            <p:ph type="body" idx="1"/>
          </p:nvPr>
        </p:nvSpPr>
        <p:spPr>
          <a:xfrm>
            <a:off x="1719264" y="4911725"/>
            <a:ext cx="8707437" cy="1404938"/>
          </a:xfrm>
        </p:spPr>
        <p:txBody>
          <a:bodyPr/>
          <a:lstStyle/>
          <a:p>
            <a:r>
              <a:rPr lang="en-US" altLang="en-US" b="0" dirty="0"/>
              <a:t>Use the sequencing constraints to generate </a:t>
            </a:r>
            <a:r>
              <a:rPr lang="en-US" altLang="en-US" b="0" dirty="0">
                <a:solidFill>
                  <a:schemeClr val="tx2"/>
                </a:solidFill>
              </a:rPr>
              <a:t>test requirements</a:t>
            </a:r>
          </a:p>
          <a:p>
            <a:r>
              <a:rPr lang="en-US" altLang="en-US" b="0" dirty="0"/>
              <a:t>The goal is to </a:t>
            </a:r>
            <a:r>
              <a:rPr lang="en-US" altLang="en-US" b="0" dirty="0">
                <a:solidFill>
                  <a:schemeClr val="tx2"/>
                </a:solidFill>
              </a:rPr>
              <a:t>violate</a:t>
            </a:r>
            <a:r>
              <a:rPr lang="en-US" altLang="en-US" b="0" dirty="0"/>
              <a:t> every sequencing constraint</a:t>
            </a:r>
          </a:p>
        </p:txBody>
      </p:sp>
      <p:sp>
        <p:nvSpPr>
          <p:cNvPr id="21510" name="Rectangle 5"/>
          <p:cNvSpPr>
            <a:spLocks noChangeArrowheads="1"/>
          </p:cNvSpPr>
          <p:nvPr/>
        </p:nvSpPr>
        <p:spPr bwMode="auto">
          <a:xfrm>
            <a:off x="1730375" y="1098550"/>
            <a:ext cx="2914650" cy="3543300"/>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nvGrpSpPr>
          <p:cNvPr id="21511" name="Group 7"/>
          <p:cNvGrpSpPr>
            <a:grpSpLocks/>
          </p:cNvGrpSpPr>
          <p:nvPr/>
        </p:nvGrpSpPr>
        <p:grpSpPr bwMode="auto">
          <a:xfrm>
            <a:off x="2971800" y="1730375"/>
            <a:ext cx="457200" cy="381000"/>
            <a:chOff x="4543" y="1625"/>
            <a:chExt cx="288" cy="240"/>
          </a:xfrm>
        </p:grpSpPr>
        <p:sp>
          <p:nvSpPr>
            <p:cNvPr id="21542" name="Oval 8"/>
            <p:cNvSpPr>
              <a:spLocks noChangeArrowheads="1"/>
            </p:cNvSpPr>
            <p:nvPr/>
          </p:nvSpPr>
          <p:spPr bwMode="auto">
            <a:xfrm>
              <a:off x="4543" y="162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1543" name="Text Box 9"/>
            <p:cNvSpPr txBox="1">
              <a:spLocks noChangeArrowheads="1"/>
            </p:cNvSpPr>
            <p:nvPr/>
          </p:nvSpPr>
          <p:spPr bwMode="auto">
            <a:xfrm>
              <a:off x="4543" y="162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1</a:t>
              </a:r>
              <a:endParaRPr kumimoji="1" lang="en-US" altLang="zh-CN" sz="1800" baseline="-25000" dirty="0">
                <a:solidFill>
                  <a:schemeClr val="tx1"/>
                </a:solidFill>
                <a:ea typeface="楷体_GB2312" pitchFamily="49" charset="-122"/>
              </a:endParaRPr>
            </a:p>
          </p:txBody>
        </p:sp>
      </p:grpSp>
      <p:grpSp>
        <p:nvGrpSpPr>
          <p:cNvPr id="21512" name="Group 10"/>
          <p:cNvGrpSpPr>
            <a:grpSpLocks/>
          </p:cNvGrpSpPr>
          <p:nvPr/>
        </p:nvGrpSpPr>
        <p:grpSpPr bwMode="auto">
          <a:xfrm>
            <a:off x="2463800" y="2568575"/>
            <a:ext cx="457200" cy="381000"/>
            <a:chOff x="4207" y="2153"/>
            <a:chExt cx="288" cy="240"/>
          </a:xfrm>
        </p:grpSpPr>
        <p:sp>
          <p:nvSpPr>
            <p:cNvPr id="21540" name="Oval 11"/>
            <p:cNvSpPr>
              <a:spLocks noChangeArrowheads="1"/>
            </p:cNvSpPr>
            <p:nvPr/>
          </p:nvSpPr>
          <p:spPr bwMode="auto">
            <a:xfrm>
              <a:off x="4207" y="2153"/>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1541" name="Text Box 12"/>
            <p:cNvSpPr txBox="1">
              <a:spLocks noChangeArrowheads="1"/>
            </p:cNvSpPr>
            <p:nvPr/>
          </p:nvSpPr>
          <p:spPr bwMode="auto">
            <a:xfrm>
              <a:off x="4207" y="2157"/>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2</a:t>
              </a:r>
              <a:endParaRPr kumimoji="1" lang="en-US" altLang="zh-CN" sz="1800" baseline="-25000" dirty="0">
                <a:solidFill>
                  <a:schemeClr val="tx1"/>
                </a:solidFill>
                <a:ea typeface="楷体_GB2312" pitchFamily="49" charset="-122"/>
              </a:endParaRPr>
            </a:p>
          </p:txBody>
        </p:sp>
      </p:grpSp>
      <p:grpSp>
        <p:nvGrpSpPr>
          <p:cNvPr id="21513" name="Group 13"/>
          <p:cNvGrpSpPr>
            <a:grpSpLocks/>
          </p:cNvGrpSpPr>
          <p:nvPr/>
        </p:nvGrpSpPr>
        <p:grpSpPr bwMode="auto">
          <a:xfrm>
            <a:off x="3529013" y="2492375"/>
            <a:ext cx="457200" cy="381000"/>
            <a:chOff x="4879" y="2105"/>
            <a:chExt cx="288" cy="240"/>
          </a:xfrm>
        </p:grpSpPr>
        <p:sp>
          <p:nvSpPr>
            <p:cNvPr id="21538" name="Oval 14"/>
            <p:cNvSpPr>
              <a:spLocks noChangeArrowheads="1"/>
            </p:cNvSpPr>
            <p:nvPr/>
          </p:nvSpPr>
          <p:spPr bwMode="auto">
            <a:xfrm>
              <a:off x="4879" y="210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1539" name="Text Box 15"/>
            <p:cNvSpPr txBox="1">
              <a:spLocks noChangeArrowheads="1"/>
            </p:cNvSpPr>
            <p:nvPr/>
          </p:nvSpPr>
          <p:spPr bwMode="auto">
            <a:xfrm>
              <a:off x="4879" y="210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3</a:t>
              </a:r>
              <a:endParaRPr kumimoji="1" lang="en-US" altLang="zh-CN" sz="1800" baseline="-25000" dirty="0">
                <a:solidFill>
                  <a:schemeClr val="tx1"/>
                </a:solidFill>
                <a:ea typeface="楷体_GB2312" pitchFamily="49" charset="-122"/>
              </a:endParaRPr>
            </a:p>
          </p:txBody>
        </p:sp>
      </p:grpSp>
      <p:grpSp>
        <p:nvGrpSpPr>
          <p:cNvPr id="21514" name="Group 16"/>
          <p:cNvGrpSpPr>
            <a:grpSpLocks/>
          </p:cNvGrpSpPr>
          <p:nvPr/>
        </p:nvGrpSpPr>
        <p:grpSpPr bwMode="auto">
          <a:xfrm>
            <a:off x="2971800" y="3238500"/>
            <a:ext cx="457200" cy="381000"/>
            <a:chOff x="4543" y="2585"/>
            <a:chExt cx="288" cy="240"/>
          </a:xfrm>
        </p:grpSpPr>
        <p:sp>
          <p:nvSpPr>
            <p:cNvPr id="21536" name="Oval 17"/>
            <p:cNvSpPr>
              <a:spLocks noChangeArrowheads="1"/>
            </p:cNvSpPr>
            <p:nvPr/>
          </p:nvSpPr>
          <p:spPr bwMode="auto">
            <a:xfrm>
              <a:off x="4543" y="2585"/>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1537" name="Text Box 18"/>
            <p:cNvSpPr txBox="1">
              <a:spLocks noChangeArrowheads="1"/>
            </p:cNvSpPr>
            <p:nvPr/>
          </p:nvSpPr>
          <p:spPr bwMode="auto">
            <a:xfrm>
              <a:off x="4543" y="2589"/>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4</a:t>
              </a:r>
              <a:endParaRPr kumimoji="1" lang="en-US" altLang="zh-CN" sz="1800" baseline="-25000" dirty="0">
                <a:solidFill>
                  <a:schemeClr val="tx1"/>
                </a:solidFill>
                <a:ea typeface="楷体_GB2312" pitchFamily="49" charset="-122"/>
              </a:endParaRPr>
            </a:p>
          </p:txBody>
        </p:sp>
      </p:grpSp>
      <p:grpSp>
        <p:nvGrpSpPr>
          <p:cNvPr id="21515" name="Group 19"/>
          <p:cNvGrpSpPr>
            <a:grpSpLocks/>
          </p:cNvGrpSpPr>
          <p:nvPr/>
        </p:nvGrpSpPr>
        <p:grpSpPr bwMode="auto">
          <a:xfrm>
            <a:off x="3529013" y="3238500"/>
            <a:ext cx="457200" cy="381000"/>
            <a:chOff x="4975" y="2537"/>
            <a:chExt cx="288" cy="240"/>
          </a:xfrm>
        </p:grpSpPr>
        <p:sp>
          <p:nvSpPr>
            <p:cNvPr id="21534" name="Oval 20"/>
            <p:cNvSpPr>
              <a:spLocks noChangeArrowheads="1"/>
            </p:cNvSpPr>
            <p:nvPr/>
          </p:nvSpPr>
          <p:spPr bwMode="auto">
            <a:xfrm>
              <a:off x="4975" y="2537"/>
              <a:ext cx="288" cy="240"/>
            </a:xfrm>
            <a:prstGeom prst="ellipse">
              <a:avLst/>
            </a:prstGeom>
            <a:solidFill>
              <a:srgbClr val="0066FF"/>
            </a:solidFill>
            <a:ln w="9525">
              <a:solidFill>
                <a:schemeClr val="tx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1535" name="Text Box 21"/>
            <p:cNvSpPr txBox="1">
              <a:spLocks noChangeArrowheads="1"/>
            </p:cNvSpPr>
            <p:nvPr/>
          </p:nvSpPr>
          <p:spPr bwMode="auto">
            <a:xfrm>
              <a:off x="4975" y="2541"/>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5</a:t>
              </a:r>
              <a:endParaRPr kumimoji="1" lang="en-US" altLang="zh-CN" sz="1800" baseline="-25000" dirty="0">
                <a:solidFill>
                  <a:schemeClr val="tx1"/>
                </a:solidFill>
                <a:ea typeface="楷体_GB2312" pitchFamily="49" charset="-122"/>
              </a:endParaRPr>
            </a:p>
          </p:txBody>
        </p:sp>
      </p:grpSp>
      <p:grpSp>
        <p:nvGrpSpPr>
          <p:cNvPr id="21516" name="Group 22"/>
          <p:cNvGrpSpPr>
            <a:grpSpLocks/>
          </p:cNvGrpSpPr>
          <p:nvPr/>
        </p:nvGrpSpPr>
        <p:grpSpPr bwMode="auto">
          <a:xfrm>
            <a:off x="2970214" y="4086225"/>
            <a:ext cx="458787" cy="381000"/>
            <a:chOff x="4510" y="3109"/>
            <a:chExt cx="289" cy="240"/>
          </a:xfrm>
        </p:grpSpPr>
        <p:sp>
          <p:nvSpPr>
            <p:cNvPr id="21532" name="Oval 23"/>
            <p:cNvSpPr>
              <a:spLocks noChangeArrowheads="1"/>
            </p:cNvSpPr>
            <p:nvPr/>
          </p:nvSpPr>
          <p:spPr bwMode="auto">
            <a:xfrm>
              <a:off x="4511" y="3109"/>
              <a:ext cx="288" cy="240"/>
            </a:xfrm>
            <a:prstGeom prst="ellipse">
              <a:avLst/>
            </a:prstGeom>
            <a:solidFill>
              <a:srgbClr val="0066FF"/>
            </a:solidFill>
            <a:ln w="25400">
              <a:solidFill>
                <a:schemeClr val="accent1"/>
              </a:solidFill>
              <a:round/>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21533" name="Text Box 24"/>
            <p:cNvSpPr txBox="1">
              <a:spLocks noChangeArrowheads="1"/>
            </p:cNvSpPr>
            <p:nvPr/>
          </p:nvSpPr>
          <p:spPr bwMode="auto">
            <a:xfrm>
              <a:off x="4510" y="3113"/>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1800" dirty="0">
                  <a:solidFill>
                    <a:schemeClr val="tx1"/>
                  </a:solidFill>
                  <a:ea typeface="楷体_GB2312" pitchFamily="49" charset="-122"/>
                </a:rPr>
                <a:t>6</a:t>
              </a:r>
              <a:endParaRPr kumimoji="1" lang="en-US" altLang="zh-CN" sz="1800" baseline="-25000" dirty="0">
                <a:solidFill>
                  <a:schemeClr val="tx1"/>
                </a:solidFill>
                <a:ea typeface="楷体_GB2312" pitchFamily="49" charset="-122"/>
              </a:endParaRPr>
            </a:p>
          </p:txBody>
        </p:sp>
      </p:grpSp>
      <p:sp>
        <p:nvSpPr>
          <p:cNvPr id="21517" name="Line 25"/>
          <p:cNvSpPr>
            <a:spLocks noChangeShapeType="1"/>
          </p:cNvSpPr>
          <p:nvPr/>
        </p:nvSpPr>
        <p:spPr bwMode="auto">
          <a:xfrm flipH="1">
            <a:off x="2787650" y="2111375"/>
            <a:ext cx="304800" cy="45720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8" name="Line 26"/>
          <p:cNvSpPr>
            <a:spLocks noChangeShapeType="1"/>
          </p:cNvSpPr>
          <p:nvPr/>
        </p:nvSpPr>
        <p:spPr bwMode="auto">
          <a:xfrm>
            <a:off x="3305175" y="2111375"/>
            <a:ext cx="381000" cy="38100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9" name="Line 27"/>
          <p:cNvSpPr>
            <a:spLocks noChangeShapeType="1"/>
          </p:cNvSpPr>
          <p:nvPr/>
        </p:nvSpPr>
        <p:spPr bwMode="auto">
          <a:xfrm>
            <a:off x="2779713" y="2951163"/>
            <a:ext cx="311150" cy="315912"/>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0" name="Line 28"/>
          <p:cNvSpPr>
            <a:spLocks noChangeShapeType="1"/>
          </p:cNvSpPr>
          <p:nvPr/>
        </p:nvSpPr>
        <p:spPr bwMode="auto">
          <a:xfrm flipH="1">
            <a:off x="3340100" y="2873376"/>
            <a:ext cx="304800" cy="403225"/>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1" name="Line 29"/>
          <p:cNvSpPr>
            <a:spLocks noChangeShapeType="1"/>
          </p:cNvSpPr>
          <p:nvPr/>
        </p:nvSpPr>
        <p:spPr bwMode="auto">
          <a:xfrm>
            <a:off x="3757613" y="2873375"/>
            <a:ext cx="0" cy="36195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2" name="Line 30"/>
          <p:cNvSpPr>
            <a:spLocks noChangeShapeType="1"/>
          </p:cNvSpPr>
          <p:nvPr/>
        </p:nvSpPr>
        <p:spPr bwMode="auto">
          <a:xfrm>
            <a:off x="3198813" y="3635375"/>
            <a:ext cx="0" cy="45720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23" name="Line 31"/>
          <p:cNvSpPr>
            <a:spLocks noChangeShapeType="1"/>
          </p:cNvSpPr>
          <p:nvPr/>
        </p:nvSpPr>
        <p:spPr bwMode="auto">
          <a:xfrm>
            <a:off x="3200400" y="1273175"/>
            <a:ext cx="0" cy="457200"/>
          </a:xfrm>
          <a:prstGeom prst="line">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21524" name="AutoShape 32"/>
          <p:cNvCxnSpPr>
            <a:cxnSpLocks noChangeShapeType="1"/>
            <a:stCxn id="21535" idx="3"/>
            <a:endCxn id="21539" idx="3"/>
          </p:cNvCxnSpPr>
          <p:nvPr/>
        </p:nvCxnSpPr>
        <p:spPr bwMode="auto">
          <a:xfrm flipV="1">
            <a:off x="3986214" y="2682876"/>
            <a:ext cx="1587" cy="746125"/>
          </a:xfrm>
          <a:prstGeom prst="curvedConnector3">
            <a:avLst>
              <a:gd name="adj1" fmla="val 14400005"/>
            </a:avLst>
          </a:prstGeom>
          <a:noFill/>
          <a:ln w="25400">
            <a:solidFill>
              <a:schemeClr val="folHlink"/>
            </a:solidFill>
            <a:round/>
            <a:headEnd/>
            <a:tailEnd type="triangle" w="med" len="med"/>
          </a:ln>
          <a:extLst>
            <a:ext uri="{909E8E84-426E-40DD-AFC4-6F175D3DCCD1}">
              <a14:hiddenFill xmlns:a14="http://schemas.microsoft.com/office/drawing/2010/main">
                <a:noFill/>
              </a14:hiddenFill>
            </a:ext>
          </a:extLst>
        </p:spPr>
      </p:cxnSp>
      <p:sp>
        <p:nvSpPr>
          <p:cNvPr id="21525" name="Text Box 33"/>
          <p:cNvSpPr txBox="1">
            <a:spLocks noChangeArrowheads="1"/>
          </p:cNvSpPr>
          <p:nvPr/>
        </p:nvSpPr>
        <p:spPr bwMode="auto">
          <a:xfrm>
            <a:off x="3416300" y="165417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dirty="0">
                <a:solidFill>
                  <a:schemeClr val="hlink"/>
                </a:solidFill>
                <a:latin typeface="Gill Sans MT" panose="020B0502020104020203" pitchFamily="34" charset="0"/>
                <a:ea typeface="楷体_GB2312" pitchFamily="49" charset="-122"/>
              </a:rPr>
              <a:t>open (f)</a:t>
            </a:r>
          </a:p>
        </p:txBody>
      </p:sp>
      <p:sp>
        <p:nvSpPr>
          <p:cNvPr id="21526" name="Text Box 34"/>
          <p:cNvSpPr txBox="1">
            <a:spLocks noChangeArrowheads="1"/>
          </p:cNvSpPr>
          <p:nvPr/>
        </p:nvSpPr>
        <p:spPr bwMode="auto">
          <a:xfrm>
            <a:off x="1652588" y="234632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write (t)</a:t>
            </a:r>
          </a:p>
        </p:txBody>
      </p:sp>
      <p:sp>
        <p:nvSpPr>
          <p:cNvPr id="21527" name="Text Box 35"/>
          <p:cNvSpPr txBox="1">
            <a:spLocks noChangeArrowheads="1"/>
          </p:cNvSpPr>
          <p:nvPr/>
        </p:nvSpPr>
        <p:spPr bwMode="auto">
          <a:xfrm>
            <a:off x="3644900" y="355917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write (t)</a:t>
            </a:r>
          </a:p>
        </p:txBody>
      </p:sp>
      <p:sp>
        <p:nvSpPr>
          <p:cNvPr id="21528" name="Text Box 36"/>
          <p:cNvSpPr txBox="1">
            <a:spLocks noChangeArrowheads="1"/>
          </p:cNvSpPr>
          <p:nvPr/>
        </p:nvSpPr>
        <p:spPr bwMode="auto">
          <a:xfrm>
            <a:off x="3416300" y="4092576"/>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1800">
                <a:solidFill>
                  <a:schemeClr val="hlink"/>
                </a:solidFill>
                <a:latin typeface="Gill Sans MT" panose="020B0502020104020203" pitchFamily="34" charset="0"/>
                <a:ea typeface="楷体_GB2312" pitchFamily="49" charset="-122"/>
              </a:rPr>
              <a:t>close ()</a:t>
            </a:r>
          </a:p>
        </p:txBody>
      </p:sp>
      <p:sp>
        <p:nvSpPr>
          <p:cNvPr id="280614" name="Text Box 38"/>
          <p:cNvSpPr txBox="1">
            <a:spLocks noChangeArrowheads="1"/>
          </p:cNvSpPr>
          <p:nvPr/>
        </p:nvSpPr>
        <p:spPr bwMode="auto">
          <a:xfrm>
            <a:off x="4654551" y="1090613"/>
            <a:ext cx="5267325" cy="469900"/>
          </a:xfrm>
          <a:prstGeom prst="rect">
            <a:avLst/>
          </a:prstGeom>
          <a:solidFill>
            <a:schemeClr val="bg1"/>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b="0" dirty="0">
                <a:latin typeface="Gill Sans MT" panose="020B0502020104020203" pitchFamily="34" charset="0"/>
              </a:rPr>
              <a:t>[ 1, 3, 4, 6 ] – ADT use anomaly!</a:t>
            </a:r>
          </a:p>
        </p:txBody>
      </p:sp>
      <p:sp>
        <p:nvSpPr>
          <p:cNvPr id="280616" name="Rectangle 40"/>
          <p:cNvSpPr>
            <a:spLocks noChangeArrowheads="1"/>
          </p:cNvSpPr>
          <p:nvPr/>
        </p:nvSpPr>
        <p:spPr bwMode="auto">
          <a:xfrm>
            <a:off x="4645025" y="1965326"/>
            <a:ext cx="5291138" cy="2676525"/>
          </a:xfrm>
          <a:prstGeom prst="rect">
            <a:avLst/>
          </a:prstGeom>
          <a:solidFill>
            <a:schemeClr val="bg1"/>
          </a:solidFill>
          <a:ln w="9525">
            <a:solidFill>
              <a:schemeClr val="tx1"/>
            </a:solidFill>
            <a:miter lim="800000"/>
            <a:headEnd/>
            <a:tailEnd/>
          </a:ln>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400" b="0" dirty="0">
                <a:solidFill>
                  <a:schemeClr val="tx1"/>
                </a:solidFill>
                <a:latin typeface="Gill Sans MT" panose="020B0502020104020203" pitchFamily="34" charset="0"/>
              </a:rPr>
              <a:t>But it is possible that the logic of the program does </a:t>
            </a:r>
            <a:r>
              <a:rPr lang="en-US" altLang="en-US" sz="2400" b="0" dirty="0">
                <a:solidFill>
                  <a:schemeClr val="tx2"/>
                </a:solidFill>
                <a:latin typeface="Gill Sans MT" panose="020B0502020104020203" pitchFamily="34" charset="0"/>
              </a:rPr>
              <a:t>not allow </a:t>
            </a:r>
            <a:r>
              <a:rPr lang="en-US" altLang="en-US" sz="2400" b="0" dirty="0">
                <a:solidFill>
                  <a:schemeClr val="tx1"/>
                </a:solidFill>
                <a:latin typeface="Gill Sans MT" panose="020B0502020104020203" pitchFamily="34" charset="0"/>
              </a:rPr>
              <a:t>the pair of edges [1, 3, 4]</a:t>
            </a:r>
          </a:p>
          <a:p>
            <a:pPr>
              <a:lnSpc>
                <a:spcPct val="90000"/>
              </a:lnSpc>
              <a:spcBef>
                <a:spcPct val="30000"/>
              </a:spcBef>
              <a:buSzPct val="85000"/>
              <a:buFontTx/>
              <a:buChar char="•"/>
            </a:pPr>
            <a:r>
              <a:rPr lang="en-US" altLang="en-US" sz="2400" b="0" dirty="0">
                <a:solidFill>
                  <a:schemeClr val="tx1"/>
                </a:solidFill>
                <a:latin typeface="Gill Sans MT" panose="020B0502020104020203" pitchFamily="34" charset="0"/>
              </a:rPr>
              <a:t>That is – the </a:t>
            </a:r>
            <a:r>
              <a:rPr lang="en-US" altLang="en-US" sz="2400" b="0" dirty="0">
                <a:solidFill>
                  <a:schemeClr val="tx2"/>
                </a:solidFill>
                <a:latin typeface="Gill Sans MT" panose="020B0502020104020203" pitchFamily="34" charset="0"/>
              </a:rPr>
              <a:t>loop body</a:t>
            </a:r>
            <a:r>
              <a:rPr lang="en-US" altLang="en-US" sz="2400" b="0" dirty="0">
                <a:solidFill>
                  <a:schemeClr val="tx1"/>
                </a:solidFill>
                <a:latin typeface="Gill Sans MT" panose="020B0502020104020203" pitchFamily="34" charset="0"/>
              </a:rPr>
              <a:t> must be taken at least once</a:t>
            </a:r>
          </a:p>
          <a:p>
            <a:pPr>
              <a:lnSpc>
                <a:spcPct val="90000"/>
              </a:lnSpc>
              <a:spcBef>
                <a:spcPct val="30000"/>
              </a:spcBef>
              <a:buSzPct val="85000"/>
              <a:buFontTx/>
              <a:buChar char="•"/>
            </a:pPr>
            <a:r>
              <a:rPr lang="en-US" altLang="en-US" sz="2400" b="0" dirty="0">
                <a:solidFill>
                  <a:schemeClr val="tx1"/>
                </a:solidFill>
                <a:latin typeface="Gill Sans MT" panose="020B0502020104020203" pitchFamily="34" charset="0"/>
              </a:rPr>
              <a:t>Determining this is </a:t>
            </a:r>
            <a:r>
              <a:rPr lang="en-US" altLang="en-US" sz="2400" b="0" dirty="0" err="1">
                <a:solidFill>
                  <a:schemeClr val="tx2"/>
                </a:solidFill>
                <a:latin typeface="Gill Sans MT" panose="020B0502020104020203" pitchFamily="34" charset="0"/>
              </a:rPr>
              <a:t>undecidable</a:t>
            </a:r>
            <a:r>
              <a:rPr lang="en-US" altLang="en-US" sz="2400" b="0" dirty="0">
                <a:solidFill>
                  <a:schemeClr val="tx1"/>
                </a:solidFill>
                <a:latin typeface="Gill Sans MT" panose="020B0502020104020203" pitchFamily="34" charset="0"/>
              </a:rPr>
              <a:t> – so static methods are not enough</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0614"/>
                                        </p:tgtEl>
                                        <p:attrNameLst>
                                          <p:attrName>style.visibility</p:attrName>
                                        </p:attrNameLst>
                                      </p:cBhvr>
                                      <p:to>
                                        <p:strVal val="visible"/>
                                      </p:to>
                                    </p:set>
                                    <p:animEffect transition="in" filter="wipe(left)">
                                      <p:cBhvr>
                                        <p:cTn id="7" dur="2000"/>
                                        <p:tgtEl>
                                          <p:spTgt spid="2806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0616">
                                            <p:bg/>
                                          </p:spTgt>
                                        </p:tgtEl>
                                        <p:attrNameLst>
                                          <p:attrName>style.visibility</p:attrName>
                                        </p:attrNameLst>
                                      </p:cBhvr>
                                      <p:to>
                                        <p:strVal val="visible"/>
                                      </p:to>
                                    </p:set>
                                    <p:animEffect transition="in" filter="wipe(left)">
                                      <p:cBhvr>
                                        <p:cTn id="12" dur="1000"/>
                                        <p:tgtEl>
                                          <p:spTgt spid="280616">
                                            <p:bg/>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0616">
                                            <p:txEl>
                                              <p:pRg st="0" end="0"/>
                                            </p:txEl>
                                          </p:spTgt>
                                        </p:tgtEl>
                                        <p:attrNameLst>
                                          <p:attrName>style.visibility</p:attrName>
                                        </p:attrNameLst>
                                      </p:cBhvr>
                                      <p:to>
                                        <p:strVal val="visible"/>
                                      </p:to>
                                    </p:set>
                                    <p:animEffect transition="in" filter="wipe(left)">
                                      <p:cBhvr>
                                        <p:cTn id="17" dur="1000"/>
                                        <p:tgtEl>
                                          <p:spTgt spid="28061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0616">
                                            <p:txEl>
                                              <p:pRg st="1" end="1"/>
                                            </p:txEl>
                                          </p:spTgt>
                                        </p:tgtEl>
                                        <p:attrNameLst>
                                          <p:attrName>style.visibility</p:attrName>
                                        </p:attrNameLst>
                                      </p:cBhvr>
                                      <p:to>
                                        <p:strVal val="visible"/>
                                      </p:to>
                                    </p:set>
                                    <p:animEffect transition="in" filter="wipe(left)">
                                      <p:cBhvr>
                                        <p:cTn id="22" dur="1000"/>
                                        <p:tgtEl>
                                          <p:spTgt spid="28061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0616">
                                            <p:txEl>
                                              <p:pRg st="2" end="2"/>
                                            </p:txEl>
                                          </p:spTgt>
                                        </p:tgtEl>
                                        <p:attrNameLst>
                                          <p:attrName>style.visibility</p:attrName>
                                        </p:attrNameLst>
                                      </p:cBhvr>
                                      <p:to>
                                        <p:strVal val="visible"/>
                                      </p:to>
                                    </p:set>
                                    <p:animEffect transition="in" filter="wipe(left)">
                                      <p:cBhvr>
                                        <p:cTn id="27" dur="1000"/>
                                        <p:tgtEl>
                                          <p:spTgt spid="280616">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80579">
                                            <p:txEl>
                                              <p:pRg st="0" end="0"/>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805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9" grpId="0" build="p"/>
      <p:bldP spid="280614" grpId="0" animBg="1"/>
      <p:bldP spid="280616"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BCEED110-8514-4443-9A73-670C71A50819}" type="slidenum">
              <a:rPr lang="en-US" altLang="en-US" sz="900" b="0">
                <a:solidFill>
                  <a:schemeClr val="tx1"/>
                </a:solidFill>
              </a:rPr>
              <a:pPr/>
              <a:t>11</a:t>
            </a:fld>
            <a:endParaRPr lang="en-US" altLang="en-US" sz="900" b="0">
              <a:solidFill>
                <a:schemeClr val="tx1"/>
              </a:solidFill>
            </a:endParaRPr>
          </a:p>
        </p:txBody>
      </p:sp>
      <p:sp>
        <p:nvSpPr>
          <p:cNvPr id="22532" name="Rectangle 2"/>
          <p:cNvSpPr>
            <a:spLocks noGrp="1" noChangeArrowheads="1"/>
          </p:cNvSpPr>
          <p:nvPr>
            <p:ph type="title"/>
          </p:nvPr>
        </p:nvSpPr>
        <p:spPr/>
        <p:txBody>
          <a:bodyPr/>
          <a:lstStyle/>
          <a:p>
            <a:r>
              <a:rPr lang="en-US" altLang="en-US"/>
              <a:t>Test Requirements for FileADT</a:t>
            </a:r>
          </a:p>
        </p:txBody>
      </p:sp>
      <p:sp>
        <p:nvSpPr>
          <p:cNvPr id="275459" name="Rectangle 3"/>
          <p:cNvSpPr>
            <a:spLocks noGrp="1" noChangeArrowheads="1"/>
          </p:cNvSpPr>
          <p:nvPr>
            <p:ph type="body" idx="1"/>
          </p:nvPr>
        </p:nvSpPr>
        <p:spPr>
          <a:xfrm>
            <a:off x="1662114" y="1367283"/>
            <a:ext cx="8867775" cy="4270375"/>
          </a:xfrm>
        </p:spPr>
        <p:txBody>
          <a:bodyPr/>
          <a:lstStyle/>
          <a:p>
            <a:pPr marL="457200" indent="-457200">
              <a:spcBef>
                <a:spcPts val="600"/>
              </a:spcBef>
              <a:buFont typeface="+mj-lt"/>
              <a:buAutoNum type="arabicPeriod"/>
            </a:pPr>
            <a:r>
              <a:rPr lang="en-US" altLang="en-US" sz="2400" dirty="0"/>
              <a:t>Cover every path from the start node to every node that contains a write() such that the path does not go through a node containing an open()</a:t>
            </a:r>
          </a:p>
          <a:p>
            <a:pPr marL="457200" indent="-457200">
              <a:spcBef>
                <a:spcPts val="600"/>
              </a:spcBef>
              <a:buFont typeface="+mj-lt"/>
              <a:buAutoNum type="arabicPeriod"/>
            </a:pPr>
            <a:r>
              <a:rPr lang="en-US" altLang="en-US" sz="2400" dirty="0"/>
              <a:t>Cover every path from the start node to every node that contains a close() such that the path does not go through a node containing an open()</a:t>
            </a:r>
          </a:p>
          <a:p>
            <a:pPr marL="457200" indent="-457200">
              <a:spcBef>
                <a:spcPts val="600"/>
              </a:spcBef>
              <a:buFont typeface="+mj-lt"/>
              <a:buAutoNum type="arabicPeriod"/>
            </a:pPr>
            <a:r>
              <a:rPr lang="en-US" altLang="en-US" sz="2400" dirty="0"/>
              <a:t>Cover every path from every node that contains a close() to every node that contains a write()</a:t>
            </a:r>
          </a:p>
          <a:p>
            <a:pPr marL="457200" indent="-457200">
              <a:spcBef>
                <a:spcPts val="600"/>
              </a:spcBef>
              <a:buFont typeface="+mj-lt"/>
              <a:buAutoNum type="arabicPeriod"/>
            </a:pPr>
            <a:r>
              <a:rPr lang="en-US" altLang="en-US" sz="2400" dirty="0"/>
              <a:t>Cover every path from every node that contains an open() to every node that contains a close() such that the path does not go through a node containing a write()</a:t>
            </a:r>
          </a:p>
        </p:txBody>
      </p:sp>
      <p:sp>
        <p:nvSpPr>
          <p:cNvPr id="22534" name="Text Box 4"/>
          <p:cNvSpPr txBox="1">
            <a:spLocks noChangeArrowheads="1"/>
          </p:cNvSpPr>
          <p:nvPr/>
        </p:nvSpPr>
        <p:spPr bwMode="auto">
          <a:xfrm>
            <a:off x="2416175" y="903224"/>
            <a:ext cx="7359650" cy="469900"/>
          </a:xfrm>
          <a:prstGeom prst="rect">
            <a:avLst/>
          </a:prstGeom>
          <a:solidFill>
            <a:srgbClr val="0033CC"/>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solidFill>
                  <a:schemeClr val="tx2"/>
                </a:solidFill>
                <a:latin typeface="Gill Sans MT" panose="020B0502020104020203" pitchFamily="34" charset="0"/>
              </a:rPr>
              <a:t>Apply to all programs that use </a:t>
            </a:r>
            <a:r>
              <a:rPr lang="en-US" altLang="en-US" sz="2400" dirty="0" err="1">
                <a:solidFill>
                  <a:schemeClr val="tx2"/>
                </a:solidFill>
                <a:latin typeface="Gill Sans MT" panose="020B0502020104020203" pitchFamily="34" charset="0"/>
              </a:rPr>
              <a:t>FileADT</a:t>
            </a:r>
            <a:endParaRPr lang="en-US" altLang="en-US" sz="2400" dirty="0">
              <a:solidFill>
                <a:schemeClr val="tx2"/>
              </a:solidFill>
              <a:latin typeface="Gill Sans MT" panose="020B0502020104020203" pitchFamily="34" charset="0"/>
            </a:endParaRPr>
          </a:p>
        </p:txBody>
      </p:sp>
      <p:sp>
        <p:nvSpPr>
          <p:cNvPr id="275461" name="Text Box 5"/>
          <p:cNvSpPr txBox="1">
            <a:spLocks noChangeArrowheads="1"/>
          </p:cNvSpPr>
          <p:nvPr/>
        </p:nvSpPr>
        <p:spPr bwMode="auto">
          <a:xfrm>
            <a:off x="1800225" y="5453487"/>
            <a:ext cx="8377238" cy="10160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buFontTx/>
              <a:buChar char="•"/>
            </a:pPr>
            <a:r>
              <a:rPr lang="en-US" altLang="en-US" sz="2400" b="0" dirty="0">
                <a:solidFill>
                  <a:schemeClr val="tx1"/>
                </a:solidFill>
                <a:latin typeface="Gill Sans MT" panose="020B0502020104020203" pitchFamily="34" charset="0"/>
              </a:rPr>
              <a:t> If program is correct, all test requirements will be </a:t>
            </a:r>
            <a:r>
              <a:rPr lang="en-US" altLang="en-US" sz="2400" b="0" dirty="0">
                <a:solidFill>
                  <a:schemeClr val="tx2"/>
                </a:solidFill>
                <a:latin typeface="Gill Sans MT" panose="020B0502020104020203" pitchFamily="34" charset="0"/>
              </a:rPr>
              <a:t>infeasible</a:t>
            </a:r>
          </a:p>
          <a:p>
            <a:pPr>
              <a:spcBef>
                <a:spcPct val="50000"/>
              </a:spcBef>
              <a:buFontTx/>
              <a:buChar char="•"/>
            </a:pPr>
            <a:r>
              <a:rPr lang="en-US" altLang="en-US" sz="2400" b="0" dirty="0">
                <a:solidFill>
                  <a:schemeClr val="tx1"/>
                </a:solidFill>
                <a:latin typeface="Gill Sans MT" panose="020B0502020104020203" pitchFamily="34" charset="0"/>
              </a:rPr>
              <a:t> Any tests created will </a:t>
            </a:r>
            <a:r>
              <a:rPr lang="en-US" altLang="en-US" sz="2400" b="0" dirty="0">
                <a:solidFill>
                  <a:schemeClr val="tx2"/>
                </a:solidFill>
                <a:latin typeface="Gill Sans MT" panose="020B0502020104020203" pitchFamily="34" charset="0"/>
              </a:rPr>
              <a:t>almost definitely </a:t>
            </a:r>
            <a:r>
              <a:rPr lang="en-US" altLang="en-US" sz="2400" b="0" dirty="0">
                <a:solidFill>
                  <a:schemeClr val="tx1"/>
                </a:solidFill>
                <a:latin typeface="Gill Sans MT" panose="020B0502020104020203" pitchFamily="34" charset="0"/>
              </a:rPr>
              <a:t>find faults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5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54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54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54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75461"/>
                                        </p:tgtEl>
                                        <p:attrNameLst>
                                          <p:attrName>style.visibility</p:attrName>
                                        </p:attrNameLst>
                                      </p:cBhvr>
                                      <p:to>
                                        <p:strVal val="visible"/>
                                      </p:to>
                                    </p:set>
                                    <p:animEffect transition="in" filter="dissolve">
                                      <p:cBhvr>
                                        <p:cTn id="23" dur="500"/>
                                        <p:tgtEl>
                                          <p:spTgt spid="275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9" grpId="0" build="p"/>
      <p:bldP spid="27546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51F6AAD8-75C4-4FFF-9E53-55CC9129CBC5}" type="slidenum">
              <a:rPr lang="en-US" altLang="en-US" sz="900" b="0">
                <a:solidFill>
                  <a:schemeClr val="tx1"/>
                </a:solidFill>
              </a:rPr>
              <a:pPr/>
              <a:t>12</a:t>
            </a:fld>
            <a:endParaRPr lang="en-US" altLang="en-US" sz="900" b="0">
              <a:solidFill>
                <a:schemeClr val="tx1"/>
              </a:solidFill>
            </a:endParaRPr>
          </a:p>
        </p:txBody>
      </p:sp>
      <p:sp>
        <p:nvSpPr>
          <p:cNvPr id="23556" name="Rectangle 2"/>
          <p:cNvSpPr>
            <a:spLocks noGrp="1" noChangeArrowheads="1"/>
          </p:cNvSpPr>
          <p:nvPr>
            <p:ph type="title"/>
          </p:nvPr>
        </p:nvSpPr>
        <p:spPr/>
        <p:txBody>
          <a:bodyPr/>
          <a:lstStyle/>
          <a:p>
            <a:r>
              <a:rPr lang="en-US" altLang="en-US"/>
              <a:t>Testing State Behavior</a:t>
            </a:r>
          </a:p>
        </p:txBody>
      </p:sp>
      <p:sp>
        <p:nvSpPr>
          <p:cNvPr id="23557" name="Rectangle 3"/>
          <p:cNvSpPr>
            <a:spLocks noGrp="1" noChangeArrowheads="1"/>
          </p:cNvSpPr>
          <p:nvPr>
            <p:ph type="body" idx="1"/>
          </p:nvPr>
        </p:nvSpPr>
        <p:spPr>
          <a:xfrm>
            <a:off x="1662114" y="1085851"/>
            <a:ext cx="8867775" cy="1865313"/>
          </a:xfrm>
        </p:spPr>
        <p:txBody>
          <a:bodyPr/>
          <a:lstStyle/>
          <a:p>
            <a:r>
              <a:rPr lang="en-US" altLang="en-US" b="0" dirty="0"/>
              <a:t>A </a:t>
            </a:r>
            <a:r>
              <a:rPr lang="en-US" altLang="en-US" b="0" dirty="0">
                <a:solidFill>
                  <a:schemeClr val="tx2"/>
                </a:solidFill>
              </a:rPr>
              <a:t>finite state machine </a:t>
            </a:r>
            <a:r>
              <a:rPr lang="en-US" altLang="en-US" b="0" dirty="0"/>
              <a:t>(</a:t>
            </a:r>
            <a:r>
              <a:rPr lang="en-US" altLang="en-US" b="0" dirty="0">
                <a:solidFill>
                  <a:schemeClr val="tx2"/>
                </a:solidFill>
              </a:rPr>
              <a:t>FSM</a:t>
            </a:r>
            <a:r>
              <a:rPr lang="en-US" altLang="en-US" b="0" dirty="0"/>
              <a:t>) is a graph that describes how software variables are modified during execution</a:t>
            </a:r>
          </a:p>
          <a:p>
            <a:r>
              <a:rPr lang="en-US" altLang="en-US" b="0" dirty="0">
                <a:solidFill>
                  <a:schemeClr val="tx2"/>
                </a:solidFill>
              </a:rPr>
              <a:t>Nodes</a:t>
            </a:r>
            <a:r>
              <a:rPr lang="en-US" altLang="en-US" b="0" dirty="0"/>
              <a:t> : States, representing sets of values for key variables</a:t>
            </a:r>
          </a:p>
          <a:p>
            <a:r>
              <a:rPr lang="en-US" altLang="en-US" b="0" dirty="0">
                <a:solidFill>
                  <a:schemeClr val="tx2"/>
                </a:solidFill>
              </a:rPr>
              <a:t>Edges</a:t>
            </a:r>
            <a:r>
              <a:rPr lang="en-US" altLang="en-US" b="0" dirty="0"/>
              <a:t> : Transitions, possible changes in the state</a:t>
            </a:r>
          </a:p>
        </p:txBody>
      </p:sp>
      <p:grpSp>
        <p:nvGrpSpPr>
          <p:cNvPr id="23558" name="Group 10"/>
          <p:cNvGrpSpPr>
            <a:grpSpLocks/>
          </p:cNvGrpSpPr>
          <p:nvPr/>
        </p:nvGrpSpPr>
        <p:grpSpPr bwMode="auto">
          <a:xfrm>
            <a:off x="4556125" y="3257550"/>
            <a:ext cx="3079750" cy="1752600"/>
            <a:chOff x="619" y="1829"/>
            <a:chExt cx="1940" cy="1104"/>
          </a:xfrm>
        </p:grpSpPr>
        <p:sp>
          <p:nvSpPr>
            <p:cNvPr id="23560" name="Oval 4"/>
            <p:cNvSpPr>
              <a:spLocks noChangeArrowheads="1"/>
            </p:cNvSpPr>
            <p:nvPr/>
          </p:nvSpPr>
          <p:spPr bwMode="auto">
            <a:xfrm>
              <a:off x="619" y="2182"/>
              <a:ext cx="735" cy="375"/>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dirty="0">
                  <a:latin typeface="Gill Sans MT" panose="020B0502020104020203" pitchFamily="34" charset="0"/>
                </a:rPr>
                <a:t>Off</a:t>
              </a:r>
            </a:p>
          </p:txBody>
        </p:sp>
        <p:sp>
          <p:nvSpPr>
            <p:cNvPr id="23561" name="Oval 5"/>
            <p:cNvSpPr>
              <a:spLocks noChangeArrowheads="1"/>
            </p:cNvSpPr>
            <p:nvPr/>
          </p:nvSpPr>
          <p:spPr bwMode="auto">
            <a:xfrm>
              <a:off x="1824" y="2183"/>
              <a:ext cx="735" cy="375"/>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latin typeface="Gill Sans MT" panose="020B0502020104020203" pitchFamily="34" charset="0"/>
                </a:rPr>
                <a:t>On</a:t>
              </a:r>
            </a:p>
          </p:txBody>
        </p:sp>
        <p:cxnSp>
          <p:nvCxnSpPr>
            <p:cNvPr id="23562" name="AutoShape 6"/>
            <p:cNvCxnSpPr>
              <a:cxnSpLocks noChangeShapeType="1"/>
              <a:stCxn id="23560" idx="7"/>
              <a:endCxn id="23561" idx="1"/>
            </p:cNvCxnSpPr>
            <p:nvPr/>
          </p:nvCxnSpPr>
          <p:spPr bwMode="auto">
            <a:xfrm rot="5400000" flipV="1">
              <a:off x="1588" y="1895"/>
              <a:ext cx="1" cy="686"/>
            </a:xfrm>
            <a:prstGeom prst="curvedConnector3">
              <a:avLst>
                <a:gd name="adj1" fmla="val -19900009"/>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3563" name="AutoShape 7"/>
            <p:cNvCxnSpPr>
              <a:cxnSpLocks noChangeShapeType="1"/>
              <a:stCxn id="23561" idx="3"/>
              <a:endCxn id="23560" idx="5"/>
            </p:cNvCxnSpPr>
            <p:nvPr/>
          </p:nvCxnSpPr>
          <p:spPr bwMode="auto">
            <a:xfrm rot="16200000" flipV="1">
              <a:off x="1588" y="2160"/>
              <a:ext cx="1" cy="686"/>
            </a:xfrm>
            <a:prstGeom prst="curvedConnector3">
              <a:avLst>
                <a:gd name="adj1" fmla="val -19800009"/>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23564" name="Text Box 8"/>
            <p:cNvSpPr txBox="1">
              <a:spLocks noChangeArrowheads="1"/>
            </p:cNvSpPr>
            <p:nvPr/>
          </p:nvSpPr>
          <p:spPr bwMode="auto">
            <a:xfrm>
              <a:off x="1109" y="1829"/>
              <a:ext cx="9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a:latin typeface="Gill Sans MT" panose="020B0502020104020203" pitchFamily="34" charset="0"/>
                </a:rPr>
                <a:t>switch up</a:t>
              </a:r>
            </a:p>
          </p:txBody>
        </p:sp>
        <p:sp>
          <p:nvSpPr>
            <p:cNvPr id="23565" name="Text Box 9"/>
            <p:cNvSpPr txBox="1">
              <a:spLocks noChangeArrowheads="1"/>
            </p:cNvSpPr>
            <p:nvPr/>
          </p:nvSpPr>
          <p:spPr bwMode="auto">
            <a:xfrm>
              <a:off x="1116" y="2681"/>
              <a:ext cx="9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a:latin typeface="Gill Sans MT" panose="020B0502020104020203" pitchFamily="34" charset="0"/>
                </a:rPr>
                <a:t>switch down</a:t>
              </a:r>
            </a:p>
          </p:txBody>
        </p:sp>
      </p:gr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BB0A567F-BA07-48CC-8062-9012F41DCDE8}" type="slidenum">
              <a:rPr lang="en-US" altLang="en-US" sz="900" b="0">
                <a:solidFill>
                  <a:schemeClr val="tx1"/>
                </a:solidFill>
              </a:rPr>
              <a:pPr/>
              <a:t>13</a:t>
            </a:fld>
            <a:endParaRPr lang="en-US" altLang="en-US" sz="900" b="0">
              <a:solidFill>
                <a:schemeClr val="tx1"/>
              </a:solidFill>
            </a:endParaRPr>
          </a:p>
        </p:txBody>
      </p:sp>
      <p:sp>
        <p:nvSpPr>
          <p:cNvPr id="24580" name="Rectangle 2"/>
          <p:cNvSpPr>
            <a:spLocks noGrp="1" noChangeArrowheads="1"/>
          </p:cNvSpPr>
          <p:nvPr>
            <p:ph type="title"/>
          </p:nvPr>
        </p:nvSpPr>
        <p:spPr/>
        <p:txBody>
          <a:bodyPr/>
          <a:lstStyle/>
          <a:p>
            <a:r>
              <a:rPr lang="en-US" altLang="en-US" sz="3200" dirty="0"/>
              <a:t>Finite State Machine—Two Variables</a:t>
            </a:r>
            <a:endParaRPr lang="en-US" altLang="en-US" dirty="0"/>
          </a:p>
        </p:txBody>
      </p:sp>
      <p:sp>
        <p:nvSpPr>
          <p:cNvPr id="24581" name="Oval 4"/>
          <p:cNvSpPr>
            <a:spLocks noChangeArrowheads="1"/>
          </p:cNvSpPr>
          <p:nvPr/>
        </p:nvSpPr>
        <p:spPr bwMode="auto">
          <a:xfrm>
            <a:off x="2574925" y="1196975"/>
            <a:ext cx="2687638" cy="1371600"/>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u="sng" dirty="0">
                <a:latin typeface="Gill Sans MT" panose="020B0502020104020203" pitchFamily="34" charset="0"/>
              </a:rPr>
              <a:t>Tropical Depression</a:t>
            </a:r>
          </a:p>
          <a:p>
            <a:pPr algn="ctr"/>
            <a:r>
              <a:rPr lang="en-US" altLang="en-US" sz="1800" dirty="0">
                <a:latin typeface="Gill Sans MT" panose="020B0502020104020203" pitchFamily="34" charset="0"/>
              </a:rPr>
              <a:t>circulation = yes</a:t>
            </a:r>
          </a:p>
          <a:p>
            <a:pPr algn="ctr"/>
            <a:r>
              <a:rPr lang="en-US" altLang="en-US" sz="1800" dirty="0" err="1">
                <a:latin typeface="Gill Sans MT" panose="020B0502020104020203" pitchFamily="34" charset="0"/>
              </a:rPr>
              <a:t>windspeed</a:t>
            </a:r>
            <a:r>
              <a:rPr lang="en-US" altLang="en-US" sz="1800" dirty="0">
                <a:latin typeface="Gill Sans MT" panose="020B0502020104020203" pitchFamily="34" charset="0"/>
              </a:rPr>
              <a:t> &lt; 39mph</a:t>
            </a:r>
          </a:p>
        </p:txBody>
      </p:sp>
      <p:grpSp>
        <p:nvGrpSpPr>
          <p:cNvPr id="2" name="Group 19"/>
          <p:cNvGrpSpPr>
            <a:grpSpLocks/>
          </p:cNvGrpSpPr>
          <p:nvPr/>
        </p:nvGrpSpPr>
        <p:grpSpPr bwMode="auto">
          <a:xfrm>
            <a:off x="4868864" y="1146175"/>
            <a:ext cx="4518025" cy="1473200"/>
            <a:chOff x="1617" y="724"/>
            <a:chExt cx="2846" cy="928"/>
          </a:xfrm>
        </p:grpSpPr>
        <p:sp>
          <p:nvSpPr>
            <p:cNvPr id="24600" name="Oval 7"/>
            <p:cNvSpPr>
              <a:spLocks noChangeArrowheads="1"/>
            </p:cNvSpPr>
            <p:nvPr/>
          </p:nvSpPr>
          <p:spPr bwMode="auto">
            <a:xfrm>
              <a:off x="2698" y="724"/>
              <a:ext cx="1765" cy="928"/>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u="sng">
                  <a:latin typeface="Gill Sans MT" panose="020B0502020104020203" pitchFamily="34" charset="0"/>
                </a:rPr>
                <a:t>Tropical Storm</a:t>
              </a:r>
            </a:p>
            <a:p>
              <a:pPr algn="ctr"/>
              <a:r>
                <a:rPr lang="en-US" altLang="en-US" sz="1800">
                  <a:latin typeface="Gill Sans MT" panose="020B0502020104020203" pitchFamily="34" charset="0"/>
                </a:rPr>
                <a:t>circulation = yes</a:t>
              </a:r>
            </a:p>
            <a:p>
              <a:pPr algn="ctr"/>
              <a:r>
                <a:rPr lang="en-US" altLang="en-US" sz="1800">
                  <a:latin typeface="Gill Sans MT" panose="020B0502020104020203" pitchFamily="34" charset="0"/>
                </a:rPr>
                <a:t>windspeed = 39..73 mph </a:t>
              </a:r>
            </a:p>
          </p:txBody>
        </p:sp>
        <p:cxnSp>
          <p:nvCxnSpPr>
            <p:cNvPr id="24601" name="AutoShape 9"/>
            <p:cNvCxnSpPr>
              <a:cxnSpLocks noChangeShapeType="1"/>
              <a:stCxn id="24581" idx="7"/>
              <a:endCxn id="24600" idx="1"/>
            </p:cNvCxnSpPr>
            <p:nvPr/>
          </p:nvCxnSpPr>
          <p:spPr bwMode="auto">
            <a:xfrm rot="-5400000">
              <a:off x="2275" y="202"/>
              <a:ext cx="23" cy="1339"/>
            </a:xfrm>
            <a:prstGeom prst="curvedConnector3">
              <a:avLst>
                <a:gd name="adj1" fmla="val 1317394"/>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3" name="Group 21"/>
          <p:cNvGrpSpPr>
            <a:grpSpLocks/>
          </p:cNvGrpSpPr>
          <p:nvPr/>
        </p:nvGrpSpPr>
        <p:grpSpPr bwMode="auto">
          <a:xfrm>
            <a:off x="2574925" y="4033838"/>
            <a:ext cx="4459288" cy="1371600"/>
            <a:chOff x="172" y="2543"/>
            <a:chExt cx="2809" cy="864"/>
          </a:xfrm>
        </p:grpSpPr>
        <p:sp>
          <p:nvSpPr>
            <p:cNvPr id="24598" name="Oval 8"/>
            <p:cNvSpPr>
              <a:spLocks noChangeArrowheads="1"/>
            </p:cNvSpPr>
            <p:nvPr/>
          </p:nvSpPr>
          <p:spPr bwMode="auto">
            <a:xfrm>
              <a:off x="172" y="2543"/>
              <a:ext cx="1693" cy="864"/>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u="sng" dirty="0">
                  <a:latin typeface="Gill Sans MT" panose="020B0502020104020203" pitchFamily="34" charset="0"/>
                </a:rPr>
                <a:t>Major Hurricane</a:t>
              </a:r>
            </a:p>
            <a:p>
              <a:pPr algn="ctr"/>
              <a:r>
                <a:rPr lang="en-US" altLang="en-US" sz="1800" dirty="0">
                  <a:latin typeface="Gill Sans MT" panose="020B0502020104020203" pitchFamily="34" charset="0"/>
                </a:rPr>
                <a:t>circulation = yes</a:t>
              </a:r>
            </a:p>
            <a:p>
              <a:pPr algn="ctr"/>
              <a:r>
                <a:rPr lang="en-US" altLang="en-US" sz="1800" dirty="0" err="1">
                  <a:latin typeface="Gill Sans MT" panose="020B0502020104020203" pitchFamily="34" charset="0"/>
                </a:rPr>
                <a:t>windspeed</a:t>
              </a:r>
              <a:r>
                <a:rPr lang="en-US" altLang="en-US" sz="1800" dirty="0">
                  <a:latin typeface="Gill Sans MT" panose="020B0502020104020203" pitchFamily="34" charset="0"/>
                </a:rPr>
                <a:t> &gt;= 110 mph</a:t>
              </a:r>
            </a:p>
          </p:txBody>
        </p:sp>
        <p:cxnSp>
          <p:nvCxnSpPr>
            <p:cNvPr id="24599" name="AutoShape 11"/>
            <p:cNvCxnSpPr>
              <a:cxnSpLocks noChangeShapeType="1"/>
              <a:stCxn id="24596" idx="3"/>
              <a:endCxn id="24598" idx="5"/>
            </p:cNvCxnSpPr>
            <p:nvPr/>
          </p:nvCxnSpPr>
          <p:spPr bwMode="auto">
            <a:xfrm rot="16200000" flipV="1">
              <a:off x="2298" y="2599"/>
              <a:ext cx="1" cy="1364"/>
            </a:xfrm>
            <a:prstGeom prst="curvedConnector3">
              <a:avLst>
                <a:gd name="adj1" fmla="val -27100009"/>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cxnSp>
        <p:nvCxnSpPr>
          <p:cNvPr id="264205" name="AutoShape 13"/>
          <p:cNvCxnSpPr>
            <a:cxnSpLocks noChangeShapeType="1"/>
            <a:stCxn id="24596" idx="0"/>
            <a:endCxn id="24600" idx="4"/>
          </p:cNvCxnSpPr>
          <p:nvPr/>
        </p:nvCxnSpPr>
        <p:spPr bwMode="auto">
          <a:xfrm rot="-5400000">
            <a:off x="7277894" y="3326606"/>
            <a:ext cx="1416050" cy="1588"/>
          </a:xfrm>
          <a:prstGeom prst="curvedConnector3">
            <a:avLst>
              <a:gd name="adj1" fmla="val 50000"/>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64206" name="AutoShape 14"/>
          <p:cNvCxnSpPr>
            <a:cxnSpLocks noChangeShapeType="1"/>
            <a:stCxn id="24600" idx="2"/>
            <a:endCxn id="24581" idx="6"/>
          </p:cNvCxnSpPr>
          <p:nvPr/>
        </p:nvCxnSpPr>
        <p:spPr bwMode="auto">
          <a:xfrm rot="10800000">
            <a:off x="5262564" y="1882775"/>
            <a:ext cx="1322387" cy="0"/>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64207" name="AutoShape 15"/>
          <p:cNvCxnSpPr>
            <a:cxnSpLocks noChangeShapeType="1"/>
            <a:stCxn id="24598" idx="6"/>
            <a:endCxn id="24596" idx="2"/>
          </p:cNvCxnSpPr>
          <p:nvPr/>
        </p:nvCxnSpPr>
        <p:spPr bwMode="auto">
          <a:xfrm>
            <a:off x="5262563" y="4719639"/>
            <a:ext cx="1377950" cy="1587"/>
          </a:xfrm>
          <a:prstGeom prst="curvedConnector3">
            <a:avLst>
              <a:gd name="adj1" fmla="val 49884"/>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nvGrpSpPr>
          <p:cNvPr id="4" name="Group 20"/>
          <p:cNvGrpSpPr>
            <a:grpSpLocks/>
          </p:cNvGrpSpPr>
          <p:nvPr/>
        </p:nvGrpSpPr>
        <p:grpSpPr bwMode="auto">
          <a:xfrm>
            <a:off x="6640514" y="1882775"/>
            <a:ext cx="2746375" cy="3524250"/>
            <a:chOff x="2733" y="1188"/>
            <a:chExt cx="1730" cy="2220"/>
          </a:xfrm>
        </p:grpSpPr>
        <p:sp>
          <p:nvSpPr>
            <p:cNvPr id="24596" name="Oval 6"/>
            <p:cNvSpPr>
              <a:spLocks noChangeArrowheads="1"/>
            </p:cNvSpPr>
            <p:nvPr/>
          </p:nvSpPr>
          <p:spPr bwMode="auto">
            <a:xfrm>
              <a:off x="2733" y="2544"/>
              <a:ext cx="1693" cy="864"/>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u="sng">
                  <a:latin typeface="Gill Sans MT" panose="020B0502020104020203" pitchFamily="34" charset="0"/>
                </a:rPr>
                <a:t>Hurricane</a:t>
              </a:r>
            </a:p>
            <a:p>
              <a:pPr algn="ctr"/>
              <a:r>
                <a:rPr lang="en-US" altLang="en-US" sz="1800">
                  <a:latin typeface="Gill Sans MT" panose="020B0502020104020203" pitchFamily="34" charset="0"/>
                </a:rPr>
                <a:t>circulation = yes</a:t>
              </a:r>
            </a:p>
            <a:p>
              <a:pPr algn="ctr"/>
              <a:r>
                <a:rPr lang="en-US" altLang="en-US" sz="1800">
                  <a:latin typeface="Gill Sans MT" panose="020B0502020104020203" pitchFamily="34" charset="0"/>
                </a:rPr>
                <a:t>windspeed 74..109 mph</a:t>
              </a:r>
            </a:p>
          </p:txBody>
        </p:sp>
        <p:cxnSp>
          <p:nvCxnSpPr>
            <p:cNvPr id="24597" name="AutoShape 17"/>
            <p:cNvCxnSpPr>
              <a:cxnSpLocks noChangeShapeType="1"/>
              <a:stCxn id="24600" idx="6"/>
              <a:endCxn id="24596" idx="6"/>
            </p:cNvCxnSpPr>
            <p:nvPr/>
          </p:nvCxnSpPr>
          <p:spPr bwMode="auto">
            <a:xfrm flipH="1">
              <a:off x="4426" y="1188"/>
              <a:ext cx="37" cy="1788"/>
            </a:xfrm>
            <a:prstGeom prst="curvedConnector3">
              <a:avLst>
                <a:gd name="adj1" fmla="val -386486"/>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5" name="Group 26"/>
          <p:cNvGrpSpPr>
            <a:grpSpLocks/>
          </p:cNvGrpSpPr>
          <p:nvPr/>
        </p:nvGrpSpPr>
        <p:grpSpPr bwMode="auto">
          <a:xfrm>
            <a:off x="4637089" y="2366964"/>
            <a:ext cx="2687637" cy="1870075"/>
            <a:chOff x="1471" y="1493"/>
            <a:chExt cx="1693" cy="1178"/>
          </a:xfrm>
        </p:grpSpPr>
        <p:sp>
          <p:nvSpPr>
            <p:cNvPr id="24591" name="Oval 5"/>
            <p:cNvSpPr>
              <a:spLocks noChangeArrowheads="1"/>
            </p:cNvSpPr>
            <p:nvPr/>
          </p:nvSpPr>
          <p:spPr bwMode="auto">
            <a:xfrm>
              <a:off x="1471" y="1634"/>
              <a:ext cx="1693" cy="864"/>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u="sng" dirty="0">
                  <a:latin typeface="Gill Sans MT" panose="020B0502020104020203" pitchFamily="34" charset="0"/>
                </a:rPr>
                <a:t>Something Else</a:t>
              </a:r>
            </a:p>
            <a:p>
              <a:pPr algn="ctr"/>
              <a:r>
                <a:rPr lang="en-US" altLang="en-US" sz="1800" dirty="0">
                  <a:latin typeface="Gill Sans MT" panose="020B0502020104020203" pitchFamily="34" charset="0"/>
                </a:rPr>
                <a:t>circulation = no</a:t>
              </a:r>
            </a:p>
            <a:p>
              <a:pPr algn="ctr"/>
              <a:r>
                <a:rPr lang="en-US" altLang="en-US" sz="1800" dirty="0">
                  <a:latin typeface="Gill Sans MT" panose="020B0502020104020203" pitchFamily="34" charset="0"/>
                </a:rPr>
                <a:t>or</a:t>
              </a:r>
            </a:p>
            <a:p>
              <a:pPr algn="ctr"/>
              <a:r>
                <a:rPr lang="en-US" altLang="en-US" sz="1800" dirty="0" err="1">
                  <a:latin typeface="Gill Sans MT" panose="020B0502020104020203" pitchFamily="34" charset="0"/>
                </a:rPr>
                <a:t>windspeed</a:t>
              </a:r>
              <a:r>
                <a:rPr lang="en-US" altLang="en-US" sz="1800" dirty="0">
                  <a:latin typeface="Gill Sans MT" panose="020B0502020104020203" pitchFamily="34" charset="0"/>
                </a:rPr>
                <a:t> = 0..38 mph</a:t>
              </a:r>
            </a:p>
          </p:txBody>
        </p:sp>
        <p:cxnSp>
          <p:nvCxnSpPr>
            <p:cNvPr id="24592" name="AutoShape 22"/>
            <p:cNvCxnSpPr>
              <a:cxnSpLocks noChangeShapeType="1"/>
              <a:stCxn id="24598" idx="7"/>
              <a:endCxn id="24591" idx="3"/>
            </p:cNvCxnSpPr>
            <p:nvPr/>
          </p:nvCxnSpPr>
          <p:spPr bwMode="auto">
            <a:xfrm flipV="1">
              <a:off x="1617" y="2371"/>
              <a:ext cx="102" cy="299"/>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4593" name="AutoShape 23"/>
            <p:cNvCxnSpPr>
              <a:cxnSpLocks noChangeShapeType="1"/>
              <a:stCxn id="24596" idx="1"/>
              <a:endCxn id="24591" idx="5"/>
            </p:cNvCxnSpPr>
            <p:nvPr/>
          </p:nvCxnSpPr>
          <p:spPr bwMode="auto">
            <a:xfrm flipH="1" flipV="1">
              <a:off x="2916" y="2371"/>
              <a:ext cx="65" cy="300"/>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4594" name="AutoShape 24"/>
            <p:cNvCxnSpPr>
              <a:cxnSpLocks noChangeShapeType="1"/>
              <a:stCxn id="24600" idx="3"/>
              <a:endCxn id="24591" idx="7"/>
            </p:cNvCxnSpPr>
            <p:nvPr/>
          </p:nvCxnSpPr>
          <p:spPr bwMode="auto">
            <a:xfrm flipH="1">
              <a:off x="2916" y="1516"/>
              <a:ext cx="40" cy="245"/>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4595" name="AutoShape 25"/>
            <p:cNvCxnSpPr>
              <a:cxnSpLocks noChangeShapeType="1"/>
              <a:stCxn id="24591" idx="1"/>
              <a:endCxn id="24581" idx="5"/>
            </p:cNvCxnSpPr>
            <p:nvPr/>
          </p:nvCxnSpPr>
          <p:spPr bwMode="auto">
            <a:xfrm flipH="1" flipV="1">
              <a:off x="1617" y="1493"/>
              <a:ext cx="102" cy="268"/>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grpSp>
      <p:sp>
        <p:nvSpPr>
          <p:cNvPr id="264219" name="Text Box 27"/>
          <p:cNvSpPr txBox="1">
            <a:spLocks noChangeArrowheads="1"/>
          </p:cNvSpPr>
          <p:nvPr/>
        </p:nvSpPr>
        <p:spPr bwMode="auto">
          <a:xfrm>
            <a:off x="2517776" y="5680075"/>
            <a:ext cx="7154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b="0" dirty="0">
                <a:solidFill>
                  <a:schemeClr val="tx1"/>
                </a:solidFill>
                <a:latin typeface="Gill Sans MT" panose="020B0502020104020203" pitchFamily="34" charset="0"/>
              </a:rPr>
              <a:t>Other variables may exist but </a:t>
            </a:r>
            <a:r>
              <a:rPr lang="en-US" altLang="en-US" sz="2400" b="0" dirty="0">
                <a:solidFill>
                  <a:schemeClr val="tx2"/>
                </a:solidFill>
                <a:latin typeface="Gill Sans MT" panose="020B0502020104020203" pitchFamily="34" charset="0"/>
              </a:rPr>
              <a:t>not</a:t>
            </a:r>
            <a:r>
              <a:rPr lang="en-US" altLang="en-US" sz="2400" b="0" dirty="0">
                <a:solidFill>
                  <a:schemeClr val="tx1"/>
                </a:solidFill>
                <a:latin typeface="Gill Sans MT" panose="020B0502020104020203" pitchFamily="34" charset="0"/>
              </a:rPr>
              <a:t> be part of state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4207"/>
                                        </p:tgtEl>
                                        <p:attrNameLst>
                                          <p:attrName>style.visibility</p:attrName>
                                        </p:attrNameLst>
                                      </p:cBhvr>
                                      <p:to>
                                        <p:strVal val="visible"/>
                                      </p:to>
                                    </p:set>
                                    <p:animEffect transition="in" filter="wipe(left)">
                                      <p:cBhvr>
                                        <p:cTn id="22" dur="1000"/>
                                        <p:tgtEl>
                                          <p:spTgt spid="264207"/>
                                        </p:tgtEl>
                                      </p:cBhvr>
                                    </p:animEffect>
                                  </p:childTnLst>
                                </p:cTn>
                              </p:par>
                            </p:childTnLst>
                          </p:cTn>
                        </p:par>
                        <p:par>
                          <p:cTn id="23" fill="hold" nodeType="afterGroup">
                            <p:stCondLst>
                              <p:cond delay="1000"/>
                            </p:stCondLst>
                            <p:childTnLst>
                              <p:par>
                                <p:cTn id="24" presetID="22" presetClass="entr" presetSubtype="4" fill="hold" nodeType="afterEffect">
                                  <p:stCondLst>
                                    <p:cond delay="0"/>
                                  </p:stCondLst>
                                  <p:childTnLst>
                                    <p:set>
                                      <p:cBhvr>
                                        <p:cTn id="25" dur="1" fill="hold">
                                          <p:stCondLst>
                                            <p:cond delay="0"/>
                                          </p:stCondLst>
                                        </p:cTn>
                                        <p:tgtEl>
                                          <p:spTgt spid="264205"/>
                                        </p:tgtEl>
                                        <p:attrNameLst>
                                          <p:attrName>style.visibility</p:attrName>
                                        </p:attrNameLst>
                                      </p:cBhvr>
                                      <p:to>
                                        <p:strVal val="visible"/>
                                      </p:to>
                                    </p:set>
                                    <p:animEffect transition="in" filter="wipe(down)">
                                      <p:cBhvr>
                                        <p:cTn id="26" dur="1000"/>
                                        <p:tgtEl>
                                          <p:spTgt spid="264205"/>
                                        </p:tgtEl>
                                      </p:cBhvr>
                                    </p:animEffect>
                                  </p:childTnLst>
                                </p:cTn>
                              </p:par>
                            </p:childTnLst>
                          </p:cTn>
                        </p:par>
                        <p:par>
                          <p:cTn id="27" fill="hold" nodeType="afterGroup">
                            <p:stCondLst>
                              <p:cond delay="2000"/>
                            </p:stCondLst>
                            <p:childTnLst>
                              <p:par>
                                <p:cTn id="28" presetID="22" presetClass="entr" presetSubtype="2" fill="hold" nodeType="afterEffect">
                                  <p:stCondLst>
                                    <p:cond delay="0"/>
                                  </p:stCondLst>
                                  <p:childTnLst>
                                    <p:set>
                                      <p:cBhvr>
                                        <p:cTn id="29" dur="1" fill="hold">
                                          <p:stCondLst>
                                            <p:cond delay="0"/>
                                          </p:stCondLst>
                                        </p:cTn>
                                        <p:tgtEl>
                                          <p:spTgt spid="264206"/>
                                        </p:tgtEl>
                                        <p:attrNameLst>
                                          <p:attrName>style.visibility</p:attrName>
                                        </p:attrNameLst>
                                      </p:cBhvr>
                                      <p:to>
                                        <p:strVal val="visible"/>
                                      </p:to>
                                    </p:set>
                                    <p:animEffect transition="in" filter="wipe(right)">
                                      <p:cBhvr>
                                        <p:cTn id="30" dur="1000"/>
                                        <p:tgtEl>
                                          <p:spTgt spid="26420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64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333BA1A5-4A44-4AC0-87EA-1F2C13324C33}" type="slidenum">
              <a:rPr lang="en-US" altLang="en-US" sz="900" b="0">
                <a:solidFill>
                  <a:schemeClr val="tx1"/>
                </a:solidFill>
              </a:rPr>
              <a:pPr/>
              <a:t>14</a:t>
            </a:fld>
            <a:endParaRPr lang="en-US" altLang="en-US" sz="900" b="0">
              <a:solidFill>
                <a:schemeClr val="tx1"/>
              </a:solidFill>
            </a:endParaRPr>
          </a:p>
        </p:txBody>
      </p:sp>
      <p:sp>
        <p:nvSpPr>
          <p:cNvPr id="25604" name="Rectangle 2"/>
          <p:cNvSpPr>
            <a:spLocks noGrp="1" noChangeArrowheads="1"/>
          </p:cNvSpPr>
          <p:nvPr>
            <p:ph type="title"/>
          </p:nvPr>
        </p:nvSpPr>
        <p:spPr/>
        <p:txBody>
          <a:bodyPr/>
          <a:lstStyle/>
          <a:p>
            <a:r>
              <a:rPr lang="en-US" altLang="en-US" sz="3200" dirty="0"/>
              <a:t>Finite State Machines </a:t>
            </a:r>
            <a:r>
              <a:rPr lang="en-US" altLang="en-US" dirty="0"/>
              <a:t>are Common</a:t>
            </a:r>
          </a:p>
        </p:txBody>
      </p:sp>
      <p:sp>
        <p:nvSpPr>
          <p:cNvPr id="25605" name="Rectangle 3"/>
          <p:cNvSpPr>
            <a:spLocks noGrp="1" noChangeArrowheads="1"/>
          </p:cNvSpPr>
          <p:nvPr>
            <p:ph type="body" idx="1"/>
          </p:nvPr>
        </p:nvSpPr>
        <p:spPr/>
        <p:txBody>
          <a:bodyPr/>
          <a:lstStyle/>
          <a:p>
            <a:r>
              <a:rPr lang="en-US" altLang="en-US" b="0" dirty="0"/>
              <a:t>FSMs can </a:t>
            </a:r>
            <a:r>
              <a:rPr lang="en-US" altLang="en-US" b="0" dirty="0">
                <a:solidFill>
                  <a:schemeClr val="tx2"/>
                </a:solidFill>
              </a:rPr>
              <a:t>accurately model</a:t>
            </a:r>
            <a:r>
              <a:rPr lang="en-US" altLang="en-US" b="0" dirty="0"/>
              <a:t> many kinds of software</a:t>
            </a:r>
          </a:p>
          <a:p>
            <a:pPr lvl="1">
              <a:spcBef>
                <a:spcPts val="600"/>
              </a:spcBef>
            </a:pPr>
            <a:r>
              <a:rPr lang="en-US" altLang="en-US" b="0" dirty="0">
                <a:solidFill>
                  <a:schemeClr val="tx2"/>
                </a:solidFill>
              </a:rPr>
              <a:t>Embedded</a:t>
            </a:r>
            <a:r>
              <a:rPr lang="en-US" altLang="en-US" b="0" dirty="0"/>
              <a:t> and control software (think electronic gadgets)</a:t>
            </a:r>
          </a:p>
          <a:p>
            <a:pPr lvl="1">
              <a:spcBef>
                <a:spcPts val="600"/>
              </a:spcBef>
            </a:pPr>
            <a:r>
              <a:rPr lang="en-US" altLang="en-US" b="0" dirty="0">
                <a:solidFill>
                  <a:schemeClr val="tx2"/>
                </a:solidFill>
              </a:rPr>
              <a:t>Abstract data types</a:t>
            </a:r>
          </a:p>
          <a:p>
            <a:pPr lvl="1">
              <a:spcBef>
                <a:spcPts val="600"/>
              </a:spcBef>
            </a:pPr>
            <a:r>
              <a:rPr lang="en-US" altLang="en-US" b="0" dirty="0">
                <a:solidFill>
                  <a:schemeClr val="tx2"/>
                </a:solidFill>
              </a:rPr>
              <a:t>Compilers</a:t>
            </a:r>
            <a:r>
              <a:rPr lang="en-US" altLang="en-US" b="0" dirty="0"/>
              <a:t> and operating systems</a:t>
            </a:r>
          </a:p>
          <a:p>
            <a:pPr lvl="1">
              <a:spcBef>
                <a:spcPts val="600"/>
              </a:spcBef>
            </a:pPr>
            <a:r>
              <a:rPr lang="en-US" altLang="en-US" b="0" dirty="0">
                <a:solidFill>
                  <a:schemeClr val="tx2"/>
                </a:solidFill>
              </a:rPr>
              <a:t>Web</a:t>
            </a:r>
            <a:r>
              <a:rPr lang="en-US" altLang="en-US" b="0" dirty="0"/>
              <a:t> applications</a:t>
            </a:r>
          </a:p>
          <a:p>
            <a:r>
              <a:rPr lang="en-US" altLang="en-US" b="0" dirty="0">
                <a:solidFill>
                  <a:schemeClr val="tx2"/>
                </a:solidFill>
              </a:rPr>
              <a:t>Creating</a:t>
            </a:r>
            <a:r>
              <a:rPr lang="en-US" altLang="en-US" b="0" dirty="0"/>
              <a:t> FSMs can help find software problems</a:t>
            </a:r>
          </a:p>
          <a:p>
            <a:r>
              <a:rPr lang="en-US" altLang="en-US" b="0" dirty="0"/>
              <a:t>Numerous </a:t>
            </a:r>
            <a:r>
              <a:rPr lang="en-US" altLang="en-US" b="0" dirty="0">
                <a:solidFill>
                  <a:schemeClr val="tx2"/>
                </a:solidFill>
              </a:rPr>
              <a:t>languages</a:t>
            </a:r>
            <a:r>
              <a:rPr lang="en-US" altLang="en-US" b="0" dirty="0"/>
              <a:t> for expressing FSMs</a:t>
            </a:r>
          </a:p>
          <a:p>
            <a:pPr lvl="1">
              <a:spcBef>
                <a:spcPts val="600"/>
              </a:spcBef>
            </a:pPr>
            <a:r>
              <a:rPr lang="en-US" altLang="en-US" b="0" dirty="0"/>
              <a:t>UML </a:t>
            </a:r>
            <a:r>
              <a:rPr lang="en-US" altLang="en-US" b="0" dirty="0" err="1"/>
              <a:t>statecharts</a:t>
            </a:r>
            <a:endParaRPr lang="en-US" altLang="en-US" b="0" dirty="0"/>
          </a:p>
          <a:p>
            <a:pPr lvl="1">
              <a:spcBef>
                <a:spcPts val="600"/>
              </a:spcBef>
            </a:pPr>
            <a:r>
              <a:rPr lang="en-US" altLang="en-US" b="0" dirty="0"/>
              <a:t>Automata</a:t>
            </a:r>
          </a:p>
          <a:p>
            <a:pPr lvl="1">
              <a:spcBef>
                <a:spcPts val="600"/>
              </a:spcBef>
            </a:pPr>
            <a:r>
              <a:rPr lang="en-US" altLang="en-US" b="0" dirty="0"/>
              <a:t>State tables (SCR)</a:t>
            </a:r>
          </a:p>
          <a:p>
            <a:pPr lvl="1">
              <a:spcBef>
                <a:spcPts val="600"/>
              </a:spcBef>
            </a:pPr>
            <a:r>
              <a:rPr lang="en-US" altLang="en-US" b="0" dirty="0"/>
              <a:t>Petri nets</a:t>
            </a:r>
          </a:p>
          <a:p>
            <a:r>
              <a:rPr lang="en-US" altLang="en-US" b="0" dirty="0">
                <a:solidFill>
                  <a:schemeClr val="tx2"/>
                </a:solidFill>
              </a:rPr>
              <a:t>Limitation</a:t>
            </a:r>
            <a:r>
              <a:rPr lang="en-US" altLang="en-US" b="0" dirty="0"/>
              <a:t> : FSMs are not always practical for programs that have </a:t>
            </a:r>
            <a:r>
              <a:rPr lang="en-US" altLang="en-US" b="0" dirty="0">
                <a:solidFill>
                  <a:schemeClr val="tx2"/>
                </a:solidFill>
              </a:rPr>
              <a:t>lots of states</a:t>
            </a:r>
            <a:r>
              <a:rPr lang="en-US" altLang="en-US" b="0" dirty="0"/>
              <a:t> (for example, GUIs)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206120B7-5BBA-4CDF-BC2A-A7005255B0DE}" type="slidenum">
              <a:rPr lang="en-US" altLang="en-US" sz="900" b="0">
                <a:solidFill>
                  <a:schemeClr val="tx1"/>
                </a:solidFill>
              </a:rPr>
              <a:pPr/>
              <a:t>15</a:t>
            </a:fld>
            <a:endParaRPr lang="en-US" altLang="en-US" sz="900" b="0">
              <a:solidFill>
                <a:schemeClr val="tx1"/>
              </a:solidFill>
            </a:endParaRPr>
          </a:p>
        </p:txBody>
      </p:sp>
      <p:sp>
        <p:nvSpPr>
          <p:cNvPr id="26628" name="Rectangle 2"/>
          <p:cNvSpPr>
            <a:spLocks noGrp="1" noChangeArrowheads="1"/>
          </p:cNvSpPr>
          <p:nvPr>
            <p:ph type="title"/>
          </p:nvPr>
        </p:nvSpPr>
        <p:spPr/>
        <p:txBody>
          <a:bodyPr/>
          <a:lstStyle/>
          <a:p>
            <a:r>
              <a:rPr lang="en-US" altLang="en-US"/>
              <a:t>Annotations on FSMs</a:t>
            </a:r>
          </a:p>
        </p:txBody>
      </p:sp>
      <p:sp>
        <p:nvSpPr>
          <p:cNvPr id="26629" name="Rectangle 3"/>
          <p:cNvSpPr>
            <a:spLocks noGrp="1" noChangeArrowheads="1"/>
          </p:cNvSpPr>
          <p:nvPr>
            <p:ph type="body" idx="1"/>
          </p:nvPr>
        </p:nvSpPr>
        <p:spPr/>
        <p:txBody>
          <a:bodyPr/>
          <a:lstStyle/>
          <a:p>
            <a:pPr>
              <a:lnSpc>
                <a:spcPct val="80000"/>
              </a:lnSpc>
            </a:pPr>
            <a:r>
              <a:rPr lang="en-US" altLang="en-US" b="0" dirty="0"/>
              <a:t>FSMs can be annotated with different types of actions</a:t>
            </a:r>
          </a:p>
          <a:p>
            <a:pPr lvl="1">
              <a:lnSpc>
                <a:spcPct val="80000"/>
              </a:lnSpc>
            </a:pPr>
            <a:r>
              <a:rPr lang="en-US" altLang="en-US" b="0" dirty="0"/>
              <a:t>Actions on </a:t>
            </a:r>
            <a:r>
              <a:rPr lang="en-US" altLang="en-US" b="0" dirty="0">
                <a:solidFill>
                  <a:schemeClr val="tx2"/>
                </a:solidFill>
              </a:rPr>
              <a:t>transitions</a:t>
            </a:r>
          </a:p>
          <a:p>
            <a:pPr lvl="1">
              <a:lnSpc>
                <a:spcPct val="80000"/>
              </a:lnSpc>
            </a:pPr>
            <a:r>
              <a:rPr lang="en-US" altLang="en-US" b="0" dirty="0">
                <a:solidFill>
                  <a:schemeClr val="tx2"/>
                </a:solidFill>
              </a:rPr>
              <a:t>Entry</a:t>
            </a:r>
            <a:r>
              <a:rPr lang="en-US" altLang="en-US" b="0" dirty="0"/>
              <a:t> actions to nodes</a:t>
            </a:r>
          </a:p>
          <a:p>
            <a:pPr lvl="1">
              <a:lnSpc>
                <a:spcPct val="80000"/>
              </a:lnSpc>
            </a:pPr>
            <a:r>
              <a:rPr lang="en-US" altLang="en-US" b="0" dirty="0">
                <a:solidFill>
                  <a:schemeClr val="tx2"/>
                </a:solidFill>
              </a:rPr>
              <a:t>Exit</a:t>
            </a:r>
            <a:r>
              <a:rPr lang="en-US" altLang="en-US" b="0" dirty="0"/>
              <a:t> actions on nodes</a:t>
            </a:r>
          </a:p>
          <a:p>
            <a:pPr>
              <a:lnSpc>
                <a:spcPct val="80000"/>
              </a:lnSpc>
            </a:pPr>
            <a:r>
              <a:rPr lang="en-US" altLang="en-US" b="0" dirty="0"/>
              <a:t>Actions can express changes to variables or conditions on variables</a:t>
            </a:r>
          </a:p>
          <a:p>
            <a:pPr>
              <a:lnSpc>
                <a:spcPct val="80000"/>
              </a:lnSpc>
            </a:pPr>
            <a:r>
              <a:rPr lang="en-US" altLang="en-US" b="0" dirty="0"/>
              <a:t>These slides use the basics:</a:t>
            </a:r>
          </a:p>
          <a:p>
            <a:pPr lvl="1">
              <a:lnSpc>
                <a:spcPct val="80000"/>
              </a:lnSpc>
            </a:pPr>
            <a:r>
              <a:rPr lang="en-US" altLang="en-US" b="0" dirty="0">
                <a:solidFill>
                  <a:schemeClr val="tx2"/>
                </a:solidFill>
              </a:rPr>
              <a:t>Preconditions</a:t>
            </a:r>
            <a:r>
              <a:rPr lang="en-US" altLang="en-US" b="0" dirty="0"/>
              <a:t> (</a:t>
            </a:r>
            <a:r>
              <a:rPr lang="en-US" altLang="en-US" b="0" dirty="0">
                <a:solidFill>
                  <a:schemeClr val="tx2"/>
                </a:solidFill>
              </a:rPr>
              <a:t>guards</a:t>
            </a:r>
            <a:r>
              <a:rPr lang="en-US" altLang="en-US" b="0" dirty="0"/>
              <a:t>) : conditions  that must be true for transitions to be taken</a:t>
            </a:r>
          </a:p>
          <a:p>
            <a:pPr lvl="1">
              <a:lnSpc>
                <a:spcPct val="80000"/>
              </a:lnSpc>
            </a:pPr>
            <a:r>
              <a:rPr lang="en-US" altLang="en-US" b="0" dirty="0">
                <a:solidFill>
                  <a:schemeClr val="tx2"/>
                </a:solidFill>
              </a:rPr>
              <a:t>Triggering events</a:t>
            </a:r>
            <a:r>
              <a:rPr lang="en-US" altLang="en-US" b="0" dirty="0"/>
              <a:t> : changes to variables that cause transitions to be taken</a:t>
            </a:r>
          </a:p>
          <a:p>
            <a:pPr>
              <a:lnSpc>
                <a:spcPct val="80000"/>
              </a:lnSpc>
            </a:pPr>
            <a:r>
              <a:rPr lang="en-US" altLang="en-US" b="0" dirty="0"/>
              <a:t>This is close to the UML </a:t>
            </a:r>
            <a:r>
              <a:rPr lang="en-US" altLang="en-US" b="0" dirty="0" err="1"/>
              <a:t>Statecharts</a:t>
            </a:r>
            <a:r>
              <a:rPr lang="en-US" altLang="en-US" b="0" dirty="0"/>
              <a:t>, but not exactly the same</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D73BFFC8-82AF-493F-AB0C-2437C41DFA77}" type="slidenum">
              <a:rPr lang="en-US" altLang="en-US" sz="900" b="0">
                <a:solidFill>
                  <a:schemeClr val="tx1"/>
                </a:solidFill>
              </a:rPr>
              <a:pPr/>
              <a:t>16</a:t>
            </a:fld>
            <a:endParaRPr lang="en-US" altLang="en-US" sz="900" b="0">
              <a:solidFill>
                <a:schemeClr val="tx1"/>
              </a:solidFill>
            </a:endParaRPr>
          </a:p>
        </p:txBody>
      </p:sp>
      <p:sp>
        <p:nvSpPr>
          <p:cNvPr id="27652" name="Rectangle 2"/>
          <p:cNvSpPr>
            <a:spLocks noGrp="1" noChangeArrowheads="1"/>
          </p:cNvSpPr>
          <p:nvPr>
            <p:ph type="title"/>
          </p:nvPr>
        </p:nvSpPr>
        <p:spPr/>
        <p:txBody>
          <a:bodyPr/>
          <a:lstStyle/>
          <a:p>
            <a:r>
              <a:rPr lang="en-US" altLang="en-US"/>
              <a:t>Example Annotations</a:t>
            </a:r>
          </a:p>
        </p:txBody>
      </p:sp>
      <p:grpSp>
        <p:nvGrpSpPr>
          <p:cNvPr id="27653" name="Group 13"/>
          <p:cNvGrpSpPr>
            <a:grpSpLocks/>
          </p:cNvGrpSpPr>
          <p:nvPr/>
        </p:nvGrpSpPr>
        <p:grpSpPr bwMode="auto">
          <a:xfrm>
            <a:off x="3540126" y="2852738"/>
            <a:ext cx="5146675" cy="595312"/>
            <a:chOff x="1270" y="1797"/>
            <a:chExt cx="3242" cy="375"/>
          </a:xfrm>
        </p:grpSpPr>
        <p:sp>
          <p:nvSpPr>
            <p:cNvPr id="27658" name="Oval 5"/>
            <p:cNvSpPr>
              <a:spLocks noChangeArrowheads="1"/>
            </p:cNvSpPr>
            <p:nvPr/>
          </p:nvSpPr>
          <p:spPr bwMode="auto">
            <a:xfrm>
              <a:off x="1270" y="1797"/>
              <a:ext cx="735" cy="375"/>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sz="2400">
                  <a:latin typeface="Gill Sans MT" panose="020B0502020104020203" pitchFamily="34" charset="0"/>
                </a:rPr>
                <a:t>Closed</a:t>
              </a:r>
            </a:p>
          </p:txBody>
        </p:sp>
        <p:sp>
          <p:nvSpPr>
            <p:cNvPr id="27659" name="Oval 6"/>
            <p:cNvSpPr>
              <a:spLocks noChangeArrowheads="1"/>
            </p:cNvSpPr>
            <p:nvPr/>
          </p:nvSpPr>
          <p:spPr bwMode="auto">
            <a:xfrm>
              <a:off x="3777" y="1797"/>
              <a:ext cx="735" cy="375"/>
            </a:xfrm>
            <a:prstGeom prst="ellipse">
              <a:avLst/>
            </a:prstGeom>
            <a:solidFill>
              <a:srgbClr val="0066FF"/>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sz="2400">
                  <a:latin typeface="Gill Sans MT" panose="020B0502020104020203" pitchFamily="34" charset="0"/>
                </a:rPr>
                <a:t>Open</a:t>
              </a:r>
            </a:p>
          </p:txBody>
        </p:sp>
        <p:cxnSp>
          <p:nvCxnSpPr>
            <p:cNvPr id="27660" name="AutoShape 7"/>
            <p:cNvCxnSpPr>
              <a:cxnSpLocks noChangeShapeType="1"/>
              <a:stCxn id="27658" idx="7"/>
              <a:endCxn id="27659" idx="1"/>
            </p:cNvCxnSpPr>
            <p:nvPr/>
          </p:nvCxnSpPr>
          <p:spPr bwMode="auto">
            <a:xfrm rot="5400000" flipV="1">
              <a:off x="2890" y="859"/>
              <a:ext cx="1" cy="1988"/>
            </a:xfrm>
            <a:prstGeom prst="curvedConnector3">
              <a:avLst>
                <a:gd name="adj1" fmla="val -35700014"/>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sp>
        <p:nvSpPr>
          <p:cNvPr id="27654" name="Text Box 9"/>
          <p:cNvSpPr txBox="1">
            <a:spLocks noChangeArrowheads="1"/>
          </p:cNvSpPr>
          <p:nvPr/>
        </p:nvSpPr>
        <p:spPr bwMode="auto">
          <a:xfrm>
            <a:off x="5121443" y="1985964"/>
            <a:ext cx="21206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latin typeface="Gill Sans MT" panose="020B0502020104020203" pitchFamily="34" charset="0"/>
              </a:rPr>
              <a:t>open elevator door</a:t>
            </a:r>
          </a:p>
        </p:txBody>
      </p:sp>
      <p:sp>
        <p:nvSpPr>
          <p:cNvPr id="267275" name="AutoShape 11"/>
          <p:cNvSpPr>
            <a:spLocks/>
          </p:cNvSpPr>
          <p:nvPr/>
        </p:nvSpPr>
        <p:spPr bwMode="auto">
          <a:xfrm>
            <a:off x="5520703" y="3495729"/>
            <a:ext cx="2765839" cy="427037"/>
          </a:xfrm>
          <a:prstGeom prst="borderCallout2">
            <a:avLst>
              <a:gd name="adj1" fmla="val 26764"/>
              <a:gd name="adj2" fmla="val -2963"/>
              <a:gd name="adj3" fmla="val 26764"/>
              <a:gd name="adj4" fmla="val -11727"/>
              <a:gd name="adj5" fmla="val -199435"/>
              <a:gd name="adj6" fmla="val -27921"/>
            </a:avLst>
          </a:prstGeom>
          <a:solidFill>
            <a:srgbClr val="0033CC"/>
          </a:solidFill>
          <a:ln w="12700">
            <a:solidFill>
              <a:schemeClr val="tx1"/>
            </a:solidFill>
            <a:miter lim="800000"/>
            <a:headEnd type="none" w="sm" len="sm"/>
            <a:tailEnd type="none" w="sm" len="sm"/>
          </a:ln>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sz="2400" dirty="0">
                <a:latin typeface="Gill Sans MT" panose="020B0502020104020203" pitchFamily="34" charset="0"/>
              </a:rPr>
              <a:t>pre: </a:t>
            </a:r>
            <a:r>
              <a:rPr lang="en-US" altLang="en-US" sz="2400" dirty="0" err="1">
                <a:latin typeface="Gill Sans MT" panose="020B0502020104020203" pitchFamily="34" charset="0"/>
              </a:rPr>
              <a:t>elevSpeed</a:t>
            </a:r>
            <a:r>
              <a:rPr lang="en-US" altLang="en-US" sz="2400" dirty="0">
                <a:latin typeface="Gill Sans MT" panose="020B0502020104020203" pitchFamily="34" charset="0"/>
              </a:rPr>
              <a:t> = 0</a:t>
            </a:r>
          </a:p>
        </p:txBody>
      </p:sp>
      <p:sp>
        <p:nvSpPr>
          <p:cNvPr id="267276" name="AutoShape 12"/>
          <p:cNvSpPr>
            <a:spLocks/>
          </p:cNvSpPr>
          <p:nvPr/>
        </p:nvSpPr>
        <p:spPr bwMode="auto">
          <a:xfrm>
            <a:off x="5550866" y="4281182"/>
            <a:ext cx="4635871" cy="427037"/>
          </a:xfrm>
          <a:prstGeom prst="borderCallout2">
            <a:avLst>
              <a:gd name="adj1" fmla="val 26764"/>
              <a:gd name="adj2" fmla="val -2130"/>
              <a:gd name="adj3" fmla="val 26764"/>
              <a:gd name="adj4" fmla="val -2130"/>
              <a:gd name="adj5" fmla="val -351623"/>
              <a:gd name="adj6" fmla="val -21931"/>
            </a:avLst>
          </a:prstGeom>
          <a:solidFill>
            <a:srgbClr val="0033CC"/>
          </a:solidFill>
          <a:ln w="12700">
            <a:solidFill>
              <a:schemeClr val="tx1"/>
            </a:solidFill>
            <a:miter lim="800000"/>
            <a:headEnd type="none" w="sm" len="sm"/>
            <a:tailEnd type="none" w="sm" len="sm"/>
          </a:ln>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sz="2400" dirty="0">
                <a:latin typeface="Gill Sans MT" panose="020B0502020104020203" pitchFamily="34" charset="0"/>
              </a:rPr>
              <a:t>trigger: </a:t>
            </a:r>
            <a:r>
              <a:rPr lang="en-US" altLang="en-US" sz="2400" dirty="0" err="1">
                <a:latin typeface="Gill Sans MT" panose="020B0502020104020203" pitchFamily="34" charset="0"/>
              </a:rPr>
              <a:t>openButton</a:t>
            </a:r>
            <a:r>
              <a:rPr lang="en-US" altLang="en-US" sz="2400" dirty="0">
                <a:latin typeface="Gill Sans MT" panose="020B0502020104020203" pitchFamily="34" charset="0"/>
              </a:rPr>
              <a:t> = pressed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7275"/>
                                        </p:tgtEl>
                                        <p:attrNameLst>
                                          <p:attrName>style.visibility</p:attrName>
                                        </p:attrNameLst>
                                      </p:cBhvr>
                                      <p:to>
                                        <p:strVal val="visible"/>
                                      </p:to>
                                    </p:set>
                                    <p:animEffect transition="in" filter="wipe(left)">
                                      <p:cBhvr>
                                        <p:cTn id="7" dur="500"/>
                                        <p:tgtEl>
                                          <p:spTgt spid="2672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7276"/>
                                        </p:tgtEl>
                                        <p:attrNameLst>
                                          <p:attrName>style.visibility</p:attrName>
                                        </p:attrNameLst>
                                      </p:cBhvr>
                                      <p:to>
                                        <p:strVal val="visible"/>
                                      </p:to>
                                    </p:set>
                                    <p:animEffect transition="in" filter="wipe(left)">
                                      <p:cBhvr>
                                        <p:cTn id="12" dur="500"/>
                                        <p:tgtEl>
                                          <p:spTgt spid="267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5" grpId="0" animBg="1"/>
      <p:bldP spid="26727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1959C6CC-9B56-4221-9433-28842D80F1A1}" type="slidenum">
              <a:rPr lang="en-US" altLang="en-US" sz="900" b="0">
                <a:solidFill>
                  <a:schemeClr val="tx1"/>
                </a:solidFill>
              </a:rPr>
              <a:pPr/>
              <a:t>17</a:t>
            </a:fld>
            <a:endParaRPr lang="en-US" altLang="en-US" sz="900" b="0">
              <a:solidFill>
                <a:schemeClr val="tx1"/>
              </a:solidFill>
            </a:endParaRPr>
          </a:p>
        </p:txBody>
      </p:sp>
      <p:sp>
        <p:nvSpPr>
          <p:cNvPr id="28676" name="Rectangle 2"/>
          <p:cNvSpPr>
            <a:spLocks noGrp="1" noChangeArrowheads="1"/>
          </p:cNvSpPr>
          <p:nvPr>
            <p:ph type="title"/>
          </p:nvPr>
        </p:nvSpPr>
        <p:spPr/>
        <p:txBody>
          <a:bodyPr/>
          <a:lstStyle/>
          <a:p>
            <a:r>
              <a:rPr lang="en-US" altLang="en-US"/>
              <a:t>Covering FSMs</a:t>
            </a:r>
          </a:p>
        </p:txBody>
      </p:sp>
      <p:sp>
        <p:nvSpPr>
          <p:cNvPr id="28677" name="Rectangle 3"/>
          <p:cNvSpPr>
            <a:spLocks noGrp="1" noChangeArrowheads="1"/>
          </p:cNvSpPr>
          <p:nvPr>
            <p:ph type="body" idx="1"/>
          </p:nvPr>
        </p:nvSpPr>
        <p:spPr/>
        <p:txBody>
          <a:bodyPr/>
          <a:lstStyle/>
          <a:p>
            <a:r>
              <a:rPr lang="en-US" altLang="en-US" b="0" dirty="0">
                <a:solidFill>
                  <a:schemeClr val="tx2"/>
                </a:solidFill>
              </a:rPr>
              <a:t>Node coverage</a:t>
            </a:r>
            <a:r>
              <a:rPr lang="en-US" altLang="en-US" b="0" dirty="0"/>
              <a:t> : execute every state (</a:t>
            </a:r>
            <a:r>
              <a:rPr lang="en-US" altLang="en-US" b="0" i="1" dirty="0"/>
              <a:t>state coverage</a:t>
            </a:r>
            <a:r>
              <a:rPr lang="en-US" altLang="en-US" b="0" dirty="0"/>
              <a:t>)</a:t>
            </a:r>
          </a:p>
          <a:p>
            <a:r>
              <a:rPr lang="en-US" altLang="en-US" b="0" dirty="0">
                <a:solidFill>
                  <a:schemeClr val="tx2"/>
                </a:solidFill>
              </a:rPr>
              <a:t>Edge coverage</a:t>
            </a:r>
            <a:r>
              <a:rPr lang="en-US" altLang="en-US" b="0" dirty="0"/>
              <a:t> : execute every transition (</a:t>
            </a:r>
            <a:r>
              <a:rPr lang="en-US" altLang="en-US" b="0" i="1" dirty="0"/>
              <a:t>transition coverage</a:t>
            </a:r>
            <a:r>
              <a:rPr lang="en-US" altLang="en-US" b="0" dirty="0"/>
              <a:t>)</a:t>
            </a:r>
          </a:p>
          <a:p>
            <a:r>
              <a:rPr lang="en-US" altLang="en-US" b="0" dirty="0">
                <a:solidFill>
                  <a:schemeClr val="tx2"/>
                </a:solidFill>
              </a:rPr>
              <a:t>Edge-pair coverage</a:t>
            </a:r>
            <a:r>
              <a:rPr lang="en-US" altLang="en-US" b="0" dirty="0"/>
              <a:t> : execute every pair of transitions (</a:t>
            </a:r>
            <a:r>
              <a:rPr lang="en-US" altLang="en-US" b="0" i="1" dirty="0"/>
              <a:t>transition-pair</a:t>
            </a:r>
            <a:r>
              <a:rPr lang="en-US" altLang="en-US" b="0" dirty="0"/>
              <a:t>)</a:t>
            </a:r>
          </a:p>
          <a:p>
            <a:r>
              <a:rPr lang="en-US" altLang="en-US" b="0" dirty="0">
                <a:solidFill>
                  <a:schemeClr val="tx2"/>
                </a:solidFill>
              </a:rPr>
              <a:t>Data flow</a:t>
            </a:r>
            <a:r>
              <a:rPr lang="en-US" altLang="en-US" b="0" dirty="0"/>
              <a:t>:</a:t>
            </a:r>
          </a:p>
          <a:p>
            <a:pPr lvl="1">
              <a:spcBef>
                <a:spcPts val="600"/>
              </a:spcBef>
            </a:pPr>
            <a:r>
              <a:rPr lang="en-US" altLang="en-US" b="0" dirty="0"/>
              <a:t>Nodes often do not include </a:t>
            </a:r>
            <a:r>
              <a:rPr lang="en-US" altLang="en-US" b="0" dirty="0" err="1"/>
              <a:t>defs</a:t>
            </a:r>
            <a:r>
              <a:rPr lang="en-US" altLang="en-US" b="0" dirty="0"/>
              <a:t> or uses of variables</a:t>
            </a:r>
          </a:p>
          <a:p>
            <a:pPr lvl="1">
              <a:spcBef>
                <a:spcPts val="600"/>
              </a:spcBef>
            </a:pPr>
            <a:r>
              <a:rPr lang="en-US" altLang="en-US" b="0" dirty="0" err="1"/>
              <a:t>Defs</a:t>
            </a:r>
            <a:r>
              <a:rPr lang="en-US" altLang="en-US" b="0" dirty="0"/>
              <a:t> of variables in triggers are used immediately (the next state)</a:t>
            </a:r>
          </a:p>
          <a:p>
            <a:pPr lvl="1">
              <a:spcBef>
                <a:spcPts val="600"/>
              </a:spcBef>
            </a:pPr>
            <a:r>
              <a:rPr lang="en-US" altLang="en-US" b="0" dirty="0" err="1"/>
              <a:t>Defs</a:t>
            </a:r>
            <a:r>
              <a:rPr lang="en-US" altLang="en-US" b="0" dirty="0"/>
              <a:t> and uses are usually computed for guards, or states are extended</a:t>
            </a:r>
          </a:p>
          <a:p>
            <a:pPr lvl="1">
              <a:spcBef>
                <a:spcPts val="600"/>
              </a:spcBef>
            </a:pPr>
            <a:r>
              <a:rPr lang="en-US" altLang="en-US" b="0" dirty="0"/>
              <a:t>FSMs typically only model a subset of the variables</a:t>
            </a:r>
          </a:p>
          <a:p>
            <a:r>
              <a:rPr lang="en-US" altLang="en-US" b="0" dirty="0"/>
              <a:t>Generating FSMs is often harder than covering them … </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228FEE1-1D30-4649-BFFD-975124AC1FDE}" type="slidenum">
              <a:rPr lang="en-US" altLang="en-US" sz="900" b="0">
                <a:solidFill>
                  <a:schemeClr val="tx1"/>
                </a:solidFill>
              </a:rPr>
              <a:pPr/>
              <a:t>18</a:t>
            </a:fld>
            <a:endParaRPr lang="en-US" altLang="en-US" sz="900" b="0">
              <a:solidFill>
                <a:schemeClr val="tx1"/>
              </a:solidFill>
            </a:endParaRPr>
          </a:p>
        </p:txBody>
      </p:sp>
      <p:sp>
        <p:nvSpPr>
          <p:cNvPr id="29700" name="Rectangle 2"/>
          <p:cNvSpPr>
            <a:spLocks noGrp="1" noChangeArrowheads="1"/>
          </p:cNvSpPr>
          <p:nvPr>
            <p:ph type="title"/>
          </p:nvPr>
        </p:nvSpPr>
        <p:spPr/>
        <p:txBody>
          <a:bodyPr/>
          <a:lstStyle/>
          <a:p>
            <a:r>
              <a:rPr lang="en-US" altLang="en-US"/>
              <a:t>Deriving FSMs</a:t>
            </a:r>
          </a:p>
        </p:txBody>
      </p:sp>
      <p:sp>
        <p:nvSpPr>
          <p:cNvPr id="29701" name="Rectangle 3"/>
          <p:cNvSpPr>
            <a:spLocks noGrp="1" noChangeArrowheads="1"/>
          </p:cNvSpPr>
          <p:nvPr>
            <p:ph type="body" idx="1"/>
          </p:nvPr>
        </p:nvSpPr>
        <p:spPr>
          <a:xfrm>
            <a:off x="1662114" y="787400"/>
            <a:ext cx="8867775" cy="5613400"/>
          </a:xfrm>
        </p:spPr>
        <p:txBody>
          <a:bodyPr/>
          <a:lstStyle/>
          <a:p>
            <a:pPr marL="457200" indent="-457200"/>
            <a:r>
              <a:rPr lang="en-US" altLang="en-US" dirty="0"/>
              <a:t>With some projects, an FSM (such as a </a:t>
            </a:r>
            <a:r>
              <a:rPr lang="en-US" altLang="en-US" dirty="0" err="1"/>
              <a:t>statechart</a:t>
            </a:r>
            <a:r>
              <a:rPr lang="en-US" altLang="en-US" dirty="0"/>
              <a:t>) was created during design</a:t>
            </a:r>
          </a:p>
          <a:p>
            <a:pPr marL="838200" lvl="1" indent="-381000"/>
            <a:r>
              <a:rPr lang="en-US" altLang="en-US" dirty="0"/>
              <a:t>Tester should check to see if the </a:t>
            </a:r>
            <a:r>
              <a:rPr lang="en-US" altLang="en-US" dirty="0">
                <a:solidFill>
                  <a:schemeClr val="tx2"/>
                </a:solidFill>
              </a:rPr>
              <a:t>FSM is still current</a:t>
            </a:r>
            <a:r>
              <a:rPr lang="en-US" altLang="en-US" dirty="0"/>
              <a:t> with respect to the implementation</a:t>
            </a:r>
          </a:p>
          <a:p>
            <a:pPr marL="457200" indent="-457200"/>
            <a:r>
              <a:rPr lang="en-US" altLang="en-US" dirty="0"/>
              <a:t>If not, it is </a:t>
            </a:r>
            <a:r>
              <a:rPr lang="en-US" altLang="en-US" dirty="0">
                <a:solidFill>
                  <a:schemeClr val="tx2"/>
                </a:solidFill>
              </a:rPr>
              <a:t>very helpful</a:t>
            </a:r>
            <a:r>
              <a:rPr lang="en-US" altLang="en-US" dirty="0"/>
              <a:t> for the tester to derive the FSM</a:t>
            </a:r>
          </a:p>
          <a:p>
            <a:pPr marL="457200" indent="-457200"/>
            <a:r>
              <a:rPr lang="en-US" altLang="en-US" dirty="0"/>
              <a:t>Strategies for </a:t>
            </a:r>
            <a:r>
              <a:rPr lang="en-US" altLang="en-US" dirty="0">
                <a:solidFill>
                  <a:schemeClr val="tx2"/>
                </a:solidFill>
              </a:rPr>
              <a:t>deriving</a:t>
            </a:r>
            <a:r>
              <a:rPr lang="en-US" altLang="en-US" dirty="0"/>
              <a:t> FSMs from a program:</a:t>
            </a:r>
          </a:p>
          <a:p>
            <a:pPr marL="838200" lvl="1" indent="-381000">
              <a:buFontTx/>
              <a:buAutoNum type="arabicPeriod"/>
            </a:pPr>
            <a:r>
              <a:rPr lang="en-US" altLang="en-US" dirty="0">
                <a:solidFill>
                  <a:schemeClr val="tx2"/>
                </a:solidFill>
              </a:rPr>
              <a:t>Combining</a:t>
            </a:r>
            <a:r>
              <a:rPr lang="en-US" altLang="en-US" dirty="0"/>
              <a:t> control flow graphs (</a:t>
            </a:r>
            <a:r>
              <a:rPr lang="en-US" altLang="en-US" i="1" dirty="0"/>
              <a:t>wrong</a:t>
            </a:r>
            <a:r>
              <a:rPr lang="en-US" altLang="en-US" dirty="0"/>
              <a:t>)</a:t>
            </a:r>
          </a:p>
          <a:p>
            <a:pPr marL="838200" lvl="1" indent="-381000">
              <a:buFontTx/>
              <a:buAutoNum type="arabicPeriod"/>
            </a:pPr>
            <a:r>
              <a:rPr lang="en-US" altLang="en-US" dirty="0"/>
              <a:t>Using the </a:t>
            </a:r>
            <a:r>
              <a:rPr lang="en-US" altLang="en-US" dirty="0">
                <a:solidFill>
                  <a:schemeClr val="tx2"/>
                </a:solidFill>
              </a:rPr>
              <a:t>software structure</a:t>
            </a:r>
            <a:r>
              <a:rPr lang="en-US" altLang="en-US" dirty="0"/>
              <a:t> (</a:t>
            </a:r>
            <a:r>
              <a:rPr lang="en-US" altLang="en-US" i="1" dirty="0"/>
              <a:t>wrong</a:t>
            </a:r>
            <a:r>
              <a:rPr lang="en-US" altLang="en-US" dirty="0"/>
              <a:t>)</a:t>
            </a:r>
            <a:endParaRPr lang="en-US" altLang="en-US" dirty="0">
              <a:solidFill>
                <a:schemeClr val="tx2"/>
              </a:solidFill>
            </a:endParaRPr>
          </a:p>
          <a:p>
            <a:pPr marL="838200" lvl="1" indent="-381000">
              <a:buFontTx/>
              <a:buAutoNum type="arabicPeriod"/>
            </a:pPr>
            <a:r>
              <a:rPr lang="en-US" altLang="en-US" dirty="0"/>
              <a:t>Modeling </a:t>
            </a:r>
            <a:r>
              <a:rPr lang="en-US" altLang="en-US" dirty="0">
                <a:solidFill>
                  <a:schemeClr val="tx2"/>
                </a:solidFill>
              </a:rPr>
              <a:t>state variables</a:t>
            </a:r>
          </a:p>
          <a:p>
            <a:pPr marL="457200" indent="-457200"/>
            <a:r>
              <a:rPr lang="en-US" altLang="en-US" dirty="0"/>
              <a:t>Example based on a digital watch …</a:t>
            </a:r>
          </a:p>
          <a:p>
            <a:pPr marL="838200" lvl="1" indent="-381000"/>
            <a:r>
              <a:rPr lang="en-US" altLang="en-US" dirty="0"/>
              <a:t>Class </a:t>
            </a:r>
            <a:r>
              <a:rPr lang="en-US" altLang="en-US" dirty="0">
                <a:latin typeface="Helvetica" charset="0"/>
              </a:rPr>
              <a:t>Watch</a:t>
            </a:r>
            <a:r>
              <a:rPr lang="en-US" altLang="en-US" dirty="0"/>
              <a:t> uses class </a:t>
            </a:r>
            <a:r>
              <a:rPr lang="en-US" altLang="en-US" dirty="0">
                <a:latin typeface="Helvetica" charset="0"/>
              </a:rPr>
              <a:t>Time</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8FEDC791-C6BB-469E-A79A-C61904932DEB}" type="slidenum">
              <a:rPr lang="en-US" altLang="en-US" sz="900" b="0">
                <a:solidFill>
                  <a:schemeClr val="tx1"/>
                </a:solidFill>
              </a:rPr>
              <a:pPr/>
              <a:t>19</a:t>
            </a:fld>
            <a:endParaRPr lang="en-US" altLang="en-US" sz="900" b="0">
              <a:solidFill>
                <a:schemeClr val="tx1"/>
              </a:solidFill>
            </a:endParaRPr>
          </a:p>
        </p:txBody>
      </p:sp>
      <p:sp>
        <p:nvSpPr>
          <p:cNvPr id="30724" name="Rectangle 4"/>
          <p:cNvSpPr>
            <a:spLocks noGrp="1" noChangeArrowheads="1"/>
          </p:cNvSpPr>
          <p:nvPr>
            <p:ph type="title"/>
          </p:nvPr>
        </p:nvSpPr>
        <p:spPr/>
        <p:txBody>
          <a:bodyPr/>
          <a:lstStyle/>
          <a:p>
            <a:r>
              <a:rPr lang="en-US" altLang="en-US"/>
              <a:t>Class Watch</a:t>
            </a:r>
          </a:p>
        </p:txBody>
      </p:sp>
      <p:sp>
        <p:nvSpPr>
          <p:cNvPr id="30725" name="Text Box 5"/>
          <p:cNvSpPr txBox="1">
            <a:spLocks noChangeArrowheads="1"/>
          </p:cNvSpPr>
          <p:nvPr/>
        </p:nvSpPr>
        <p:spPr bwMode="auto">
          <a:xfrm>
            <a:off x="1924051" y="960438"/>
            <a:ext cx="8342313" cy="5421312"/>
          </a:xfrm>
          <a:prstGeom prst="rect">
            <a:avLst/>
          </a:prstGeom>
          <a:solidFill>
            <a:schemeClr val="bg1"/>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b="0" u="sng" dirty="0">
                <a:solidFill>
                  <a:schemeClr val="tx1"/>
                </a:solidFill>
                <a:latin typeface="Helvetica" charset="0"/>
              </a:rPr>
              <a:t>class Watch</a:t>
            </a:r>
          </a:p>
          <a:p>
            <a:r>
              <a:rPr lang="en-US" altLang="en-US" sz="1800" b="0" dirty="0">
                <a:solidFill>
                  <a:schemeClr val="tx1"/>
                </a:solidFill>
                <a:latin typeface="Helvetica" charset="0"/>
              </a:rPr>
              <a:t>// Constant values for the button (inputs)</a:t>
            </a:r>
          </a:p>
          <a:p>
            <a:r>
              <a:rPr lang="en-US" altLang="en-US" sz="1800" b="0" dirty="0">
                <a:latin typeface="Helvetica" charset="0"/>
              </a:rPr>
              <a:t>private static final </a:t>
            </a:r>
            <a:r>
              <a:rPr lang="en-US" altLang="en-US" sz="1800" b="0" dirty="0" err="1">
                <a:latin typeface="Helvetica" charset="0"/>
              </a:rPr>
              <a:t>int</a:t>
            </a:r>
            <a:r>
              <a:rPr lang="en-US" altLang="en-US" sz="1800" b="0" dirty="0">
                <a:latin typeface="Helvetica" charset="0"/>
              </a:rPr>
              <a:t> NEXT = 0;</a:t>
            </a:r>
          </a:p>
          <a:p>
            <a:r>
              <a:rPr lang="en-US" altLang="en-US" sz="1800" b="0" dirty="0">
                <a:latin typeface="Helvetica" charset="0"/>
              </a:rPr>
              <a:t>private static final </a:t>
            </a:r>
            <a:r>
              <a:rPr lang="en-US" altLang="en-US" sz="1800" b="0" dirty="0" err="1">
                <a:latin typeface="Helvetica" charset="0"/>
              </a:rPr>
              <a:t>int</a:t>
            </a:r>
            <a:r>
              <a:rPr lang="en-US" altLang="en-US" sz="1800" b="0" dirty="0">
                <a:latin typeface="Helvetica" charset="0"/>
              </a:rPr>
              <a:t> UP   = 1;</a:t>
            </a:r>
          </a:p>
          <a:p>
            <a:r>
              <a:rPr lang="en-US" altLang="en-US" sz="1800" b="0" dirty="0">
                <a:latin typeface="Helvetica" charset="0"/>
              </a:rPr>
              <a:t>private static final </a:t>
            </a:r>
            <a:r>
              <a:rPr lang="en-US" altLang="en-US" sz="1800" b="0" dirty="0" err="1">
                <a:latin typeface="Helvetica" charset="0"/>
              </a:rPr>
              <a:t>int</a:t>
            </a:r>
            <a:r>
              <a:rPr lang="en-US" altLang="en-US" sz="1800" b="0" dirty="0">
                <a:latin typeface="Helvetica" charset="0"/>
              </a:rPr>
              <a:t> DOWN = 2;</a:t>
            </a:r>
          </a:p>
          <a:p>
            <a:r>
              <a:rPr lang="en-US" altLang="en-US" sz="1800" b="0" dirty="0">
                <a:solidFill>
                  <a:schemeClr val="tx1"/>
                </a:solidFill>
                <a:latin typeface="Helvetica" charset="0"/>
              </a:rPr>
              <a:t>// Constant values for the state</a:t>
            </a:r>
          </a:p>
          <a:p>
            <a:r>
              <a:rPr lang="en-US" altLang="en-US" sz="1800" b="0" dirty="0">
                <a:latin typeface="Helvetica" charset="0"/>
              </a:rPr>
              <a:t>private static final </a:t>
            </a:r>
            <a:r>
              <a:rPr lang="en-US" altLang="en-US" sz="1800" b="0" dirty="0" err="1">
                <a:latin typeface="Helvetica" charset="0"/>
              </a:rPr>
              <a:t>int</a:t>
            </a:r>
            <a:r>
              <a:rPr lang="en-US" altLang="en-US" sz="1800" b="0" dirty="0">
                <a:latin typeface="Helvetica" charset="0"/>
              </a:rPr>
              <a:t> TIME      = 5;</a:t>
            </a:r>
          </a:p>
          <a:p>
            <a:r>
              <a:rPr lang="en-US" altLang="en-US" sz="1800" b="0" dirty="0">
                <a:latin typeface="Helvetica" charset="0"/>
              </a:rPr>
              <a:t>private static final </a:t>
            </a:r>
            <a:r>
              <a:rPr lang="en-US" altLang="en-US" sz="1800" b="0" dirty="0" err="1">
                <a:latin typeface="Helvetica" charset="0"/>
              </a:rPr>
              <a:t>int</a:t>
            </a:r>
            <a:r>
              <a:rPr lang="en-US" altLang="en-US" sz="1800" b="0" dirty="0">
                <a:latin typeface="Helvetica" charset="0"/>
              </a:rPr>
              <a:t> STOPWATCH = 6;</a:t>
            </a:r>
          </a:p>
          <a:p>
            <a:r>
              <a:rPr lang="en-US" altLang="en-US" sz="1800" b="0" dirty="0">
                <a:latin typeface="Helvetica" charset="0"/>
              </a:rPr>
              <a:t>private static final </a:t>
            </a:r>
            <a:r>
              <a:rPr lang="en-US" altLang="en-US" sz="1800" b="0" dirty="0" err="1">
                <a:latin typeface="Helvetica" charset="0"/>
              </a:rPr>
              <a:t>int</a:t>
            </a:r>
            <a:r>
              <a:rPr lang="en-US" altLang="en-US" sz="1800" b="0" dirty="0">
                <a:latin typeface="Helvetica" charset="0"/>
              </a:rPr>
              <a:t> ALARM     = 7;</a:t>
            </a:r>
          </a:p>
          <a:p>
            <a:r>
              <a:rPr lang="en-US" altLang="en-US" sz="1800" b="0" dirty="0">
                <a:solidFill>
                  <a:schemeClr val="tx1"/>
                </a:solidFill>
                <a:latin typeface="Helvetica" charset="0"/>
              </a:rPr>
              <a:t>// Primary state variable</a:t>
            </a:r>
          </a:p>
          <a:p>
            <a:r>
              <a:rPr lang="en-US" altLang="en-US" sz="1800" b="0" dirty="0">
                <a:latin typeface="Helvetica" charset="0"/>
              </a:rPr>
              <a:t>private </a:t>
            </a:r>
            <a:r>
              <a:rPr lang="en-US" altLang="en-US" sz="1800" b="0" dirty="0" err="1">
                <a:latin typeface="Helvetica" charset="0"/>
              </a:rPr>
              <a:t>int</a:t>
            </a:r>
            <a:r>
              <a:rPr lang="en-US" altLang="en-US" sz="1800" b="0" dirty="0">
                <a:latin typeface="Helvetica" charset="0"/>
              </a:rPr>
              <a:t> mode = TIME;</a:t>
            </a:r>
          </a:p>
          <a:p>
            <a:r>
              <a:rPr lang="en-US" altLang="en-US" sz="1800" b="0" dirty="0">
                <a:solidFill>
                  <a:schemeClr val="tx1"/>
                </a:solidFill>
                <a:latin typeface="Helvetica" charset="0"/>
              </a:rPr>
              <a:t>// Three separate times, one for each state</a:t>
            </a:r>
          </a:p>
          <a:p>
            <a:r>
              <a:rPr lang="en-US" altLang="en-US" sz="1800" b="0" dirty="0">
                <a:latin typeface="Helvetica" charset="0"/>
              </a:rPr>
              <a:t>private Time watch, stopwatch, alarm;</a:t>
            </a:r>
          </a:p>
          <a:p>
            <a:endParaRPr lang="en-US" altLang="en-US" sz="1800" b="0" dirty="0">
              <a:latin typeface="Helvetica" charset="0"/>
            </a:endParaRPr>
          </a:p>
          <a:p>
            <a:r>
              <a:rPr lang="en-US" altLang="en-US" sz="1800" b="0" dirty="0">
                <a:latin typeface="Helvetica" charset="0"/>
              </a:rPr>
              <a:t>public Watch () // Constructor</a:t>
            </a:r>
          </a:p>
          <a:p>
            <a:pPr>
              <a:lnSpc>
                <a:spcPct val="85000"/>
              </a:lnSpc>
            </a:pPr>
            <a:r>
              <a:rPr lang="en-US" altLang="en-US" sz="1800" b="0" dirty="0">
                <a:latin typeface="Helvetica" charset="0"/>
              </a:rPr>
              <a:t>public void </a:t>
            </a:r>
            <a:r>
              <a:rPr lang="en-US" altLang="en-US" sz="1800" b="0" dirty="0" err="1">
                <a:latin typeface="Helvetica" charset="0"/>
              </a:rPr>
              <a:t>doTransition</a:t>
            </a:r>
            <a:r>
              <a:rPr lang="en-US" altLang="en-US" sz="1800" b="0" dirty="0">
                <a:latin typeface="Helvetica" charset="0"/>
              </a:rPr>
              <a:t> (</a:t>
            </a:r>
            <a:r>
              <a:rPr lang="en-US" altLang="en-US" sz="1800" b="0" dirty="0" err="1">
                <a:latin typeface="Helvetica" charset="0"/>
              </a:rPr>
              <a:t>int</a:t>
            </a:r>
            <a:r>
              <a:rPr lang="en-US" altLang="en-US" sz="1800" b="0" dirty="0">
                <a:latin typeface="Helvetica" charset="0"/>
              </a:rPr>
              <a:t> button) // Handles inputs</a:t>
            </a:r>
          </a:p>
          <a:p>
            <a:pPr>
              <a:lnSpc>
                <a:spcPct val="85000"/>
              </a:lnSpc>
            </a:pPr>
            <a:r>
              <a:rPr lang="en-US" altLang="en-US" sz="1800" b="0" dirty="0">
                <a:latin typeface="Helvetica" charset="0"/>
              </a:rPr>
              <a:t>public String </a:t>
            </a:r>
            <a:r>
              <a:rPr lang="en-US" altLang="en-US" sz="1800" b="0" dirty="0" err="1">
                <a:latin typeface="Helvetica" charset="0"/>
              </a:rPr>
              <a:t>toString</a:t>
            </a:r>
            <a:r>
              <a:rPr lang="en-US" altLang="en-US" sz="1800" b="0" dirty="0">
                <a:latin typeface="Helvetica" charset="0"/>
              </a:rPr>
              <a:t> ()  // Converts values</a:t>
            </a:r>
          </a:p>
          <a:p>
            <a:pPr>
              <a:lnSpc>
                <a:spcPct val="85000"/>
              </a:lnSpc>
            </a:pPr>
            <a:endParaRPr lang="en-US" altLang="en-US" sz="1800" b="0" dirty="0">
              <a:latin typeface="Helvetica" charset="0"/>
            </a:endParaRPr>
          </a:p>
          <a:p>
            <a:pPr>
              <a:lnSpc>
                <a:spcPct val="85000"/>
              </a:lnSpc>
            </a:pPr>
            <a:endParaRPr lang="en-US" altLang="en-US" sz="1800" b="0" dirty="0">
              <a:latin typeface="Helvetica" charset="0"/>
            </a:endParaRPr>
          </a:p>
          <a:p>
            <a:pPr>
              <a:lnSpc>
                <a:spcPct val="85000"/>
              </a:lnSpc>
            </a:pPr>
            <a:endParaRPr lang="en-US" altLang="en-US" sz="1800" b="0" dirty="0">
              <a:latin typeface="Helvetica" charset="0"/>
            </a:endParaRPr>
          </a:p>
        </p:txBody>
      </p:sp>
      <p:sp>
        <p:nvSpPr>
          <p:cNvPr id="30726" name="Text Box 6"/>
          <p:cNvSpPr txBox="1">
            <a:spLocks noChangeArrowheads="1"/>
          </p:cNvSpPr>
          <p:nvPr/>
        </p:nvSpPr>
        <p:spPr bwMode="auto">
          <a:xfrm>
            <a:off x="6335714" y="1101725"/>
            <a:ext cx="3862387" cy="2332038"/>
          </a:xfrm>
          <a:prstGeom prst="rect">
            <a:avLst/>
          </a:prstGeom>
          <a:solidFill>
            <a:srgbClr val="0033CC"/>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b="0" u="sng" dirty="0">
                <a:solidFill>
                  <a:schemeClr val="tx1"/>
                </a:solidFill>
                <a:latin typeface="Helvetica" charset="0"/>
              </a:rPr>
              <a:t>class Time</a:t>
            </a:r>
            <a:r>
              <a:rPr lang="nb-NO" altLang="en-US" sz="1800" b="0" dirty="0">
                <a:latin typeface="Helvetica" charset="0"/>
              </a:rPr>
              <a:t>   ( inner class )</a:t>
            </a:r>
          </a:p>
          <a:p>
            <a:r>
              <a:rPr lang="nb-NO" altLang="en-US" sz="1800" b="0" dirty="0">
                <a:latin typeface="Helvetica" charset="0"/>
              </a:rPr>
              <a:t>private int hour   = 0;</a:t>
            </a:r>
          </a:p>
          <a:p>
            <a:r>
              <a:rPr lang="nb-NO" altLang="en-US" sz="1800" b="0" dirty="0">
                <a:latin typeface="Helvetica" charset="0"/>
              </a:rPr>
              <a:t>private int minute = 0;</a:t>
            </a:r>
          </a:p>
          <a:p>
            <a:endParaRPr lang="en-US" altLang="en-US" sz="1800" b="0" dirty="0">
              <a:latin typeface="Helvetica" charset="0"/>
            </a:endParaRPr>
          </a:p>
          <a:p>
            <a:r>
              <a:rPr lang="en-US" altLang="en-US" sz="1800" b="0" dirty="0">
                <a:latin typeface="Helvetica" charset="0"/>
              </a:rPr>
              <a:t>public void </a:t>
            </a:r>
            <a:r>
              <a:rPr lang="en-US" altLang="en-US" sz="1800" b="0" dirty="0" err="1">
                <a:latin typeface="Helvetica" charset="0"/>
              </a:rPr>
              <a:t>changeTime</a:t>
            </a:r>
            <a:r>
              <a:rPr lang="en-US" altLang="en-US" sz="1800" b="0" dirty="0">
                <a:latin typeface="Helvetica" charset="0"/>
              </a:rPr>
              <a:t> (</a:t>
            </a:r>
            <a:r>
              <a:rPr lang="en-US" altLang="en-US" sz="1800" b="0" dirty="0" err="1">
                <a:latin typeface="Helvetica" charset="0"/>
              </a:rPr>
              <a:t>int</a:t>
            </a:r>
            <a:r>
              <a:rPr lang="en-US" altLang="en-US" sz="1800" b="0" dirty="0">
                <a:latin typeface="Helvetica" charset="0"/>
              </a:rPr>
              <a:t> button)</a:t>
            </a:r>
          </a:p>
          <a:p>
            <a:r>
              <a:rPr lang="en-US" altLang="en-US" sz="1800" b="0" dirty="0">
                <a:latin typeface="Helvetica" charset="0"/>
              </a:rPr>
              <a:t>public String </a:t>
            </a:r>
            <a:r>
              <a:rPr lang="en-US" altLang="en-US" sz="1800" b="0" dirty="0" err="1">
                <a:latin typeface="Helvetica" charset="0"/>
              </a:rPr>
              <a:t>toString</a:t>
            </a:r>
            <a:r>
              <a:rPr lang="en-US" altLang="en-US" sz="1800" b="0" dirty="0">
                <a:latin typeface="Helvetica" charset="0"/>
              </a:rPr>
              <a:t> ()</a:t>
            </a:r>
          </a:p>
          <a:p>
            <a:endParaRPr lang="en-US" altLang="en-US" sz="1800" b="0" dirty="0">
              <a:latin typeface="Helvetica" charset="0"/>
            </a:endParaRPr>
          </a:p>
          <a:p>
            <a:endParaRPr lang="en-US" altLang="en-US" sz="1800" b="0" dirty="0">
              <a:latin typeface="Helvetica" charset="0"/>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C35B0E59-A7B0-4668-BAB3-DE9545A0846C}" type="slidenum">
              <a:rPr lang="en-US" altLang="en-US" sz="900" b="0">
                <a:solidFill>
                  <a:schemeClr val="tx1"/>
                </a:solidFill>
              </a:rPr>
              <a:pPr/>
              <a:t>20</a:t>
            </a:fld>
            <a:endParaRPr lang="en-US" altLang="en-US" sz="900" b="0">
              <a:solidFill>
                <a:schemeClr val="tx1"/>
              </a:solidFill>
            </a:endParaRPr>
          </a:p>
        </p:txBody>
      </p:sp>
      <p:sp>
        <p:nvSpPr>
          <p:cNvPr id="31748" name="Text Box 2"/>
          <p:cNvSpPr txBox="1">
            <a:spLocks noChangeArrowheads="1"/>
          </p:cNvSpPr>
          <p:nvPr/>
        </p:nvSpPr>
        <p:spPr bwMode="auto">
          <a:xfrm>
            <a:off x="1554163" y="523876"/>
            <a:ext cx="5588000" cy="5719763"/>
          </a:xfrm>
          <a:prstGeom prst="rect">
            <a:avLst/>
          </a:prstGeom>
          <a:solidFill>
            <a:schemeClr val="bg1"/>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85000"/>
              </a:lnSpc>
            </a:pPr>
            <a:r>
              <a:rPr lang="en-US" altLang="en-US" sz="1600" b="0" dirty="0">
                <a:latin typeface="Helvetica" charset="0"/>
              </a:rPr>
              <a:t>// Takes the appropriate transition when a button is pushed.</a:t>
            </a:r>
          </a:p>
          <a:p>
            <a:pPr>
              <a:lnSpc>
                <a:spcPct val="85000"/>
              </a:lnSpc>
            </a:pPr>
            <a:r>
              <a:rPr lang="en-US" altLang="en-US" sz="1600" b="0" dirty="0">
                <a:latin typeface="Helvetica" charset="0"/>
              </a:rPr>
              <a:t>public void </a:t>
            </a:r>
            <a:r>
              <a:rPr lang="en-US" altLang="en-US" sz="1600" b="0" u="sng" dirty="0" err="1">
                <a:solidFill>
                  <a:schemeClr val="tx1"/>
                </a:solidFill>
                <a:latin typeface="Helvetica" charset="0"/>
              </a:rPr>
              <a:t>doTransition</a:t>
            </a:r>
            <a:r>
              <a:rPr lang="en-US" altLang="en-US" sz="1600" b="0" dirty="0">
                <a:latin typeface="Helvetica" charset="0"/>
              </a:rPr>
              <a:t> (</a:t>
            </a:r>
            <a:r>
              <a:rPr lang="en-US" altLang="en-US" sz="1600" b="0" dirty="0" err="1">
                <a:latin typeface="Helvetica" charset="0"/>
              </a:rPr>
              <a:t>int</a:t>
            </a:r>
            <a:r>
              <a:rPr lang="en-US" altLang="en-US" sz="1600" b="0" dirty="0">
                <a:latin typeface="Helvetica" charset="0"/>
              </a:rPr>
              <a:t> button)</a:t>
            </a:r>
          </a:p>
          <a:p>
            <a:pPr>
              <a:lnSpc>
                <a:spcPct val="85000"/>
              </a:lnSpc>
            </a:pPr>
            <a:r>
              <a:rPr lang="en-US" altLang="en-US" sz="1600" b="0" dirty="0">
                <a:latin typeface="Helvetica" charset="0"/>
              </a:rPr>
              <a:t>{</a:t>
            </a:r>
          </a:p>
          <a:p>
            <a:pPr>
              <a:lnSpc>
                <a:spcPct val="85000"/>
              </a:lnSpc>
            </a:pPr>
            <a:r>
              <a:rPr lang="en-US" altLang="en-US" sz="1600" b="0" dirty="0">
                <a:latin typeface="Helvetica" charset="0"/>
              </a:rPr>
              <a:t>   switch ( mode )</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case TIME:</a:t>
            </a:r>
          </a:p>
          <a:p>
            <a:pPr>
              <a:lnSpc>
                <a:spcPct val="85000"/>
              </a:lnSpc>
            </a:pPr>
            <a:r>
              <a:rPr lang="en-US" altLang="en-US" sz="1600" b="0" dirty="0">
                <a:latin typeface="Helvetica" charset="0"/>
              </a:rPr>
              <a:t>         if (button == NEXT)</a:t>
            </a:r>
          </a:p>
          <a:p>
            <a:pPr>
              <a:lnSpc>
                <a:spcPct val="85000"/>
              </a:lnSpc>
            </a:pPr>
            <a:r>
              <a:rPr lang="en-US" altLang="en-US" sz="1600" b="0" dirty="0">
                <a:latin typeface="Helvetica" charset="0"/>
              </a:rPr>
              <a:t>            mode = STOPWATCH;</a:t>
            </a:r>
          </a:p>
          <a:p>
            <a:pPr>
              <a:lnSpc>
                <a:spcPct val="85000"/>
              </a:lnSpc>
            </a:pPr>
            <a:r>
              <a:rPr lang="en-US" altLang="en-US" sz="1600" b="0" dirty="0">
                <a:latin typeface="Helvetica" charset="0"/>
              </a:rPr>
              <a:t>         else</a:t>
            </a:r>
          </a:p>
          <a:p>
            <a:pPr>
              <a:lnSpc>
                <a:spcPct val="85000"/>
              </a:lnSpc>
            </a:pPr>
            <a:r>
              <a:rPr lang="en-US" altLang="en-US" sz="1600" b="0" dirty="0">
                <a:latin typeface="Helvetica" charset="0"/>
              </a:rPr>
              <a:t>            </a:t>
            </a:r>
            <a:r>
              <a:rPr lang="en-US" altLang="en-US" sz="1600" b="0" dirty="0" err="1">
                <a:latin typeface="Helvetica" charset="0"/>
              </a:rPr>
              <a:t>watch.changeTime</a:t>
            </a:r>
            <a:r>
              <a:rPr lang="en-US" altLang="en-US" sz="1600" b="0" dirty="0">
                <a:latin typeface="Helvetica" charset="0"/>
              </a:rPr>
              <a:t> (button);</a:t>
            </a:r>
          </a:p>
          <a:p>
            <a:pPr>
              <a:lnSpc>
                <a:spcPct val="85000"/>
              </a:lnSpc>
            </a:pPr>
            <a:r>
              <a:rPr lang="en-US" altLang="en-US" sz="1600" b="0" dirty="0">
                <a:latin typeface="Helvetica" charset="0"/>
              </a:rPr>
              <a:t>         break;</a:t>
            </a:r>
          </a:p>
          <a:p>
            <a:pPr>
              <a:lnSpc>
                <a:spcPct val="85000"/>
              </a:lnSpc>
            </a:pPr>
            <a:r>
              <a:rPr lang="en-US" altLang="en-US" sz="1600" b="0" dirty="0">
                <a:latin typeface="Helvetica" charset="0"/>
              </a:rPr>
              <a:t>      case STOPWATCH:</a:t>
            </a:r>
          </a:p>
          <a:p>
            <a:pPr>
              <a:lnSpc>
                <a:spcPct val="85000"/>
              </a:lnSpc>
            </a:pPr>
            <a:r>
              <a:rPr lang="en-US" altLang="en-US" sz="1600" b="0" dirty="0">
                <a:latin typeface="Helvetica" charset="0"/>
              </a:rPr>
              <a:t>         if (button == NEXT)</a:t>
            </a:r>
          </a:p>
          <a:p>
            <a:pPr>
              <a:lnSpc>
                <a:spcPct val="85000"/>
              </a:lnSpc>
            </a:pPr>
            <a:r>
              <a:rPr lang="en-US" altLang="en-US" sz="1600" b="0" dirty="0">
                <a:latin typeface="Helvetica" charset="0"/>
              </a:rPr>
              <a:t>            mode = ALARM;</a:t>
            </a:r>
          </a:p>
          <a:p>
            <a:pPr>
              <a:lnSpc>
                <a:spcPct val="85000"/>
              </a:lnSpc>
            </a:pPr>
            <a:r>
              <a:rPr lang="en-US" altLang="en-US" sz="1600" b="0" dirty="0">
                <a:latin typeface="Helvetica" charset="0"/>
              </a:rPr>
              <a:t>         else</a:t>
            </a:r>
          </a:p>
          <a:p>
            <a:pPr>
              <a:lnSpc>
                <a:spcPct val="85000"/>
              </a:lnSpc>
            </a:pPr>
            <a:r>
              <a:rPr lang="en-US" altLang="en-US" sz="1600" b="0" dirty="0">
                <a:latin typeface="Helvetica" charset="0"/>
              </a:rPr>
              <a:t>            </a:t>
            </a:r>
            <a:r>
              <a:rPr lang="en-US" altLang="en-US" sz="1600" b="0" dirty="0" err="1">
                <a:latin typeface="Helvetica" charset="0"/>
              </a:rPr>
              <a:t>stopwatch.changeTime</a:t>
            </a:r>
            <a:r>
              <a:rPr lang="en-US" altLang="en-US" sz="1600" b="0" dirty="0">
                <a:latin typeface="Helvetica" charset="0"/>
              </a:rPr>
              <a:t> (button);</a:t>
            </a:r>
          </a:p>
          <a:p>
            <a:pPr>
              <a:lnSpc>
                <a:spcPct val="85000"/>
              </a:lnSpc>
            </a:pPr>
            <a:r>
              <a:rPr lang="en-US" altLang="en-US" sz="1600" b="0" dirty="0">
                <a:latin typeface="Helvetica" charset="0"/>
              </a:rPr>
              <a:t>         break;</a:t>
            </a:r>
          </a:p>
          <a:p>
            <a:pPr>
              <a:lnSpc>
                <a:spcPct val="85000"/>
              </a:lnSpc>
            </a:pPr>
            <a:r>
              <a:rPr lang="en-US" altLang="en-US" sz="1600" b="0" dirty="0">
                <a:latin typeface="Helvetica" charset="0"/>
              </a:rPr>
              <a:t>      case ALARM:</a:t>
            </a:r>
          </a:p>
          <a:p>
            <a:pPr>
              <a:lnSpc>
                <a:spcPct val="85000"/>
              </a:lnSpc>
            </a:pPr>
            <a:r>
              <a:rPr lang="en-US" altLang="en-US" sz="1600" b="0" dirty="0">
                <a:latin typeface="Helvetica" charset="0"/>
              </a:rPr>
              <a:t>         if (button == NEXT)</a:t>
            </a:r>
          </a:p>
          <a:p>
            <a:pPr>
              <a:lnSpc>
                <a:spcPct val="85000"/>
              </a:lnSpc>
            </a:pPr>
            <a:r>
              <a:rPr lang="en-US" altLang="en-US" sz="1600" b="0" dirty="0">
                <a:latin typeface="Helvetica" charset="0"/>
              </a:rPr>
              <a:t>            mode = TIME;</a:t>
            </a:r>
          </a:p>
          <a:p>
            <a:pPr>
              <a:lnSpc>
                <a:spcPct val="85000"/>
              </a:lnSpc>
            </a:pPr>
            <a:r>
              <a:rPr lang="en-US" altLang="en-US" sz="1600" b="0" dirty="0">
                <a:latin typeface="Helvetica" charset="0"/>
              </a:rPr>
              <a:t>         else</a:t>
            </a:r>
          </a:p>
          <a:p>
            <a:pPr>
              <a:lnSpc>
                <a:spcPct val="85000"/>
              </a:lnSpc>
            </a:pPr>
            <a:r>
              <a:rPr lang="en-US" altLang="en-US" sz="1600" b="0" dirty="0">
                <a:latin typeface="Helvetica" charset="0"/>
              </a:rPr>
              <a:t>            </a:t>
            </a:r>
            <a:r>
              <a:rPr lang="en-US" altLang="en-US" sz="1600" b="0" dirty="0" err="1">
                <a:latin typeface="Helvetica" charset="0"/>
              </a:rPr>
              <a:t>alarm.changeTime</a:t>
            </a:r>
            <a:r>
              <a:rPr lang="en-US" altLang="en-US" sz="1600" b="0" dirty="0">
                <a:latin typeface="Helvetica" charset="0"/>
              </a:rPr>
              <a:t> (button);</a:t>
            </a:r>
          </a:p>
          <a:p>
            <a:pPr>
              <a:lnSpc>
                <a:spcPct val="85000"/>
              </a:lnSpc>
            </a:pPr>
            <a:r>
              <a:rPr lang="en-US" altLang="en-US" sz="1600" b="0" dirty="0">
                <a:latin typeface="Helvetica" charset="0"/>
              </a:rPr>
              <a:t>         break;</a:t>
            </a:r>
          </a:p>
          <a:p>
            <a:pPr>
              <a:lnSpc>
                <a:spcPct val="85000"/>
              </a:lnSpc>
            </a:pPr>
            <a:r>
              <a:rPr lang="en-US" altLang="en-US" sz="1600" b="0" dirty="0">
                <a:latin typeface="Helvetica" charset="0"/>
              </a:rPr>
              <a:t>      default:</a:t>
            </a:r>
          </a:p>
          <a:p>
            <a:pPr>
              <a:lnSpc>
                <a:spcPct val="85000"/>
              </a:lnSpc>
            </a:pPr>
            <a:r>
              <a:rPr lang="en-US" altLang="en-US" sz="1600" b="0" dirty="0">
                <a:latin typeface="Helvetica" charset="0"/>
              </a:rPr>
              <a:t>         break;</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 end </a:t>
            </a:r>
            <a:r>
              <a:rPr lang="en-US" altLang="en-US" sz="1600" b="0" dirty="0" err="1">
                <a:latin typeface="Helvetica" charset="0"/>
              </a:rPr>
              <a:t>doTransition</a:t>
            </a:r>
            <a:r>
              <a:rPr lang="en-US" altLang="en-US" sz="1600" b="0" dirty="0">
                <a:latin typeface="Helvetica" charset="0"/>
              </a:rPr>
              <a:t>()</a:t>
            </a:r>
          </a:p>
        </p:txBody>
      </p:sp>
      <p:sp>
        <p:nvSpPr>
          <p:cNvPr id="31749" name="Text Box 3"/>
          <p:cNvSpPr txBox="1">
            <a:spLocks noChangeArrowheads="1"/>
          </p:cNvSpPr>
          <p:nvPr/>
        </p:nvSpPr>
        <p:spPr bwMode="auto">
          <a:xfrm>
            <a:off x="7175500" y="525463"/>
            <a:ext cx="3462338" cy="5719762"/>
          </a:xfrm>
          <a:prstGeom prst="rect">
            <a:avLst/>
          </a:prstGeom>
          <a:solidFill>
            <a:schemeClr val="bg1"/>
          </a:solidFill>
          <a:ln w="1270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85000"/>
              </a:lnSpc>
            </a:pPr>
            <a:r>
              <a:rPr lang="en-US" altLang="en-US" sz="1600" b="0" dirty="0">
                <a:latin typeface="Helvetica" charset="0"/>
              </a:rPr>
              <a:t>// Increases or decreases the time.</a:t>
            </a:r>
          </a:p>
          <a:p>
            <a:pPr>
              <a:lnSpc>
                <a:spcPct val="85000"/>
              </a:lnSpc>
            </a:pPr>
            <a:r>
              <a:rPr lang="en-US" altLang="en-US" sz="1600" b="0" dirty="0">
                <a:latin typeface="Helvetica" charset="0"/>
              </a:rPr>
              <a:t>// Rolls around when necessary.</a:t>
            </a:r>
          </a:p>
          <a:p>
            <a:pPr>
              <a:lnSpc>
                <a:spcPct val="85000"/>
              </a:lnSpc>
            </a:pPr>
            <a:r>
              <a:rPr lang="en-US" altLang="en-US" sz="1600" b="0" dirty="0">
                <a:latin typeface="Helvetica" charset="0"/>
              </a:rPr>
              <a:t>public void </a:t>
            </a:r>
            <a:r>
              <a:rPr lang="en-US" altLang="en-US" sz="1600" b="0" u="sng" dirty="0" err="1">
                <a:solidFill>
                  <a:schemeClr val="tx1"/>
                </a:solidFill>
                <a:latin typeface="Helvetica" charset="0"/>
              </a:rPr>
              <a:t>changeTime</a:t>
            </a:r>
            <a:r>
              <a:rPr lang="en-US" altLang="en-US" sz="1600" b="0" dirty="0">
                <a:latin typeface="Helvetica" charset="0"/>
              </a:rPr>
              <a:t> (</a:t>
            </a:r>
            <a:r>
              <a:rPr lang="en-US" altLang="en-US" sz="1600" b="0" dirty="0" err="1">
                <a:latin typeface="Helvetica" charset="0"/>
              </a:rPr>
              <a:t>int</a:t>
            </a:r>
            <a:r>
              <a:rPr lang="en-US" altLang="en-US" sz="1600" b="0" dirty="0">
                <a:latin typeface="Helvetica" charset="0"/>
              </a:rPr>
              <a:t> button)</a:t>
            </a:r>
          </a:p>
          <a:p>
            <a:pPr>
              <a:lnSpc>
                <a:spcPct val="85000"/>
              </a:lnSpc>
            </a:pPr>
            <a:r>
              <a:rPr lang="en-US" altLang="en-US" sz="1600" b="0" dirty="0">
                <a:latin typeface="Helvetica" charset="0"/>
              </a:rPr>
              <a:t>{</a:t>
            </a:r>
          </a:p>
          <a:p>
            <a:pPr>
              <a:lnSpc>
                <a:spcPct val="85000"/>
              </a:lnSpc>
            </a:pPr>
            <a:r>
              <a:rPr lang="en-US" altLang="en-US" sz="1600" b="0" dirty="0">
                <a:latin typeface="Helvetica" charset="0"/>
              </a:rPr>
              <a:t>   if (button == UP)</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minute += 1;</a:t>
            </a:r>
          </a:p>
          <a:p>
            <a:pPr>
              <a:lnSpc>
                <a:spcPct val="85000"/>
              </a:lnSpc>
            </a:pPr>
            <a:r>
              <a:rPr lang="en-US" altLang="en-US" sz="1600" b="0" dirty="0">
                <a:latin typeface="Helvetica" charset="0"/>
              </a:rPr>
              <a:t>      if (minute &gt;= 60)</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minute = 0;</a:t>
            </a:r>
          </a:p>
          <a:p>
            <a:pPr>
              <a:lnSpc>
                <a:spcPct val="85000"/>
              </a:lnSpc>
            </a:pPr>
            <a:r>
              <a:rPr lang="en-US" altLang="en-US" sz="1600" b="0" dirty="0">
                <a:latin typeface="Helvetica" charset="0"/>
              </a:rPr>
              <a:t>         hour += 1;</a:t>
            </a:r>
          </a:p>
          <a:p>
            <a:pPr>
              <a:lnSpc>
                <a:spcPct val="85000"/>
              </a:lnSpc>
            </a:pPr>
            <a:r>
              <a:rPr lang="en-US" altLang="en-US" sz="1600" b="0" dirty="0">
                <a:latin typeface="Helvetica" charset="0"/>
              </a:rPr>
              <a:t>         if (hour &gt; 12)</a:t>
            </a:r>
          </a:p>
          <a:p>
            <a:pPr>
              <a:lnSpc>
                <a:spcPct val="85000"/>
              </a:lnSpc>
            </a:pPr>
            <a:r>
              <a:rPr lang="en-US" altLang="en-US" sz="1600" b="0" dirty="0">
                <a:latin typeface="Helvetica" charset="0"/>
              </a:rPr>
              <a:t>            hour = 1;</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else if (button == DOWN)</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minute -= 1;</a:t>
            </a:r>
          </a:p>
          <a:p>
            <a:pPr>
              <a:lnSpc>
                <a:spcPct val="85000"/>
              </a:lnSpc>
            </a:pPr>
            <a:r>
              <a:rPr lang="en-US" altLang="en-US" sz="1600" b="0" dirty="0">
                <a:latin typeface="Helvetica" charset="0"/>
              </a:rPr>
              <a:t>      if (minute &lt; 0)</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minute = 59;</a:t>
            </a:r>
          </a:p>
          <a:p>
            <a:pPr>
              <a:lnSpc>
                <a:spcPct val="85000"/>
              </a:lnSpc>
            </a:pPr>
            <a:r>
              <a:rPr lang="en-US" altLang="en-US" sz="1600" b="0" dirty="0">
                <a:latin typeface="Helvetica" charset="0"/>
              </a:rPr>
              <a:t>         hour -= 1;</a:t>
            </a:r>
          </a:p>
          <a:p>
            <a:pPr>
              <a:lnSpc>
                <a:spcPct val="85000"/>
              </a:lnSpc>
            </a:pPr>
            <a:r>
              <a:rPr lang="en-US" altLang="en-US" sz="1600" b="0" dirty="0">
                <a:latin typeface="Helvetica" charset="0"/>
              </a:rPr>
              <a:t>         if (hour &lt;= 0)</a:t>
            </a:r>
          </a:p>
          <a:p>
            <a:pPr>
              <a:lnSpc>
                <a:spcPct val="85000"/>
              </a:lnSpc>
            </a:pPr>
            <a:r>
              <a:rPr lang="en-US" altLang="en-US" sz="1600" b="0" dirty="0">
                <a:latin typeface="Helvetica" charset="0"/>
              </a:rPr>
              <a:t>            hour = 12;</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a:t>
            </a:r>
          </a:p>
          <a:p>
            <a:pPr>
              <a:lnSpc>
                <a:spcPct val="85000"/>
              </a:lnSpc>
            </a:pPr>
            <a:r>
              <a:rPr lang="en-US" altLang="en-US" sz="1600" b="0" dirty="0">
                <a:latin typeface="Helvetica" charset="0"/>
              </a:rPr>
              <a:t>}  // end </a:t>
            </a:r>
            <a:r>
              <a:rPr lang="en-US" altLang="en-US" sz="1600" b="0" dirty="0" err="1">
                <a:latin typeface="Helvetica" charset="0"/>
              </a:rPr>
              <a:t>changeTime</a:t>
            </a:r>
            <a:r>
              <a:rPr lang="en-US" altLang="en-US" sz="1600" b="0" dirty="0">
                <a:latin typeface="Helvetica" charset="0"/>
              </a:rPr>
              <a:t>()</a:t>
            </a:r>
          </a:p>
        </p:txBody>
      </p:sp>
    </p:spTree>
    <p:extLst>
      <p:ext uri="{BB962C8B-B14F-4D97-AF65-F5344CB8AC3E}">
        <p14:creationId xmlns:p14="http://schemas.microsoft.com/office/powerpoint/2010/main" val="403412231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C5932669-8E14-4B3C-9F66-B4743974EBB7}" type="slidenum">
              <a:rPr lang="en-US" altLang="en-US" sz="900" b="0">
                <a:solidFill>
                  <a:schemeClr val="tx1"/>
                </a:solidFill>
              </a:rPr>
              <a:pPr/>
              <a:t>21</a:t>
            </a:fld>
            <a:endParaRPr lang="en-US" altLang="en-US" sz="900" b="0">
              <a:solidFill>
                <a:schemeClr val="tx1"/>
              </a:solidFill>
            </a:endParaRPr>
          </a:p>
        </p:txBody>
      </p:sp>
      <p:sp>
        <p:nvSpPr>
          <p:cNvPr id="32772" name="Rectangle 2"/>
          <p:cNvSpPr>
            <a:spLocks noGrp="1" noChangeArrowheads="1"/>
          </p:cNvSpPr>
          <p:nvPr>
            <p:ph type="title"/>
          </p:nvPr>
        </p:nvSpPr>
        <p:spPr>
          <a:xfrm>
            <a:off x="1663700" y="96839"/>
            <a:ext cx="8878888" cy="882876"/>
          </a:xfrm>
        </p:spPr>
        <p:txBody>
          <a:bodyPr/>
          <a:lstStyle/>
          <a:p>
            <a:r>
              <a:rPr lang="en-US" altLang="en-US" sz="3200" dirty="0"/>
              <a:t>1. </a:t>
            </a:r>
            <a:r>
              <a:rPr lang="en-US" altLang="en-US" dirty="0"/>
              <a:t>Combining Control Flow Graphs</a:t>
            </a:r>
          </a:p>
        </p:txBody>
      </p:sp>
      <p:sp>
        <p:nvSpPr>
          <p:cNvPr id="32773" name="Rectangle 3"/>
          <p:cNvSpPr>
            <a:spLocks noGrp="1" noChangeArrowheads="1"/>
          </p:cNvSpPr>
          <p:nvPr>
            <p:ph type="body" idx="1"/>
          </p:nvPr>
        </p:nvSpPr>
        <p:spPr>
          <a:xfrm>
            <a:off x="1662114" y="1355726"/>
            <a:ext cx="8867775" cy="5045075"/>
          </a:xfrm>
        </p:spPr>
        <p:txBody>
          <a:bodyPr/>
          <a:lstStyle/>
          <a:p>
            <a:r>
              <a:rPr lang="en-US" altLang="en-US" b="0" dirty="0"/>
              <a:t>The </a:t>
            </a:r>
            <a:r>
              <a:rPr lang="en-US" altLang="en-US" b="0" dirty="0">
                <a:solidFill>
                  <a:schemeClr val="tx2"/>
                </a:solidFill>
              </a:rPr>
              <a:t>first instinct</a:t>
            </a:r>
            <a:r>
              <a:rPr lang="en-US" altLang="en-US" b="0" dirty="0"/>
              <a:t> for inexperienced developers is to draw CFGs and link them together</a:t>
            </a:r>
          </a:p>
          <a:p>
            <a:r>
              <a:rPr lang="en-US" altLang="en-US" b="0" dirty="0"/>
              <a:t>This is really </a:t>
            </a:r>
            <a:r>
              <a:rPr lang="en-US" altLang="en-US" b="0" dirty="0">
                <a:solidFill>
                  <a:schemeClr val="tx2"/>
                </a:solidFill>
              </a:rPr>
              <a:t>not an FSM</a:t>
            </a:r>
            <a:endParaRPr lang="en-US" altLang="en-US" b="0" u="sng" dirty="0"/>
          </a:p>
          <a:p>
            <a:r>
              <a:rPr lang="en-US" altLang="en-US" b="0" dirty="0"/>
              <a:t>Several problems</a:t>
            </a:r>
          </a:p>
          <a:p>
            <a:pPr lvl="1"/>
            <a:r>
              <a:rPr lang="en-US" altLang="en-US" b="0" dirty="0"/>
              <a:t>Methods must return to correct </a:t>
            </a:r>
            <a:r>
              <a:rPr lang="en-US" altLang="en-US" b="0" dirty="0" err="1"/>
              <a:t>callsites</a:t>
            </a:r>
            <a:r>
              <a:rPr lang="en-US" altLang="en-US" b="0" dirty="0"/>
              <a:t>—implicit </a:t>
            </a:r>
            <a:r>
              <a:rPr lang="en-US" altLang="en-US" b="0" dirty="0">
                <a:solidFill>
                  <a:schemeClr val="tx2"/>
                </a:solidFill>
              </a:rPr>
              <a:t>nondeterminism</a:t>
            </a:r>
          </a:p>
          <a:p>
            <a:pPr lvl="1"/>
            <a:r>
              <a:rPr lang="en-US" altLang="en-US" b="0" dirty="0">
                <a:solidFill>
                  <a:schemeClr val="tx2"/>
                </a:solidFill>
              </a:rPr>
              <a:t>Implementation</a:t>
            </a:r>
            <a:r>
              <a:rPr lang="en-US" altLang="en-US" b="0" dirty="0"/>
              <a:t> must be available before graph can be built</a:t>
            </a:r>
          </a:p>
          <a:p>
            <a:pPr lvl="1"/>
            <a:r>
              <a:rPr lang="en-US" altLang="en-US" b="0" dirty="0"/>
              <a:t>This graph does </a:t>
            </a:r>
            <a:r>
              <a:rPr lang="en-US" altLang="en-US" b="0" dirty="0">
                <a:solidFill>
                  <a:schemeClr val="tx2"/>
                </a:solidFill>
              </a:rPr>
              <a:t>not scale</a:t>
            </a:r>
            <a:r>
              <a:rPr lang="en-US" altLang="en-US" b="0" dirty="0"/>
              <a:t> up</a:t>
            </a:r>
          </a:p>
          <a:p>
            <a:r>
              <a:rPr lang="en-US" altLang="en-US" b="0" dirty="0">
                <a:latin typeface="Helvetica" charset="0"/>
              </a:rPr>
              <a:t>Watch</a:t>
            </a:r>
            <a:r>
              <a:rPr lang="en-US" altLang="en-US" b="0" dirty="0"/>
              <a:t> example …</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016D88C2-CAFA-43C9-8BAB-7F6917A8ADB0}" type="slidenum">
              <a:rPr lang="en-US" altLang="en-US" sz="900" b="0">
                <a:solidFill>
                  <a:schemeClr val="tx1"/>
                </a:solidFill>
              </a:rPr>
              <a:pPr/>
              <a:t>22</a:t>
            </a:fld>
            <a:endParaRPr lang="en-US" altLang="en-US" sz="900" b="0">
              <a:solidFill>
                <a:schemeClr val="tx1"/>
              </a:solidFill>
            </a:endParaRPr>
          </a:p>
        </p:txBody>
      </p:sp>
      <p:sp>
        <p:nvSpPr>
          <p:cNvPr id="33796" name="Rectangle 107"/>
          <p:cNvSpPr>
            <a:spLocks noChangeArrowheads="1"/>
          </p:cNvSpPr>
          <p:nvPr/>
        </p:nvSpPr>
        <p:spPr bwMode="auto">
          <a:xfrm>
            <a:off x="1835151" y="1400176"/>
            <a:ext cx="4449763" cy="4926013"/>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3797" name="Rectangle 4"/>
          <p:cNvSpPr>
            <a:spLocks noGrp="1" noChangeArrowheads="1"/>
          </p:cNvSpPr>
          <p:nvPr>
            <p:ph type="title"/>
          </p:nvPr>
        </p:nvSpPr>
        <p:spPr/>
        <p:txBody>
          <a:bodyPr/>
          <a:lstStyle/>
          <a:p>
            <a:r>
              <a:rPr lang="en-US" altLang="en-US" dirty="0"/>
              <a:t>CFGs for Watch</a:t>
            </a:r>
          </a:p>
        </p:txBody>
      </p:sp>
      <p:grpSp>
        <p:nvGrpSpPr>
          <p:cNvPr id="33798" name="Group 18"/>
          <p:cNvGrpSpPr>
            <a:grpSpLocks/>
          </p:cNvGrpSpPr>
          <p:nvPr/>
        </p:nvGrpSpPr>
        <p:grpSpPr bwMode="auto">
          <a:xfrm>
            <a:off x="1895476" y="3616326"/>
            <a:ext cx="1217613" cy="481013"/>
            <a:chOff x="447" y="1794"/>
            <a:chExt cx="767" cy="303"/>
          </a:xfrm>
        </p:grpSpPr>
        <p:sp>
          <p:nvSpPr>
            <p:cNvPr id="33872" name="Oval 5"/>
            <p:cNvSpPr>
              <a:spLocks noChangeArrowheads="1"/>
            </p:cNvSpPr>
            <p:nvPr/>
          </p:nvSpPr>
          <p:spPr bwMode="auto">
            <a:xfrm>
              <a:off x="447" y="1794"/>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5</a:t>
              </a:r>
            </a:p>
          </p:txBody>
        </p:sp>
        <p:sp>
          <p:nvSpPr>
            <p:cNvPr id="33873" name="Oval 6"/>
            <p:cNvSpPr>
              <a:spLocks noChangeArrowheads="1"/>
            </p:cNvSpPr>
            <p:nvPr/>
          </p:nvSpPr>
          <p:spPr bwMode="auto">
            <a:xfrm>
              <a:off x="912" y="1794"/>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6</a:t>
              </a:r>
            </a:p>
          </p:txBody>
        </p:sp>
      </p:grpSp>
      <p:grpSp>
        <p:nvGrpSpPr>
          <p:cNvPr id="33799" name="Group 19"/>
          <p:cNvGrpSpPr>
            <a:grpSpLocks/>
          </p:cNvGrpSpPr>
          <p:nvPr/>
        </p:nvGrpSpPr>
        <p:grpSpPr bwMode="auto">
          <a:xfrm>
            <a:off x="3438526" y="3616326"/>
            <a:ext cx="1217613" cy="481013"/>
            <a:chOff x="1377" y="1794"/>
            <a:chExt cx="767" cy="303"/>
          </a:xfrm>
        </p:grpSpPr>
        <p:sp>
          <p:nvSpPr>
            <p:cNvPr id="33870" name="Oval 7"/>
            <p:cNvSpPr>
              <a:spLocks noChangeArrowheads="1"/>
            </p:cNvSpPr>
            <p:nvPr/>
          </p:nvSpPr>
          <p:spPr bwMode="auto">
            <a:xfrm>
              <a:off x="1377" y="1794"/>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7</a:t>
              </a:r>
            </a:p>
          </p:txBody>
        </p:sp>
        <p:sp>
          <p:nvSpPr>
            <p:cNvPr id="33871" name="Oval 8"/>
            <p:cNvSpPr>
              <a:spLocks noChangeArrowheads="1"/>
            </p:cNvSpPr>
            <p:nvPr/>
          </p:nvSpPr>
          <p:spPr bwMode="auto">
            <a:xfrm>
              <a:off x="1842" y="1794"/>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8</a:t>
              </a:r>
            </a:p>
          </p:txBody>
        </p:sp>
      </p:grpSp>
      <p:sp>
        <p:nvSpPr>
          <p:cNvPr id="33800" name="Oval 10"/>
          <p:cNvSpPr>
            <a:spLocks noChangeArrowheads="1"/>
          </p:cNvSpPr>
          <p:nvPr/>
        </p:nvSpPr>
        <p:spPr bwMode="auto">
          <a:xfrm>
            <a:off x="3808414" y="1795463"/>
            <a:ext cx="479425" cy="481012"/>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a:t>
            </a:r>
          </a:p>
        </p:txBody>
      </p:sp>
      <p:sp>
        <p:nvSpPr>
          <p:cNvPr id="33801" name="Oval 11"/>
          <p:cNvSpPr>
            <a:spLocks noChangeArrowheads="1"/>
          </p:cNvSpPr>
          <p:nvPr/>
        </p:nvSpPr>
        <p:spPr bwMode="auto">
          <a:xfrm>
            <a:off x="2263776" y="2676526"/>
            <a:ext cx="479425" cy="48101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2</a:t>
            </a:r>
          </a:p>
        </p:txBody>
      </p:sp>
      <p:sp>
        <p:nvSpPr>
          <p:cNvPr id="33802" name="Oval 12"/>
          <p:cNvSpPr>
            <a:spLocks noChangeArrowheads="1"/>
          </p:cNvSpPr>
          <p:nvPr/>
        </p:nvSpPr>
        <p:spPr bwMode="auto">
          <a:xfrm>
            <a:off x="3808414" y="2676526"/>
            <a:ext cx="479425" cy="48101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3</a:t>
            </a:r>
          </a:p>
        </p:txBody>
      </p:sp>
      <p:sp>
        <p:nvSpPr>
          <p:cNvPr id="33803" name="Oval 13"/>
          <p:cNvSpPr>
            <a:spLocks noChangeArrowheads="1"/>
          </p:cNvSpPr>
          <p:nvPr/>
        </p:nvSpPr>
        <p:spPr bwMode="auto">
          <a:xfrm>
            <a:off x="5351464" y="2678113"/>
            <a:ext cx="479425" cy="481012"/>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4</a:t>
            </a:r>
          </a:p>
        </p:txBody>
      </p:sp>
      <p:sp>
        <p:nvSpPr>
          <p:cNvPr id="33804" name="Oval 14"/>
          <p:cNvSpPr>
            <a:spLocks noChangeArrowheads="1"/>
          </p:cNvSpPr>
          <p:nvPr/>
        </p:nvSpPr>
        <p:spPr bwMode="auto">
          <a:xfrm>
            <a:off x="2263776" y="4568826"/>
            <a:ext cx="479425" cy="48101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11</a:t>
            </a:r>
          </a:p>
        </p:txBody>
      </p:sp>
      <p:sp>
        <p:nvSpPr>
          <p:cNvPr id="33805" name="Oval 15"/>
          <p:cNvSpPr>
            <a:spLocks noChangeArrowheads="1"/>
          </p:cNvSpPr>
          <p:nvPr/>
        </p:nvSpPr>
        <p:spPr bwMode="auto">
          <a:xfrm>
            <a:off x="3808414" y="4570413"/>
            <a:ext cx="479425" cy="481012"/>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12</a:t>
            </a:r>
          </a:p>
        </p:txBody>
      </p:sp>
      <p:sp>
        <p:nvSpPr>
          <p:cNvPr id="33806" name="Oval 16"/>
          <p:cNvSpPr>
            <a:spLocks noChangeArrowheads="1"/>
          </p:cNvSpPr>
          <p:nvPr/>
        </p:nvSpPr>
        <p:spPr bwMode="auto">
          <a:xfrm>
            <a:off x="5351464" y="4570413"/>
            <a:ext cx="479425" cy="481012"/>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13</a:t>
            </a:r>
          </a:p>
        </p:txBody>
      </p:sp>
      <p:grpSp>
        <p:nvGrpSpPr>
          <p:cNvPr id="33807" name="Group 20"/>
          <p:cNvGrpSpPr>
            <a:grpSpLocks/>
          </p:cNvGrpSpPr>
          <p:nvPr/>
        </p:nvGrpSpPr>
        <p:grpSpPr bwMode="auto">
          <a:xfrm>
            <a:off x="4981575" y="3616326"/>
            <a:ext cx="1219200" cy="481013"/>
            <a:chOff x="2307" y="1794"/>
            <a:chExt cx="768" cy="303"/>
          </a:xfrm>
        </p:grpSpPr>
        <p:sp>
          <p:nvSpPr>
            <p:cNvPr id="33868" name="Oval 9"/>
            <p:cNvSpPr>
              <a:spLocks noChangeArrowheads="1"/>
            </p:cNvSpPr>
            <p:nvPr/>
          </p:nvSpPr>
          <p:spPr bwMode="auto">
            <a:xfrm>
              <a:off x="2307" y="1794"/>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9</a:t>
              </a:r>
            </a:p>
          </p:txBody>
        </p:sp>
        <p:sp>
          <p:nvSpPr>
            <p:cNvPr id="33869" name="Oval 17"/>
            <p:cNvSpPr>
              <a:spLocks noChangeArrowheads="1"/>
            </p:cNvSpPr>
            <p:nvPr/>
          </p:nvSpPr>
          <p:spPr bwMode="auto">
            <a:xfrm>
              <a:off x="2773" y="1794"/>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10</a:t>
              </a:r>
            </a:p>
          </p:txBody>
        </p:sp>
      </p:grpSp>
      <p:sp>
        <p:nvSpPr>
          <p:cNvPr id="33808" name="Oval 21"/>
          <p:cNvSpPr>
            <a:spLocks noChangeArrowheads="1"/>
          </p:cNvSpPr>
          <p:nvPr/>
        </p:nvSpPr>
        <p:spPr bwMode="auto">
          <a:xfrm>
            <a:off x="3811589" y="5686426"/>
            <a:ext cx="479425" cy="48101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14</a:t>
            </a:r>
          </a:p>
        </p:txBody>
      </p:sp>
      <p:cxnSp>
        <p:nvCxnSpPr>
          <p:cNvPr id="33809" name="AutoShape 22"/>
          <p:cNvCxnSpPr>
            <a:cxnSpLocks noChangeShapeType="1"/>
            <a:stCxn id="33800" idx="3"/>
            <a:endCxn id="33801" idx="7"/>
          </p:cNvCxnSpPr>
          <p:nvPr/>
        </p:nvCxnSpPr>
        <p:spPr bwMode="auto">
          <a:xfrm flipH="1">
            <a:off x="2673351" y="2216150"/>
            <a:ext cx="1204913" cy="52070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0" name="AutoShape 23"/>
          <p:cNvCxnSpPr>
            <a:cxnSpLocks noChangeShapeType="1"/>
            <a:stCxn id="33800" idx="4"/>
            <a:endCxn id="33802" idx="0"/>
          </p:cNvCxnSpPr>
          <p:nvPr/>
        </p:nvCxnSpPr>
        <p:spPr bwMode="auto">
          <a:xfrm>
            <a:off x="4048125" y="2286000"/>
            <a:ext cx="0" cy="38100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1" name="AutoShape 24"/>
          <p:cNvCxnSpPr>
            <a:cxnSpLocks noChangeShapeType="1"/>
            <a:stCxn id="33800" idx="5"/>
            <a:endCxn id="33803" idx="1"/>
          </p:cNvCxnSpPr>
          <p:nvPr/>
        </p:nvCxnSpPr>
        <p:spPr bwMode="auto">
          <a:xfrm>
            <a:off x="4217989" y="2216150"/>
            <a:ext cx="1203325" cy="522288"/>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2" name="AutoShape 26"/>
          <p:cNvCxnSpPr>
            <a:cxnSpLocks noChangeShapeType="1"/>
            <a:stCxn id="33801" idx="3"/>
            <a:endCxn id="33872" idx="0"/>
          </p:cNvCxnSpPr>
          <p:nvPr/>
        </p:nvCxnSpPr>
        <p:spPr bwMode="auto">
          <a:xfrm flipH="1">
            <a:off x="2135189" y="3097214"/>
            <a:ext cx="198437" cy="50958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3" name="AutoShape 27"/>
          <p:cNvCxnSpPr>
            <a:cxnSpLocks noChangeShapeType="1"/>
            <a:stCxn id="33801" idx="5"/>
            <a:endCxn id="33873" idx="0"/>
          </p:cNvCxnSpPr>
          <p:nvPr/>
        </p:nvCxnSpPr>
        <p:spPr bwMode="auto">
          <a:xfrm>
            <a:off x="2673351" y="3097214"/>
            <a:ext cx="200025" cy="50958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4" name="AutoShape 28"/>
          <p:cNvCxnSpPr>
            <a:cxnSpLocks noChangeShapeType="1"/>
            <a:stCxn id="33872" idx="4"/>
            <a:endCxn id="33804" idx="1"/>
          </p:cNvCxnSpPr>
          <p:nvPr/>
        </p:nvCxnSpPr>
        <p:spPr bwMode="auto">
          <a:xfrm>
            <a:off x="2135189" y="4106864"/>
            <a:ext cx="198437" cy="52228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5" name="AutoShape 29"/>
          <p:cNvCxnSpPr>
            <a:cxnSpLocks noChangeShapeType="1"/>
            <a:stCxn id="33873" idx="3"/>
            <a:endCxn id="33804" idx="7"/>
          </p:cNvCxnSpPr>
          <p:nvPr/>
        </p:nvCxnSpPr>
        <p:spPr bwMode="auto">
          <a:xfrm flipH="1">
            <a:off x="2673351" y="4037014"/>
            <a:ext cx="30163" cy="59213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6" name="AutoShape 30"/>
          <p:cNvCxnSpPr>
            <a:cxnSpLocks noChangeShapeType="1"/>
            <a:stCxn id="33802" idx="3"/>
            <a:endCxn id="33870" idx="0"/>
          </p:cNvCxnSpPr>
          <p:nvPr/>
        </p:nvCxnSpPr>
        <p:spPr bwMode="auto">
          <a:xfrm flipH="1">
            <a:off x="3678239" y="3097214"/>
            <a:ext cx="200025" cy="50958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7" name="AutoShape 31"/>
          <p:cNvCxnSpPr>
            <a:cxnSpLocks noChangeShapeType="1"/>
            <a:stCxn id="33802" idx="5"/>
            <a:endCxn id="33871" idx="0"/>
          </p:cNvCxnSpPr>
          <p:nvPr/>
        </p:nvCxnSpPr>
        <p:spPr bwMode="auto">
          <a:xfrm>
            <a:off x="4217989" y="3097214"/>
            <a:ext cx="198437" cy="50958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8" name="AutoShape 32"/>
          <p:cNvCxnSpPr>
            <a:cxnSpLocks noChangeShapeType="1"/>
            <a:stCxn id="33803" idx="3"/>
            <a:endCxn id="33868" idx="0"/>
          </p:cNvCxnSpPr>
          <p:nvPr/>
        </p:nvCxnSpPr>
        <p:spPr bwMode="auto">
          <a:xfrm flipH="1">
            <a:off x="5221289" y="3098800"/>
            <a:ext cx="200025" cy="50800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19" name="AutoShape 33"/>
          <p:cNvCxnSpPr>
            <a:cxnSpLocks noChangeShapeType="1"/>
            <a:stCxn id="33803" idx="5"/>
            <a:endCxn id="33869" idx="0"/>
          </p:cNvCxnSpPr>
          <p:nvPr/>
        </p:nvCxnSpPr>
        <p:spPr bwMode="auto">
          <a:xfrm>
            <a:off x="5761039" y="3098800"/>
            <a:ext cx="200025" cy="50800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0" name="AutoShape 34"/>
          <p:cNvCxnSpPr>
            <a:cxnSpLocks noChangeShapeType="1"/>
            <a:stCxn id="33870" idx="4"/>
            <a:endCxn id="33805" idx="1"/>
          </p:cNvCxnSpPr>
          <p:nvPr/>
        </p:nvCxnSpPr>
        <p:spPr bwMode="auto">
          <a:xfrm>
            <a:off x="3678239" y="4106864"/>
            <a:ext cx="200025" cy="523875"/>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1" name="AutoShape 35"/>
          <p:cNvCxnSpPr>
            <a:cxnSpLocks noChangeShapeType="1"/>
            <a:stCxn id="33871" idx="4"/>
            <a:endCxn id="33805" idx="7"/>
          </p:cNvCxnSpPr>
          <p:nvPr/>
        </p:nvCxnSpPr>
        <p:spPr bwMode="auto">
          <a:xfrm flipH="1">
            <a:off x="4217628" y="4097338"/>
            <a:ext cx="198798" cy="543518"/>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2" name="AutoShape 36"/>
          <p:cNvCxnSpPr>
            <a:cxnSpLocks noChangeShapeType="1"/>
            <a:stCxn id="33868" idx="4"/>
            <a:endCxn id="33806" idx="1"/>
          </p:cNvCxnSpPr>
          <p:nvPr/>
        </p:nvCxnSpPr>
        <p:spPr bwMode="auto">
          <a:xfrm>
            <a:off x="5221289" y="4106864"/>
            <a:ext cx="200025" cy="523875"/>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3" name="AutoShape 37"/>
          <p:cNvCxnSpPr>
            <a:cxnSpLocks noChangeShapeType="1"/>
            <a:stCxn id="33869" idx="4"/>
            <a:endCxn id="33806" idx="7"/>
          </p:cNvCxnSpPr>
          <p:nvPr/>
        </p:nvCxnSpPr>
        <p:spPr bwMode="auto">
          <a:xfrm flipH="1">
            <a:off x="5761039" y="4106864"/>
            <a:ext cx="200025" cy="523875"/>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4" name="AutoShape 38"/>
          <p:cNvCxnSpPr>
            <a:cxnSpLocks noChangeShapeType="1"/>
            <a:stCxn id="33804" idx="5"/>
            <a:endCxn id="33808" idx="1"/>
          </p:cNvCxnSpPr>
          <p:nvPr/>
        </p:nvCxnSpPr>
        <p:spPr bwMode="auto">
          <a:xfrm>
            <a:off x="2673350" y="4989514"/>
            <a:ext cx="1208088" cy="75723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5" name="AutoShape 39"/>
          <p:cNvCxnSpPr>
            <a:cxnSpLocks noChangeShapeType="1"/>
            <a:stCxn id="33805" idx="4"/>
            <a:endCxn id="33808" idx="0"/>
          </p:cNvCxnSpPr>
          <p:nvPr/>
        </p:nvCxnSpPr>
        <p:spPr bwMode="auto">
          <a:xfrm>
            <a:off x="4048126" y="5060950"/>
            <a:ext cx="3175" cy="61595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26" name="AutoShape 40"/>
          <p:cNvCxnSpPr>
            <a:cxnSpLocks noChangeShapeType="1"/>
            <a:stCxn id="33806" idx="3"/>
            <a:endCxn id="33808" idx="7"/>
          </p:cNvCxnSpPr>
          <p:nvPr/>
        </p:nvCxnSpPr>
        <p:spPr bwMode="auto">
          <a:xfrm flipH="1">
            <a:off x="4221163" y="4991100"/>
            <a:ext cx="1200150" cy="75565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3827" name="Line 108"/>
          <p:cNvSpPr>
            <a:spLocks noChangeShapeType="1"/>
          </p:cNvSpPr>
          <p:nvPr/>
        </p:nvSpPr>
        <p:spPr bwMode="auto">
          <a:xfrm>
            <a:off x="4048125" y="1546225"/>
            <a:ext cx="0" cy="2286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28" name="Text Box 110"/>
          <p:cNvSpPr txBox="1">
            <a:spLocks noChangeArrowheads="1"/>
          </p:cNvSpPr>
          <p:nvPr/>
        </p:nvSpPr>
        <p:spPr bwMode="auto">
          <a:xfrm>
            <a:off x="1855789" y="1387476"/>
            <a:ext cx="199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latin typeface="Helvetica" charset="0"/>
              </a:rPr>
              <a:t>doTransition ()</a:t>
            </a:r>
          </a:p>
        </p:txBody>
      </p:sp>
      <p:grpSp>
        <p:nvGrpSpPr>
          <p:cNvPr id="5" name="Group 115"/>
          <p:cNvGrpSpPr>
            <a:grpSpLocks/>
          </p:cNvGrpSpPr>
          <p:nvPr/>
        </p:nvGrpSpPr>
        <p:grpSpPr bwMode="auto">
          <a:xfrm>
            <a:off x="6888163" y="1214438"/>
            <a:ext cx="3452812" cy="5040312"/>
            <a:chOff x="3379" y="765"/>
            <a:chExt cx="2175" cy="3175"/>
          </a:xfrm>
        </p:grpSpPr>
        <p:sp>
          <p:nvSpPr>
            <p:cNvPr id="33837" name="Rectangle 106"/>
            <p:cNvSpPr>
              <a:spLocks noChangeArrowheads="1"/>
            </p:cNvSpPr>
            <p:nvPr/>
          </p:nvSpPr>
          <p:spPr bwMode="auto">
            <a:xfrm>
              <a:off x="3387" y="765"/>
              <a:ext cx="2167" cy="3175"/>
            </a:xfrm>
            <a:prstGeom prst="rect">
              <a:avLst/>
            </a:prstGeom>
            <a:solidFill>
              <a:schemeClr val="bg1"/>
            </a:solidFill>
            <a:ln w="12700">
              <a:solidFill>
                <a:schemeClr val="tx1"/>
              </a:solidFill>
              <a:miter lim="800000"/>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3838" name="Oval 47"/>
            <p:cNvSpPr>
              <a:spLocks noChangeArrowheads="1"/>
            </p:cNvSpPr>
            <p:nvPr/>
          </p:nvSpPr>
          <p:spPr bwMode="auto">
            <a:xfrm>
              <a:off x="4558" y="961"/>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a:t>
              </a:r>
            </a:p>
          </p:txBody>
        </p:sp>
        <p:sp>
          <p:nvSpPr>
            <p:cNvPr id="33839" name="Oval 52"/>
            <p:cNvSpPr>
              <a:spLocks noChangeArrowheads="1"/>
            </p:cNvSpPr>
            <p:nvPr/>
          </p:nvSpPr>
          <p:spPr bwMode="auto">
            <a:xfrm>
              <a:off x="4557" y="3500"/>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12</a:t>
              </a:r>
            </a:p>
          </p:txBody>
        </p:sp>
        <p:cxnSp>
          <p:nvCxnSpPr>
            <p:cNvPr id="33840" name="AutoShape 77"/>
            <p:cNvCxnSpPr>
              <a:cxnSpLocks noChangeShapeType="1"/>
              <a:stCxn id="33838" idx="3"/>
              <a:endCxn id="33844" idx="7"/>
            </p:cNvCxnSpPr>
            <p:nvPr/>
          </p:nvCxnSpPr>
          <p:spPr bwMode="auto">
            <a:xfrm flipH="1">
              <a:off x="4356" y="1226"/>
              <a:ext cx="246" cy="198"/>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41" name="AutoShape 82"/>
            <p:cNvCxnSpPr>
              <a:cxnSpLocks noChangeShapeType="1"/>
              <a:stCxn id="33846" idx="5"/>
              <a:endCxn id="33839" idx="1"/>
            </p:cNvCxnSpPr>
            <p:nvPr/>
          </p:nvCxnSpPr>
          <p:spPr bwMode="auto">
            <a:xfrm>
              <a:off x="4355" y="3343"/>
              <a:ext cx="246" cy="195"/>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3842" name="Oval 43"/>
            <p:cNvSpPr>
              <a:spLocks noChangeArrowheads="1"/>
            </p:cNvSpPr>
            <p:nvPr/>
          </p:nvSpPr>
          <p:spPr bwMode="auto">
            <a:xfrm>
              <a:off x="3461" y="2232"/>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6</a:t>
              </a:r>
            </a:p>
          </p:txBody>
        </p:sp>
        <p:sp>
          <p:nvSpPr>
            <p:cNvPr id="33843" name="Oval 46"/>
            <p:cNvSpPr>
              <a:spLocks noChangeArrowheads="1"/>
            </p:cNvSpPr>
            <p:nvPr/>
          </p:nvSpPr>
          <p:spPr bwMode="auto">
            <a:xfrm>
              <a:off x="3784" y="2655"/>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8</a:t>
              </a:r>
            </a:p>
          </p:txBody>
        </p:sp>
        <p:sp>
          <p:nvSpPr>
            <p:cNvPr id="33844" name="Oval 48"/>
            <p:cNvSpPr>
              <a:spLocks noChangeArrowheads="1"/>
            </p:cNvSpPr>
            <p:nvPr/>
          </p:nvSpPr>
          <p:spPr bwMode="auto">
            <a:xfrm>
              <a:off x="4098" y="1386"/>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2</a:t>
              </a:r>
            </a:p>
          </p:txBody>
        </p:sp>
        <p:sp>
          <p:nvSpPr>
            <p:cNvPr id="33845" name="Oval 50"/>
            <p:cNvSpPr>
              <a:spLocks noChangeArrowheads="1"/>
            </p:cNvSpPr>
            <p:nvPr/>
          </p:nvSpPr>
          <p:spPr bwMode="auto">
            <a:xfrm>
              <a:off x="3784" y="1809"/>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4</a:t>
              </a:r>
            </a:p>
          </p:txBody>
        </p:sp>
        <p:sp>
          <p:nvSpPr>
            <p:cNvPr id="33846" name="Oval 56"/>
            <p:cNvSpPr>
              <a:spLocks noChangeArrowheads="1"/>
            </p:cNvSpPr>
            <p:nvPr/>
          </p:nvSpPr>
          <p:spPr bwMode="auto">
            <a:xfrm>
              <a:off x="4097" y="3078"/>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10</a:t>
              </a:r>
            </a:p>
          </p:txBody>
        </p:sp>
        <p:cxnSp>
          <p:nvCxnSpPr>
            <p:cNvPr id="33847" name="AutoShape 78"/>
            <p:cNvCxnSpPr>
              <a:cxnSpLocks noChangeShapeType="1"/>
              <a:stCxn id="33844" idx="3"/>
              <a:endCxn id="33845" idx="7"/>
            </p:cNvCxnSpPr>
            <p:nvPr/>
          </p:nvCxnSpPr>
          <p:spPr bwMode="auto">
            <a:xfrm flipH="1">
              <a:off x="4042" y="1651"/>
              <a:ext cx="100"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48" name="AutoShape 79"/>
            <p:cNvCxnSpPr>
              <a:cxnSpLocks noChangeShapeType="1"/>
              <a:stCxn id="33845" idx="3"/>
              <a:endCxn id="33842" idx="7"/>
            </p:cNvCxnSpPr>
            <p:nvPr/>
          </p:nvCxnSpPr>
          <p:spPr bwMode="auto">
            <a:xfrm flipH="1">
              <a:off x="3719" y="2074"/>
              <a:ext cx="109"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49" name="AutoShape 80"/>
            <p:cNvCxnSpPr>
              <a:cxnSpLocks noChangeShapeType="1"/>
              <a:stCxn id="33842" idx="5"/>
              <a:endCxn id="33843" idx="1"/>
            </p:cNvCxnSpPr>
            <p:nvPr/>
          </p:nvCxnSpPr>
          <p:spPr bwMode="auto">
            <a:xfrm>
              <a:off x="3719" y="2497"/>
              <a:ext cx="109"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50" name="AutoShape 81"/>
            <p:cNvCxnSpPr>
              <a:cxnSpLocks noChangeShapeType="1"/>
              <a:stCxn id="33843" idx="5"/>
              <a:endCxn id="33846" idx="1"/>
            </p:cNvCxnSpPr>
            <p:nvPr/>
          </p:nvCxnSpPr>
          <p:spPr bwMode="auto">
            <a:xfrm>
              <a:off x="4042" y="2920"/>
              <a:ext cx="99"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51" name="AutoShape 83"/>
            <p:cNvCxnSpPr>
              <a:cxnSpLocks noChangeShapeType="1"/>
              <a:stCxn id="33845" idx="4"/>
              <a:endCxn id="33843" idx="0"/>
            </p:cNvCxnSpPr>
            <p:nvPr/>
          </p:nvCxnSpPr>
          <p:spPr bwMode="auto">
            <a:xfrm>
              <a:off x="3935" y="2118"/>
              <a:ext cx="0" cy="53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52" name="AutoShape 84"/>
            <p:cNvCxnSpPr>
              <a:cxnSpLocks noChangeShapeType="1"/>
              <a:stCxn id="33844" idx="4"/>
              <a:endCxn id="33846" idx="0"/>
            </p:cNvCxnSpPr>
            <p:nvPr/>
          </p:nvCxnSpPr>
          <p:spPr bwMode="auto">
            <a:xfrm flipH="1">
              <a:off x="4248" y="1695"/>
              <a:ext cx="1" cy="137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3853" name="Oval 92"/>
            <p:cNvSpPr>
              <a:spLocks noChangeArrowheads="1"/>
            </p:cNvSpPr>
            <p:nvPr/>
          </p:nvSpPr>
          <p:spPr bwMode="auto">
            <a:xfrm>
              <a:off x="4556" y="2232"/>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7</a:t>
              </a:r>
            </a:p>
          </p:txBody>
        </p:sp>
        <p:sp>
          <p:nvSpPr>
            <p:cNvPr id="33854" name="Oval 93"/>
            <p:cNvSpPr>
              <a:spLocks noChangeArrowheads="1"/>
            </p:cNvSpPr>
            <p:nvPr/>
          </p:nvSpPr>
          <p:spPr bwMode="auto">
            <a:xfrm>
              <a:off x="4879" y="2655"/>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9</a:t>
              </a:r>
            </a:p>
          </p:txBody>
        </p:sp>
        <p:sp>
          <p:nvSpPr>
            <p:cNvPr id="33855" name="Oval 94"/>
            <p:cNvSpPr>
              <a:spLocks noChangeArrowheads="1"/>
            </p:cNvSpPr>
            <p:nvPr/>
          </p:nvSpPr>
          <p:spPr bwMode="auto">
            <a:xfrm>
              <a:off x="5193" y="1386"/>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3</a:t>
              </a:r>
            </a:p>
          </p:txBody>
        </p:sp>
        <p:sp>
          <p:nvSpPr>
            <p:cNvPr id="33856" name="Oval 95"/>
            <p:cNvSpPr>
              <a:spLocks noChangeArrowheads="1"/>
            </p:cNvSpPr>
            <p:nvPr/>
          </p:nvSpPr>
          <p:spPr bwMode="auto">
            <a:xfrm>
              <a:off x="4879" y="1809"/>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5</a:t>
              </a:r>
            </a:p>
          </p:txBody>
        </p:sp>
        <p:sp>
          <p:nvSpPr>
            <p:cNvPr id="33857" name="Oval 96"/>
            <p:cNvSpPr>
              <a:spLocks noChangeArrowheads="1"/>
            </p:cNvSpPr>
            <p:nvPr/>
          </p:nvSpPr>
          <p:spPr bwMode="auto">
            <a:xfrm>
              <a:off x="5192" y="3078"/>
              <a:ext cx="302" cy="303"/>
            </a:xfrm>
            <a:prstGeom prst="ellipse">
              <a:avLst/>
            </a:prstGeom>
            <a:solidFill>
              <a:srgbClr val="0033CC"/>
            </a:solidFill>
            <a:ln w="1905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a:solidFill>
                    <a:schemeClr val="tx1"/>
                  </a:solidFill>
                </a:rPr>
                <a:t>11</a:t>
              </a:r>
            </a:p>
          </p:txBody>
        </p:sp>
        <p:cxnSp>
          <p:nvCxnSpPr>
            <p:cNvPr id="33858" name="AutoShape 97"/>
            <p:cNvCxnSpPr>
              <a:cxnSpLocks noChangeShapeType="1"/>
              <a:stCxn id="33855" idx="3"/>
              <a:endCxn id="33856" idx="7"/>
            </p:cNvCxnSpPr>
            <p:nvPr/>
          </p:nvCxnSpPr>
          <p:spPr bwMode="auto">
            <a:xfrm flipH="1">
              <a:off x="5137" y="1651"/>
              <a:ext cx="100"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59" name="AutoShape 98"/>
            <p:cNvCxnSpPr>
              <a:cxnSpLocks noChangeShapeType="1"/>
              <a:stCxn id="33856" idx="3"/>
              <a:endCxn id="33853" idx="7"/>
            </p:cNvCxnSpPr>
            <p:nvPr/>
          </p:nvCxnSpPr>
          <p:spPr bwMode="auto">
            <a:xfrm flipH="1">
              <a:off x="4814" y="2074"/>
              <a:ext cx="109"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60" name="AutoShape 99"/>
            <p:cNvCxnSpPr>
              <a:cxnSpLocks noChangeShapeType="1"/>
              <a:stCxn id="33853" idx="5"/>
              <a:endCxn id="33854" idx="1"/>
            </p:cNvCxnSpPr>
            <p:nvPr/>
          </p:nvCxnSpPr>
          <p:spPr bwMode="auto">
            <a:xfrm>
              <a:off x="4814" y="2497"/>
              <a:ext cx="109"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61" name="AutoShape 100"/>
            <p:cNvCxnSpPr>
              <a:cxnSpLocks noChangeShapeType="1"/>
              <a:stCxn id="33854" idx="5"/>
              <a:endCxn id="33857" idx="1"/>
            </p:cNvCxnSpPr>
            <p:nvPr/>
          </p:nvCxnSpPr>
          <p:spPr bwMode="auto">
            <a:xfrm>
              <a:off x="5137" y="2920"/>
              <a:ext cx="99" cy="19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62" name="AutoShape 101"/>
            <p:cNvCxnSpPr>
              <a:cxnSpLocks noChangeShapeType="1"/>
              <a:stCxn id="33856" idx="4"/>
              <a:endCxn id="33854" idx="0"/>
            </p:cNvCxnSpPr>
            <p:nvPr/>
          </p:nvCxnSpPr>
          <p:spPr bwMode="auto">
            <a:xfrm>
              <a:off x="5030" y="2118"/>
              <a:ext cx="0" cy="53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63" name="AutoShape 102"/>
            <p:cNvCxnSpPr>
              <a:cxnSpLocks noChangeShapeType="1"/>
              <a:stCxn id="33855" idx="4"/>
              <a:endCxn id="33857" idx="0"/>
            </p:cNvCxnSpPr>
            <p:nvPr/>
          </p:nvCxnSpPr>
          <p:spPr bwMode="auto">
            <a:xfrm flipH="1">
              <a:off x="5343" y="1695"/>
              <a:ext cx="1" cy="1377"/>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64" name="AutoShape 104"/>
            <p:cNvCxnSpPr>
              <a:cxnSpLocks noChangeShapeType="1"/>
              <a:stCxn id="33838" idx="5"/>
              <a:endCxn id="33855" idx="1"/>
            </p:cNvCxnSpPr>
            <p:nvPr/>
          </p:nvCxnSpPr>
          <p:spPr bwMode="auto">
            <a:xfrm>
              <a:off x="4816" y="1226"/>
              <a:ext cx="421" cy="198"/>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3865" name="AutoShape 105"/>
            <p:cNvCxnSpPr>
              <a:cxnSpLocks noChangeShapeType="1"/>
              <a:stCxn id="33857" idx="3"/>
              <a:endCxn id="33839" idx="7"/>
            </p:cNvCxnSpPr>
            <p:nvPr/>
          </p:nvCxnSpPr>
          <p:spPr bwMode="auto">
            <a:xfrm flipH="1">
              <a:off x="4815" y="3343"/>
              <a:ext cx="421" cy="195"/>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3866" name="Line 109"/>
            <p:cNvSpPr>
              <a:spLocks noChangeShapeType="1"/>
            </p:cNvSpPr>
            <p:nvPr/>
          </p:nvSpPr>
          <p:spPr bwMode="auto">
            <a:xfrm>
              <a:off x="4709" y="812"/>
              <a:ext cx="0" cy="144"/>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67" name="Text Box 111"/>
            <p:cNvSpPr txBox="1">
              <a:spLocks noChangeArrowheads="1"/>
            </p:cNvSpPr>
            <p:nvPr/>
          </p:nvSpPr>
          <p:spPr bwMode="auto">
            <a:xfrm>
              <a:off x="3379" y="770"/>
              <a:ext cx="12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err="1">
                  <a:latin typeface="Helvetica" charset="0"/>
                </a:rPr>
                <a:t>changeTime</a:t>
              </a:r>
              <a:r>
                <a:rPr lang="en-US" altLang="en-US" dirty="0">
                  <a:latin typeface="Helvetica" charset="0"/>
                </a:rPr>
                <a:t> ()</a:t>
              </a:r>
            </a:p>
          </p:txBody>
        </p:sp>
      </p:grpSp>
      <p:cxnSp>
        <p:nvCxnSpPr>
          <p:cNvPr id="291952" name="AutoShape 112"/>
          <p:cNvCxnSpPr>
            <a:cxnSpLocks noChangeShapeType="1"/>
            <a:stCxn id="33873" idx="5"/>
            <a:endCxn id="33838" idx="1"/>
          </p:cNvCxnSpPr>
          <p:nvPr/>
        </p:nvCxnSpPr>
        <p:spPr bwMode="auto">
          <a:xfrm rot="5400000" flipH="1" flipV="1">
            <a:off x="4710907" y="-81756"/>
            <a:ext cx="2451100" cy="5786437"/>
          </a:xfrm>
          <a:prstGeom prst="curvedConnector5">
            <a:avLst>
              <a:gd name="adj1" fmla="val -54602"/>
              <a:gd name="adj2" fmla="val 31852"/>
              <a:gd name="adj3" fmla="val 129856"/>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cxnSp>
      <p:cxnSp>
        <p:nvCxnSpPr>
          <p:cNvPr id="291953" name="AutoShape 113"/>
          <p:cNvCxnSpPr>
            <a:cxnSpLocks noChangeShapeType="1"/>
            <a:stCxn id="33871" idx="5"/>
            <a:endCxn id="33838" idx="1"/>
          </p:cNvCxnSpPr>
          <p:nvPr/>
        </p:nvCxnSpPr>
        <p:spPr bwMode="auto">
          <a:xfrm rot="5400000" flipH="1" flipV="1">
            <a:off x="5482432" y="689770"/>
            <a:ext cx="2451100" cy="4243387"/>
          </a:xfrm>
          <a:prstGeom prst="curvedConnector5">
            <a:avLst>
              <a:gd name="adj1" fmla="val -61144"/>
              <a:gd name="adj2" fmla="val 40514"/>
              <a:gd name="adj3" fmla="val 119620"/>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cxnSp>
      <p:cxnSp>
        <p:nvCxnSpPr>
          <p:cNvPr id="291954" name="AutoShape 114"/>
          <p:cNvCxnSpPr>
            <a:cxnSpLocks noChangeShapeType="1"/>
            <a:stCxn id="33869" idx="6"/>
            <a:endCxn id="33838" idx="2"/>
          </p:cNvCxnSpPr>
          <p:nvPr/>
        </p:nvCxnSpPr>
        <p:spPr bwMode="auto">
          <a:xfrm flipV="1">
            <a:off x="6210300" y="1766889"/>
            <a:ext cx="2540000" cy="2090737"/>
          </a:xfrm>
          <a:prstGeom prst="curvedConnector3">
            <a:avLst>
              <a:gd name="adj1" fmla="val 50000"/>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cxnSp>
      <p:cxnSp>
        <p:nvCxnSpPr>
          <p:cNvPr id="291956" name="AutoShape 116"/>
          <p:cNvCxnSpPr>
            <a:cxnSpLocks noChangeShapeType="1"/>
            <a:stCxn id="33869" idx="5"/>
            <a:endCxn id="33839" idx="2"/>
          </p:cNvCxnSpPr>
          <p:nvPr/>
        </p:nvCxnSpPr>
        <p:spPr bwMode="auto">
          <a:xfrm rot="16200000" flipH="1">
            <a:off x="6559551" y="3608388"/>
            <a:ext cx="1760537" cy="2617788"/>
          </a:xfrm>
          <a:prstGeom prst="curvedConnector2">
            <a:avLst/>
          </a:prstGeom>
          <a:noFill/>
          <a:ln w="28575">
            <a:solidFill>
              <a:schemeClr val="tx2"/>
            </a:solidFill>
            <a:prstDash val="dash"/>
            <a:round/>
            <a:headEnd type="triangle" w="med" len="med"/>
            <a:tailEnd/>
          </a:ln>
          <a:extLst>
            <a:ext uri="{909E8E84-426E-40DD-AFC4-6F175D3DCCD1}">
              <a14:hiddenFill xmlns:a14="http://schemas.microsoft.com/office/drawing/2010/main">
                <a:noFill/>
              </a14:hiddenFill>
            </a:ext>
          </a:extLst>
        </p:spPr>
      </p:cxnSp>
      <p:cxnSp>
        <p:nvCxnSpPr>
          <p:cNvPr id="291957" name="AutoShape 117"/>
          <p:cNvCxnSpPr>
            <a:cxnSpLocks noChangeShapeType="1"/>
            <a:stCxn id="33839" idx="3"/>
            <a:endCxn id="33871" idx="4"/>
          </p:cNvCxnSpPr>
          <p:nvPr/>
        </p:nvCxnSpPr>
        <p:spPr bwMode="auto">
          <a:xfrm rot="16200000" flipV="1">
            <a:off x="5687220" y="2836070"/>
            <a:ext cx="1870075" cy="4411663"/>
          </a:xfrm>
          <a:prstGeom prst="curvedConnector3">
            <a:avLst>
              <a:gd name="adj1" fmla="val -15366"/>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cxnSp>
      <p:cxnSp>
        <p:nvCxnSpPr>
          <p:cNvPr id="291958" name="AutoShape 118"/>
          <p:cNvCxnSpPr>
            <a:cxnSpLocks noChangeShapeType="1"/>
            <a:stCxn id="33839" idx="4"/>
            <a:endCxn id="33873" idx="4"/>
          </p:cNvCxnSpPr>
          <p:nvPr/>
        </p:nvCxnSpPr>
        <p:spPr bwMode="auto">
          <a:xfrm rot="16200000" flipV="1">
            <a:off x="4965701" y="2014539"/>
            <a:ext cx="1939925" cy="6124575"/>
          </a:xfrm>
          <a:prstGeom prst="curvedConnector3">
            <a:avLst>
              <a:gd name="adj1" fmla="val -22995"/>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1952"/>
                                        </p:tgtEl>
                                        <p:attrNameLst>
                                          <p:attrName>style.visibility</p:attrName>
                                        </p:attrNameLst>
                                      </p:cBhvr>
                                      <p:to>
                                        <p:strVal val="visible"/>
                                      </p:to>
                                    </p:set>
                                    <p:animEffect transition="in" filter="wipe(left)">
                                      <p:cBhvr>
                                        <p:cTn id="12" dur="500"/>
                                        <p:tgtEl>
                                          <p:spTgt spid="2919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91953"/>
                                        </p:tgtEl>
                                        <p:attrNameLst>
                                          <p:attrName>style.visibility</p:attrName>
                                        </p:attrNameLst>
                                      </p:cBhvr>
                                      <p:to>
                                        <p:strVal val="visible"/>
                                      </p:to>
                                    </p:set>
                                    <p:animEffect transition="in" filter="wipe(left)">
                                      <p:cBhvr>
                                        <p:cTn id="17" dur="500"/>
                                        <p:tgtEl>
                                          <p:spTgt spid="2919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1954"/>
                                        </p:tgtEl>
                                        <p:attrNameLst>
                                          <p:attrName>style.visibility</p:attrName>
                                        </p:attrNameLst>
                                      </p:cBhvr>
                                      <p:to>
                                        <p:strVal val="visible"/>
                                      </p:to>
                                    </p:set>
                                    <p:animEffect transition="in" filter="wipe(left)">
                                      <p:cBhvr>
                                        <p:cTn id="22" dur="500"/>
                                        <p:tgtEl>
                                          <p:spTgt spid="2919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291956"/>
                                        </p:tgtEl>
                                        <p:attrNameLst>
                                          <p:attrName>style.visibility</p:attrName>
                                        </p:attrNameLst>
                                      </p:cBhvr>
                                      <p:to>
                                        <p:strVal val="visible"/>
                                      </p:to>
                                    </p:set>
                                    <p:animEffect transition="in" filter="wipe(right)">
                                      <p:cBhvr>
                                        <p:cTn id="27" dur="500"/>
                                        <p:tgtEl>
                                          <p:spTgt spid="2919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291957"/>
                                        </p:tgtEl>
                                        <p:attrNameLst>
                                          <p:attrName>style.visibility</p:attrName>
                                        </p:attrNameLst>
                                      </p:cBhvr>
                                      <p:to>
                                        <p:strVal val="visible"/>
                                      </p:to>
                                    </p:set>
                                    <p:animEffect transition="in" filter="wipe(right)">
                                      <p:cBhvr>
                                        <p:cTn id="32" dur="500"/>
                                        <p:tgtEl>
                                          <p:spTgt spid="2919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291958"/>
                                        </p:tgtEl>
                                        <p:attrNameLst>
                                          <p:attrName>style.visibility</p:attrName>
                                        </p:attrNameLst>
                                      </p:cBhvr>
                                      <p:to>
                                        <p:strVal val="visible"/>
                                      </p:to>
                                    </p:set>
                                    <p:animEffect transition="in" filter="wipe(right)">
                                      <p:cBhvr>
                                        <p:cTn id="37" dur="500"/>
                                        <p:tgtEl>
                                          <p:spTgt spid="291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CC22C3E4-A01B-4781-B07F-026A6151606C}" type="slidenum">
              <a:rPr lang="en-US" altLang="en-US" sz="900" b="0">
                <a:solidFill>
                  <a:schemeClr val="tx1"/>
                </a:solidFill>
              </a:rPr>
              <a:pPr/>
              <a:t>23</a:t>
            </a:fld>
            <a:endParaRPr lang="en-US" altLang="en-US" sz="900" b="0">
              <a:solidFill>
                <a:schemeClr val="tx1"/>
              </a:solidFill>
            </a:endParaRPr>
          </a:p>
        </p:txBody>
      </p:sp>
      <p:sp>
        <p:nvSpPr>
          <p:cNvPr id="34820" name="Rectangle 2"/>
          <p:cNvSpPr>
            <a:spLocks noGrp="1" noChangeArrowheads="1"/>
          </p:cNvSpPr>
          <p:nvPr>
            <p:ph type="title"/>
          </p:nvPr>
        </p:nvSpPr>
        <p:spPr/>
        <p:txBody>
          <a:bodyPr/>
          <a:lstStyle/>
          <a:p>
            <a:r>
              <a:rPr lang="en-US" altLang="en-US"/>
              <a:t>2. Using the Software Structure</a:t>
            </a:r>
          </a:p>
        </p:txBody>
      </p:sp>
      <p:sp>
        <p:nvSpPr>
          <p:cNvPr id="34821" name="Rectangle 3"/>
          <p:cNvSpPr>
            <a:spLocks noGrp="1" noChangeArrowheads="1"/>
          </p:cNvSpPr>
          <p:nvPr>
            <p:ph type="body" idx="1"/>
          </p:nvPr>
        </p:nvSpPr>
        <p:spPr/>
        <p:txBody>
          <a:bodyPr/>
          <a:lstStyle/>
          <a:p>
            <a:r>
              <a:rPr lang="en-US" altLang="en-US" b="0" dirty="0"/>
              <a:t>A more experienced programmer may </a:t>
            </a:r>
            <a:r>
              <a:rPr lang="en-US" altLang="en-US" b="0" dirty="0">
                <a:solidFill>
                  <a:schemeClr val="tx2"/>
                </a:solidFill>
              </a:rPr>
              <a:t>map methods</a:t>
            </a:r>
            <a:r>
              <a:rPr lang="en-US" altLang="en-US" b="0" dirty="0"/>
              <a:t> to states</a:t>
            </a:r>
          </a:p>
          <a:p>
            <a:pPr lvl="1"/>
            <a:endParaRPr lang="en-US" altLang="en-US" b="0" dirty="0"/>
          </a:p>
          <a:p>
            <a:r>
              <a:rPr lang="en-US" altLang="en-US" b="0" dirty="0"/>
              <a:t>These are really </a:t>
            </a:r>
            <a:r>
              <a:rPr lang="en-US" altLang="en-US" b="0" dirty="0">
                <a:solidFill>
                  <a:schemeClr val="tx2"/>
                </a:solidFill>
              </a:rPr>
              <a:t>not states</a:t>
            </a:r>
          </a:p>
          <a:p>
            <a:pPr lvl="1"/>
            <a:endParaRPr lang="en-US" altLang="en-US" b="0" dirty="0"/>
          </a:p>
          <a:p>
            <a:r>
              <a:rPr lang="en-US" altLang="en-US" b="0" dirty="0"/>
              <a:t>Problems</a:t>
            </a:r>
          </a:p>
          <a:p>
            <a:pPr lvl="1"/>
            <a:r>
              <a:rPr lang="en-US" altLang="en-US" b="0" dirty="0">
                <a:solidFill>
                  <a:schemeClr val="tx2"/>
                </a:solidFill>
              </a:rPr>
              <a:t>Subjective</a:t>
            </a:r>
            <a:r>
              <a:rPr lang="en-US" altLang="en-US" dirty="0"/>
              <a:t>—d</a:t>
            </a:r>
            <a:r>
              <a:rPr lang="en-US" altLang="en-US" b="0" dirty="0"/>
              <a:t>ifferent testers get different graphs</a:t>
            </a:r>
          </a:p>
          <a:p>
            <a:pPr lvl="1"/>
            <a:r>
              <a:rPr lang="en-US" altLang="en-US" b="0" dirty="0"/>
              <a:t>Requires </a:t>
            </a:r>
            <a:r>
              <a:rPr lang="en-US" altLang="en-US" b="0" dirty="0">
                <a:solidFill>
                  <a:schemeClr val="tx2"/>
                </a:solidFill>
              </a:rPr>
              <a:t>in-depth knowledge</a:t>
            </a:r>
            <a:r>
              <a:rPr lang="en-US" altLang="en-US" b="0" dirty="0"/>
              <a:t> of implementation</a:t>
            </a:r>
          </a:p>
          <a:p>
            <a:pPr lvl="1"/>
            <a:r>
              <a:rPr lang="en-US" altLang="en-US" b="0" dirty="0">
                <a:solidFill>
                  <a:schemeClr val="tx2"/>
                </a:solidFill>
              </a:rPr>
              <a:t>Detailed design</a:t>
            </a:r>
            <a:r>
              <a:rPr lang="en-US" altLang="en-US" b="0" dirty="0"/>
              <a:t> must be present</a:t>
            </a:r>
          </a:p>
          <a:p>
            <a:pPr lvl="1"/>
            <a:endParaRPr lang="en-US" altLang="en-US" b="0" dirty="0"/>
          </a:p>
          <a:p>
            <a:r>
              <a:rPr lang="en-US" altLang="en-US" b="0" dirty="0">
                <a:latin typeface="Helvetica" charset="0"/>
              </a:rPr>
              <a:t>Watch</a:t>
            </a:r>
            <a:r>
              <a:rPr lang="en-US" altLang="en-US" b="0" dirty="0"/>
              <a:t> example …</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96D85330-F161-49ED-BF74-B47E0CDAA9BC}" type="slidenum">
              <a:rPr lang="en-US" altLang="en-US" sz="900" b="0">
                <a:solidFill>
                  <a:schemeClr val="tx1"/>
                </a:solidFill>
              </a:rPr>
              <a:pPr/>
              <a:t>24</a:t>
            </a:fld>
            <a:endParaRPr lang="en-US" altLang="en-US" sz="900" b="0">
              <a:solidFill>
                <a:schemeClr val="tx1"/>
              </a:solidFill>
            </a:endParaRPr>
          </a:p>
        </p:txBody>
      </p:sp>
      <p:sp>
        <p:nvSpPr>
          <p:cNvPr id="35844" name="Rectangle 3"/>
          <p:cNvSpPr>
            <a:spLocks noGrp="1" noChangeArrowheads="1"/>
          </p:cNvSpPr>
          <p:nvPr>
            <p:ph type="title"/>
          </p:nvPr>
        </p:nvSpPr>
        <p:spPr/>
        <p:txBody>
          <a:bodyPr/>
          <a:lstStyle/>
          <a:p>
            <a:r>
              <a:rPr lang="en-US" altLang="en-US"/>
              <a:t>Software Structure for Watch</a:t>
            </a:r>
          </a:p>
        </p:txBody>
      </p:sp>
      <p:sp>
        <p:nvSpPr>
          <p:cNvPr id="35845" name="Text Box 72"/>
          <p:cNvSpPr txBox="1">
            <a:spLocks noChangeArrowheads="1"/>
          </p:cNvSpPr>
          <p:nvPr/>
        </p:nvSpPr>
        <p:spPr bwMode="auto">
          <a:xfrm>
            <a:off x="4303714" y="2573338"/>
            <a:ext cx="199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a:latin typeface="Helvetica" charset="0"/>
              </a:rPr>
              <a:t>button</a:t>
            </a:r>
          </a:p>
        </p:txBody>
      </p:sp>
      <p:sp>
        <p:nvSpPr>
          <p:cNvPr id="35846" name="AutoShape 76"/>
          <p:cNvSpPr>
            <a:spLocks noChangeArrowheads="1"/>
          </p:cNvSpPr>
          <p:nvPr/>
        </p:nvSpPr>
        <p:spPr bwMode="auto">
          <a:xfrm>
            <a:off x="3311526" y="1633538"/>
            <a:ext cx="2125663" cy="9017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sz="2400" dirty="0" err="1">
                <a:solidFill>
                  <a:schemeClr val="tx1"/>
                </a:solidFill>
                <a:latin typeface="Gill Sans MT" panose="020B0502020104020203" pitchFamily="34" charset="0"/>
              </a:rPr>
              <a:t>inMain</a:t>
            </a:r>
            <a:endParaRPr lang="en-US" altLang="en-US" sz="2400" dirty="0">
              <a:solidFill>
                <a:schemeClr val="tx1"/>
              </a:solidFill>
              <a:latin typeface="Gill Sans MT" panose="020B0502020104020203" pitchFamily="34" charset="0"/>
            </a:endParaRPr>
          </a:p>
        </p:txBody>
      </p:sp>
      <p:sp>
        <p:nvSpPr>
          <p:cNvPr id="35847" name="AutoShape 77"/>
          <p:cNvSpPr>
            <a:spLocks noChangeArrowheads="1"/>
          </p:cNvSpPr>
          <p:nvPr/>
        </p:nvSpPr>
        <p:spPr bwMode="auto">
          <a:xfrm>
            <a:off x="6831013" y="3738563"/>
            <a:ext cx="2125662" cy="9017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sz="2400">
                <a:solidFill>
                  <a:schemeClr val="tx1"/>
                </a:solidFill>
                <a:latin typeface="Gill Sans MT" panose="020B0502020104020203" pitchFamily="34" charset="0"/>
              </a:rPr>
              <a:t>inChangeTime</a:t>
            </a:r>
          </a:p>
        </p:txBody>
      </p:sp>
      <p:sp>
        <p:nvSpPr>
          <p:cNvPr id="35848" name="AutoShape 78"/>
          <p:cNvSpPr>
            <a:spLocks noChangeArrowheads="1"/>
          </p:cNvSpPr>
          <p:nvPr/>
        </p:nvSpPr>
        <p:spPr bwMode="auto">
          <a:xfrm>
            <a:off x="3311526" y="3738563"/>
            <a:ext cx="2125663" cy="9017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sz="2400">
                <a:solidFill>
                  <a:schemeClr val="tx1"/>
                </a:solidFill>
                <a:latin typeface="Gill Sans MT" panose="020B0502020104020203" pitchFamily="34" charset="0"/>
              </a:rPr>
              <a:t>inDoTransition</a:t>
            </a:r>
          </a:p>
        </p:txBody>
      </p:sp>
      <p:cxnSp>
        <p:nvCxnSpPr>
          <p:cNvPr id="35849" name="AutoShape 79"/>
          <p:cNvCxnSpPr>
            <a:cxnSpLocks noChangeShapeType="1"/>
            <a:stCxn id="35846" idx="2"/>
            <a:endCxn id="35848" idx="0"/>
          </p:cNvCxnSpPr>
          <p:nvPr/>
        </p:nvCxnSpPr>
        <p:spPr bwMode="auto">
          <a:xfrm>
            <a:off x="4375150" y="2535239"/>
            <a:ext cx="0" cy="1203325"/>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nvGrpSpPr>
          <p:cNvPr id="35850" name="Group 85"/>
          <p:cNvGrpSpPr>
            <a:grpSpLocks/>
          </p:cNvGrpSpPr>
          <p:nvPr/>
        </p:nvGrpSpPr>
        <p:grpSpPr bwMode="auto">
          <a:xfrm>
            <a:off x="3424239" y="3743326"/>
            <a:ext cx="490537" cy="892175"/>
            <a:chOff x="1253" y="2491"/>
            <a:chExt cx="309" cy="562"/>
          </a:xfrm>
        </p:grpSpPr>
        <p:sp>
          <p:nvSpPr>
            <p:cNvPr id="35886" name="Rectangle 81"/>
            <p:cNvSpPr>
              <a:spLocks noChangeArrowheads="1"/>
            </p:cNvSpPr>
            <p:nvPr/>
          </p:nvSpPr>
          <p:spPr bwMode="auto">
            <a:xfrm>
              <a:off x="1253"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87" name="Rectangle 83"/>
            <p:cNvSpPr>
              <a:spLocks noChangeArrowheads="1"/>
            </p:cNvSpPr>
            <p:nvPr/>
          </p:nvSpPr>
          <p:spPr bwMode="auto">
            <a:xfrm>
              <a:off x="1382"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88" name="Rectangle 84"/>
            <p:cNvSpPr>
              <a:spLocks noChangeArrowheads="1"/>
            </p:cNvSpPr>
            <p:nvPr/>
          </p:nvSpPr>
          <p:spPr bwMode="auto">
            <a:xfrm>
              <a:off x="1506"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grpSp>
        <p:nvGrpSpPr>
          <p:cNvPr id="35851" name="Group 87"/>
          <p:cNvGrpSpPr>
            <a:grpSpLocks/>
          </p:cNvGrpSpPr>
          <p:nvPr/>
        </p:nvGrpSpPr>
        <p:grpSpPr bwMode="auto">
          <a:xfrm>
            <a:off x="4799014" y="3743326"/>
            <a:ext cx="490537" cy="892175"/>
            <a:chOff x="1253" y="2491"/>
            <a:chExt cx="309" cy="562"/>
          </a:xfrm>
        </p:grpSpPr>
        <p:sp>
          <p:nvSpPr>
            <p:cNvPr id="35883" name="Rectangle 88"/>
            <p:cNvSpPr>
              <a:spLocks noChangeArrowheads="1"/>
            </p:cNvSpPr>
            <p:nvPr/>
          </p:nvSpPr>
          <p:spPr bwMode="auto">
            <a:xfrm>
              <a:off x="1253"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84" name="Rectangle 89"/>
            <p:cNvSpPr>
              <a:spLocks noChangeArrowheads="1"/>
            </p:cNvSpPr>
            <p:nvPr/>
          </p:nvSpPr>
          <p:spPr bwMode="auto">
            <a:xfrm>
              <a:off x="1382"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85" name="Rectangle 90"/>
            <p:cNvSpPr>
              <a:spLocks noChangeArrowheads="1"/>
            </p:cNvSpPr>
            <p:nvPr/>
          </p:nvSpPr>
          <p:spPr bwMode="auto">
            <a:xfrm>
              <a:off x="1506"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grpSp>
        <p:nvGrpSpPr>
          <p:cNvPr id="35852" name="Group 91"/>
          <p:cNvGrpSpPr>
            <a:grpSpLocks/>
          </p:cNvGrpSpPr>
          <p:nvPr/>
        </p:nvGrpSpPr>
        <p:grpSpPr bwMode="auto">
          <a:xfrm>
            <a:off x="6997700" y="3743326"/>
            <a:ext cx="490538" cy="892175"/>
            <a:chOff x="1253" y="2491"/>
            <a:chExt cx="309" cy="562"/>
          </a:xfrm>
        </p:grpSpPr>
        <p:sp>
          <p:nvSpPr>
            <p:cNvPr id="35880" name="Rectangle 92"/>
            <p:cNvSpPr>
              <a:spLocks noChangeArrowheads="1"/>
            </p:cNvSpPr>
            <p:nvPr/>
          </p:nvSpPr>
          <p:spPr bwMode="auto">
            <a:xfrm>
              <a:off x="1253"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81" name="Rectangle 93"/>
            <p:cNvSpPr>
              <a:spLocks noChangeArrowheads="1"/>
            </p:cNvSpPr>
            <p:nvPr/>
          </p:nvSpPr>
          <p:spPr bwMode="auto">
            <a:xfrm>
              <a:off x="1382"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82" name="Rectangle 94"/>
            <p:cNvSpPr>
              <a:spLocks noChangeArrowheads="1"/>
            </p:cNvSpPr>
            <p:nvPr/>
          </p:nvSpPr>
          <p:spPr bwMode="auto">
            <a:xfrm>
              <a:off x="1506"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grpSp>
        <p:nvGrpSpPr>
          <p:cNvPr id="35853" name="Group 95"/>
          <p:cNvGrpSpPr>
            <a:grpSpLocks/>
          </p:cNvGrpSpPr>
          <p:nvPr/>
        </p:nvGrpSpPr>
        <p:grpSpPr bwMode="auto">
          <a:xfrm>
            <a:off x="4795839" y="1638301"/>
            <a:ext cx="490537" cy="892175"/>
            <a:chOff x="1253" y="2491"/>
            <a:chExt cx="309" cy="562"/>
          </a:xfrm>
        </p:grpSpPr>
        <p:sp>
          <p:nvSpPr>
            <p:cNvPr id="35877" name="Rectangle 96"/>
            <p:cNvSpPr>
              <a:spLocks noChangeArrowheads="1"/>
            </p:cNvSpPr>
            <p:nvPr/>
          </p:nvSpPr>
          <p:spPr bwMode="auto">
            <a:xfrm>
              <a:off x="1253"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78" name="Rectangle 97"/>
            <p:cNvSpPr>
              <a:spLocks noChangeArrowheads="1"/>
            </p:cNvSpPr>
            <p:nvPr/>
          </p:nvSpPr>
          <p:spPr bwMode="auto">
            <a:xfrm>
              <a:off x="1382"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79" name="Rectangle 98"/>
            <p:cNvSpPr>
              <a:spLocks noChangeArrowheads="1"/>
            </p:cNvSpPr>
            <p:nvPr/>
          </p:nvSpPr>
          <p:spPr bwMode="auto">
            <a:xfrm>
              <a:off x="1506"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grpSp>
        <p:nvGrpSpPr>
          <p:cNvPr id="35854" name="Group 103"/>
          <p:cNvGrpSpPr>
            <a:grpSpLocks/>
          </p:cNvGrpSpPr>
          <p:nvPr/>
        </p:nvGrpSpPr>
        <p:grpSpPr bwMode="auto">
          <a:xfrm>
            <a:off x="3432175" y="1638301"/>
            <a:ext cx="490538" cy="892175"/>
            <a:chOff x="1253" y="2491"/>
            <a:chExt cx="309" cy="562"/>
          </a:xfrm>
        </p:grpSpPr>
        <p:sp>
          <p:nvSpPr>
            <p:cNvPr id="35874" name="Rectangle 104"/>
            <p:cNvSpPr>
              <a:spLocks noChangeArrowheads="1"/>
            </p:cNvSpPr>
            <p:nvPr/>
          </p:nvSpPr>
          <p:spPr bwMode="auto">
            <a:xfrm>
              <a:off x="1253"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75" name="Rectangle 105"/>
            <p:cNvSpPr>
              <a:spLocks noChangeArrowheads="1"/>
            </p:cNvSpPr>
            <p:nvPr/>
          </p:nvSpPr>
          <p:spPr bwMode="auto">
            <a:xfrm>
              <a:off x="1382"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76" name="Rectangle 106"/>
            <p:cNvSpPr>
              <a:spLocks noChangeArrowheads="1"/>
            </p:cNvSpPr>
            <p:nvPr/>
          </p:nvSpPr>
          <p:spPr bwMode="auto">
            <a:xfrm>
              <a:off x="1506"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cxnSp>
        <p:nvCxnSpPr>
          <p:cNvPr id="35855" name="AutoShape 108"/>
          <p:cNvCxnSpPr>
            <a:cxnSpLocks noChangeShapeType="1"/>
            <a:stCxn id="35886" idx="0"/>
            <a:endCxn id="35875" idx="2"/>
          </p:cNvCxnSpPr>
          <p:nvPr/>
        </p:nvCxnSpPr>
        <p:spPr bwMode="auto">
          <a:xfrm rot="-5400000">
            <a:off x="2968626" y="3030538"/>
            <a:ext cx="1212850" cy="212725"/>
          </a:xfrm>
          <a:prstGeom prst="curvedConnector3">
            <a:avLst>
              <a:gd name="adj1" fmla="val 50000"/>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5856" name="AutoShape 109"/>
          <p:cNvCxnSpPr>
            <a:cxnSpLocks noChangeShapeType="1"/>
            <a:stCxn id="35885" idx="0"/>
            <a:endCxn id="35847" idx="1"/>
          </p:cNvCxnSpPr>
          <p:nvPr/>
        </p:nvCxnSpPr>
        <p:spPr bwMode="auto">
          <a:xfrm rot="5400000" flipV="1">
            <a:off x="5815013" y="3173413"/>
            <a:ext cx="446088" cy="1585913"/>
          </a:xfrm>
          <a:prstGeom prst="curvedConnector4">
            <a:avLst>
              <a:gd name="adj1" fmla="val -51245"/>
              <a:gd name="adj2" fmla="val 51352"/>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35857" name="AutoShape 111"/>
          <p:cNvCxnSpPr>
            <a:cxnSpLocks noChangeShapeType="1"/>
          </p:cNvCxnSpPr>
          <p:nvPr/>
        </p:nvCxnSpPr>
        <p:spPr bwMode="auto">
          <a:xfrm rot="16200000" flipH="1">
            <a:off x="8564563" y="4435476"/>
            <a:ext cx="1588" cy="401637"/>
          </a:xfrm>
          <a:prstGeom prst="curvedConnector3">
            <a:avLst>
              <a:gd name="adj1" fmla="val 46200014"/>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5858" name="Text Box 113"/>
          <p:cNvSpPr txBox="1">
            <a:spLocks noChangeArrowheads="1"/>
          </p:cNvSpPr>
          <p:nvPr/>
        </p:nvSpPr>
        <p:spPr bwMode="auto">
          <a:xfrm>
            <a:off x="1916114" y="2849563"/>
            <a:ext cx="2162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dirty="0">
                <a:latin typeface="Helvetica" charset="0"/>
              </a:rPr>
              <a:t>button==NEXT / change mode</a:t>
            </a:r>
          </a:p>
        </p:txBody>
      </p:sp>
      <p:sp>
        <p:nvSpPr>
          <p:cNvPr id="35859" name="Text Box 114"/>
          <p:cNvSpPr txBox="1">
            <a:spLocks noChangeArrowheads="1"/>
          </p:cNvSpPr>
          <p:nvPr/>
        </p:nvSpPr>
        <p:spPr bwMode="auto">
          <a:xfrm>
            <a:off x="5360989" y="2922588"/>
            <a:ext cx="2162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a:latin typeface="Helvetica" charset="0"/>
              </a:rPr>
              <a:t>button==UP or button==DOWN</a:t>
            </a:r>
          </a:p>
        </p:txBody>
      </p:sp>
      <p:sp>
        <p:nvSpPr>
          <p:cNvPr id="35860" name="Text Box 115"/>
          <p:cNvSpPr txBox="1">
            <a:spLocks noChangeArrowheads="1"/>
          </p:cNvSpPr>
          <p:nvPr/>
        </p:nvSpPr>
        <p:spPr bwMode="auto">
          <a:xfrm>
            <a:off x="7216776" y="5302250"/>
            <a:ext cx="24495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a:latin typeface="Helvetica" charset="0"/>
              </a:rPr>
              <a:t>button==DOWN / change hour, minute</a:t>
            </a:r>
          </a:p>
        </p:txBody>
      </p:sp>
      <p:sp>
        <p:nvSpPr>
          <p:cNvPr id="35861" name="Text Box 116"/>
          <p:cNvSpPr txBox="1">
            <a:spLocks noChangeArrowheads="1"/>
          </p:cNvSpPr>
          <p:nvPr/>
        </p:nvSpPr>
        <p:spPr bwMode="auto">
          <a:xfrm>
            <a:off x="7664451" y="2457450"/>
            <a:ext cx="24495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a:latin typeface="Helvetica" charset="0"/>
              </a:rPr>
              <a:t>button==UP   / change hour, minute</a:t>
            </a:r>
          </a:p>
        </p:txBody>
      </p:sp>
      <p:grpSp>
        <p:nvGrpSpPr>
          <p:cNvPr id="35862" name="Group 118"/>
          <p:cNvGrpSpPr>
            <a:grpSpLocks/>
          </p:cNvGrpSpPr>
          <p:nvPr/>
        </p:nvGrpSpPr>
        <p:grpSpPr bwMode="auto">
          <a:xfrm>
            <a:off x="8326439" y="3743326"/>
            <a:ext cx="490537" cy="892175"/>
            <a:chOff x="1253" y="2491"/>
            <a:chExt cx="309" cy="562"/>
          </a:xfrm>
        </p:grpSpPr>
        <p:sp>
          <p:nvSpPr>
            <p:cNvPr id="35871" name="Rectangle 119"/>
            <p:cNvSpPr>
              <a:spLocks noChangeArrowheads="1"/>
            </p:cNvSpPr>
            <p:nvPr/>
          </p:nvSpPr>
          <p:spPr bwMode="auto">
            <a:xfrm>
              <a:off x="1253"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72" name="Rectangle 120"/>
            <p:cNvSpPr>
              <a:spLocks noChangeArrowheads="1"/>
            </p:cNvSpPr>
            <p:nvPr/>
          </p:nvSpPr>
          <p:spPr bwMode="auto">
            <a:xfrm>
              <a:off x="1382"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35873" name="Rectangle 121"/>
            <p:cNvSpPr>
              <a:spLocks noChangeArrowheads="1"/>
            </p:cNvSpPr>
            <p:nvPr/>
          </p:nvSpPr>
          <p:spPr bwMode="auto">
            <a:xfrm>
              <a:off x="1506" y="2491"/>
              <a:ext cx="56"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grpSp>
      <p:cxnSp>
        <p:nvCxnSpPr>
          <p:cNvPr id="35863" name="AutoShape 122"/>
          <p:cNvCxnSpPr>
            <a:cxnSpLocks noChangeShapeType="1"/>
            <a:stCxn id="35871" idx="0"/>
            <a:endCxn id="35873" idx="0"/>
          </p:cNvCxnSpPr>
          <p:nvPr/>
        </p:nvCxnSpPr>
        <p:spPr bwMode="auto">
          <a:xfrm rot="5400000" flipV="1">
            <a:off x="8570913" y="3543301"/>
            <a:ext cx="1588" cy="401637"/>
          </a:xfrm>
          <a:prstGeom prst="curvedConnector3">
            <a:avLst>
              <a:gd name="adj1" fmla="val -45300014"/>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grpSp>
        <p:nvGrpSpPr>
          <p:cNvPr id="8" name="Group 127"/>
          <p:cNvGrpSpPr>
            <a:grpSpLocks/>
          </p:cNvGrpSpPr>
          <p:nvPr/>
        </p:nvGrpSpPr>
        <p:grpSpPr bwMode="auto">
          <a:xfrm>
            <a:off x="4829175" y="4189413"/>
            <a:ext cx="2287588" cy="1206500"/>
            <a:chOff x="2082" y="2639"/>
            <a:chExt cx="1441" cy="760"/>
          </a:xfrm>
        </p:grpSpPr>
        <p:cxnSp>
          <p:nvCxnSpPr>
            <p:cNvPr id="35869" name="AutoShape 112"/>
            <p:cNvCxnSpPr>
              <a:cxnSpLocks noChangeShapeType="1"/>
              <a:stCxn id="35880" idx="2"/>
              <a:endCxn id="35848" idx="3"/>
            </p:cNvCxnSpPr>
            <p:nvPr/>
          </p:nvCxnSpPr>
          <p:spPr bwMode="auto">
            <a:xfrm rot="16200000" flipV="1">
              <a:off x="2830" y="2274"/>
              <a:ext cx="281" cy="1011"/>
            </a:xfrm>
            <a:prstGeom prst="curvedConnector4">
              <a:avLst>
                <a:gd name="adj1" fmla="val -51245"/>
                <a:gd name="adj2" fmla="val 5143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5870" name="Text Box 123"/>
            <p:cNvSpPr txBox="1">
              <a:spLocks noChangeArrowheads="1"/>
            </p:cNvSpPr>
            <p:nvPr/>
          </p:nvSpPr>
          <p:spPr bwMode="auto">
            <a:xfrm>
              <a:off x="2082" y="2995"/>
              <a:ext cx="144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a:latin typeface="Helvetica" charset="0"/>
                </a:rPr>
                <a:t>??? Not clear what triggers this …</a:t>
              </a:r>
            </a:p>
          </p:txBody>
        </p:sp>
      </p:grpSp>
      <p:grpSp>
        <p:nvGrpSpPr>
          <p:cNvPr id="9" name="Group 126"/>
          <p:cNvGrpSpPr>
            <a:grpSpLocks/>
          </p:cNvGrpSpPr>
          <p:nvPr/>
        </p:nvGrpSpPr>
        <p:grpSpPr bwMode="auto">
          <a:xfrm>
            <a:off x="5437188" y="1489075"/>
            <a:ext cx="2620962" cy="2249488"/>
            <a:chOff x="2465" y="938"/>
            <a:chExt cx="1651" cy="1417"/>
          </a:xfrm>
        </p:grpSpPr>
        <p:cxnSp>
          <p:nvCxnSpPr>
            <p:cNvPr id="35867" name="AutoShape 124"/>
            <p:cNvCxnSpPr>
              <a:cxnSpLocks noChangeShapeType="1"/>
              <a:stCxn id="35847" idx="0"/>
              <a:endCxn id="35846" idx="3"/>
            </p:cNvCxnSpPr>
            <p:nvPr/>
          </p:nvCxnSpPr>
          <p:spPr bwMode="auto">
            <a:xfrm rot="5400000" flipH="1">
              <a:off x="2718" y="1060"/>
              <a:ext cx="1042" cy="1548"/>
            </a:xfrm>
            <a:prstGeom prst="curvedConnector2">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35868" name="Text Box 125"/>
            <p:cNvSpPr txBox="1">
              <a:spLocks noChangeArrowheads="1"/>
            </p:cNvSpPr>
            <p:nvPr/>
          </p:nvSpPr>
          <p:spPr bwMode="auto">
            <a:xfrm>
              <a:off x="2517" y="938"/>
              <a:ext cx="1599"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1800">
                  <a:latin typeface="Helvetica" charset="0"/>
                </a:rPr>
                <a:t>??? Should inChangeTime transit back to inMain???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2000"/>
                                        <p:tgtEl>
                                          <p:spTgt spid="8"/>
                                        </p:tgtEl>
                                      </p:cBhvr>
                                    </p:animEffect>
                                    <p:set>
                                      <p:cBhvr>
                                        <p:cTn id="7" dur="1" fill="hold">
                                          <p:stCondLst>
                                            <p:cond delay="1999"/>
                                          </p:stCondLst>
                                        </p:cTn>
                                        <p:tgtEl>
                                          <p:spTgt spid="8"/>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1A3A4CF9-FCE4-4127-8A6B-979CDCFE5261}" type="slidenum">
              <a:rPr lang="en-US" altLang="en-US" sz="900" b="0">
                <a:solidFill>
                  <a:schemeClr val="tx1"/>
                </a:solidFill>
              </a:rPr>
              <a:pPr/>
              <a:t>25</a:t>
            </a:fld>
            <a:endParaRPr lang="en-US" altLang="en-US" sz="900" b="0">
              <a:solidFill>
                <a:schemeClr val="tx1"/>
              </a:solidFill>
            </a:endParaRPr>
          </a:p>
        </p:txBody>
      </p:sp>
      <p:sp>
        <p:nvSpPr>
          <p:cNvPr id="36868" name="Rectangle 2"/>
          <p:cNvSpPr>
            <a:spLocks noGrp="1" noChangeArrowheads="1"/>
          </p:cNvSpPr>
          <p:nvPr>
            <p:ph type="title"/>
          </p:nvPr>
        </p:nvSpPr>
        <p:spPr/>
        <p:txBody>
          <a:bodyPr/>
          <a:lstStyle/>
          <a:p>
            <a:r>
              <a:rPr lang="en-US" altLang="en-US"/>
              <a:t>3. Modeling State Variables</a:t>
            </a:r>
          </a:p>
        </p:txBody>
      </p:sp>
      <p:sp>
        <p:nvSpPr>
          <p:cNvPr id="36869" name="Rectangle 3"/>
          <p:cNvSpPr>
            <a:spLocks noGrp="1" noChangeArrowheads="1"/>
          </p:cNvSpPr>
          <p:nvPr>
            <p:ph type="body" idx="1"/>
          </p:nvPr>
        </p:nvSpPr>
        <p:spPr>
          <a:xfrm>
            <a:off x="1662114" y="1555750"/>
            <a:ext cx="8867775" cy="4845050"/>
          </a:xfrm>
        </p:spPr>
        <p:txBody>
          <a:bodyPr/>
          <a:lstStyle/>
          <a:p>
            <a:r>
              <a:rPr lang="en-US" altLang="en-US" b="0"/>
              <a:t>More </a:t>
            </a:r>
            <a:r>
              <a:rPr lang="en-US" altLang="en-US" b="0">
                <a:solidFill>
                  <a:schemeClr val="tx2"/>
                </a:solidFill>
              </a:rPr>
              <a:t>mechanical</a:t>
            </a:r>
          </a:p>
          <a:p>
            <a:r>
              <a:rPr lang="en-US" altLang="en-US" b="0">
                <a:solidFill>
                  <a:schemeClr val="tx2"/>
                </a:solidFill>
              </a:rPr>
              <a:t>State variables</a:t>
            </a:r>
            <a:r>
              <a:rPr lang="en-US" altLang="en-US" b="0"/>
              <a:t> are usually defined early</a:t>
            </a:r>
          </a:p>
          <a:p>
            <a:r>
              <a:rPr lang="en-US" altLang="en-US" b="0"/>
              <a:t>First </a:t>
            </a:r>
            <a:r>
              <a:rPr lang="en-US" altLang="en-US" b="0">
                <a:solidFill>
                  <a:schemeClr val="tx2"/>
                </a:solidFill>
              </a:rPr>
              <a:t>identify all state variables</a:t>
            </a:r>
            <a:r>
              <a:rPr lang="en-US" altLang="en-US" b="0"/>
              <a:t>, then choose which are relevant</a:t>
            </a:r>
          </a:p>
          <a:p>
            <a:r>
              <a:rPr lang="en-US" altLang="en-US" b="0"/>
              <a:t>In </a:t>
            </a:r>
            <a:r>
              <a:rPr lang="en-US" altLang="en-US" b="0">
                <a:solidFill>
                  <a:schemeClr val="tx2"/>
                </a:solidFill>
              </a:rPr>
              <a:t>theory</a:t>
            </a:r>
            <a:r>
              <a:rPr lang="en-US" altLang="en-US" b="0"/>
              <a:t>, every combination of values for the state variables defines a </a:t>
            </a:r>
            <a:r>
              <a:rPr lang="en-US" altLang="en-US" b="0">
                <a:solidFill>
                  <a:schemeClr val="tx2"/>
                </a:solidFill>
              </a:rPr>
              <a:t>different state</a:t>
            </a:r>
          </a:p>
          <a:p>
            <a:r>
              <a:rPr lang="en-US" altLang="en-US" b="0"/>
              <a:t>In </a:t>
            </a:r>
            <a:r>
              <a:rPr lang="en-US" altLang="en-US" b="0">
                <a:solidFill>
                  <a:schemeClr val="tx2"/>
                </a:solidFill>
              </a:rPr>
              <a:t>practice</a:t>
            </a:r>
            <a:r>
              <a:rPr lang="en-US" altLang="en-US" b="0"/>
              <a:t>, we must identify ranges, or </a:t>
            </a:r>
            <a:r>
              <a:rPr lang="en-US" altLang="en-US" b="0">
                <a:solidFill>
                  <a:schemeClr val="tx2"/>
                </a:solidFill>
              </a:rPr>
              <a:t>sets of values</a:t>
            </a:r>
            <a:r>
              <a:rPr lang="en-US" altLang="en-US" b="0"/>
              <a:t>, that are all in one state</a:t>
            </a:r>
          </a:p>
          <a:p>
            <a:r>
              <a:rPr lang="en-US" altLang="en-US" b="0"/>
              <a:t>Some states may </a:t>
            </a:r>
            <a:r>
              <a:rPr lang="en-US" altLang="en-US" b="0">
                <a:solidFill>
                  <a:schemeClr val="tx2"/>
                </a:solidFill>
              </a:rPr>
              <a:t>not</a:t>
            </a:r>
            <a:r>
              <a:rPr lang="en-US" altLang="en-US" b="0"/>
              <a:t> be feasible</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A6C5FFE-016B-4B84-B4E4-48307840A0B8}" type="slidenum">
              <a:rPr lang="en-US" altLang="en-US" sz="900" b="0">
                <a:solidFill>
                  <a:schemeClr val="tx1"/>
                </a:solidFill>
              </a:rPr>
              <a:pPr/>
              <a:t>26</a:t>
            </a:fld>
            <a:endParaRPr lang="en-US" altLang="en-US" sz="900" b="0">
              <a:solidFill>
                <a:schemeClr val="tx1"/>
              </a:solidFill>
            </a:endParaRPr>
          </a:p>
        </p:txBody>
      </p:sp>
      <p:sp>
        <p:nvSpPr>
          <p:cNvPr id="37892" name="Rectangle 2"/>
          <p:cNvSpPr>
            <a:spLocks noGrp="1" noChangeArrowheads="1"/>
          </p:cNvSpPr>
          <p:nvPr>
            <p:ph type="title"/>
          </p:nvPr>
        </p:nvSpPr>
        <p:spPr/>
        <p:txBody>
          <a:bodyPr/>
          <a:lstStyle/>
          <a:p>
            <a:r>
              <a:rPr lang="en-US" altLang="en-US"/>
              <a:t>State Variables in Watch</a:t>
            </a:r>
          </a:p>
        </p:txBody>
      </p:sp>
      <p:sp>
        <p:nvSpPr>
          <p:cNvPr id="37893" name="Rectangle 3"/>
          <p:cNvSpPr>
            <a:spLocks noGrp="1" noChangeArrowheads="1"/>
          </p:cNvSpPr>
          <p:nvPr>
            <p:ph type="body" idx="1"/>
          </p:nvPr>
        </p:nvSpPr>
        <p:spPr/>
        <p:txBody>
          <a:bodyPr/>
          <a:lstStyle/>
          <a:p>
            <a:pPr>
              <a:buFontTx/>
              <a:buNone/>
            </a:pPr>
            <a:r>
              <a:rPr lang="en-US" altLang="en-US" b="0" dirty="0">
                <a:solidFill>
                  <a:schemeClr val="tx2"/>
                </a:solidFill>
              </a:rPr>
              <a:t>Constants</a:t>
            </a:r>
          </a:p>
          <a:p>
            <a:r>
              <a:rPr lang="en-US" altLang="en-US" b="0" dirty="0"/>
              <a:t>NEXT, UP, DOWN</a:t>
            </a:r>
          </a:p>
          <a:p>
            <a:r>
              <a:rPr lang="en-US" altLang="en-US" b="0" dirty="0"/>
              <a:t>TIME, STOPWATCH, ALARM</a:t>
            </a:r>
          </a:p>
          <a:p>
            <a:pPr>
              <a:buFontTx/>
              <a:buNone/>
            </a:pPr>
            <a:endParaRPr lang="en-US" altLang="en-US" b="0" dirty="0">
              <a:solidFill>
                <a:schemeClr val="tx2"/>
              </a:solidFill>
            </a:endParaRPr>
          </a:p>
          <a:p>
            <a:pPr>
              <a:buFontTx/>
              <a:buNone/>
            </a:pPr>
            <a:r>
              <a:rPr lang="en-US" altLang="en-US" b="0" dirty="0">
                <a:solidFill>
                  <a:schemeClr val="tx2"/>
                </a:solidFill>
              </a:rPr>
              <a:t>Non-constant variables in class Watch</a:t>
            </a:r>
          </a:p>
          <a:p>
            <a:r>
              <a:rPr lang="en-US" altLang="en-US" b="0" dirty="0" err="1"/>
              <a:t>int</a:t>
            </a:r>
            <a:r>
              <a:rPr lang="en-US" altLang="en-US" b="0" dirty="0"/>
              <a:t> mode (values: TIME, STOPWATCH, ALARM)</a:t>
            </a:r>
          </a:p>
          <a:p>
            <a:r>
              <a:rPr lang="en-US" altLang="en-US" b="0" dirty="0"/>
              <a:t>Time watch, stopwatch, alarm</a:t>
            </a:r>
          </a:p>
        </p:txBody>
      </p:sp>
      <p:grpSp>
        <p:nvGrpSpPr>
          <p:cNvPr id="2" name="Group 9"/>
          <p:cNvGrpSpPr>
            <a:grpSpLocks/>
          </p:cNvGrpSpPr>
          <p:nvPr/>
        </p:nvGrpSpPr>
        <p:grpSpPr bwMode="auto">
          <a:xfrm>
            <a:off x="1916113" y="1589090"/>
            <a:ext cx="7392988" cy="830263"/>
            <a:chOff x="247" y="1001"/>
            <a:chExt cx="4657" cy="523"/>
          </a:xfrm>
        </p:grpSpPr>
        <p:sp>
          <p:nvSpPr>
            <p:cNvPr id="37902" name="Line 5"/>
            <p:cNvSpPr>
              <a:spLocks noChangeShapeType="1"/>
            </p:cNvSpPr>
            <p:nvPr/>
          </p:nvSpPr>
          <p:spPr bwMode="auto">
            <a:xfrm>
              <a:off x="247" y="1094"/>
              <a:ext cx="293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37903" name="Line 6"/>
            <p:cNvSpPr>
              <a:spLocks noChangeShapeType="1"/>
            </p:cNvSpPr>
            <p:nvPr/>
          </p:nvSpPr>
          <p:spPr bwMode="auto">
            <a:xfrm>
              <a:off x="247" y="1362"/>
              <a:ext cx="2930" cy="0"/>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sz="2400"/>
            </a:p>
          </p:txBody>
        </p:sp>
        <p:sp>
          <p:nvSpPr>
            <p:cNvPr id="37904" name="Text Box 8"/>
            <p:cNvSpPr txBox="1">
              <a:spLocks noChangeArrowheads="1"/>
            </p:cNvSpPr>
            <p:nvPr/>
          </p:nvSpPr>
          <p:spPr bwMode="auto">
            <a:xfrm>
              <a:off x="3182" y="1001"/>
              <a:ext cx="1722" cy="523"/>
            </a:xfrm>
            <a:prstGeom prst="rect">
              <a:avLst/>
            </a:prstGeom>
            <a:solidFill>
              <a:srgbClr val="0033CC"/>
            </a:solidFill>
            <a:ln w="19050">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dirty="0">
                  <a:latin typeface="Gill Sans MT" panose="020B0502020104020203" pitchFamily="34" charset="0"/>
                </a:rPr>
                <a:t>Not relevant, really just values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bwMode="auto">
          <a:xfrm>
            <a:off x="2727158" y="4598023"/>
            <a:ext cx="4969042" cy="806116"/>
          </a:xfrm>
          <a:prstGeom prst="roundRect">
            <a:avLst/>
          </a:prstGeom>
          <a:solidFill>
            <a:schemeClr val="bg1"/>
          </a:solidFill>
          <a:ln w="28575" cap="flat" cmpd="sng" algn="ctr">
            <a:solidFill>
              <a:srgbClr val="FFFF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a:p>
        </p:txBody>
      </p:sp>
      <p:sp>
        <p:nvSpPr>
          <p:cNvPr id="3789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A6C5FFE-016B-4B84-B4E4-48307840A0B8}" type="slidenum">
              <a:rPr lang="en-US" altLang="en-US" sz="900" b="0">
                <a:solidFill>
                  <a:schemeClr val="tx1"/>
                </a:solidFill>
              </a:rPr>
              <a:pPr/>
              <a:t>27</a:t>
            </a:fld>
            <a:endParaRPr lang="en-US" altLang="en-US" sz="900" b="0">
              <a:solidFill>
                <a:schemeClr val="tx1"/>
              </a:solidFill>
            </a:endParaRPr>
          </a:p>
        </p:txBody>
      </p:sp>
      <p:sp>
        <p:nvSpPr>
          <p:cNvPr id="37892" name="Rectangle 2"/>
          <p:cNvSpPr>
            <a:spLocks noGrp="1" noChangeArrowheads="1"/>
          </p:cNvSpPr>
          <p:nvPr>
            <p:ph type="title"/>
          </p:nvPr>
        </p:nvSpPr>
        <p:spPr/>
        <p:txBody>
          <a:bodyPr/>
          <a:lstStyle/>
          <a:p>
            <a:r>
              <a:rPr lang="en-US" altLang="en-US" dirty="0"/>
              <a:t>State Variables in Time</a:t>
            </a:r>
          </a:p>
        </p:txBody>
      </p:sp>
      <p:sp>
        <p:nvSpPr>
          <p:cNvPr id="37893" name="Rectangle 3"/>
          <p:cNvSpPr>
            <a:spLocks noGrp="1" noChangeArrowheads="1"/>
          </p:cNvSpPr>
          <p:nvPr>
            <p:ph type="body" idx="1"/>
          </p:nvPr>
        </p:nvSpPr>
        <p:spPr>
          <a:xfrm>
            <a:off x="1644650" y="955344"/>
            <a:ext cx="8867775" cy="1679573"/>
          </a:xfrm>
        </p:spPr>
        <p:txBody>
          <a:bodyPr/>
          <a:lstStyle/>
          <a:p>
            <a:pPr>
              <a:buFontTx/>
              <a:buNone/>
            </a:pPr>
            <a:r>
              <a:rPr lang="en-US" altLang="en-US" dirty="0">
                <a:solidFill>
                  <a:schemeClr val="tx2"/>
                </a:solidFill>
              </a:rPr>
              <a:t>Non-constant variables in class Time</a:t>
            </a:r>
            <a:endParaRPr lang="en-US" altLang="en-US" b="0" dirty="0">
              <a:solidFill>
                <a:schemeClr val="tx2"/>
              </a:solidFill>
            </a:endParaRPr>
          </a:p>
          <a:p>
            <a:r>
              <a:rPr lang="nb-NO" altLang="en-US" b="0" dirty="0"/>
              <a:t>int hour (values: 1..12) </a:t>
            </a:r>
          </a:p>
          <a:p>
            <a:r>
              <a:rPr lang="nb-NO" altLang="en-US" b="0" dirty="0"/>
              <a:t>int minute (values: 0 .. 59)</a:t>
            </a:r>
            <a:endParaRPr lang="en-US" altLang="en-US" b="0" dirty="0"/>
          </a:p>
        </p:txBody>
      </p:sp>
      <p:sp>
        <p:nvSpPr>
          <p:cNvPr id="12" name="Text Box 8"/>
          <p:cNvSpPr txBox="1">
            <a:spLocks noChangeArrowheads="1"/>
          </p:cNvSpPr>
          <p:nvPr/>
        </p:nvSpPr>
        <p:spPr bwMode="auto">
          <a:xfrm>
            <a:off x="6083968" y="1449612"/>
            <a:ext cx="4162928" cy="1015663"/>
          </a:xfrm>
          <a:prstGeom prst="rect">
            <a:avLst/>
          </a:prstGeom>
          <a:solidFill>
            <a:srgbClr val="0033CC"/>
          </a:solidFill>
          <a:ln w="19050">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solidFill>
                  <a:schemeClr val="tx1"/>
                </a:solidFill>
                <a:latin typeface="Gill Sans MT" panose="020B0502020104020203" pitchFamily="34" charset="0"/>
              </a:rPr>
              <a:t>12 X 60 values is 720 states</a:t>
            </a:r>
          </a:p>
          <a:p>
            <a:pPr algn="ctr">
              <a:spcBef>
                <a:spcPct val="50000"/>
              </a:spcBef>
            </a:pPr>
            <a:r>
              <a:rPr lang="en-US" altLang="en-US" sz="2400" dirty="0">
                <a:solidFill>
                  <a:schemeClr val="tx1"/>
                </a:solidFill>
                <a:latin typeface="Gill Sans MT" panose="020B0502020104020203" pitchFamily="34" charset="0"/>
              </a:rPr>
              <a:t>Clearly, that is too many</a:t>
            </a:r>
          </a:p>
        </p:txBody>
      </p:sp>
      <p:sp>
        <p:nvSpPr>
          <p:cNvPr id="13" name="Rectangle 3"/>
          <p:cNvSpPr txBox="1">
            <a:spLocks noChangeArrowheads="1"/>
          </p:cNvSpPr>
          <p:nvPr/>
        </p:nvSpPr>
        <p:spPr bwMode="auto">
          <a:xfrm>
            <a:off x="1644650" y="2579058"/>
            <a:ext cx="8701087" cy="214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pPr marL="0" indent="0">
              <a:buNone/>
            </a:pPr>
            <a:r>
              <a:rPr lang="en-US" altLang="en-US" kern="0" dirty="0"/>
              <a:t>Combine values into ranges of similar values :</a:t>
            </a:r>
          </a:p>
          <a:p>
            <a:r>
              <a:rPr lang="en-US" altLang="en-US" kern="0" dirty="0"/>
              <a:t>hour : 1.. 11, 12</a:t>
            </a:r>
          </a:p>
          <a:p>
            <a:r>
              <a:rPr lang="en-US" altLang="en-US" kern="0" dirty="0"/>
              <a:t>minute : 0, 1.. 59</a:t>
            </a:r>
          </a:p>
          <a:p>
            <a:pPr marL="0" indent="0">
              <a:buNone/>
            </a:pPr>
            <a:r>
              <a:rPr lang="en-US" altLang="en-US" kern="0" dirty="0"/>
              <a:t>Four states : (1..11, 0); (12, 0); (1..11, 1.. 59); (12, 1 .. 59)</a:t>
            </a:r>
          </a:p>
        </p:txBody>
      </p:sp>
      <p:sp>
        <p:nvSpPr>
          <p:cNvPr id="14" name="Text Box 8"/>
          <p:cNvSpPr txBox="1">
            <a:spLocks noChangeArrowheads="1"/>
          </p:cNvSpPr>
          <p:nvPr/>
        </p:nvSpPr>
        <p:spPr bwMode="auto">
          <a:xfrm>
            <a:off x="5107459" y="2998326"/>
            <a:ext cx="4970550" cy="1015663"/>
          </a:xfrm>
          <a:prstGeom prst="rect">
            <a:avLst/>
          </a:prstGeom>
          <a:solidFill>
            <a:srgbClr val="0033CC"/>
          </a:solidFill>
          <a:ln w="19050">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solidFill>
                  <a:schemeClr val="tx1"/>
                </a:solidFill>
                <a:latin typeface="Gill Sans MT" panose="020B0502020104020203" pitchFamily="34" charset="0"/>
              </a:rPr>
              <a:t>Clumsy ... Not sequential …</a:t>
            </a:r>
          </a:p>
          <a:p>
            <a:pPr algn="ctr">
              <a:spcBef>
                <a:spcPct val="50000"/>
              </a:spcBef>
            </a:pPr>
            <a:r>
              <a:rPr lang="en-US" altLang="en-US" sz="2400" dirty="0">
                <a:solidFill>
                  <a:schemeClr val="tx1"/>
                </a:solidFill>
                <a:latin typeface="Gill Sans MT" panose="020B0502020104020203" pitchFamily="34" charset="0"/>
              </a:rPr>
              <a:t>let’s combine hour and minute …</a:t>
            </a:r>
          </a:p>
        </p:txBody>
      </p:sp>
      <p:sp>
        <p:nvSpPr>
          <p:cNvPr id="16" name="Rectangle 3"/>
          <p:cNvSpPr txBox="1">
            <a:spLocks noChangeArrowheads="1"/>
          </p:cNvSpPr>
          <p:nvPr/>
        </p:nvSpPr>
        <p:spPr bwMode="auto">
          <a:xfrm>
            <a:off x="1648766" y="4720299"/>
            <a:ext cx="8701087" cy="561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pPr marL="0" indent="0">
              <a:buNone/>
            </a:pPr>
            <a:r>
              <a:rPr lang="en-US" altLang="en-US" kern="0" dirty="0"/>
              <a:t>Time : </a:t>
            </a:r>
            <a:r>
              <a:rPr lang="en-US" altLang="en-US" dirty="0"/>
              <a:t>12:00, 12:01..12:59,  01:00 .. 11:59</a:t>
            </a:r>
          </a:p>
        </p:txBody>
      </p:sp>
      <p:sp>
        <p:nvSpPr>
          <p:cNvPr id="20" name="Text Box 31"/>
          <p:cNvSpPr txBox="1">
            <a:spLocks noChangeArrowheads="1"/>
          </p:cNvSpPr>
          <p:nvPr/>
        </p:nvSpPr>
        <p:spPr bwMode="auto">
          <a:xfrm>
            <a:off x="7628830" y="4877044"/>
            <a:ext cx="2744788" cy="1323439"/>
          </a:xfrm>
          <a:prstGeom prst="rect">
            <a:avLst/>
          </a:prstGeom>
          <a:solidFill>
            <a:srgbClr val="0033CC"/>
          </a:solidFill>
          <a:ln w="28575">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a:latin typeface="Gill Sans MT" panose="020B0502020104020203" pitchFamily="34" charset="0"/>
              </a:rPr>
              <a:t>These require lots of thought and semantic domain knowledge of the program</a:t>
            </a:r>
          </a:p>
        </p:txBody>
      </p:sp>
    </p:spTree>
    <p:extLst>
      <p:ext uri="{BB962C8B-B14F-4D97-AF65-F5344CB8AC3E}">
        <p14:creationId xmlns:p14="http://schemas.microsoft.com/office/powerpoint/2010/main" val="3150948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2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0"/>
                                        <p:tgtEl>
                                          <p:spTgt spid="14"/>
                                        </p:tgtEl>
                                      </p:cBhvr>
                                    </p:animEffect>
                                  </p:childTnLst>
                                </p:cTn>
                              </p:par>
                            </p:childTnLst>
                          </p:cTn>
                        </p:par>
                        <p:par>
                          <p:cTn id="17" fill="hold">
                            <p:stCondLst>
                              <p:cond delay="2000"/>
                            </p:stCondLst>
                            <p:childTnLst>
                              <p:par>
                                <p:cTn id="18" presetID="22" presetClass="entr" presetSubtype="1"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20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2000"/>
                                        <p:tgtEl>
                                          <p:spTgt spid="3"/>
                                        </p:tgtEl>
                                      </p:cBhvr>
                                    </p:animEffect>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up)">
                                      <p:cBhvr>
                                        <p:cTn id="29"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p:bldP spid="14" grpId="0" animBg="1"/>
      <p:bldP spid="16" grpId="0"/>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FSMs</a:t>
            </a:r>
          </a:p>
        </p:txBody>
      </p:sp>
      <p:sp>
        <p:nvSpPr>
          <p:cNvPr id="3" name="Content Placeholder 2"/>
          <p:cNvSpPr>
            <a:spLocks noGrp="1"/>
          </p:cNvSpPr>
          <p:nvPr>
            <p:ph idx="1"/>
          </p:nvPr>
        </p:nvSpPr>
        <p:spPr>
          <a:xfrm>
            <a:off x="3052011" y="955344"/>
            <a:ext cx="6051885" cy="717046"/>
          </a:xfrm>
        </p:spPr>
        <p:txBody>
          <a:bodyPr/>
          <a:lstStyle/>
          <a:p>
            <a:pPr marL="0" indent="0" algn="ctr">
              <a:buNone/>
            </a:pPr>
            <a:r>
              <a:rPr lang="en-US" dirty="0"/>
              <a:t>One FSM is contained within the other</a:t>
            </a:r>
          </a:p>
        </p:txBody>
      </p:sp>
      <p:sp>
        <p:nvSpPr>
          <p:cNvPr id="6" name="Slide Number Placeholder 5"/>
          <p:cNvSpPr>
            <a:spLocks noGrp="1"/>
          </p:cNvSpPr>
          <p:nvPr>
            <p:ph type="sldNum" sz="quarter" idx="12"/>
          </p:nvPr>
        </p:nvSpPr>
        <p:spPr/>
        <p:txBody>
          <a:bodyPr/>
          <a:lstStyle/>
          <a:p>
            <a:pPr>
              <a:defRPr/>
            </a:pPr>
            <a:fld id="{106C561A-138D-4822-ABE8-5DC9241D8533}" type="slidenum">
              <a:rPr lang="en-US" smtClean="0"/>
              <a:pPr>
                <a:defRPr/>
              </a:pPr>
              <a:t>28</a:t>
            </a:fld>
            <a:endParaRPr lang="en-US"/>
          </a:p>
        </p:txBody>
      </p:sp>
      <p:sp>
        <p:nvSpPr>
          <p:cNvPr id="8" name="Oval 7"/>
          <p:cNvSpPr/>
          <p:nvPr/>
        </p:nvSpPr>
        <p:spPr bwMode="auto">
          <a:xfrm>
            <a:off x="5181696" y="2538664"/>
            <a:ext cx="926432" cy="926432"/>
          </a:xfrm>
          <a:prstGeom prst="ellipse">
            <a:avLst/>
          </a:prstGeom>
          <a:solidFill>
            <a:schemeClr val="bg1">
              <a:lumMod val="60000"/>
              <a:lumOff val="40000"/>
            </a:schemeClr>
          </a:solidFill>
          <a:ln w="5715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sz="2400" dirty="0">
                <a:latin typeface="Gill Sans MT" panose="020B0502020104020203" pitchFamily="34" charset="0"/>
              </a:rPr>
              <a:t>S1</a:t>
            </a:r>
            <a:endParaRPr lang="en-US" dirty="0">
              <a:latin typeface="Gill Sans MT" panose="020B0502020104020203" pitchFamily="34" charset="0"/>
            </a:endParaRPr>
          </a:p>
        </p:txBody>
      </p:sp>
      <p:sp>
        <p:nvSpPr>
          <p:cNvPr id="10" name="Oval 9"/>
          <p:cNvSpPr/>
          <p:nvPr/>
        </p:nvSpPr>
        <p:spPr bwMode="auto">
          <a:xfrm>
            <a:off x="7447643" y="3465096"/>
            <a:ext cx="2751222" cy="2418347"/>
          </a:xfrm>
          <a:prstGeom prst="ellipse">
            <a:avLst/>
          </a:prstGeom>
          <a:solidFill>
            <a:schemeClr val="bg1">
              <a:lumMod val="60000"/>
              <a:lumOff val="40000"/>
            </a:schemeClr>
          </a:solidFill>
          <a:ln w="5715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r>
              <a:rPr lang="en-US" sz="2400" dirty="0">
                <a:latin typeface="Gill Sans MT" panose="020B0502020104020203" pitchFamily="34" charset="0"/>
              </a:rPr>
              <a:t>S3</a:t>
            </a:r>
            <a:endParaRPr lang="en-US" dirty="0">
              <a:latin typeface="Gill Sans MT" panose="020B0502020104020203" pitchFamily="34" charset="0"/>
            </a:endParaRPr>
          </a:p>
        </p:txBody>
      </p:sp>
      <p:sp>
        <p:nvSpPr>
          <p:cNvPr id="11" name="Oval 10"/>
          <p:cNvSpPr/>
          <p:nvPr/>
        </p:nvSpPr>
        <p:spPr bwMode="auto">
          <a:xfrm>
            <a:off x="7447643" y="1612232"/>
            <a:ext cx="926432" cy="926432"/>
          </a:xfrm>
          <a:prstGeom prst="ellipse">
            <a:avLst/>
          </a:prstGeom>
          <a:solidFill>
            <a:schemeClr val="bg1">
              <a:lumMod val="60000"/>
              <a:lumOff val="40000"/>
            </a:schemeClr>
          </a:solidFill>
          <a:ln w="5715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sz="2400" dirty="0">
                <a:latin typeface="Gill Sans MT" panose="020B0502020104020203" pitchFamily="34" charset="0"/>
              </a:rPr>
              <a:t>S2</a:t>
            </a:r>
            <a:endParaRPr lang="en-US" dirty="0">
              <a:latin typeface="Gill Sans MT" panose="020B0502020104020203" pitchFamily="34" charset="0"/>
            </a:endParaRPr>
          </a:p>
        </p:txBody>
      </p:sp>
      <p:sp>
        <p:nvSpPr>
          <p:cNvPr id="12" name="Oval 11"/>
          <p:cNvSpPr/>
          <p:nvPr/>
        </p:nvSpPr>
        <p:spPr bwMode="auto">
          <a:xfrm>
            <a:off x="8698928" y="3753854"/>
            <a:ext cx="613611" cy="673769"/>
          </a:xfrm>
          <a:prstGeom prst="ellipse">
            <a:avLst/>
          </a:prstGeom>
          <a:solidFill>
            <a:schemeClr val="bg1">
              <a:lumMod val="20000"/>
              <a:lumOff val="80000"/>
            </a:schemeClr>
          </a:solidFill>
          <a:ln w="28575" cap="flat" cmpd="sng" algn="ctr">
            <a:solidFill>
              <a:srgbClr val="FFC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b="0" dirty="0">
                <a:solidFill>
                  <a:srgbClr val="000000"/>
                </a:solidFill>
                <a:latin typeface="Gill Sans MT" panose="020B0502020104020203" pitchFamily="34" charset="0"/>
              </a:rPr>
              <a:t>a</a:t>
            </a:r>
          </a:p>
        </p:txBody>
      </p:sp>
      <p:sp>
        <p:nvSpPr>
          <p:cNvPr id="13" name="Oval 12"/>
          <p:cNvSpPr/>
          <p:nvPr/>
        </p:nvSpPr>
        <p:spPr bwMode="auto">
          <a:xfrm>
            <a:off x="8209644" y="4674269"/>
            <a:ext cx="613611" cy="673769"/>
          </a:xfrm>
          <a:prstGeom prst="ellipse">
            <a:avLst/>
          </a:prstGeom>
          <a:solidFill>
            <a:schemeClr val="bg1">
              <a:lumMod val="20000"/>
              <a:lumOff val="80000"/>
            </a:schemeClr>
          </a:solidFill>
          <a:ln w="28575" cap="flat" cmpd="sng" algn="ctr">
            <a:solidFill>
              <a:srgbClr val="FFC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b="0" dirty="0">
                <a:solidFill>
                  <a:srgbClr val="000000"/>
                </a:solidFill>
                <a:latin typeface="Gill Sans MT" panose="020B0502020104020203" pitchFamily="34" charset="0"/>
              </a:rPr>
              <a:t>b</a:t>
            </a:r>
          </a:p>
        </p:txBody>
      </p:sp>
      <p:sp>
        <p:nvSpPr>
          <p:cNvPr id="14" name="Oval 13"/>
          <p:cNvSpPr/>
          <p:nvPr/>
        </p:nvSpPr>
        <p:spPr bwMode="auto">
          <a:xfrm>
            <a:off x="9312539" y="4674269"/>
            <a:ext cx="613611" cy="673769"/>
          </a:xfrm>
          <a:prstGeom prst="ellipse">
            <a:avLst/>
          </a:prstGeom>
          <a:solidFill>
            <a:schemeClr val="bg1">
              <a:lumMod val="20000"/>
              <a:lumOff val="80000"/>
            </a:schemeClr>
          </a:solidFill>
          <a:ln w="28575" cap="flat" cmpd="sng" algn="ctr">
            <a:solidFill>
              <a:srgbClr val="FFC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r>
              <a:rPr lang="en-US" b="0" dirty="0">
                <a:solidFill>
                  <a:srgbClr val="000000"/>
                </a:solidFill>
                <a:latin typeface="Gill Sans MT" panose="020B0502020104020203" pitchFamily="34" charset="0"/>
              </a:rPr>
              <a:t>c</a:t>
            </a:r>
          </a:p>
        </p:txBody>
      </p:sp>
      <p:cxnSp>
        <p:nvCxnSpPr>
          <p:cNvPr id="16" name="Straight Arrow Connector 15"/>
          <p:cNvCxnSpPr>
            <a:stCxn id="8" idx="6"/>
            <a:endCxn id="11" idx="3"/>
          </p:cNvCxnSpPr>
          <p:nvPr/>
        </p:nvCxnSpPr>
        <p:spPr bwMode="auto">
          <a:xfrm flipV="1">
            <a:off x="6108128" y="2402992"/>
            <a:ext cx="1475188" cy="598889"/>
          </a:xfrm>
          <a:prstGeom prst="straightConnector1">
            <a:avLst/>
          </a:prstGeom>
          <a:solidFill>
            <a:schemeClr val="accent1"/>
          </a:solidFill>
          <a:ln w="38100" cap="flat" cmpd="sng" algn="ctr">
            <a:solidFill>
              <a:schemeClr val="tx1"/>
            </a:solidFill>
            <a:prstDash val="solid"/>
            <a:round/>
            <a:headEnd type="none" w="sm" len="sm"/>
            <a:tailEnd type="arrow"/>
          </a:ln>
          <a:effectLst/>
        </p:spPr>
      </p:cxnSp>
      <p:cxnSp>
        <p:nvCxnSpPr>
          <p:cNvPr id="18" name="Straight Arrow Connector 17"/>
          <p:cNvCxnSpPr>
            <a:stCxn id="8" idx="5"/>
            <a:endCxn id="10" idx="2"/>
          </p:cNvCxnSpPr>
          <p:nvPr/>
        </p:nvCxnSpPr>
        <p:spPr bwMode="auto">
          <a:xfrm>
            <a:off x="5972455" y="3329423"/>
            <a:ext cx="1475188" cy="1344846"/>
          </a:xfrm>
          <a:prstGeom prst="straightConnector1">
            <a:avLst/>
          </a:prstGeom>
          <a:solidFill>
            <a:schemeClr val="accent1"/>
          </a:solidFill>
          <a:ln w="38100" cap="flat" cmpd="sng" algn="ctr">
            <a:solidFill>
              <a:schemeClr val="tx1"/>
            </a:solidFill>
            <a:prstDash val="solid"/>
            <a:round/>
            <a:headEnd type="none" w="sm" len="sm"/>
            <a:tailEnd type="arrow"/>
          </a:ln>
          <a:effectLst/>
        </p:spPr>
      </p:cxnSp>
      <p:cxnSp>
        <p:nvCxnSpPr>
          <p:cNvPr id="21" name="Straight Arrow Connector 20"/>
          <p:cNvCxnSpPr>
            <a:stCxn id="11" idx="5"/>
            <a:endCxn id="10" idx="0"/>
          </p:cNvCxnSpPr>
          <p:nvPr/>
        </p:nvCxnSpPr>
        <p:spPr bwMode="auto">
          <a:xfrm>
            <a:off x="8238402" y="2402991"/>
            <a:ext cx="584852" cy="1062104"/>
          </a:xfrm>
          <a:prstGeom prst="straightConnector1">
            <a:avLst/>
          </a:prstGeom>
          <a:solidFill>
            <a:schemeClr val="accent1"/>
          </a:solidFill>
          <a:ln w="38100" cap="flat" cmpd="sng" algn="ctr">
            <a:solidFill>
              <a:schemeClr val="tx1"/>
            </a:solidFill>
            <a:prstDash val="solid"/>
            <a:round/>
            <a:headEnd type="none" w="sm" len="sm"/>
            <a:tailEnd type="arrow"/>
          </a:ln>
          <a:effectLst/>
        </p:spPr>
      </p:cxnSp>
      <p:cxnSp>
        <p:nvCxnSpPr>
          <p:cNvPr id="22" name="Straight Arrow Connector 21"/>
          <p:cNvCxnSpPr>
            <a:endCxn id="11" idx="4"/>
          </p:cNvCxnSpPr>
          <p:nvPr/>
        </p:nvCxnSpPr>
        <p:spPr bwMode="auto">
          <a:xfrm flipH="1" flipV="1">
            <a:off x="7910860" y="2538664"/>
            <a:ext cx="116855" cy="1130968"/>
          </a:xfrm>
          <a:prstGeom prst="straightConnector1">
            <a:avLst/>
          </a:prstGeom>
          <a:solidFill>
            <a:schemeClr val="accent1"/>
          </a:solidFill>
          <a:ln w="38100" cap="flat" cmpd="sng" algn="ctr">
            <a:solidFill>
              <a:schemeClr val="tx1"/>
            </a:solidFill>
            <a:prstDash val="solid"/>
            <a:round/>
            <a:headEnd type="none" w="sm" len="sm"/>
            <a:tailEnd type="arrow"/>
          </a:ln>
          <a:effectLst/>
        </p:spPr>
      </p:cxnSp>
      <p:cxnSp>
        <p:nvCxnSpPr>
          <p:cNvPr id="28" name="Straight Arrow Connector 27"/>
          <p:cNvCxnSpPr>
            <a:stCxn id="13" idx="0"/>
            <a:endCxn id="12" idx="3"/>
          </p:cNvCxnSpPr>
          <p:nvPr/>
        </p:nvCxnSpPr>
        <p:spPr bwMode="auto">
          <a:xfrm flipV="1">
            <a:off x="8516450" y="4328952"/>
            <a:ext cx="272339" cy="345317"/>
          </a:xfrm>
          <a:prstGeom prst="straightConnector1">
            <a:avLst/>
          </a:prstGeom>
          <a:solidFill>
            <a:schemeClr val="accent1"/>
          </a:solidFill>
          <a:ln w="28575" cap="flat" cmpd="sng" algn="ctr">
            <a:solidFill>
              <a:srgbClr val="FFC000"/>
            </a:solidFill>
            <a:prstDash val="solid"/>
            <a:round/>
            <a:headEnd type="none" w="sm" len="sm"/>
            <a:tailEnd type="arrow"/>
          </a:ln>
          <a:effectLst/>
        </p:spPr>
      </p:cxnSp>
      <p:cxnSp>
        <p:nvCxnSpPr>
          <p:cNvPr id="29" name="Straight Arrow Connector 28"/>
          <p:cNvCxnSpPr>
            <a:stCxn id="14" idx="1"/>
            <a:endCxn id="12" idx="5"/>
          </p:cNvCxnSpPr>
          <p:nvPr/>
        </p:nvCxnSpPr>
        <p:spPr bwMode="auto">
          <a:xfrm flipH="1" flipV="1">
            <a:off x="9222677" y="4328951"/>
            <a:ext cx="179722" cy="443988"/>
          </a:xfrm>
          <a:prstGeom prst="straightConnector1">
            <a:avLst/>
          </a:prstGeom>
          <a:solidFill>
            <a:schemeClr val="accent1"/>
          </a:solidFill>
          <a:ln w="28575" cap="flat" cmpd="sng" algn="ctr">
            <a:solidFill>
              <a:srgbClr val="FFC000"/>
            </a:solidFill>
            <a:prstDash val="solid"/>
            <a:round/>
            <a:headEnd type="none" w="sm" len="sm"/>
            <a:tailEnd type="arrow"/>
          </a:ln>
          <a:effectLst/>
        </p:spPr>
      </p:cxnSp>
      <p:cxnSp>
        <p:nvCxnSpPr>
          <p:cNvPr id="30" name="Straight Arrow Connector 29"/>
          <p:cNvCxnSpPr>
            <a:stCxn id="13" idx="6"/>
            <a:endCxn id="14" idx="2"/>
          </p:cNvCxnSpPr>
          <p:nvPr/>
        </p:nvCxnSpPr>
        <p:spPr bwMode="auto">
          <a:xfrm>
            <a:off x="8823254" y="5011153"/>
            <a:ext cx="489284" cy="0"/>
          </a:xfrm>
          <a:prstGeom prst="straightConnector1">
            <a:avLst/>
          </a:prstGeom>
          <a:solidFill>
            <a:schemeClr val="accent1"/>
          </a:solidFill>
          <a:ln w="28575" cap="flat" cmpd="sng" algn="ctr">
            <a:solidFill>
              <a:srgbClr val="FFC000"/>
            </a:solidFill>
            <a:prstDash val="solid"/>
            <a:round/>
            <a:headEnd type="none" w="sm" len="sm"/>
            <a:tailEnd type="arrow"/>
          </a:ln>
          <a:effectLst/>
        </p:spPr>
      </p:cxnSp>
      <p:cxnSp>
        <p:nvCxnSpPr>
          <p:cNvPr id="35" name="Straight Arrow Connector 34"/>
          <p:cNvCxnSpPr/>
          <p:nvPr/>
        </p:nvCxnSpPr>
        <p:spPr bwMode="auto">
          <a:xfrm>
            <a:off x="7850551" y="5011153"/>
            <a:ext cx="354329" cy="0"/>
          </a:xfrm>
          <a:prstGeom prst="straightConnector1">
            <a:avLst/>
          </a:prstGeom>
          <a:solidFill>
            <a:schemeClr val="accent1"/>
          </a:solidFill>
          <a:ln w="28575" cap="flat" cmpd="sng" algn="ctr">
            <a:solidFill>
              <a:srgbClr val="FFC000"/>
            </a:solidFill>
            <a:prstDash val="solid"/>
            <a:round/>
            <a:headEnd type="none" w="sm" len="sm"/>
            <a:tailEnd type="arrow"/>
          </a:ln>
          <a:effectLst/>
        </p:spPr>
      </p:cxnSp>
      <p:cxnSp>
        <p:nvCxnSpPr>
          <p:cNvPr id="37" name="Straight Arrow Connector 36"/>
          <p:cNvCxnSpPr>
            <a:endCxn id="8" idx="0"/>
          </p:cNvCxnSpPr>
          <p:nvPr/>
        </p:nvCxnSpPr>
        <p:spPr bwMode="auto">
          <a:xfrm>
            <a:off x="5644912" y="2075448"/>
            <a:ext cx="0" cy="463216"/>
          </a:xfrm>
          <a:prstGeom prst="straightConnector1">
            <a:avLst/>
          </a:prstGeom>
          <a:solidFill>
            <a:schemeClr val="accent1"/>
          </a:solidFill>
          <a:ln w="38100" cap="flat" cmpd="sng" algn="ctr">
            <a:solidFill>
              <a:schemeClr val="tx1"/>
            </a:solidFill>
            <a:prstDash val="solid"/>
            <a:round/>
            <a:headEnd type="none" w="sm" len="sm"/>
            <a:tailEnd type="arrow"/>
          </a:ln>
          <a:effectLst/>
        </p:spPr>
      </p:cxnSp>
      <p:sp>
        <p:nvSpPr>
          <p:cNvPr id="41" name="Text Box 8"/>
          <p:cNvSpPr txBox="1">
            <a:spLocks noChangeArrowheads="1"/>
          </p:cNvSpPr>
          <p:nvPr/>
        </p:nvSpPr>
        <p:spPr bwMode="auto">
          <a:xfrm>
            <a:off x="1862587" y="1838839"/>
            <a:ext cx="2980490" cy="2123658"/>
          </a:xfrm>
          <a:prstGeom prst="rect">
            <a:avLst/>
          </a:prstGeom>
          <a:solidFill>
            <a:srgbClr val="0033CC"/>
          </a:solidFill>
          <a:ln w="19050">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latin typeface="Gill Sans MT" panose="020B0502020104020203" pitchFamily="34" charset="0"/>
              </a:rPr>
              <a:t>Class Watch uses class Time</a:t>
            </a:r>
          </a:p>
          <a:p>
            <a:pPr algn="ctr">
              <a:spcBef>
                <a:spcPct val="50000"/>
              </a:spcBef>
            </a:pPr>
            <a:r>
              <a:rPr lang="en-US" altLang="en-US" sz="2400" dirty="0">
                <a:latin typeface="Gill Sans MT" panose="020B0502020104020203" pitchFamily="34" charset="0"/>
              </a:rPr>
              <a:t>How can we model two classes—one that uses another?</a:t>
            </a:r>
          </a:p>
        </p:txBody>
      </p:sp>
    </p:spTree>
    <p:extLst>
      <p:ext uri="{BB962C8B-B14F-4D97-AF65-F5344CB8AC3E}">
        <p14:creationId xmlns:p14="http://schemas.microsoft.com/office/powerpoint/2010/main" val="13600280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20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2000"/>
                                        <p:tgtEl>
                                          <p:spTgt spid="3">
                                            <p:txEl>
                                              <p:pRg st="0" end="0"/>
                                            </p:txEl>
                                          </p:spTgt>
                                        </p:tgtEl>
                                      </p:cBhvr>
                                    </p:animEffect>
                                  </p:childTnLst>
                                </p:cTn>
                              </p:par>
                            </p:childTnLst>
                          </p:cTn>
                        </p:par>
                        <p:par>
                          <p:cTn id="13" fill="hold">
                            <p:stCondLst>
                              <p:cond delay="20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0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20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00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200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2000"/>
                                        <p:tgtEl>
                                          <p:spTgt spid="37"/>
                                        </p:tgtEl>
                                      </p:cBhvr>
                                    </p:animEffect>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20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20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2000"/>
                                        <p:tgtEl>
                                          <p:spTgt spid="1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2000"/>
                                        <p:tgtEl>
                                          <p:spTgt spid="35"/>
                                        </p:tgtEl>
                                      </p:cBhvr>
                                    </p:animEffect>
                                  </p:childTnLst>
                                </p:cTn>
                              </p:par>
                              <p:par>
                                <p:cTn id="51" presetID="10"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2000"/>
                                        <p:tgtEl>
                                          <p:spTgt spid="28"/>
                                        </p:tgtEl>
                                      </p:cBhvr>
                                    </p:animEffect>
                                  </p:childTnLst>
                                </p:cTn>
                              </p:par>
                              <p:par>
                                <p:cTn id="54" presetID="10" presetClass="entr" presetSubtype="0" fill="hold"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2000"/>
                                        <p:tgtEl>
                                          <p:spTgt spid="29"/>
                                        </p:tgtEl>
                                      </p:cBhvr>
                                    </p:animEffect>
                                  </p:childTnLst>
                                </p:cTn>
                              </p:par>
                              <p:par>
                                <p:cTn id="57" presetID="10"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10" grpId="0" animBg="1"/>
      <p:bldP spid="11" grpId="0" animBg="1"/>
      <p:bldP spid="12" grpId="0" animBg="1"/>
      <p:bldP spid="13" grpId="0" animBg="1"/>
      <p:bldP spid="14"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Watch / Time Hierarchical FSM</a:t>
            </a:r>
          </a:p>
        </p:txBody>
      </p:sp>
      <p:sp>
        <p:nvSpPr>
          <p:cNvPr id="5" name="Slide Number Placeholder 4"/>
          <p:cNvSpPr>
            <a:spLocks noGrp="1"/>
          </p:cNvSpPr>
          <p:nvPr>
            <p:ph type="sldNum" sz="quarter" idx="12"/>
          </p:nvPr>
        </p:nvSpPr>
        <p:spPr/>
        <p:txBody>
          <a:bodyPr/>
          <a:lstStyle/>
          <a:p>
            <a:pPr>
              <a:defRPr/>
            </a:pPr>
            <a:fld id="{8BB25BB3-F2AA-4438-8A3B-B04F71E3A257}" type="slidenum">
              <a:rPr lang="en-US" smtClean="0"/>
              <a:pPr>
                <a:defRPr/>
              </a:pPr>
              <a:t>29</a:t>
            </a:fld>
            <a:endParaRPr lang="en-US"/>
          </a:p>
        </p:txBody>
      </p:sp>
      <p:cxnSp>
        <p:nvCxnSpPr>
          <p:cNvPr id="79" name="Straight Arrow Connector 78"/>
          <p:cNvCxnSpPr>
            <a:stCxn id="147" idx="3"/>
            <a:endCxn id="176" idx="1"/>
          </p:cNvCxnSpPr>
          <p:nvPr/>
        </p:nvCxnSpPr>
        <p:spPr bwMode="auto">
          <a:xfrm>
            <a:off x="5703022" y="5245262"/>
            <a:ext cx="828419" cy="0"/>
          </a:xfrm>
          <a:prstGeom prst="straightConnector1">
            <a:avLst/>
          </a:prstGeom>
          <a:solidFill>
            <a:schemeClr val="accent1"/>
          </a:solidFill>
          <a:ln w="38100" cap="flat" cmpd="sng" algn="ctr">
            <a:solidFill>
              <a:schemeClr val="tx1"/>
            </a:solidFill>
            <a:prstDash val="solid"/>
            <a:round/>
            <a:headEnd type="none" w="sm" len="sm"/>
            <a:tailEnd type="arrow"/>
          </a:ln>
          <a:effectLst/>
        </p:spPr>
      </p:cxnSp>
      <p:sp>
        <p:nvSpPr>
          <p:cNvPr id="84" name="Text Box 122"/>
          <p:cNvSpPr txBox="1">
            <a:spLocks noChangeArrowheads="1"/>
          </p:cNvSpPr>
          <p:nvPr/>
        </p:nvSpPr>
        <p:spPr bwMode="auto">
          <a:xfrm rot="19883594">
            <a:off x="2934550" y="1992257"/>
            <a:ext cx="1011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solidFill>
                  <a:schemeClr val="tx2"/>
                </a:solidFill>
              </a:rPr>
              <a:t>next</a:t>
            </a:r>
          </a:p>
        </p:txBody>
      </p:sp>
      <p:sp>
        <p:nvSpPr>
          <p:cNvPr id="85" name="Text Box 122"/>
          <p:cNvSpPr txBox="1">
            <a:spLocks noChangeArrowheads="1"/>
          </p:cNvSpPr>
          <p:nvPr/>
        </p:nvSpPr>
        <p:spPr bwMode="auto">
          <a:xfrm rot="4296126">
            <a:off x="9101328" y="3133541"/>
            <a:ext cx="1011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solidFill>
                  <a:schemeClr val="tx2"/>
                </a:solidFill>
              </a:rPr>
              <a:t>next</a:t>
            </a:r>
          </a:p>
        </p:txBody>
      </p:sp>
      <p:sp>
        <p:nvSpPr>
          <p:cNvPr id="86" name="Text Box 122"/>
          <p:cNvSpPr txBox="1">
            <a:spLocks noChangeArrowheads="1"/>
          </p:cNvSpPr>
          <p:nvPr/>
        </p:nvSpPr>
        <p:spPr bwMode="auto">
          <a:xfrm>
            <a:off x="5512094" y="4844776"/>
            <a:ext cx="10118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400" dirty="0">
                <a:solidFill>
                  <a:schemeClr val="tx2"/>
                </a:solidFill>
              </a:rPr>
              <a:t>next</a:t>
            </a:r>
          </a:p>
        </p:txBody>
      </p:sp>
      <p:grpSp>
        <p:nvGrpSpPr>
          <p:cNvPr id="145" name="Group 144"/>
          <p:cNvGrpSpPr/>
          <p:nvPr/>
        </p:nvGrpSpPr>
        <p:grpSpPr>
          <a:xfrm>
            <a:off x="4058914" y="801962"/>
            <a:ext cx="4094489" cy="2814074"/>
            <a:chOff x="2534913" y="801962"/>
            <a:chExt cx="4094489" cy="2814074"/>
          </a:xfrm>
        </p:grpSpPr>
        <p:sp>
          <p:nvSpPr>
            <p:cNvPr id="6" name="AutoShape 4"/>
            <p:cNvSpPr>
              <a:spLocks noChangeArrowheads="1"/>
            </p:cNvSpPr>
            <p:nvPr/>
          </p:nvSpPr>
          <p:spPr bwMode="auto">
            <a:xfrm>
              <a:off x="2534913" y="801962"/>
              <a:ext cx="4094489" cy="2814074"/>
            </a:xfrm>
            <a:prstGeom prst="roundRect">
              <a:avLst>
                <a:gd name="adj" fmla="val 16667"/>
              </a:avLst>
            </a:prstGeom>
            <a:solidFill>
              <a:schemeClr val="bg1">
                <a:lumMod val="60000"/>
                <a:lumOff val="40000"/>
              </a:schemeClr>
            </a:solidFill>
            <a:ln w="38100">
              <a:solidFill>
                <a:srgbClr val="FFFF00"/>
              </a:solidFill>
              <a:round/>
              <a:headEnd type="none" w="sm" len="sm"/>
              <a:tailEnd type="none" w="sm" len="sm"/>
            </a:ln>
          </p:spPr>
          <p:txBody>
            <a:bodyPr wrap="none" anchor="t"/>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sz="2800" b="0" dirty="0">
                  <a:solidFill>
                    <a:schemeClr val="tx2"/>
                  </a:solidFill>
                  <a:latin typeface="Gill Sans MT" panose="020B0502020104020203" pitchFamily="34" charset="0"/>
                </a:rPr>
                <a:t>mode = TIME</a:t>
              </a:r>
            </a:p>
          </p:txBody>
        </p:sp>
        <p:sp>
          <p:nvSpPr>
            <p:cNvPr id="8" name="AutoShape 4"/>
            <p:cNvSpPr>
              <a:spLocks noChangeArrowheads="1"/>
            </p:cNvSpPr>
            <p:nvPr/>
          </p:nvSpPr>
          <p:spPr bwMode="auto">
            <a:xfrm>
              <a:off x="3843948" y="1455975"/>
              <a:ext cx="1475539" cy="549567"/>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12:00</a:t>
              </a:r>
            </a:p>
          </p:txBody>
        </p:sp>
        <p:sp>
          <p:nvSpPr>
            <p:cNvPr id="10" name="AutoShape 4"/>
            <p:cNvSpPr>
              <a:spLocks noChangeArrowheads="1"/>
            </p:cNvSpPr>
            <p:nvPr/>
          </p:nvSpPr>
          <p:spPr bwMode="auto">
            <a:xfrm>
              <a:off x="2833735" y="2728445"/>
              <a:ext cx="1475539" cy="5514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12:01 .. 12:59</a:t>
              </a:r>
            </a:p>
          </p:txBody>
        </p:sp>
        <p:sp>
          <p:nvSpPr>
            <p:cNvPr id="11" name="AutoShape 4"/>
            <p:cNvSpPr>
              <a:spLocks noChangeArrowheads="1"/>
            </p:cNvSpPr>
            <p:nvPr/>
          </p:nvSpPr>
          <p:spPr bwMode="auto">
            <a:xfrm>
              <a:off x="4855040" y="2728445"/>
              <a:ext cx="1475539" cy="5514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1:00 .. 11:59</a:t>
              </a:r>
            </a:p>
          </p:txBody>
        </p:sp>
        <p:cxnSp>
          <p:nvCxnSpPr>
            <p:cNvPr id="12" name="AutoShape 56"/>
            <p:cNvCxnSpPr>
              <a:cxnSpLocks noChangeShapeType="1"/>
              <a:endCxn id="10" idx="0"/>
            </p:cNvCxnSpPr>
            <p:nvPr/>
          </p:nvCxnSpPr>
          <p:spPr bwMode="auto">
            <a:xfrm flipH="1">
              <a:off x="3571505" y="2017524"/>
              <a:ext cx="424901" cy="71092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3" name="AutoShape 74"/>
            <p:cNvCxnSpPr>
              <a:cxnSpLocks noChangeShapeType="1"/>
              <a:endCxn id="8" idx="1"/>
            </p:cNvCxnSpPr>
            <p:nvPr/>
          </p:nvCxnSpPr>
          <p:spPr bwMode="auto">
            <a:xfrm flipV="1">
              <a:off x="3026240" y="1730759"/>
              <a:ext cx="817708" cy="99768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4" name="Text Box 122"/>
            <p:cNvSpPr txBox="1">
              <a:spLocks noChangeArrowheads="1"/>
            </p:cNvSpPr>
            <p:nvPr/>
          </p:nvSpPr>
          <p:spPr bwMode="auto">
            <a:xfrm>
              <a:off x="3539348" y="2016519"/>
              <a:ext cx="41549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sp>
          <p:nvSpPr>
            <p:cNvPr id="15" name="Text Box 125"/>
            <p:cNvSpPr txBox="1">
              <a:spLocks noChangeArrowheads="1"/>
            </p:cNvSpPr>
            <p:nvPr/>
          </p:nvSpPr>
          <p:spPr bwMode="auto">
            <a:xfrm rot="18518447">
              <a:off x="2736160" y="2306788"/>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20" name="AutoShape 56"/>
            <p:cNvCxnSpPr>
              <a:cxnSpLocks noChangeShapeType="1"/>
            </p:cNvCxnSpPr>
            <p:nvPr/>
          </p:nvCxnSpPr>
          <p:spPr bwMode="auto">
            <a:xfrm>
              <a:off x="4309274" y="2848715"/>
              <a:ext cx="545766" cy="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1" name="AutoShape 74"/>
            <p:cNvCxnSpPr>
              <a:cxnSpLocks noChangeShapeType="1"/>
            </p:cNvCxnSpPr>
            <p:nvPr/>
          </p:nvCxnSpPr>
          <p:spPr bwMode="auto">
            <a:xfrm flipH="1">
              <a:off x="4309274" y="3066371"/>
              <a:ext cx="545766" cy="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22" name="Text Box 122"/>
            <p:cNvSpPr txBox="1">
              <a:spLocks noChangeArrowheads="1"/>
            </p:cNvSpPr>
            <p:nvPr/>
          </p:nvSpPr>
          <p:spPr bwMode="auto">
            <a:xfrm>
              <a:off x="4030992" y="1897872"/>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23" name="Text Box 125"/>
            <p:cNvSpPr txBox="1">
              <a:spLocks noChangeArrowheads="1"/>
            </p:cNvSpPr>
            <p:nvPr/>
          </p:nvSpPr>
          <p:spPr bwMode="auto">
            <a:xfrm>
              <a:off x="4227894" y="2534117"/>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24" name="AutoShape 56"/>
            <p:cNvCxnSpPr>
              <a:cxnSpLocks noChangeShapeType="1"/>
              <a:stCxn id="8" idx="3"/>
            </p:cNvCxnSpPr>
            <p:nvPr/>
          </p:nvCxnSpPr>
          <p:spPr bwMode="auto">
            <a:xfrm>
              <a:off x="5319487" y="1730759"/>
              <a:ext cx="763555" cy="99768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25" name="AutoShape 74"/>
            <p:cNvCxnSpPr>
              <a:cxnSpLocks noChangeShapeType="1"/>
              <a:stCxn id="11" idx="0"/>
            </p:cNvCxnSpPr>
            <p:nvPr/>
          </p:nvCxnSpPr>
          <p:spPr bwMode="auto">
            <a:xfrm flipH="1" flipV="1">
              <a:off x="5158254" y="2013306"/>
              <a:ext cx="434556" cy="715139"/>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26" name="Text Box 122"/>
            <p:cNvSpPr txBox="1">
              <a:spLocks noChangeArrowheads="1"/>
            </p:cNvSpPr>
            <p:nvPr/>
          </p:nvSpPr>
          <p:spPr bwMode="auto">
            <a:xfrm rot="3073151">
              <a:off x="5177988" y="1646155"/>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27" name="Text Box 125"/>
            <p:cNvSpPr txBox="1">
              <a:spLocks noChangeArrowheads="1"/>
            </p:cNvSpPr>
            <p:nvPr/>
          </p:nvSpPr>
          <p:spPr bwMode="auto">
            <a:xfrm>
              <a:off x="5465231" y="2421492"/>
              <a:ext cx="41681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96" name="AutoShape 122"/>
            <p:cNvCxnSpPr>
              <a:cxnSpLocks noChangeShapeType="1"/>
            </p:cNvCxnSpPr>
            <p:nvPr/>
          </p:nvCxnSpPr>
          <p:spPr bwMode="auto">
            <a:xfrm rot="5400000" flipV="1">
              <a:off x="4984768" y="1254363"/>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98" name="AutoShape 111"/>
            <p:cNvCxnSpPr>
              <a:cxnSpLocks noChangeShapeType="1"/>
            </p:cNvCxnSpPr>
            <p:nvPr/>
          </p:nvCxnSpPr>
          <p:spPr bwMode="auto">
            <a:xfrm rot="16200000" flipH="1">
              <a:off x="4794900" y="1807598"/>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00" name="Text Box 125"/>
            <p:cNvSpPr txBox="1">
              <a:spLocks noChangeArrowheads="1"/>
            </p:cNvSpPr>
            <p:nvPr/>
          </p:nvSpPr>
          <p:spPr bwMode="auto">
            <a:xfrm>
              <a:off x="5044795" y="1073849"/>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17" name="AutoShape 122"/>
            <p:cNvCxnSpPr>
              <a:cxnSpLocks noChangeShapeType="1"/>
            </p:cNvCxnSpPr>
            <p:nvPr/>
          </p:nvCxnSpPr>
          <p:spPr bwMode="auto">
            <a:xfrm rot="5400000" flipV="1">
              <a:off x="4002883" y="2512104"/>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18" name="Text Box 125"/>
            <p:cNvSpPr txBox="1">
              <a:spLocks noChangeArrowheads="1"/>
            </p:cNvSpPr>
            <p:nvPr/>
          </p:nvSpPr>
          <p:spPr bwMode="auto">
            <a:xfrm>
              <a:off x="3835457" y="2224417"/>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19" name="AutoShape 122"/>
            <p:cNvCxnSpPr>
              <a:cxnSpLocks noChangeShapeType="1"/>
            </p:cNvCxnSpPr>
            <p:nvPr/>
          </p:nvCxnSpPr>
          <p:spPr bwMode="auto">
            <a:xfrm rot="5400000" flipV="1">
              <a:off x="5106422" y="2533583"/>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20" name="Text Box 125"/>
            <p:cNvSpPr txBox="1">
              <a:spLocks noChangeArrowheads="1"/>
            </p:cNvSpPr>
            <p:nvPr/>
          </p:nvSpPr>
          <p:spPr bwMode="auto">
            <a:xfrm>
              <a:off x="4623588" y="2419488"/>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sp>
          <p:nvSpPr>
            <p:cNvPr id="121" name="Text Box 122"/>
            <p:cNvSpPr txBox="1">
              <a:spLocks noChangeArrowheads="1"/>
            </p:cNvSpPr>
            <p:nvPr/>
          </p:nvSpPr>
          <p:spPr bwMode="auto">
            <a:xfrm>
              <a:off x="4277961" y="2971936"/>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139" name="Text Box 122"/>
            <p:cNvSpPr txBox="1">
              <a:spLocks noChangeArrowheads="1"/>
            </p:cNvSpPr>
            <p:nvPr/>
          </p:nvSpPr>
          <p:spPr bwMode="auto">
            <a:xfrm>
              <a:off x="3137140" y="3187111"/>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140" name="AutoShape 111"/>
            <p:cNvCxnSpPr>
              <a:cxnSpLocks noChangeShapeType="1"/>
            </p:cNvCxnSpPr>
            <p:nvPr/>
          </p:nvCxnSpPr>
          <p:spPr bwMode="auto">
            <a:xfrm rot="16200000" flipH="1">
              <a:off x="3901048" y="3088524"/>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41" name="Text Box 122"/>
            <p:cNvSpPr txBox="1">
              <a:spLocks noChangeArrowheads="1"/>
            </p:cNvSpPr>
            <p:nvPr/>
          </p:nvSpPr>
          <p:spPr bwMode="auto">
            <a:xfrm>
              <a:off x="5137694" y="3176931"/>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142" name="AutoShape 111"/>
            <p:cNvCxnSpPr>
              <a:cxnSpLocks noChangeShapeType="1"/>
            </p:cNvCxnSpPr>
            <p:nvPr/>
          </p:nvCxnSpPr>
          <p:spPr bwMode="auto">
            <a:xfrm rot="16200000" flipH="1">
              <a:off x="5893289" y="3086657"/>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46" name="Group 145"/>
          <p:cNvGrpSpPr/>
          <p:nvPr/>
        </p:nvGrpSpPr>
        <p:grpSpPr>
          <a:xfrm>
            <a:off x="1608533" y="3838225"/>
            <a:ext cx="4094489" cy="2814074"/>
            <a:chOff x="2534913" y="801962"/>
            <a:chExt cx="4094489" cy="2814074"/>
          </a:xfrm>
        </p:grpSpPr>
        <p:sp>
          <p:nvSpPr>
            <p:cNvPr id="147" name="AutoShape 4"/>
            <p:cNvSpPr>
              <a:spLocks noChangeArrowheads="1"/>
            </p:cNvSpPr>
            <p:nvPr/>
          </p:nvSpPr>
          <p:spPr bwMode="auto">
            <a:xfrm>
              <a:off x="2534913" y="801962"/>
              <a:ext cx="4094489" cy="2814074"/>
            </a:xfrm>
            <a:prstGeom prst="roundRect">
              <a:avLst>
                <a:gd name="adj" fmla="val 16667"/>
              </a:avLst>
            </a:prstGeom>
            <a:solidFill>
              <a:schemeClr val="bg1">
                <a:lumMod val="60000"/>
                <a:lumOff val="40000"/>
              </a:schemeClr>
            </a:solidFill>
            <a:ln w="38100">
              <a:solidFill>
                <a:srgbClr val="FFFF00"/>
              </a:solidFill>
              <a:round/>
              <a:headEnd type="none" w="sm" len="sm"/>
              <a:tailEnd type="none" w="sm" len="sm"/>
            </a:ln>
          </p:spPr>
          <p:txBody>
            <a:bodyPr wrap="none" anchor="t"/>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sz="2800" b="0" dirty="0">
                  <a:solidFill>
                    <a:schemeClr val="tx2"/>
                  </a:solidFill>
                  <a:latin typeface="Gill Sans MT" panose="020B0502020104020203" pitchFamily="34" charset="0"/>
                </a:rPr>
                <a:t>mode = STOPWATCH</a:t>
              </a:r>
            </a:p>
          </p:txBody>
        </p:sp>
        <p:sp>
          <p:nvSpPr>
            <p:cNvPr id="148" name="AutoShape 4"/>
            <p:cNvSpPr>
              <a:spLocks noChangeArrowheads="1"/>
            </p:cNvSpPr>
            <p:nvPr/>
          </p:nvSpPr>
          <p:spPr bwMode="auto">
            <a:xfrm>
              <a:off x="3843948" y="1455975"/>
              <a:ext cx="1475539" cy="549567"/>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12:00</a:t>
              </a:r>
            </a:p>
          </p:txBody>
        </p:sp>
        <p:sp>
          <p:nvSpPr>
            <p:cNvPr id="149" name="AutoShape 4"/>
            <p:cNvSpPr>
              <a:spLocks noChangeArrowheads="1"/>
            </p:cNvSpPr>
            <p:nvPr/>
          </p:nvSpPr>
          <p:spPr bwMode="auto">
            <a:xfrm>
              <a:off x="2833735" y="2728445"/>
              <a:ext cx="1475539" cy="5514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12:01 .. 12:59</a:t>
              </a:r>
            </a:p>
          </p:txBody>
        </p:sp>
        <p:sp>
          <p:nvSpPr>
            <p:cNvPr id="150" name="AutoShape 4"/>
            <p:cNvSpPr>
              <a:spLocks noChangeArrowheads="1"/>
            </p:cNvSpPr>
            <p:nvPr/>
          </p:nvSpPr>
          <p:spPr bwMode="auto">
            <a:xfrm>
              <a:off x="4855040" y="2728445"/>
              <a:ext cx="1475539" cy="5514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1:00 .. 11:59</a:t>
              </a:r>
            </a:p>
          </p:txBody>
        </p:sp>
        <p:cxnSp>
          <p:nvCxnSpPr>
            <p:cNvPr id="151" name="AutoShape 56"/>
            <p:cNvCxnSpPr>
              <a:cxnSpLocks noChangeShapeType="1"/>
              <a:endCxn id="149" idx="0"/>
            </p:cNvCxnSpPr>
            <p:nvPr/>
          </p:nvCxnSpPr>
          <p:spPr bwMode="auto">
            <a:xfrm flipH="1">
              <a:off x="3571505" y="2017524"/>
              <a:ext cx="424901" cy="71092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52" name="AutoShape 74"/>
            <p:cNvCxnSpPr>
              <a:cxnSpLocks noChangeShapeType="1"/>
              <a:endCxn id="148" idx="1"/>
            </p:cNvCxnSpPr>
            <p:nvPr/>
          </p:nvCxnSpPr>
          <p:spPr bwMode="auto">
            <a:xfrm flipV="1">
              <a:off x="3026240" y="1730759"/>
              <a:ext cx="817708" cy="99768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53" name="Text Box 122"/>
            <p:cNvSpPr txBox="1">
              <a:spLocks noChangeArrowheads="1"/>
            </p:cNvSpPr>
            <p:nvPr/>
          </p:nvSpPr>
          <p:spPr bwMode="auto">
            <a:xfrm>
              <a:off x="3539348" y="2016519"/>
              <a:ext cx="41549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sp>
          <p:nvSpPr>
            <p:cNvPr id="154" name="Text Box 125"/>
            <p:cNvSpPr txBox="1">
              <a:spLocks noChangeArrowheads="1"/>
            </p:cNvSpPr>
            <p:nvPr/>
          </p:nvSpPr>
          <p:spPr bwMode="auto">
            <a:xfrm rot="18518447">
              <a:off x="2736160" y="2306788"/>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155" name="AutoShape 56"/>
            <p:cNvCxnSpPr>
              <a:cxnSpLocks noChangeShapeType="1"/>
            </p:cNvCxnSpPr>
            <p:nvPr/>
          </p:nvCxnSpPr>
          <p:spPr bwMode="auto">
            <a:xfrm>
              <a:off x="4309274" y="2848715"/>
              <a:ext cx="545766" cy="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56" name="AutoShape 74"/>
            <p:cNvCxnSpPr>
              <a:cxnSpLocks noChangeShapeType="1"/>
            </p:cNvCxnSpPr>
            <p:nvPr/>
          </p:nvCxnSpPr>
          <p:spPr bwMode="auto">
            <a:xfrm flipH="1">
              <a:off x="4309274" y="3066371"/>
              <a:ext cx="545766" cy="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57" name="Text Box 122"/>
            <p:cNvSpPr txBox="1">
              <a:spLocks noChangeArrowheads="1"/>
            </p:cNvSpPr>
            <p:nvPr/>
          </p:nvSpPr>
          <p:spPr bwMode="auto">
            <a:xfrm>
              <a:off x="4030992" y="1897872"/>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158" name="Text Box 125"/>
            <p:cNvSpPr txBox="1">
              <a:spLocks noChangeArrowheads="1"/>
            </p:cNvSpPr>
            <p:nvPr/>
          </p:nvSpPr>
          <p:spPr bwMode="auto">
            <a:xfrm>
              <a:off x="4227894" y="2534117"/>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59" name="AutoShape 56"/>
            <p:cNvCxnSpPr>
              <a:cxnSpLocks noChangeShapeType="1"/>
              <a:stCxn id="148" idx="3"/>
            </p:cNvCxnSpPr>
            <p:nvPr/>
          </p:nvCxnSpPr>
          <p:spPr bwMode="auto">
            <a:xfrm>
              <a:off x="5319487" y="1730759"/>
              <a:ext cx="763555" cy="99768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60" name="AutoShape 74"/>
            <p:cNvCxnSpPr>
              <a:cxnSpLocks noChangeShapeType="1"/>
              <a:stCxn id="150" idx="0"/>
            </p:cNvCxnSpPr>
            <p:nvPr/>
          </p:nvCxnSpPr>
          <p:spPr bwMode="auto">
            <a:xfrm flipH="1" flipV="1">
              <a:off x="5158254" y="2013306"/>
              <a:ext cx="434556" cy="715139"/>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61" name="Text Box 122"/>
            <p:cNvSpPr txBox="1">
              <a:spLocks noChangeArrowheads="1"/>
            </p:cNvSpPr>
            <p:nvPr/>
          </p:nvSpPr>
          <p:spPr bwMode="auto">
            <a:xfrm rot="3073151">
              <a:off x="5177988" y="1646155"/>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162" name="Text Box 125"/>
            <p:cNvSpPr txBox="1">
              <a:spLocks noChangeArrowheads="1"/>
            </p:cNvSpPr>
            <p:nvPr/>
          </p:nvSpPr>
          <p:spPr bwMode="auto">
            <a:xfrm>
              <a:off x="5465231" y="2421492"/>
              <a:ext cx="41681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63" name="AutoShape 122"/>
            <p:cNvCxnSpPr>
              <a:cxnSpLocks noChangeShapeType="1"/>
            </p:cNvCxnSpPr>
            <p:nvPr/>
          </p:nvCxnSpPr>
          <p:spPr bwMode="auto">
            <a:xfrm rot="5400000" flipV="1">
              <a:off x="4984768" y="1254363"/>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64" name="AutoShape 111"/>
            <p:cNvCxnSpPr>
              <a:cxnSpLocks noChangeShapeType="1"/>
            </p:cNvCxnSpPr>
            <p:nvPr/>
          </p:nvCxnSpPr>
          <p:spPr bwMode="auto">
            <a:xfrm rot="16200000" flipH="1">
              <a:off x="4794900" y="1807598"/>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65" name="Text Box 125"/>
            <p:cNvSpPr txBox="1">
              <a:spLocks noChangeArrowheads="1"/>
            </p:cNvSpPr>
            <p:nvPr/>
          </p:nvSpPr>
          <p:spPr bwMode="auto">
            <a:xfrm>
              <a:off x="5044795" y="1073849"/>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66" name="AutoShape 122"/>
            <p:cNvCxnSpPr>
              <a:cxnSpLocks noChangeShapeType="1"/>
            </p:cNvCxnSpPr>
            <p:nvPr/>
          </p:nvCxnSpPr>
          <p:spPr bwMode="auto">
            <a:xfrm rot="5400000" flipV="1">
              <a:off x="4002883" y="2512104"/>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67" name="Text Box 125"/>
            <p:cNvSpPr txBox="1">
              <a:spLocks noChangeArrowheads="1"/>
            </p:cNvSpPr>
            <p:nvPr/>
          </p:nvSpPr>
          <p:spPr bwMode="auto">
            <a:xfrm>
              <a:off x="3835457" y="2224417"/>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68" name="AutoShape 122"/>
            <p:cNvCxnSpPr>
              <a:cxnSpLocks noChangeShapeType="1"/>
            </p:cNvCxnSpPr>
            <p:nvPr/>
          </p:nvCxnSpPr>
          <p:spPr bwMode="auto">
            <a:xfrm rot="5400000" flipV="1">
              <a:off x="5106422" y="2533583"/>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69" name="Text Box 125"/>
            <p:cNvSpPr txBox="1">
              <a:spLocks noChangeArrowheads="1"/>
            </p:cNvSpPr>
            <p:nvPr/>
          </p:nvSpPr>
          <p:spPr bwMode="auto">
            <a:xfrm>
              <a:off x="4623588" y="2419488"/>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sp>
          <p:nvSpPr>
            <p:cNvPr id="170" name="Text Box 122"/>
            <p:cNvSpPr txBox="1">
              <a:spLocks noChangeArrowheads="1"/>
            </p:cNvSpPr>
            <p:nvPr/>
          </p:nvSpPr>
          <p:spPr bwMode="auto">
            <a:xfrm>
              <a:off x="4277961" y="2971936"/>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171" name="Text Box 122"/>
            <p:cNvSpPr txBox="1">
              <a:spLocks noChangeArrowheads="1"/>
            </p:cNvSpPr>
            <p:nvPr/>
          </p:nvSpPr>
          <p:spPr bwMode="auto">
            <a:xfrm>
              <a:off x="3137140" y="3187111"/>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172" name="AutoShape 111"/>
            <p:cNvCxnSpPr>
              <a:cxnSpLocks noChangeShapeType="1"/>
            </p:cNvCxnSpPr>
            <p:nvPr/>
          </p:nvCxnSpPr>
          <p:spPr bwMode="auto">
            <a:xfrm rot="16200000" flipH="1">
              <a:off x="3901048" y="3088524"/>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73" name="Text Box 122"/>
            <p:cNvSpPr txBox="1">
              <a:spLocks noChangeArrowheads="1"/>
            </p:cNvSpPr>
            <p:nvPr/>
          </p:nvSpPr>
          <p:spPr bwMode="auto">
            <a:xfrm>
              <a:off x="5137694" y="3176931"/>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174" name="AutoShape 111"/>
            <p:cNvCxnSpPr>
              <a:cxnSpLocks noChangeShapeType="1"/>
            </p:cNvCxnSpPr>
            <p:nvPr/>
          </p:nvCxnSpPr>
          <p:spPr bwMode="auto">
            <a:xfrm rot="16200000" flipH="1">
              <a:off x="5893289" y="3086657"/>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75" name="Group 174"/>
          <p:cNvGrpSpPr/>
          <p:nvPr/>
        </p:nvGrpSpPr>
        <p:grpSpPr>
          <a:xfrm>
            <a:off x="6531441" y="3838225"/>
            <a:ext cx="4094489" cy="2814074"/>
            <a:chOff x="2534913" y="801962"/>
            <a:chExt cx="4094489" cy="2814074"/>
          </a:xfrm>
        </p:grpSpPr>
        <p:sp>
          <p:nvSpPr>
            <p:cNvPr id="176" name="AutoShape 4"/>
            <p:cNvSpPr>
              <a:spLocks noChangeArrowheads="1"/>
            </p:cNvSpPr>
            <p:nvPr/>
          </p:nvSpPr>
          <p:spPr bwMode="auto">
            <a:xfrm>
              <a:off x="2534913" y="801962"/>
              <a:ext cx="4094489" cy="2814074"/>
            </a:xfrm>
            <a:prstGeom prst="roundRect">
              <a:avLst>
                <a:gd name="adj" fmla="val 16667"/>
              </a:avLst>
            </a:prstGeom>
            <a:solidFill>
              <a:schemeClr val="bg1">
                <a:lumMod val="60000"/>
                <a:lumOff val="40000"/>
              </a:schemeClr>
            </a:solidFill>
            <a:ln w="38100">
              <a:solidFill>
                <a:srgbClr val="FFFF00"/>
              </a:solidFill>
              <a:round/>
              <a:headEnd type="none" w="sm" len="sm"/>
              <a:tailEnd type="none" w="sm" len="sm"/>
            </a:ln>
          </p:spPr>
          <p:txBody>
            <a:bodyPr wrap="none" anchor="t"/>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altLang="en-US" sz="2800" b="0" dirty="0">
                  <a:solidFill>
                    <a:schemeClr val="tx2"/>
                  </a:solidFill>
                  <a:latin typeface="Gill Sans MT" panose="020B0502020104020203" pitchFamily="34" charset="0"/>
                </a:rPr>
                <a:t>mode = ALARM</a:t>
              </a:r>
            </a:p>
          </p:txBody>
        </p:sp>
        <p:sp>
          <p:nvSpPr>
            <p:cNvPr id="177" name="AutoShape 4"/>
            <p:cNvSpPr>
              <a:spLocks noChangeArrowheads="1"/>
            </p:cNvSpPr>
            <p:nvPr/>
          </p:nvSpPr>
          <p:spPr bwMode="auto">
            <a:xfrm>
              <a:off x="3843948" y="1455975"/>
              <a:ext cx="1475539" cy="549567"/>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12:00</a:t>
              </a:r>
            </a:p>
          </p:txBody>
        </p:sp>
        <p:sp>
          <p:nvSpPr>
            <p:cNvPr id="178" name="AutoShape 4"/>
            <p:cNvSpPr>
              <a:spLocks noChangeArrowheads="1"/>
            </p:cNvSpPr>
            <p:nvPr/>
          </p:nvSpPr>
          <p:spPr bwMode="auto">
            <a:xfrm>
              <a:off x="2833735" y="2728445"/>
              <a:ext cx="1475539" cy="5514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12:01 .. 12:59</a:t>
              </a:r>
            </a:p>
          </p:txBody>
        </p:sp>
        <p:sp>
          <p:nvSpPr>
            <p:cNvPr id="179" name="AutoShape 4"/>
            <p:cNvSpPr>
              <a:spLocks noChangeArrowheads="1"/>
            </p:cNvSpPr>
            <p:nvPr/>
          </p:nvSpPr>
          <p:spPr bwMode="auto">
            <a:xfrm>
              <a:off x="4855040" y="2728445"/>
              <a:ext cx="1475539" cy="551400"/>
            </a:xfrm>
            <a:prstGeom prst="roundRect">
              <a:avLst>
                <a:gd name="adj" fmla="val 16667"/>
              </a:avLst>
            </a:prstGeom>
            <a:solidFill>
              <a:srgbClr val="0033CC"/>
            </a:solidFill>
            <a:ln w="12700">
              <a:solidFill>
                <a:schemeClr val="tx1"/>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r>
                <a:rPr lang="en-US" altLang="en-US" b="0" dirty="0">
                  <a:solidFill>
                    <a:schemeClr val="tx1"/>
                  </a:solidFill>
                  <a:latin typeface="Gill Sans MT" panose="020B0502020104020203" pitchFamily="34" charset="0"/>
                </a:rPr>
                <a:t>h : m =</a:t>
              </a:r>
            </a:p>
            <a:p>
              <a:pPr algn="ctr"/>
              <a:r>
                <a:rPr lang="en-US" altLang="en-US" b="0" dirty="0">
                  <a:solidFill>
                    <a:schemeClr val="tx1"/>
                  </a:solidFill>
                  <a:latin typeface="Gill Sans MT" panose="020B0502020104020203" pitchFamily="34" charset="0"/>
                </a:rPr>
                <a:t>1:00 .. 11:59</a:t>
              </a:r>
            </a:p>
          </p:txBody>
        </p:sp>
        <p:cxnSp>
          <p:nvCxnSpPr>
            <p:cNvPr id="180" name="AutoShape 56"/>
            <p:cNvCxnSpPr>
              <a:cxnSpLocks noChangeShapeType="1"/>
              <a:endCxn id="178" idx="0"/>
            </p:cNvCxnSpPr>
            <p:nvPr/>
          </p:nvCxnSpPr>
          <p:spPr bwMode="auto">
            <a:xfrm flipH="1">
              <a:off x="3571505" y="2017524"/>
              <a:ext cx="424901" cy="71092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1" name="AutoShape 74"/>
            <p:cNvCxnSpPr>
              <a:cxnSpLocks noChangeShapeType="1"/>
              <a:endCxn id="177" idx="1"/>
            </p:cNvCxnSpPr>
            <p:nvPr/>
          </p:nvCxnSpPr>
          <p:spPr bwMode="auto">
            <a:xfrm flipV="1">
              <a:off x="3026240" y="1730759"/>
              <a:ext cx="817708" cy="99768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82" name="Text Box 122"/>
            <p:cNvSpPr txBox="1">
              <a:spLocks noChangeArrowheads="1"/>
            </p:cNvSpPr>
            <p:nvPr/>
          </p:nvSpPr>
          <p:spPr bwMode="auto">
            <a:xfrm>
              <a:off x="3539348" y="2016519"/>
              <a:ext cx="41549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sp>
          <p:nvSpPr>
            <p:cNvPr id="183" name="Text Box 125"/>
            <p:cNvSpPr txBox="1">
              <a:spLocks noChangeArrowheads="1"/>
            </p:cNvSpPr>
            <p:nvPr/>
          </p:nvSpPr>
          <p:spPr bwMode="auto">
            <a:xfrm rot="18518447">
              <a:off x="2736160" y="2306788"/>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184" name="AutoShape 56"/>
            <p:cNvCxnSpPr>
              <a:cxnSpLocks noChangeShapeType="1"/>
            </p:cNvCxnSpPr>
            <p:nvPr/>
          </p:nvCxnSpPr>
          <p:spPr bwMode="auto">
            <a:xfrm>
              <a:off x="4309274" y="2848715"/>
              <a:ext cx="545766" cy="0"/>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5" name="AutoShape 74"/>
            <p:cNvCxnSpPr>
              <a:cxnSpLocks noChangeShapeType="1"/>
            </p:cNvCxnSpPr>
            <p:nvPr/>
          </p:nvCxnSpPr>
          <p:spPr bwMode="auto">
            <a:xfrm flipH="1">
              <a:off x="4309274" y="3066371"/>
              <a:ext cx="545766" cy="1"/>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86" name="Text Box 122"/>
            <p:cNvSpPr txBox="1">
              <a:spLocks noChangeArrowheads="1"/>
            </p:cNvSpPr>
            <p:nvPr/>
          </p:nvSpPr>
          <p:spPr bwMode="auto">
            <a:xfrm>
              <a:off x="4030992" y="1897872"/>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187" name="Text Box 125"/>
            <p:cNvSpPr txBox="1">
              <a:spLocks noChangeArrowheads="1"/>
            </p:cNvSpPr>
            <p:nvPr/>
          </p:nvSpPr>
          <p:spPr bwMode="auto">
            <a:xfrm>
              <a:off x="4227894" y="2534117"/>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88" name="AutoShape 56"/>
            <p:cNvCxnSpPr>
              <a:cxnSpLocks noChangeShapeType="1"/>
              <a:stCxn id="177" idx="3"/>
            </p:cNvCxnSpPr>
            <p:nvPr/>
          </p:nvCxnSpPr>
          <p:spPr bwMode="auto">
            <a:xfrm>
              <a:off x="5319487" y="1730759"/>
              <a:ext cx="763555" cy="997686"/>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9" name="AutoShape 74"/>
            <p:cNvCxnSpPr>
              <a:cxnSpLocks noChangeShapeType="1"/>
              <a:stCxn id="179" idx="0"/>
            </p:cNvCxnSpPr>
            <p:nvPr/>
          </p:nvCxnSpPr>
          <p:spPr bwMode="auto">
            <a:xfrm flipH="1" flipV="1">
              <a:off x="5158254" y="2013306"/>
              <a:ext cx="434556" cy="715139"/>
            </a:xfrm>
            <a:prstGeom prst="straightConnector1">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90" name="Text Box 122"/>
            <p:cNvSpPr txBox="1">
              <a:spLocks noChangeArrowheads="1"/>
            </p:cNvSpPr>
            <p:nvPr/>
          </p:nvSpPr>
          <p:spPr bwMode="auto">
            <a:xfrm rot="3073151">
              <a:off x="5177988" y="1646155"/>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191" name="Text Box 125"/>
            <p:cNvSpPr txBox="1">
              <a:spLocks noChangeArrowheads="1"/>
            </p:cNvSpPr>
            <p:nvPr/>
          </p:nvSpPr>
          <p:spPr bwMode="auto">
            <a:xfrm>
              <a:off x="5465231" y="2421492"/>
              <a:ext cx="41681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92" name="AutoShape 122"/>
            <p:cNvCxnSpPr>
              <a:cxnSpLocks noChangeShapeType="1"/>
            </p:cNvCxnSpPr>
            <p:nvPr/>
          </p:nvCxnSpPr>
          <p:spPr bwMode="auto">
            <a:xfrm rot="5400000" flipV="1">
              <a:off x="4984768" y="1254363"/>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cxnSp>
          <p:nvCxnSpPr>
            <p:cNvPr id="193" name="AutoShape 111"/>
            <p:cNvCxnSpPr>
              <a:cxnSpLocks noChangeShapeType="1"/>
            </p:cNvCxnSpPr>
            <p:nvPr/>
          </p:nvCxnSpPr>
          <p:spPr bwMode="auto">
            <a:xfrm rot="16200000" flipH="1">
              <a:off x="4794900" y="1807598"/>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194" name="Text Box 125"/>
            <p:cNvSpPr txBox="1">
              <a:spLocks noChangeArrowheads="1"/>
            </p:cNvSpPr>
            <p:nvPr/>
          </p:nvSpPr>
          <p:spPr bwMode="auto">
            <a:xfrm>
              <a:off x="5044795" y="1073849"/>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95" name="AutoShape 122"/>
            <p:cNvCxnSpPr>
              <a:cxnSpLocks noChangeShapeType="1"/>
            </p:cNvCxnSpPr>
            <p:nvPr/>
          </p:nvCxnSpPr>
          <p:spPr bwMode="auto">
            <a:xfrm rot="5400000" flipV="1">
              <a:off x="4002883" y="2512104"/>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96" name="Text Box 125"/>
            <p:cNvSpPr txBox="1">
              <a:spLocks noChangeArrowheads="1"/>
            </p:cNvSpPr>
            <p:nvPr/>
          </p:nvSpPr>
          <p:spPr bwMode="auto">
            <a:xfrm>
              <a:off x="3835457" y="2224417"/>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cxnSp>
          <p:nvCxnSpPr>
            <p:cNvPr id="197" name="AutoShape 122"/>
            <p:cNvCxnSpPr>
              <a:cxnSpLocks noChangeShapeType="1"/>
            </p:cNvCxnSpPr>
            <p:nvPr/>
          </p:nvCxnSpPr>
          <p:spPr bwMode="auto">
            <a:xfrm rot="5400000" flipV="1">
              <a:off x="5106422" y="2533583"/>
              <a:ext cx="1588" cy="401637"/>
            </a:xfrm>
            <a:prstGeom prst="curvedConnector3">
              <a:avLst>
                <a:gd name="adj1" fmla="val -13368262"/>
              </a:avLst>
            </a:prstGeom>
            <a:noFill/>
            <a:ln w="19050">
              <a:solidFill>
                <a:schemeClr val="tx1"/>
              </a:solidFill>
              <a:round/>
              <a:headEnd type="none" w="med" len="med"/>
              <a:tailEnd type="triangle" w="med" len="med"/>
            </a:ln>
            <a:extLst>
              <a:ext uri="{909E8E84-426E-40DD-AFC4-6F175D3DCCD1}">
                <a14:hiddenFill xmlns:a14="http://schemas.microsoft.com/office/drawing/2010/main">
                  <a:noFill/>
                </a14:hiddenFill>
              </a:ext>
            </a:extLst>
          </p:spPr>
        </p:cxnSp>
        <p:sp>
          <p:nvSpPr>
            <p:cNvPr id="198" name="Text Box 125"/>
            <p:cNvSpPr txBox="1">
              <a:spLocks noChangeArrowheads="1"/>
            </p:cNvSpPr>
            <p:nvPr/>
          </p:nvSpPr>
          <p:spPr bwMode="auto">
            <a:xfrm>
              <a:off x="4623588" y="2419488"/>
              <a:ext cx="4181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up</a:t>
              </a:r>
            </a:p>
          </p:txBody>
        </p:sp>
        <p:sp>
          <p:nvSpPr>
            <p:cNvPr id="199" name="Text Box 122"/>
            <p:cNvSpPr txBox="1">
              <a:spLocks noChangeArrowheads="1"/>
            </p:cNvSpPr>
            <p:nvPr/>
          </p:nvSpPr>
          <p:spPr bwMode="auto">
            <a:xfrm>
              <a:off x="4277961" y="2971936"/>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sp>
          <p:nvSpPr>
            <p:cNvPr id="200" name="Text Box 122"/>
            <p:cNvSpPr txBox="1">
              <a:spLocks noChangeArrowheads="1"/>
            </p:cNvSpPr>
            <p:nvPr/>
          </p:nvSpPr>
          <p:spPr bwMode="auto">
            <a:xfrm>
              <a:off x="3137140" y="3187111"/>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201" name="AutoShape 111"/>
            <p:cNvCxnSpPr>
              <a:cxnSpLocks noChangeShapeType="1"/>
            </p:cNvCxnSpPr>
            <p:nvPr/>
          </p:nvCxnSpPr>
          <p:spPr bwMode="auto">
            <a:xfrm rot="16200000" flipH="1">
              <a:off x="3901048" y="3088524"/>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202" name="Text Box 122"/>
            <p:cNvSpPr txBox="1">
              <a:spLocks noChangeArrowheads="1"/>
            </p:cNvSpPr>
            <p:nvPr/>
          </p:nvSpPr>
          <p:spPr bwMode="auto">
            <a:xfrm>
              <a:off x="5137694" y="3176931"/>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600" dirty="0">
                  <a:solidFill>
                    <a:schemeClr val="tx1"/>
                  </a:solidFill>
                </a:rPr>
                <a:t>down</a:t>
              </a:r>
            </a:p>
          </p:txBody>
        </p:sp>
        <p:cxnSp>
          <p:nvCxnSpPr>
            <p:cNvPr id="203" name="AutoShape 111"/>
            <p:cNvCxnSpPr>
              <a:cxnSpLocks noChangeShapeType="1"/>
            </p:cNvCxnSpPr>
            <p:nvPr/>
          </p:nvCxnSpPr>
          <p:spPr bwMode="auto">
            <a:xfrm rot="16200000" flipH="1">
              <a:off x="5893289" y="3086657"/>
              <a:ext cx="1588" cy="401637"/>
            </a:xfrm>
            <a:prstGeom prst="curvedConnector3">
              <a:avLst>
                <a:gd name="adj1" fmla="val 16361965"/>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cxnSp>
        <p:nvCxnSpPr>
          <p:cNvPr id="209" name="Curved Connector 208"/>
          <p:cNvCxnSpPr>
            <a:endCxn id="6" idx="3"/>
          </p:cNvCxnSpPr>
          <p:nvPr/>
        </p:nvCxnSpPr>
        <p:spPr bwMode="auto">
          <a:xfrm rot="16200000" flipV="1">
            <a:off x="8020796" y="2341606"/>
            <a:ext cx="1629226" cy="1364013"/>
          </a:xfrm>
          <a:prstGeom prst="curvedConnector2">
            <a:avLst/>
          </a:prstGeom>
          <a:solidFill>
            <a:schemeClr val="accent1"/>
          </a:solidFill>
          <a:ln w="38100" cap="flat" cmpd="sng" algn="ctr">
            <a:solidFill>
              <a:schemeClr val="tx1"/>
            </a:solidFill>
            <a:prstDash val="solid"/>
            <a:round/>
            <a:headEnd type="none" w="sm" len="sm"/>
            <a:tailEnd type="arrow"/>
          </a:ln>
          <a:effectLst/>
        </p:spPr>
      </p:cxnSp>
      <p:cxnSp>
        <p:nvCxnSpPr>
          <p:cNvPr id="211" name="Curved Connector 210"/>
          <p:cNvCxnSpPr>
            <a:endCxn id="6" idx="1"/>
          </p:cNvCxnSpPr>
          <p:nvPr/>
        </p:nvCxnSpPr>
        <p:spPr bwMode="auto">
          <a:xfrm rot="5400000" flipH="1" flipV="1">
            <a:off x="2537405" y="2316719"/>
            <a:ext cx="1629226" cy="1413789"/>
          </a:xfrm>
          <a:prstGeom prst="curvedConnector2">
            <a:avLst/>
          </a:prstGeom>
          <a:solidFill>
            <a:schemeClr val="accent1"/>
          </a:solidFill>
          <a:ln w="38100" cap="flat" cmpd="sng" algn="ctr">
            <a:solidFill>
              <a:schemeClr val="tx1"/>
            </a:solidFill>
            <a:prstDash val="solid"/>
            <a:round/>
            <a:headEnd type="arrow" w="med" len="med"/>
            <a:tailEnd type="none" w="med" len="med"/>
          </a:ln>
          <a:effectLst/>
        </p:spPr>
      </p:cxnSp>
    </p:spTree>
    <p:extLst>
      <p:ext uri="{BB962C8B-B14F-4D97-AF65-F5344CB8AC3E}">
        <p14:creationId xmlns:p14="http://schemas.microsoft.com/office/powerpoint/2010/main" val="39442851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2000"/>
                                        <p:tgtEl>
                                          <p:spTgt spid="84"/>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left)">
                                      <p:cBhvr>
                                        <p:cTn id="11" dur="2000"/>
                                        <p:tgtEl>
                                          <p:spTgt spid="7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6"/>
                                        </p:tgtEl>
                                        <p:attrNameLst>
                                          <p:attrName>style.visibility</p:attrName>
                                        </p:attrNameLst>
                                      </p:cBhvr>
                                      <p:to>
                                        <p:strVal val="visible"/>
                                      </p:to>
                                    </p:set>
                                    <p:animEffect transition="in" filter="wipe(left)">
                                      <p:cBhvr>
                                        <p:cTn id="14" dur="2000"/>
                                        <p:tgtEl>
                                          <p:spTgt spid="86"/>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left)">
                                      <p:cBhvr>
                                        <p:cTn id="17" dur="2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P spid="8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06CE259B-ED95-4D6C-9541-CA685F14579E}" type="slidenum">
              <a:rPr lang="en-US" altLang="en-US" sz="900" b="0">
                <a:solidFill>
                  <a:schemeClr val="tx1"/>
                </a:solidFill>
              </a:rPr>
              <a:pPr/>
              <a:t>30</a:t>
            </a:fld>
            <a:endParaRPr lang="en-US" altLang="en-US" sz="900" b="0">
              <a:solidFill>
                <a:schemeClr val="tx1"/>
              </a:solidFill>
            </a:endParaRPr>
          </a:p>
        </p:txBody>
      </p:sp>
      <p:sp>
        <p:nvSpPr>
          <p:cNvPr id="43012" name="Rectangle 2"/>
          <p:cNvSpPr>
            <a:spLocks noGrp="1" noChangeArrowheads="1"/>
          </p:cNvSpPr>
          <p:nvPr>
            <p:ph type="title"/>
          </p:nvPr>
        </p:nvSpPr>
        <p:spPr>
          <a:xfrm>
            <a:off x="1609344" y="96839"/>
            <a:ext cx="8985504" cy="1246187"/>
          </a:xfrm>
        </p:spPr>
        <p:txBody>
          <a:bodyPr/>
          <a:lstStyle/>
          <a:p>
            <a:r>
              <a:rPr lang="en-US" altLang="en-US" dirty="0"/>
              <a:t>Summary–Tradeoffs in Applying Graph Coverage Criteria to FSMs</a:t>
            </a:r>
          </a:p>
        </p:txBody>
      </p:sp>
      <p:sp>
        <p:nvSpPr>
          <p:cNvPr id="43013" name="Rectangle 3"/>
          <p:cNvSpPr>
            <a:spLocks noGrp="1" noChangeArrowheads="1"/>
          </p:cNvSpPr>
          <p:nvPr>
            <p:ph type="body" idx="1"/>
          </p:nvPr>
        </p:nvSpPr>
        <p:spPr>
          <a:xfrm>
            <a:off x="1686498" y="1280160"/>
            <a:ext cx="8867775" cy="4876800"/>
          </a:xfrm>
        </p:spPr>
        <p:txBody>
          <a:bodyPr/>
          <a:lstStyle/>
          <a:p>
            <a:pPr marL="457200" indent="-457200"/>
            <a:r>
              <a:rPr lang="en-US" altLang="en-US" dirty="0"/>
              <a:t>Two </a:t>
            </a:r>
            <a:r>
              <a:rPr lang="en-US" altLang="en-US" dirty="0">
                <a:solidFill>
                  <a:schemeClr val="tx2"/>
                </a:solidFill>
              </a:rPr>
              <a:t>advantages</a:t>
            </a:r>
          </a:p>
          <a:p>
            <a:pPr marL="838200" lvl="1" indent="-381000">
              <a:buFontTx/>
              <a:buAutoNum type="arabicPeriod"/>
            </a:pPr>
            <a:r>
              <a:rPr lang="en-US" altLang="en-US" dirty="0"/>
              <a:t>Tests can be designed </a:t>
            </a:r>
            <a:r>
              <a:rPr lang="en-US" altLang="en-US" dirty="0">
                <a:solidFill>
                  <a:schemeClr val="tx2"/>
                </a:solidFill>
              </a:rPr>
              <a:t>before</a:t>
            </a:r>
            <a:r>
              <a:rPr lang="en-US" altLang="en-US" dirty="0"/>
              <a:t> implementation</a:t>
            </a:r>
          </a:p>
          <a:p>
            <a:pPr marL="838200" lvl="1" indent="-381000">
              <a:buFontTx/>
              <a:buAutoNum type="arabicPeriod"/>
            </a:pPr>
            <a:r>
              <a:rPr lang="en-US" altLang="en-US" dirty="0"/>
              <a:t>Analyzing FSMs is much easier than analyzing source</a:t>
            </a:r>
          </a:p>
          <a:p>
            <a:pPr marL="838200" lvl="1" indent="-381000"/>
            <a:endParaRPr lang="en-US" altLang="en-US" dirty="0"/>
          </a:p>
          <a:p>
            <a:pPr marL="457200" indent="-457200"/>
            <a:r>
              <a:rPr lang="en-US" altLang="en-US" dirty="0"/>
              <a:t>Three </a:t>
            </a:r>
            <a:r>
              <a:rPr lang="en-US" altLang="en-US" dirty="0">
                <a:solidFill>
                  <a:schemeClr val="tx2"/>
                </a:solidFill>
              </a:rPr>
              <a:t>disadvantages</a:t>
            </a:r>
          </a:p>
          <a:p>
            <a:pPr marL="838200" lvl="1" indent="-381000">
              <a:buFontTx/>
              <a:buAutoNum type="arabicPeriod"/>
            </a:pPr>
            <a:r>
              <a:rPr lang="en-US" altLang="en-US" dirty="0"/>
              <a:t>Some implementation decisions are not modeled in the FSM</a:t>
            </a:r>
          </a:p>
          <a:p>
            <a:pPr marL="838200" lvl="1" indent="-381000">
              <a:buFontTx/>
              <a:buAutoNum type="arabicPeriod"/>
            </a:pPr>
            <a:r>
              <a:rPr lang="en-US" altLang="en-US" dirty="0"/>
              <a:t>There is some variation in the results because of the subjective nature of deriving FSMs</a:t>
            </a:r>
          </a:p>
          <a:p>
            <a:pPr marL="838200" lvl="1" indent="-381000">
              <a:buFontTx/>
              <a:buAutoNum type="arabicPeriod"/>
            </a:pPr>
            <a:r>
              <a:rPr lang="en-US" altLang="en-US" dirty="0"/>
              <a:t>Tests have to be “mapped” to actual inputs to the program – the names that appear in the FSM may not be the same as the names in the program</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zh-CN" dirty="0"/>
              <a:t>Chapter 2 Graph Coverage</a:t>
            </a:r>
            <a:br>
              <a:rPr lang="en-US" dirty="0"/>
            </a:br>
            <a:br>
              <a:rPr lang="en-US" dirty="0"/>
            </a:br>
            <a:endParaRPr lang="en-US" sz="3200" dirty="0"/>
          </a:p>
        </p:txBody>
      </p:sp>
      <p:sp>
        <p:nvSpPr>
          <p:cNvPr id="2051" name="Rectangle 3"/>
          <p:cNvSpPr>
            <a:spLocks noGrp="1" noChangeArrowheads="1"/>
          </p:cNvSpPr>
          <p:nvPr>
            <p:ph type="subTitle" idx="1"/>
          </p:nvPr>
        </p:nvSpPr>
        <p:spPr/>
        <p:txBody>
          <a:bodyPr/>
          <a:lstStyle/>
          <a:p>
            <a:pPr>
              <a:lnSpc>
                <a:spcPct val="100000"/>
              </a:lnSpc>
              <a:spcBef>
                <a:spcPct val="0"/>
              </a:spcBef>
              <a:buSzTx/>
            </a:pPr>
            <a:r>
              <a:rPr lang="en-US" altLang="zh-CN" sz="3200" dirty="0"/>
              <a:t>3.6 Graph Coverage for Use Cases</a:t>
            </a:r>
            <a:endParaRPr lang="en-US" b="0"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Slide Number Placeholder 5"/>
          <p:cNvSpPr>
            <a:spLocks noGrp="1"/>
          </p:cNvSpPr>
          <p:nvPr>
            <p:ph type="sldNum" sz="quarter" idx="12"/>
          </p:nvPr>
        </p:nvSpPr>
        <p:spPr>
          <a:noFill/>
        </p:spPr>
        <p:txBody>
          <a:bodyPr/>
          <a:lstStyle/>
          <a:p>
            <a:fld id="{6DD50F56-223C-4328-A224-1942D4D9939C}" type="slidenum">
              <a:rPr lang="en-US" smtClean="0"/>
              <a:pPr/>
              <a:t>32</a:t>
            </a:fld>
            <a:endParaRPr lang="en-US"/>
          </a:p>
        </p:txBody>
      </p:sp>
      <p:sp>
        <p:nvSpPr>
          <p:cNvPr id="3077" name="Rectangle 2"/>
          <p:cNvSpPr>
            <a:spLocks noGrp="1" noChangeArrowheads="1"/>
          </p:cNvSpPr>
          <p:nvPr>
            <p:ph type="title"/>
          </p:nvPr>
        </p:nvSpPr>
        <p:spPr/>
        <p:txBody>
          <a:bodyPr/>
          <a:lstStyle/>
          <a:p>
            <a:r>
              <a:rPr lang="en-US"/>
              <a:t>UML Use Cases</a:t>
            </a:r>
          </a:p>
        </p:txBody>
      </p:sp>
      <p:sp>
        <p:nvSpPr>
          <p:cNvPr id="3078" name="Rectangle 3"/>
          <p:cNvSpPr>
            <a:spLocks noGrp="1" noChangeArrowheads="1"/>
          </p:cNvSpPr>
          <p:nvPr>
            <p:ph type="body" idx="1"/>
          </p:nvPr>
        </p:nvSpPr>
        <p:spPr/>
        <p:txBody>
          <a:bodyPr/>
          <a:lstStyle/>
          <a:p>
            <a:r>
              <a:rPr lang="en-US" dirty="0"/>
              <a:t>UML use cases are often used to express </a:t>
            </a:r>
            <a:r>
              <a:rPr lang="en-US" dirty="0">
                <a:solidFill>
                  <a:schemeClr val="tx2"/>
                </a:solidFill>
              </a:rPr>
              <a:t>software requirements</a:t>
            </a:r>
          </a:p>
          <a:p>
            <a:endParaRPr lang="en-US" dirty="0"/>
          </a:p>
          <a:p>
            <a:r>
              <a:rPr lang="en-US" dirty="0"/>
              <a:t>They help express computer application </a:t>
            </a:r>
            <a:r>
              <a:rPr lang="en-US" dirty="0">
                <a:solidFill>
                  <a:schemeClr val="tx2"/>
                </a:solidFill>
              </a:rPr>
              <a:t>workflow</a:t>
            </a:r>
          </a:p>
          <a:p>
            <a:endParaRPr lang="en-US" dirty="0"/>
          </a:p>
          <a:p>
            <a:r>
              <a:rPr lang="en-US" dirty="0"/>
              <a:t>We won’t teach use cases, but show </a:t>
            </a:r>
            <a:r>
              <a:rPr lang="en-US" dirty="0">
                <a:solidFill>
                  <a:schemeClr val="tx2"/>
                </a:solidFill>
              </a:rPr>
              <a:t>examples</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Slide Number Placeholder 5"/>
          <p:cNvSpPr>
            <a:spLocks noGrp="1"/>
          </p:cNvSpPr>
          <p:nvPr>
            <p:ph type="sldNum" sz="quarter" idx="12"/>
          </p:nvPr>
        </p:nvSpPr>
        <p:spPr>
          <a:noFill/>
        </p:spPr>
        <p:txBody>
          <a:bodyPr/>
          <a:lstStyle/>
          <a:p>
            <a:fld id="{42C3BE25-D71A-4F75-8415-ED3C936FD962}" type="slidenum">
              <a:rPr lang="en-US" smtClean="0"/>
              <a:pPr/>
              <a:t>33</a:t>
            </a:fld>
            <a:endParaRPr lang="en-US"/>
          </a:p>
        </p:txBody>
      </p:sp>
      <p:sp>
        <p:nvSpPr>
          <p:cNvPr id="4101" name="Rectangle 21"/>
          <p:cNvSpPr>
            <a:spLocks noChangeArrowheads="1"/>
          </p:cNvSpPr>
          <p:nvPr/>
        </p:nvSpPr>
        <p:spPr bwMode="auto">
          <a:xfrm>
            <a:off x="6005514" y="966587"/>
            <a:ext cx="2541587" cy="2733675"/>
          </a:xfrm>
          <a:prstGeom prst="rect">
            <a:avLst/>
          </a:prstGeom>
          <a:solidFill>
            <a:srgbClr val="0000CC"/>
          </a:solidFill>
          <a:ln w="19050">
            <a:solidFill>
              <a:schemeClr val="tx1"/>
            </a:solidFill>
            <a:miter lim="800000"/>
            <a:headEnd type="none" w="sm" len="sm"/>
            <a:tailEnd type="none" w="sm" len="sm"/>
          </a:ln>
        </p:spPr>
        <p:txBody>
          <a:bodyPr wrap="none" anchor="ctr"/>
          <a:lstStyle/>
          <a:p>
            <a:endParaRPr lang="en-US"/>
          </a:p>
        </p:txBody>
      </p:sp>
      <p:sp>
        <p:nvSpPr>
          <p:cNvPr id="4102" name="Rectangle 2"/>
          <p:cNvSpPr>
            <a:spLocks noGrp="1" noChangeArrowheads="1"/>
          </p:cNvSpPr>
          <p:nvPr>
            <p:ph type="title"/>
          </p:nvPr>
        </p:nvSpPr>
        <p:spPr/>
        <p:txBody>
          <a:bodyPr/>
          <a:lstStyle/>
          <a:p>
            <a:r>
              <a:rPr lang="en-US"/>
              <a:t>Simple Use Case Example</a:t>
            </a:r>
          </a:p>
        </p:txBody>
      </p:sp>
      <p:sp>
        <p:nvSpPr>
          <p:cNvPr id="4103" name="Rectangle 3"/>
          <p:cNvSpPr>
            <a:spLocks noGrp="1" noChangeArrowheads="1"/>
          </p:cNvSpPr>
          <p:nvPr>
            <p:ph type="body" idx="1"/>
          </p:nvPr>
        </p:nvSpPr>
        <p:spPr>
          <a:xfrm>
            <a:off x="1638300" y="3746298"/>
            <a:ext cx="8915400" cy="2153058"/>
          </a:xfrm>
        </p:spPr>
        <p:txBody>
          <a:bodyPr/>
          <a:lstStyle/>
          <a:p>
            <a:pPr>
              <a:lnSpc>
                <a:spcPct val="80000"/>
              </a:lnSpc>
              <a:spcAft>
                <a:spcPts val="1200"/>
              </a:spcAft>
            </a:pPr>
            <a:r>
              <a:rPr lang="en-US" dirty="0">
                <a:solidFill>
                  <a:schemeClr val="tx2"/>
                </a:solidFill>
              </a:rPr>
              <a:t>Actors</a:t>
            </a:r>
            <a:r>
              <a:rPr lang="en-US" dirty="0"/>
              <a:t> : Humans or software components that use the software being modeled</a:t>
            </a:r>
          </a:p>
          <a:p>
            <a:pPr>
              <a:lnSpc>
                <a:spcPct val="80000"/>
              </a:lnSpc>
              <a:spcAft>
                <a:spcPts val="1200"/>
              </a:spcAft>
            </a:pPr>
            <a:r>
              <a:rPr lang="en-US" dirty="0">
                <a:solidFill>
                  <a:schemeClr val="tx2"/>
                </a:solidFill>
              </a:rPr>
              <a:t>Use cases</a:t>
            </a:r>
            <a:r>
              <a:rPr lang="en-US" dirty="0"/>
              <a:t> : Shown as circles or ovals</a:t>
            </a:r>
          </a:p>
          <a:p>
            <a:pPr>
              <a:lnSpc>
                <a:spcPct val="80000"/>
              </a:lnSpc>
              <a:spcAft>
                <a:spcPts val="1200"/>
              </a:spcAft>
            </a:pPr>
            <a:r>
              <a:rPr lang="en-US" dirty="0">
                <a:solidFill>
                  <a:schemeClr val="tx2"/>
                </a:solidFill>
              </a:rPr>
              <a:t>Node Coverage</a:t>
            </a:r>
            <a:r>
              <a:rPr lang="en-US" dirty="0"/>
              <a:t> : Try each use case once …</a:t>
            </a:r>
          </a:p>
        </p:txBody>
      </p:sp>
      <p:grpSp>
        <p:nvGrpSpPr>
          <p:cNvPr id="4104" name="Group 11"/>
          <p:cNvGrpSpPr>
            <a:grpSpLocks/>
          </p:cNvGrpSpPr>
          <p:nvPr/>
        </p:nvGrpSpPr>
        <p:grpSpPr bwMode="auto">
          <a:xfrm>
            <a:off x="4127501" y="1817487"/>
            <a:ext cx="614363" cy="1030287"/>
            <a:chOff x="1235" y="978"/>
            <a:chExt cx="387" cy="649"/>
          </a:xfrm>
        </p:grpSpPr>
        <p:sp>
          <p:nvSpPr>
            <p:cNvPr id="4120" name="Oval 4"/>
            <p:cNvSpPr>
              <a:spLocks noChangeArrowheads="1"/>
            </p:cNvSpPr>
            <p:nvPr/>
          </p:nvSpPr>
          <p:spPr bwMode="auto">
            <a:xfrm>
              <a:off x="1353" y="978"/>
              <a:ext cx="151" cy="129"/>
            </a:xfrm>
            <a:prstGeom prst="ellipse">
              <a:avLst/>
            </a:prstGeom>
            <a:noFill/>
            <a:ln w="19050">
              <a:solidFill>
                <a:schemeClr val="tx1"/>
              </a:solidFill>
              <a:round/>
              <a:headEnd type="none" w="sm" len="sm"/>
              <a:tailEnd type="none" w="sm" len="sm"/>
            </a:ln>
          </p:spPr>
          <p:txBody>
            <a:bodyPr wrap="none" anchor="ctr"/>
            <a:lstStyle/>
            <a:p>
              <a:endParaRPr lang="en-US"/>
            </a:p>
          </p:txBody>
        </p:sp>
        <p:sp>
          <p:nvSpPr>
            <p:cNvPr id="4121" name="Line 5"/>
            <p:cNvSpPr>
              <a:spLocks noChangeShapeType="1"/>
            </p:cNvSpPr>
            <p:nvPr/>
          </p:nvSpPr>
          <p:spPr bwMode="auto">
            <a:xfrm>
              <a:off x="1235" y="1235"/>
              <a:ext cx="387" cy="0"/>
            </a:xfrm>
            <a:prstGeom prst="line">
              <a:avLst/>
            </a:prstGeom>
            <a:noFill/>
            <a:ln w="19050">
              <a:solidFill>
                <a:schemeClr val="tx1"/>
              </a:solidFill>
              <a:round/>
              <a:headEnd type="none" w="sm" len="sm"/>
              <a:tailEnd type="none" w="sm" len="sm"/>
            </a:ln>
          </p:spPr>
          <p:txBody>
            <a:bodyPr/>
            <a:lstStyle/>
            <a:p>
              <a:endParaRPr lang="en-US"/>
            </a:p>
          </p:txBody>
        </p:sp>
        <p:sp>
          <p:nvSpPr>
            <p:cNvPr id="4122" name="Line 6"/>
            <p:cNvSpPr>
              <a:spLocks noChangeShapeType="1"/>
            </p:cNvSpPr>
            <p:nvPr/>
          </p:nvSpPr>
          <p:spPr bwMode="auto">
            <a:xfrm>
              <a:off x="1428" y="1108"/>
              <a:ext cx="0" cy="341"/>
            </a:xfrm>
            <a:prstGeom prst="line">
              <a:avLst/>
            </a:prstGeom>
            <a:noFill/>
            <a:ln w="19050">
              <a:solidFill>
                <a:schemeClr val="tx1"/>
              </a:solidFill>
              <a:round/>
              <a:headEnd type="none" w="sm" len="sm"/>
              <a:tailEnd type="none" w="sm" len="sm"/>
            </a:ln>
          </p:spPr>
          <p:txBody>
            <a:bodyPr/>
            <a:lstStyle/>
            <a:p>
              <a:endParaRPr lang="en-US"/>
            </a:p>
          </p:txBody>
        </p:sp>
        <p:grpSp>
          <p:nvGrpSpPr>
            <p:cNvPr id="4123" name="Group 10"/>
            <p:cNvGrpSpPr>
              <a:grpSpLocks/>
            </p:cNvGrpSpPr>
            <p:nvPr/>
          </p:nvGrpSpPr>
          <p:grpSpPr bwMode="auto">
            <a:xfrm>
              <a:off x="1344" y="1449"/>
              <a:ext cx="168" cy="178"/>
              <a:chOff x="1338" y="1449"/>
              <a:chExt cx="168" cy="178"/>
            </a:xfrm>
          </p:grpSpPr>
          <p:sp>
            <p:nvSpPr>
              <p:cNvPr id="4124" name="Line 7"/>
              <p:cNvSpPr>
                <a:spLocks noChangeShapeType="1"/>
              </p:cNvSpPr>
              <p:nvPr/>
            </p:nvSpPr>
            <p:spPr bwMode="auto">
              <a:xfrm flipH="1">
                <a:off x="1338" y="1449"/>
                <a:ext cx="86" cy="178"/>
              </a:xfrm>
              <a:prstGeom prst="line">
                <a:avLst/>
              </a:prstGeom>
              <a:noFill/>
              <a:ln w="19050">
                <a:solidFill>
                  <a:schemeClr val="tx1"/>
                </a:solidFill>
                <a:round/>
                <a:headEnd type="none" w="sm" len="sm"/>
                <a:tailEnd type="none" w="sm" len="sm"/>
              </a:ln>
            </p:spPr>
            <p:txBody>
              <a:bodyPr/>
              <a:lstStyle/>
              <a:p>
                <a:endParaRPr lang="en-US"/>
              </a:p>
            </p:txBody>
          </p:sp>
          <p:sp>
            <p:nvSpPr>
              <p:cNvPr id="4125" name="Line 8"/>
              <p:cNvSpPr>
                <a:spLocks noChangeShapeType="1"/>
              </p:cNvSpPr>
              <p:nvPr/>
            </p:nvSpPr>
            <p:spPr bwMode="auto">
              <a:xfrm>
                <a:off x="1424" y="1449"/>
                <a:ext cx="82" cy="171"/>
              </a:xfrm>
              <a:prstGeom prst="line">
                <a:avLst/>
              </a:prstGeom>
              <a:noFill/>
              <a:ln w="19050">
                <a:solidFill>
                  <a:schemeClr val="tx1"/>
                </a:solidFill>
                <a:round/>
                <a:headEnd type="none" w="sm" len="sm"/>
                <a:tailEnd type="none" w="sm" len="sm"/>
              </a:ln>
            </p:spPr>
            <p:txBody>
              <a:bodyPr/>
              <a:lstStyle/>
              <a:p>
                <a:endParaRPr lang="en-US"/>
              </a:p>
            </p:txBody>
          </p:sp>
        </p:grpSp>
      </p:grpSp>
      <p:grpSp>
        <p:nvGrpSpPr>
          <p:cNvPr id="4105" name="Group 30"/>
          <p:cNvGrpSpPr>
            <a:grpSpLocks/>
          </p:cNvGrpSpPr>
          <p:nvPr/>
        </p:nvGrpSpPr>
        <p:grpSpPr bwMode="auto">
          <a:xfrm>
            <a:off x="6492875" y="1190424"/>
            <a:ext cx="1568450" cy="2284413"/>
            <a:chOff x="3130" y="818"/>
            <a:chExt cx="988" cy="1439"/>
          </a:xfrm>
        </p:grpSpPr>
        <p:grpSp>
          <p:nvGrpSpPr>
            <p:cNvPr id="4111" name="Group 27"/>
            <p:cNvGrpSpPr>
              <a:grpSpLocks/>
            </p:cNvGrpSpPr>
            <p:nvPr/>
          </p:nvGrpSpPr>
          <p:grpSpPr bwMode="auto">
            <a:xfrm>
              <a:off x="3130" y="818"/>
              <a:ext cx="987" cy="450"/>
              <a:chOff x="3130" y="818"/>
              <a:chExt cx="987" cy="450"/>
            </a:xfrm>
          </p:grpSpPr>
          <p:sp>
            <p:nvSpPr>
              <p:cNvPr id="4118" name="Oval 15"/>
              <p:cNvSpPr>
                <a:spLocks noChangeArrowheads="1"/>
              </p:cNvSpPr>
              <p:nvPr/>
            </p:nvSpPr>
            <p:spPr bwMode="auto">
              <a:xfrm>
                <a:off x="3130" y="818"/>
                <a:ext cx="987" cy="450"/>
              </a:xfrm>
              <a:prstGeom prst="ellipse">
                <a:avLst/>
              </a:prstGeom>
              <a:solidFill>
                <a:srgbClr val="0000FF"/>
              </a:solidFill>
              <a:ln w="19050">
                <a:solidFill>
                  <a:schemeClr val="tx1"/>
                </a:solidFill>
                <a:round/>
                <a:headEnd type="none" w="sm" len="sm"/>
                <a:tailEnd type="none" w="sm" len="sm"/>
              </a:ln>
            </p:spPr>
            <p:txBody>
              <a:bodyPr wrap="none" anchor="ctr"/>
              <a:lstStyle/>
              <a:p>
                <a:endParaRPr lang="en-US">
                  <a:latin typeface="Gill Sans MT" pitchFamily="34" charset="0"/>
                </a:endParaRPr>
              </a:p>
            </p:txBody>
          </p:sp>
          <p:sp>
            <p:nvSpPr>
              <p:cNvPr id="4119" name="Text Box 12"/>
              <p:cNvSpPr txBox="1">
                <a:spLocks noChangeArrowheads="1"/>
              </p:cNvSpPr>
              <p:nvPr/>
            </p:nvSpPr>
            <p:spPr bwMode="auto">
              <a:xfrm>
                <a:off x="3233" y="821"/>
                <a:ext cx="780" cy="446"/>
              </a:xfrm>
              <a:prstGeom prst="rect">
                <a:avLst/>
              </a:prstGeom>
              <a:noFill/>
              <a:ln w="12700">
                <a:noFill/>
                <a:miter lim="800000"/>
                <a:headEnd type="none" w="sm" len="sm"/>
                <a:tailEnd type="none" w="sm" len="sm"/>
              </a:ln>
            </p:spPr>
            <p:txBody>
              <a:bodyPr wrap="none">
                <a:spAutoFit/>
              </a:bodyPr>
              <a:lstStyle/>
              <a:p>
                <a:pPr algn="ctr"/>
                <a:r>
                  <a:rPr lang="en-US" b="0" dirty="0">
                    <a:solidFill>
                      <a:schemeClr val="tx1"/>
                    </a:solidFill>
                    <a:latin typeface="Gill Sans MT" pitchFamily="34" charset="0"/>
                  </a:rPr>
                  <a:t>Withdraw</a:t>
                </a:r>
              </a:p>
              <a:p>
                <a:pPr algn="ctr"/>
                <a:r>
                  <a:rPr lang="en-US" b="0" dirty="0">
                    <a:solidFill>
                      <a:schemeClr val="tx1"/>
                    </a:solidFill>
                    <a:latin typeface="Gill Sans MT" pitchFamily="34" charset="0"/>
                  </a:rPr>
                  <a:t>Funds</a:t>
                </a:r>
              </a:p>
            </p:txBody>
          </p:sp>
        </p:grpSp>
        <p:grpSp>
          <p:nvGrpSpPr>
            <p:cNvPr id="4112" name="Group 28"/>
            <p:cNvGrpSpPr>
              <a:grpSpLocks/>
            </p:cNvGrpSpPr>
            <p:nvPr/>
          </p:nvGrpSpPr>
          <p:grpSpPr bwMode="auto">
            <a:xfrm>
              <a:off x="3131" y="1313"/>
              <a:ext cx="987" cy="450"/>
              <a:chOff x="3131" y="1313"/>
              <a:chExt cx="987" cy="450"/>
            </a:xfrm>
          </p:grpSpPr>
          <p:sp>
            <p:nvSpPr>
              <p:cNvPr id="4116" name="Oval 16"/>
              <p:cNvSpPr>
                <a:spLocks noChangeArrowheads="1"/>
              </p:cNvSpPr>
              <p:nvPr/>
            </p:nvSpPr>
            <p:spPr bwMode="auto">
              <a:xfrm>
                <a:off x="3131" y="1313"/>
                <a:ext cx="987" cy="450"/>
              </a:xfrm>
              <a:prstGeom prst="ellipse">
                <a:avLst/>
              </a:prstGeom>
              <a:solidFill>
                <a:srgbClr val="0000FF"/>
              </a:solidFill>
              <a:ln w="19050">
                <a:solidFill>
                  <a:schemeClr val="tx1"/>
                </a:solidFill>
                <a:round/>
                <a:headEnd type="none" w="sm" len="sm"/>
                <a:tailEnd type="none" w="sm" len="sm"/>
              </a:ln>
            </p:spPr>
            <p:txBody>
              <a:bodyPr wrap="none" anchor="ctr"/>
              <a:lstStyle/>
              <a:p>
                <a:endParaRPr lang="en-US">
                  <a:latin typeface="Gill Sans MT" pitchFamily="34" charset="0"/>
                </a:endParaRPr>
              </a:p>
            </p:txBody>
          </p:sp>
          <p:sp>
            <p:nvSpPr>
              <p:cNvPr id="4117" name="Text Box 13"/>
              <p:cNvSpPr txBox="1">
                <a:spLocks noChangeArrowheads="1"/>
              </p:cNvSpPr>
              <p:nvPr/>
            </p:nvSpPr>
            <p:spPr bwMode="auto">
              <a:xfrm>
                <a:off x="3174" y="1413"/>
                <a:ext cx="902" cy="250"/>
              </a:xfrm>
              <a:prstGeom prst="rect">
                <a:avLst/>
              </a:prstGeom>
              <a:noFill/>
              <a:ln w="12700">
                <a:noFill/>
                <a:miter lim="800000"/>
                <a:headEnd type="none" w="sm" len="sm"/>
                <a:tailEnd type="none" w="sm" len="sm"/>
              </a:ln>
            </p:spPr>
            <p:txBody>
              <a:bodyPr wrap="none">
                <a:spAutoFit/>
              </a:bodyPr>
              <a:lstStyle/>
              <a:p>
                <a:pPr algn="ctr"/>
                <a:r>
                  <a:rPr lang="en-US" b="0" dirty="0">
                    <a:solidFill>
                      <a:schemeClr val="tx1"/>
                    </a:solidFill>
                    <a:latin typeface="Gill Sans MT" pitchFamily="34" charset="0"/>
                  </a:rPr>
                  <a:t>Get Balance</a:t>
                </a:r>
              </a:p>
            </p:txBody>
          </p:sp>
        </p:grpSp>
        <p:grpSp>
          <p:nvGrpSpPr>
            <p:cNvPr id="4113" name="Group 29"/>
            <p:cNvGrpSpPr>
              <a:grpSpLocks/>
            </p:cNvGrpSpPr>
            <p:nvPr/>
          </p:nvGrpSpPr>
          <p:grpSpPr bwMode="auto">
            <a:xfrm>
              <a:off x="3131" y="1807"/>
              <a:ext cx="987" cy="450"/>
              <a:chOff x="3131" y="1807"/>
              <a:chExt cx="987" cy="450"/>
            </a:xfrm>
          </p:grpSpPr>
          <p:sp>
            <p:nvSpPr>
              <p:cNvPr id="4114" name="Oval 17"/>
              <p:cNvSpPr>
                <a:spLocks noChangeArrowheads="1"/>
              </p:cNvSpPr>
              <p:nvPr/>
            </p:nvSpPr>
            <p:spPr bwMode="auto">
              <a:xfrm>
                <a:off x="3131" y="1807"/>
                <a:ext cx="987" cy="450"/>
              </a:xfrm>
              <a:prstGeom prst="ellipse">
                <a:avLst/>
              </a:prstGeom>
              <a:solidFill>
                <a:srgbClr val="0000FF"/>
              </a:solidFill>
              <a:ln w="19050">
                <a:solidFill>
                  <a:schemeClr val="tx1"/>
                </a:solidFill>
                <a:round/>
                <a:headEnd type="none" w="sm" len="sm"/>
                <a:tailEnd type="none" w="sm" len="sm"/>
              </a:ln>
            </p:spPr>
            <p:txBody>
              <a:bodyPr wrap="none" anchor="ctr"/>
              <a:lstStyle/>
              <a:p>
                <a:endParaRPr lang="en-US">
                  <a:latin typeface="Gill Sans MT" pitchFamily="34" charset="0"/>
                </a:endParaRPr>
              </a:p>
            </p:txBody>
          </p:sp>
          <p:sp>
            <p:nvSpPr>
              <p:cNvPr id="4115" name="Text Box 14"/>
              <p:cNvSpPr txBox="1">
                <a:spLocks noChangeArrowheads="1"/>
              </p:cNvSpPr>
              <p:nvPr/>
            </p:nvSpPr>
            <p:spPr bwMode="auto">
              <a:xfrm>
                <a:off x="3296" y="1810"/>
                <a:ext cx="657" cy="442"/>
              </a:xfrm>
              <a:prstGeom prst="rect">
                <a:avLst/>
              </a:prstGeom>
              <a:noFill/>
              <a:ln w="12700">
                <a:noFill/>
                <a:miter lim="800000"/>
                <a:headEnd type="none" w="sm" len="sm"/>
                <a:tailEnd type="none" w="sm" len="sm"/>
              </a:ln>
            </p:spPr>
            <p:txBody>
              <a:bodyPr wrap="none">
                <a:spAutoFit/>
              </a:bodyPr>
              <a:lstStyle/>
              <a:p>
                <a:pPr algn="ctr"/>
                <a:r>
                  <a:rPr lang="en-US" b="0">
                    <a:solidFill>
                      <a:schemeClr val="tx1"/>
                    </a:solidFill>
                    <a:latin typeface="Gill Sans MT" pitchFamily="34" charset="0"/>
                  </a:rPr>
                  <a:t>Transfer</a:t>
                </a:r>
              </a:p>
              <a:p>
                <a:pPr algn="ctr"/>
                <a:r>
                  <a:rPr lang="en-US" b="0">
                    <a:solidFill>
                      <a:schemeClr val="tx1"/>
                    </a:solidFill>
                    <a:latin typeface="Gill Sans MT" pitchFamily="34" charset="0"/>
                  </a:rPr>
                  <a:t>Funds</a:t>
                </a:r>
              </a:p>
            </p:txBody>
          </p:sp>
        </p:grpSp>
      </p:grpSp>
      <p:sp>
        <p:nvSpPr>
          <p:cNvPr id="4106" name="Line 23"/>
          <p:cNvSpPr>
            <a:spLocks noChangeShapeType="1"/>
          </p:cNvSpPr>
          <p:nvPr/>
        </p:nvSpPr>
        <p:spPr bwMode="auto">
          <a:xfrm flipH="1">
            <a:off x="4889501" y="1549199"/>
            <a:ext cx="1598613" cy="563563"/>
          </a:xfrm>
          <a:prstGeom prst="line">
            <a:avLst/>
          </a:prstGeom>
          <a:noFill/>
          <a:ln w="12700">
            <a:solidFill>
              <a:schemeClr val="tx1"/>
            </a:solidFill>
            <a:round/>
            <a:headEnd type="none" w="sm" len="sm"/>
            <a:tailEnd type="none" w="sm" len="sm"/>
          </a:ln>
        </p:spPr>
        <p:txBody>
          <a:bodyPr/>
          <a:lstStyle/>
          <a:p>
            <a:endParaRPr lang="en-US"/>
          </a:p>
        </p:txBody>
      </p:sp>
      <p:sp>
        <p:nvSpPr>
          <p:cNvPr id="4107" name="Line 24"/>
          <p:cNvSpPr>
            <a:spLocks noChangeShapeType="1"/>
          </p:cNvSpPr>
          <p:nvPr/>
        </p:nvSpPr>
        <p:spPr bwMode="auto">
          <a:xfrm flipH="1">
            <a:off x="4889500" y="2333423"/>
            <a:ext cx="1608138" cy="0"/>
          </a:xfrm>
          <a:prstGeom prst="line">
            <a:avLst/>
          </a:prstGeom>
          <a:noFill/>
          <a:ln w="12700">
            <a:solidFill>
              <a:schemeClr val="tx1"/>
            </a:solidFill>
            <a:round/>
            <a:headEnd type="none" w="sm" len="sm"/>
            <a:tailEnd type="none" w="sm" len="sm"/>
          </a:ln>
        </p:spPr>
        <p:txBody>
          <a:bodyPr/>
          <a:lstStyle/>
          <a:p>
            <a:endParaRPr lang="en-US"/>
          </a:p>
        </p:txBody>
      </p:sp>
      <p:sp>
        <p:nvSpPr>
          <p:cNvPr id="4108" name="Line 25"/>
          <p:cNvSpPr>
            <a:spLocks noChangeShapeType="1"/>
          </p:cNvSpPr>
          <p:nvPr/>
        </p:nvSpPr>
        <p:spPr bwMode="auto">
          <a:xfrm flipH="1" flipV="1">
            <a:off x="4870450" y="2554086"/>
            <a:ext cx="1638300" cy="552450"/>
          </a:xfrm>
          <a:prstGeom prst="line">
            <a:avLst/>
          </a:prstGeom>
          <a:noFill/>
          <a:ln w="12700">
            <a:solidFill>
              <a:schemeClr val="tx1"/>
            </a:solidFill>
            <a:round/>
            <a:headEnd type="none" w="sm" len="sm"/>
            <a:tailEnd type="none" w="sm" len="sm"/>
          </a:ln>
        </p:spPr>
        <p:txBody>
          <a:bodyPr/>
          <a:lstStyle/>
          <a:p>
            <a:endParaRPr lang="en-US"/>
          </a:p>
        </p:txBody>
      </p:sp>
      <p:sp>
        <p:nvSpPr>
          <p:cNvPr id="4109" name="Text Box 26"/>
          <p:cNvSpPr txBox="1">
            <a:spLocks noChangeArrowheads="1"/>
          </p:cNvSpPr>
          <p:nvPr/>
        </p:nvSpPr>
        <p:spPr bwMode="auto">
          <a:xfrm>
            <a:off x="2985294" y="2012749"/>
            <a:ext cx="623889" cy="646331"/>
          </a:xfrm>
          <a:prstGeom prst="rect">
            <a:avLst/>
          </a:prstGeom>
          <a:noFill/>
          <a:ln w="12700">
            <a:noFill/>
            <a:miter lim="800000"/>
            <a:headEnd type="none" w="sm" len="sm"/>
            <a:tailEnd type="none" w="sm" len="sm"/>
          </a:ln>
        </p:spPr>
        <p:txBody>
          <a:bodyPr wrap="none">
            <a:spAutoFit/>
          </a:bodyPr>
          <a:lstStyle/>
          <a:p>
            <a:pPr algn="ctr"/>
            <a:r>
              <a:rPr lang="en-US" sz="1800" dirty="0">
                <a:solidFill>
                  <a:schemeClr val="tx1"/>
                </a:solidFill>
                <a:latin typeface="Gill Sans MT" pitchFamily="34" charset="0"/>
              </a:rPr>
              <a:t>ATM</a:t>
            </a:r>
          </a:p>
          <a:p>
            <a:pPr algn="ctr"/>
            <a:r>
              <a:rPr lang="en-US" sz="1800" dirty="0">
                <a:solidFill>
                  <a:schemeClr val="tx1"/>
                </a:solidFill>
                <a:latin typeface="Gill Sans MT" pitchFamily="34" charset="0"/>
              </a:rPr>
              <a:t>User</a:t>
            </a:r>
          </a:p>
        </p:txBody>
      </p:sp>
      <p:sp>
        <p:nvSpPr>
          <p:cNvPr id="186399" name="Text Box 31"/>
          <p:cNvSpPr txBox="1">
            <a:spLocks noChangeArrowheads="1"/>
          </p:cNvSpPr>
          <p:nvPr/>
        </p:nvSpPr>
        <p:spPr bwMode="auto">
          <a:xfrm>
            <a:off x="1887790" y="5928541"/>
            <a:ext cx="8392037" cy="424732"/>
          </a:xfrm>
          <a:prstGeom prst="rect">
            <a:avLst/>
          </a:prstGeom>
          <a:gradFill rotWithShape="1">
            <a:gsLst>
              <a:gs pos="0">
                <a:srgbClr val="0000FF"/>
              </a:gs>
              <a:gs pos="100000">
                <a:srgbClr val="0000FF">
                  <a:gamma/>
                  <a:shade val="46275"/>
                  <a:invGamma/>
                </a:srgbClr>
              </a:gs>
            </a:gsLst>
            <a:path path="shape">
              <a:fillToRect l="50000" t="50000" r="50000" b="50000"/>
            </a:path>
          </a:gradFill>
          <a:ln w="12700">
            <a:solidFill>
              <a:schemeClr val="tx1"/>
            </a:solidFill>
            <a:miter lim="800000"/>
            <a:headEnd type="none" w="sm" len="sm"/>
            <a:tailEnd type="none" w="sm" len="sm"/>
          </a:ln>
          <a:effectLst/>
        </p:spPr>
        <p:txBody>
          <a:bodyPr wrap="square">
            <a:spAutoFit/>
          </a:bodyPr>
          <a:lstStyle/>
          <a:p>
            <a:pPr algn="ctr">
              <a:lnSpc>
                <a:spcPct val="90000"/>
              </a:lnSpc>
              <a:spcBef>
                <a:spcPct val="30000"/>
              </a:spcBef>
              <a:buSzPct val="75000"/>
              <a:buFont typeface="Monotype Sorts" charset="2"/>
              <a:buNone/>
              <a:defRPr/>
            </a:pPr>
            <a:r>
              <a:rPr lang="en-US" sz="2400" dirty="0">
                <a:solidFill>
                  <a:schemeClr val="tx2"/>
                </a:solidFill>
                <a:effectLst>
                  <a:outerShdw blurRad="38100" dist="38100" dir="2700000" algn="tl">
                    <a:srgbClr val="000000"/>
                  </a:outerShdw>
                </a:effectLst>
                <a:latin typeface="Gill Sans MT" pitchFamily="34" charset="0"/>
              </a:rPr>
              <a:t>Use case graphs, by themselves, are not useful for testing</a:t>
            </a:r>
            <a:endParaRPr lang="en-US" dirty="0">
              <a:solidFill>
                <a:schemeClr val="tx2"/>
              </a:solidFill>
              <a:effectLst>
                <a:outerShdw blurRad="38100" dist="38100" dir="2700000" algn="tl">
                  <a:srgbClr val="000000"/>
                </a:outerShdw>
              </a:effectLst>
              <a:latin typeface="Gill Sans MT"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6399"/>
                                        </p:tgtEl>
                                        <p:attrNameLst>
                                          <p:attrName>style.visibility</p:attrName>
                                        </p:attrNameLst>
                                      </p:cBhvr>
                                      <p:to>
                                        <p:strVal val="visible"/>
                                      </p:to>
                                    </p:set>
                                    <p:animEffect transition="in" filter="dissolve">
                                      <p:cBhvr>
                                        <p:cTn id="7" dur="500"/>
                                        <p:tgtEl>
                                          <p:spTgt spid="186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9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Slide Number Placeholder 5"/>
          <p:cNvSpPr>
            <a:spLocks noGrp="1"/>
          </p:cNvSpPr>
          <p:nvPr>
            <p:ph type="sldNum" sz="quarter" idx="12"/>
          </p:nvPr>
        </p:nvSpPr>
        <p:spPr>
          <a:noFill/>
        </p:spPr>
        <p:txBody>
          <a:bodyPr/>
          <a:lstStyle/>
          <a:p>
            <a:fld id="{8C6D4521-2610-4B3C-9219-4F300423C757}" type="slidenum">
              <a:rPr lang="en-US" smtClean="0"/>
              <a:pPr/>
              <a:t>34</a:t>
            </a:fld>
            <a:endParaRPr lang="en-US"/>
          </a:p>
        </p:txBody>
      </p:sp>
      <p:sp>
        <p:nvSpPr>
          <p:cNvPr id="5125" name="Rectangle 2"/>
          <p:cNvSpPr>
            <a:spLocks noGrp="1" noChangeArrowheads="1"/>
          </p:cNvSpPr>
          <p:nvPr>
            <p:ph type="title"/>
          </p:nvPr>
        </p:nvSpPr>
        <p:spPr/>
        <p:txBody>
          <a:bodyPr/>
          <a:lstStyle/>
          <a:p>
            <a:r>
              <a:rPr lang="en-US" dirty="0"/>
              <a:t>Elaboration</a:t>
            </a:r>
          </a:p>
        </p:txBody>
      </p:sp>
      <p:sp>
        <p:nvSpPr>
          <p:cNvPr id="5126" name="Rectangle 3"/>
          <p:cNvSpPr>
            <a:spLocks noGrp="1" noChangeArrowheads="1"/>
          </p:cNvSpPr>
          <p:nvPr>
            <p:ph type="body" idx="1"/>
          </p:nvPr>
        </p:nvSpPr>
        <p:spPr/>
        <p:txBody>
          <a:bodyPr/>
          <a:lstStyle/>
          <a:p>
            <a:r>
              <a:rPr lang="en-US" dirty="0"/>
              <a:t>Use cases are commonly </a:t>
            </a:r>
            <a:r>
              <a:rPr lang="en-US" dirty="0">
                <a:solidFill>
                  <a:schemeClr val="tx2"/>
                </a:solidFill>
              </a:rPr>
              <a:t>elaborated</a:t>
            </a:r>
            <a:r>
              <a:rPr lang="en-US" dirty="0"/>
              <a:t> (or </a:t>
            </a:r>
            <a:r>
              <a:rPr lang="en-US" dirty="0">
                <a:solidFill>
                  <a:schemeClr val="tx2"/>
                </a:solidFill>
              </a:rPr>
              <a:t>documented</a:t>
            </a:r>
            <a:r>
              <a:rPr lang="en-US" dirty="0"/>
              <a:t>)</a:t>
            </a:r>
          </a:p>
          <a:p>
            <a:endParaRPr lang="en-US" dirty="0"/>
          </a:p>
          <a:p>
            <a:r>
              <a:rPr lang="en-US" dirty="0"/>
              <a:t>Elaboration is first written </a:t>
            </a:r>
            <a:r>
              <a:rPr lang="en-US" dirty="0">
                <a:solidFill>
                  <a:schemeClr val="tx2"/>
                </a:solidFill>
              </a:rPr>
              <a:t>textually</a:t>
            </a:r>
          </a:p>
          <a:p>
            <a:pPr lvl="1"/>
            <a:endParaRPr lang="en-US" dirty="0"/>
          </a:p>
          <a:p>
            <a:pPr lvl="1"/>
            <a:r>
              <a:rPr lang="en-US" dirty="0">
                <a:solidFill>
                  <a:schemeClr val="tx2"/>
                </a:solidFill>
              </a:rPr>
              <a:t>Details</a:t>
            </a:r>
            <a:r>
              <a:rPr lang="en-US" dirty="0"/>
              <a:t> of operation</a:t>
            </a:r>
          </a:p>
          <a:p>
            <a:pPr lvl="1"/>
            <a:endParaRPr lang="en-US" dirty="0"/>
          </a:p>
          <a:p>
            <a:pPr lvl="1"/>
            <a:r>
              <a:rPr lang="en-US" dirty="0">
                <a:solidFill>
                  <a:schemeClr val="tx2"/>
                </a:solidFill>
              </a:rPr>
              <a:t>Alternatives</a:t>
            </a:r>
            <a:r>
              <a:rPr lang="en-US" dirty="0"/>
              <a:t> model choices and conditions during execution</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Elaboration of ATM Use Case</a:t>
            </a:r>
          </a:p>
        </p:txBody>
      </p:sp>
      <p:sp>
        <p:nvSpPr>
          <p:cNvPr id="3" name="Content Placeholder 2"/>
          <p:cNvSpPr>
            <a:spLocks noGrp="1"/>
          </p:cNvSpPr>
          <p:nvPr>
            <p:ph idx="1"/>
          </p:nvPr>
        </p:nvSpPr>
        <p:spPr>
          <a:xfrm>
            <a:off x="1638300" y="796414"/>
            <a:ext cx="8915400" cy="5716929"/>
          </a:xfrm>
        </p:spPr>
        <p:txBody>
          <a:bodyPr/>
          <a:lstStyle/>
          <a:p>
            <a:r>
              <a:rPr lang="en-US" sz="2000" u="sng" dirty="0">
                <a:solidFill>
                  <a:schemeClr val="tx2"/>
                </a:solidFill>
              </a:rPr>
              <a:t>Use Case Name</a:t>
            </a:r>
            <a:r>
              <a:rPr lang="en-US" sz="2000" dirty="0"/>
              <a:t> : Withdraw Funds</a:t>
            </a:r>
          </a:p>
          <a:p>
            <a:r>
              <a:rPr lang="en-US" sz="2000" u="sng" dirty="0">
                <a:solidFill>
                  <a:schemeClr val="tx2"/>
                </a:solidFill>
              </a:rPr>
              <a:t>Summary</a:t>
            </a:r>
            <a:r>
              <a:rPr lang="en-US" sz="2000" dirty="0"/>
              <a:t> : Customer uses a valid card to withdraw funds from a valid bank account.</a:t>
            </a:r>
          </a:p>
          <a:p>
            <a:r>
              <a:rPr lang="en-US" sz="2000" u="sng" dirty="0">
                <a:solidFill>
                  <a:schemeClr val="tx2"/>
                </a:solidFill>
              </a:rPr>
              <a:t>Actor</a:t>
            </a:r>
            <a:r>
              <a:rPr lang="en-US" sz="2000" dirty="0"/>
              <a:t> : ATM Customer</a:t>
            </a:r>
          </a:p>
          <a:p>
            <a:r>
              <a:rPr lang="en-US" sz="2000" u="sng" dirty="0">
                <a:solidFill>
                  <a:schemeClr val="tx2"/>
                </a:solidFill>
              </a:rPr>
              <a:t>Precondition</a:t>
            </a:r>
            <a:r>
              <a:rPr lang="en-US" sz="2000" dirty="0"/>
              <a:t> : ATM is displaying the idle welcome message</a:t>
            </a:r>
          </a:p>
          <a:p>
            <a:r>
              <a:rPr lang="en-US" sz="2000" u="sng" dirty="0">
                <a:solidFill>
                  <a:schemeClr val="tx2"/>
                </a:solidFill>
              </a:rPr>
              <a:t>Description</a:t>
            </a:r>
            <a:r>
              <a:rPr lang="en-US" sz="2000" dirty="0"/>
              <a:t> :</a:t>
            </a:r>
          </a:p>
          <a:p>
            <a:pPr lvl="1"/>
            <a:r>
              <a:rPr lang="en-US" sz="1800" dirty="0"/>
              <a:t>Customer inserts an ATM Card into the ATM Card Reader.</a:t>
            </a:r>
          </a:p>
          <a:p>
            <a:pPr lvl="1"/>
            <a:r>
              <a:rPr lang="en-US" sz="1800" dirty="0"/>
              <a:t>If the system can recognize the card, it reads the card number.</a:t>
            </a:r>
          </a:p>
          <a:p>
            <a:pPr lvl="1"/>
            <a:r>
              <a:rPr lang="en-US" sz="1800" dirty="0"/>
              <a:t>System prompts the customer for a PIN.</a:t>
            </a:r>
          </a:p>
          <a:p>
            <a:pPr lvl="1"/>
            <a:r>
              <a:rPr lang="en-US" sz="1800" dirty="0"/>
              <a:t>Customer enters PIN.</a:t>
            </a:r>
          </a:p>
          <a:p>
            <a:pPr lvl="1"/>
            <a:r>
              <a:rPr lang="en-US" sz="1800" dirty="0"/>
              <a:t>System checks the card’s expiration date and whether the card has been stolen or lost.</a:t>
            </a:r>
          </a:p>
          <a:p>
            <a:pPr lvl="1"/>
            <a:r>
              <a:rPr lang="en-US" sz="1800" dirty="0"/>
              <a:t>If the card is valid, the system checks if the entered PIN matches the card PIN.</a:t>
            </a:r>
          </a:p>
          <a:p>
            <a:pPr lvl="1"/>
            <a:r>
              <a:rPr lang="en-US" sz="1800" dirty="0"/>
              <a:t>If the PINs match, the system finds out what accounts the card can access.</a:t>
            </a:r>
          </a:p>
          <a:p>
            <a:pPr lvl="1"/>
            <a:r>
              <a:rPr lang="en-US" sz="1800" dirty="0"/>
              <a:t>System displays customer accounts and prompts the customer to choose a type of transaction.  There are three types of transactions, Withdraw Funds, Get Balance and Transfer Funds.  (The previous eight steps are part of all three use cases; the following steps are unique to the Withdraw Funds use case.)</a:t>
            </a:r>
          </a:p>
        </p:txBody>
      </p:sp>
      <p:sp>
        <p:nvSpPr>
          <p:cNvPr id="6" name="Slide Number Placeholder 5"/>
          <p:cNvSpPr>
            <a:spLocks noGrp="1"/>
          </p:cNvSpPr>
          <p:nvPr>
            <p:ph type="sldNum" sz="quarter" idx="12"/>
          </p:nvPr>
        </p:nvSpPr>
        <p:spPr/>
        <p:txBody>
          <a:bodyPr/>
          <a:lstStyle/>
          <a:p>
            <a:pPr>
              <a:defRPr/>
            </a:pPr>
            <a:fld id="{10FB7AEF-B7C5-420D-8451-0DC7C4F07E7F}" type="slidenum">
              <a:rPr lang="en-US" smtClean="0"/>
              <a:pPr>
                <a:defRPr/>
              </a:pPr>
              <a:t>35</a:t>
            </a:fld>
            <a:endParaRPr lang="en-US"/>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Elaboration of</a:t>
            </a:r>
            <a:r>
              <a:rPr lang="en-US" sz="3200" dirty="0"/>
              <a:t> ATM </a:t>
            </a:r>
            <a:r>
              <a:rPr lang="en-US" dirty="0"/>
              <a:t>Use Case</a:t>
            </a:r>
            <a:r>
              <a:rPr lang="en-US" sz="2800" dirty="0"/>
              <a:t>—(2/3)</a:t>
            </a:r>
            <a:endParaRPr lang="en-US" dirty="0"/>
          </a:p>
        </p:txBody>
      </p:sp>
      <p:sp>
        <p:nvSpPr>
          <p:cNvPr id="3" name="Content Placeholder 2"/>
          <p:cNvSpPr>
            <a:spLocks noGrp="1"/>
          </p:cNvSpPr>
          <p:nvPr>
            <p:ph idx="1"/>
          </p:nvPr>
        </p:nvSpPr>
        <p:spPr/>
        <p:txBody>
          <a:bodyPr/>
          <a:lstStyle/>
          <a:p>
            <a:r>
              <a:rPr lang="en-US" sz="2000" u="sng" dirty="0">
                <a:solidFill>
                  <a:schemeClr val="tx2"/>
                </a:solidFill>
              </a:rPr>
              <a:t>Description</a:t>
            </a:r>
            <a:r>
              <a:rPr lang="en-US" sz="2000" dirty="0"/>
              <a:t> (continued) :</a:t>
            </a:r>
          </a:p>
          <a:p>
            <a:pPr lvl="1"/>
            <a:r>
              <a:rPr lang="en-US" sz="1800" dirty="0"/>
              <a:t>Customer selects Withdraw Funds, selects the account number, and enters the amount.</a:t>
            </a:r>
          </a:p>
          <a:p>
            <a:pPr lvl="1"/>
            <a:r>
              <a:rPr lang="en-US" sz="1800" dirty="0"/>
              <a:t>System checks that the account is valid, makes sure that customer has enough funds in the account, makes sure that the daily limit has not been exceeded, and checks that the ATM has enough funds.</a:t>
            </a:r>
          </a:p>
          <a:p>
            <a:pPr lvl="1"/>
            <a:r>
              <a:rPr lang="en-US" sz="1800" dirty="0"/>
              <a:t>If all four checks are successful, the system dispenses the cash.</a:t>
            </a:r>
          </a:p>
          <a:p>
            <a:pPr lvl="1"/>
            <a:r>
              <a:rPr lang="en-US" sz="1800" dirty="0"/>
              <a:t>System prints a receipt with a transaction number, the transaction type, the amount withdrawn, and the new account balance.</a:t>
            </a:r>
          </a:p>
          <a:p>
            <a:pPr lvl="1"/>
            <a:r>
              <a:rPr lang="en-US" sz="1800" dirty="0"/>
              <a:t>System ejects card.</a:t>
            </a:r>
          </a:p>
          <a:p>
            <a:pPr lvl="1"/>
            <a:r>
              <a:rPr lang="en-US" sz="1800" dirty="0"/>
              <a:t>System displays the idle welcome message.</a:t>
            </a:r>
          </a:p>
        </p:txBody>
      </p:sp>
      <p:sp>
        <p:nvSpPr>
          <p:cNvPr id="6" name="Slide Number Placeholder 5"/>
          <p:cNvSpPr>
            <a:spLocks noGrp="1"/>
          </p:cNvSpPr>
          <p:nvPr>
            <p:ph type="sldNum" sz="quarter" idx="12"/>
          </p:nvPr>
        </p:nvSpPr>
        <p:spPr/>
        <p:txBody>
          <a:bodyPr/>
          <a:lstStyle/>
          <a:p>
            <a:pPr>
              <a:defRPr/>
            </a:pPr>
            <a:fld id="{10FB7AEF-B7C5-420D-8451-0DC7C4F07E7F}" type="slidenum">
              <a:rPr lang="en-US" smtClean="0"/>
              <a:pPr>
                <a:defRPr/>
              </a:pPr>
              <a:t>36</a:t>
            </a:fld>
            <a:endParaRPr lang="en-US"/>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Elaboration of </a:t>
            </a:r>
            <a:r>
              <a:rPr lang="en-US" sz="3200" dirty="0"/>
              <a:t>ATM </a:t>
            </a:r>
            <a:r>
              <a:rPr lang="en-US" dirty="0"/>
              <a:t>Use Case</a:t>
            </a:r>
            <a:r>
              <a:rPr lang="en-US" sz="2800" dirty="0"/>
              <a:t>—(3/3)</a:t>
            </a:r>
            <a:endParaRPr lang="en-US" dirty="0"/>
          </a:p>
        </p:txBody>
      </p:sp>
      <p:sp>
        <p:nvSpPr>
          <p:cNvPr id="3" name="Content Placeholder 2"/>
          <p:cNvSpPr>
            <a:spLocks noGrp="1"/>
          </p:cNvSpPr>
          <p:nvPr>
            <p:ph idx="1"/>
          </p:nvPr>
        </p:nvSpPr>
        <p:spPr/>
        <p:txBody>
          <a:bodyPr/>
          <a:lstStyle/>
          <a:p>
            <a:pPr>
              <a:lnSpc>
                <a:spcPct val="80000"/>
              </a:lnSpc>
            </a:pPr>
            <a:r>
              <a:rPr lang="en-US" sz="1800" u="sng" dirty="0">
                <a:solidFill>
                  <a:schemeClr val="tx2"/>
                </a:solidFill>
              </a:rPr>
              <a:t>Alternatives</a:t>
            </a:r>
            <a:r>
              <a:rPr lang="en-US" sz="1800" dirty="0"/>
              <a:t> :</a:t>
            </a:r>
          </a:p>
          <a:p>
            <a:pPr lvl="1">
              <a:lnSpc>
                <a:spcPct val="80000"/>
              </a:lnSpc>
            </a:pPr>
            <a:r>
              <a:rPr lang="en-US" sz="1600" dirty="0"/>
              <a:t>If the system cannot recognize the card, it is ejected and the welcome message is displayed.</a:t>
            </a:r>
          </a:p>
          <a:p>
            <a:pPr lvl="1">
              <a:lnSpc>
                <a:spcPct val="80000"/>
              </a:lnSpc>
            </a:pPr>
            <a:r>
              <a:rPr lang="en-US" sz="1600" dirty="0"/>
              <a:t>If the current date is past the card's expiration date, the card is confiscated and the welcome message is displayed.</a:t>
            </a:r>
          </a:p>
          <a:p>
            <a:pPr lvl="1">
              <a:lnSpc>
                <a:spcPct val="80000"/>
              </a:lnSpc>
            </a:pPr>
            <a:r>
              <a:rPr lang="en-US" sz="1600" dirty="0"/>
              <a:t>If the card has been reported lost or stolen, it is confiscated and the welcome message is displayed.</a:t>
            </a:r>
          </a:p>
          <a:p>
            <a:pPr lvl="1">
              <a:lnSpc>
                <a:spcPct val="80000"/>
              </a:lnSpc>
            </a:pPr>
            <a:r>
              <a:rPr lang="en-US" sz="1600" dirty="0"/>
              <a:t>If the customer entered PIN does not match the PIN for the card, the system prompts for a new PIN.</a:t>
            </a:r>
          </a:p>
          <a:p>
            <a:pPr lvl="1">
              <a:lnSpc>
                <a:spcPct val="80000"/>
              </a:lnSpc>
            </a:pPr>
            <a:r>
              <a:rPr lang="en-US" sz="1600" dirty="0"/>
              <a:t>If the customer enters an incorrect PIN three times, the card is confiscated and the welcome message is displayed.</a:t>
            </a:r>
          </a:p>
          <a:p>
            <a:pPr lvl="1">
              <a:lnSpc>
                <a:spcPct val="80000"/>
              </a:lnSpc>
            </a:pPr>
            <a:r>
              <a:rPr lang="en-US" sz="1600" dirty="0"/>
              <a:t>If the account number entered by the user is invalid, the system displays an error message, ejects the card and the welcome message is displayed.</a:t>
            </a:r>
          </a:p>
          <a:p>
            <a:pPr lvl="1">
              <a:lnSpc>
                <a:spcPct val="80000"/>
              </a:lnSpc>
            </a:pPr>
            <a:r>
              <a:rPr lang="en-US" sz="1600" dirty="0"/>
              <a:t>If the request for withdraw exceeds the maximum allowable daily withdrawal amount, the system displays an apology message, ejects the card and the welcome message is displayed.</a:t>
            </a:r>
          </a:p>
          <a:p>
            <a:pPr lvl="1">
              <a:lnSpc>
                <a:spcPct val="80000"/>
              </a:lnSpc>
            </a:pPr>
            <a:r>
              <a:rPr lang="en-US" sz="1600" dirty="0"/>
              <a:t>If the request for withdraw exceeds the amount of funds in the ATM, the system displays an apology message, ejects the card and the welcome message is displayed.</a:t>
            </a:r>
          </a:p>
          <a:p>
            <a:pPr lvl="1">
              <a:lnSpc>
                <a:spcPct val="80000"/>
              </a:lnSpc>
            </a:pPr>
            <a:r>
              <a:rPr lang="en-US" sz="1600" dirty="0"/>
              <a:t>If the customer enters Cancel, the system cancels the transaction, ejects the card and the welcome message is displayed.</a:t>
            </a:r>
          </a:p>
          <a:p>
            <a:pPr>
              <a:lnSpc>
                <a:spcPct val="80000"/>
              </a:lnSpc>
            </a:pPr>
            <a:r>
              <a:rPr lang="en-US" sz="1800" dirty="0"/>
              <a:t> </a:t>
            </a:r>
            <a:r>
              <a:rPr lang="en-US" sz="1800" u="sng" dirty="0" err="1">
                <a:solidFill>
                  <a:schemeClr val="tx2"/>
                </a:solidFill>
              </a:rPr>
              <a:t>Postcondition</a:t>
            </a:r>
            <a:r>
              <a:rPr lang="en-US" sz="1800" dirty="0"/>
              <a:t> :</a:t>
            </a:r>
          </a:p>
          <a:p>
            <a:pPr lvl="1">
              <a:lnSpc>
                <a:spcPct val="80000"/>
              </a:lnSpc>
            </a:pPr>
            <a:r>
              <a:rPr lang="en-US" sz="1600" dirty="0"/>
              <a:t>Funds have been withdrawn from the customer’s account.</a:t>
            </a:r>
          </a:p>
        </p:txBody>
      </p:sp>
      <p:sp>
        <p:nvSpPr>
          <p:cNvPr id="6" name="Slide Number Placeholder 5"/>
          <p:cNvSpPr>
            <a:spLocks noGrp="1"/>
          </p:cNvSpPr>
          <p:nvPr>
            <p:ph type="sldNum" sz="quarter" idx="12"/>
          </p:nvPr>
        </p:nvSpPr>
        <p:spPr/>
        <p:txBody>
          <a:bodyPr/>
          <a:lstStyle/>
          <a:p>
            <a:pPr>
              <a:defRPr/>
            </a:pPr>
            <a:fld id="{10FB7AEF-B7C5-420D-8451-0DC7C4F07E7F}" type="slidenum">
              <a:rPr lang="en-US" smtClean="0"/>
              <a:pPr>
                <a:defRPr/>
              </a:pPr>
              <a:t>37</a:t>
            </a:fld>
            <a:endParaRPr lang="en-US"/>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Slide Number Placeholder 5"/>
          <p:cNvSpPr>
            <a:spLocks noGrp="1"/>
          </p:cNvSpPr>
          <p:nvPr>
            <p:ph type="sldNum" sz="quarter" idx="12"/>
          </p:nvPr>
        </p:nvSpPr>
        <p:spPr>
          <a:noFill/>
        </p:spPr>
        <p:txBody>
          <a:bodyPr/>
          <a:lstStyle/>
          <a:p>
            <a:fld id="{FB773AF4-2F49-4655-ADDA-DF34A26CEE1C}" type="slidenum">
              <a:rPr lang="en-US" smtClean="0"/>
              <a:pPr/>
              <a:t>38</a:t>
            </a:fld>
            <a:endParaRPr lang="en-US"/>
          </a:p>
        </p:txBody>
      </p:sp>
      <p:sp>
        <p:nvSpPr>
          <p:cNvPr id="9221" name="Rectangle 2"/>
          <p:cNvSpPr>
            <a:spLocks noGrp="1" noChangeArrowheads="1"/>
          </p:cNvSpPr>
          <p:nvPr>
            <p:ph type="title"/>
          </p:nvPr>
        </p:nvSpPr>
        <p:spPr/>
        <p:txBody>
          <a:bodyPr/>
          <a:lstStyle/>
          <a:p>
            <a:r>
              <a:rPr lang="en-US"/>
              <a:t>Wait A Minute …</a:t>
            </a:r>
          </a:p>
        </p:txBody>
      </p:sp>
      <p:sp>
        <p:nvSpPr>
          <p:cNvPr id="192515" name="Rectangle 3"/>
          <p:cNvSpPr>
            <a:spLocks noGrp="1" noChangeArrowheads="1"/>
          </p:cNvSpPr>
          <p:nvPr>
            <p:ph type="body" idx="1"/>
          </p:nvPr>
        </p:nvSpPr>
        <p:spPr/>
        <p:txBody>
          <a:bodyPr/>
          <a:lstStyle/>
          <a:p>
            <a:r>
              <a:rPr lang="en-US" dirty="0"/>
              <a:t>What does this have to do with </a:t>
            </a:r>
            <a:r>
              <a:rPr lang="en-US" dirty="0">
                <a:solidFill>
                  <a:schemeClr val="tx2"/>
                </a:solidFill>
              </a:rPr>
              <a:t>testing</a:t>
            </a:r>
            <a:r>
              <a:rPr lang="en-US" dirty="0"/>
              <a:t> ?</a:t>
            </a:r>
          </a:p>
          <a:p>
            <a:pPr lvl="1"/>
            <a:endParaRPr lang="en-US" dirty="0"/>
          </a:p>
          <a:p>
            <a:r>
              <a:rPr lang="en-US" dirty="0"/>
              <a:t>Specifically, what does this have to do with </a:t>
            </a:r>
            <a:r>
              <a:rPr lang="en-US" dirty="0">
                <a:solidFill>
                  <a:schemeClr val="tx2"/>
                </a:solidFill>
              </a:rPr>
              <a:t>graphs</a:t>
            </a:r>
            <a:r>
              <a:rPr lang="en-US" dirty="0"/>
              <a:t> ???</a:t>
            </a:r>
          </a:p>
          <a:p>
            <a:pPr lvl="1"/>
            <a:endParaRPr lang="en-US" dirty="0"/>
          </a:p>
          <a:p>
            <a:r>
              <a:rPr lang="en-US" dirty="0"/>
              <a:t>Remember our admonition : </a:t>
            </a:r>
            <a:r>
              <a:rPr lang="en-US" dirty="0">
                <a:solidFill>
                  <a:schemeClr val="tx2"/>
                </a:solidFill>
              </a:rPr>
              <a:t>Find</a:t>
            </a:r>
            <a:r>
              <a:rPr lang="en-US" dirty="0"/>
              <a:t> a  graph, then cover it!</a:t>
            </a:r>
          </a:p>
          <a:p>
            <a:pPr lvl="1"/>
            <a:endParaRPr lang="en-US" dirty="0"/>
          </a:p>
          <a:p>
            <a:r>
              <a:rPr lang="en-US" dirty="0" err="1"/>
              <a:t>Beizer</a:t>
            </a:r>
            <a:r>
              <a:rPr lang="en-US" dirty="0"/>
              <a:t> suggested “</a:t>
            </a:r>
            <a:r>
              <a:rPr lang="en-US" dirty="0">
                <a:solidFill>
                  <a:schemeClr val="tx2"/>
                </a:solidFill>
              </a:rPr>
              <a:t>Transaction Flow Graphs</a:t>
            </a:r>
            <a:r>
              <a:rPr lang="en-US" dirty="0"/>
              <a:t>” in his book</a:t>
            </a:r>
          </a:p>
          <a:p>
            <a:pPr lvl="1"/>
            <a:endParaRPr lang="en-US" dirty="0"/>
          </a:p>
          <a:p>
            <a:r>
              <a:rPr lang="en-US" dirty="0"/>
              <a:t>UML has something very similar :</a:t>
            </a:r>
            <a:endParaRPr lang="en-US" dirty="0">
              <a:solidFill>
                <a:schemeClr val="tx2"/>
              </a:solidFill>
            </a:endParaRPr>
          </a:p>
        </p:txBody>
      </p:sp>
      <p:sp>
        <p:nvSpPr>
          <p:cNvPr id="192516" name="Text Box 4"/>
          <p:cNvSpPr txBox="1">
            <a:spLocks noChangeArrowheads="1"/>
          </p:cNvSpPr>
          <p:nvPr/>
        </p:nvSpPr>
        <p:spPr bwMode="auto">
          <a:xfrm>
            <a:off x="3952560" y="5616209"/>
            <a:ext cx="4283024" cy="535531"/>
          </a:xfrm>
          <a:prstGeom prst="rect">
            <a:avLst/>
          </a:prstGeom>
          <a:gradFill rotWithShape="1">
            <a:gsLst>
              <a:gs pos="0">
                <a:srgbClr val="0000FF"/>
              </a:gs>
              <a:gs pos="100000">
                <a:srgbClr val="0000FF">
                  <a:gamma/>
                  <a:shade val="46275"/>
                  <a:invGamma/>
                </a:srgbClr>
              </a:gs>
            </a:gsLst>
            <a:path path="shape">
              <a:fillToRect l="50000" t="50000" r="50000" b="50000"/>
            </a:path>
          </a:gradFill>
          <a:ln w="12700">
            <a:solidFill>
              <a:schemeClr val="tx1"/>
            </a:solidFill>
            <a:miter lim="800000"/>
            <a:headEnd type="none" w="sm" len="sm"/>
            <a:tailEnd type="none" w="sm" len="sm"/>
          </a:ln>
          <a:effectLst/>
        </p:spPr>
        <p:txBody>
          <a:bodyPr wrap="square">
            <a:spAutoFit/>
          </a:bodyPr>
          <a:lstStyle/>
          <a:p>
            <a:pPr algn="ctr">
              <a:lnSpc>
                <a:spcPct val="90000"/>
              </a:lnSpc>
              <a:spcBef>
                <a:spcPct val="30000"/>
              </a:spcBef>
              <a:buSzPct val="75000"/>
              <a:buFont typeface="Monotype Sorts" charset="2"/>
              <a:buNone/>
              <a:defRPr/>
            </a:pPr>
            <a:r>
              <a:rPr lang="en-US" sz="3200" dirty="0">
                <a:solidFill>
                  <a:schemeClr val="tx2"/>
                </a:solidFill>
                <a:effectLst>
                  <a:outerShdw blurRad="38100" dist="38100" dir="2700000" algn="tl">
                    <a:srgbClr val="000000"/>
                  </a:outerShdw>
                </a:effectLst>
                <a:latin typeface="Gill Sans MT" pitchFamily="34" charset="0"/>
              </a:rPr>
              <a:t>Activity Diagrams</a:t>
            </a:r>
            <a:endParaRPr lang="en-US" sz="2800" dirty="0">
              <a:solidFill>
                <a:schemeClr val="tx2"/>
              </a:solidFill>
              <a:effectLst>
                <a:outerShdw blurRad="38100" dist="38100" dir="2700000" algn="tl">
                  <a:srgbClr val="000000"/>
                </a:outerShdw>
              </a:effectLst>
              <a:latin typeface="Gill Sans MT"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wipe(left)">
                                      <p:cBhvr>
                                        <p:cTn id="7" dur="1000"/>
                                        <p:tgtEl>
                                          <p:spTgt spid="192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2515">
                                            <p:txEl>
                                              <p:pRg st="2" end="2"/>
                                            </p:txEl>
                                          </p:spTgt>
                                        </p:tgtEl>
                                        <p:attrNameLst>
                                          <p:attrName>style.visibility</p:attrName>
                                        </p:attrNameLst>
                                      </p:cBhvr>
                                      <p:to>
                                        <p:strVal val="visible"/>
                                      </p:to>
                                    </p:set>
                                    <p:animEffect transition="in" filter="wipe(left)">
                                      <p:cBhvr>
                                        <p:cTn id="12" dur="1000"/>
                                        <p:tgtEl>
                                          <p:spTgt spid="1925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2515">
                                            <p:txEl>
                                              <p:pRg st="4" end="4"/>
                                            </p:txEl>
                                          </p:spTgt>
                                        </p:tgtEl>
                                        <p:attrNameLst>
                                          <p:attrName>style.visibility</p:attrName>
                                        </p:attrNameLst>
                                      </p:cBhvr>
                                      <p:to>
                                        <p:strVal val="visible"/>
                                      </p:to>
                                    </p:set>
                                    <p:animEffect transition="in" filter="wipe(left)">
                                      <p:cBhvr>
                                        <p:cTn id="17" dur="1000"/>
                                        <p:tgtEl>
                                          <p:spTgt spid="19251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2515">
                                            <p:txEl>
                                              <p:pRg st="6" end="6"/>
                                            </p:txEl>
                                          </p:spTgt>
                                        </p:tgtEl>
                                        <p:attrNameLst>
                                          <p:attrName>style.visibility</p:attrName>
                                        </p:attrNameLst>
                                      </p:cBhvr>
                                      <p:to>
                                        <p:strVal val="visible"/>
                                      </p:to>
                                    </p:set>
                                    <p:animEffect transition="in" filter="wipe(left)">
                                      <p:cBhvr>
                                        <p:cTn id="22" dur="1000"/>
                                        <p:tgtEl>
                                          <p:spTgt spid="192515">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2515">
                                            <p:txEl>
                                              <p:pRg st="8" end="8"/>
                                            </p:txEl>
                                          </p:spTgt>
                                        </p:tgtEl>
                                        <p:attrNameLst>
                                          <p:attrName>style.visibility</p:attrName>
                                        </p:attrNameLst>
                                      </p:cBhvr>
                                      <p:to>
                                        <p:strVal val="visible"/>
                                      </p:to>
                                    </p:set>
                                    <p:animEffect transition="in" filter="wipe(left)">
                                      <p:cBhvr>
                                        <p:cTn id="27" dur="1000"/>
                                        <p:tgtEl>
                                          <p:spTgt spid="192515">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2516"/>
                                        </p:tgtEl>
                                        <p:attrNameLst>
                                          <p:attrName>style.visibility</p:attrName>
                                        </p:attrNameLst>
                                      </p:cBhvr>
                                      <p:to>
                                        <p:strVal val="visible"/>
                                      </p:to>
                                    </p:set>
                                    <p:animEffect transition="in" filter="dissolve">
                                      <p:cBhvr>
                                        <p:cTn id="32" dur="500"/>
                                        <p:tgtEl>
                                          <p:spTgt spid="192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p:bldP spid="1925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Slide Number Placeholder 5"/>
          <p:cNvSpPr>
            <a:spLocks noGrp="1"/>
          </p:cNvSpPr>
          <p:nvPr>
            <p:ph type="sldNum" sz="quarter" idx="12"/>
          </p:nvPr>
        </p:nvSpPr>
        <p:spPr>
          <a:noFill/>
        </p:spPr>
        <p:txBody>
          <a:bodyPr/>
          <a:lstStyle/>
          <a:p>
            <a:fld id="{4DD5B59F-91C4-4DDB-A90B-C44F81916E22}" type="slidenum">
              <a:rPr lang="en-US" smtClean="0"/>
              <a:pPr/>
              <a:t>39</a:t>
            </a:fld>
            <a:endParaRPr lang="en-US"/>
          </a:p>
        </p:txBody>
      </p:sp>
      <p:sp>
        <p:nvSpPr>
          <p:cNvPr id="10245" name="Rectangle 2"/>
          <p:cNvSpPr>
            <a:spLocks noGrp="1" noChangeArrowheads="1"/>
          </p:cNvSpPr>
          <p:nvPr>
            <p:ph type="title"/>
          </p:nvPr>
        </p:nvSpPr>
        <p:spPr/>
        <p:txBody>
          <a:bodyPr/>
          <a:lstStyle/>
          <a:p>
            <a:r>
              <a:rPr lang="en-US"/>
              <a:t>Use Cases to Activity Diagrams</a:t>
            </a:r>
          </a:p>
        </p:txBody>
      </p:sp>
      <p:sp>
        <p:nvSpPr>
          <p:cNvPr id="10246" name="Rectangle 3"/>
          <p:cNvSpPr>
            <a:spLocks noGrp="1" noChangeArrowheads="1"/>
          </p:cNvSpPr>
          <p:nvPr>
            <p:ph type="body" idx="1"/>
          </p:nvPr>
        </p:nvSpPr>
        <p:spPr>
          <a:xfrm>
            <a:off x="1638300" y="806245"/>
            <a:ext cx="8915400" cy="5642180"/>
          </a:xfrm>
        </p:spPr>
        <p:txBody>
          <a:bodyPr/>
          <a:lstStyle/>
          <a:p>
            <a:pPr>
              <a:spcBef>
                <a:spcPts val="600"/>
              </a:spcBef>
            </a:pPr>
            <a:r>
              <a:rPr lang="en-US" dirty="0"/>
              <a:t>Activity diagrams indicate </a:t>
            </a:r>
            <a:r>
              <a:rPr lang="en-US" dirty="0">
                <a:solidFill>
                  <a:schemeClr val="tx2"/>
                </a:solidFill>
              </a:rPr>
              <a:t>flow among activities</a:t>
            </a:r>
          </a:p>
          <a:p>
            <a:pPr>
              <a:spcBef>
                <a:spcPts val="600"/>
              </a:spcBef>
            </a:pPr>
            <a:r>
              <a:rPr lang="en-US" dirty="0"/>
              <a:t>Activities should model </a:t>
            </a:r>
            <a:r>
              <a:rPr lang="en-US" dirty="0">
                <a:solidFill>
                  <a:schemeClr val="tx2"/>
                </a:solidFill>
              </a:rPr>
              <a:t>user level steps</a:t>
            </a:r>
          </a:p>
          <a:p>
            <a:pPr>
              <a:spcBef>
                <a:spcPts val="600"/>
              </a:spcBef>
            </a:pPr>
            <a:r>
              <a:rPr lang="en-US" dirty="0"/>
              <a:t>Two kinds of nodes:</a:t>
            </a:r>
          </a:p>
          <a:p>
            <a:pPr lvl="1">
              <a:spcBef>
                <a:spcPts val="600"/>
              </a:spcBef>
            </a:pPr>
            <a:r>
              <a:rPr lang="en-US" dirty="0">
                <a:solidFill>
                  <a:schemeClr val="tx2"/>
                </a:solidFill>
              </a:rPr>
              <a:t>Action</a:t>
            </a:r>
            <a:r>
              <a:rPr lang="en-US" dirty="0"/>
              <a:t> states</a:t>
            </a:r>
          </a:p>
          <a:p>
            <a:pPr lvl="1">
              <a:spcBef>
                <a:spcPts val="600"/>
              </a:spcBef>
            </a:pPr>
            <a:r>
              <a:rPr lang="en-US" dirty="0">
                <a:solidFill>
                  <a:schemeClr val="tx2"/>
                </a:solidFill>
              </a:rPr>
              <a:t>Sequential</a:t>
            </a:r>
            <a:r>
              <a:rPr lang="en-US" dirty="0"/>
              <a:t> branches</a:t>
            </a:r>
          </a:p>
          <a:p>
            <a:pPr>
              <a:spcBef>
                <a:spcPts val="600"/>
              </a:spcBef>
            </a:pPr>
            <a:r>
              <a:rPr lang="en-US" dirty="0"/>
              <a:t>Use case descriptions become </a:t>
            </a:r>
            <a:r>
              <a:rPr lang="en-US" dirty="0">
                <a:solidFill>
                  <a:schemeClr val="tx2"/>
                </a:solidFill>
              </a:rPr>
              <a:t>action state nodes</a:t>
            </a:r>
            <a:r>
              <a:rPr lang="en-US" dirty="0"/>
              <a:t> in the activity diagram</a:t>
            </a:r>
          </a:p>
          <a:p>
            <a:pPr>
              <a:spcBef>
                <a:spcPts val="600"/>
              </a:spcBef>
            </a:pPr>
            <a:r>
              <a:rPr lang="en-US" dirty="0"/>
              <a:t>Alternatives are </a:t>
            </a:r>
            <a:r>
              <a:rPr lang="en-US" dirty="0">
                <a:solidFill>
                  <a:schemeClr val="tx2"/>
                </a:solidFill>
              </a:rPr>
              <a:t>sequential branch nodes</a:t>
            </a:r>
          </a:p>
          <a:p>
            <a:pPr>
              <a:spcBef>
                <a:spcPts val="600"/>
              </a:spcBef>
            </a:pPr>
            <a:r>
              <a:rPr lang="en-US" dirty="0"/>
              <a:t>Flow among steps are </a:t>
            </a:r>
            <a:r>
              <a:rPr lang="en-US" dirty="0">
                <a:solidFill>
                  <a:schemeClr val="tx2"/>
                </a:solidFill>
              </a:rPr>
              <a:t>edges</a:t>
            </a:r>
          </a:p>
          <a:p>
            <a:pPr>
              <a:spcBef>
                <a:spcPts val="600"/>
              </a:spcBef>
            </a:pPr>
            <a:r>
              <a:rPr lang="en-US" dirty="0"/>
              <a:t>Activity diagrams usually have some helpful characteristics:</a:t>
            </a:r>
          </a:p>
          <a:p>
            <a:pPr lvl="1">
              <a:spcBef>
                <a:spcPts val="600"/>
              </a:spcBef>
            </a:pPr>
            <a:r>
              <a:rPr lang="en-US" dirty="0"/>
              <a:t>Few loops</a:t>
            </a:r>
          </a:p>
          <a:p>
            <a:pPr lvl="1">
              <a:spcBef>
                <a:spcPts val="600"/>
              </a:spcBef>
            </a:pPr>
            <a:r>
              <a:rPr lang="en-US" dirty="0"/>
              <a:t>Simple predicates </a:t>
            </a:r>
          </a:p>
          <a:p>
            <a:pPr lvl="1">
              <a:spcBef>
                <a:spcPts val="600"/>
              </a:spcBef>
            </a:pPr>
            <a:r>
              <a:rPr lang="en-US" dirty="0"/>
              <a:t>No obvious DU pairs</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Slide Number Placeholder 4"/>
          <p:cNvSpPr>
            <a:spLocks noGrp="1"/>
          </p:cNvSpPr>
          <p:nvPr>
            <p:ph type="sldNum" sz="quarter" idx="12"/>
          </p:nvPr>
        </p:nvSpPr>
        <p:spPr>
          <a:noFill/>
        </p:spPr>
        <p:txBody>
          <a:bodyPr/>
          <a:lstStyle/>
          <a:p>
            <a:fld id="{96FA0A5A-B13C-4870-B4F4-864E13646B00}" type="slidenum">
              <a:rPr lang="en-US" smtClean="0"/>
              <a:pPr/>
              <a:t>40</a:t>
            </a:fld>
            <a:endParaRPr lang="en-US"/>
          </a:p>
        </p:txBody>
      </p:sp>
      <p:sp>
        <p:nvSpPr>
          <p:cNvPr id="11269" name="Rectangle 2"/>
          <p:cNvSpPr>
            <a:spLocks noGrp="1" noChangeArrowheads="1"/>
          </p:cNvSpPr>
          <p:nvPr>
            <p:ph type="title"/>
          </p:nvPr>
        </p:nvSpPr>
        <p:spPr/>
        <p:txBody>
          <a:bodyPr/>
          <a:lstStyle/>
          <a:p>
            <a:r>
              <a:rPr lang="en-US"/>
              <a:t>ATM Withdraw Activity Graph</a:t>
            </a:r>
          </a:p>
        </p:txBody>
      </p:sp>
      <p:graphicFrame>
        <p:nvGraphicFramePr>
          <p:cNvPr id="11270" name="Object 3"/>
          <p:cNvGraphicFramePr>
            <a:graphicFrameLocks noChangeAspect="1"/>
          </p:cNvGraphicFramePr>
          <p:nvPr/>
        </p:nvGraphicFramePr>
        <p:xfrm>
          <a:off x="2389189" y="1069975"/>
          <a:ext cx="7413625" cy="5219700"/>
        </p:xfrm>
        <a:graphic>
          <a:graphicData uri="http://schemas.openxmlformats.org/presentationml/2006/ole">
            <mc:AlternateContent xmlns:mc="http://schemas.openxmlformats.org/markup-compatibility/2006">
              <mc:Choice xmlns:v="urn:schemas-microsoft-com:vml" Requires="v">
                <p:oleObj spid="_x0000_s1028" name="VISIO" r:id="rId4" imgW="7415784" imgH="5108448" progId="Visio.Drawing.11">
                  <p:embed/>
                </p:oleObj>
              </mc:Choice>
              <mc:Fallback>
                <p:oleObj name="VISIO" r:id="rId4" imgW="7415784" imgH="5108448" progId="Visio.Drawing.11">
                  <p:embed/>
                  <p:pic>
                    <p:nvPicPr>
                      <p:cNvPr id="1127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9189" y="1069975"/>
                        <a:ext cx="7413625" cy="5219700"/>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Slide Number Placeholder 5"/>
          <p:cNvSpPr>
            <a:spLocks noGrp="1"/>
          </p:cNvSpPr>
          <p:nvPr>
            <p:ph type="sldNum" sz="quarter" idx="12"/>
          </p:nvPr>
        </p:nvSpPr>
        <p:spPr>
          <a:noFill/>
        </p:spPr>
        <p:txBody>
          <a:bodyPr/>
          <a:lstStyle/>
          <a:p>
            <a:fld id="{F1D784C2-B21E-4DDA-8632-266A83561570}" type="slidenum">
              <a:rPr lang="en-US" smtClean="0"/>
              <a:pPr/>
              <a:t>41</a:t>
            </a:fld>
            <a:endParaRPr lang="en-US"/>
          </a:p>
        </p:txBody>
      </p:sp>
      <p:sp>
        <p:nvSpPr>
          <p:cNvPr id="12293" name="Rectangle 2"/>
          <p:cNvSpPr>
            <a:spLocks noGrp="1" noChangeArrowheads="1"/>
          </p:cNvSpPr>
          <p:nvPr>
            <p:ph type="title"/>
          </p:nvPr>
        </p:nvSpPr>
        <p:spPr/>
        <p:txBody>
          <a:bodyPr/>
          <a:lstStyle/>
          <a:p>
            <a:r>
              <a:rPr lang="en-US"/>
              <a:t>Covering Activity Graphs</a:t>
            </a:r>
          </a:p>
        </p:txBody>
      </p:sp>
      <p:sp>
        <p:nvSpPr>
          <p:cNvPr id="12294" name="Rectangle 3"/>
          <p:cNvSpPr>
            <a:spLocks noGrp="1" noChangeArrowheads="1"/>
          </p:cNvSpPr>
          <p:nvPr>
            <p:ph type="body" idx="1"/>
          </p:nvPr>
        </p:nvSpPr>
        <p:spPr>
          <a:xfrm>
            <a:off x="1638300" y="776748"/>
            <a:ext cx="8915400" cy="5736594"/>
          </a:xfrm>
        </p:spPr>
        <p:txBody>
          <a:bodyPr/>
          <a:lstStyle/>
          <a:p>
            <a:pPr>
              <a:spcBef>
                <a:spcPts val="600"/>
              </a:spcBef>
            </a:pPr>
            <a:r>
              <a:rPr lang="en-US" dirty="0">
                <a:solidFill>
                  <a:schemeClr val="tx2"/>
                </a:solidFill>
              </a:rPr>
              <a:t>Node Coverage</a:t>
            </a:r>
          </a:p>
          <a:p>
            <a:pPr lvl="1">
              <a:spcBef>
                <a:spcPts val="600"/>
              </a:spcBef>
            </a:pPr>
            <a:r>
              <a:rPr lang="en-US" dirty="0"/>
              <a:t>Inputs to the software are derived from labels on nodes and predicates</a:t>
            </a:r>
          </a:p>
          <a:p>
            <a:pPr lvl="1">
              <a:spcBef>
                <a:spcPts val="600"/>
              </a:spcBef>
            </a:pPr>
            <a:r>
              <a:rPr lang="en-US" dirty="0"/>
              <a:t>Used to form test case values</a:t>
            </a:r>
          </a:p>
          <a:p>
            <a:pPr>
              <a:spcBef>
                <a:spcPts val="600"/>
              </a:spcBef>
            </a:pPr>
            <a:r>
              <a:rPr lang="en-US" dirty="0">
                <a:solidFill>
                  <a:schemeClr val="tx2"/>
                </a:solidFill>
              </a:rPr>
              <a:t>Edge Coverage</a:t>
            </a:r>
          </a:p>
          <a:p>
            <a:pPr lvl="1">
              <a:spcBef>
                <a:spcPts val="600"/>
              </a:spcBef>
            </a:pPr>
            <a:r>
              <a:rPr lang="en-US" dirty="0"/>
              <a:t>Data flow techniques do </a:t>
            </a:r>
            <a:r>
              <a:rPr lang="en-US" dirty="0">
                <a:solidFill>
                  <a:schemeClr val="tx2"/>
                </a:solidFill>
              </a:rPr>
              <a:t>not</a:t>
            </a:r>
            <a:r>
              <a:rPr lang="en-US" dirty="0"/>
              <a:t> apply</a:t>
            </a:r>
          </a:p>
          <a:p>
            <a:pPr>
              <a:spcBef>
                <a:spcPts val="600"/>
              </a:spcBef>
            </a:pPr>
            <a:r>
              <a:rPr lang="en-US" dirty="0">
                <a:solidFill>
                  <a:schemeClr val="tx2"/>
                </a:solidFill>
              </a:rPr>
              <a:t>Scenario Testing</a:t>
            </a:r>
          </a:p>
          <a:p>
            <a:pPr lvl="1">
              <a:lnSpc>
                <a:spcPct val="80000"/>
              </a:lnSpc>
              <a:spcBef>
                <a:spcPts val="300"/>
              </a:spcBef>
            </a:pPr>
            <a:r>
              <a:rPr lang="en-US" dirty="0">
                <a:solidFill>
                  <a:schemeClr val="tx2"/>
                </a:solidFill>
              </a:rPr>
              <a:t>Scenario</a:t>
            </a:r>
            <a:r>
              <a:rPr lang="en-US" dirty="0"/>
              <a:t> : A complete path through a use case activity graph</a:t>
            </a:r>
          </a:p>
          <a:p>
            <a:pPr lvl="1">
              <a:lnSpc>
                <a:spcPct val="80000"/>
              </a:lnSpc>
              <a:spcBef>
                <a:spcPts val="300"/>
              </a:spcBef>
            </a:pPr>
            <a:r>
              <a:rPr lang="en-US" dirty="0"/>
              <a:t>Should make </a:t>
            </a:r>
            <a:r>
              <a:rPr lang="en-US" dirty="0">
                <a:solidFill>
                  <a:schemeClr val="tx2"/>
                </a:solidFill>
              </a:rPr>
              <a:t>semantic</a:t>
            </a:r>
            <a:r>
              <a:rPr lang="en-US" dirty="0"/>
              <a:t> sense to the users</a:t>
            </a:r>
          </a:p>
          <a:p>
            <a:pPr lvl="1">
              <a:lnSpc>
                <a:spcPct val="80000"/>
              </a:lnSpc>
              <a:spcBef>
                <a:spcPts val="300"/>
              </a:spcBef>
            </a:pPr>
            <a:r>
              <a:rPr lang="en-US" dirty="0"/>
              <a:t>Number of paths often </a:t>
            </a:r>
            <a:r>
              <a:rPr lang="en-US" dirty="0">
                <a:solidFill>
                  <a:schemeClr val="tx2"/>
                </a:solidFill>
              </a:rPr>
              <a:t>finite</a:t>
            </a:r>
          </a:p>
          <a:p>
            <a:pPr lvl="1">
              <a:lnSpc>
                <a:spcPct val="80000"/>
              </a:lnSpc>
              <a:spcBef>
                <a:spcPts val="300"/>
              </a:spcBef>
            </a:pPr>
            <a:r>
              <a:rPr lang="en-US" dirty="0"/>
              <a:t>If not, scenarios defined based on </a:t>
            </a:r>
            <a:r>
              <a:rPr lang="en-US" dirty="0">
                <a:solidFill>
                  <a:schemeClr val="tx2"/>
                </a:solidFill>
              </a:rPr>
              <a:t>domain knowledge</a:t>
            </a:r>
          </a:p>
          <a:p>
            <a:pPr lvl="1">
              <a:lnSpc>
                <a:spcPct val="80000"/>
              </a:lnSpc>
              <a:spcBef>
                <a:spcPts val="300"/>
              </a:spcBef>
            </a:pPr>
            <a:r>
              <a:rPr lang="en-US" dirty="0"/>
              <a:t>Use “</a:t>
            </a:r>
            <a:r>
              <a:rPr lang="en-US" dirty="0">
                <a:solidFill>
                  <a:schemeClr val="tx2"/>
                </a:solidFill>
              </a:rPr>
              <a:t>specified path coverage</a:t>
            </a:r>
            <a:r>
              <a:rPr lang="en-US" dirty="0"/>
              <a:t>,” where the set S of paths is the set of scenarios</a:t>
            </a:r>
          </a:p>
          <a:p>
            <a:pPr lvl="1">
              <a:lnSpc>
                <a:spcPct val="80000"/>
              </a:lnSpc>
              <a:spcBef>
                <a:spcPts val="300"/>
              </a:spcBef>
            </a:pPr>
            <a:r>
              <a:rPr lang="en-US" dirty="0"/>
              <a:t>Note that specified path coverage does not necessarily subsume edge coverage, but scenarios </a:t>
            </a:r>
            <a:r>
              <a:rPr lang="en-US" dirty="0">
                <a:solidFill>
                  <a:srgbClr val="FFFF00"/>
                </a:solidFill>
              </a:rPr>
              <a:t>should be</a:t>
            </a:r>
            <a:r>
              <a:rPr lang="en-US" dirty="0"/>
              <a:t> defined so that it does</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Summary of Use Case Testing</a:t>
            </a:r>
          </a:p>
        </p:txBody>
      </p:sp>
      <p:sp>
        <p:nvSpPr>
          <p:cNvPr id="13315" name="Content Placeholder 2"/>
          <p:cNvSpPr>
            <a:spLocks noGrp="1"/>
          </p:cNvSpPr>
          <p:nvPr>
            <p:ph idx="1"/>
          </p:nvPr>
        </p:nvSpPr>
        <p:spPr/>
        <p:txBody>
          <a:bodyPr/>
          <a:lstStyle/>
          <a:p>
            <a:pPr>
              <a:spcAft>
                <a:spcPts val="1200"/>
              </a:spcAft>
            </a:pPr>
            <a:r>
              <a:rPr lang="en-US"/>
              <a:t>Use cases are defined at the </a:t>
            </a:r>
            <a:r>
              <a:rPr lang="en-US">
                <a:solidFill>
                  <a:schemeClr val="tx2"/>
                </a:solidFill>
              </a:rPr>
              <a:t>requirements</a:t>
            </a:r>
            <a:r>
              <a:rPr lang="en-US"/>
              <a:t> level</a:t>
            </a:r>
          </a:p>
          <a:p>
            <a:pPr>
              <a:spcAft>
                <a:spcPts val="1200"/>
              </a:spcAft>
            </a:pPr>
            <a:r>
              <a:rPr lang="en-US"/>
              <a:t>Can be very </a:t>
            </a:r>
            <a:r>
              <a:rPr lang="en-US">
                <a:solidFill>
                  <a:schemeClr val="tx2"/>
                </a:solidFill>
              </a:rPr>
              <a:t>high level</a:t>
            </a:r>
          </a:p>
          <a:p>
            <a:pPr>
              <a:spcAft>
                <a:spcPts val="1200"/>
              </a:spcAft>
            </a:pPr>
            <a:r>
              <a:rPr lang="en-US"/>
              <a:t>UML </a:t>
            </a:r>
            <a:r>
              <a:rPr lang="en-US">
                <a:solidFill>
                  <a:schemeClr val="tx2"/>
                </a:solidFill>
              </a:rPr>
              <a:t>Activity Diagrams</a:t>
            </a:r>
            <a:r>
              <a:rPr lang="en-US"/>
              <a:t> encode use cases in graphs</a:t>
            </a:r>
          </a:p>
          <a:p>
            <a:pPr lvl="1">
              <a:spcAft>
                <a:spcPts val="1200"/>
              </a:spcAft>
            </a:pPr>
            <a:r>
              <a:rPr lang="en-US"/>
              <a:t>Graphs usually have a fairly </a:t>
            </a:r>
            <a:r>
              <a:rPr lang="en-US">
                <a:solidFill>
                  <a:schemeClr val="tx2"/>
                </a:solidFill>
              </a:rPr>
              <a:t>simple structure</a:t>
            </a:r>
          </a:p>
          <a:p>
            <a:pPr>
              <a:spcAft>
                <a:spcPts val="1200"/>
              </a:spcAft>
            </a:pPr>
            <a:r>
              <a:rPr lang="en-US">
                <a:solidFill>
                  <a:schemeClr val="tx2"/>
                </a:solidFill>
              </a:rPr>
              <a:t>Requirements-based</a:t>
            </a:r>
            <a:r>
              <a:rPr lang="en-US"/>
              <a:t> testing can use graph coverage</a:t>
            </a:r>
          </a:p>
          <a:p>
            <a:pPr lvl="1">
              <a:spcAft>
                <a:spcPts val="1200"/>
              </a:spcAft>
            </a:pPr>
            <a:r>
              <a:rPr lang="en-US"/>
              <a:t>Straightforward to do </a:t>
            </a:r>
            <a:r>
              <a:rPr lang="en-US">
                <a:solidFill>
                  <a:schemeClr val="tx2"/>
                </a:solidFill>
              </a:rPr>
              <a:t>by hand</a:t>
            </a:r>
          </a:p>
          <a:p>
            <a:pPr lvl="1">
              <a:spcAft>
                <a:spcPts val="1200"/>
              </a:spcAft>
            </a:pPr>
            <a:r>
              <a:rPr lang="en-US">
                <a:solidFill>
                  <a:schemeClr val="tx2"/>
                </a:solidFill>
              </a:rPr>
              <a:t>Specified path coverage</a:t>
            </a:r>
            <a:r>
              <a:rPr lang="en-US"/>
              <a:t> makes sense for these graphs</a:t>
            </a:r>
          </a:p>
        </p:txBody>
      </p:sp>
      <p:sp>
        <p:nvSpPr>
          <p:cNvPr id="13318" name="Slide Number Placeholder 5"/>
          <p:cNvSpPr>
            <a:spLocks noGrp="1"/>
          </p:cNvSpPr>
          <p:nvPr>
            <p:ph type="sldNum" sz="quarter" idx="12"/>
          </p:nvPr>
        </p:nvSpPr>
        <p:spPr>
          <a:noFill/>
        </p:spPr>
        <p:txBody>
          <a:bodyPr/>
          <a:lstStyle/>
          <a:p>
            <a:fld id="{685C1A4A-25DC-4422-AE28-ECC9DE890A1B}" type="slidenum">
              <a:rPr lang="en-US" smtClean="0"/>
              <a:pPr/>
              <a:t>42</a:t>
            </a:fld>
            <a:endParaRPr lang="en-US"/>
          </a:p>
        </p:txBody>
      </p:sp>
    </p:spTree>
  </p:cSld>
  <p:clrMapOvr>
    <a:masterClrMapping/>
  </p:clrMapOvr>
  <p:transition spd="med"/>
</p:sld>
</file>

<file path=ppt/theme/theme1.xml><?xml version="1.0" encoding="utf-8"?>
<a:theme xmlns:a="http://schemas.openxmlformats.org/drawingml/2006/main" name="intro">
  <a:themeElements>
    <a:clrScheme name="Custom 5">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FF00"/>
      </a:hlink>
      <a:folHlink>
        <a:srgbClr val="FED699"/>
      </a:folHlink>
    </a:clrScheme>
    <a:fontScheme name="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lnDef>
  </a:objectDefaults>
  <a:extraClrSchemeLst>
    <a:extraClrScheme>
      <a:clrScheme name="intr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ro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r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a:\intro.ppt</Template>
  <TotalTime>740</TotalTime>
  <Pages>49</Pages>
  <Words>3461</Words>
  <Application>Microsoft Office PowerPoint</Application>
  <PresentationFormat>宽屏</PresentationFormat>
  <Paragraphs>629</Paragraphs>
  <Slides>42</Slides>
  <Notes>25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51" baseType="lpstr">
      <vt:lpstr>Gill Sans MT</vt:lpstr>
      <vt:lpstr>Monotype Sorts</vt:lpstr>
      <vt:lpstr>Arial</vt:lpstr>
      <vt:lpstr>Helvetica</vt:lpstr>
      <vt:lpstr>Times New Roman</vt:lpstr>
      <vt:lpstr>Verdana</vt:lpstr>
      <vt:lpstr>Wingdings</vt:lpstr>
      <vt:lpstr>intro</vt:lpstr>
      <vt:lpstr>VISIO</vt:lpstr>
      <vt:lpstr>Chapter 2 Graph Coverage</vt:lpstr>
      <vt:lpstr>本节课程目标</vt:lpstr>
      <vt:lpstr>Design Specifications</vt:lpstr>
      <vt:lpstr>Sequencing Constraints</vt:lpstr>
      <vt:lpstr>Sequencing Constraints Overview</vt:lpstr>
      <vt:lpstr>Queue Example</vt:lpstr>
      <vt:lpstr>File ADT Example</vt:lpstr>
      <vt:lpstr>Static Checking</vt:lpstr>
      <vt:lpstr>Static Checking</vt:lpstr>
      <vt:lpstr>Generating Test Requirements</vt:lpstr>
      <vt:lpstr>Test Requirements for FileADT</vt:lpstr>
      <vt:lpstr>Testing State Behavior</vt:lpstr>
      <vt:lpstr>Finite State Machine—Two Variables</vt:lpstr>
      <vt:lpstr>Finite State Machines are Common</vt:lpstr>
      <vt:lpstr>Annotations on FSMs</vt:lpstr>
      <vt:lpstr>Example Annotations</vt:lpstr>
      <vt:lpstr>Covering FSMs</vt:lpstr>
      <vt:lpstr>Deriving FSMs</vt:lpstr>
      <vt:lpstr>Class Watch</vt:lpstr>
      <vt:lpstr>PowerPoint 演示文稿</vt:lpstr>
      <vt:lpstr>1. Combining Control Flow Graphs</vt:lpstr>
      <vt:lpstr>CFGs for Watch</vt:lpstr>
      <vt:lpstr>2. Using the Software Structure</vt:lpstr>
      <vt:lpstr>Software Structure for Watch</vt:lpstr>
      <vt:lpstr>3. Modeling State Variables</vt:lpstr>
      <vt:lpstr>State Variables in Watch</vt:lpstr>
      <vt:lpstr>State Variables in Time</vt:lpstr>
      <vt:lpstr>Hierarchical FSMs</vt:lpstr>
      <vt:lpstr>Watch / Time Hierarchical FSM</vt:lpstr>
      <vt:lpstr>Summary–Tradeoffs in Applying Graph Coverage Criteria to FSMs</vt:lpstr>
      <vt:lpstr>Chapter 2 Graph Coverage  </vt:lpstr>
      <vt:lpstr>UML Use Cases</vt:lpstr>
      <vt:lpstr>Simple Use Case Example</vt:lpstr>
      <vt:lpstr>Elaboration</vt:lpstr>
      <vt:lpstr>Elaboration of ATM Use Case</vt:lpstr>
      <vt:lpstr>Elaboration of ATM Use Case—(2/3)</vt:lpstr>
      <vt:lpstr>Elaboration of ATM Use Case—(3/3)</vt:lpstr>
      <vt:lpstr>Wait A Minute …</vt:lpstr>
      <vt:lpstr>Use Cases to Activity Diagrams</vt:lpstr>
      <vt:lpstr>ATM Withdraw Activity Graph</vt:lpstr>
      <vt:lpstr>Covering Activity Graphs</vt:lpstr>
      <vt:lpstr>Summary of Use Case Testing</vt:lpstr>
    </vt:vector>
  </TitlesOfParts>
  <Company>George Mason Unviersity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 637: Graph Coverage for Design Elements</dc:title>
  <dc:creator>Jeff Offutt</dc:creator>
  <cp:lastModifiedBy>Yue Zhang</cp:lastModifiedBy>
  <cp:revision>319</cp:revision>
  <cp:lastPrinted>2016-10-24T19:47:18Z</cp:lastPrinted>
  <dcterms:created xsi:type="dcterms:W3CDTF">1996-06-15T03:21:08Z</dcterms:created>
  <dcterms:modified xsi:type="dcterms:W3CDTF">2026-03-24T06:03:29Z</dcterms:modified>
</cp:coreProperties>
</file>