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handoutMasterIdLst>
    <p:handoutMasterId r:id="rId29"/>
  </p:handoutMasterIdLst>
  <p:sldIdLst>
    <p:sldId id="424" r:id="rId2"/>
    <p:sldId id="458" r:id="rId3"/>
    <p:sldId id="425" r:id="rId4"/>
    <p:sldId id="428" r:id="rId5"/>
    <p:sldId id="430" r:id="rId6"/>
    <p:sldId id="431" r:id="rId7"/>
    <p:sldId id="433" r:id="rId8"/>
    <p:sldId id="434" r:id="rId9"/>
    <p:sldId id="435" r:id="rId10"/>
    <p:sldId id="452" r:id="rId11"/>
    <p:sldId id="453" r:id="rId12"/>
    <p:sldId id="436" r:id="rId13"/>
    <p:sldId id="438" r:id="rId14"/>
    <p:sldId id="455" r:id="rId15"/>
    <p:sldId id="456" r:id="rId16"/>
    <p:sldId id="457" r:id="rId17"/>
    <p:sldId id="440" r:id="rId18"/>
    <p:sldId id="442" r:id="rId19"/>
    <p:sldId id="443" r:id="rId20"/>
    <p:sldId id="444" r:id="rId21"/>
    <p:sldId id="445" r:id="rId22"/>
    <p:sldId id="447" r:id="rId23"/>
    <p:sldId id="454" r:id="rId24"/>
    <p:sldId id="448" r:id="rId25"/>
    <p:sldId id="449" r:id="rId26"/>
    <p:sldId id="450" r:id="rId27"/>
  </p:sldIdLst>
  <p:sldSz cx="12192000" cy="6858000"/>
  <p:notesSz cx="7315200" cy="9601200"/>
  <p:defaultTextStyle>
    <a:defPPr>
      <a:defRPr lang="en-US"/>
    </a:defPPr>
    <a:lvl1pPr algn="l" rtl="0" eaLnBrk="0" fontAlgn="base" hangingPunct="0">
      <a:spcBef>
        <a:spcPct val="0"/>
      </a:spcBef>
      <a:spcAft>
        <a:spcPct val="0"/>
      </a:spcAft>
      <a:defRPr sz="2000" b="1" kern="1200">
        <a:solidFill>
          <a:srgbClr val="FAFD00"/>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rgbClr val="FAFD00"/>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rgbClr val="FAFD00"/>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rgbClr val="FAFD00"/>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rgbClr val="FAFD00"/>
        </a:solidFill>
        <a:latin typeface="Times New Roman" pitchFamily="18" charset="0"/>
        <a:ea typeface="+mn-ea"/>
        <a:cs typeface="+mn-cs"/>
      </a:defRPr>
    </a:lvl5pPr>
    <a:lvl6pPr marL="2286000" algn="l" defTabSz="914400" rtl="0" eaLnBrk="1" latinLnBrk="0" hangingPunct="1">
      <a:defRPr sz="2000" b="1" kern="1200">
        <a:solidFill>
          <a:srgbClr val="FAFD00"/>
        </a:solidFill>
        <a:latin typeface="Times New Roman" pitchFamily="18" charset="0"/>
        <a:ea typeface="+mn-ea"/>
        <a:cs typeface="+mn-cs"/>
      </a:defRPr>
    </a:lvl6pPr>
    <a:lvl7pPr marL="2743200" algn="l" defTabSz="914400" rtl="0" eaLnBrk="1" latinLnBrk="0" hangingPunct="1">
      <a:defRPr sz="2000" b="1" kern="1200">
        <a:solidFill>
          <a:srgbClr val="FAFD00"/>
        </a:solidFill>
        <a:latin typeface="Times New Roman" pitchFamily="18" charset="0"/>
        <a:ea typeface="+mn-ea"/>
        <a:cs typeface="+mn-cs"/>
      </a:defRPr>
    </a:lvl7pPr>
    <a:lvl8pPr marL="3200400" algn="l" defTabSz="914400" rtl="0" eaLnBrk="1" latinLnBrk="0" hangingPunct="1">
      <a:defRPr sz="2000" b="1" kern="1200">
        <a:solidFill>
          <a:srgbClr val="FAFD00"/>
        </a:solidFill>
        <a:latin typeface="Times New Roman" pitchFamily="18" charset="0"/>
        <a:ea typeface="+mn-ea"/>
        <a:cs typeface="+mn-cs"/>
      </a:defRPr>
    </a:lvl8pPr>
    <a:lvl9pPr marL="3657600" algn="l" defTabSz="914400" rtl="0" eaLnBrk="1" latinLnBrk="0" hangingPunct="1">
      <a:defRPr sz="2000" b="1" kern="1200">
        <a:solidFill>
          <a:srgbClr val="FAFD00"/>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36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145A"/>
    <a:srgbClr val="001E5A"/>
    <a:srgbClr val="5F5F5F"/>
    <a:srgbClr val="000000"/>
    <a:srgbClr val="6699FF"/>
    <a:srgbClr val="333399"/>
    <a:srgbClr val="0000CC"/>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25" autoAdjust="0"/>
    <p:restoredTop sz="93571" autoAdjust="0"/>
  </p:normalViewPr>
  <p:slideViewPr>
    <p:cSldViewPr snapToGrid="0">
      <p:cViewPr varScale="1">
        <p:scale>
          <a:sx n="92" d="100"/>
          <a:sy n="92" d="100"/>
        </p:scale>
        <p:origin x="1264" y="56"/>
      </p:cViewPr>
      <p:guideLst>
        <p:guide orient="horz" pos="2280"/>
        <p:guide pos="369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7" tIns="0" rIns="20137" bIns="0" numCol="1" anchor="t" anchorCtr="0" compatLnSpc="1">
            <a:prstTxWarp prst="textNoShape">
              <a:avLst/>
            </a:prstTxWarp>
          </a:bodyPr>
          <a:lstStyle>
            <a:lvl1pPr defTabSz="966788">
              <a:defRPr sz="1100" b="0" i="1"/>
            </a:lvl1pPr>
          </a:lstStyle>
          <a:p>
            <a:pPr>
              <a:defRPr/>
            </a:pPr>
            <a:endParaRPr lang="en-US"/>
          </a:p>
        </p:txBody>
      </p:sp>
      <p:sp>
        <p:nvSpPr>
          <p:cNvPr id="307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20137" tIns="0" rIns="20137" bIns="0" numCol="1" anchor="t" anchorCtr="0" compatLnSpc="1">
            <a:prstTxWarp prst="textNoShape">
              <a:avLst/>
            </a:prstTxWarp>
          </a:bodyPr>
          <a:lstStyle>
            <a:lvl1pPr algn="r" defTabSz="966788">
              <a:defRPr sz="1100" b="0" i="1"/>
            </a:lvl1pPr>
          </a:lstStyle>
          <a:p>
            <a:pPr>
              <a:defRPr/>
            </a:pPr>
            <a:endParaRPr lang="en-US"/>
          </a:p>
        </p:txBody>
      </p:sp>
      <p:sp>
        <p:nvSpPr>
          <p:cNvPr id="307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20137" tIns="0" rIns="20137" bIns="0" numCol="1" anchor="b" anchorCtr="0" compatLnSpc="1">
            <a:prstTxWarp prst="textNoShape">
              <a:avLst/>
            </a:prstTxWarp>
          </a:bodyPr>
          <a:lstStyle>
            <a:lvl1pPr defTabSz="966788">
              <a:defRPr sz="1100" b="0" i="1"/>
            </a:lvl1pPr>
          </a:lstStyle>
          <a:p>
            <a:pPr>
              <a:defRPr/>
            </a:pPr>
            <a:endParaRPr lang="en-US"/>
          </a:p>
        </p:txBody>
      </p:sp>
      <p:sp>
        <p:nvSpPr>
          <p:cNvPr id="307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20137" tIns="0" rIns="20137" bIns="0" numCol="1" anchor="b" anchorCtr="0" compatLnSpc="1">
            <a:prstTxWarp prst="textNoShape">
              <a:avLst/>
            </a:prstTxWarp>
          </a:bodyPr>
          <a:lstStyle>
            <a:lvl1pPr algn="r" defTabSz="966788">
              <a:defRPr sz="1100" b="0" i="1"/>
            </a:lvl1pPr>
          </a:lstStyle>
          <a:p>
            <a:pPr>
              <a:defRPr/>
            </a:pPr>
            <a:fld id="{A30F4EA2-CC81-487A-B0A3-A29FBD5BD712}" type="slidenum">
              <a:rPr lang="en-US"/>
              <a:pPr>
                <a:defRPr/>
              </a:pPr>
              <a:t>‹#›</a:t>
            </a:fld>
            <a:endParaRPr lang="en-US"/>
          </a:p>
        </p:txBody>
      </p:sp>
    </p:spTree>
    <p:extLst>
      <p:ext uri="{BB962C8B-B14F-4D97-AF65-F5344CB8AC3E}">
        <p14:creationId xmlns:p14="http://schemas.microsoft.com/office/powerpoint/2010/main" val="14566809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7" tIns="0" rIns="20137" bIns="0" numCol="1" anchor="t" anchorCtr="0" compatLnSpc="1">
            <a:prstTxWarp prst="textNoShape">
              <a:avLst/>
            </a:prstTxWarp>
          </a:bodyPr>
          <a:lstStyle>
            <a:lvl1pPr defTabSz="966788">
              <a:defRPr sz="1100" b="0" i="1">
                <a:solidFill>
                  <a:schemeClr val="tx1"/>
                </a:solidFill>
              </a:defRPr>
            </a:lvl1pPr>
          </a:lstStyle>
          <a:p>
            <a:pPr>
              <a:defRPr/>
            </a:pPr>
            <a:endParaRPr lang="en-US"/>
          </a:p>
        </p:txBody>
      </p:sp>
      <p:sp>
        <p:nvSpPr>
          <p:cNvPr id="2051"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20137" tIns="0" rIns="20137" bIns="0" numCol="1" anchor="t" anchorCtr="0" compatLnSpc="1">
            <a:prstTxWarp prst="textNoShape">
              <a:avLst/>
            </a:prstTxWarp>
          </a:bodyPr>
          <a:lstStyle>
            <a:lvl1pPr algn="r" defTabSz="966788">
              <a:defRPr sz="1100" b="0" i="1">
                <a:solidFill>
                  <a:schemeClr val="tx1"/>
                </a:solidFill>
              </a:defRPr>
            </a:lvl1pPr>
          </a:lstStyle>
          <a:p>
            <a:pPr>
              <a:defRPr/>
            </a:pPr>
            <a:endParaRPr lang="en-US"/>
          </a:p>
        </p:txBody>
      </p:sp>
      <p:sp>
        <p:nvSpPr>
          <p:cNvPr id="2052" name="Rectangle 4"/>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20137" tIns="0" rIns="20137" bIns="0" numCol="1" anchor="b" anchorCtr="0" compatLnSpc="1">
            <a:prstTxWarp prst="textNoShape">
              <a:avLst/>
            </a:prstTxWarp>
          </a:bodyPr>
          <a:lstStyle>
            <a:lvl1pPr defTabSz="966788">
              <a:defRPr sz="1100" b="0" i="1">
                <a:solidFill>
                  <a:schemeClr val="tx1"/>
                </a:solidFill>
              </a:defRPr>
            </a:lvl1pPr>
          </a:lstStyle>
          <a:p>
            <a:pPr>
              <a:defRPr/>
            </a:pPr>
            <a:endParaRPr lang="en-US"/>
          </a:p>
        </p:txBody>
      </p:sp>
      <p:sp>
        <p:nvSpPr>
          <p:cNvPr id="2053" name="Rectangle 5"/>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20137" tIns="0" rIns="20137" bIns="0" numCol="1" anchor="b" anchorCtr="0" compatLnSpc="1">
            <a:prstTxWarp prst="textNoShape">
              <a:avLst/>
            </a:prstTxWarp>
          </a:bodyPr>
          <a:lstStyle>
            <a:lvl1pPr algn="r" defTabSz="966788">
              <a:defRPr sz="1100" b="0" i="1">
                <a:solidFill>
                  <a:schemeClr val="tx1"/>
                </a:solidFill>
              </a:defRPr>
            </a:lvl1pPr>
          </a:lstStyle>
          <a:p>
            <a:pPr>
              <a:defRPr/>
            </a:pPr>
            <a:fld id="{16413523-9080-4B39-94DD-9D9DA6A730C8}" type="slidenum">
              <a:rPr lang="en-US"/>
              <a:pPr>
                <a:defRPr/>
              </a:pPr>
              <a:t>‹#›</a:t>
            </a:fld>
            <a:endParaRPr lang="en-US"/>
          </a:p>
        </p:txBody>
      </p:sp>
      <p:sp>
        <p:nvSpPr>
          <p:cNvPr id="2054" name="Rectangle 6"/>
          <p:cNvSpPr>
            <a:spLocks noGrp="1" noChangeArrowheads="1"/>
          </p:cNvSpPr>
          <p:nvPr>
            <p:ph type="body" sz="quarter" idx="3"/>
          </p:nvPr>
        </p:nvSpPr>
        <p:spPr bwMode="auto">
          <a:xfrm>
            <a:off x="974725" y="4559300"/>
            <a:ext cx="5365750" cy="4319588"/>
          </a:xfrm>
          <a:prstGeom prst="rect">
            <a:avLst/>
          </a:prstGeom>
          <a:noFill/>
          <a:ln w="9525">
            <a:noFill/>
            <a:miter lim="800000"/>
            <a:headEnd/>
            <a:tailEnd/>
          </a:ln>
          <a:effectLst/>
        </p:spPr>
        <p:txBody>
          <a:bodyPr vert="horz" wrap="square" lIns="97325" tIns="48664" rIns="97325" bIns="4866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3" name="Rectangle 7"/>
          <p:cNvSpPr>
            <a:spLocks noGrp="1" noRot="1" noChangeAspect="1" noChangeArrowheads="1" noTextEdit="1"/>
          </p:cNvSpPr>
          <p:nvPr>
            <p:ph type="sldImg" idx="2"/>
          </p:nvPr>
        </p:nvSpPr>
        <p:spPr bwMode="auto">
          <a:xfrm>
            <a:off x="461963" y="720725"/>
            <a:ext cx="6391275" cy="3595688"/>
          </a:xfrm>
          <a:prstGeom prst="rect">
            <a:avLst/>
          </a:prstGeom>
          <a:noFill/>
          <a:ln w="12700">
            <a:solidFill>
              <a:schemeClr val="tx1"/>
            </a:solidFill>
            <a:miter lim="800000"/>
            <a:headEnd/>
            <a:tailEnd/>
          </a:ln>
        </p:spPr>
      </p:sp>
      <p:sp>
        <p:nvSpPr>
          <p:cNvPr id="2056" name="Rectangle 8"/>
          <p:cNvSpPr>
            <a:spLocks noChangeArrowheads="1"/>
          </p:cNvSpPr>
          <p:nvPr/>
        </p:nvSpPr>
        <p:spPr bwMode="auto">
          <a:xfrm>
            <a:off x="3290888" y="9144000"/>
            <a:ext cx="731837" cy="268288"/>
          </a:xfrm>
          <a:prstGeom prst="rect">
            <a:avLst/>
          </a:prstGeom>
          <a:noFill/>
          <a:ln w="9525">
            <a:noFill/>
            <a:miter lim="800000"/>
            <a:headEnd/>
            <a:tailEnd/>
          </a:ln>
          <a:effectLst/>
        </p:spPr>
        <p:txBody>
          <a:bodyPr wrap="none" lIns="92293" tIns="46985" rIns="92293" bIns="46985">
            <a:spAutoFit/>
          </a:bodyPr>
          <a:lstStyle/>
          <a:p>
            <a:pPr algn="ctr" defTabSz="917575">
              <a:lnSpc>
                <a:spcPct val="90000"/>
              </a:lnSpc>
              <a:defRPr/>
            </a:pPr>
            <a:r>
              <a:rPr lang="en-US" sz="1400" b="0">
                <a:solidFill>
                  <a:schemeClr val="tx1"/>
                </a:solidFill>
              </a:rPr>
              <a:t>Page </a:t>
            </a:r>
            <a:fld id="{40EA2EE8-1DDB-4000-A1E4-236B1BC3B3F0}" type="slidenum">
              <a:rPr lang="en-US" sz="1400" b="0">
                <a:solidFill>
                  <a:schemeClr val="tx1"/>
                </a:solidFill>
              </a:rPr>
              <a:pPr algn="ctr" defTabSz="917575">
                <a:lnSpc>
                  <a:spcPct val="90000"/>
                </a:lnSpc>
                <a:defRPr/>
              </a:pPr>
              <a:t>‹#›</a:t>
            </a:fld>
            <a:endParaRPr lang="en-US" sz="1400" b="0">
              <a:solidFill>
                <a:schemeClr val="tx1"/>
              </a:solidFill>
            </a:endParaRPr>
          </a:p>
        </p:txBody>
      </p:sp>
    </p:spTree>
    <p:extLst>
      <p:ext uri="{BB962C8B-B14F-4D97-AF65-F5344CB8AC3E}">
        <p14:creationId xmlns:p14="http://schemas.microsoft.com/office/powerpoint/2010/main" val="42897784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xfrm>
            <a:off x="461963" y="720725"/>
            <a:ext cx="6391275" cy="3595688"/>
          </a:xfrm>
          <a:ln/>
        </p:spPr>
      </p:sp>
      <p:sp>
        <p:nvSpPr>
          <p:cNvPr id="30723" name="Notes Placeholder 2"/>
          <p:cNvSpPr>
            <a:spLocks noGrp="1"/>
          </p:cNvSpPr>
          <p:nvPr>
            <p:ph type="body" idx="1"/>
          </p:nvPr>
        </p:nvSpPr>
        <p:spPr>
          <a:noFill/>
          <a:ln/>
        </p:spPr>
        <p:txBody>
          <a:bodyPr/>
          <a:lstStyle/>
          <a:p>
            <a:endParaRPr lang="en-US" dirty="0"/>
          </a:p>
        </p:txBody>
      </p:sp>
      <p:sp>
        <p:nvSpPr>
          <p:cNvPr id="30724" name="Slide Number Placeholder 3"/>
          <p:cNvSpPr>
            <a:spLocks noGrp="1"/>
          </p:cNvSpPr>
          <p:nvPr>
            <p:ph type="sldNum" sz="quarter" idx="5"/>
          </p:nvPr>
        </p:nvSpPr>
        <p:spPr>
          <a:noFill/>
        </p:spPr>
        <p:txBody>
          <a:bodyPr/>
          <a:lstStyle/>
          <a:p>
            <a:fld id="{A1C839CD-BD58-457B-8791-6D131D9531EF}" type="slidenum">
              <a:rPr lang="en-US" smtClean="0"/>
              <a:pPr/>
              <a:t>1</a:t>
            </a:fld>
            <a:endParaRPr lang="en-US" dirty="0"/>
          </a:p>
        </p:txBody>
      </p:sp>
    </p:spTree>
    <p:extLst>
      <p:ext uri="{BB962C8B-B14F-4D97-AF65-F5344CB8AC3E}">
        <p14:creationId xmlns:p14="http://schemas.microsoft.com/office/powerpoint/2010/main" val="4191690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xfrm>
            <a:off x="461963" y="720725"/>
            <a:ext cx="6391275" cy="3595688"/>
          </a:xfrm>
          <a:ln/>
        </p:spPr>
      </p:sp>
      <p:sp>
        <p:nvSpPr>
          <p:cNvPr id="31747" name="Notes Placeholder 2"/>
          <p:cNvSpPr>
            <a:spLocks noGrp="1"/>
          </p:cNvSpPr>
          <p:nvPr>
            <p:ph type="body" idx="1"/>
          </p:nvPr>
        </p:nvSpPr>
        <p:spPr>
          <a:noFill/>
          <a:ln/>
        </p:spPr>
        <p:txBody>
          <a:bodyPr/>
          <a:lstStyle/>
          <a:p>
            <a:endParaRPr lang="en-US"/>
          </a:p>
        </p:txBody>
      </p:sp>
      <p:sp>
        <p:nvSpPr>
          <p:cNvPr id="31748"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20137" tIns="0" rIns="20137" bIns="0" anchor="b"/>
          <a:lstStyle/>
          <a:p>
            <a:pPr algn="r" defTabSz="966788"/>
            <a:fld id="{64233B87-EB93-41FC-B177-DF4E203825E9}" type="slidenum">
              <a:rPr lang="en-US" sz="1100" b="0" i="1">
                <a:solidFill>
                  <a:schemeClr val="tx1"/>
                </a:solidFill>
              </a:rPr>
              <a:pPr algn="r" defTabSz="966788"/>
              <a:t>3</a:t>
            </a:fld>
            <a:endParaRPr lang="en-US" sz="1100" b="0" i="1">
              <a:solidFill>
                <a:schemeClr val="tx1"/>
              </a:solidFill>
            </a:endParaRPr>
          </a:p>
        </p:txBody>
      </p:sp>
    </p:spTree>
    <p:extLst>
      <p:ext uri="{BB962C8B-B14F-4D97-AF65-F5344CB8AC3E}">
        <p14:creationId xmlns:p14="http://schemas.microsoft.com/office/powerpoint/2010/main" val="1631315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61963" y="720725"/>
            <a:ext cx="6391275" cy="3595688"/>
          </a:xfrm>
          <a:ln/>
        </p:spPr>
      </p:sp>
      <p:sp>
        <p:nvSpPr>
          <p:cNvPr id="32771" name="Notes Placeholder 2"/>
          <p:cNvSpPr>
            <a:spLocks noGrp="1"/>
          </p:cNvSpPr>
          <p:nvPr>
            <p:ph type="body" idx="1"/>
          </p:nvPr>
        </p:nvSpPr>
        <p:spPr>
          <a:noFill/>
          <a:ln/>
        </p:spPr>
        <p:txBody>
          <a:bodyPr/>
          <a:lstStyle/>
          <a:p>
            <a:endParaRPr lang="en-US"/>
          </a:p>
        </p:txBody>
      </p:sp>
      <p:sp>
        <p:nvSpPr>
          <p:cNvPr id="32772"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20137" tIns="0" rIns="20137" bIns="0" anchor="b"/>
          <a:lstStyle/>
          <a:p>
            <a:pPr algn="r" defTabSz="966788"/>
            <a:fld id="{54CEE4AD-4913-443B-811F-BFFB2354F1B3}" type="slidenum">
              <a:rPr lang="en-US" sz="1100" b="0" i="1">
                <a:solidFill>
                  <a:schemeClr val="tx1"/>
                </a:solidFill>
              </a:rPr>
              <a:pPr algn="r" defTabSz="966788"/>
              <a:t>4</a:t>
            </a:fld>
            <a:endParaRPr lang="en-US" sz="1100" b="0" i="1">
              <a:solidFill>
                <a:schemeClr val="tx1"/>
              </a:solidFill>
            </a:endParaRPr>
          </a:p>
        </p:txBody>
      </p:sp>
    </p:spTree>
    <p:extLst>
      <p:ext uri="{BB962C8B-B14F-4D97-AF65-F5344CB8AC3E}">
        <p14:creationId xmlns:p14="http://schemas.microsoft.com/office/powerpoint/2010/main" val="1088786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xfrm>
            <a:off x="461963" y="720725"/>
            <a:ext cx="6391275" cy="3595688"/>
          </a:xfrm>
          <a:ln/>
        </p:spPr>
      </p:sp>
      <p:sp>
        <p:nvSpPr>
          <p:cNvPr id="33795" name="Notes Placeholder 2"/>
          <p:cNvSpPr>
            <a:spLocks noGrp="1"/>
          </p:cNvSpPr>
          <p:nvPr>
            <p:ph type="body" idx="1"/>
          </p:nvPr>
        </p:nvSpPr>
        <p:spPr>
          <a:noFill/>
          <a:ln/>
        </p:spPr>
        <p:txBody>
          <a:bodyPr/>
          <a:lstStyle/>
          <a:p>
            <a:endParaRPr lang="en-US"/>
          </a:p>
        </p:txBody>
      </p:sp>
      <p:sp>
        <p:nvSpPr>
          <p:cNvPr id="33796"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20137" tIns="0" rIns="20137" bIns="0" anchor="b"/>
          <a:lstStyle/>
          <a:p>
            <a:pPr algn="r" defTabSz="966788"/>
            <a:fld id="{60AB9B89-B8FD-4095-B533-4A18314E8EC5}" type="slidenum">
              <a:rPr lang="en-US" sz="1100" b="0" i="1">
                <a:solidFill>
                  <a:schemeClr val="tx1"/>
                </a:solidFill>
              </a:rPr>
              <a:pPr algn="r" defTabSz="966788"/>
              <a:t>5</a:t>
            </a:fld>
            <a:endParaRPr lang="en-US" sz="1100" b="0" i="1">
              <a:solidFill>
                <a:schemeClr val="tx1"/>
              </a:solidFill>
            </a:endParaRPr>
          </a:p>
        </p:txBody>
      </p:sp>
    </p:spTree>
    <p:extLst>
      <p:ext uri="{BB962C8B-B14F-4D97-AF65-F5344CB8AC3E}">
        <p14:creationId xmlns:p14="http://schemas.microsoft.com/office/powerpoint/2010/main" val="2120360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461963" y="720725"/>
            <a:ext cx="6391275" cy="3595688"/>
          </a:xfrm>
          <a:ln/>
        </p:spPr>
      </p:sp>
      <p:sp>
        <p:nvSpPr>
          <p:cNvPr id="34819" name="Notes Placeholder 2"/>
          <p:cNvSpPr>
            <a:spLocks noGrp="1"/>
          </p:cNvSpPr>
          <p:nvPr>
            <p:ph type="body" idx="1"/>
          </p:nvPr>
        </p:nvSpPr>
        <p:spPr>
          <a:noFill/>
          <a:ln/>
        </p:spPr>
        <p:txBody>
          <a:bodyPr/>
          <a:lstStyle/>
          <a:p>
            <a:endParaRPr lang="en-US"/>
          </a:p>
        </p:txBody>
      </p:sp>
      <p:sp>
        <p:nvSpPr>
          <p:cNvPr id="34820"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20137" tIns="0" rIns="20137" bIns="0" anchor="b"/>
          <a:lstStyle/>
          <a:p>
            <a:pPr algn="r" defTabSz="966788"/>
            <a:fld id="{06F9015C-BF68-4FA4-8717-8A54D1D87FEE}" type="slidenum">
              <a:rPr lang="en-US" sz="1100" b="0" i="1">
                <a:solidFill>
                  <a:schemeClr val="tx1"/>
                </a:solidFill>
              </a:rPr>
              <a:pPr algn="r" defTabSz="966788"/>
              <a:t>6</a:t>
            </a:fld>
            <a:endParaRPr lang="en-US" sz="1100" b="0" i="1">
              <a:solidFill>
                <a:schemeClr val="tx1"/>
              </a:solidFill>
            </a:endParaRPr>
          </a:p>
        </p:txBody>
      </p:sp>
    </p:spTree>
    <p:extLst>
      <p:ext uri="{BB962C8B-B14F-4D97-AF65-F5344CB8AC3E}">
        <p14:creationId xmlns:p14="http://schemas.microsoft.com/office/powerpoint/2010/main" val="4138610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以</a:t>
            </a:r>
            <a:r>
              <a:rPr lang="en-US" altLang="zh-CN" dirty="0"/>
              <a:t>f=</a:t>
            </a:r>
            <a:r>
              <a:rPr lang="en-US" altLang="zh-CN" dirty="0" err="1"/>
              <a:t>ab+cd</a:t>
            </a:r>
            <a:r>
              <a:rPr lang="zh-CN" altLang="en-US" dirty="0"/>
              <a:t>来说明</a:t>
            </a:r>
            <a:r>
              <a:rPr lang="en-US" altLang="zh-CN" dirty="0"/>
              <a:t>MUTP</a:t>
            </a:r>
            <a:r>
              <a:rPr lang="zh-CN" altLang="en-US" dirty="0"/>
              <a:t>可以检测所有的</a:t>
            </a:r>
            <a:r>
              <a:rPr lang="en-US" altLang="zh-CN" dirty="0"/>
              <a:t>LIF</a:t>
            </a:r>
            <a:r>
              <a:rPr lang="zh-CN" altLang="en-US" dirty="0"/>
              <a:t>以及</a:t>
            </a:r>
            <a:r>
              <a:rPr lang="en-US" altLang="zh-CN" dirty="0"/>
              <a:t>CUTPNFP</a:t>
            </a:r>
            <a:r>
              <a:rPr lang="zh-CN" altLang="en-US" dirty="0"/>
              <a:t>可以检测所有的</a:t>
            </a:r>
            <a:r>
              <a:rPr lang="en-US" altLang="zh-CN" dirty="0"/>
              <a:t>LOF</a:t>
            </a:r>
            <a:r>
              <a:rPr lang="zh-CN" altLang="en-US" dirty="0"/>
              <a:t>。</a:t>
            </a:r>
            <a:endParaRPr lang="en-US" altLang="zh-CN" dirty="0"/>
          </a:p>
          <a:p>
            <a:r>
              <a:rPr lang="en-US" altLang="zh-CN" dirty="0"/>
              <a:t>1</a:t>
            </a:r>
            <a:r>
              <a:rPr lang="zh-CN" altLang="en-US" dirty="0"/>
              <a:t>）</a:t>
            </a:r>
            <a:r>
              <a:rPr lang="en-US" altLang="zh-CN" dirty="0"/>
              <a:t>LIF</a:t>
            </a:r>
            <a:r>
              <a:rPr lang="zh-CN" altLang="en-US" dirty="0"/>
              <a:t>：若</a:t>
            </a:r>
            <a:r>
              <a:rPr lang="en-US" altLang="zh-CN" dirty="0"/>
              <a:t>ab</a:t>
            </a:r>
            <a:r>
              <a:rPr lang="zh-CN" altLang="en-US" dirty="0"/>
              <a:t>误写为</a:t>
            </a:r>
            <a:r>
              <a:rPr lang="en-US" altLang="zh-CN" dirty="0" err="1"/>
              <a:t>abl</a:t>
            </a:r>
            <a:r>
              <a:rPr lang="zh-CN" altLang="en-US" dirty="0"/>
              <a:t>，</a:t>
            </a:r>
            <a:endParaRPr lang="en-US" altLang="zh-CN" dirty="0"/>
          </a:p>
          <a:p>
            <a:r>
              <a:rPr lang="zh-CN" altLang="en-US" dirty="0"/>
              <a:t>如</a:t>
            </a:r>
            <a:r>
              <a:rPr lang="en-US" altLang="zh-CN" dirty="0"/>
              <a:t>l</a:t>
            </a:r>
            <a:r>
              <a:rPr lang="zh-CN" altLang="en-US" dirty="0"/>
              <a:t>为</a:t>
            </a:r>
            <a:r>
              <a:rPr lang="en-US" altLang="zh-CN" dirty="0"/>
              <a:t>a</a:t>
            </a:r>
            <a:r>
              <a:rPr lang="zh-CN" altLang="en-US" dirty="0"/>
              <a:t>，不会改变</a:t>
            </a:r>
            <a:r>
              <a:rPr lang="en-US" altLang="zh-CN" dirty="0"/>
              <a:t>ab</a:t>
            </a:r>
            <a:r>
              <a:rPr lang="zh-CN" altLang="en-US" dirty="0"/>
              <a:t>的值，无变化。</a:t>
            </a:r>
          </a:p>
          <a:p>
            <a:r>
              <a:rPr lang="zh-CN" altLang="en-US" dirty="0"/>
              <a:t>如</a:t>
            </a:r>
            <a:r>
              <a:rPr lang="en-US" altLang="zh-CN" dirty="0"/>
              <a:t>l</a:t>
            </a:r>
            <a:r>
              <a:rPr lang="zh-CN" altLang="en-US" dirty="0"/>
              <a:t>为</a:t>
            </a:r>
            <a:r>
              <a:rPr lang="en-US" altLang="zh-CN" dirty="0"/>
              <a:t>a</a:t>
            </a:r>
            <a:r>
              <a:rPr lang="zh-CN" altLang="en-US" dirty="0"/>
              <a:t>‘，则</a:t>
            </a:r>
            <a:r>
              <a:rPr lang="en-US" altLang="zh-CN" dirty="0"/>
              <a:t>MUTP</a:t>
            </a:r>
            <a:r>
              <a:rPr lang="zh-CN" altLang="en-US" dirty="0"/>
              <a:t>中的</a:t>
            </a:r>
            <a:r>
              <a:rPr lang="en-US" altLang="zh-CN" dirty="0"/>
              <a:t>TTFT</a:t>
            </a:r>
            <a:r>
              <a:rPr lang="zh-CN" altLang="en-US" dirty="0"/>
              <a:t>和</a:t>
            </a:r>
            <a:r>
              <a:rPr lang="en-US" altLang="zh-CN" dirty="0"/>
              <a:t>TTTF</a:t>
            </a:r>
            <a:r>
              <a:rPr lang="zh-CN" altLang="en-US" dirty="0"/>
              <a:t>均能检测到（即期望为</a:t>
            </a:r>
            <a:r>
              <a:rPr lang="en-US" altLang="zh-CN" dirty="0"/>
              <a:t>T</a:t>
            </a:r>
            <a:r>
              <a:rPr lang="zh-CN" altLang="en-US" dirty="0"/>
              <a:t>，但实际为</a:t>
            </a:r>
            <a:r>
              <a:rPr lang="en-US" altLang="zh-CN" dirty="0"/>
              <a:t>F</a:t>
            </a:r>
            <a:r>
              <a:rPr lang="zh-CN" altLang="en-US" dirty="0"/>
              <a:t>）</a:t>
            </a:r>
            <a:endParaRPr lang="en-US" altLang="zh-CN" dirty="0"/>
          </a:p>
          <a:p>
            <a:r>
              <a:rPr lang="zh-CN" altLang="en-US" dirty="0"/>
              <a:t>如</a:t>
            </a:r>
            <a:r>
              <a:rPr lang="en-US" altLang="zh-CN" dirty="0"/>
              <a:t>l</a:t>
            </a:r>
            <a:r>
              <a:rPr lang="zh-CN" altLang="en-US" dirty="0"/>
              <a:t>为</a:t>
            </a:r>
            <a:r>
              <a:rPr lang="en-US" altLang="zh-CN" dirty="0"/>
              <a:t>c</a:t>
            </a:r>
            <a:r>
              <a:rPr lang="zh-CN" altLang="en-US" dirty="0"/>
              <a:t>，则</a:t>
            </a:r>
            <a:r>
              <a:rPr lang="en-US" altLang="zh-CN" dirty="0"/>
              <a:t>MUTP</a:t>
            </a:r>
            <a:r>
              <a:rPr lang="zh-CN" altLang="en-US" dirty="0"/>
              <a:t>中的</a:t>
            </a:r>
            <a:r>
              <a:rPr lang="en-US" altLang="zh-CN" dirty="0"/>
              <a:t>TTFT</a:t>
            </a:r>
            <a:r>
              <a:rPr lang="zh-CN" altLang="en-US" dirty="0"/>
              <a:t>能检测到（即期望为</a:t>
            </a:r>
            <a:r>
              <a:rPr lang="en-US" altLang="zh-CN" dirty="0"/>
              <a:t>T</a:t>
            </a:r>
            <a:r>
              <a:rPr lang="zh-CN" altLang="en-US" dirty="0"/>
              <a:t>，但实际为</a:t>
            </a:r>
            <a:r>
              <a:rPr lang="en-US" altLang="zh-CN" dirty="0"/>
              <a:t>F</a:t>
            </a:r>
            <a:r>
              <a:rPr lang="zh-CN" altLang="en-US" dirty="0"/>
              <a:t>）</a:t>
            </a:r>
            <a:endParaRPr lang="en-US" altLang="zh-CN" dirty="0"/>
          </a:p>
          <a:p>
            <a:r>
              <a:rPr lang="zh-CN" altLang="en-US" dirty="0"/>
              <a:t>如</a:t>
            </a:r>
            <a:r>
              <a:rPr lang="en-US" altLang="zh-CN" dirty="0"/>
              <a:t>l</a:t>
            </a:r>
            <a:r>
              <a:rPr lang="zh-CN" altLang="en-US" dirty="0"/>
              <a:t>为</a:t>
            </a:r>
            <a:r>
              <a:rPr lang="en-US" altLang="zh-CN" dirty="0"/>
              <a:t>c’</a:t>
            </a:r>
            <a:r>
              <a:rPr lang="zh-CN" altLang="en-US" dirty="0"/>
              <a:t>，则</a:t>
            </a:r>
            <a:r>
              <a:rPr lang="en-US" altLang="zh-CN" dirty="0"/>
              <a:t>MUTP</a:t>
            </a:r>
            <a:r>
              <a:rPr lang="zh-CN" altLang="en-US" dirty="0"/>
              <a:t>中的</a:t>
            </a:r>
            <a:r>
              <a:rPr lang="en-US" altLang="zh-CN" dirty="0"/>
              <a:t>TTTF</a:t>
            </a:r>
            <a:r>
              <a:rPr lang="zh-CN" altLang="en-US" dirty="0"/>
              <a:t>能检测到（即期望为</a:t>
            </a:r>
            <a:r>
              <a:rPr lang="en-US" altLang="zh-CN" dirty="0"/>
              <a:t>T</a:t>
            </a:r>
            <a:r>
              <a:rPr lang="zh-CN" altLang="en-US" dirty="0"/>
              <a:t>，但实际为</a:t>
            </a:r>
            <a:r>
              <a:rPr lang="en-US" altLang="zh-CN" dirty="0"/>
              <a:t>F</a:t>
            </a:r>
            <a:r>
              <a:rPr lang="zh-CN" altLang="en-US" dirty="0"/>
              <a:t>）</a:t>
            </a:r>
            <a:endParaRPr lang="en-US" altLang="zh-CN" dirty="0"/>
          </a:p>
          <a:p>
            <a:r>
              <a:rPr lang="en-US" altLang="zh-CN" dirty="0"/>
              <a:t>2</a:t>
            </a:r>
            <a:r>
              <a:rPr lang="zh-CN" altLang="en-US" dirty="0"/>
              <a:t>）</a:t>
            </a:r>
            <a:r>
              <a:rPr lang="en-US" altLang="zh-CN" dirty="0"/>
              <a:t>LOF</a:t>
            </a:r>
            <a:r>
              <a:rPr lang="zh-CN" altLang="en-US" dirty="0"/>
              <a:t>：若</a:t>
            </a:r>
            <a:r>
              <a:rPr lang="en-US" altLang="zh-CN" dirty="0"/>
              <a:t>f=</a:t>
            </a:r>
            <a:r>
              <a:rPr lang="en-US" altLang="zh-CN" dirty="0" err="1"/>
              <a:t>ab+d</a:t>
            </a:r>
            <a:r>
              <a:rPr lang="zh-CN" altLang="en-US" dirty="0"/>
              <a:t>，即漏掉</a:t>
            </a:r>
            <a:r>
              <a:rPr lang="en-US" altLang="zh-CN" dirty="0"/>
              <a:t>cd</a:t>
            </a:r>
            <a:r>
              <a:rPr lang="zh-CN" altLang="en-US" dirty="0"/>
              <a:t>中的</a:t>
            </a:r>
            <a:r>
              <a:rPr lang="en-US" altLang="zh-CN" dirty="0"/>
              <a:t>c</a:t>
            </a:r>
          </a:p>
          <a:p>
            <a:r>
              <a:rPr lang="zh-CN" altLang="en-US" dirty="0"/>
              <a:t>则</a:t>
            </a:r>
            <a:r>
              <a:rPr lang="en-US" altLang="zh-CN" dirty="0"/>
              <a:t>FFTT</a:t>
            </a:r>
            <a:r>
              <a:rPr lang="zh-CN" altLang="en-US" dirty="0"/>
              <a:t>（</a:t>
            </a:r>
            <a:r>
              <a:rPr lang="en-US" altLang="zh-CN" dirty="0"/>
              <a:t>UTP</a:t>
            </a:r>
            <a:r>
              <a:rPr lang="zh-CN" altLang="en-US" dirty="0"/>
              <a:t>）和</a:t>
            </a:r>
            <a:r>
              <a:rPr lang="en-US" altLang="zh-CN" dirty="0"/>
              <a:t>FFFT</a:t>
            </a:r>
            <a:r>
              <a:rPr lang="zh-CN" altLang="en-US" dirty="0"/>
              <a:t>（</a:t>
            </a:r>
            <a:r>
              <a:rPr lang="en-US" altLang="zh-CN" dirty="0"/>
              <a:t>NFP</a:t>
            </a:r>
            <a:r>
              <a:rPr lang="zh-CN" altLang="en-US" dirty="0"/>
              <a:t>）可以检测到，即</a:t>
            </a:r>
            <a:r>
              <a:rPr lang="en-US" altLang="zh-CN" dirty="0"/>
              <a:t>UTP</a:t>
            </a:r>
            <a:r>
              <a:rPr lang="zh-CN" altLang="en-US" dirty="0"/>
              <a:t>期望为</a:t>
            </a:r>
            <a:r>
              <a:rPr lang="en-US" altLang="zh-CN" dirty="0"/>
              <a:t>T</a:t>
            </a:r>
            <a:r>
              <a:rPr lang="zh-CN" altLang="en-US" dirty="0"/>
              <a:t>，</a:t>
            </a:r>
            <a:r>
              <a:rPr lang="en-US" altLang="zh-CN" dirty="0"/>
              <a:t>NFP</a:t>
            </a:r>
            <a:r>
              <a:rPr lang="zh-CN" altLang="en-US" dirty="0"/>
              <a:t>期望为</a:t>
            </a:r>
            <a:r>
              <a:rPr lang="en-US" altLang="zh-CN" dirty="0"/>
              <a:t>F</a:t>
            </a:r>
            <a:r>
              <a:rPr lang="zh-CN" altLang="en-US" dirty="0"/>
              <a:t>，但</a:t>
            </a:r>
            <a:r>
              <a:rPr lang="en-US" altLang="zh-CN" dirty="0"/>
              <a:t>NFP</a:t>
            </a:r>
            <a:r>
              <a:rPr lang="zh-CN" altLang="en-US" dirty="0"/>
              <a:t>实际为</a:t>
            </a:r>
            <a:r>
              <a:rPr lang="en-US" altLang="zh-CN" dirty="0"/>
              <a:t>T</a:t>
            </a:r>
            <a:r>
              <a:rPr lang="zh-CN" altLang="en-US" dirty="0"/>
              <a:t>。可见两个测试输入期望得到不同的输出但实际得到相同的输出，故可以检测出</a:t>
            </a:r>
            <a:r>
              <a:rPr lang="en-US" altLang="zh-CN" dirty="0"/>
              <a:t>LOF</a:t>
            </a:r>
            <a:r>
              <a:rPr lang="zh-CN" altLang="en-US" dirty="0"/>
              <a:t>。</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16413523-9080-4B39-94DD-9D9DA6A730C8}" type="slidenum">
              <a:rPr lang="en-US" smtClean="0"/>
              <a:pPr>
                <a:defRPr/>
              </a:pPr>
              <a:t>13</a:t>
            </a:fld>
            <a:endParaRPr lang="en-US"/>
          </a:p>
        </p:txBody>
      </p:sp>
    </p:spTree>
    <p:extLst>
      <p:ext uri="{BB962C8B-B14F-4D97-AF65-F5344CB8AC3E}">
        <p14:creationId xmlns:p14="http://schemas.microsoft.com/office/powerpoint/2010/main" val="3318692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6413523-9080-4B39-94DD-9D9DA6A730C8}" type="slidenum">
              <a:rPr lang="en-US" smtClean="0"/>
              <a:pPr>
                <a:defRPr/>
              </a:pPr>
              <a:t>14</a:t>
            </a:fld>
            <a:endParaRPr lang="en-US"/>
          </a:p>
        </p:txBody>
      </p:sp>
    </p:spTree>
    <p:extLst>
      <p:ext uri="{BB962C8B-B14F-4D97-AF65-F5344CB8AC3E}">
        <p14:creationId xmlns:p14="http://schemas.microsoft.com/office/powerpoint/2010/main" val="3460603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16413523-9080-4B39-94DD-9D9DA6A730C8}" type="slidenum">
              <a:rPr lang="en-US" smtClean="0"/>
              <a:pPr>
                <a:defRPr/>
              </a:pPr>
              <a:t>15</a:t>
            </a:fld>
            <a:endParaRPr lang="en-US"/>
          </a:p>
        </p:txBody>
      </p:sp>
    </p:spTree>
    <p:extLst>
      <p:ext uri="{BB962C8B-B14F-4D97-AF65-F5344CB8AC3E}">
        <p14:creationId xmlns:p14="http://schemas.microsoft.com/office/powerpoint/2010/main" val="2686098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6413523-9080-4B39-94DD-9D9DA6A730C8}" type="slidenum">
              <a:rPr lang="en-US" smtClean="0"/>
              <a:pPr>
                <a:defRPr/>
              </a:pPr>
              <a:t>21</a:t>
            </a:fld>
            <a:endParaRPr lang="en-US"/>
          </a:p>
        </p:txBody>
      </p:sp>
    </p:spTree>
    <p:extLst>
      <p:ext uri="{BB962C8B-B14F-4D97-AF65-F5344CB8AC3E}">
        <p14:creationId xmlns:p14="http://schemas.microsoft.com/office/powerpoint/2010/main" val="1211582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61963" y="720725"/>
            <a:ext cx="6391275" cy="35956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6413523-9080-4B39-94DD-9D9DA6A730C8}" type="slidenum">
              <a:rPr lang="en-US" smtClean="0"/>
              <a:pPr>
                <a:defRPr/>
              </a:pPr>
              <a:t>24</a:t>
            </a:fld>
            <a:endParaRPr lang="en-US"/>
          </a:p>
        </p:txBody>
      </p:sp>
    </p:spTree>
    <p:extLst>
      <p:ext uri="{BB962C8B-B14F-4D97-AF65-F5344CB8AC3E}">
        <p14:creationId xmlns:p14="http://schemas.microsoft.com/office/powerpoint/2010/main" val="1306830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2"/>
          <p:cNvSpPr>
            <a:spLocks noGrp="1" noChangeArrowheads="1"/>
          </p:cNvSpPr>
          <p:nvPr>
            <p:ph type="dt" sz="half" idx="10"/>
          </p:nvPr>
        </p:nvSpPr>
        <p:spPr>
          <a:ln/>
        </p:spPr>
        <p:txBody>
          <a:bodyPr/>
          <a:lstStyle>
            <a:lvl1pPr>
              <a:defRPr/>
            </a:lvl1pPr>
          </a:lstStyle>
          <a:p>
            <a:pPr>
              <a:defRPr/>
            </a:pPr>
            <a:r>
              <a:rPr lang="en-US" altLang="zh-CN"/>
              <a:t>Introduction to Software Testing, Edition 2  (Ch 8)</a:t>
            </a:r>
            <a:endParaRPr lang="en-US" dirty="0"/>
          </a:p>
        </p:txBody>
      </p:sp>
      <p:sp>
        <p:nvSpPr>
          <p:cNvPr id="5" name="Rectangle 3"/>
          <p:cNvSpPr>
            <a:spLocks noGrp="1" noChangeArrowheads="1"/>
          </p:cNvSpPr>
          <p:nvPr>
            <p:ph type="ftr" sz="quarter" idx="11"/>
          </p:nvPr>
        </p:nvSpPr>
        <p:spPr>
          <a:ln/>
        </p:spPr>
        <p:txBody>
          <a:bodyPr/>
          <a:lstStyle>
            <a:lvl1pPr>
              <a:defRPr/>
            </a:lvl1pPr>
          </a:lstStyle>
          <a:p>
            <a:pPr>
              <a:defRPr/>
            </a:pPr>
            <a:r>
              <a:rPr lang="en-US"/>
              <a:t>© Ammann &amp; Offutt</a:t>
            </a:r>
            <a:endParaRPr lang="en-US" dirty="0"/>
          </a:p>
        </p:txBody>
      </p:sp>
      <p:sp>
        <p:nvSpPr>
          <p:cNvPr id="6" name="Rectangle 4"/>
          <p:cNvSpPr>
            <a:spLocks noGrp="1" noChangeArrowheads="1"/>
          </p:cNvSpPr>
          <p:nvPr>
            <p:ph type="sldNum" sz="quarter" idx="12"/>
          </p:nvPr>
        </p:nvSpPr>
        <p:spPr>
          <a:ln/>
        </p:spPr>
        <p:txBody>
          <a:bodyPr/>
          <a:lstStyle>
            <a:lvl1pPr>
              <a:defRPr/>
            </a:lvl1pPr>
          </a:lstStyle>
          <a:p>
            <a:pPr>
              <a:defRPr/>
            </a:pPr>
            <a:fld id="{BD01F4C8-7EF8-41F6-A542-65373101FD64}" type="slidenum">
              <a:rPr lang="en-US"/>
              <a:pPr>
                <a:defRPr/>
              </a:pPr>
              <a:t>‹#›</a:t>
            </a:fld>
            <a:endParaRPr 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4151" y="876300"/>
            <a:ext cx="11823700" cy="5539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4085" y="6454775"/>
            <a:ext cx="5226049" cy="344488"/>
          </a:xfrm>
        </p:spPr>
        <p:txBody>
          <a:bodyPr/>
          <a:lstStyle>
            <a:lvl1pPr>
              <a:defRPr smtClean="0"/>
            </a:lvl1pPr>
          </a:lstStyle>
          <a:p>
            <a:pPr>
              <a:defRPr/>
            </a:pPr>
            <a:r>
              <a:rPr lang="en-US" altLang="zh-CN"/>
              <a:t>Introduction to Software Testing, Edition 2  (Ch 8)</a:t>
            </a:r>
            <a:endParaRPr lang="en-US" dirty="0"/>
          </a:p>
        </p:txBody>
      </p:sp>
      <p:sp>
        <p:nvSpPr>
          <p:cNvPr id="5" name="Footer Placeholder 4"/>
          <p:cNvSpPr>
            <a:spLocks noGrp="1"/>
          </p:cNvSpPr>
          <p:nvPr>
            <p:ph type="ftr" sz="quarter" idx="11"/>
          </p:nvPr>
        </p:nvSpPr>
        <p:spPr>
          <a:xfrm>
            <a:off x="5649384" y="6443663"/>
            <a:ext cx="3860800" cy="355600"/>
          </a:xfrm>
        </p:spPr>
        <p:txBody>
          <a:bodyPr/>
          <a:lstStyle>
            <a:lvl1pPr>
              <a:defRPr/>
            </a:lvl1pPr>
          </a:lstStyle>
          <a:p>
            <a:pPr>
              <a:defRPr/>
            </a:pPr>
            <a:r>
              <a:rPr lang="en-US"/>
              <a:t>© Ammann &amp; Offutt</a:t>
            </a:r>
          </a:p>
        </p:txBody>
      </p:sp>
      <p:sp>
        <p:nvSpPr>
          <p:cNvPr id="6" name="Slide Number Placeholder 5"/>
          <p:cNvSpPr>
            <a:spLocks noGrp="1"/>
          </p:cNvSpPr>
          <p:nvPr>
            <p:ph type="sldNum" sz="quarter" idx="12"/>
          </p:nvPr>
        </p:nvSpPr>
        <p:spPr>
          <a:xfrm>
            <a:off x="9607551" y="6432551"/>
            <a:ext cx="2540000" cy="366713"/>
          </a:xfrm>
        </p:spPr>
        <p:txBody>
          <a:bodyPr/>
          <a:lstStyle>
            <a:lvl1pPr>
              <a:defRPr/>
            </a:lvl1pPr>
          </a:lstStyle>
          <a:p>
            <a:pPr>
              <a:defRPr/>
            </a:pPr>
            <a:fld id="{87403644-4D52-41F6-89B9-DF8667E14DBC}" type="slidenum">
              <a:rPr lang="en-US"/>
              <a:pPr>
                <a:defRPr/>
              </a:pPr>
              <a:t>‹#›</a:t>
            </a:fld>
            <a:endParaRPr lang="en-US"/>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F0771B00-B5B1-40E6-AA6E-A2773126B5A7}" type="slidenum">
              <a:rPr lang="en-US"/>
              <a:pPr>
                <a:defRPr/>
              </a:pPr>
              <a:t>‹#›</a:t>
            </a:fld>
            <a:endParaRPr 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4152" y="1085850"/>
            <a:ext cx="5810249" cy="5314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85850"/>
            <a:ext cx="5810251" cy="5314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6"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p:txBody>
          <a:bodyPr/>
          <a:lstStyle>
            <a:lvl1pPr>
              <a:defRPr/>
            </a:lvl1pPr>
          </a:lstStyle>
          <a:p>
            <a:pPr>
              <a:defRPr/>
            </a:pPr>
            <a:fld id="{17E1E0E0-0A61-480C-B209-0371D039FC4B}" type="slidenum">
              <a:rPr lang="en-US"/>
              <a:pPr>
                <a:defRPr/>
              </a:pPr>
              <a:t>‹#›</a:t>
            </a:fld>
            <a:endParaRPr lang="en-US"/>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8"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9" name="Rectangle 4"/>
          <p:cNvSpPr>
            <a:spLocks noGrp="1" noChangeArrowheads="1"/>
          </p:cNvSpPr>
          <p:nvPr>
            <p:ph type="sldNum" sz="quarter" idx="12"/>
          </p:nvPr>
        </p:nvSpPr>
        <p:spPr/>
        <p:txBody>
          <a:bodyPr/>
          <a:lstStyle>
            <a:lvl1pPr>
              <a:defRPr/>
            </a:lvl1pPr>
          </a:lstStyle>
          <a:p>
            <a:pPr>
              <a:defRPr/>
            </a:pPr>
            <a:fld id="{0F40CC1E-3B8C-4D4A-84FE-3BF9B0FE8A78}" type="slidenum">
              <a:rPr lang="en-US"/>
              <a:pPr>
                <a:defRPr/>
              </a:pPr>
              <a:t>‹#›</a:t>
            </a:fld>
            <a:endParaRPr 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4"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5" name="Rectangle 4"/>
          <p:cNvSpPr>
            <a:spLocks noGrp="1" noChangeArrowheads="1"/>
          </p:cNvSpPr>
          <p:nvPr>
            <p:ph type="sldNum" sz="quarter" idx="12"/>
          </p:nvPr>
        </p:nvSpPr>
        <p:spPr/>
        <p:txBody>
          <a:bodyPr/>
          <a:lstStyle>
            <a:lvl1pPr>
              <a:defRPr/>
            </a:lvl1pPr>
          </a:lstStyle>
          <a:p>
            <a:pPr>
              <a:defRPr/>
            </a:pPr>
            <a:fld id="{AECB4830-1771-4D7E-A98B-5A458B22D582}" type="slidenum">
              <a:rPr lang="en-US"/>
              <a:pPr>
                <a:defRPr/>
              </a:pPr>
              <a:t>‹#›</a:t>
            </a:fld>
            <a:endParaRPr lang="en-US"/>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3"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4" name="Rectangle 4"/>
          <p:cNvSpPr>
            <a:spLocks noGrp="1" noChangeArrowheads="1"/>
          </p:cNvSpPr>
          <p:nvPr>
            <p:ph type="sldNum" sz="quarter" idx="12"/>
          </p:nvPr>
        </p:nvSpPr>
        <p:spPr/>
        <p:txBody>
          <a:bodyPr/>
          <a:lstStyle>
            <a:lvl1pPr>
              <a:defRPr/>
            </a:lvl1pPr>
          </a:lstStyle>
          <a:p>
            <a:pPr>
              <a:defRPr/>
            </a:pPr>
            <a:fld id="{BF938BF8-3F0C-4D3F-AB35-C065D1FB3815}" type="slidenum">
              <a:rPr lang="en-US"/>
              <a:pPr>
                <a:defRPr/>
              </a:pPr>
              <a:t>‹#›</a:t>
            </a:fld>
            <a:endParaRPr 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6"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p:txBody>
          <a:bodyPr/>
          <a:lstStyle>
            <a:lvl1pPr>
              <a:defRPr/>
            </a:lvl1pPr>
          </a:lstStyle>
          <a:p>
            <a:pPr>
              <a:defRPr/>
            </a:pPr>
            <a:fld id="{24216F00-AF5E-4B34-958E-9E46703E9BC4}" type="slidenum">
              <a:rPr lang="en-US"/>
              <a:pPr>
                <a:defRPr/>
              </a:pPr>
              <a:t>‹#›</a:t>
            </a:fld>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6"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7" name="Rectangle 4"/>
          <p:cNvSpPr>
            <a:spLocks noGrp="1" noChangeArrowheads="1"/>
          </p:cNvSpPr>
          <p:nvPr>
            <p:ph type="sldNum" sz="quarter" idx="12"/>
          </p:nvPr>
        </p:nvSpPr>
        <p:spPr/>
        <p:txBody>
          <a:bodyPr/>
          <a:lstStyle>
            <a:lvl1pPr>
              <a:defRPr/>
            </a:lvl1pPr>
          </a:lstStyle>
          <a:p>
            <a:pPr>
              <a:defRPr/>
            </a:pPr>
            <a:fld id="{F1EAC41F-F637-40ED-8ECA-38DD8785C586}" type="slidenum">
              <a:rPr lang="en-US"/>
              <a:pPr>
                <a:defRPr/>
              </a:pPr>
              <a:t>‹#›</a:t>
            </a:fld>
            <a:endParaRPr lang="en-US"/>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06A4DABD-92F2-4799-BA8E-F5E955F2ED5B}" type="slidenum">
              <a:rPr lang="en-US"/>
              <a:pPr>
                <a:defRPr/>
              </a:pPr>
              <a:t>‹#›</a:t>
            </a:fld>
            <a:endParaRPr 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52984" y="96838"/>
            <a:ext cx="2954867" cy="6303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84152" y="96838"/>
            <a:ext cx="8665633" cy="6303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dt" sz="half" idx="10"/>
          </p:nvPr>
        </p:nvSpPr>
        <p:spPr/>
        <p:txBody>
          <a:bodyPr/>
          <a:lstStyle>
            <a:lvl1pPr>
              <a:defRPr smtClean="0"/>
            </a:lvl1pPr>
          </a:lstStyle>
          <a:p>
            <a:pPr>
              <a:defRPr/>
            </a:pPr>
            <a:r>
              <a:rPr lang="en-US" altLang="zh-CN"/>
              <a:t>Introduction to Software Testing, Edition 2  (Ch 8)</a:t>
            </a:r>
            <a:endParaRPr lang="en-US"/>
          </a:p>
        </p:txBody>
      </p:sp>
      <p:sp>
        <p:nvSpPr>
          <p:cNvPr id="5" name="Rectangle 3"/>
          <p:cNvSpPr>
            <a:spLocks noGrp="1" noChangeArrowheads="1"/>
          </p:cNvSpPr>
          <p:nvPr>
            <p:ph type="ftr" sz="quarter" idx="11"/>
          </p:nvPr>
        </p:nvSpPr>
        <p:spPr/>
        <p:txBody>
          <a:bodyPr/>
          <a:lstStyle>
            <a:lvl1pPr>
              <a:defRPr/>
            </a:lvl1pPr>
          </a:lstStyle>
          <a:p>
            <a:pPr>
              <a:defRPr/>
            </a:pPr>
            <a:r>
              <a:rPr lang="en-US"/>
              <a:t>© Ammann &amp; Offutt</a:t>
            </a:r>
          </a:p>
        </p:txBody>
      </p:sp>
      <p:sp>
        <p:nvSpPr>
          <p:cNvPr id="6" name="Rectangle 4"/>
          <p:cNvSpPr>
            <a:spLocks noGrp="1" noChangeArrowheads="1"/>
          </p:cNvSpPr>
          <p:nvPr>
            <p:ph type="sldNum" sz="quarter" idx="12"/>
          </p:nvPr>
        </p:nvSpPr>
        <p:spPr/>
        <p:txBody>
          <a:bodyPr/>
          <a:lstStyle>
            <a:lvl1pPr>
              <a:defRPr/>
            </a:lvl1pPr>
          </a:lstStyle>
          <a:p>
            <a:pPr>
              <a:defRPr/>
            </a:pPr>
            <a:fld id="{36FF8196-1E88-427B-A1C4-0A4CE9B5B477}" type="slidenum">
              <a:rPr lang="en-US"/>
              <a:pPr>
                <a:defRPr/>
              </a:pPr>
              <a:t>‹#›</a:t>
            </a:fld>
            <a:endParaRPr lang="en-US"/>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46275"/>
                <a:invGamma/>
              </a:schemeClr>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74085" y="6553963"/>
            <a:ext cx="5226049" cy="271462"/>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defRPr sz="800" b="0" smtClean="0">
                <a:solidFill>
                  <a:schemeClr val="tx1"/>
                </a:solidFill>
                <a:latin typeface="Arial" pitchFamily="34" charset="0"/>
                <a:cs typeface="Arial" pitchFamily="34" charset="0"/>
              </a:defRPr>
            </a:lvl1pPr>
          </a:lstStyle>
          <a:p>
            <a:pPr>
              <a:defRPr/>
            </a:pPr>
            <a:r>
              <a:rPr lang="en-US" altLang="zh-CN"/>
              <a:t>Introduction to Software Testing, Edition 2  (Ch 8)</a:t>
            </a:r>
            <a:endParaRPr lang="en-US" dirty="0"/>
          </a:p>
        </p:txBody>
      </p:sp>
      <p:sp>
        <p:nvSpPr>
          <p:cNvPr id="1027" name="Rectangle 3"/>
          <p:cNvSpPr>
            <a:spLocks noGrp="1" noChangeArrowheads="1"/>
          </p:cNvSpPr>
          <p:nvPr>
            <p:ph type="ftr" sz="quarter" idx="3"/>
          </p:nvPr>
        </p:nvSpPr>
        <p:spPr bwMode="auto">
          <a:xfrm>
            <a:off x="5492751" y="6546025"/>
            <a:ext cx="3860800" cy="279400"/>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ctr">
              <a:defRPr sz="800" b="0" smtClean="0">
                <a:solidFill>
                  <a:schemeClr val="tx1"/>
                </a:solidFill>
                <a:latin typeface="Arial" pitchFamily="34" charset="0"/>
                <a:cs typeface="Arial" pitchFamily="34" charset="0"/>
              </a:defRPr>
            </a:lvl1pPr>
          </a:lstStyle>
          <a:p>
            <a:pPr>
              <a:defRPr/>
            </a:pPr>
            <a:r>
              <a:rPr lang="en-US"/>
              <a:t>© Ammann &amp; Offutt</a:t>
            </a:r>
            <a:endParaRPr lang="en-US" dirty="0"/>
          </a:p>
        </p:txBody>
      </p:sp>
      <p:sp>
        <p:nvSpPr>
          <p:cNvPr id="1028" name="Rectangle 4"/>
          <p:cNvSpPr>
            <a:spLocks noGrp="1" noChangeArrowheads="1"/>
          </p:cNvSpPr>
          <p:nvPr>
            <p:ph type="sldNum" sz="quarter" idx="4"/>
          </p:nvPr>
        </p:nvSpPr>
        <p:spPr bwMode="auto">
          <a:xfrm>
            <a:off x="9607551" y="6536501"/>
            <a:ext cx="2540000" cy="288925"/>
          </a:xfrm>
          <a:prstGeom prst="rect">
            <a:avLst/>
          </a:prstGeom>
          <a:noFill/>
          <a:ln w="9525">
            <a:noFill/>
            <a:miter lim="800000"/>
            <a:headEnd/>
            <a:tailEnd/>
          </a:ln>
          <a:effectLst/>
        </p:spPr>
        <p:txBody>
          <a:bodyPr vert="horz" wrap="none" lIns="92075" tIns="46038" rIns="92075" bIns="46038" numCol="1" anchor="b" anchorCtr="0" compatLnSpc="1">
            <a:prstTxWarp prst="textNoShape">
              <a:avLst/>
            </a:prstTxWarp>
          </a:bodyPr>
          <a:lstStyle>
            <a:lvl1pPr algn="r">
              <a:defRPr sz="800" b="0" smtClean="0">
                <a:solidFill>
                  <a:schemeClr val="tx1"/>
                </a:solidFill>
                <a:latin typeface="Arial" pitchFamily="34" charset="0"/>
                <a:cs typeface="Arial" pitchFamily="34" charset="0"/>
              </a:defRPr>
            </a:lvl1pPr>
          </a:lstStyle>
          <a:p>
            <a:pPr>
              <a:defRPr/>
            </a:pPr>
            <a:fld id="{7880AC80-D1EE-4814-B431-B4107856D874}" type="slidenum">
              <a:rPr lang="en-US"/>
              <a:pPr>
                <a:defRPr/>
              </a:pPr>
              <a:t>‹#›</a:t>
            </a:fld>
            <a:endParaRPr lang="en-US"/>
          </a:p>
        </p:txBody>
      </p:sp>
      <p:sp>
        <p:nvSpPr>
          <p:cNvPr id="1029" name="Rectangle 5"/>
          <p:cNvSpPr>
            <a:spLocks noGrp="1" noChangeArrowheads="1"/>
          </p:cNvSpPr>
          <p:nvPr>
            <p:ph type="title"/>
          </p:nvPr>
        </p:nvSpPr>
        <p:spPr bwMode="auto">
          <a:xfrm>
            <a:off x="28115" y="103188"/>
            <a:ext cx="12116779" cy="775586"/>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30" name="Rectangle 6"/>
          <p:cNvSpPr>
            <a:spLocks noGrp="1" noChangeArrowheads="1"/>
          </p:cNvSpPr>
          <p:nvPr>
            <p:ph type="body" idx="1"/>
          </p:nvPr>
        </p:nvSpPr>
        <p:spPr bwMode="auto">
          <a:xfrm>
            <a:off x="8467" y="876300"/>
            <a:ext cx="12158132" cy="5678879"/>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 </a:t>
            </a:r>
          </a:p>
          <a:p>
            <a:pPr lvl="2"/>
            <a:r>
              <a:rPr lang="en-US" dirty="0"/>
              <a:t>Third level</a:t>
            </a:r>
          </a:p>
          <a:p>
            <a:pPr lvl="3"/>
            <a:r>
              <a:rPr lang="en-US" dirty="0"/>
              <a:t>Fourth level </a:t>
            </a:r>
          </a:p>
          <a:p>
            <a:pPr lvl="4"/>
            <a:r>
              <a:rPr lang="en-US" dirty="0"/>
              <a:t>Fifth level </a:t>
            </a:r>
          </a:p>
        </p:txBody>
      </p:sp>
      <p:sp>
        <p:nvSpPr>
          <p:cNvPr id="8" name="Line 10"/>
          <p:cNvSpPr>
            <a:spLocks noChangeShapeType="1"/>
          </p:cNvSpPr>
          <p:nvPr userDrawn="1"/>
        </p:nvSpPr>
        <p:spPr bwMode="auto">
          <a:xfrm>
            <a:off x="-1" y="729143"/>
            <a:ext cx="12158444" cy="0"/>
          </a:xfrm>
          <a:prstGeom prst="line">
            <a:avLst/>
          </a:prstGeom>
          <a:noFill/>
          <a:ln w="57150">
            <a:solidFill>
              <a:srgbClr val="009900"/>
            </a:solidFill>
            <a:round/>
            <a:headEnd/>
            <a:tailEnd/>
          </a:ln>
          <a:effectLst/>
        </p:spPr>
        <p:txBody>
          <a:bodyPr/>
          <a:lstStyle/>
          <a:p>
            <a:pPr>
              <a:defRPr/>
            </a:pPr>
            <a:endParaRPr lang="en-US" sz="2000"/>
          </a:p>
        </p:txBody>
      </p:sp>
    </p:spTree>
  </p:cSld>
  <p:clrMap bg1="dk2" tx1="lt1" bg2="dk1" tx2="lt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ransition spd="med"/>
  <p:hf hdr="0" ftr="0" dt="0"/>
  <p:txStyles>
    <p:titleStyle>
      <a:lvl1pPr algn="ctr" rtl="0" eaLnBrk="0" fontAlgn="base" hangingPunct="0">
        <a:lnSpc>
          <a:spcPct val="90000"/>
        </a:lnSpc>
        <a:spcBef>
          <a:spcPct val="0"/>
        </a:spcBef>
        <a:spcAft>
          <a:spcPct val="0"/>
        </a:spcAft>
        <a:defRPr sz="3600" b="1">
          <a:solidFill>
            <a:schemeClr val="tx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defRPr>
      </a:lvl1pPr>
      <a:lvl2pPr algn="ctr" rtl="0" eaLnBrk="0" fontAlgn="base" hangingPunct="0">
        <a:lnSpc>
          <a:spcPct val="90000"/>
        </a:lnSpc>
        <a:spcBef>
          <a:spcPct val="0"/>
        </a:spcBef>
        <a:spcAft>
          <a:spcPct val="0"/>
        </a:spcAft>
        <a:defRPr sz="3600" b="1">
          <a:solidFill>
            <a:schemeClr val="tx2"/>
          </a:solidFill>
          <a:latin typeface="Times New Roman" pitchFamily="18" charset="0"/>
        </a:defRPr>
      </a:lvl2pPr>
      <a:lvl3pPr algn="ctr" rtl="0" eaLnBrk="0" fontAlgn="base" hangingPunct="0">
        <a:lnSpc>
          <a:spcPct val="90000"/>
        </a:lnSpc>
        <a:spcBef>
          <a:spcPct val="0"/>
        </a:spcBef>
        <a:spcAft>
          <a:spcPct val="0"/>
        </a:spcAft>
        <a:defRPr sz="3600" b="1">
          <a:solidFill>
            <a:schemeClr val="tx2"/>
          </a:solidFill>
          <a:latin typeface="Times New Roman" pitchFamily="18" charset="0"/>
        </a:defRPr>
      </a:lvl3pPr>
      <a:lvl4pPr algn="ctr" rtl="0" eaLnBrk="0" fontAlgn="base" hangingPunct="0">
        <a:lnSpc>
          <a:spcPct val="90000"/>
        </a:lnSpc>
        <a:spcBef>
          <a:spcPct val="0"/>
        </a:spcBef>
        <a:spcAft>
          <a:spcPct val="0"/>
        </a:spcAft>
        <a:defRPr sz="3600" b="1">
          <a:solidFill>
            <a:schemeClr val="tx2"/>
          </a:solidFill>
          <a:latin typeface="Times New Roman" pitchFamily="18" charset="0"/>
        </a:defRPr>
      </a:lvl4pPr>
      <a:lvl5pPr algn="ctr" rtl="0" eaLnBrk="0" fontAlgn="base" hangingPunct="0">
        <a:lnSpc>
          <a:spcPct val="90000"/>
        </a:lnSpc>
        <a:spcBef>
          <a:spcPct val="0"/>
        </a:spcBef>
        <a:spcAft>
          <a:spcPct val="0"/>
        </a:spcAft>
        <a:defRPr sz="3600" b="1">
          <a:solidFill>
            <a:schemeClr val="tx2"/>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p:titleStyle>
    <p:bodyStyle>
      <a:lvl1pPr marL="285750" indent="-285750" algn="l" rtl="0" eaLnBrk="0" fontAlgn="base" hangingPunct="0">
        <a:lnSpc>
          <a:spcPct val="90000"/>
        </a:lnSpc>
        <a:spcBef>
          <a:spcPct val="30000"/>
        </a:spcBef>
        <a:spcAft>
          <a:spcPct val="0"/>
        </a:spcAft>
        <a:buSzPct val="85000"/>
        <a:buChar char="•"/>
        <a:defRPr sz="2800" b="0">
          <a:solidFill>
            <a:schemeClr val="tx1"/>
          </a:solidFill>
          <a:latin typeface="Gill Sans MT" panose="020B0502020104020203" pitchFamily="34" charset="0"/>
          <a:ea typeface="+mn-ea"/>
          <a:cs typeface="+mn-cs"/>
        </a:defRPr>
      </a:lvl1pPr>
      <a:lvl2pPr marL="685800" indent="-228600" algn="l" rtl="0" eaLnBrk="0" fontAlgn="base" hangingPunct="0">
        <a:lnSpc>
          <a:spcPct val="90000"/>
        </a:lnSpc>
        <a:spcBef>
          <a:spcPct val="30000"/>
        </a:spcBef>
        <a:spcAft>
          <a:spcPct val="0"/>
        </a:spcAft>
        <a:buSzPct val="100000"/>
        <a:buChar char="–"/>
        <a:defRPr sz="2400" b="0">
          <a:solidFill>
            <a:schemeClr val="tx1"/>
          </a:solidFill>
          <a:latin typeface="Gill Sans MT" panose="020B0502020104020203" pitchFamily="34" charset="0"/>
        </a:defRPr>
      </a:lvl2pPr>
      <a:lvl3pPr marL="1143000" indent="-22860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3pPr>
      <a:lvl4pPr marL="1543050" indent="-171450" algn="l" rtl="0" eaLnBrk="0" fontAlgn="base" hangingPunct="0">
        <a:lnSpc>
          <a:spcPct val="90000"/>
        </a:lnSpc>
        <a:spcBef>
          <a:spcPct val="30000"/>
        </a:spcBef>
        <a:spcAft>
          <a:spcPct val="0"/>
        </a:spcAft>
        <a:buSzPct val="100000"/>
        <a:buChar char="–"/>
        <a:defRPr sz="2000" b="0">
          <a:solidFill>
            <a:schemeClr val="tx1"/>
          </a:solidFill>
          <a:latin typeface="Gill Sans MT" panose="020B0502020104020203" pitchFamily="34" charset="0"/>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sz="2000" b="0">
          <a:solidFill>
            <a:schemeClr val="tx1"/>
          </a:solidFill>
          <a:latin typeface="Gill Sans MT" panose="020B0502020104020203" pitchFamily="34" charset="0"/>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2133600" y="304792"/>
            <a:ext cx="8534400" cy="2862263"/>
          </a:xfrm>
          <a:prstGeom prst="rect">
            <a:avLst/>
          </a:prstGeom>
          <a:noFill/>
          <a:ln w="9525">
            <a:noFill/>
            <a:miter lim="800000"/>
            <a:headEnd/>
            <a:tailEnd/>
          </a:ln>
        </p:spPr>
        <p:txBody>
          <a:bodyPr lIns="92075" tIns="46038" rIns="92075" bIns="46038" anchor="ctr"/>
          <a:lstStyle/>
          <a:p>
            <a:pPr algn="ctr">
              <a:lnSpc>
                <a:spcPct val="90000"/>
              </a:lnSpc>
            </a:pPr>
            <a:endParaRPr lang="en-US" sz="3200" dirty="0">
              <a:solidFill>
                <a:schemeClr val="tx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12291" name="Rectangle 3"/>
          <p:cNvSpPr>
            <a:spLocks noChangeArrowheads="1"/>
          </p:cNvSpPr>
          <p:nvPr/>
        </p:nvSpPr>
        <p:spPr bwMode="auto">
          <a:xfrm>
            <a:off x="2426368" y="3395664"/>
            <a:ext cx="7315200" cy="2382837"/>
          </a:xfrm>
          <a:prstGeom prst="rect">
            <a:avLst/>
          </a:prstGeom>
          <a:noFill/>
          <a:ln w="9525">
            <a:noFill/>
            <a:miter lim="800000"/>
            <a:headEnd/>
            <a:tailEnd/>
          </a:ln>
        </p:spPr>
        <p:txBody>
          <a:bodyPr lIns="92075" tIns="46038" rIns="92075" bIns="46038"/>
          <a:lstStyle/>
          <a:p>
            <a:pPr algn="ctr"/>
            <a:endParaRPr lang="en-US" sz="3200" b="0" dirty="0">
              <a:solidFill>
                <a:schemeClr val="tx1"/>
              </a:solidFill>
              <a:latin typeface="Gill Sans MT" panose="020B0502020104020203" pitchFamily="34" charset="0"/>
            </a:endParaRPr>
          </a:p>
        </p:txBody>
      </p:sp>
      <p:sp>
        <p:nvSpPr>
          <p:cNvPr id="4" name="标题 3"/>
          <p:cNvSpPr>
            <a:spLocks noGrp="1"/>
          </p:cNvSpPr>
          <p:nvPr>
            <p:ph type="ctrTitle"/>
          </p:nvPr>
        </p:nvSpPr>
        <p:spPr/>
        <p:txBody>
          <a:bodyPr/>
          <a:lstStyle/>
          <a:p>
            <a:r>
              <a:rPr lang="en-US" altLang="zh-CN" dirty="0"/>
              <a:t>Chapter 4 Logic Coverage</a:t>
            </a:r>
            <a:endParaRPr lang="en-US" altLang="zh-CN" sz="3200" dirty="0"/>
          </a:p>
        </p:txBody>
      </p:sp>
      <p:sp>
        <p:nvSpPr>
          <p:cNvPr id="5" name="副标题 4"/>
          <p:cNvSpPr>
            <a:spLocks noGrp="1"/>
          </p:cNvSpPr>
          <p:nvPr>
            <p:ph type="subTitle" idx="1"/>
          </p:nvPr>
        </p:nvSpPr>
        <p:spPr/>
        <p:txBody>
          <a:bodyPr/>
          <a:lstStyle/>
          <a:p>
            <a:r>
              <a:rPr lang="en-US" altLang="zh-CN" dirty="0"/>
              <a:t>Syntactic Logic Coverage Criteria</a:t>
            </a:r>
          </a:p>
          <a:p>
            <a:r>
              <a:rPr lang="en-US" altLang="zh-CN" dirty="0"/>
              <a:t>(8.2 Disjunctive Normal Form)</a:t>
            </a:r>
          </a:p>
          <a:p>
            <a:endParaRPr lang="zh-CN" altLang="en-US"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7C69D-62A0-4221-8FB5-4B0CBCE9B932}"/>
              </a:ext>
            </a:extLst>
          </p:cNvPr>
          <p:cNvSpPr>
            <a:spLocks noGrp="1"/>
          </p:cNvSpPr>
          <p:nvPr>
            <p:ph type="title"/>
          </p:nvPr>
        </p:nvSpPr>
        <p:spPr/>
        <p:txBody>
          <a:bodyPr/>
          <a:lstStyle/>
          <a:p>
            <a:r>
              <a:rPr lang="zh-CN" altLang="en-US" dirty="0"/>
              <a:t>本节课程目标</a:t>
            </a:r>
          </a:p>
        </p:txBody>
      </p:sp>
      <p:sp>
        <p:nvSpPr>
          <p:cNvPr id="3" name="内容占位符 2">
            <a:extLst>
              <a:ext uri="{FF2B5EF4-FFF2-40B4-BE49-F238E27FC236}">
                <a16:creationId xmlns:a16="http://schemas.microsoft.com/office/drawing/2014/main" id="{F15570C0-3FCA-4814-A999-0455B02CE955}"/>
              </a:ext>
            </a:extLst>
          </p:cNvPr>
          <p:cNvSpPr>
            <a:spLocks noGrp="1"/>
          </p:cNvSpPr>
          <p:nvPr>
            <p:ph idx="1"/>
          </p:nvPr>
        </p:nvSpPr>
        <p:spPr/>
        <p:txBody>
          <a:bodyPr/>
          <a:lstStyle/>
          <a:p>
            <a:r>
              <a:rPr lang="zh-CN" altLang="zh-CN" dirty="0"/>
              <a:t>掌握</a:t>
            </a:r>
            <a:r>
              <a:rPr lang="en-US" altLang="zh-CN" dirty="0"/>
              <a:t>DNF</a:t>
            </a:r>
            <a:r>
              <a:rPr lang="zh-CN" altLang="zh-CN" dirty="0"/>
              <a:t>记法，了解字（</a:t>
            </a:r>
            <a:r>
              <a:rPr lang="en-US" altLang="zh-CN" dirty="0"/>
              <a:t>literal</a:t>
            </a:r>
            <a:r>
              <a:rPr lang="zh-CN" altLang="zh-CN" dirty="0"/>
              <a:t>）、项（</a:t>
            </a:r>
            <a:r>
              <a:rPr lang="en-US" altLang="zh-CN" dirty="0"/>
              <a:t>term</a:t>
            </a:r>
            <a:r>
              <a:rPr lang="zh-CN" altLang="zh-CN" dirty="0"/>
              <a:t>）、蕴含项（</a:t>
            </a:r>
            <a:r>
              <a:rPr lang="en-US" altLang="zh-CN" dirty="0"/>
              <a:t>implicant</a:t>
            </a:r>
            <a:r>
              <a:rPr lang="zh-CN" altLang="zh-CN" dirty="0"/>
              <a:t>）的概念；</a:t>
            </a:r>
          </a:p>
          <a:p>
            <a:r>
              <a:rPr lang="zh-CN" altLang="zh-CN" dirty="0"/>
              <a:t>知晓真子项、主蕴含项、冗余蕴含项、最小</a:t>
            </a:r>
            <a:r>
              <a:rPr lang="en-US" altLang="zh-CN" dirty="0"/>
              <a:t>DNF</a:t>
            </a:r>
            <a:r>
              <a:rPr lang="zh-CN" altLang="zh-CN" dirty="0"/>
              <a:t>表示形式的含义；</a:t>
            </a:r>
          </a:p>
          <a:p>
            <a:r>
              <a:rPr lang="zh-CN" altLang="zh-CN" dirty="0"/>
              <a:t>明确唯真点（</a:t>
            </a:r>
            <a:r>
              <a:rPr lang="en-US" altLang="zh-CN" dirty="0"/>
              <a:t>UTP</a:t>
            </a:r>
            <a:r>
              <a:rPr lang="zh-CN" altLang="zh-CN" dirty="0"/>
              <a:t>）、近假点（</a:t>
            </a:r>
            <a:r>
              <a:rPr lang="en-US" altLang="zh-CN" dirty="0"/>
              <a:t>NFP</a:t>
            </a:r>
            <a:r>
              <a:rPr lang="zh-CN" altLang="zh-CN" dirty="0"/>
              <a:t>）的含义，写出谓词表达式</a:t>
            </a:r>
            <a:r>
              <a:rPr lang="en-US" altLang="zh-CN" dirty="0"/>
              <a:t>DNF</a:t>
            </a:r>
            <a:r>
              <a:rPr lang="zh-CN" altLang="zh-CN" dirty="0"/>
              <a:t>形式中蕴含项的唯真点和近假点；</a:t>
            </a:r>
          </a:p>
          <a:p>
            <a:r>
              <a:rPr lang="zh-CN" altLang="zh-CN" dirty="0"/>
              <a:t>明确从语法角度出发的主要逻辑覆盖标准的含义，包括</a:t>
            </a:r>
            <a:r>
              <a:rPr lang="en-US" altLang="zh-CN" dirty="0"/>
              <a:t>IC</a:t>
            </a:r>
            <a:r>
              <a:rPr lang="zh-CN" altLang="zh-CN" dirty="0"/>
              <a:t>、</a:t>
            </a:r>
            <a:r>
              <a:rPr lang="en-US" altLang="zh-CN" dirty="0"/>
              <a:t>MUTP</a:t>
            </a:r>
            <a:r>
              <a:rPr lang="zh-CN" altLang="zh-CN" dirty="0"/>
              <a:t>、</a:t>
            </a:r>
            <a:r>
              <a:rPr lang="en-US" altLang="zh-CN" dirty="0"/>
              <a:t>CUTPNFP</a:t>
            </a:r>
            <a:r>
              <a:rPr lang="zh-CN" altLang="zh-CN" dirty="0"/>
              <a:t>、</a:t>
            </a:r>
            <a:r>
              <a:rPr lang="en-US" altLang="zh-CN" dirty="0"/>
              <a:t>MNFP</a:t>
            </a:r>
            <a:r>
              <a:rPr lang="zh-CN" altLang="zh-CN" dirty="0"/>
              <a:t>等，能写出上述覆盖标准的测试需求</a:t>
            </a:r>
            <a:r>
              <a:rPr lang="zh-CN" altLang="en-US" dirty="0"/>
              <a:t>；</a:t>
            </a:r>
            <a:endParaRPr lang="en-US" altLang="zh-CN" dirty="0"/>
          </a:p>
          <a:p>
            <a:r>
              <a:rPr lang="zh-CN" altLang="zh-CN" dirty="0"/>
              <a:t>了解</a:t>
            </a:r>
            <a:r>
              <a:rPr lang="en-US" altLang="zh-CN" dirty="0"/>
              <a:t>DNF</a:t>
            </a:r>
            <a:r>
              <a:rPr lang="zh-CN" altLang="zh-CN" dirty="0"/>
              <a:t>典型的</a:t>
            </a:r>
            <a:r>
              <a:rPr lang="en-US" altLang="zh-CN" dirty="0"/>
              <a:t>fault</a:t>
            </a:r>
            <a:r>
              <a:rPr lang="zh-CN" altLang="zh-CN" dirty="0"/>
              <a:t>种类及它们之间的包含关系，明确</a:t>
            </a:r>
            <a:r>
              <a:rPr lang="en-US" altLang="zh-CN" dirty="0"/>
              <a:t>MUTP</a:t>
            </a:r>
            <a:r>
              <a:rPr lang="zh-CN" altLang="zh-CN" dirty="0"/>
              <a:t>和</a:t>
            </a:r>
            <a:r>
              <a:rPr lang="en-US" altLang="zh-CN" dirty="0"/>
              <a:t>CUTPNFP</a:t>
            </a:r>
            <a:r>
              <a:rPr lang="zh-CN" altLang="zh-CN" dirty="0"/>
              <a:t>对上述各类</a:t>
            </a:r>
            <a:r>
              <a:rPr lang="en-US" altLang="zh-CN" dirty="0"/>
              <a:t>fault</a:t>
            </a:r>
            <a:r>
              <a:rPr lang="zh-CN" altLang="zh-CN" dirty="0"/>
              <a:t>的检测能力；</a:t>
            </a:r>
          </a:p>
          <a:p>
            <a:r>
              <a:rPr lang="zh-CN" altLang="zh-CN"/>
              <a:t>应用卡诺图分析逻辑覆盖相关概念。</a:t>
            </a:r>
            <a:endParaRPr lang="zh-CN" altLang="en-US"/>
          </a:p>
        </p:txBody>
      </p:sp>
      <p:sp>
        <p:nvSpPr>
          <p:cNvPr id="4" name="灯片编号占位符 3">
            <a:extLst>
              <a:ext uri="{FF2B5EF4-FFF2-40B4-BE49-F238E27FC236}">
                <a16:creationId xmlns:a16="http://schemas.microsoft.com/office/drawing/2014/main" id="{629968F5-6501-4C2C-A16A-9DFB1A269A9D}"/>
              </a:ext>
            </a:extLst>
          </p:cNvPr>
          <p:cNvSpPr>
            <a:spLocks noGrp="1"/>
          </p:cNvSpPr>
          <p:nvPr>
            <p:ph type="sldNum" sz="quarter" idx="12"/>
          </p:nvPr>
        </p:nvSpPr>
        <p:spPr/>
        <p:txBody>
          <a:bodyPr/>
          <a:lstStyle/>
          <a:p>
            <a:pPr>
              <a:defRPr/>
            </a:pPr>
            <a:fld id="{87403644-4D52-41F6-89B9-DF8667E14DBC}" type="slidenum">
              <a:rPr lang="en-US" smtClean="0"/>
              <a:pPr>
                <a:defRPr/>
              </a:pPr>
              <a:t>2</a:t>
            </a:fld>
            <a:endParaRPr lang="en-US"/>
          </a:p>
        </p:txBody>
      </p:sp>
    </p:spTree>
    <p:extLst>
      <p:ext uri="{BB962C8B-B14F-4D97-AF65-F5344CB8AC3E}">
        <p14:creationId xmlns:p14="http://schemas.microsoft.com/office/powerpoint/2010/main" val="100873735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620254" y="96839"/>
            <a:ext cx="8927431" cy="915987"/>
          </a:xfrm>
        </p:spPr>
        <p:txBody>
          <a:bodyPr/>
          <a:lstStyle/>
          <a:p>
            <a:r>
              <a:rPr lang="en-US" dirty="0"/>
              <a:t>Disjunctive Normal Form</a:t>
            </a:r>
          </a:p>
        </p:txBody>
      </p:sp>
      <p:sp>
        <p:nvSpPr>
          <p:cNvPr id="41989" name="Rectangle 3"/>
          <p:cNvSpPr>
            <a:spLocks noGrp="1" noChangeArrowheads="1"/>
          </p:cNvSpPr>
          <p:nvPr>
            <p:ph type="body" idx="4294967295"/>
          </p:nvPr>
        </p:nvSpPr>
        <p:spPr>
          <a:xfrm>
            <a:off x="1662114" y="818148"/>
            <a:ext cx="8867775" cy="5582653"/>
          </a:xfrm>
        </p:spPr>
        <p:txBody>
          <a:bodyPr/>
          <a:lstStyle/>
          <a:p>
            <a:pPr>
              <a:lnSpc>
                <a:spcPct val="80000"/>
              </a:lnSpc>
            </a:pPr>
            <a:r>
              <a:rPr lang="en-US" dirty="0"/>
              <a:t>Common Representation for Boolean Functions</a:t>
            </a:r>
          </a:p>
          <a:p>
            <a:pPr lvl="1">
              <a:lnSpc>
                <a:spcPct val="80000"/>
              </a:lnSpc>
            </a:pPr>
            <a:r>
              <a:rPr lang="en-US" dirty="0"/>
              <a:t>Slightly Different Notation for Operators</a:t>
            </a:r>
          </a:p>
          <a:p>
            <a:pPr lvl="1">
              <a:lnSpc>
                <a:spcPct val="80000"/>
              </a:lnSpc>
            </a:pPr>
            <a:r>
              <a:rPr lang="en-US" dirty="0"/>
              <a:t>Slightly Different Terminology</a:t>
            </a:r>
          </a:p>
          <a:p>
            <a:pPr>
              <a:lnSpc>
                <a:spcPct val="80000"/>
              </a:lnSpc>
            </a:pPr>
            <a:r>
              <a:rPr lang="en-US" dirty="0"/>
              <a:t>Basics:</a:t>
            </a:r>
          </a:p>
          <a:p>
            <a:pPr lvl="1">
              <a:lnSpc>
                <a:spcPct val="80000"/>
              </a:lnSpc>
            </a:pPr>
            <a:r>
              <a:rPr lang="en-US" dirty="0"/>
              <a:t>A </a:t>
            </a:r>
            <a:r>
              <a:rPr lang="en-US" i="1" dirty="0">
                <a:solidFill>
                  <a:schemeClr val="tx2"/>
                </a:solidFill>
              </a:rPr>
              <a:t>literal </a:t>
            </a:r>
            <a:r>
              <a:rPr lang="en-US" dirty="0"/>
              <a:t>is a clause or the negation (overstrike) of a clause</a:t>
            </a:r>
          </a:p>
          <a:p>
            <a:pPr lvl="2">
              <a:lnSpc>
                <a:spcPct val="80000"/>
              </a:lnSpc>
            </a:pPr>
            <a:r>
              <a:rPr lang="en-US" dirty="0"/>
              <a:t>Examples:  </a:t>
            </a:r>
            <a:r>
              <a:rPr lang="en-US" i="1" dirty="0"/>
              <a:t>a, a</a:t>
            </a:r>
            <a:endParaRPr lang="en-US" i="1" u="sng" dirty="0"/>
          </a:p>
          <a:p>
            <a:pPr lvl="1">
              <a:lnSpc>
                <a:spcPct val="80000"/>
              </a:lnSpc>
            </a:pPr>
            <a:r>
              <a:rPr lang="en-US" dirty="0"/>
              <a:t>A </a:t>
            </a:r>
            <a:r>
              <a:rPr lang="en-US" i="1" dirty="0">
                <a:solidFill>
                  <a:schemeClr val="tx2"/>
                </a:solidFill>
              </a:rPr>
              <a:t>term</a:t>
            </a:r>
            <a:r>
              <a:rPr lang="en-US" dirty="0"/>
              <a:t> is a set of literals connected by logical “and”</a:t>
            </a:r>
          </a:p>
          <a:p>
            <a:pPr lvl="2">
              <a:lnSpc>
                <a:spcPct val="80000"/>
              </a:lnSpc>
            </a:pPr>
            <a:r>
              <a:rPr lang="en-US" dirty="0"/>
              <a:t>“and” is denoted by adjacency instead of </a:t>
            </a:r>
            <a:r>
              <a:rPr lang="en-US" sz="2400" b="1" dirty="0">
                <a:solidFill>
                  <a:schemeClr val="tx2"/>
                </a:solidFill>
                <a:cs typeface="Times New Roman" pitchFamily="18" charset="0"/>
                <a:sym typeface="Symbol" pitchFamily="18" charset="2"/>
              </a:rPr>
              <a:t></a:t>
            </a:r>
          </a:p>
          <a:p>
            <a:pPr lvl="2">
              <a:lnSpc>
                <a:spcPct val="80000"/>
              </a:lnSpc>
            </a:pPr>
            <a:r>
              <a:rPr lang="en-US" dirty="0"/>
              <a:t>Examples: </a:t>
            </a:r>
            <a:r>
              <a:rPr lang="en-US" i="1" dirty="0"/>
              <a:t>ab, ab, ab</a:t>
            </a:r>
            <a:r>
              <a:rPr lang="en-US" dirty="0"/>
              <a:t>  for </a:t>
            </a:r>
            <a:r>
              <a:rPr lang="en-US" i="1" dirty="0"/>
              <a:t>a</a:t>
            </a:r>
            <a:r>
              <a:rPr lang="en-US" dirty="0"/>
              <a:t> </a:t>
            </a:r>
            <a:r>
              <a:rPr lang="en-US" sz="2400" dirty="0">
                <a:solidFill>
                  <a:schemeClr val="tx2"/>
                </a:solidFill>
                <a:cs typeface="Times New Roman" pitchFamily="18" charset="0"/>
                <a:sym typeface="Symbol" pitchFamily="18" charset="2"/>
              </a:rPr>
              <a:t> </a:t>
            </a:r>
            <a:r>
              <a:rPr lang="en-US" i="1" dirty="0"/>
              <a:t>b</a:t>
            </a:r>
            <a:r>
              <a:rPr lang="en-US" dirty="0"/>
              <a:t>, </a:t>
            </a:r>
            <a:r>
              <a:rPr lang="en-US" i="1" dirty="0"/>
              <a:t>a</a:t>
            </a:r>
            <a:r>
              <a:rPr lang="en-US" dirty="0"/>
              <a:t> </a:t>
            </a:r>
            <a:r>
              <a:rPr lang="en-US" sz="2400" dirty="0">
                <a:solidFill>
                  <a:schemeClr val="tx2"/>
                </a:solidFill>
                <a:cs typeface="Times New Roman" pitchFamily="18" charset="0"/>
                <a:sym typeface="Symbol" pitchFamily="18" charset="2"/>
              </a:rPr>
              <a:t> </a:t>
            </a:r>
            <a:r>
              <a:rPr lang="en-US" sz="2400" dirty="0">
                <a:solidFill>
                  <a:schemeClr val="tx2"/>
                </a:solidFill>
                <a:cs typeface="Times New Roman" pitchFamily="18" charset="0"/>
              </a:rPr>
              <a:t>¬</a:t>
            </a:r>
            <a:r>
              <a:rPr lang="en-US" sz="2400" dirty="0">
                <a:solidFill>
                  <a:schemeClr val="tx2"/>
                </a:solidFill>
                <a:cs typeface="Times New Roman" pitchFamily="18" charset="0"/>
                <a:sym typeface="Symbol" pitchFamily="18" charset="2"/>
              </a:rPr>
              <a:t> </a:t>
            </a:r>
            <a:r>
              <a:rPr lang="en-US" i="1" dirty="0"/>
              <a:t>b</a:t>
            </a:r>
            <a:r>
              <a:rPr lang="en-US" dirty="0"/>
              <a:t>, ¬ </a:t>
            </a:r>
            <a:r>
              <a:rPr lang="en-US" i="1" dirty="0"/>
              <a:t>a</a:t>
            </a:r>
            <a:r>
              <a:rPr lang="en-US" dirty="0"/>
              <a:t> </a:t>
            </a:r>
            <a:r>
              <a:rPr lang="en-US" sz="2400" dirty="0">
                <a:solidFill>
                  <a:schemeClr val="tx2"/>
                </a:solidFill>
                <a:cs typeface="Times New Roman" pitchFamily="18" charset="0"/>
                <a:sym typeface="Symbol" pitchFamily="18" charset="2"/>
              </a:rPr>
              <a:t> </a:t>
            </a:r>
            <a:r>
              <a:rPr lang="en-US" sz="2400" dirty="0">
                <a:solidFill>
                  <a:schemeClr val="tx2"/>
                </a:solidFill>
                <a:cs typeface="Times New Roman" pitchFamily="18" charset="0"/>
              </a:rPr>
              <a:t>¬</a:t>
            </a:r>
            <a:r>
              <a:rPr lang="en-US" sz="2400" dirty="0">
                <a:solidFill>
                  <a:schemeClr val="tx2"/>
                </a:solidFill>
                <a:cs typeface="Times New Roman" pitchFamily="18" charset="0"/>
                <a:sym typeface="Symbol" pitchFamily="18" charset="2"/>
              </a:rPr>
              <a:t> </a:t>
            </a:r>
            <a:r>
              <a:rPr lang="en-US" i="1" dirty="0"/>
              <a:t>b</a:t>
            </a:r>
          </a:p>
          <a:p>
            <a:pPr lvl="1">
              <a:lnSpc>
                <a:spcPct val="80000"/>
              </a:lnSpc>
            </a:pPr>
            <a:r>
              <a:rPr lang="en-US" dirty="0"/>
              <a:t>A </a:t>
            </a:r>
            <a:r>
              <a:rPr lang="en-US" i="1" dirty="0">
                <a:solidFill>
                  <a:schemeClr val="tx2"/>
                </a:solidFill>
              </a:rPr>
              <a:t>(disjunctive normal form) predicate </a:t>
            </a:r>
            <a:r>
              <a:rPr lang="en-US" dirty="0"/>
              <a:t>is a set of terms connected by “or”</a:t>
            </a:r>
          </a:p>
          <a:p>
            <a:pPr lvl="2">
              <a:lnSpc>
                <a:spcPct val="80000"/>
              </a:lnSpc>
            </a:pPr>
            <a:r>
              <a:rPr lang="en-US" dirty="0"/>
              <a:t>“or” is denoted by </a:t>
            </a:r>
            <a:r>
              <a:rPr lang="en-US" sz="2400" dirty="0">
                <a:solidFill>
                  <a:schemeClr val="tx2"/>
                </a:solidFill>
                <a:cs typeface="Times New Roman" pitchFamily="18" charset="0"/>
                <a:sym typeface="Symbol" pitchFamily="18" charset="2"/>
              </a:rPr>
              <a:t>+ </a:t>
            </a:r>
            <a:r>
              <a:rPr lang="en-US" dirty="0"/>
              <a:t>instead of </a:t>
            </a:r>
            <a:r>
              <a:rPr lang="en-US" sz="2400" dirty="0">
                <a:solidFill>
                  <a:schemeClr val="tx2"/>
                </a:solidFill>
                <a:cs typeface="Times New Roman" pitchFamily="18" charset="0"/>
                <a:sym typeface="Symbol" pitchFamily="18" charset="2"/>
              </a:rPr>
              <a:t></a:t>
            </a:r>
            <a:endParaRPr lang="en-US" dirty="0"/>
          </a:p>
          <a:p>
            <a:pPr lvl="2">
              <a:lnSpc>
                <a:spcPct val="80000"/>
              </a:lnSpc>
            </a:pPr>
            <a:r>
              <a:rPr lang="en-US" dirty="0"/>
              <a:t>Examples: </a:t>
            </a:r>
            <a:r>
              <a:rPr lang="en-US" i="1" dirty="0" err="1"/>
              <a:t>abc</a:t>
            </a:r>
            <a:r>
              <a:rPr lang="en-US" i="1" dirty="0"/>
              <a:t> + ab + ac</a:t>
            </a:r>
          </a:p>
          <a:p>
            <a:pPr lvl="2">
              <a:lnSpc>
                <a:spcPct val="80000"/>
              </a:lnSpc>
            </a:pPr>
            <a:r>
              <a:rPr lang="en-US" dirty="0"/>
              <a:t>Terms are also called “implicants”</a:t>
            </a:r>
          </a:p>
          <a:p>
            <a:pPr marL="1600200" lvl="3" indent="-228600">
              <a:lnSpc>
                <a:spcPct val="80000"/>
              </a:lnSpc>
            </a:pPr>
            <a:r>
              <a:rPr lang="en-US" dirty="0"/>
              <a:t>If a term is true, that </a:t>
            </a:r>
            <a:r>
              <a:rPr lang="en-US" dirty="0">
                <a:solidFill>
                  <a:schemeClr val="tx2"/>
                </a:solidFill>
              </a:rPr>
              <a:t>implies</a:t>
            </a:r>
            <a:r>
              <a:rPr lang="en-US" dirty="0"/>
              <a:t> the predicate is true</a:t>
            </a:r>
          </a:p>
          <a:p>
            <a:pPr>
              <a:lnSpc>
                <a:spcPct val="80000"/>
              </a:lnSpc>
            </a:pPr>
            <a:endParaRPr lang="en-US" dirty="0"/>
          </a:p>
        </p:txBody>
      </p:sp>
      <p:sp>
        <p:nvSpPr>
          <p:cNvPr id="41995" name="Line 11"/>
          <p:cNvSpPr>
            <a:spLocks noChangeShapeType="1"/>
          </p:cNvSpPr>
          <p:nvPr/>
        </p:nvSpPr>
        <p:spPr bwMode="auto">
          <a:xfrm>
            <a:off x="4290848" y="2976146"/>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1996" name="Line 12"/>
          <p:cNvSpPr>
            <a:spLocks noChangeShapeType="1"/>
          </p:cNvSpPr>
          <p:nvPr/>
        </p:nvSpPr>
        <p:spPr bwMode="auto">
          <a:xfrm>
            <a:off x="4466335" y="4139784"/>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1997" name="Line 13"/>
          <p:cNvSpPr>
            <a:spLocks noChangeShapeType="1"/>
          </p:cNvSpPr>
          <p:nvPr/>
        </p:nvSpPr>
        <p:spPr bwMode="auto">
          <a:xfrm>
            <a:off x="4662063" y="418791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1998" name="Line 14"/>
          <p:cNvSpPr>
            <a:spLocks noChangeShapeType="1"/>
          </p:cNvSpPr>
          <p:nvPr/>
        </p:nvSpPr>
        <p:spPr bwMode="auto">
          <a:xfrm>
            <a:off x="4812876" y="4122824"/>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1999" name="Line 15"/>
          <p:cNvSpPr>
            <a:spLocks noChangeShapeType="1"/>
          </p:cNvSpPr>
          <p:nvPr/>
        </p:nvSpPr>
        <p:spPr bwMode="auto">
          <a:xfrm>
            <a:off x="5244432" y="5616575"/>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2000" name="Line 16"/>
          <p:cNvSpPr>
            <a:spLocks noChangeShapeType="1"/>
          </p:cNvSpPr>
          <p:nvPr/>
        </p:nvSpPr>
        <p:spPr bwMode="auto">
          <a:xfrm>
            <a:off x="4588286" y="5616575"/>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3323" name="Slide Number Placeholder 19"/>
          <p:cNvSpPr>
            <a:spLocks noGrp="1"/>
          </p:cNvSpPr>
          <p:nvPr>
            <p:ph type="sldNum" sz="quarter" idx="12"/>
          </p:nvPr>
        </p:nvSpPr>
        <p:spPr>
          <a:noFill/>
        </p:spPr>
        <p:txBody>
          <a:bodyPr/>
          <a:lstStyle/>
          <a:p>
            <a:fld id="{6A499A64-74A9-4F5C-BEC5-F0E442B55CFA}" type="slidenum">
              <a:rPr lang="en-US" smtClean="0">
                <a:latin typeface="Arial" charset="0"/>
                <a:cs typeface="Arial" charset="0"/>
              </a:rPr>
              <a:pPr/>
              <a:t>3</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9">
                                            <p:txEl>
                                              <p:pRg st="3" end="3"/>
                                            </p:txEl>
                                          </p:spTgt>
                                        </p:tgtEl>
                                        <p:attrNameLst>
                                          <p:attrName>style.visibility</p:attrName>
                                        </p:attrNameLst>
                                      </p:cBhvr>
                                      <p:to>
                                        <p:strVal val="visible"/>
                                      </p:to>
                                    </p:set>
                                    <p:animEffect transition="in" filter="blinds(horizontal)">
                                      <p:cBhvr>
                                        <p:cTn id="7" dur="500"/>
                                        <p:tgtEl>
                                          <p:spTgt spid="41989">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989">
                                            <p:txEl>
                                              <p:pRg st="4" end="4"/>
                                            </p:txEl>
                                          </p:spTgt>
                                        </p:tgtEl>
                                        <p:attrNameLst>
                                          <p:attrName>style.visibility</p:attrName>
                                        </p:attrNameLst>
                                      </p:cBhvr>
                                      <p:to>
                                        <p:strVal val="visible"/>
                                      </p:to>
                                    </p:set>
                                    <p:animEffect transition="in" filter="blinds(horizontal)">
                                      <p:cBhvr>
                                        <p:cTn id="10" dur="500"/>
                                        <p:tgtEl>
                                          <p:spTgt spid="41989">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989">
                                            <p:txEl>
                                              <p:pRg st="5" end="5"/>
                                            </p:txEl>
                                          </p:spTgt>
                                        </p:tgtEl>
                                        <p:attrNameLst>
                                          <p:attrName>style.visibility</p:attrName>
                                        </p:attrNameLst>
                                      </p:cBhvr>
                                      <p:to>
                                        <p:strVal val="visible"/>
                                      </p:to>
                                    </p:set>
                                    <p:animEffect transition="in" filter="blinds(horizontal)">
                                      <p:cBhvr>
                                        <p:cTn id="13" dur="500"/>
                                        <p:tgtEl>
                                          <p:spTgt spid="41989">
                                            <p:txEl>
                                              <p:pRg st="5" end="5"/>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1995"/>
                                        </p:tgtEl>
                                        <p:attrNameLst>
                                          <p:attrName>style.visibility</p:attrName>
                                        </p:attrNameLst>
                                      </p:cBhvr>
                                      <p:to>
                                        <p:strVal val="visible"/>
                                      </p:to>
                                    </p:set>
                                    <p:animEffect transition="in" filter="blinds(horizontal)">
                                      <p:cBhvr>
                                        <p:cTn id="16" dur="500"/>
                                        <p:tgtEl>
                                          <p:spTgt spid="4199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1989">
                                            <p:txEl>
                                              <p:pRg st="6" end="6"/>
                                            </p:txEl>
                                          </p:spTgt>
                                        </p:tgtEl>
                                        <p:attrNameLst>
                                          <p:attrName>style.visibility</p:attrName>
                                        </p:attrNameLst>
                                      </p:cBhvr>
                                      <p:to>
                                        <p:strVal val="visible"/>
                                      </p:to>
                                    </p:set>
                                    <p:animEffect transition="in" filter="blinds(horizontal)">
                                      <p:cBhvr>
                                        <p:cTn id="21" dur="500"/>
                                        <p:tgtEl>
                                          <p:spTgt spid="41989">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1989">
                                            <p:txEl>
                                              <p:pRg st="7" end="7"/>
                                            </p:txEl>
                                          </p:spTgt>
                                        </p:tgtEl>
                                        <p:attrNameLst>
                                          <p:attrName>style.visibility</p:attrName>
                                        </p:attrNameLst>
                                      </p:cBhvr>
                                      <p:to>
                                        <p:strVal val="visible"/>
                                      </p:to>
                                    </p:set>
                                    <p:animEffect transition="in" filter="blinds(horizontal)">
                                      <p:cBhvr>
                                        <p:cTn id="24" dur="500"/>
                                        <p:tgtEl>
                                          <p:spTgt spid="41989">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1989">
                                            <p:txEl>
                                              <p:pRg st="8" end="8"/>
                                            </p:txEl>
                                          </p:spTgt>
                                        </p:tgtEl>
                                        <p:attrNameLst>
                                          <p:attrName>style.visibility</p:attrName>
                                        </p:attrNameLst>
                                      </p:cBhvr>
                                      <p:to>
                                        <p:strVal val="visible"/>
                                      </p:to>
                                    </p:set>
                                    <p:animEffect transition="in" filter="blinds(horizontal)">
                                      <p:cBhvr>
                                        <p:cTn id="27" dur="500"/>
                                        <p:tgtEl>
                                          <p:spTgt spid="41989">
                                            <p:txEl>
                                              <p:pRg st="8" end="8"/>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1996"/>
                                        </p:tgtEl>
                                        <p:attrNameLst>
                                          <p:attrName>style.visibility</p:attrName>
                                        </p:attrNameLst>
                                      </p:cBhvr>
                                      <p:to>
                                        <p:strVal val="visible"/>
                                      </p:to>
                                    </p:set>
                                    <p:animEffect transition="in" filter="blinds(horizontal)">
                                      <p:cBhvr>
                                        <p:cTn id="30" dur="500"/>
                                        <p:tgtEl>
                                          <p:spTgt spid="4199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41997"/>
                                        </p:tgtEl>
                                        <p:attrNameLst>
                                          <p:attrName>style.visibility</p:attrName>
                                        </p:attrNameLst>
                                      </p:cBhvr>
                                      <p:to>
                                        <p:strVal val="visible"/>
                                      </p:to>
                                    </p:set>
                                    <p:animEffect transition="in" filter="blinds(horizontal)">
                                      <p:cBhvr>
                                        <p:cTn id="33" dur="500"/>
                                        <p:tgtEl>
                                          <p:spTgt spid="41997"/>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1998"/>
                                        </p:tgtEl>
                                        <p:attrNameLst>
                                          <p:attrName>style.visibility</p:attrName>
                                        </p:attrNameLst>
                                      </p:cBhvr>
                                      <p:to>
                                        <p:strVal val="visible"/>
                                      </p:to>
                                    </p:set>
                                    <p:animEffect transition="in" filter="blinds(horizontal)">
                                      <p:cBhvr>
                                        <p:cTn id="36" dur="500"/>
                                        <p:tgtEl>
                                          <p:spTgt spid="41998"/>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1989">
                                            <p:txEl>
                                              <p:pRg st="9" end="9"/>
                                            </p:txEl>
                                          </p:spTgt>
                                        </p:tgtEl>
                                        <p:attrNameLst>
                                          <p:attrName>style.visibility</p:attrName>
                                        </p:attrNameLst>
                                      </p:cBhvr>
                                      <p:to>
                                        <p:strVal val="visible"/>
                                      </p:to>
                                    </p:set>
                                    <p:animEffect transition="in" filter="blinds(horizontal)">
                                      <p:cBhvr>
                                        <p:cTn id="41" dur="500"/>
                                        <p:tgtEl>
                                          <p:spTgt spid="41989">
                                            <p:txEl>
                                              <p:pRg st="9" end="9"/>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41989">
                                            <p:txEl>
                                              <p:pRg st="10" end="10"/>
                                            </p:txEl>
                                          </p:spTgt>
                                        </p:tgtEl>
                                        <p:attrNameLst>
                                          <p:attrName>style.visibility</p:attrName>
                                        </p:attrNameLst>
                                      </p:cBhvr>
                                      <p:to>
                                        <p:strVal val="visible"/>
                                      </p:to>
                                    </p:set>
                                    <p:animEffect transition="in" filter="blinds(horizontal)">
                                      <p:cBhvr>
                                        <p:cTn id="44" dur="500"/>
                                        <p:tgtEl>
                                          <p:spTgt spid="41989">
                                            <p:txEl>
                                              <p:pRg st="10" end="10"/>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41989">
                                            <p:txEl>
                                              <p:pRg st="11" end="11"/>
                                            </p:txEl>
                                          </p:spTgt>
                                        </p:tgtEl>
                                        <p:attrNameLst>
                                          <p:attrName>style.visibility</p:attrName>
                                        </p:attrNameLst>
                                      </p:cBhvr>
                                      <p:to>
                                        <p:strVal val="visible"/>
                                      </p:to>
                                    </p:set>
                                    <p:animEffect transition="in" filter="blinds(horizontal)">
                                      <p:cBhvr>
                                        <p:cTn id="47" dur="500"/>
                                        <p:tgtEl>
                                          <p:spTgt spid="41989">
                                            <p:txEl>
                                              <p:pRg st="11" end="11"/>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41989">
                                            <p:txEl>
                                              <p:pRg st="12" end="12"/>
                                            </p:txEl>
                                          </p:spTgt>
                                        </p:tgtEl>
                                        <p:attrNameLst>
                                          <p:attrName>style.visibility</p:attrName>
                                        </p:attrNameLst>
                                      </p:cBhvr>
                                      <p:to>
                                        <p:strVal val="visible"/>
                                      </p:to>
                                    </p:set>
                                    <p:animEffect transition="in" filter="blinds(horizontal)">
                                      <p:cBhvr>
                                        <p:cTn id="50" dur="500"/>
                                        <p:tgtEl>
                                          <p:spTgt spid="41989">
                                            <p:txEl>
                                              <p:pRg st="12" end="12"/>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41989">
                                            <p:txEl>
                                              <p:pRg st="13" end="13"/>
                                            </p:txEl>
                                          </p:spTgt>
                                        </p:tgtEl>
                                        <p:attrNameLst>
                                          <p:attrName>style.visibility</p:attrName>
                                        </p:attrNameLst>
                                      </p:cBhvr>
                                      <p:to>
                                        <p:strVal val="visible"/>
                                      </p:to>
                                    </p:set>
                                    <p:animEffect transition="in" filter="blinds(horizontal)">
                                      <p:cBhvr>
                                        <p:cTn id="53" dur="500"/>
                                        <p:tgtEl>
                                          <p:spTgt spid="41989">
                                            <p:txEl>
                                              <p:pRg st="13" end="13"/>
                                            </p:txEl>
                                          </p:spTgt>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2000"/>
                                        </p:tgtEl>
                                        <p:attrNameLst>
                                          <p:attrName>style.visibility</p:attrName>
                                        </p:attrNameLst>
                                      </p:cBhvr>
                                      <p:to>
                                        <p:strVal val="visible"/>
                                      </p:to>
                                    </p:set>
                                    <p:animEffect transition="in" filter="blinds(horizontal)">
                                      <p:cBhvr>
                                        <p:cTn id="56" dur="500"/>
                                        <p:tgtEl>
                                          <p:spTgt spid="42000"/>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1999"/>
                                        </p:tgtEl>
                                        <p:attrNameLst>
                                          <p:attrName>style.visibility</p:attrName>
                                        </p:attrNameLst>
                                      </p:cBhvr>
                                      <p:to>
                                        <p:strVal val="visible"/>
                                      </p:to>
                                    </p:set>
                                    <p:animEffect transition="in" filter="blinds(horizontal)">
                                      <p:cBhvr>
                                        <p:cTn id="59" dur="500"/>
                                        <p:tgtEl>
                                          <p:spTgt spid="41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5" grpId="0" animBg="1"/>
      <p:bldP spid="41996" grpId="0" animBg="1"/>
      <p:bldP spid="41997" grpId="0" animBg="1"/>
      <p:bldP spid="41998" grpId="0" animBg="1"/>
      <p:bldP spid="41999" grpId="0" animBg="1"/>
      <p:bldP spid="4200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524001" y="103189"/>
            <a:ext cx="9143999" cy="655637"/>
          </a:xfrm>
        </p:spPr>
        <p:txBody>
          <a:bodyPr/>
          <a:lstStyle/>
          <a:p>
            <a:r>
              <a:rPr lang="en-US" dirty="0"/>
              <a:t>Implicant Coverage (</a:t>
            </a:r>
            <a:r>
              <a:rPr lang="en-US" altLang="zh-CN" dirty="0"/>
              <a:t>8.2.1</a:t>
            </a:r>
            <a:r>
              <a:rPr lang="en-US" dirty="0"/>
              <a:t>)</a:t>
            </a:r>
          </a:p>
        </p:txBody>
      </p:sp>
      <p:sp>
        <p:nvSpPr>
          <p:cNvPr id="14339" name="Rectangle 3"/>
          <p:cNvSpPr>
            <a:spLocks noGrp="1" noChangeArrowheads="1"/>
          </p:cNvSpPr>
          <p:nvPr>
            <p:ph type="body" idx="4294967295"/>
          </p:nvPr>
        </p:nvSpPr>
        <p:spPr>
          <a:xfrm>
            <a:off x="1662114" y="830179"/>
            <a:ext cx="8867775" cy="1522496"/>
          </a:xfrm>
        </p:spPr>
        <p:txBody>
          <a:bodyPr/>
          <a:lstStyle/>
          <a:p>
            <a:pPr>
              <a:lnSpc>
                <a:spcPct val="70000"/>
              </a:lnSpc>
            </a:pPr>
            <a:r>
              <a:rPr lang="en-US" dirty="0"/>
              <a:t>Obvious coverage idea :  Make each implicant evaluate to “true”</a:t>
            </a:r>
          </a:p>
          <a:p>
            <a:pPr marL="742950" lvl="1" indent="-285750">
              <a:lnSpc>
                <a:spcPct val="70000"/>
              </a:lnSpc>
            </a:pPr>
            <a:r>
              <a:rPr lang="en-US" dirty="0"/>
              <a:t>Problem :  Only tests  “true” cases for the predicate</a:t>
            </a:r>
          </a:p>
          <a:p>
            <a:pPr marL="742950" lvl="1" indent="-285750">
              <a:lnSpc>
                <a:spcPct val="70000"/>
              </a:lnSpc>
            </a:pPr>
            <a:r>
              <a:rPr lang="en-US" dirty="0"/>
              <a:t>Solution :  Include DNF representations for negation</a:t>
            </a:r>
          </a:p>
        </p:txBody>
      </p:sp>
      <p:sp>
        <p:nvSpPr>
          <p:cNvPr id="203780" name="Text Box 4"/>
          <p:cNvSpPr txBox="1">
            <a:spLocks noChangeArrowheads="1"/>
          </p:cNvSpPr>
          <p:nvPr/>
        </p:nvSpPr>
        <p:spPr bwMode="auto">
          <a:xfrm>
            <a:off x="1835150" y="2376740"/>
            <a:ext cx="8262938" cy="1200329"/>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Implicant Coverage (IC)</a:t>
            </a:r>
            <a:r>
              <a:rPr lang="en-US" sz="2400" dirty="0">
                <a:solidFill>
                  <a:schemeClr val="tx2"/>
                </a:solidFill>
                <a:effectLst>
                  <a:outerShdw blurRad="38100" dist="38100" dir="2700000" algn="tl">
                    <a:srgbClr val="000000"/>
                  </a:outerShdw>
                </a:effectLst>
                <a:latin typeface="Gill Sans MT" panose="020B0502020104020203" pitchFamily="34" charset="0"/>
              </a:rPr>
              <a:t> : Given DNF representations of a predicate </a:t>
            </a:r>
            <a:r>
              <a:rPr lang="en-US" sz="2400" i="1" dirty="0">
                <a:solidFill>
                  <a:schemeClr val="tx2"/>
                </a:solidFill>
                <a:effectLst>
                  <a:outerShdw blurRad="38100" dist="38100" dir="2700000" algn="tl">
                    <a:srgbClr val="000000"/>
                  </a:outerShdw>
                </a:effectLst>
                <a:latin typeface="Gill Sans MT" panose="020B0502020104020203" pitchFamily="34" charset="0"/>
              </a:rPr>
              <a:t>f </a:t>
            </a:r>
            <a:r>
              <a:rPr lang="en-US" sz="2400" dirty="0">
                <a:solidFill>
                  <a:schemeClr val="tx2"/>
                </a:solidFill>
                <a:effectLst>
                  <a:outerShdw blurRad="38100" dist="38100" dir="2700000" algn="tl">
                    <a:srgbClr val="000000"/>
                  </a:outerShdw>
                </a:effectLst>
                <a:latin typeface="Gill Sans MT" panose="020B0502020104020203" pitchFamily="34" charset="0"/>
              </a:rPr>
              <a:t>and its negation </a:t>
            </a:r>
            <a:r>
              <a:rPr lang="en-US" sz="2400" i="1" dirty="0">
                <a:solidFill>
                  <a:schemeClr val="tx2"/>
                </a:solidFill>
                <a:effectLst>
                  <a:outerShdw blurRad="38100" dist="38100" dir="2700000" algn="tl">
                    <a:srgbClr val="000000"/>
                  </a:outerShdw>
                </a:effectLst>
                <a:latin typeface="Gill Sans MT" panose="020B0502020104020203" pitchFamily="34" charset="0"/>
              </a:rPr>
              <a:t>f</a:t>
            </a:r>
            <a:r>
              <a:rPr lang="en-US" sz="2400" dirty="0">
                <a:solidFill>
                  <a:schemeClr val="tx2"/>
                </a:solidFill>
                <a:effectLst>
                  <a:outerShdw blurRad="38100" dist="38100" dir="2700000" algn="tl">
                    <a:srgbClr val="000000"/>
                  </a:outerShdw>
                </a:effectLst>
                <a:latin typeface="Gill Sans MT" panose="020B0502020104020203" pitchFamily="34" charset="0"/>
              </a:rPr>
              <a:t>, for each implicant in </a:t>
            </a:r>
            <a:r>
              <a:rPr lang="en-US" sz="2400" i="1" dirty="0">
                <a:solidFill>
                  <a:schemeClr val="tx2"/>
                </a:solidFill>
                <a:effectLst>
                  <a:outerShdw blurRad="38100" dist="38100" dir="2700000" algn="tl">
                    <a:srgbClr val="000000"/>
                  </a:outerShdw>
                </a:effectLst>
                <a:latin typeface="Gill Sans MT" panose="020B0502020104020203" pitchFamily="34" charset="0"/>
              </a:rPr>
              <a:t>f </a:t>
            </a:r>
            <a:r>
              <a:rPr lang="en-US" sz="2400" dirty="0">
                <a:solidFill>
                  <a:schemeClr val="tx2"/>
                </a:solidFill>
                <a:effectLst>
                  <a:outerShdw blurRad="38100" dist="38100" dir="2700000" algn="tl">
                    <a:srgbClr val="000000"/>
                  </a:outerShdw>
                </a:effectLst>
                <a:latin typeface="Gill Sans MT" panose="020B0502020104020203" pitchFamily="34" charset="0"/>
              </a:rPr>
              <a:t>and </a:t>
            </a:r>
            <a:r>
              <a:rPr lang="en-US" sz="2400" i="1" dirty="0">
                <a:solidFill>
                  <a:schemeClr val="tx2"/>
                </a:solidFill>
                <a:effectLst>
                  <a:outerShdw blurRad="38100" dist="38100" dir="2700000" algn="tl">
                    <a:srgbClr val="000000"/>
                  </a:outerShdw>
                </a:effectLst>
                <a:latin typeface="Gill Sans MT" panose="020B0502020104020203" pitchFamily="34" charset="0"/>
              </a:rPr>
              <a:t>f</a:t>
            </a:r>
            <a:r>
              <a:rPr lang="en-US" sz="2400" dirty="0">
                <a:solidFill>
                  <a:schemeClr val="tx2"/>
                </a:solidFill>
                <a:effectLst>
                  <a:outerShdw blurRad="38100" dist="38100" dir="2700000" algn="tl">
                    <a:srgbClr val="000000"/>
                  </a:outerShdw>
                </a:effectLst>
                <a:latin typeface="Gill Sans MT" panose="020B0502020104020203" pitchFamily="34" charset="0"/>
              </a:rPr>
              <a:t>, TR contains the requirement that the implicant evaluate to true.</a:t>
            </a:r>
          </a:p>
        </p:txBody>
      </p:sp>
      <p:sp>
        <p:nvSpPr>
          <p:cNvPr id="203782" name="Rectangle 6"/>
          <p:cNvSpPr>
            <a:spLocks noChangeArrowheads="1"/>
          </p:cNvSpPr>
          <p:nvPr/>
        </p:nvSpPr>
        <p:spPr bwMode="auto">
          <a:xfrm>
            <a:off x="1800226" y="4167188"/>
            <a:ext cx="8867775" cy="1836570"/>
          </a:xfrm>
          <a:prstGeom prst="rect">
            <a:avLst/>
          </a:prstGeom>
          <a:noFill/>
          <a:ln w="9525">
            <a:noFill/>
            <a:miter lim="800000"/>
            <a:headEnd/>
            <a:tailEnd/>
          </a:ln>
        </p:spPr>
        <p:txBody>
          <a:bodyPr lIns="92075" tIns="46038" rIns="92075" bIns="46038"/>
          <a:lstStyle/>
          <a:p>
            <a:pPr marL="285750" indent="-285750">
              <a:lnSpc>
                <a:spcPct val="90000"/>
              </a:lnSpc>
              <a:spcBef>
                <a:spcPct val="30000"/>
              </a:spcBef>
              <a:buSzPct val="85000"/>
              <a:buFontTx/>
              <a:buChar char="•"/>
            </a:pPr>
            <a:r>
              <a:rPr lang="en-US" sz="2400" b="0" dirty="0">
                <a:solidFill>
                  <a:schemeClr val="tx1"/>
                </a:solidFill>
                <a:latin typeface="Gill Sans MT" panose="020B0502020104020203" pitchFamily="34" charset="0"/>
              </a:rPr>
              <a:t>Example:   </a:t>
            </a:r>
            <a:r>
              <a:rPr lang="en-US" sz="2400" b="0" i="1" dirty="0">
                <a:solidFill>
                  <a:schemeClr val="tx1"/>
                </a:solidFill>
                <a:latin typeface="Gill Sans MT" panose="020B0502020104020203" pitchFamily="34" charset="0"/>
              </a:rPr>
              <a:t>f = ab + </a:t>
            </a:r>
            <a:r>
              <a:rPr lang="en-US" sz="2400" b="0" i="1" dirty="0" err="1">
                <a:solidFill>
                  <a:schemeClr val="tx1"/>
                </a:solidFill>
                <a:latin typeface="Gill Sans MT" panose="020B0502020104020203" pitchFamily="34" charset="0"/>
              </a:rPr>
              <a:t>bc</a:t>
            </a:r>
            <a:r>
              <a:rPr lang="en-US" sz="2400" b="0" i="1" dirty="0">
                <a:solidFill>
                  <a:schemeClr val="tx1"/>
                </a:solidFill>
                <a:latin typeface="Gill Sans MT" panose="020B0502020104020203" pitchFamily="34" charset="0"/>
              </a:rPr>
              <a:t>       f = b + ac</a:t>
            </a:r>
            <a:endParaRPr lang="en-US" sz="2400" b="0" dirty="0">
              <a:solidFill>
                <a:schemeClr val="tx1"/>
              </a:solidFill>
              <a:latin typeface="Gill Sans MT" panose="020B0502020104020203" pitchFamily="34" charset="0"/>
            </a:endParaRPr>
          </a:p>
          <a:p>
            <a:pPr marL="742950" lvl="1" indent="-285750">
              <a:lnSpc>
                <a:spcPct val="90000"/>
              </a:lnSpc>
              <a:spcBef>
                <a:spcPct val="30000"/>
              </a:spcBef>
              <a:buSzPct val="85000"/>
              <a:buFontTx/>
              <a:buChar char="•"/>
            </a:pPr>
            <a:r>
              <a:rPr lang="en-US" sz="2400" b="0" dirty="0">
                <a:solidFill>
                  <a:schemeClr val="tx1"/>
                </a:solidFill>
                <a:latin typeface="Gill Sans MT" panose="020B0502020104020203" pitchFamily="34" charset="0"/>
              </a:rPr>
              <a:t>Implicants:  </a:t>
            </a:r>
            <a:r>
              <a:rPr lang="en-US" sz="2400" b="0" i="1" dirty="0">
                <a:solidFill>
                  <a:schemeClr val="tx1"/>
                </a:solidFill>
                <a:latin typeface="Gill Sans MT" panose="020B0502020104020203" pitchFamily="34" charset="0"/>
              </a:rPr>
              <a:t>{</a:t>
            </a:r>
            <a:r>
              <a:rPr lang="en-US" sz="2400" b="0" dirty="0">
                <a:solidFill>
                  <a:schemeClr val="tx1"/>
                </a:solidFill>
                <a:latin typeface="Gill Sans MT" panose="020B0502020104020203" pitchFamily="34" charset="0"/>
              </a:rPr>
              <a:t> </a:t>
            </a:r>
            <a:r>
              <a:rPr lang="en-US" sz="2400" b="0" i="1" dirty="0">
                <a:solidFill>
                  <a:schemeClr val="tx1"/>
                </a:solidFill>
                <a:latin typeface="Gill Sans MT" panose="020B0502020104020203" pitchFamily="34" charset="0"/>
              </a:rPr>
              <a:t>ab, </a:t>
            </a:r>
            <a:r>
              <a:rPr lang="en-US" sz="2400" b="0" i="1" dirty="0" err="1">
                <a:solidFill>
                  <a:schemeClr val="tx1"/>
                </a:solidFill>
                <a:latin typeface="Gill Sans MT" panose="020B0502020104020203" pitchFamily="34" charset="0"/>
              </a:rPr>
              <a:t>bc</a:t>
            </a:r>
            <a:r>
              <a:rPr lang="en-US" sz="2400" b="0" i="1" dirty="0">
                <a:solidFill>
                  <a:schemeClr val="tx1"/>
                </a:solidFill>
                <a:latin typeface="Gill Sans MT" panose="020B0502020104020203" pitchFamily="34" charset="0"/>
              </a:rPr>
              <a:t>, b, ac }</a:t>
            </a:r>
            <a:endParaRPr lang="en-US" sz="2400" b="0" dirty="0">
              <a:solidFill>
                <a:schemeClr val="tx1"/>
              </a:solidFill>
              <a:latin typeface="Gill Sans MT" panose="020B0502020104020203" pitchFamily="34" charset="0"/>
            </a:endParaRPr>
          </a:p>
          <a:p>
            <a:pPr marL="742950" lvl="1" indent="-285750">
              <a:lnSpc>
                <a:spcPct val="90000"/>
              </a:lnSpc>
              <a:spcBef>
                <a:spcPct val="30000"/>
              </a:spcBef>
              <a:buSzPct val="85000"/>
              <a:buFontTx/>
              <a:buChar char="•"/>
            </a:pPr>
            <a:r>
              <a:rPr lang="en-US" sz="2400" b="0" dirty="0">
                <a:solidFill>
                  <a:schemeClr val="tx1"/>
                </a:solidFill>
                <a:latin typeface="Gill Sans MT" panose="020B0502020104020203" pitchFamily="34" charset="0"/>
              </a:rPr>
              <a:t>Possible test set:  {TTF, FFT} </a:t>
            </a:r>
          </a:p>
          <a:p>
            <a:pPr marL="285750" indent="-285750">
              <a:lnSpc>
                <a:spcPct val="90000"/>
              </a:lnSpc>
              <a:spcBef>
                <a:spcPct val="30000"/>
              </a:spcBef>
              <a:buSzPct val="85000"/>
              <a:buFontTx/>
              <a:buChar char="•"/>
            </a:pPr>
            <a:r>
              <a:rPr lang="en-US" sz="2400" b="0" dirty="0">
                <a:solidFill>
                  <a:schemeClr val="tx1"/>
                </a:solidFill>
                <a:latin typeface="Gill Sans MT" panose="020B0502020104020203" pitchFamily="34" charset="0"/>
              </a:rPr>
              <a:t>Observation:  IC is relatively weak  </a:t>
            </a:r>
          </a:p>
        </p:txBody>
      </p:sp>
      <p:sp>
        <p:nvSpPr>
          <p:cNvPr id="47123" name="Line 19"/>
          <p:cNvSpPr>
            <a:spLocks noChangeShapeType="1"/>
          </p:cNvSpPr>
          <p:nvPr/>
        </p:nvSpPr>
        <p:spPr bwMode="auto">
          <a:xfrm>
            <a:off x="6123441" y="2829107"/>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24" name="Line 20"/>
          <p:cNvSpPr>
            <a:spLocks noChangeShapeType="1"/>
          </p:cNvSpPr>
          <p:nvPr/>
        </p:nvSpPr>
        <p:spPr bwMode="auto">
          <a:xfrm>
            <a:off x="2521268" y="3162551"/>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25" name="Line 21"/>
          <p:cNvSpPr>
            <a:spLocks noChangeShapeType="1"/>
          </p:cNvSpPr>
          <p:nvPr/>
        </p:nvSpPr>
        <p:spPr bwMode="auto">
          <a:xfrm>
            <a:off x="5396911" y="419258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26" name="Line 22"/>
          <p:cNvSpPr>
            <a:spLocks noChangeShapeType="1"/>
          </p:cNvSpPr>
          <p:nvPr/>
        </p:nvSpPr>
        <p:spPr bwMode="auto">
          <a:xfrm>
            <a:off x="5798548" y="421481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27" name="Line 23"/>
          <p:cNvSpPr>
            <a:spLocks noChangeShapeType="1"/>
          </p:cNvSpPr>
          <p:nvPr/>
        </p:nvSpPr>
        <p:spPr bwMode="auto">
          <a:xfrm>
            <a:off x="6320836" y="425926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28" name="Line 24"/>
          <p:cNvSpPr>
            <a:spLocks noChangeShapeType="1"/>
          </p:cNvSpPr>
          <p:nvPr/>
        </p:nvSpPr>
        <p:spPr bwMode="auto">
          <a:xfrm>
            <a:off x="4689475" y="4279900"/>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29" name="Line 25"/>
          <p:cNvSpPr>
            <a:spLocks noChangeShapeType="1"/>
          </p:cNvSpPr>
          <p:nvPr/>
        </p:nvSpPr>
        <p:spPr bwMode="auto">
          <a:xfrm>
            <a:off x="5309842" y="469423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30" name="Line 26"/>
          <p:cNvSpPr>
            <a:spLocks noChangeShapeType="1"/>
          </p:cNvSpPr>
          <p:nvPr/>
        </p:nvSpPr>
        <p:spPr bwMode="auto">
          <a:xfrm>
            <a:off x="5067041" y="464026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47131" name="Line 27"/>
          <p:cNvSpPr>
            <a:spLocks noChangeShapeType="1"/>
          </p:cNvSpPr>
          <p:nvPr/>
        </p:nvSpPr>
        <p:spPr bwMode="auto">
          <a:xfrm>
            <a:off x="4793991" y="4705350"/>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4352" name="Slide Number Placeholder 23"/>
          <p:cNvSpPr>
            <a:spLocks noGrp="1"/>
          </p:cNvSpPr>
          <p:nvPr>
            <p:ph type="sldNum" sz="quarter" idx="12"/>
          </p:nvPr>
        </p:nvSpPr>
        <p:spPr>
          <a:noFill/>
        </p:spPr>
        <p:txBody>
          <a:bodyPr/>
          <a:lstStyle/>
          <a:p>
            <a:fld id="{4BB974D9-5875-4E99-914A-07375D83E4A6}" type="slidenum">
              <a:rPr lang="en-US" smtClean="0">
                <a:latin typeface="Arial" charset="0"/>
                <a:cs typeface="Arial" charset="0"/>
              </a:rPr>
              <a:pPr/>
              <a:t>4</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3780"/>
                                        </p:tgtEl>
                                        <p:attrNameLst>
                                          <p:attrName>style.visibility</p:attrName>
                                        </p:attrNameLst>
                                      </p:cBhvr>
                                      <p:to>
                                        <p:strVal val="visible"/>
                                      </p:to>
                                    </p:set>
                                    <p:animEffect transition="in" filter="dissolve">
                                      <p:cBhvr>
                                        <p:cTn id="7" dur="500"/>
                                        <p:tgtEl>
                                          <p:spTgt spid="20378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7123"/>
                                        </p:tgtEl>
                                        <p:attrNameLst>
                                          <p:attrName>style.visibility</p:attrName>
                                        </p:attrNameLst>
                                      </p:cBhvr>
                                      <p:to>
                                        <p:strVal val="visible"/>
                                      </p:to>
                                    </p:set>
                                    <p:animEffect transition="in" filter="blinds(horizontal)">
                                      <p:cBhvr>
                                        <p:cTn id="10" dur="500"/>
                                        <p:tgtEl>
                                          <p:spTgt spid="4712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7124"/>
                                        </p:tgtEl>
                                        <p:attrNameLst>
                                          <p:attrName>style.visibility</p:attrName>
                                        </p:attrNameLst>
                                      </p:cBhvr>
                                      <p:to>
                                        <p:strVal val="visible"/>
                                      </p:to>
                                    </p:set>
                                    <p:animEffect transition="in" filter="blinds(horizontal)">
                                      <p:cBhvr>
                                        <p:cTn id="13" dur="500"/>
                                        <p:tgtEl>
                                          <p:spTgt spid="4712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3782">
                                            <p:txEl>
                                              <p:pRg st="0" end="0"/>
                                            </p:txEl>
                                          </p:spTgt>
                                        </p:tgtEl>
                                        <p:attrNameLst>
                                          <p:attrName>style.visibility</p:attrName>
                                        </p:attrNameLst>
                                      </p:cBhvr>
                                      <p:to>
                                        <p:strVal val="visible"/>
                                      </p:to>
                                    </p:set>
                                    <p:animEffect transition="in" filter="wipe(left)">
                                      <p:cBhvr>
                                        <p:cTn id="18" dur="500"/>
                                        <p:tgtEl>
                                          <p:spTgt spid="203782">
                                            <p:txEl>
                                              <p:pRg st="0" end="0"/>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7125"/>
                                        </p:tgtEl>
                                        <p:attrNameLst>
                                          <p:attrName>style.visibility</p:attrName>
                                        </p:attrNameLst>
                                      </p:cBhvr>
                                      <p:to>
                                        <p:strVal val="visible"/>
                                      </p:to>
                                    </p:set>
                                    <p:animEffect transition="in" filter="blinds(horizontal)">
                                      <p:cBhvr>
                                        <p:cTn id="21" dur="500"/>
                                        <p:tgtEl>
                                          <p:spTgt spid="4712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7126"/>
                                        </p:tgtEl>
                                        <p:attrNameLst>
                                          <p:attrName>style.visibility</p:attrName>
                                        </p:attrNameLst>
                                      </p:cBhvr>
                                      <p:to>
                                        <p:strVal val="visible"/>
                                      </p:to>
                                    </p:set>
                                    <p:animEffect transition="in" filter="blinds(horizontal)">
                                      <p:cBhvr>
                                        <p:cTn id="24" dur="500"/>
                                        <p:tgtEl>
                                          <p:spTgt spid="47126"/>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7127"/>
                                        </p:tgtEl>
                                        <p:attrNameLst>
                                          <p:attrName>style.visibility</p:attrName>
                                        </p:attrNameLst>
                                      </p:cBhvr>
                                      <p:to>
                                        <p:strVal val="visible"/>
                                      </p:to>
                                    </p:set>
                                    <p:animEffect transition="in" filter="blinds(horizontal)">
                                      <p:cBhvr>
                                        <p:cTn id="27" dur="500"/>
                                        <p:tgtEl>
                                          <p:spTgt spid="4712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7128"/>
                                        </p:tgtEl>
                                        <p:attrNameLst>
                                          <p:attrName>style.visibility</p:attrName>
                                        </p:attrNameLst>
                                      </p:cBhvr>
                                      <p:to>
                                        <p:strVal val="visible"/>
                                      </p:to>
                                    </p:set>
                                    <p:animEffect transition="in" filter="blinds(horizontal)">
                                      <p:cBhvr>
                                        <p:cTn id="30" dur="500"/>
                                        <p:tgtEl>
                                          <p:spTgt spid="4712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203782">
                                            <p:txEl>
                                              <p:pRg st="1" end="1"/>
                                            </p:txEl>
                                          </p:spTgt>
                                        </p:tgtEl>
                                        <p:attrNameLst>
                                          <p:attrName>style.visibility</p:attrName>
                                        </p:attrNameLst>
                                      </p:cBhvr>
                                      <p:to>
                                        <p:strVal val="visible"/>
                                      </p:to>
                                    </p:set>
                                    <p:animEffect transition="in" filter="wipe(left)">
                                      <p:cBhvr>
                                        <p:cTn id="33" dur="500"/>
                                        <p:tgtEl>
                                          <p:spTgt spid="203782">
                                            <p:txEl>
                                              <p:pRg st="1" end="1"/>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7129"/>
                                        </p:tgtEl>
                                        <p:attrNameLst>
                                          <p:attrName>style.visibility</p:attrName>
                                        </p:attrNameLst>
                                      </p:cBhvr>
                                      <p:to>
                                        <p:strVal val="visible"/>
                                      </p:to>
                                    </p:set>
                                    <p:animEffect transition="in" filter="blinds(horizontal)">
                                      <p:cBhvr>
                                        <p:cTn id="36" dur="500"/>
                                        <p:tgtEl>
                                          <p:spTgt spid="4712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47130"/>
                                        </p:tgtEl>
                                        <p:attrNameLst>
                                          <p:attrName>style.visibility</p:attrName>
                                        </p:attrNameLst>
                                      </p:cBhvr>
                                      <p:to>
                                        <p:strVal val="visible"/>
                                      </p:to>
                                    </p:set>
                                    <p:animEffect transition="in" filter="blinds(horizontal)">
                                      <p:cBhvr>
                                        <p:cTn id="39" dur="500"/>
                                        <p:tgtEl>
                                          <p:spTgt spid="47130"/>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7131"/>
                                        </p:tgtEl>
                                        <p:attrNameLst>
                                          <p:attrName>style.visibility</p:attrName>
                                        </p:attrNameLst>
                                      </p:cBhvr>
                                      <p:to>
                                        <p:strVal val="visible"/>
                                      </p:to>
                                    </p:set>
                                    <p:animEffect transition="in" filter="blinds(horizontal)">
                                      <p:cBhvr>
                                        <p:cTn id="42" dur="500"/>
                                        <p:tgtEl>
                                          <p:spTgt spid="47131"/>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03782">
                                            <p:txEl>
                                              <p:pRg st="2" end="2"/>
                                            </p:txEl>
                                          </p:spTgt>
                                        </p:tgtEl>
                                        <p:attrNameLst>
                                          <p:attrName>style.visibility</p:attrName>
                                        </p:attrNameLst>
                                      </p:cBhvr>
                                      <p:to>
                                        <p:strVal val="visible"/>
                                      </p:to>
                                    </p:set>
                                    <p:animEffect transition="in" filter="wipe(left)">
                                      <p:cBhvr>
                                        <p:cTn id="45" dur="500"/>
                                        <p:tgtEl>
                                          <p:spTgt spid="203782">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3782">
                                            <p:txEl>
                                              <p:pRg st="3" end="3"/>
                                            </p:txEl>
                                          </p:spTgt>
                                        </p:tgtEl>
                                        <p:attrNameLst>
                                          <p:attrName>style.visibility</p:attrName>
                                        </p:attrNameLst>
                                      </p:cBhvr>
                                      <p:to>
                                        <p:strVal val="visible"/>
                                      </p:to>
                                    </p:set>
                                    <p:animEffect transition="in" filter="wipe(left)">
                                      <p:cBhvr>
                                        <p:cTn id="50" dur="500"/>
                                        <p:tgtEl>
                                          <p:spTgt spid="2037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0" grpId="0" animBg="1" autoUpdateAnimBg="0"/>
      <p:bldP spid="203782" grpId="0" build="p" autoUpdateAnimBg="0"/>
      <p:bldP spid="47123" grpId="0" animBg="1"/>
      <p:bldP spid="47124" grpId="0" animBg="1"/>
      <p:bldP spid="47125" grpId="0" animBg="1"/>
      <p:bldP spid="47126" grpId="0" animBg="1"/>
      <p:bldP spid="47127" grpId="0" animBg="1"/>
      <p:bldP spid="47128" grpId="0" animBg="1"/>
      <p:bldP spid="47129" grpId="0" animBg="1"/>
      <p:bldP spid="47130" grpId="0" animBg="1"/>
      <p:bldP spid="471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1620253" y="96839"/>
            <a:ext cx="8963526" cy="915987"/>
          </a:xfrm>
        </p:spPr>
        <p:txBody>
          <a:bodyPr/>
          <a:lstStyle/>
          <a:p>
            <a:r>
              <a:rPr lang="en-US" dirty="0"/>
              <a:t>Improving on Implicant Coverage</a:t>
            </a:r>
          </a:p>
        </p:txBody>
      </p:sp>
      <p:sp>
        <p:nvSpPr>
          <p:cNvPr id="62469" name="Rectangle 3"/>
          <p:cNvSpPr>
            <a:spLocks noGrp="1" noChangeArrowheads="1"/>
          </p:cNvSpPr>
          <p:nvPr>
            <p:ph type="body" idx="4294967295"/>
          </p:nvPr>
        </p:nvSpPr>
        <p:spPr>
          <a:xfrm>
            <a:off x="1662114" y="1085850"/>
            <a:ext cx="8867775" cy="5314950"/>
          </a:xfrm>
        </p:spPr>
        <p:txBody>
          <a:bodyPr/>
          <a:lstStyle/>
          <a:p>
            <a:r>
              <a:rPr lang="en-US" dirty="0"/>
              <a:t>Additional Definitions :</a:t>
            </a:r>
          </a:p>
          <a:p>
            <a:pPr lvl="1"/>
            <a:r>
              <a:rPr lang="en-US" dirty="0"/>
              <a:t>A </a:t>
            </a:r>
            <a:r>
              <a:rPr lang="en-US" i="1" dirty="0">
                <a:solidFill>
                  <a:schemeClr val="tx2"/>
                </a:solidFill>
              </a:rPr>
              <a:t>proper </a:t>
            </a:r>
            <a:r>
              <a:rPr lang="en-US" i="1" dirty="0" err="1">
                <a:solidFill>
                  <a:schemeClr val="tx2"/>
                </a:solidFill>
              </a:rPr>
              <a:t>subterm</a:t>
            </a:r>
            <a:r>
              <a:rPr lang="en-US" i="1" dirty="0">
                <a:solidFill>
                  <a:schemeClr val="tx2"/>
                </a:solidFill>
              </a:rPr>
              <a:t> </a:t>
            </a:r>
            <a:r>
              <a:rPr lang="en-US" dirty="0"/>
              <a:t>is a term with one or more clauses removed</a:t>
            </a:r>
          </a:p>
          <a:p>
            <a:pPr lvl="2"/>
            <a:r>
              <a:rPr lang="en-US" dirty="0"/>
              <a:t>Example:  </a:t>
            </a:r>
            <a:r>
              <a:rPr lang="en-US" i="1" dirty="0" err="1"/>
              <a:t>abc</a:t>
            </a:r>
            <a:r>
              <a:rPr lang="en-US" dirty="0"/>
              <a:t> has 6 proper </a:t>
            </a:r>
            <a:r>
              <a:rPr lang="en-US" dirty="0" err="1"/>
              <a:t>subterms</a:t>
            </a:r>
            <a:r>
              <a:rPr lang="en-US" dirty="0"/>
              <a:t>:  </a:t>
            </a:r>
            <a:r>
              <a:rPr lang="en-US" i="1" dirty="0"/>
              <a:t>a, b, c, ab, ac</a:t>
            </a:r>
            <a:r>
              <a:rPr lang="en-US" dirty="0"/>
              <a:t>, </a:t>
            </a:r>
            <a:r>
              <a:rPr lang="en-US" i="1" dirty="0" err="1"/>
              <a:t>bc</a:t>
            </a:r>
            <a:endParaRPr lang="en-US" i="1" u="sng" dirty="0"/>
          </a:p>
          <a:p>
            <a:pPr lvl="1"/>
            <a:r>
              <a:rPr lang="en-US" dirty="0"/>
              <a:t>A </a:t>
            </a:r>
            <a:r>
              <a:rPr lang="en-US" i="1" dirty="0">
                <a:solidFill>
                  <a:schemeClr val="tx2"/>
                </a:solidFill>
              </a:rPr>
              <a:t>prime implicant</a:t>
            </a:r>
            <a:r>
              <a:rPr lang="en-US" dirty="0"/>
              <a:t> is an implicant such that no proper </a:t>
            </a:r>
            <a:r>
              <a:rPr lang="en-US" dirty="0" err="1"/>
              <a:t>subterm</a:t>
            </a:r>
            <a:r>
              <a:rPr lang="en-US" dirty="0"/>
              <a:t> is also an implicant</a:t>
            </a:r>
          </a:p>
          <a:p>
            <a:pPr lvl="2"/>
            <a:r>
              <a:rPr lang="en-US" dirty="0"/>
              <a:t>Example:  </a:t>
            </a:r>
            <a:r>
              <a:rPr lang="en-US" i="1" dirty="0"/>
              <a:t>f =</a:t>
            </a:r>
            <a:r>
              <a:rPr lang="en-US" dirty="0"/>
              <a:t> </a:t>
            </a:r>
            <a:r>
              <a:rPr lang="en-US" i="1" dirty="0"/>
              <a:t>a</a:t>
            </a:r>
            <a:r>
              <a:rPr lang="en-US" altLang="zh-CN" i="1" dirty="0"/>
              <a:t>c</a:t>
            </a:r>
            <a:r>
              <a:rPr lang="en-US" i="1" dirty="0"/>
              <a:t> + </a:t>
            </a:r>
            <a:r>
              <a:rPr lang="en-US" i="1" dirty="0" err="1"/>
              <a:t>abc</a:t>
            </a:r>
            <a:endParaRPr lang="en-US" i="1" dirty="0"/>
          </a:p>
          <a:p>
            <a:pPr lvl="2"/>
            <a:r>
              <a:rPr lang="en-US" dirty="0" err="1"/>
              <a:t>Implicant</a:t>
            </a:r>
            <a:r>
              <a:rPr lang="en-US" dirty="0"/>
              <a:t> </a:t>
            </a:r>
            <a:r>
              <a:rPr lang="en-US" i="1" dirty="0"/>
              <a:t>a</a:t>
            </a:r>
            <a:r>
              <a:rPr lang="en-US" altLang="zh-CN" i="1" dirty="0"/>
              <a:t>c</a:t>
            </a:r>
            <a:r>
              <a:rPr lang="en-US" dirty="0"/>
              <a:t> is a prime implicant</a:t>
            </a:r>
          </a:p>
          <a:p>
            <a:pPr lvl="2"/>
            <a:r>
              <a:rPr lang="en-US" dirty="0"/>
              <a:t>Implicant </a:t>
            </a:r>
            <a:r>
              <a:rPr lang="en-US" i="1" dirty="0" err="1"/>
              <a:t>abc</a:t>
            </a:r>
            <a:r>
              <a:rPr lang="en-US" dirty="0"/>
              <a:t> is not a prime implicant (due to proper </a:t>
            </a:r>
            <a:r>
              <a:rPr lang="en-US" dirty="0" err="1"/>
              <a:t>subterm</a:t>
            </a:r>
            <a:r>
              <a:rPr lang="en-US" dirty="0"/>
              <a:t> </a:t>
            </a:r>
            <a:r>
              <a:rPr lang="en-US" i="1" dirty="0"/>
              <a:t>ac</a:t>
            </a:r>
            <a:r>
              <a:rPr lang="en-US" dirty="0"/>
              <a:t>)</a:t>
            </a:r>
          </a:p>
          <a:p>
            <a:pPr lvl="1"/>
            <a:r>
              <a:rPr lang="en-US" dirty="0"/>
              <a:t>A </a:t>
            </a:r>
            <a:r>
              <a:rPr lang="en-US" i="1" dirty="0">
                <a:solidFill>
                  <a:schemeClr val="tx2"/>
                </a:solidFill>
              </a:rPr>
              <a:t>redundant implicant </a:t>
            </a:r>
            <a:r>
              <a:rPr lang="en-US" dirty="0"/>
              <a:t>is an implicant that can be removed without changing the value of the predicate</a:t>
            </a:r>
          </a:p>
          <a:p>
            <a:pPr lvl="2"/>
            <a:r>
              <a:rPr lang="en-US" dirty="0"/>
              <a:t>Example:  </a:t>
            </a:r>
            <a:r>
              <a:rPr lang="en-US" i="1" dirty="0"/>
              <a:t>f = ab + ac + </a:t>
            </a:r>
            <a:r>
              <a:rPr lang="en-US" i="1" dirty="0" err="1"/>
              <a:t>bc</a:t>
            </a:r>
            <a:r>
              <a:rPr lang="en-US" i="1" dirty="0"/>
              <a:t>       </a:t>
            </a:r>
          </a:p>
          <a:p>
            <a:pPr lvl="2"/>
            <a:r>
              <a:rPr lang="en-US" i="1" dirty="0"/>
              <a:t> ab </a:t>
            </a:r>
            <a:r>
              <a:rPr lang="en-US" dirty="0"/>
              <a:t>is redundant</a:t>
            </a:r>
          </a:p>
          <a:p>
            <a:pPr lvl="2"/>
            <a:r>
              <a:rPr lang="en-US" dirty="0"/>
              <a:t>Predicate can be written:  </a:t>
            </a:r>
            <a:r>
              <a:rPr lang="en-US" i="1" dirty="0"/>
              <a:t>ac + </a:t>
            </a:r>
            <a:r>
              <a:rPr lang="en-US" i="1" dirty="0" err="1"/>
              <a:t>bc</a:t>
            </a:r>
            <a:endParaRPr lang="en-US" dirty="0"/>
          </a:p>
        </p:txBody>
      </p:sp>
      <p:sp>
        <p:nvSpPr>
          <p:cNvPr id="62471" name="Line 7"/>
          <p:cNvSpPr>
            <a:spLocks noChangeShapeType="1"/>
          </p:cNvSpPr>
          <p:nvPr/>
        </p:nvSpPr>
        <p:spPr bwMode="auto">
          <a:xfrm>
            <a:off x="4921753" y="3178174"/>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2477" name="Line 13"/>
          <p:cNvSpPr>
            <a:spLocks noChangeShapeType="1"/>
          </p:cNvSpPr>
          <p:nvPr/>
        </p:nvSpPr>
        <p:spPr bwMode="auto">
          <a:xfrm>
            <a:off x="4006308" y="390907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2478" name="Line 14"/>
          <p:cNvSpPr>
            <a:spLocks noChangeShapeType="1"/>
          </p:cNvSpPr>
          <p:nvPr/>
        </p:nvSpPr>
        <p:spPr bwMode="auto">
          <a:xfrm>
            <a:off x="5431089" y="506220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2479" name="Line 15"/>
          <p:cNvSpPr>
            <a:spLocks noChangeShapeType="1"/>
          </p:cNvSpPr>
          <p:nvPr/>
        </p:nvSpPr>
        <p:spPr bwMode="auto">
          <a:xfrm>
            <a:off x="6222246" y="5803566"/>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5369" name="Slide Number Placeholder 17"/>
          <p:cNvSpPr>
            <a:spLocks noGrp="1"/>
          </p:cNvSpPr>
          <p:nvPr>
            <p:ph type="sldNum" sz="quarter" idx="12"/>
          </p:nvPr>
        </p:nvSpPr>
        <p:spPr>
          <a:noFill/>
        </p:spPr>
        <p:txBody>
          <a:bodyPr/>
          <a:lstStyle/>
          <a:p>
            <a:fld id="{BD339705-A185-47F8-A820-13B3A7EDBAE9}" type="slidenum">
              <a:rPr lang="en-US" smtClean="0">
                <a:latin typeface="Arial" charset="0"/>
                <a:cs typeface="Arial" charset="0"/>
              </a:rPr>
              <a:pPr/>
              <a:t>5</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9">
                                            <p:txEl>
                                              <p:pRg st="0" end="0"/>
                                            </p:txEl>
                                          </p:spTgt>
                                        </p:tgtEl>
                                        <p:attrNameLst>
                                          <p:attrName>style.visibility</p:attrName>
                                        </p:attrNameLst>
                                      </p:cBhvr>
                                      <p:to>
                                        <p:strVal val="visible"/>
                                      </p:to>
                                    </p:set>
                                    <p:animEffect transition="in" filter="blinds(horizontal)">
                                      <p:cBhvr>
                                        <p:cTn id="7" dur="500"/>
                                        <p:tgtEl>
                                          <p:spTgt spid="6246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2469">
                                            <p:txEl>
                                              <p:pRg st="1" end="1"/>
                                            </p:txEl>
                                          </p:spTgt>
                                        </p:tgtEl>
                                        <p:attrNameLst>
                                          <p:attrName>style.visibility</p:attrName>
                                        </p:attrNameLst>
                                      </p:cBhvr>
                                      <p:to>
                                        <p:strVal val="visible"/>
                                      </p:to>
                                    </p:set>
                                    <p:animEffect transition="in" filter="blinds(horizontal)">
                                      <p:cBhvr>
                                        <p:cTn id="10" dur="500"/>
                                        <p:tgtEl>
                                          <p:spTgt spid="6246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2469">
                                            <p:txEl>
                                              <p:pRg st="2" end="2"/>
                                            </p:txEl>
                                          </p:spTgt>
                                        </p:tgtEl>
                                        <p:attrNameLst>
                                          <p:attrName>style.visibility</p:attrName>
                                        </p:attrNameLst>
                                      </p:cBhvr>
                                      <p:to>
                                        <p:strVal val="visible"/>
                                      </p:to>
                                    </p:set>
                                    <p:animEffect transition="in" filter="blinds(horizontal)">
                                      <p:cBhvr>
                                        <p:cTn id="15" dur="500"/>
                                        <p:tgtEl>
                                          <p:spTgt spid="6246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2469">
                                            <p:txEl>
                                              <p:pRg st="3" end="3"/>
                                            </p:txEl>
                                          </p:spTgt>
                                        </p:tgtEl>
                                        <p:attrNameLst>
                                          <p:attrName>style.visibility</p:attrName>
                                        </p:attrNameLst>
                                      </p:cBhvr>
                                      <p:to>
                                        <p:strVal val="visible"/>
                                      </p:to>
                                    </p:set>
                                    <p:animEffect transition="in" filter="blinds(horizontal)">
                                      <p:cBhvr>
                                        <p:cTn id="20" dur="500"/>
                                        <p:tgtEl>
                                          <p:spTgt spid="6246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2469">
                                            <p:txEl>
                                              <p:pRg st="4" end="4"/>
                                            </p:txEl>
                                          </p:spTgt>
                                        </p:tgtEl>
                                        <p:attrNameLst>
                                          <p:attrName>style.visibility</p:attrName>
                                        </p:attrNameLst>
                                      </p:cBhvr>
                                      <p:to>
                                        <p:strVal val="visible"/>
                                      </p:to>
                                    </p:set>
                                    <p:animEffect transition="in" filter="blinds(horizontal)">
                                      <p:cBhvr>
                                        <p:cTn id="25" dur="500"/>
                                        <p:tgtEl>
                                          <p:spTgt spid="62469">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2471"/>
                                        </p:tgtEl>
                                        <p:attrNameLst>
                                          <p:attrName>style.visibility</p:attrName>
                                        </p:attrNameLst>
                                      </p:cBhvr>
                                      <p:to>
                                        <p:strVal val="visible"/>
                                      </p:to>
                                    </p:set>
                                    <p:animEffect transition="in" filter="blinds(horizontal)">
                                      <p:cBhvr>
                                        <p:cTn id="28" dur="500"/>
                                        <p:tgtEl>
                                          <p:spTgt spid="62471"/>
                                        </p:tgtEl>
                                      </p:cBhvr>
                                    </p:animEffect>
                                  </p:childTnLst>
                                </p:cTn>
                              </p:par>
                              <p:par>
                                <p:cTn id="29" presetID="3" presetClass="entr" presetSubtype="10" fill="hold" nodeType="withEffect">
                                  <p:stCondLst>
                                    <p:cond delay="0"/>
                                  </p:stCondLst>
                                  <p:childTnLst>
                                    <p:set>
                                      <p:cBhvr>
                                        <p:cTn id="30" dur="1" fill="hold">
                                          <p:stCondLst>
                                            <p:cond delay="0"/>
                                          </p:stCondLst>
                                        </p:cTn>
                                        <p:tgtEl>
                                          <p:spTgt spid="62469">
                                            <p:txEl>
                                              <p:pRg st="5" end="5"/>
                                            </p:txEl>
                                          </p:spTgt>
                                        </p:tgtEl>
                                        <p:attrNameLst>
                                          <p:attrName>style.visibility</p:attrName>
                                        </p:attrNameLst>
                                      </p:cBhvr>
                                      <p:to>
                                        <p:strVal val="visible"/>
                                      </p:to>
                                    </p:set>
                                    <p:animEffect transition="in" filter="blinds(horizontal)">
                                      <p:cBhvr>
                                        <p:cTn id="31" dur="500"/>
                                        <p:tgtEl>
                                          <p:spTgt spid="62469">
                                            <p:txEl>
                                              <p:pRg st="5" end="5"/>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62469">
                                            <p:txEl>
                                              <p:pRg st="6" end="6"/>
                                            </p:txEl>
                                          </p:spTgt>
                                        </p:tgtEl>
                                        <p:attrNameLst>
                                          <p:attrName>style.visibility</p:attrName>
                                        </p:attrNameLst>
                                      </p:cBhvr>
                                      <p:to>
                                        <p:strVal val="visible"/>
                                      </p:to>
                                    </p:set>
                                    <p:animEffect transition="in" filter="blinds(horizontal)">
                                      <p:cBhvr>
                                        <p:cTn id="34" dur="500"/>
                                        <p:tgtEl>
                                          <p:spTgt spid="62469">
                                            <p:txEl>
                                              <p:pRg st="6" end="6"/>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62477"/>
                                        </p:tgtEl>
                                        <p:attrNameLst>
                                          <p:attrName>style.visibility</p:attrName>
                                        </p:attrNameLst>
                                      </p:cBhvr>
                                      <p:to>
                                        <p:strVal val="visible"/>
                                      </p:to>
                                    </p:set>
                                    <p:animEffect transition="in" filter="blinds(horizontal)">
                                      <p:cBhvr>
                                        <p:cTn id="37" dur="500"/>
                                        <p:tgtEl>
                                          <p:spTgt spid="6247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2469">
                                            <p:txEl>
                                              <p:pRg st="7" end="7"/>
                                            </p:txEl>
                                          </p:spTgt>
                                        </p:tgtEl>
                                        <p:attrNameLst>
                                          <p:attrName>style.visibility</p:attrName>
                                        </p:attrNameLst>
                                      </p:cBhvr>
                                      <p:to>
                                        <p:strVal val="visible"/>
                                      </p:to>
                                    </p:set>
                                    <p:animEffect transition="in" filter="blinds(horizontal)">
                                      <p:cBhvr>
                                        <p:cTn id="42" dur="500"/>
                                        <p:tgtEl>
                                          <p:spTgt spid="6246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2469">
                                            <p:txEl>
                                              <p:pRg st="8" end="8"/>
                                            </p:txEl>
                                          </p:spTgt>
                                        </p:tgtEl>
                                        <p:attrNameLst>
                                          <p:attrName>style.visibility</p:attrName>
                                        </p:attrNameLst>
                                      </p:cBhvr>
                                      <p:to>
                                        <p:strVal val="visible"/>
                                      </p:to>
                                    </p:set>
                                    <p:animEffect transition="in" filter="blinds(horizontal)">
                                      <p:cBhvr>
                                        <p:cTn id="47" dur="500"/>
                                        <p:tgtEl>
                                          <p:spTgt spid="62469">
                                            <p:txEl>
                                              <p:pRg st="8" end="8"/>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62478"/>
                                        </p:tgtEl>
                                        <p:attrNameLst>
                                          <p:attrName>style.visibility</p:attrName>
                                        </p:attrNameLst>
                                      </p:cBhvr>
                                      <p:to>
                                        <p:strVal val="visible"/>
                                      </p:to>
                                    </p:set>
                                    <p:animEffect transition="in" filter="blinds(horizontal)">
                                      <p:cBhvr>
                                        <p:cTn id="50" dur="500"/>
                                        <p:tgtEl>
                                          <p:spTgt spid="6247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62469">
                                            <p:txEl>
                                              <p:pRg st="9" end="9"/>
                                            </p:txEl>
                                          </p:spTgt>
                                        </p:tgtEl>
                                        <p:attrNameLst>
                                          <p:attrName>style.visibility</p:attrName>
                                        </p:attrNameLst>
                                      </p:cBhvr>
                                      <p:to>
                                        <p:strVal val="visible"/>
                                      </p:to>
                                    </p:set>
                                    <p:animEffect transition="in" filter="blinds(horizontal)">
                                      <p:cBhvr>
                                        <p:cTn id="55" dur="500"/>
                                        <p:tgtEl>
                                          <p:spTgt spid="62469">
                                            <p:txEl>
                                              <p:pRg st="9" end="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62469">
                                            <p:txEl>
                                              <p:pRg st="10" end="10"/>
                                            </p:txEl>
                                          </p:spTgt>
                                        </p:tgtEl>
                                        <p:attrNameLst>
                                          <p:attrName>style.visibility</p:attrName>
                                        </p:attrNameLst>
                                      </p:cBhvr>
                                      <p:to>
                                        <p:strVal val="visible"/>
                                      </p:to>
                                    </p:set>
                                    <p:animEffect transition="in" filter="blinds(horizontal)">
                                      <p:cBhvr>
                                        <p:cTn id="60" dur="500"/>
                                        <p:tgtEl>
                                          <p:spTgt spid="62469">
                                            <p:txEl>
                                              <p:pRg st="10" end="10"/>
                                            </p:txEl>
                                          </p:spTgt>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62479"/>
                                        </p:tgtEl>
                                        <p:attrNameLst>
                                          <p:attrName>style.visibility</p:attrName>
                                        </p:attrNameLst>
                                      </p:cBhvr>
                                      <p:to>
                                        <p:strVal val="visible"/>
                                      </p:to>
                                    </p:set>
                                    <p:animEffect transition="in" filter="blinds(horizontal)">
                                      <p:cBhvr>
                                        <p:cTn id="63" dur="500"/>
                                        <p:tgtEl>
                                          <p:spTgt spid="62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1" grpId="0" animBg="1"/>
      <p:bldP spid="62477" grpId="0" animBg="1"/>
      <p:bldP spid="62478" grpId="0" animBg="1"/>
      <p:bldP spid="6247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656348" y="96839"/>
            <a:ext cx="8831179" cy="915987"/>
          </a:xfrm>
        </p:spPr>
        <p:txBody>
          <a:bodyPr/>
          <a:lstStyle/>
          <a:p>
            <a:r>
              <a:rPr lang="en-US" dirty="0"/>
              <a:t>Unique True Points</a:t>
            </a:r>
          </a:p>
        </p:txBody>
      </p:sp>
      <p:sp>
        <p:nvSpPr>
          <p:cNvPr id="64517" name="Rectangle 3"/>
          <p:cNvSpPr>
            <a:spLocks noGrp="1" noChangeArrowheads="1"/>
          </p:cNvSpPr>
          <p:nvPr>
            <p:ph type="body" idx="4294967295"/>
          </p:nvPr>
        </p:nvSpPr>
        <p:spPr>
          <a:xfrm>
            <a:off x="1662114" y="830180"/>
            <a:ext cx="8867775" cy="5570621"/>
          </a:xfrm>
        </p:spPr>
        <p:txBody>
          <a:bodyPr/>
          <a:lstStyle/>
          <a:p>
            <a:r>
              <a:rPr lang="en-US" dirty="0"/>
              <a:t>A </a:t>
            </a:r>
            <a:r>
              <a:rPr lang="en-US" i="1" dirty="0">
                <a:solidFill>
                  <a:schemeClr val="tx2"/>
                </a:solidFill>
              </a:rPr>
              <a:t>minimal DNF representation </a:t>
            </a:r>
            <a:r>
              <a:rPr lang="en-US" dirty="0"/>
              <a:t>is one with only prime, non-redundant implicants</a:t>
            </a:r>
          </a:p>
          <a:p>
            <a:r>
              <a:rPr lang="en-US" dirty="0"/>
              <a:t>A </a:t>
            </a:r>
            <a:r>
              <a:rPr lang="en-US" i="1" dirty="0">
                <a:solidFill>
                  <a:schemeClr val="tx2"/>
                </a:solidFill>
              </a:rPr>
              <a:t>unique true point </a:t>
            </a:r>
            <a:r>
              <a:rPr lang="en-US" dirty="0"/>
              <a:t>with respect to a given implicant is an assignment of truth values so that </a:t>
            </a:r>
          </a:p>
          <a:p>
            <a:pPr lvl="1"/>
            <a:r>
              <a:rPr lang="en-US" dirty="0"/>
              <a:t>The given implicant is true, and </a:t>
            </a:r>
          </a:p>
          <a:p>
            <a:pPr lvl="1"/>
            <a:r>
              <a:rPr lang="en-US" dirty="0"/>
              <a:t>All other implicants are false</a:t>
            </a:r>
          </a:p>
          <a:p>
            <a:r>
              <a:rPr lang="en-US" dirty="0"/>
              <a:t>A unique true point test focuses on just one implicant</a:t>
            </a:r>
          </a:p>
          <a:p>
            <a:r>
              <a:rPr lang="en-US" dirty="0"/>
              <a:t>A minimal representation guarantees the existence of at least one unique true point for each implicant</a:t>
            </a:r>
          </a:p>
          <a:p>
            <a:endParaRPr lang="en-US" dirty="0"/>
          </a:p>
        </p:txBody>
      </p:sp>
      <p:sp>
        <p:nvSpPr>
          <p:cNvPr id="203780" name="Text Box 4"/>
          <p:cNvSpPr txBox="1">
            <a:spLocks noChangeArrowheads="1"/>
          </p:cNvSpPr>
          <p:nvPr/>
        </p:nvSpPr>
        <p:spPr bwMode="auto">
          <a:xfrm>
            <a:off x="1847174" y="4838972"/>
            <a:ext cx="8554453" cy="1569660"/>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wrap="square">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Multiple Unique True Point Coverage (MUTP)</a:t>
            </a:r>
            <a:r>
              <a:rPr lang="en-US" sz="2400" dirty="0">
                <a:solidFill>
                  <a:schemeClr val="tx2"/>
                </a:solidFill>
                <a:effectLst>
                  <a:outerShdw blurRad="38100" dist="38100" dir="2700000" algn="tl">
                    <a:srgbClr val="000000"/>
                  </a:outerShdw>
                </a:effectLst>
                <a:latin typeface="Gill Sans MT" panose="020B0502020104020203" pitchFamily="34" charset="0"/>
              </a:rPr>
              <a:t> : Given minimal DNF representations of a predicate </a:t>
            </a:r>
            <a:r>
              <a:rPr lang="en-US" sz="2400" i="1" dirty="0">
                <a:solidFill>
                  <a:schemeClr val="tx2"/>
                </a:solidFill>
                <a:effectLst>
                  <a:outerShdw blurRad="38100" dist="38100" dir="2700000" algn="tl">
                    <a:srgbClr val="000000"/>
                  </a:outerShdw>
                </a:effectLst>
                <a:latin typeface="Gill Sans MT" panose="020B0502020104020203" pitchFamily="34" charset="0"/>
              </a:rPr>
              <a:t>f, for each </a:t>
            </a:r>
            <a:r>
              <a:rPr lang="en-US" sz="2400" i="1" dirty="0" err="1">
                <a:solidFill>
                  <a:schemeClr val="tx2"/>
                </a:solidFill>
                <a:effectLst>
                  <a:outerShdw blurRad="38100" dist="38100" dir="2700000" algn="tl">
                    <a:srgbClr val="000000"/>
                  </a:outerShdw>
                </a:effectLst>
                <a:latin typeface="Gill Sans MT" panose="020B0502020104020203" pitchFamily="34" charset="0"/>
              </a:rPr>
              <a:t>implicant</a:t>
            </a:r>
            <a:r>
              <a:rPr lang="en-US" sz="2400" i="1" dirty="0">
                <a:solidFill>
                  <a:schemeClr val="tx2"/>
                </a:solidFill>
                <a:effectLst>
                  <a:outerShdw blurRad="38100" dist="38100" dir="2700000" algn="tl">
                    <a:srgbClr val="000000"/>
                  </a:outerShdw>
                </a:effectLst>
                <a:latin typeface="Gill Sans MT" panose="020B0502020104020203" pitchFamily="34" charset="0"/>
              </a:rPr>
              <a:t> </a:t>
            </a:r>
            <a:r>
              <a:rPr lang="en-US" sz="2400" i="1" dirty="0" err="1">
                <a:solidFill>
                  <a:schemeClr val="tx2"/>
                </a:solidFill>
                <a:effectLst>
                  <a:outerShdw blurRad="38100" dist="38100" dir="2700000" algn="tl">
                    <a:srgbClr val="000000"/>
                  </a:outerShdw>
                </a:effectLst>
                <a:latin typeface="Gill Sans MT" panose="020B0502020104020203" pitchFamily="34" charset="0"/>
              </a:rPr>
              <a:t>i</a:t>
            </a:r>
            <a:r>
              <a:rPr lang="en-US" sz="2400" i="1" dirty="0">
                <a:solidFill>
                  <a:schemeClr val="tx2"/>
                </a:solidFill>
                <a:effectLst>
                  <a:outerShdw blurRad="38100" dist="38100" dir="2700000" algn="tl">
                    <a:srgbClr val="000000"/>
                  </a:outerShdw>
                </a:effectLst>
                <a:latin typeface="Gill Sans MT" panose="020B0502020104020203" pitchFamily="34" charset="0"/>
              </a:rPr>
              <a:t>, choose unique true points (UTPs) such that clauses not in </a:t>
            </a:r>
            <a:r>
              <a:rPr lang="en-US" sz="2400" i="1" dirty="0" err="1">
                <a:solidFill>
                  <a:schemeClr val="tx2"/>
                </a:solidFill>
                <a:effectLst>
                  <a:outerShdw blurRad="38100" dist="38100" dir="2700000" algn="tl">
                    <a:srgbClr val="000000"/>
                  </a:outerShdw>
                </a:effectLst>
                <a:latin typeface="Gill Sans MT" panose="020B0502020104020203" pitchFamily="34" charset="0"/>
              </a:rPr>
              <a:t>i</a:t>
            </a:r>
            <a:r>
              <a:rPr lang="en-US" sz="2400" i="1" dirty="0">
                <a:solidFill>
                  <a:schemeClr val="tx2"/>
                </a:solidFill>
                <a:effectLst>
                  <a:outerShdw blurRad="38100" dist="38100" dir="2700000" algn="tl">
                    <a:srgbClr val="000000"/>
                  </a:outerShdw>
                </a:effectLst>
                <a:latin typeface="Gill Sans MT" panose="020B0502020104020203" pitchFamily="34" charset="0"/>
              </a:rPr>
              <a:t> take on values T and F.</a:t>
            </a:r>
            <a:endParaRPr lang="en-US" sz="2400" dirty="0">
              <a:solidFill>
                <a:schemeClr val="tx2"/>
              </a:solidFill>
              <a:effectLst>
                <a:outerShdw blurRad="38100" dist="38100" dir="2700000" algn="tl">
                  <a:srgbClr val="000000"/>
                </a:outerShdw>
              </a:effectLst>
              <a:latin typeface="Gill Sans MT" panose="020B0502020104020203" pitchFamily="34" charset="0"/>
            </a:endParaRPr>
          </a:p>
        </p:txBody>
      </p:sp>
      <p:sp>
        <p:nvSpPr>
          <p:cNvPr id="16392" name="Slide Number Placeholder 13"/>
          <p:cNvSpPr>
            <a:spLocks noGrp="1"/>
          </p:cNvSpPr>
          <p:nvPr>
            <p:ph type="sldNum" sz="quarter" idx="12"/>
          </p:nvPr>
        </p:nvSpPr>
        <p:spPr>
          <a:noFill/>
        </p:spPr>
        <p:txBody>
          <a:bodyPr/>
          <a:lstStyle/>
          <a:p>
            <a:fld id="{0496C0B5-2343-4403-AC48-26AE481FD54A}" type="slidenum">
              <a:rPr lang="en-US" smtClean="0">
                <a:latin typeface="Arial" charset="0"/>
                <a:cs typeface="Arial" charset="0"/>
              </a:rPr>
              <a:pPr/>
              <a:t>6</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7">
                                            <p:txEl>
                                              <p:pRg st="0" end="0"/>
                                            </p:txEl>
                                          </p:spTgt>
                                        </p:tgtEl>
                                        <p:attrNameLst>
                                          <p:attrName>style.visibility</p:attrName>
                                        </p:attrNameLst>
                                      </p:cBhvr>
                                      <p:to>
                                        <p:strVal val="visible"/>
                                      </p:to>
                                    </p:set>
                                    <p:animEffect transition="in" filter="blinds(horizontal)">
                                      <p:cBhvr>
                                        <p:cTn id="7" dur="500"/>
                                        <p:tgtEl>
                                          <p:spTgt spid="645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517">
                                            <p:txEl>
                                              <p:pRg st="1" end="1"/>
                                            </p:txEl>
                                          </p:spTgt>
                                        </p:tgtEl>
                                        <p:attrNameLst>
                                          <p:attrName>style.visibility</p:attrName>
                                        </p:attrNameLst>
                                      </p:cBhvr>
                                      <p:to>
                                        <p:strVal val="visible"/>
                                      </p:to>
                                    </p:set>
                                    <p:animEffect transition="in" filter="blinds(horizontal)">
                                      <p:cBhvr>
                                        <p:cTn id="12" dur="500"/>
                                        <p:tgtEl>
                                          <p:spTgt spid="6451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4517">
                                            <p:txEl>
                                              <p:pRg st="2" end="2"/>
                                            </p:txEl>
                                          </p:spTgt>
                                        </p:tgtEl>
                                        <p:attrNameLst>
                                          <p:attrName>style.visibility</p:attrName>
                                        </p:attrNameLst>
                                      </p:cBhvr>
                                      <p:to>
                                        <p:strVal val="visible"/>
                                      </p:to>
                                    </p:set>
                                    <p:animEffect transition="in" filter="blinds(horizontal)">
                                      <p:cBhvr>
                                        <p:cTn id="15" dur="500"/>
                                        <p:tgtEl>
                                          <p:spTgt spid="6451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4517">
                                            <p:txEl>
                                              <p:pRg st="3" end="3"/>
                                            </p:txEl>
                                          </p:spTgt>
                                        </p:tgtEl>
                                        <p:attrNameLst>
                                          <p:attrName>style.visibility</p:attrName>
                                        </p:attrNameLst>
                                      </p:cBhvr>
                                      <p:to>
                                        <p:strVal val="visible"/>
                                      </p:to>
                                    </p:set>
                                    <p:animEffect transition="in" filter="blinds(horizontal)">
                                      <p:cBhvr>
                                        <p:cTn id="18" dur="500"/>
                                        <p:tgtEl>
                                          <p:spTgt spid="6451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4517">
                                            <p:txEl>
                                              <p:pRg st="4" end="4"/>
                                            </p:txEl>
                                          </p:spTgt>
                                        </p:tgtEl>
                                        <p:attrNameLst>
                                          <p:attrName>style.visibility</p:attrName>
                                        </p:attrNameLst>
                                      </p:cBhvr>
                                      <p:to>
                                        <p:strVal val="visible"/>
                                      </p:to>
                                    </p:set>
                                    <p:animEffect transition="in" filter="blinds(horizontal)">
                                      <p:cBhvr>
                                        <p:cTn id="23" dur="500"/>
                                        <p:tgtEl>
                                          <p:spTgt spid="6451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4517">
                                            <p:txEl>
                                              <p:pRg st="5" end="5"/>
                                            </p:txEl>
                                          </p:spTgt>
                                        </p:tgtEl>
                                        <p:attrNameLst>
                                          <p:attrName>style.visibility</p:attrName>
                                        </p:attrNameLst>
                                      </p:cBhvr>
                                      <p:to>
                                        <p:strVal val="visible"/>
                                      </p:to>
                                    </p:set>
                                    <p:animEffect transition="in" filter="blinds(horizontal)">
                                      <p:cBhvr>
                                        <p:cTn id="28" dur="500"/>
                                        <p:tgtEl>
                                          <p:spTgt spid="64517">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03780"/>
                                        </p:tgtEl>
                                        <p:attrNameLst>
                                          <p:attrName>style.visibility</p:attrName>
                                        </p:attrNameLst>
                                      </p:cBhvr>
                                      <p:to>
                                        <p:strVal val="visible"/>
                                      </p:to>
                                    </p:set>
                                    <p:animEffect transition="in" filter="blinds(horizontal)">
                                      <p:cBhvr>
                                        <p:cTn id="33" dur="500"/>
                                        <p:tgtEl>
                                          <p:spTgt spid="203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7" grpId="0" build="p"/>
      <p:bldP spid="20378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r>
              <a:rPr lang="en-US"/>
              <a:t>Unique True Point Example</a:t>
            </a:r>
          </a:p>
        </p:txBody>
      </p:sp>
      <p:sp>
        <p:nvSpPr>
          <p:cNvPr id="68611" name="Rectangle 3"/>
          <p:cNvSpPr>
            <a:spLocks noGrp="1" noChangeArrowheads="1"/>
          </p:cNvSpPr>
          <p:nvPr>
            <p:ph type="body" idx="4294967295"/>
          </p:nvPr>
        </p:nvSpPr>
        <p:spPr>
          <a:xfrm>
            <a:off x="1530351" y="903288"/>
            <a:ext cx="9118599" cy="5651890"/>
          </a:xfrm>
        </p:spPr>
        <p:txBody>
          <a:bodyPr/>
          <a:lstStyle/>
          <a:p>
            <a:pPr>
              <a:lnSpc>
                <a:spcPct val="80000"/>
              </a:lnSpc>
            </a:pPr>
            <a:r>
              <a:rPr lang="en-US" dirty="0"/>
              <a:t>Consider again :   </a:t>
            </a:r>
            <a:r>
              <a:rPr lang="en-US" i="1" dirty="0"/>
              <a:t>f = ab + </a:t>
            </a:r>
            <a:r>
              <a:rPr lang="en-US" i="1" dirty="0" err="1"/>
              <a:t>bc</a:t>
            </a:r>
            <a:r>
              <a:rPr lang="en-US" i="1" dirty="0"/>
              <a:t>       </a:t>
            </a:r>
            <a:endParaRPr lang="en-US" dirty="0"/>
          </a:p>
          <a:p>
            <a:pPr lvl="1">
              <a:lnSpc>
                <a:spcPct val="80000"/>
              </a:lnSpc>
            </a:pPr>
            <a:r>
              <a:rPr lang="en-US" sz="2000" dirty="0" err="1"/>
              <a:t>Implicants</a:t>
            </a:r>
            <a:r>
              <a:rPr lang="en-US" sz="2000" dirty="0"/>
              <a:t> :  </a:t>
            </a:r>
            <a:r>
              <a:rPr lang="en-US" sz="2000" i="1" dirty="0"/>
              <a:t>{</a:t>
            </a:r>
            <a:r>
              <a:rPr lang="en-US" sz="2000" dirty="0"/>
              <a:t> </a:t>
            </a:r>
            <a:r>
              <a:rPr lang="en-US" sz="2000" i="1" dirty="0"/>
              <a:t>ab, </a:t>
            </a:r>
            <a:r>
              <a:rPr lang="en-US" sz="2000" i="1" dirty="0" err="1"/>
              <a:t>bc</a:t>
            </a:r>
            <a:r>
              <a:rPr lang="en-US" sz="2000" i="1" dirty="0"/>
              <a:t> }</a:t>
            </a:r>
          </a:p>
          <a:p>
            <a:pPr lvl="1">
              <a:lnSpc>
                <a:spcPct val="80000"/>
              </a:lnSpc>
            </a:pPr>
            <a:r>
              <a:rPr lang="en-US" sz="2000" dirty="0"/>
              <a:t>Each </a:t>
            </a:r>
            <a:r>
              <a:rPr lang="en-US" sz="2000" dirty="0" err="1"/>
              <a:t>implicants</a:t>
            </a:r>
            <a:r>
              <a:rPr lang="en-US" sz="2000" dirty="0"/>
              <a:t> is prime</a:t>
            </a:r>
          </a:p>
          <a:p>
            <a:pPr lvl="1">
              <a:lnSpc>
                <a:spcPct val="80000"/>
              </a:lnSpc>
            </a:pPr>
            <a:r>
              <a:rPr lang="en-US" sz="2000" dirty="0"/>
              <a:t>None </a:t>
            </a:r>
            <a:r>
              <a:rPr lang="en-US" sz="2000" dirty="0" err="1"/>
              <a:t>implicant</a:t>
            </a:r>
            <a:r>
              <a:rPr lang="en-US" sz="2000" dirty="0"/>
              <a:t> is redundant</a:t>
            </a:r>
          </a:p>
          <a:p>
            <a:pPr>
              <a:lnSpc>
                <a:spcPct val="80000"/>
              </a:lnSpc>
            </a:pPr>
            <a:r>
              <a:rPr lang="en-US" dirty="0"/>
              <a:t>Unique true points :</a:t>
            </a:r>
          </a:p>
          <a:p>
            <a:pPr lvl="1"/>
            <a:r>
              <a:rPr lang="en-US" sz="2000" i="1" dirty="0"/>
              <a:t>ab: </a:t>
            </a:r>
            <a:r>
              <a:rPr lang="en-US" sz="2000" dirty="0"/>
              <a:t>{TTT}</a:t>
            </a:r>
          </a:p>
          <a:p>
            <a:pPr lvl="1"/>
            <a:r>
              <a:rPr lang="en-US" sz="2000" i="1" dirty="0" err="1"/>
              <a:t>bc</a:t>
            </a:r>
            <a:r>
              <a:rPr lang="en-US" sz="2000" i="1" dirty="0"/>
              <a:t>: </a:t>
            </a:r>
            <a:r>
              <a:rPr lang="en-US" sz="2000" dirty="0"/>
              <a:t>{FTF}</a:t>
            </a:r>
          </a:p>
          <a:p>
            <a:pPr lvl="1"/>
            <a:r>
              <a:rPr lang="en-US" altLang="zh-CN" sz="2000" dirty="0"/>
              <a:t>MUTP requires both of these</a:t>
            </a:r>
          </a:p>
          <a:p>
            <a:pPr>
              <a:lnSpc>
                <a:spcPct val="80000"/>
              </a:lnSpc>
            </a:pPr>
            <a:r>
              <a:rPr lang="en-US" altLang="zh-CN" dirty="0"/>
              <a:t>But MUTP is still infeasible for both </a:t>
            </a:r>
            <a:r>
              <a:rPr lang="en-US" altLang="zh-CN" dirty="0" err="1"/>
              <a:t>implicants</a:t>
            </a:r>
            <a:endParaRPr lang="en-US" altLang="zh-CN" dirty="0"/>
          </a:p>
          <a:p>
            <a:pPr lvl="1">
              <a:lnSpc>
                <a:spcPct val="80000"/>
              </a:lnSpc>
            </a:pPr>
            <a:r>
              <a:rPr lang="en-US" altLang="zh-CN" sz="2000" dirty="0"/>
              <a:t>Not enough UTPs for clauses to take on all truth values</a:t>
            </a:r>
          </a:p>
          <a:p>
            <a:pPr lvl="1">
              <a:lnSpc>
                <a:spcPct val="80000"/>
              </a:lnSpc>
            </a:pPr>
            <a:r>
              <a:rPr lang="en-US" altLang="zh-CN" sz="2000" dirty="0"/>
              <a:t>Later, we will have an example where MUTP is feasible</a:t>
            </a:r>
            <a:endParaRPr lang="en-US" dirty="0"/>
          </a:p>
          <a:p>
            <a:pPr marL="0" indent="0">
              <a:lnSpc>
                <a:spcPct val="80000"/>
              </a:lnSpc>
              <a:buNone/>
            </a:pPr>
            <a:endParaRPr lang="en-US" dirty="0"/>
          </a:p>
        </p:txBody>
      </p:sp>
      <p:sp>
        <p:nvSpPr>
          <p:cNvPr id="68618" name="Line 10"/>
          <p:cNvSpPr>
            <a:spLocks noChangeShapeType="1"/>
          </p:cNvSpPr>
          <p:nvPr/>
        </p:nvSpPr>
        <p:spPr bwMode="auto">
          <a:xfrm>
            <a:off x="5942850" y="962025"/>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8622" name="Line 14"/>
          <p:cNvSpPr>
            <a:spLocks noChangeShapeType="1"/>
          </p:cNvSpPr>
          <p:nvPr/>
        </p:nvSpPr>
        <p:spPr bwMode="auto">
          <a:xfrm>
            <a:off x="4214563" y="139541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8623" name="Line 15"/>
          <p:cNvSpPr>
            <a:spLocks noChangeShapeType="1"/>
          </p:cNvSpPr>
          <p:nvPr/>
        </p:nvSpPr>
        <p:spPr bwMode="auto">
          <a:xfrm>
            <a:off x="2418596" y="3253204"/>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7423" name="Slide Number Placeholder 18"/>
          <p:cNvSpPr>
            <a:spLocks noGrp="1"/>
          </p:cNvSpPr>
          <p:nvPr>
            <p:ph type="sldNum" sz="quarter" idx="12"/>
          </p:nvPr>
        </p:nvSpPr>
        <p:spPr>
          <a:noFill/>
        </p:spPr>
        <p:txBody>
          <a:bodyPr/>
          <a:lstStyle/>
          <a:p>
            <a:fld id="{D3565860-57F0-468F-BB08-7576A20969E6}" type="slidenum">
              <a:rPr lang="en-US" smtClean="0">
                <a:latin typeface="Arial" charset="0"/>
                <a:cs typeface="Arial" charset="0"/>
              </a:rPr>
              <a:pPr/>
              <a:t>7</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blinds(horizontal)">
                                      <p:cBhvr>
                                        <p:cTn id="7" dur="500"/>
                                        <p:tgtEl>
                                          <p:spTgt spid="686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8611">
                                            <p:txEl>
                                              <p:pRg st="1" end="1"/>
                                            </p:txEl>
                                          </p:spTgt>
                                        </p:tgtEl>
                                        <p:attrNameLst>
                                          <p:attrName>style.visibility</p:attrName>
                                        </p:attrNameLst>
                                      </p:cBhvr>
                                      <p:to>
                                        <p:strVal val="visible"/>
                                      </p:to>
                                    </p:set>
                                    <p:animEffect transition="in" filter="blinds(horizontal)">
                                      <p:cBhvr>
                                        <p:cTn id="10" dur="500"/>
                                        <p:tgtEl>
                                          <p:spTgt spid="6861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8611">
                                            <p:txEl>
                                              <p:pRg st="2" end="2"/>
                                            </p:txEl>
                                          </p:spTgt>
                                        </p:tgtEl>
                                        <p:attrNameLst>
                                          <p:attrName>style.visibility</p:attrName>
                                        </p:attrNameLst>
                                      </p:cBhvr>
                                      <p:to>
                                        <p:strVal val="visible"/>
                                      </p:to>
                                    </p:set>
                                    <p:animEffect transition="in" filter="blinds(horizontal)">
                                      <p:cBhvr>
                                        <p:cTn id="13" dur="500"/>
                                        <p:tgtEl>
                                          <p:spTgt spid="6861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8611">
                                            <p:txEl>
                                              <p:pRg st="3" end="3"/>
                                            </p:txEl>
                                          </p:spTgt>
                                        </p:tgtEl>
                                        <p:attrNameLst>
                                          <p:attrName>style.visibility</p:attrName>
                                        </p:attrNameLst>
                                      </p:cBhvr>
                                      <p:to>
                                        <p:strVal val="visible"/>
                                      </p:to>
                                    </p:set>
                                    <p:animEffect transition="in" filter="blinds(horizontal)">
                                      <p:cBhvr>
                                        <p:cTn id="16" dur="500"/>
                                        <p:tgtEl>
                                          <p:spTgt spid="68611">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8618"/>
                                        </p:tgtEl>
                                        <p:attrNameLst>
                                          <p:attrName>style.visibility</p:attrName>
                                        </p:attrNameLst>
                                      </p:cBhvr>
                                      <p:to>
                                        <p:strVal val="visible"/>
                                      </p:to>
                                    </p:set>
                                    <p:animEffect transition="in" filter="blinds(horizontal)">
                                      <p:cBhvr>
                                        <p:cTn id="19" dur="500"/>
                                        <p:tgtEl>
                                          <p:spTgt spid="6861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8622"/>
                                        </p:tgtEl>
                                        <p:attrNameLst>
                                          <p:attrName>style.visibility</p:attrName>
                                        </p:attrNameLst>
                                      </p:cBhvr>
                                      <p:to>
                                        <p:strVal val="visible"/>
                                      </p:to>
                                    </p:set>
                                    <p:animEffect transition="in" filter="blinds(horizontal)">
                                      <p:cBhvr>
                                        <p:cTn id="22" dur="500"/>
                                        <p:tgtEl>
                                          <p:spTgt spid="686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8611">
                                            <p:txEl>
                                              <p:pRg st="4" end="4"/>
                                            </p:txEl>
                                          </p:spTgt>
                                        </p:tgtEl>
                                        <p:attrNameLst>
                                          <p:attrName>style.visibility</p:attrName>
                                        </p:attrNameLst>
                                      </p:cBhvr>
                                      <p:to>
                                        <p:strVal val="visible"/>
                                      </p:to>
                                    </p:set>
                                    <p:animEffect transition="in" filter="blinds(horizontal)">
                                      <p:cBhvr>
                                        <p:cTn id="27" dur="500"/>
                                        <p:tgtEl>
                                          <p:spTgt spid="68611">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611">
                                            <p:txEl>
                                              <p:pRg st="5" end="5"/>
                                            </p:txEl>
                                          </p:spTgt>
                                        </p:tgtEl>
                                        <p:attrNameLst>
                                          <p:attrName>style.visibility</p:attrName>
                                        </p:attrNameLst>
                                      </p:cBhvr>
                                      <p:to>
                                        <p:strVal val="visible"/>
                                      </p:to>
                                    </p:set>
                                    <p:animEffect transition="in" filter="blinds(horizontal)">
                                      <p:cBhvr>
                                        <p:cTn id="30" dur="500"/>
                                        <p:tgtEl>
                                          <p:spTgt spid="68611">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8611">
                                            <p:txEl>
                                              <p:pRg st="6" end="6"/>
                                            </p:txEl>
                                          </p:spTgt>
                                        </p:tgtEl>
                                        <p:attrNameLst>
                                          <p:attrName>style.visibility</p:attrName>
                                        </p:attrNameLst>
                                      </p:cBhvr>
                                      <p:to>
                                        <p:strVal val="visible"/>
                                      </p:to>
                                    </p:set>
                                    <p:animEffect transition="in" filter="blinds(horizontal)">
                                      <p:cBhvr>
                                        <p:cTn id="33" dur="500"/>
                                        <p:tgtEl>
                                          <p:spTgt spid="68611">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8611">
                                            <p:txEl>
                                              <p:pRg st="7" end="7"/>
                                            </p:txEl>
                                          </p:spTgt>
                                        </p:tgtEl>
                                        <p:attrNameLst>
                                          <p:attrName>style.visibility</p:attrName>
                                        </p:attrNameLst>
                                      </p:cBhvr>
                                      <p:to>
                                        <p:strVal val="visible"/>
                                      </p:to>
                                    </p:set>
                                    <p:animEffect transition="in" filter="blinds(horizontal)">
                                      <p:cBhvr>
                                        <p:cTn id="36" dur="500"/>
                                        <p:tgtEl>
                                          <p:spTgt spid="68611">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68611">
                                            <p:txEl>
                                              <p:pRg st="8" end="8"/>
                                            </p:txEl>
                                          </p:spTgt>
                                        </p:tgtEl>
                                        <p:attrNameLst>
                                          <p:attrName>style.visibility</p:attrName>
                                        </p:attrNameLst>
                                      </p:cBhvr>
                                      <p:to>
                                        <p:strVal val="visible"/>
                                      </p:to>
                                    </p:set>
                                    <p:animEffect transition="in" filter="blinds(horizontal)">
                                      <p:cBhvr>
                                        <p:cTn id="41" dur="500"/>
                                        <p:tgtEl>
                                          <p:spTgt spid="68611">
                                            <p:txEl>
                                              <p:pRg st="8" end="8"/>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68611">
                                            <p:txEl>
                                              <p:pRg st="9" end="9"/>
                                            </p:txEl>
                                          </p:spTgt>
                                        </p:tgtEl>
                                        <p:attrNameLst>
                                          <p:attrName>style.visibility</p:attrName>
                                        </p:attrNameLst>
                                      </p:cBhvr>
                                      <p:to>
                                        <p:strVal val="visible"/>
                                      </p:to>
                                    </p:set>
                                    <p:animEffect transition="in" filter="blinds(horizontal)">
                                      <p:cBhvr>
                                        <p:cTn id="44" dur="500"/>
                                        <p:tgtEl>
                                          <p:spTgt spid="68611">
                                            <p:txEl>
                                              <p:pRg st="9" end="9"/>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68611">
                                            <p:txEl>
                                              <p:pRg st="10" end="10"/>
                                            </p:txEl>
                                          </p:spTgt>
                                        </p:tgtEl>
                                        <p:attrNameLst>
                                          <p:attrName>style.visibility</p:attrName>
                                        </p:attrNameLst>
                                      </p:cBhvr>
                                      <p:to>
                                        <p:strVal val="visible"/>
                                      </p:to>
                                    </p:set>
                                    <p:animEffect transition="in" filter="blinds(horizontal)">
                                      <p:cBhvr>
                                        <p:cTn id="47" dur="500"/>
                                        <p:tgtEl>
                                          <p:spTgt spid="68611">
                                            <p:txEl>
                                              <p:pRg st="10" end="10"/>
                                            </p:txEl>
                                          </p:spTgt>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68623"/>
                                        </p:tgtEl>
                                        <p:attrNameLst>
                                          <p:attrName>style.visibility</p:attrName>
                                        </p:attrNameLst>
                                      </p:cBhvr>
                                      <p:to>
                                        <p:strVal val="visible"/>
                                      </p:to>
                                    </p:set>
                                    <p:animEffect transition="in" filter="blinds(horizontal)">
                                      <p:cBhvr>
                                        <p:cTn id="50" dur="500"/>
                                        <p:tgtEl>
                                          <p:spTgt spid="68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P spid="68618" grpId="0" animBg="1"/>
      <p:bldP spid="68622" grpId="0" animBg="1"/>
      <p:bldP spid="686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r>
              <a:rPr lang="en-US" dirty="0"/>
              <a:t>Near False Points</a:t>
            </a:r>
          </a:p>
        </p:txBody>
      </p:sp>
      <p:sp>
        <p:nvSpPr>
          <p:cNvPr id="69635" name="Rectangle 3"/>
          <p:cNvSpPr>
            <a:spLocks noGrp="1" noChangeArrowheads="1"/>
          </p:cNvSpPr>
          <p:nvPr>
            <p:ph type="body" idx="4294967295"/>
          </p:nvPr>
        </p:nvSpPr>
        <p:spPr>
          <a:xfrm>
            <a:off x="1530351" y="876300"/>
            <a:ext cx="9424253" cy="5678879"/>
          </a:xfrm>
        </p:spPr>
        <p:txBody>
          <a:bodyPr/>
          <a:lstStyle/>
          <a:p>
            <a:r>
              <a:rPr lang="en-US" dirty="0"/>
              <a:t>A  </a:t>
            </a:r>
            <a:r>
              <a:rPr lang="en-US" i="1" dirty="0">
                <a:solidFill>
                  <a:schemeClr val="tx2"/>
                </a:solidFill>
              </a:rPr>
              <a:t>near false point </a:t>
            </a:r>
            <a:r>
              <a:rPr lang="en-US" dirty="0"/>
              <a:t>with respect to a clause </a:t>
            </a:r>
            <a:r>
              <a:rPr lang="en-US" i="1" dirty="0"/>
              <a:t>c</a:t>
            </a:r>
            <a:r>
              <a:rPr lang="en-US" dirty="0"/>
              <a:t> in implicant </a:t>
            </a:r>
            <a:r>
              <a:rPr lang="en-US" i="1" dirty="0" err="1"/>
              <a:t>i</a:t>
            </a:r>
            <a:r>
              <a:rPr lang="en-US" dirty="0"/>
              <a:t> is an assignment of truth values such that </a:t>
            </a:r>
            <a:r>
              <a:rPr lang="en-US" i="1" dirty="0"/>
              <a:t>f </a:t>
            </a:r>
            <a:r>
              <a:rPr lang="en-US" dirty="0"/>
              <a:t>is false, but if </a:t>
            </a:r>
            <a:r>
              <a:rPr lang="en-US" i="1" dirty="0"/>
              <a:t>c</a:t>
            </a:r>
            <a:r>
              <a:rPr lang="en-US" dirty="0"/>
              <a:t> is negated (and all other clauses left as is), </a:t>
            </a:r>
            <a:r>
              <a:rPr lang="en-US" i="1" dirty="0" err="1"/>
              <a:t>i</a:t>
            </a:r>
            <a:r>
              <a:rPr lang="en-US" dirty="0"/>
              <a:t> (and hence </a:t>
            </a:r>
            <a:r>
              <a:rPr lang="en-US" i="1" dirty="0"/>
              <a:t>f</a:t>
            </a:r>
            <a:r>
              <a:rPr lang="en-US" dirty="0"/>
              <a:t>) evaluates to true</a:t>
            </a:r>
          </a:p>
          <a:p>
            <a:r>
              <a:rPr lang="en-US" dirty="0"/>
              <a:t>Relation to </a:t>
            </a:r>
            <a:r>
              <a:rPr lang="en-US" i="1" dirty="0">
                <a:solidFill>
                  <a:schemeClr val="tx2"/>
                </a:solidFill>
              </a:rPr>
              <a:t>determination</a:t>
            </a:r>
            <a:r>
              <a:rPr lang="en-US" dirty="0"/>
              <a:t>: at a near false point, </a:t>
            </a:r>
            <a:r>
              <a:rPr lang="en-US" i="1" dirty="0"/>
              <a:t>c</a:t>
            </a:r>
            <a:r>
              <a:rPr lang="en-US" dirty="0"/>
              <a:t> determines </a:t>
            </a:r>
            <a:r>
              <a:rPr lang="en-US" i="1" dirty="0"/>
              <a:t>f</a:t>
            </a:r>
          </a:p>
          <a:p>
            <a:pPr lvl="1"/>
            <a:r>
              <a:rPr lang="en-US" dirty="0"/>
              <a:t>Hence we should expect relationship to ACC criteria</a:t>
            </a:r>
          </a:p>
          <a:p>
            <a:pPr lvl="1">
              <a:buFontTx/>
              <a:buNone/>
            </a:pPr>
            <a:endParaRPr lang="en-US" dirty="0"/>
          </a:p>
          <a:p>
            <a:pPr lvl="1">
              <a:buFontTx/>
              <a:buNone/>
            </a:pPr>
            <a:endParaRPr lang="en-US" dirty="0"/>
          </a:p>
          <a:p>
            <a:pPr lvl="1">
              <a:buFontTx/>
              <a:buNone/>
            </a:pPr>
            <a:endParaRPr lang="en-US" dirty="0"/>
          </a:p>
          <a:p>
            <a:endParaRPr lang="en-US" dirty="0"/>
          </a:p>
          <a:p>
            <a:r>
              <a:rPr lang="en-US" dirty="0"/>
              <a:t>Note that definition only mentions </a:t>
            </a:r>
            <a:r>
              <a:rPr lang="en-US" i="1" dirty="0"/>
              <a:t>f</a:t>
            </a:r>
            <a:r>
              <a:rPr lang="en-US" dirty="0"/>
              <a:t>, and not </a:t>
            </a:r>
            <a:r>
              <a:rPr lang="en-US" i="1" dirty="0"/>
              <a:t>f</a:t>
            </a:r>
            <a:endParaRPr lang="en-US" dirty="0"/>
          </a:p>
          <a:p>
            <a:r>
              <a:rPr lang="en-US" dirty="0"/>
              <a:t>Clearly, CUTPNFP subsumes RACC</a:t>
            </a:r>
          </a:p>
        </p:txBody>
      </p:sp>
      <p:sp>
        <p:nvSpPr>
          <p:cNvPr id="203780" name="Text Box 4"/>
          <p:cNvSpPr txBox="1">
            <a:spLocks noChangeArrowheads="1"/>
          </p:cNvSpPr>
          <p:nvPr/>
        </p:nvSpPr>
        <p:spPr bwMode="auto">
          <a:xfrm>
            <a:off x="1890714" y="3149247"/>
            <a:ext cx="8500561" cy="1938992"/>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wrap="square">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Unique True Point and Near False Point Pair Coverage (CUTPNFP)</a:t>
            </a:r>
            <a:r>
              <a:rPr lang="en-US" sz="2400" dirty="0">
                <a:solidFill>
                  <a:schemeClr val="tx2"/>
                </a:solidFill>
                <a:effectLst>
                  <a:outerShdw blurRad="38100" dist="38100" dir="2700000" algn="tl">
                    <a:srgbClr val="000000"/>
                  </a:outerShdw>
                </a:effectLst>
                <a:latin typeface="Gill Sans MT" panose="020B0502020104020203" pitchFamily="34" charset="0"/>
              </a:rPr>
              <a:t> : Given a minimal DNF representation of a predicate </a:t>
            </a:r>
            <a:r>
              <a:rPr lang="en-US" sz="2400" i="1" dirty="0">
                <a:solidFill>
                  <a:schemeClr val="tx2"/>
                </a:solidFill>
                <a:effectLst>
                  <a:outerShdw blurRad="38100" dist="38100" dir="2700000" algn="tl">
                    <a:srgbClr val="000000"/>
                  </a:outerShdw>
                </a:effectLst>
                <a:latin typeface="Gill Sans MT" panose="020B0502020104020203" pitchFamily="34" charset="0"/>
              </a:rPr>
              <a:t>f</a:t>
            </a:r>
            <a:r>
              <a:rPr lang="en-US" sz="2400" dirty="0">
                <a:solidFill>
                  <a:schemeClr val="tx2"/>
                </a:solidFill>
                <a:effectLst>
                  <a:outerShdw blurRad="38100" dist="38100" dir="2700000" algn="tl">
                    <a:srgbClr val="000000"/>
                  </a:outerShdw>
                </a:effectLst>
                <a:latin typeface="Gill Sans MT" panose="020B0502020104020203" pitchFamily="34" charset="0"/>
              </a:rPr>
              <a:t>, for each clause </a:t>
            </a:r>
            <a:r>
              <a:rPr lang="en-US" sz="2400" i="1" dirty="0">
                <a:solidFill>
                  <a:schemeClr val="tx2"/>
                </a:solidFill>
                <a:effectLst>
                  <a:outerShdw blurRad="38100" dist="38100" dir="2700000" algn="tl">
                    <a:srgbClr val="000000"/>
                  </a:outerShdw>
                </a:effectLst>
                <a:latin typeface="Gill Sans MT" panose="020B0502020104020203" pitchFamily="34" charset="0"/>
              </a:rPr>
              <a:t>c</a:t>
            </a:r>
            <a:r>
              <a:rPr lang="en-US" sz="2400" dirty="0">
                <a:solidFill>
                  <a:schemeClr val="tx2"/>
                </a:solidFill>
                <a:effectLst>
                  <a:outerShdw blurRad="38100" dist="38100" dir="2700000" algn="tl">
                    <a:srgbClr val="000000"/>
                  </a:outerShdw>
                </a:effectLst>
                <a:latin typeface="Gill Sans MT" panose="020B0502020104020203" pitchFamily="34" charset="0"/>
              </a:rPr>
              <a:t> in each implicant </a:t>
            </a:r>
            <a:r>
              <a:rPr lang="en-US" sz="2400" i="1" dirty="0" err="1">
                <a:solidFill>
                  <a:schemeClr val="tx2"/>
                </a:solidFill>
                <a:effectLst>
                  <a:outerShdw blurRad="38100" dist="38100" dir="2700000" algn="tl">
                    <a:srgbClr val="000000"/>
                  </a:outerShdw>
                </a:effectLst>
                <a:latin typeface="Gill Sans MT" panose="020B0502020104020203" pitchFamily="34" charset="0"/>
              </a:rPr>
              <a:t>i</a:t>
            </a:r>
            <a:r>
              <a:rPr lang="en-US" sz="2400" dirty="0">
                <a:solidFill>
                  <a:schemeClr val="tx2"/>
                </a:solidFill>
                <a:effectLst>
                  <a:outerShdw blurRad="38100" dist="38100" dir="2700000" algn="tl">
                    <a:srgbClr val="000000"/>
                  </a:outerShdw>
                </a:effectLst>
                <a:latin typeface="Gill Sans MT" panose="020B0502020104020203" pitchFamily="34" charset="0"/>
              </a:rPr>
              <a:t>, TR contains a unique true point for </a:t>
            </a:r>
            <a:r>
              <a:rPr lang="en-US" sz="2400" i="1" dirty="0" err="1">
                <a:solidFill>
                  <a:schemeClr val="tx2"/>
                </a:solidFill>
                <a:effectLst>
                  <a:outerShdw blurRad="38100" dist="38100" dir="2700000" algn="tl">
                    <a:srgbClr val="000000"/>
                  </a:outerShdw>
                </a:effectLst>
                <a:latin typeface="Gill Sans MT" panose="020B0502020104020203" pitchFamily="34" charset="0"/>
              </a:rPr>
              <a:t>i</a:t>
            </a:r>
            <a:r>
              <a:rPr lang="en-US" sz="2400" dirty="0">
                <a:solidFill>
                  <a:schemeClr val="tx2"/>
                </a:solidFill>
                <a:effectLst>
                  <a:outerShdw blurRad="38100" dist="38100" dir="2700000" algn="tl">
                    <a:srgbClr val="000000"/>
                  </a:outerShdw>
                </a:effectLst>
                <a:latin typeface="Gill Sans MT" panose="020B0502020104020203" pitchFamily="34" charset="0"/>
              </a:rPr>
              <a:t> and a near false point for </a:t>
            </a:r>
            <a:r>
              <a:rPr lang="en-US" sz="2400" i="1" dirty="0">
                <a:solidFill>
                  <a:schemeClr val="tx2"/>
                </a:solidFill>
                <a:effectLst>
                  <a:outerShdw blurRad="38100" dist="38100" dir="2700000" algn="tl">
                    <a:srgbClr val="000000"/>
                  </a:outerShdw>
                </a:effectLst>
                <a:latin typeface="Gill Sans MT" panose="020B0502020104020203" pitchFamily="34" charset="0"/>
              </a:rPr>
              <a:t>c</a:t>
            </a:r>
            <a:r>
              <a:rPr lang="en-US" sz="2400" dirty="0">
                <a:solidFill>
                  <a:schemeClr val="tx2"/>
                </a:solidFill>
                <a:effectLst>
                  <a:outerShdw blurRad="38100" dist="38100" dir="2700000" algn="tl">
                    <a:srgbClr val="000000"/>
                  </a:outerShdw>
                </a:effectLst>
                <a:latin typeface="Gill Sans MT" panose="020B0502020104020203" pitchFamily="34" charset="0"/>
              </a:rPr>
              <a:t> such that the points differ only in the truth value of </a:t>
            </a:r>
            <a:r>
              <a:rPr lang="en-US" sz="2400" i="1" dirty="0">
                <a:solidFill>
                  <a:schemeClr val="tx2"/>
                </a:solidFill>
                <a:effectLst>
                  <a:outerShdw blurRad="38100" dist="38100" dir="2700000" algn="tl">
                    <a:srgbClr val="000000"/>
                  </a:outerShdw>
                </a:effectLst>
                <a:latin typeface="Gill Sans MT" panose="020B0502020104020203" pitchFamily="34" charset="0"/>
              </a:rPr>
              <a:t>c</a:t>
            </a:r>
            <a:r>
              <a:rPr lang="en-US" sz="2400" dirty="0">
                <a:solidFill>
                  <a:schemeClr val="tx2"/>
                </a:solidFill>
                <a:effectLst>
                  <a:outerShdw blurRad="38100" dist="38100" dir="2700000" algn="tl">
                    <a:srgbClr val="000000"/>
                  </a:outerShdw>
                </a:effectLst>
                <a:latin typeface="Gill Sans MT" panose="020B0502020104020203" pitchFamily="34" charset="0"/>
              </a:rPr>
              <a:t>.</a:t>
            </a:r>
          </a:p>
        </p:txBody>
      </p:sp>
      <p:sp>
        <p:nvSpPr>
          <p:cNvPr id="69638" name="Line 6"/>
          <p:cNvSpPr>
            <a:spLocks noChangeShapeType="1"/>
          </p:cNvSpPr>
          <p:nvPr/>
        </p:nvSpPr>
        <p:spPr bwMode="auto">
          <a:xfrm>
            <a:off x="8479337" y="534670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8439" name="Slide Number Placeholder 9"/>
          <p:cNvSpPr>
            <a:spLocks noGrp="1"/>
          </p:cNvSpPr>
          <p:nvPr>
            <p:ph type="sldNum" sz="quarter" idx="12"/>
          </p:nvPr>
        </p:nvSpPr>
        <p:spPr>
          <a:noFill/>
        </p:spPr>
        <p:txBody>
          <a:bodyPr/>
          <a:lstStyle/>
          <a:p>
            <a:fld id="{3CAE2C83-D6A7-42B6-9F69-551566DF6194}" type="slidenum">
              <a:rPr lang="en-US" smtClean="0">
                <a:latin typeface="Arial" charset="0"/>
                <a:cs typeface="Arial" charset="0"/>
              </a:rPr>
              <a:pPr/>
              <a:t>8</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blinds(horizontal)">
                                      <p:cBhvr>
                                        <p:cTn id="7" dur="500"/>
                                        <p:tgtEl>
                                          <p:spTgt spid="6963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9635">
                                            <p:txEl>
                                              <p:pRg st="2" end="2"/>
                                            </p:txEl>
                                          </p:spTgt>
                                        </p:tgtEl>
                                        <p:attrNameLst>
                                          <p:attrName>style.visibility</p:attrName>
                                        </p:attrNameLst>
                                      </p:cBhvr>
                                      <p:to>
                                        <p:strVal val="visible"/>
                                      </p:to>
                                    </p:set>
                                    <p:animEffect transition="in" filter="blinds(horizontal)">
                                      <p:cBhvr>
                                        <p:cTn id="10" dur="500"/>
                                        <p:tgtEl>
                                          <p:spTgt spid="6963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03780"/>
                                        </p:tgtEl>
                                        <p:attrNameLst>
                                          <p:attrName>style.visibility</p:attrName>
                                        </p:attrNameLst>
                                      </p:cBhvr>
                                      <p:to>
                                        <p:strVal val="visible"/>
                                      </p:to>
                                    </p:set>
                                    <p:animEffect transition="in" filter="blinds(horizontal)">
                                      <p:cBhvr>
                                        <p:cTn id="15" dur="500"/>
                                        <p:tgtEl>
                                          <p:spTgt spid="20378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9635">
                                            <p:txEl>
                                              <p:pRg st="7" end="7"/>
                                            </p:txEl>
                                          </p:spTgt>
                                        </p:tgtEl>
                                        <p:attrNameLst>
                                          <p:attrName>style.visibility</p:attrName>
                                        </p:attrNameLst>
                                      </p:cBhvr>
                                      <p:to>
                                        <p:strVal val="visible"/>
                                      </p:to>
                                    </p:set>
                                    <p:animEffect transition="in" filter="blinds(horizontal)">
                                      <p:cBhvr>
                                        <p:cTn id="20" dur="500"/>
                                        <p:tgtEl>
                                          <p:spTgt spid="69635">
                                            <p:txEl>
                                              <p:pRg st="7" end="7"/>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9638"/>
                                        </p:tgtEl>
                                        <p:attrNameLst>
                                          <p:attrName>style.visibility</p:attrName>
                                        </p:attrNameLst>
                                      </p:cBhvr>
                                      <p:to>
                                        <p:strVal val="visible"/>
                                      </p:to>
                                    </p:set>
                                    <p:animEffect transition="in" filter="blinds(horizontal)">
                                      <p:cBhvr>
                                        <p:cTn id="23" dur="500"/>
                                        <p:tgtEl>
                                          <p:spTgt spid="6963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9635">
                                            <p:txEl>
                                              <p:pRg st="8" end="8"/>
                                            </p:txEl>
                                          </p:spTgt>
                                        </p:tgtEl>
                                        <p:attrNameLst>
                                          <p:attrName>style.visibility</p:attrName>
                                        </p:attrNameLst>
                                      </p:cBhvr>
                                      <p:to>
                                        <p:strVal val="visible"/>
                                      </p:to>
                                    </p:set>
                                    <p:animEffect transition="in" filter="blinds(horizontal)">
                                      <p:cBhvr>
                                        <p:cTn id="28" dur="500"/>
                                        <p:tgtEl>
                                          <p:spTgt spid="696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0" grpId="0" animBg="1"/>
      <p:bldP spid="696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p:txBody>
          <a:bodyPr/>
          <a:lstStyle/>
          <a:p>
            <a:r>
              <a:rPr lang="en-US"/>
              <a:t>CUTPNFP Example</a:t>
            </a:r>
          </a:p>
        </p:txBody>
      </p:sp>
      <p:sp>
        <p:nvSpPr>
          <p:cNvPr id="70659" name="Rectangle 3"/>
          <p:cNvSpPr>
            <a:spLocks noGrp="1" noChangeArrowheads="1"/>
          </p:cNvSpPr>
          <p:nvPr>
            <p:ph type="body" idx="4294967295"/>
          </p:nvPr>
        </p:nvSpPr>
        <p:spPr/>
        <p:txBody>
          <a:bodyPr/>
          <a:lstStyle/>
          <a:p>
            <a:r>
              <a:rPr lang="en-US" dirty="0"/>
              <a:t>Consider </a:t>
            </a:r>
            <a:r>
              <a:rPr lang="en-US" i="1" dirty="0"/>
              <a:t>f = ab + cd</a:t>
            </a:r>
          </a:p>
          <a:p>
            <a:pPr lvl="1"/>
            <a:r>
              <a:rPr lang="en-US" dirty="0"/>
              <a:t>Implicant </a:t>
            </a:r>
            <a:r>
              <a:rPr lang="en-US" i="1" dirty="0"/>
              <a:t>ab</a:t>
            </a:r>
            <a:r>
              <a:rPr lang="en-US" dirty="0"/>
              <a:t> has 3 unique true points : {TTFF, TTFT, TTTF}</a:t>
            </a:r>
          </a:p>
          <a:p>
            <a:pPr lvl="2"/>
            <a:r>
              <a:rPr lang="en-US" dirty="0"/>
              <a:t>For clause </a:t>
            </a:r>
            <a:r>
              <a:rPr lang="en-US" i="1" dirty="0"/>
              <a:t>a</a:t>
            </a:r>
            <a:r>
              <a:rPr lang="en-US" dirty="0"/>
              <a:t>, we can pair unique true point </a:t>
            </a:r>
            <a:r>
              <a:rPr lang="en-US" u="sng" dirty="0"/>
              <a:t>T</a:t>
            </a:r>
            <a:r>
              <a:rPr lang="en-US" dirty="0"/>
              <a:t>TFF with near false point </a:t>
            </a:r>
            <a:r>
              <a:rPr lang="en-US" u="sng" dirty="0"/>
              <a:t>F</a:t>
            </a:r>
            <a:r>
              <a:rPr lang="en-US" dirty="0"/>
              <a:t>TFF</a:t>
            </a:r>
          </a:p>
          <a:p>
            <a:pPr lvl="2"/>
            <a:r>
              <a:rPr lang="en-US" dirty="0"/>
              <a:t>For clause b, we can pair unique true point T</a:t>
            </a:r>
            <a:r>
              <a:rPr lang="en-US" u="sng" dirty="0"/>
              <a:t>T</a:t>
            </a:r>
            <a:r>
              <a:rPr lang="en-US" dirty="0"/>
              <a:t>FF with near false point T</a:t>
            </a:r>
            <a:r>
              <a:rPr lang="en-US" u="sng" dirty="0"/>
              <a:t>F</a:t>
            </a:r>
            <a:r>
              <a:rPr lang="en-US" dirty="0"/>
              <a:t>FF</a:t>
            </a:r>
          </a:p>
          <a:p>
            <a:pPr lvl="1"/>
            <a:r>
              <a:rPr lang="en-US" dirty="0"/>
              <a:t>Implicant </a:t>
            </a:r>
            <a:r>
              <a:rPr lang="en-US" i="1" dirty="0"/>
              <a:t>cd</a:t>
            </a:r>
            <a:r>
              <a:rPr lang="en-US" dirty="0"/>
              <a:t> has 3 unique true points : {FFTT, FTTT, TFTT}</a:t>
            </a:r>
          </a:p>
          <a:p>
            <a:pPr lvl="2"/>
            <a:r>
              <a:rPr lang="en-US" dirty="0"/>
              <a:t>For clause </a:t>
            </a:r>
            <a:r>
              <a:rPr lang="en-US" i="1" dirty="0"/>
              <a:t>c</a:t>
            </a:r>
            <a:r>
              <a:rPr lang="en-US" dirty="0"/>
              <a:t>, we can pair unique true point FF</a:t>
            </a:r>
            <a:r>
              <a:rPr lang="en-US" u="sng" dirty="0"/>
              <a:t>T</a:t>
            </a:r>
            <a:r>
              <a:rPr lang="en-US" dirty="0"/>
              <a:t>T with near false point FF</a:t>
            </a:r>
            <a:r>
              <a:rPr lang="en-US" u="sng" dirty="0"/>
              <a:t>F</a:t>
            </a:r>
            <a:r>
              <a:rPr lang="en-US" dirty="0"/>
              <a:t>T</a:t>
            </a:r>
          </a:p>
          <a:p>
            <a:pPr lvl="2"/>
            <a:r>
              <a:rPr lang="en-US" dirty="0"/>
              <a:t>For clause </a:t>
            </a:r>
            <a:r>
              <a:rPr lang="en-US" i="1" dirty="0"/>
              <a:t>d</a:t>
            </a:r>
            <a:r>
              <a:rPr lang="en-US" dirty="0"/>
              <a:t>, we can pair unique true point FFT</a:t>
            </a:r>
            <a:r>
              <a:rPr lang="en-US" u="sng" dirty="0"/>
              <a:t>T</a:t>
            </a:r>
            <a:r>
              <a:rPr lang="en-US" dirty="0"/>
              <a:t> with near false point FFT</a:t>
            </a:r>
            <a:r>
              <a:rPr lang="en-US" u="sng" dirty="0"/>
              <a:t>F</a:t>
            </a:r>
          </a:p>
          <a:p>
            <a:r>
              <a:rPr lang="en-US" dirty="0"/>
              <a:t>CUTPNFP set : {TTFF, FFTT, TFFF, FTFF, FFTF, FFFT}</a:t>
            </a:r>
          </a:p>
          <a:p>
            <a:pPr lvl="1"/>
            <a:r>
              <a:rPr lang="en-US" dirty="0"/>
              <a:t>First two tests are unique true points; others are near false points</a:t>
            </a:r>
          </a:p>
          <a:p>
            <a:r>
              <a:rPr lang="en-US" dirty="0"/>
              <a:t>Rough number of tests required: #  implicants * # literals</a:t>
            </a:r>
          </a:p>
        </p:txBody>
      </p:sp>
      <p:sp>
        <p:nvSpPr>
          <p:cNvPr id="19461" name="Slide Number Placeholder 7"/>
          <p:cNvSpPr>
            <a:spLocks noGrp="1"/>
          </p:cNvSpPr>
          <p:nvPr>
            <p:ph type="sldNum" sz="quarter" idx="12"/>
          </p:nvPr>
        </p:nvSpPr>
        <p:spPr>
          <a:noFill/>
        </p:spPr>
        <p:txBody>
          <a:bodyPr/>
          <a:lstStyle/>
          <a:p>
            <a:fld id="{B23AB892-6BDF-4A85-B876-11528446C3FC}" type="slidenum">
              <a:rPr lang="en-US" smtClean="0">
                <a:latin typeface="Arial" charset="0"/>
                <a:cs typeface="Arial" charset="0"/>
              </a:rPr>
              <a:pPr/>
              <a:t>9</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9">
                                            <p:txEl>
                                              <p:pRg st="1" end="1"/>
                                            </p:txEl>
                                          </p:spTgt>
                                        </p:tgtEl>
                                        <p:attrNameLst>
                                          <p:attrName>style.visibility</p:attrName>
                                        </p:attrNameLst>
                                      </p:cBhvr>
                                      <p:to>
                                        <p:strVal val="visible"/>
                                      </p:to>
                                    </p:set>
                                    <p:animEffect transition="in" filter="blinds(horizontal)">
                                      <p:cBhvr>
                                        <p:cTn id="7" dur="500"/>
                                        <p:tgtEl>
                                          <p:spTgt spid="706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12" dur="500"/>
                                        <p:tgtEl>
                                          <p:spTgt spid="706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59">
                                            <p:txEl>
                                              <p:pRg st="3" end="3"/>
                                            </p:txEl>
                                          </p:spTgt>
                                        </p:tgtEl>
                                        <p:attrNameLst>
                                          <p:attrName>style.visibility</p:attrName>
                                        </p:attrNameLst>
                                      </p:cBhvr>
                                      <p:to>
                                        <p:strVal val="visible"/>
                                      </p:to>
                                    </p:set>
                                    <p:animEffect transition="in" filter="blinds(horizontal)">
                                      <p:cBhvr>
                                        <p:cTn id="17" dur="500"/>
                                        <p:tgtEl>
                                          <p:spTgt spid="706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659">
                                            <p:txEl>
                                              <p:pRg st="4" end="4"/>
                                            </p:txEl>
                                          </p:spTgt>
                                        </p:tgtEl>
                                        <p:attrNameLst>
                                          <p:attrName>style.visibility</p:attrName>
                                        </p:attrNameLst>
                                      </p:cBhvr>
                                      <p:to>
                                        <p:strVal val="visible"/>
                                      </p:to>
                                    </p:set>
                                    <p:animEffect transition="in" filter="blinds(horizontal)">
                                      <p:cBhvr>
                                        <p:cTn id="22" dur="500"/>
                                        <p:tgtEl>
                                          <p:spTgt spid="7065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0659">
                                            <p:txEl>
                                              <p:pRg st="5" end="5"/>
                                            </p:txEl>
                                          </p:spTgt>
                                        </p:tgtEl>
                                        <p:attrNameLst>
                                          <p:attrName>style.visibility</p:attrName>
                                        </p:attrNameLst>
                                      </p:cBhvr>
                                      <p:to>
                                        <p:strVal val="visible"/>
                                      </p:to>
                                    </p:set>
                                    <p:animEffect transition="in" filter="blinds(horizontal)">
                                      <p:cBhvr>
                                        <p:cTn id="27" dur="500"/>
                                        <p:tgtEl>
                                          <p:spTgt spid="7065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0659">
                                            <p:txEl>
                                              <p:pRg st="6" end="6"/>
                                            </p:txEl>
                                          </p:spTgt>
                                        </p:tgtEl>
                                        <p:attrNameLst>
                                          <p:attrName>style.visibility</p:attrName>
                                        </p:attrNameLst>
                                      </p:cBhvr>
                                      <p:to>
                                        <p:strVal val="visible"/>
                                      </p:to>
                                    </p:set>
                                    <p:animEffect transition="in" filter="blinds(horizontal)">
                                      <p:cBhvr>
                                        <p:cTn id="32" dur="500"/>
                                        <p:tgtEl>
                                          <p:spTgt spid="7065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0659">
                                            <p:txEl>
                                              <p:pRg st="7" end="7"/>
                                            </p:txEl>
                                          </p:spTgt>
                                        </p:tgtEl>
                                        <p:attrNameLst>
                                          <p:attrName>style.visibility</p:attrName>
                                        </p:attrNameLst>
                                      </p:cBhvr>
                                      <p:to>
                                        <p:strVal val="visible"/>
                                      </p:to>
                                    </p:set>
                                    <p:animEffect transition="in" filter="blinds(horizontal)">
                                      <p:cBhvr>
                                        <p:cTn id="37" dur="500"/>
                                        <p:tgtEl>
                                          <p:spTgt spid="70659">
                                            <p:txEl>
                                              <p:pRg st="7" end="7"/>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70659">
                                            <p:txEl>
                                              <p:pRg st="8" end="8"/>
                                            </p:txEl>
                                          </p:spTgt>
                                        </p:tgtEl>
                                        <p:attrNameLst>
                                          <p:attrName>style.visibility</p:attrName>
                                        </p:attrNameLst>
                                      </p:cBhvr>
                                      <p:to>
                                        <p:strVal val="visible"/>
                                      </p:to>
                                    </p:set>
                                    <p:animEffect transition="in" filter="blinds(horizontal)">
                                      <p:cBhvr>
                                        <p:cTn id="40" dur="500"/>
                                        <p:tgtEl>
                                          <p:spTgt spid="70659">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70659">
                                            <p:txEl>
                                              <p:pRg st="9" end="9"/>
                                            </p:txEl>
                                          </p:spTgt>
                                        </p:tgtEl>
                                        <p:attrNameLst>
                                          <p:attrName>style.visibility</p:attrName>
                                        </p:attrNameLst>
                                      </p:cBhvr>
                                      <p:to>
                                        <p:strVal val="visible"/>
                                      </p:to>
                                    </p:set>
                                    <p:animEffect transition="in" filter="blinds(horizontal)">
                                      <p:cBhvr>
                                        <p:cTn id="45" dur="500"/>
                                        <p:tgtEl>
                                          <p:spTgt spid="706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r>
              <a:rPr lang="en-US" dirty="0"/>
              <a:t>The MNFP and MUMCUT Criteria</a:t>
            </a:r>
          </a:p>
        </p:txBody>
      </p:sp>
      <p:sp>
        <p:nvSpPr>
          <p:cNvPr id="69635" name="Rectangle 3"/>
          <p:cNvSpPr>
            <a:spLocks noGrp="1" noChangeArrowheads="1"/>
          </p:cNvSpPr>
          <p:nvPr>
            <p:ph type="body" idx="4294967295"/>
          </p:nvPr>
        </p:nvSpPr>
        <p:spPr/>
        <p:txBody>
          <a:bodyPr/>
          <a:lstStyle/>
          <a:p>
            <a:pPr lvl="1">
              <a:buFontTx/>
              <a:buNone/>
            </a:pPr>
            <a:r>
              <a:rPr lang="en-US" dirty="0"/>
              <a:t>The next two criteria provide enough scaffolding to make guarantees about fault detection (see later slides)</a:t>
            </a:r>
          </a:p>
        </p:txBody>
      </p:sp>
      <p:sp>
        <p:nvSpPr>
          <p:cNvPr id="203780" name="Text Box 4"/>
          <p:cNvSpPr txBox="1">
            <a:spLocks noChangeArrowheads="1"/>
          </p:cNvSpPr>
          <p:nvPr/>
        </p:nvSpPr>
        <p:spPr bwMode="auto">
          <a:xfrm>
            <a:off x="1970540" y="2622051"/>
            <a:ext cx="8500561" cy="1569660"/>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wrap="square">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Multiple Near False Point Coverage (MNFP)</a:t>
            </a:r>
            <a:r>
              <a:rPr lang="en-US" sz="2400" dirty="0">
                <a:solidFill>
                  <a:schemeClr val="tx2"/>
                </a:solidFill>
                <a:effectLst>
                  <a:outerShdw blurRad="38100" dist="38100" dir="2700000" algn="tl">
                    <a:srgbClr val="000000"/>
                  </a:outerShdw>
                </a:effectLst>
                <a:latin typeface="Gill Sans MT" panose="020B0502020104020203" pitchFamily="34" charset="0"/>
              </a:rPr>
              <a:t> : Given a minimal DNF representation of a predicate </a:t>
            </a:r>
            <a:r>
              <a:rPr lang="en-US" sz="2400" i="1" dirty="0">
                <a:solidFill>
                  <a:schemeClr val="tx2"/>
                </a:solidFill>
                <a:effectLst>
                  <a:outerShdw blurRad="38100" dist="38100" dir="2700000" algn="tl">
                    <a:srgbClr val="000000"/>
                  </a:outerShdw>
                </a:effectLst>
                <a:latin typeface="Gill Sans MT" panose="020B0502020104020203" pitchFamily="34" charset="0"/>
              </a:rPr>
              <a:t>f</a:t>
            </a:r>
            <a:r>
              <a:rPr lang="en-US" sz="2400" dirty="0">
                <a:solidFill>
                  <a:schemeClr val="tx2"/>
                </a:solidFill>
                <a:effectLst>
                  <a:outerShdw blurRad="38100" dist="38100" dir="2700000" algn="tl">
                    <a:srgbClr val="000000"/>
                  </a:outerShdw>
                </a:effectLst>
                <a:latin typeface="Gill Sans MT" panose="020B0502020104020203" pitchFamily="34" charset="0"/>
              </a:rPr>
              <a:t>, for each literal </a:t>
            </a:r>
            <a:r>
              <a:rPr lang="en-US" sz="2400" i="1" dirty="0">
                <a:solidFill>
                  <a:schemeClr val="tx2"/>
                </a:solidFill>
                <a:effectLst>
                  <a:outerShdw blurRad="38100" dist="38100" dir="2700000" algn="tl">
                    <a:srgbClr val="000000"/>
                  </a:outerShdw>
                </a:effectLst>
                <a:latin typeface="Gill Sans MT" panose="020B0502020104020203" pitchFamily="34" charset="0"/>
              </a:rPr>
              <a:t>c</a:t>
            </a:r>
            <a:r>
              <a:rPr lang="en-US" sz="2400" dirty="0">
                <a:solidFill>
                  <a:schemeClr val="tx2"/>
                </a:solidFill>
                <a:effectLst>
                  <a:outerShdw blurRad="38100" dist="38100" dir="2700000" algn="tl">
                    <a:srgbClr val="000000"/>
                  </a:outerShdw>
                </a:effectLst>
                <a:latin typeface="Gill Sans MT" panose="020B0502020104020203" pitchFamily="34" charset="0"/>
              </a:rPr>
              <a:t> in each implicant </a:t>
            </a:r>
            <a:r>
              <a:rPr lang="en-US" sz="2400" i="1" dirty="0" err="1">
                <a:solidFill>
                  <a:schemeClr val="tx2"/>
                </a:solidFill>
                <a:effectLst>
                  <a:outerShdw blurRad="38100" dist="38100" dir="2700000" algn="tl">
                    <a:srgbClr val="000000"/>
                  </a:outerShdw>
                </a:effectLst>
                <a:latin typeface="Gill Sans MT" panose="020B0502020104020203" pitchFamily="34" charset="0"/>
              </a:rPr>
              <a:t>i</a:t>
            </a:r>
            <a:r>
              <a:rPr lang="en-US" sz="2400" dirty="0">
                <a:solidFill>
                  <a:schemeClr val="tx2"/>
                </a:solidFill>
                <a:effectLst>
                  <a:outerShdw blurRad="38100" dist="38100" dir="2700000" algn="tl">
                    <a:srgbClr val="000000"/>
                  </a:outerShdw>
                </a:effectLst>
                <a:latin typeface="Gill Sans MT" panose="020B0502020104020203" pitchFamily="34" charset="0"/>
              </a:rPr>
              <a:t>, TR choose near false points (NFPs) such that clauses not in </a:t>
            </a:r>
            <a:r>
              <a:rPr lang="en-US" sz="2400" dirty="0" err="1">
                <a:solidFill>
                  <a:schemeClr val="tx2"/>
                </a:solidFill>
                <a:effectLst>
                  <a:outerShdw blurRad="38100" dist="38100" dir="2700000" algn="tl">
                    <a:srgbClr val="000000"/>
                  </a:outerShdw>
                </a:effectLst>
                <a:latin typeface="Gill Sans MT" panose="020B0502020104020203" pitchFamily="34" charset="0"/>
              </a:rPr>
              <a:t>i</a:t>
            </a:r>
            <a:r>
              <a:rPr lang="en-US" sz="2400" dirty="0">
                <a:solidFill>
                  <a:schemeClr val="tx2"/>
                </a:solidFill>
                <a:effectLst>
                  <a:outerShdw blurRad="38100" dist="38100" dir="2700000" algn="tl">
                    <a:srgbClr val="000000"/>
                  </a:outerShdw>
                </a:effectLst>
                <a:latin typeface="Gill Sans MT" panose="020B0502020104020203" pitchFamily="34" charset="0"/>
              </a:rPr>
              <a:t> take on values T and F.</a:t>
            </a:r>
          </a:p>
        </p:txBody>
      </p:sp>
      <p:sp>
        <p:nvSpPr>
          <p:cNvPr id="69638" name="Line 6"/>
          <p:cNvSpPr>
            <a:spLocks noChangeShapeType="1"/>
          </p:cNvSpPr>
          <p:nvPr/>
        </p:nvSpPr>
        <p:spPr bwMode="auto">
          <a:xfrm>
            <a:off x="8520280" y="522387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8439" name="Slide Number Placeholder 9"/>
          <p:cNvSpPr>
            <a:spLocks noGrp="1"/>
          </p:cNvSpPr>
          <p:nvPr>
            <p:ph type="sldNum" sz="quarter" idx="12"/>
          </p:nvPr>
        </p:nvSpPr>
        <p:spPr>
          <a:noFill/>
        </p:spPr>
        <p:txBody>
          <a:bodyPr/>
          <a:lstStyle/>
          <a:p>
            <a:fld id="{3CAE2C83-D6A7-42B6-9F69-551566DF6194}" type="slidenum">
              <a:rPr lang="en-US" smtClean="0">
                <a:latin typeface="Arial" charset="0"/>
                <a:cs typeface="Arial" charset="0"/>
              </a:rPr>
              <a:pPr/>
              <a:t>10</a:t>
            </a:fld>
            <a:endParaRPr lang="en-US">
              <a:latin typeface="Arial" charset="0"/>
              <a:cs typeface="Arial" charset="0"/>
            </a:endParaRPr>
          </a:p>
        </p:txBody>
      </p:sp>
      <p:sp>
        <p:nvSpPr>
          <p:cNvPr id="11" name="Text Box 4"/>
          <p:cNvSpPr txBox="1">
            <a:spLocks noChangeArrowheads="1"/>
          </p:cNvSpPr>
          <p:nvPr/>
        </p:nvSpPr>
        <p:spPr bwMode="auto">
          <a:xfrm>
            <a:off x="1986507" y="4699145"/>
            <a:ext cx="8500561" cy="830997"/>
          </a:xfrm>
          <a:prstGeom prst="rect">
            <a:avLst/>
          </a:prstGeom>
          <a:gradFill rotWithShape="1">
            <a:gsLst>
              <a:gs pos="0">
                <a:srgbClr val="3399FF"/>
              </a:gs>
              <a:gs pos="100000">
                <a:srgbClr val="0033CC"/>
              </a:gs>
            </a:gsLst>
            <a:path path="shape">
              <a:fillToRect l="50000" t="50000" r="50000" b="50000"/>
            </a:path>
          </a:gradFill>
          <a:ln w="19050">
            <a:solidFill>
              <a:schemeClr val="tx2"/>
            </a:solidFill>
            <a:miter lim="800000"/>
            <a:headEnd type="none" w="sm" len="sm"/>
            <a:tailEnd type="none" w="sm" len="sm"/>
          </a:ln>
          <a:effectLst/>
        </p:spPr>
        <p:txBody>
          <a:bodyPr wrap="square">
            <a:spAutoFit/>
          </a:bodyPr>
          <a:lstStyle/>
          <a:p>
            <a:pPr>
              <a:spcBef>
                <a:spcPct val="50000"/>
              </a:spcBef>
              <a:defRPr/>
            </a:pPr>
            <a:r>
              <a:rPr lang="en-US" sz="2400" u="sng" dirty="0">
                <a:solidFill>
                  <a:schemeClr val="tx2"/>
                </a:solidFill>
                <a:effectLst>
                  <a:outerShdw blurRad="38100" dist="38100" dir="2700000" algn="tl">
                    <a:srgbClr val="000000"/>
                  </a:outerShdw>
                </a:effectLst>
                <a:latin typeface="Gill Sans MT" panose="020B0502020104020203" pitchFamily="34" charset="0"/>
              </a:rPr>
              <a:t>MUMCUT</a:t>
            </a:r>
            <a:r>
              <a:rPr lang="en-US" sz="2400" dirty="0">
                <a:solidFill>
                  <a:schemeClr val="tx2"/>
                </a:solidFill>
                <a:effectLst>
                  <a:outerShdw blurRad="38100" dist="38100" dir="2700000" algn="tl">
                    <a:srgbClr val="000000"/>
                  </a:outerShdw>
                </a:effectLst>
                <a:latin typeface="Gill Sans MT" panose="020B0502020104020203" pitchFamily="34" charset="0"/>
              </a:rPr>
              <a:t> : Given a minimal DNF representation of a predicate </a:t>
            </a:r>
            <a:r>
              <a:rPr lang="en-US" sz="2400" i="1" dirty="0">
                <a:solidFill>
                  <a:schemeClr val="tx2"/>
                </a:solidFill>
                <a:effectLst>
                  <a:outerShdw blurRad="38100" dist="38100" dir="2700000" algn="tl">
                    <a:srgbClr val="000000"/>
                  </a:outerShdw>
                </a:effectLst>
                <a:latin typeface="Gill Sans MT" panose="020B0502020104020203" pitchFamily="34" charset="0"/>
              </a:rPr>
              <a:t>f</a:t>
            </a:r>
            <a:r>
              <a:rPr lang="en-US" sz="2400" dirty="0">
                <a:solidFill>
                  <a:schemeClr val="tx2"/>
                </a:solidFill>
                <a:effectLst>
                  <a:outerShdw blurRad="38100" dist="38100" dir="2700000" algn="tl">
                    <a:srgbClr val="000000"/>
                  </a:outerShdw>
                </a:effectLst>
                <a:latin typeface="Gill Sans MT" panose="020B0502020104020203" pitchFamily="34" charset="0"/>
              </a:rPr>
              <a:t>,  apply MUTP, CUTPNFP, and MNFP.</a:t>
            </a:r>
          </a:p>
        </p:txBody>
      </p:sp>
    </p:spTree>
    <p:extLst>
      <p:ext uri="{BB962C8B-B14F-4D97-AF65-F5344CB8AC3E}">
        <p14:creationId xmlns:p14="http://schemas.microsoft.com/office/powerpoint/2010/main" val="12271813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3780"/>
                                        </p:tgtEl>
                                        <p:attrNameLst>
                                          <p:attrName>style.visibility</p:attrName>
                                        </p:attrNameLst>
                                      </p:cBhvr>
                                      <p:to>
                                        <p:strVal val="visible"/>
                                      </p:to>
                                    </p:set>
                                    <p:animEffect transition="in" filter="blinds(horizontal)">
                                      <p:cBhvr>
                                        <p:cTn id="7" dur="500"/>
                                        <p:tgtEl>
                                          <p:spTgt spid="20378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9638"/>
                                        </p:tgtEl>
                                        <p:attrNameLst>
                                          <p:attrName>style.visibility</p:attrName>
                                        </p:attrNameLst>
                                      </p:cBhvr>
                                      <p:to>
                                        <p:strVal val="visible"/>
                                      </p:to>
                                    </p:set>
                                    <p:animEffect transition="in" filter="blinds(horizontal)">
                                      <p:cBhvr>
                                        <p:cTn id="10" dur="500"/>
                                        <p:tgtEl>
                                          <p:spTgt spid="6963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0" grpId="0" animBg="1"/>
      <p:bldP spid="69638"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r>
              <a:rPr lang="en-US" dirty="0"/>
              <a:t>MNFP Example</a:t>
            </a:r>
          </a:p>
        </p:txBody>
      </p:sp>
      <p:sp>
        <p:nvSpPr>
          <p:cNvPr id="68611" name="Rectangle 3"/>
          <p:cNvSpPr>
            <a:spLocks noGrp="1" noChangeArrowheads="1"/>
          </p:cNvSpPr>
          <p:nvPr>
            <p:ph type="body" idx="4294967295"/>
          </p:nvPr>
        </p:nvSpPr>
        <p:spPr>
          <a:xfrm>
            <a:off x="1530351" y="903288"/>
            <a:ext cx="9118599" cy="5651890"/>
          </a:xfrm>
        </p:spPr>
        <p:txBody>
          <a:bodyPr/>
          <a:lstStyle/>
          <a:p>
            <a:pPr>
              <a:lnSpc>
                <a:spcPct val="80000"/>
              </a:lnSpc>
            </a:pPr>
            <a:r>
              <a:rPr lang="en-US" dirty="0"/>
              <a:t>Consider again :   </a:t>
            </a:r>
            <a:r>
              <a:rPr lang="en-US" i="1" dirty="0"/>
              <a:t>f = ab + </a:t>
            </a:r>
            <a:r>
              <a:rPr lang="en-US" i="1" dirty="0" err="1"/>
              <a:t>bc</a:t>
            </a:r>
            <a:r>
              <a:rPr lang="en-US" i="1" dirty="0"/>
              <a:t>       </a:t>
            </a:r>
            <a:endParaRPr lang="en-US" dirty="0"/>
          </a:p>
          <a:p>
            <a:pPr lvl="1">
              <a:lnSpc>
                <a:spcPct val="80000"/>
              </a:lnSpc>
            </a:pPr>
            <a:r>
              <a:rPr lang="en-US" sz="2000" dirty="0"/>
              <a:t>Implicants :  </a:t>
            </a:r>
            <a:r>
              <a:rPr lang="en-US" sz="2000" i="1" dirty="0"/>
              <a:t>{</a:t>
            </a:r>
            <a:r>
              <a:rPr lang="en-US" sz="2000" dirty="0"/>
              <a:t> </a:t>
            </a:r>
            <a:r>
              <a:rPr lang="en-US" sz="2000" i="1" dirty="0"/>
              <a:t>ab, </a:t>
            </a:r>
            <a:r>
              <a:rPr lang="en-US" sz="2000" i="1" dirty="0" err="1"/>
              <a:t>bc</a:t>
            </a:r>
            <a:r>
              <a:rPr lang="en-US" sz="2000" i="1" dirty="0"/>
              <a:t> }</a:t>
            </a:r>
          </a:p>
          <a:p>
            <a:pPr>
              <a:lnSpc>
                <a:spcPct val="80000"/>
              </a:lnSpc>
            </a:pPr>
            <a:r>
              <a:rPr lang="en-US" dirty="0"/>
              <a:t>True points :</a:t>
            </a:r>
          </a:p>
          <a:p>
            <a:pPr lvl="1"/>
            <a:r>
              <a:rPr lang="en-US" sz="2000" i="1" dirty="0"/>
              <a:t>ab: TTT, TTF</a:t>
            </a:r>
          </a:p>
          <a:p>
            <a:pPr lvl="2"/>
            <a:r>
              <a:rPr lang="en-US" sz="1600" dirty="0"/>
              <a:t>NFP for a where c=T: {FTT}</a:t>
            </a:r>
          </a:p>
          <a:p>
            <a:pPr lvl="2"/>
            <a:r>
              <a:rPr lang="en-US" sz="1600" dirty="0"/>
              <a:t>Infeasible NFP for a where c = F</a:t>
            </a:r>
          </a:p>
          <a:p>
            <a:pPr lvl="2"/>
            <a:r>
              <a:rPr lang="en-US" sz="1600" dirty="0"/>
              <a:t>NFPs for b where c = T, F: {TFT, TFF}</a:t>
            </a:r>
          </a:p>
          <a:p>
            <a:pPr lvl="1"/>
            <a:r>
              <a:rPr lang="en-US" sz="2000" i="1" dirty="0" err="1"/>
              <a:t>bc</a:t>
            </a:r>
            <a:r>
              <a:rPr lang="en-US" sz="2000" i="1" dirty="0"/>
              <a:t>:  FTF, TTF</a:t>
            </a:r>
          </a:p>
          <a:p>
            <a:pPr lvl="2"/>
            <a:r>
              <a:rPr lang="en-US" sz="1600" dirty="0"/>
              <a:t>NFPs for b where a = T, F:  {TFF, FFF}</a:t>
            </a:r>
          </a:p>
          <a:p>
            <a:pPr lvl="2"/>
            <a:r>
              <a:rPr lang="en-US" sz="1600" dirty="0"/>
              <a:t>NFP for c where a = F: {FTT}</a:t>
            </a:r>
          </a:p>
          <a:p>
            <a:pPr lvl="2"/>
            <a:r>
              <a:rPr lang="en-US" sz="1600" dirty="0"/>
              <a:t>Infeasible NFP for c where a = T</a:t>
            </a:r>
          </a:p>
          <a:p>
            <a:r>
              <a:rPr lang="en-US" dirty="0"/>
              <a:t>Resulting MNFP set = {FTT, TFT, TFF, FFF}</a:t>
            </a:r>
          </a:p>
          <a:p>
            <a:endParaRPr lang="en-US" dirty="0"/>
          </a:p>
        </p:txBody>
      </p:sp>
      <p:sp>
        <p:nvSpPr>
          <p:cNvPr id="68618" name="Line 10"/>
          <p:cNvSpPr>
            <a:spLocks noChangeShapeType="1"/>
          </p:cNvSpPr>
          <p:nvPr/>
        </p:nvSpPr>
        <p:spPr bwMode="auto">
          <a:xfrm>
            <a:off x="5942850" y="962025"/>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8622" name="Line 14"/>
          <p:cNvSpPr>
            <a:spLocks noChangeShapeType="1"/>
          </p:cNvSpPr>
          <p:nvPr/>
        </p:nvSpPr>
        <p:spPr bwMode="auto">
          <a:xfrm>
            <a:off x="4214563" y="139541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68623" name="Line 15"/>
          <p:cNvSpPr>
            <a:spLocks noChangeShapeType="1"/>
          </p:cNvSpPr>
          <p:nvPr/>
        </p:nvSpPr>
        <p:spPr bwMode="auto">
          <a:xfrm>
            <a:off x="2437799" y="344479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7423" name="Slide Number Placeholder 18"/>
          <p:cNvSpPr>
            <a:spLocks noGrp="1"/>
          </p:cNvSpPr>
          <p:nvPr>
            <p:ph type="sldNum" sz="quarter" idx="12"/>
          </p:nvPr>
        </p:nvSpPr>
        <p:spPr>
          <a:noFill/>
        </p:spPr>
        <p:txBody>
          <a:bodyPr/>
          <a:lstStyle/>
          <a:p>
            <a:fld id="{D3565860-57F0-468F-BB08-7576A20969E6}" type="slidenum">
              <a:rPr lang="en-US" smtClean="0">
                <a:latin typeface="Arial" charset="0"/>
                <a:cs typeface="Arial" charset="0"/>
              </a:rPr>
              <a:pPr/>
              <a:t>11</a:t>
            </a:fld>
            <a:endParaRPr lang="en-US">
              <a:latin typeface="Arial" charset="0"/>
              <a:cs typeface="Arial" charset="0"/>
            </a:endParaRPr>
          </a:p>
        </p:txBody>
      </p:sp>
      <p:sp>
        <p:nvSpPr>
          <p:cNvPr id="12" name="Line 15"/>
          <p:cNvSpPr>
            <a:spLocks noChangeShapeType="1"/>
          </p:cNvSpPr>
          <p:nvPr/>
        </p:nvSpPr>
        <p:spPr bwMode="auto">
          <a:xfrm>
            <a:off x="3487182" y="4067455"/>
            <a:ext cx="165100" cy="0"/>
          </a:xfrm>
          <a:prstGeom prst="line">
            <a:avLst/>
          </a:prstGeom>
          <a:noFill/>
          <a:ln w="19050">
            <a:solidFill>
              <a:schemeClr val="tx1"/>
            </a:solidFill>
            <a:round/>
            <a:headEnd type="none" w="sm" len="sm"/>
            <a:tailEnd type="none" w="sm" len="sm"/>
          </a:ln>
        </p:spPr>
        <p:txBody>
          <a:bodyPr/>
          <a:lstStyle/>
          <a:p>
            <a:endParaRPr lang="en-US"/>
          </a:p>
        </p:txBody>
      </p:sp>
      <p:sp>
        <p:nvSpPr>
          <p:cNvPr id="13" name="Line 15"/>
          <p:cNvSpPr>
            <a:spLocks noChangeShapeType="1"/>
          </p:cNvSpPr>
          <p:nvPr/>
        </p:nvSpPr>
        <p:spPr bwMode="auto">
          <a:xfrm>
            <a:off x="4214563" y="4359192"/>
            <a:ext cx="165100" cy="0"/>
          </a:xfrm>
          <a:prstGeom prst="line">
            <a:avLst/>
          </a:prstGeom>
          <a:noFill/>
          <a:ln w="19050">
            <a:solidFill>
              <a:schemeClr val="tx1"/>
            </a:solidFill>
            <a:round/>
            <a:headEnd type="none" w="sm" len="sm"/>
            <a:tailEnd type="none" w="sm" len="sm"/>
          </a:ln>
        </p:spPr>
        <p:txBody>
          <a:bodyPr/>
          <a:lstStyle/>
          <a:p>
            <a:endParaRPr lang="en-US"/>
          </a:p>
        </p:txBody>
      </p:sp>
    </p:spTree>
    <p:extLst>
      <p:ext uri="{BB962C8B-B14F-4D97-AF65-F5344CB8AC3E}">
        <p14:creationId xmlns:p14="http://schemas.microsoft.com/office/powerpoint/2010/main" val="21958604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611">
                                            <p:txEl>
                                              <p:pRg st="0" end="0"/>
                                            </p:txEl>
                                          </p:spTgt>
                                        </p:tgtEl>
                                        <p:attrNameLst>
                                          <p:attrName>style.visibility</p:attrName>
                                        </p:attrNameLst>
                                      </p:cBhvr>
                                      <p:to>
                                        <p:strVal val="visible"/>
                                      </p:to>
                                    </p:set>
                                    <p:animEffect transition="in" filter="blinds(horizontal)">
                                      <p:cBhvr>
                                        <p:cTn id="7" dur="500"/>
                                        <p:tgtEl>
                                          <p:spTgt spid="686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8611">
                                            <p:txEl>
                                              <p:pRg st="1" end="1"/>
                                            </p:txEl>
                                          </p:spTgt>
                                        </p:tgtEl>
                                        <p:attrNameLst>
                                          <p:attrName>style.visibility</p:attrName>
                                        </p:attrNameLst>
                                      </p:cBhvr>
                                      <p:to>
                                        <p:strVal val="visible"/>
                                      </p:to>
                                    </p:set>
                                    <p:animEffect transition="in" filter="blinds(horizontal)">
                                      <p:cBhvr>
                                        <p:cTn id="10" dur="500"/>
                                        <p:tgtEl>
                                          <p:spTgt spid="6861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8618"/>
                                        </p:tgtEl>
                                        <p:attrNameLst>
                                          <p:attrName>style.visibility</p:attrName>
                                        </p:attrNameLst>
                                      </p:cBhvr>
                                      <p:to>
                                        <p:strVal val="visible"/>
                                      </p:to>
                                    </p:set>
                                    <p:animEffect transition="in" filter="blinds(horizontal)">
                                      <p:cBhvr>
                                        <p:cTn id="13" dur="500"/>
                                        <p:tgtEl>
                                          <p:spTgt spid="6861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8622"/>
                                        </p:tgtEl>
                                        <p:attrNameLst>
                                          <p:attrName>style.visibility</p:attrName>
                                        </p:attrNameLst>
                                      </p:cBhvr>
                                      <p:to>
                                        <p:strVal val="visible"/>
                                      </p:to>
                                    </p:set>
                                    <p:animEffect transition="in" filter="blinds(horizontal)">
                                      <p:cBhvr>
                                        <p:cTn id="16" dur="500"/>
                                        <p:tgtEl>
                                          <p:spTgt spid="6862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68611">
                                            <p:txEl>
                                              <p:pRg st="2" end="2"/>
                                            </p:txEl>
                                          </p:spTgt>
                                        </p:tgtEl>
                                        <p:attrNameLst>
                                          <p:attrName>style.visibility</p:attrName>
                                        </p:attrNameLst>
                                      </p:cBhvr>
                                      <p:to>
                                        <p:strVal val="visible"/>
                                      </p:to>
                                    </p:set>
                                    <p:animEffect transition="in" filter="blinds(horizontal)">
                                      <p:cBhvr>
                                        <p:cTn id="21" dur="500"/>
                                        <p:tgtEl>
                                          <p:spTgt spid="68611">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8611">
                                            <p:txEl>
                                              <p:pRg st="3" end="3"/>
                                            </p:txEl>
                                          </p:spTgt>
                                        </p:tgtEl>
                                        <p:attrNameLst>
                                          <p:attrName>style.visibility</p:attrName>
                                        </p:attrNameLst>
                                      </p:cBhvr>
                                      <p:to>
                                        <p:strVal val="visible"/>
                                      </p:to>
                                    </p:set>
                                    <p:animEffect transition="in" filter="blinds(horizontal)">
                                      <p:cBhvr>
                                        <p:cTn id="24" dur="500"/>
                                        <p:tgtEl>
                                          <p:spTgt spid="68611">
                                            <p:txEl>
                                              <p:pRg st="3" end="3"/>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8611">
                                            <p:txEl>
                                              <p:pRg st="4" end="4"/>
                                            </p:txEl>
                                          </p:spTgt>
                                        </p:tgtEl>
                                        <p:attrNameLst>
                                          <p:attrName>style.visibility</p:attrName>
                                        </p:attrNameLst>
                                      </p:cBhvr>
                                      <p:to>
                                        <p:strVal val="visible"/>
                                      </p:to>
                                    </p:set>
                                    <p:animEffect transition="in" filter="blinds(horizontal)">
                                      <p:cBhvr>
                                        <p:cTn id="27" dur="500"/>
                                        <p:tgtEl>
                                          <p:spTgt spid="68611">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8611">
                                            <p:txEl>
                                              <p:pRg st="5" end="5"/>
                                            </p:txEl>
                                          </p:spTgt>
                                        </p:tgtEl>
                                        <p:attrNameLst>
                                          <p:attrName>style.visibility</p:attrName>
                                        </p:attrNameLst>
                                      </p:cBhvr>
                                      <p:to>
                                        <p:strVal val="visible"/>
                                      </p:to>
                                    </p:set>
                                    <p:animEffect transition="in" filter="blinds(horizontal)">
                                      <p:cBhvr>
                                        <p:cTn id="30" dur="500"/>
                                        <p:tgtEl>
                                          <p:spTgt spid="68611">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8611">
                                            <p:txEl>
                                              <p:pRg st="6" end="6"/>
                                            </p:txEl>
                                          </p:spTgt>
                                        </p:tgtEl>
                                        <p:attrNameLst>
                                          <p:attrName>style.visibility</p:attrName>
                                        </p:attrNameLst>
                                      </p:cBhvr>
                                      <p:to>
                                        <p:strVal val="visible"/>
                                      </p:to>
                                    </p:set>
                                    <p:animEffect transition="in" filter="blinds(horizontal)">
                                      <p:cBhvr>
                                        <p:cTn id="33" dur="500"/>
                                        <p:tgtEl>
                                          <p:spTgt spid="68611">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8611">
                                            <p:txEl>
                                              <p:pRg st="7" end="7"/>
                                            </p:txEl>
                                          </p:spTgt>
                                        </p:tgtEl>
                                        <p:attrNameLst>
                                          <p:attrName>style.visibility</p:attrName>
                                        </p:attrNameLst>
                                      </p:cBhvr>
                                      <p:to>
                                        <p:strVal val="visible"/>
                                      </p:to>
                                    </p:set>
                                    <p:animEffect transition="in" filter="blinds(horizontal)">
                                      <p:cBhvr>
                                        <p:cTn id="36" dur="500"/>
                                        <p:tgtEl>
                                          <p:spTgt spid="68611">
                                            <p:txEl>
                                              <p:pRg st="7" end="7"/>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8611">
                                            <p:txEl>
                                              <p:pRg st="8" end="8"/>
                                            </p:txEl>
                                          </p:spTgt>
                                        </p:tgtEl>
                                        <p:attrNameLst>
                                          <p:attrName>style.visibility</p:attrName>
                                        </p:attrNameLst>
                                      </p:cBhvr>
                                      <p:to>
                                        <p:strVal val="visible"/>
                                      </p:to>
                                    </p:set>
                                    <p:animEffect transition="in" filter="blinds(horizontal)">
                                      <p:cBhvr>
                                        <p:cTn id="39" dur="500"/>
                                        <p:tgtEl>
                                          <p:spTgt spid="68611">
                                            <p:txEl>
                                              <p:pRg st="8" end="8"/>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8611">
                                            <p:txEl>
                                              <p:pRg st="9" end="9"/>
                                            </p:txEl>
                                          </p:spTgt>
                                        </p:tgtEl>
                                        <p:attrNameLst>
                                          <p:attrName>style.visibility</p:attrName>
                                        </p:attrNameLst>
                                      </p:cBhvr>
                                      <p:to>
                                        <p:strVal val="visible"/>
                                      </p:to>
                                    </p:set>
                                    <p:animEffect transition="in" filter="blinds(horizontal)">
                                      <p:cBhvr>
                                        <p:cTn id="42" dur="500"/>
                                        <p:tgtEl>
                                          <p:spTgt spid="68611">
                                            <p:txEl>
                                              <p:pRg st="9" end="9"/>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68611">
                                            <p:txEl>
                                              <p:pRg st="10" end="10"/>
                                            </p:txEl>
                                          </p:spTgt>
                                        </p:tgtEl>
                                        <p:attrNameLst>
                                          <p:attrName>style.visibility</p:attrName>
                                        </p:attrNameLst>
                                      </p:cBhvr>
                                      <p:to>
                                        <p:strVal val="visible"/>
                                      </p:to>
                                    </p:set>
                                    <p:animEffect transition="in" filter="blinds(horizontal)">
                                      <p:cBhvr>
                                        <p:cTn id="45" dur="500"/>
                                        <p:tgtEl>
                                          <p:spTgt spid="68611">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68611">
                                            <p:txEl>
                                              <p:pRg st="11" end="11"/>
                                            </p:txEl>
                                          </p:spTgt>
                                        </p:tgtEl>
                                        <p:attrNameLst>
                                          <p:attrName>style.visibility</p:attrName>
                                        </p:attrNameLst>
                                      </p:cBhvr>
                                      <p:to>
                                        <p:strVal val="visible"/>
                                      </p:to>
                                    </p:set>
                                    <p:animEffect transition="in" filter="blinds(horizontal)">
                                      <p:cBhvr>
                                        <p:cTn id="50" dur="500"/>
                                        <p:tgtEl>
                                          <p:spTgt spid="68611">
                                            <p:txEl>
                                              <p:pRg st="11" end="11"/>
                                            </p:txEl>
                                          </p:spTgt>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68623"/>
                                        </p:tgtEl>
                                        <p:attrNameLst>
                                          <p:attrName>style.visibility</p:attrName>
                                        </p:attrNameLst>
                                      </p:cBhvr>
                                      <p:to>
                                        <p:strVal val="visible"/>
                                      </p:to>
                                    </p:set>
                                    <p:animEffect transition="in" filter="blinds(horizontal)">
                                      <p:cBhvr>
                                        <p:cTn id="53" dur="500"/>
                                        <p:tgtEl>
                                          <p:spTgt spid="68623"/>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blinds(horizontal)">
                                      <p:cBhvr>
                                        <p:cTn id="56" dur="500"/>
                                        <p:tgtEl>
                                          <p:spTgt spid="12"/>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blinds(horizontal)">
                                      <p:cBhvr>
                                        <p:cTn id="5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p:bldP spid="68618" grpId="0" animBg="1"/>
      <p:bldP spid="68622" grpId="0" animBg="1"/>
      <p:bldP spid="68623"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r>
              <a:rPr lang="en-US"/>
              <a:t>DNF Fault Classes</a:t>
            </a:r>
          </a:p>
        </p:txBody>
      </p:sp>
      <p:sp>
        <p:nvSpPr>
          <p:cNvPr id="71683" name="Rectangle 3"/>
          <p:cNvSpPr>
            <a:spLocks noGrp="1" noChangeArrowheads="1"/>
          </p:cNvSpPr>
          <p:nvPr>
            <p:ph type="body" idx="4294967295"/>
          </p:nvPr>
        </p:nvSpPr>
        <p:spPr>
          <a:xfrm>
            <a:off x="1524000" y="811214"/>
            <a:ext cx="9144000" cy="5627687"/>
          </a:xfrm>
        </p:spPr>
        <p:txBody>
          <a:bodyPr/>
          <a:lstStyle/>
          <a:p>
            <a:pPr>
              <a:lnSpc>
                <a:spcPct val="80000"/>
              </a:lnSpc>
            </a:pPr>
            <a:r>
              <a:rPr lang="en-US" dirty="0"/>
              <a:t>ENF: Expression Negation Fault   </a:t>
            </a:r>
            <a:r>
              <a:rPr lang="en-US" i="1" dirty="0"/>
              <a:t>f = </a:t>
            </a:r>
            <a:r>
              <a:rPr lang="en-US" i="1" dirty="0" err="1"/>
              <a:t>ab+c</a:t>
            </a:r>
            <a:r>
              <a:rPr lang="en-US" i="1" dirty="0"/>
              <a:t>        f’ = </a:t>
            </a:r>
            <a:r>
              <a:rPr lang="en-US" i="1" dirty="0" err="1"/>
              <a:t>ab+c</a:t>
            </a:r>
            <a:endParaRPr lang="en-US" i="1" dirty="0"/>
          </a:p>
          <a:p>
            <a:pPr>
              <a:lnSpc>
                <a:spcPct val="80000"/>
              </a:lnSpc>
            </a:pPr>
            <a:r>
              <a:rPr lang="en-US" dirty="0"/>
              <a:t>TNF: Term Negation Fault          </a:t>
            </a:r>
            <a:r>
              <a:rPr lang="en-US" i="1" dirty="0"/>
              <a:t>f = </a:t>
            </a:r>
            <a:r>
              <a:rPr lang="en-US" i="1" dirty="0" err="1"/>
              <a:t>ab+c</a:t>
            </a:r>
            <a:r>
              <a:rPr lang="en-US" i="1" dirty="0"/>
              <a:t>         f’ = </a:t>
            </a:r>
            <a:r>
              <a:rPr lang="en-US" i="1" dirty="0" err="1"/>
              <a:t>ab+c</a:t>
            </a:r>
            <a:endParaRPr lang="en-US" i="1" dirty="0"/>
          </a:p>
          <a:p>
            <a:pPr>
              <a:lnSpc>
                <a:spcPct val="80000"/>
              </a:lnSpc>
            </a:pPr>
            <a:r>
              <a:rPr lang="en-US" dirty="0"/>
              <a:t>TOF: Term Omission Fault          </a:t>
            </a:r>
            <a:r>
              <a:rPr lang="en-US" i="1" dirty="0"/>
              <a:t>f = </a:t>
            </a:r>
            <a:r>
              <a:rPr lang="en-US" i="1" dirty="0" err="1"/>
              <a:t>ab+c</a:t>
            </a:r>
            <a:r>
              <a:rPr lang="en-US" i="1" dirty="0"/>
              <a:t>	        f’ = ab</a:t>
            </a:r>
          </a:p>
          <a:p>
            <a:pPr>
              <a:lnSpc>
                <a:spcPct val="80000"/>
              </a:lnSpc>
            </a:pPr>
            <a:r>
              <a:rPr lang="en-US" dirty="0"/>
              <a:t>LNF: Literal Negation Fault          </a:t>
            </a:r>
            <a:r>
              <a:rPr lang="en-US" i="1" dirty="0"/>
              <a:t>f = </a:t>
            </a:r>
            <a:r>
              <a:rPr lang="en-US" i="1" dirty="0" err="1"/>
              <a:t>ab+c</a:t>
            </a:r>
            <a:r>
              <a:rPr lang="en-US" i="1" dirty="0"/>
              <a:t>	        f’ = </a:t>
            </a:r>
            <a:r>
              <a:rPr lang="en-US" i="1" dirty="0" err="1"/>
              <a:t>ab+c</a:t>
            </a:r>
            <a:endParaRPr lang="en-US" i="1" dirty="0"/>
          </a:p>
          <a:p>
            <a:pPr>
              <a:lnSpc>
                <a:spcPct val="80000"/>
              </a:lnSpc>
            </a:pPr>
            <a:r>
              <a:rPr lang="en-US" dirty="0"/>
              <a:t>LRF: Literal Reference Fault         </a:t>
            </a:r>
            <a:r>
              <a:rPr lang="en-US" i="1" dirty="0"/>
              <a:t>f = ab + </a:t>
            </a:r>
            <a:r>
              <a:rPr lang="en-US" i="1" dirty="0" err="1"/>
              <a:t>bcd</a:t>
            </a:r>
            <a:r>
              <a:rPr lang="en-US" i="1" dirty="0"/>
              <a:t>   f’ = ad + </a:t>
            </a:r>
            <a:r>
              <a:rPr lang="en-US" i="1" dirty="0" err="1"/>
              <a:t>bcd</a:t>
            </a:r>
            <a:endParaRPr lang="en-US" i="1" dirty="0"/>
          </a:p>
          <a:p>
            <a:pPr>
              <a:lnSpc>
                <a:spcPct val="80000"/>
              </a:lnSpc>
            </a:pPr>
            <a:r>
              <a:rPr lang="en-US" dirty="0"/>
              <a:t>LOF: Literal Omission Fault         </a:t>
            </a:r>
            <a:r>
              <a:rPr lang="en-US" i="1" dirty="0"/>
              <a:t>f = ab + c      f’ = a + c</a:t>
            </a:r>
          </a:p>
          <a:p>
            <a:pPr>
              <a:lnSpc>
                <a:spcPct val="80000"/>
              </a:lnSpc>
            </a:pPr>
            <a:r>
              <a:rPr lang="en-US" dirty="0"/>
              <a:t>LIF: Literal Insertion Fault            </a:t>
            </a:r>
            <a:r>
              <a:rPr lang="en-US" i="1" dirty="0"/>
              <a:t>f = ab + c      f’ = ab + </a:t>
            </a:r>
            <a:r>
              <a:rPr lang="en-US" i="1" dirty="0" err="1"/>
              <a:t>bc</a:t>
            </a:r>
            <a:endParaRPr lang="en-US" i="1" dirty="0"/>
          </a:p>
          <a:p>
            <a:pPr>
              <a:lnSpc>
                <a:spcPct val="80000"/>
              </a:lnSpc>
            </a:pPr>
            <a:r>
              <a:rPr lang="en-US" dirty="0"/>
              <a:t>ORF+: Operator Reference Fault </a:t>
            </a:r>
            <a:r>
              <a:rPr lang="en-US" i="1" dirty="0"/>
              <a:t>f = ab + c      f’ = </a:t>
            </a:r>
            <a:r>
              <a:rPr lang="en-US" i="1" dirty="0" err="1"/>
              <a:t>abc</a:t>
            </a:r>
            <a:endParaRPr lang="en-US" i="1" dirty="0"/>
          </a:p>
          <a:p>
            <a:pPr>
              <a:lnSpc>
                <a:spcPct val="80000"/>
              </a:lnSpc>
            </a:pPr>
            <a:r>
              <a:rPr lang="en-US" dirty="0"/>
              <a:t>ORF*: Operator Reference Fault </a:t>
            </a:r>
            <a:r>
              <a:rPr lang="en-US" i="1" dirty="0"/>
              <a:t>f = ab + c      f’ = a + b + c</a:t>
            </a:r>
          </a:p>
          <a:p>
            <a:pPr>
              <a:lnSpc>
                <a:spcPct val="100000"/>
              </a:lnSpc>
              <a:buFontTx/>
              <a:buNone/>
            </a:pPr>
            <a:r>
              <a:rPr lang="en-US" i="1" dirty="0"/>
              <a:t>Key idea is that fault classes are related with respect to testing :</a:t>
            </a:r>
          </a:p>
          <a:p>
            <a:pPr>
              <a:lnSpc>
                <a:spcPct val="70000"/>
              </a:lnSpc>
              <a:buFontTx/>
              <a:buNone/>
            </a:pPr>
            <a:r>
              <a:rPr lang="en-US" i="1" dirty="0"/>
              <a:t>		</a:t>
            </a:r>
            <a:r>
              <a:rPr lang="en-US" dirty="0"/>
              <a:t>Test sets guaranteed to detect certain faults are also </a:t>
            </a:r>
          </a:p>
          <a:p>
            <a:pPr>
              <a:lnSpc>
                <a:spcPct val="70000"/>
              </a:lnSpc>
              <a:buFontTx/>
              <a:buNone/>
            </a:pPr>
            <a:r>
              <a:rPr lang="en-US" dirty="0"/>
              <a:t>		guaranteed to detect additional faults</a:t>
            </a:r>
          </a:p>
        </p:txBody>
      </p:sp>
      <p:sp>
        <p:nvSpPr>
          <p:cNvPr id="71684" name="Line 4"/>
          <p:cNvSpPr>
            <a:spLocks noChangeShapeType="1"/>
          </p:cNvSpPr>
          <p:nvPr/>
        </p:nvSpPr>
        <p:spPr bwMode="auto">
          <a:xfrm>
            <a:off x="9533771" y="2226760"/>
            <a:ext cx="165100" cy="0"/>
          </a:xfrm>
          <a:prstGeom prst="line">
            <a:avLst/>
          </a:prstGeom>
          <a:noFill/>
          <a:ln w="19050">
            <a:solidFill>
              <a:schemeClr val="tx1"/>
            </a:solidFill>
            <a:round/>
            <a:headEnd type="none" w="sm" len="sm"/>
            <a:tailEnd type="none" w="sm" len="sm"/>
          </a:ln>
        </p:spPr>
        <p:txBody>
          <a:bodyPr/>
          <a:lstStyle/>
          <a:p>
            <a:endParaRPr lang="en-US"/>
          </a:p>
        </p:txBody>
      </p:sp>
      <p:sp>
        <p:nvSpPr>
          <p:cNvPr id="71685" name="Line 5"/>
          <p:cNvSpPr>
            <a:spLocks noChangeShapeType="1"/>
          </p:cNvSpPr>
          <p:nvPr/>
        </p:nvSpPr>
        <p:spPr bwMode="auto">
          <a:xfrm flipV="1">
            <a:off x="9296480" y="813217"/>
            <a:ext cx="655637" cy="11112"/>
          </a:xfrm>
          <a:prstGeom prst="line">
            <a:avLst/>
          </a:prstGeom>
          <a:noFill/>
          <a:ln w="19050">
            <a:solidFill>
              <a:schemeClr val="tx1"/>
            </a:solidFill>
            <a:round/>
            <a:headEnd type="none" w="sm" len="sm"/>
            <a:tailEnd type="none" w="sm" len="sm"/>
          </a:ln>
        </p:spPr>
        <p:txBody>
          <a:bodyPr/>
          <a:lstStyle/>
          <a:p>
            <a:endParaRPr lang="en-US"/>
          </a:p>
        </p:txBody>
      </p:sp>
      <p:sp>
        <p:nvSpPr>
          <p:cNvPr id="71686" name="Line 6"/>
          <p:cNvSpPr>
            <a:spLocks noChangeShapeType="1"/>
          </p:cNvSpPr>
          <p:nvPr/>
        </p:nvSpPr>
        <p:spPr bwMode="auto">
          <a:xfrm>
            <a:off x="9371179" y="1284288"/>
            <a:ext cx="339725" cy="0"/>
          </a:xfrm>
          <a:prstGeom prst="line">
            <a:avLst/>
          </a:prstGeom>
          <a:noFill/>
          <a:ln w="19050">
            <a:solidFill>
              <a:schemeClr val="tx1"/>
            </a:solidFill>
            <a:round/>
            <a:headEnd type="none" w="sm" len="sm"/>
            <a:tailEnd type="none" w="sm" len="sm"/>
          </a:ln>
        </p:spPr>
        <p:txBody>
          <a:bodyPr/>
          <a:lstStyle/>
          <a:p>
            <a:endParaRPr lang="en-US"/>
          </a:p>
        </p:txBody>
      </p:sp>
      <p:sp>
        <p:nvSpPr>
          <p:cNvPr id="20488" name="Slide Number Placeholder 10"/>
          <p:cNvSpPr>
            <a:spLocks noGrp="1"/>
          </p:cNvSpPr>
          <p:nvPr>
            <p:ph type="sldNum" sz="quarter" idx="12"/>
          </p:nvPr>
        </p:nvSpPr>
        <p:spPr>
          <a:noFill/>
        </p:spPr>
        <p:txBody>
          <a:bodyPr/>
          <a:lstStyle/>
          <a:p>
            <a:fld id="{9C929712-2165-496C-B74D-D1B4DC13F2D2}" type="slidenum">
              <a:rPr lang="en-US" smtClean="0">
                <a:latin typeface="Arial" charset="0"/>
                <a:cs typeface="Arial" charset="0"/>
              </a:rPr>
              <a:pPr/>
              <a:t>12</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blinds(horizontal)">
                                      <p:cBhvr>
                                        <p:cTn id="7" dur="500"/>
                                        <p:tgtEl>
                                          <p:spTgt spid="7168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1685"/>
                                        </p:tgtEl>
                                        <p:attrNameLst>
                                          <p:attrName>style.visibility</p:attrName>
                                        </p:attrNameLst>
                                      </p:cBhvr>
                                      <p:to>
                                        <p:strVal val="visible"/>
                                      </p:to>
                                    </p:set>
                                    <p:animEffect transition="in" filter="blinds(horizontal)">
                                      <p:cBhvr>
                                        <p:cTn id="10" dur="500"/>
                                        <p:tgtEl>
                                          <p:spTgt spid="7168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1683">
                                            <p:txEl>
                                              <p:pRg st="1" end="1"/>
                                            </p:txEl>
                                          </p:spTgt>
                                        </p:tgtEl>
                                        <p:attrNameLst>
                                          <p:attrName>style.visibility</p:attrName>
                                        </p:attrNameLst>
                                      </p:cBhvr>
                                      <p:to>
                                        <p:strVal val="visible"/>
                                      </p:to>
                                    </p:set>
                                    <p:animEffect transition="in" filter="blinds(horizontal)">
                                      <p:cBhvr>
                                        <p:cTn id="15" dur="500"/>
                                        <p:tgtEl>
                                          <p:spTgt spid="71683">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1686"/>
                                        </p:tgtEl>
                                        <p:attrNameLst>
                                          <p:attrName>style.visibility</p:attrName>
                                        </p:attrNameLst>
                                      </p:cBhvr>
                                      <p:to>
                                        <p:strVal val="visible"/>
                                      </p:to>
                                    </p:set>
                                    <p:animEffect transition="in" filter="blinds(horizontal)">
                                      <p:cBhvr>
                                        <p:cTn id="18" dur="500"/>
                                        <p:tgtEl>
                                          <p:spTgt spid="7168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1683">
                                            <p:txEl>
                                              <p:pRg st="2" end="2"/>
                                            </p:txEl>
                                          </p:spTgt>
                                        </p:tgtEl>
                                        <p:attrNameLst>
                                          <p:attrName>style.visibility</p:attrName>
                                        </p:attrNameLst>
                                      </p:cBhvr>
                                      <p:to>
                                        <p:strVal val="visible"/>
                                      </p:to>
                                    </p:set>
                                    <p:animEffect transition="in" filter="blinds(horizontal)">
                                      <p:cBhvr>
                                        <p:cTn id="23" dur="500"/>
                                        <p:tgtEl>
                                          <p:spTgt spid="7168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1683">
                                            <p:txEl>
                                              <p:pRg st="3" end="3"/>
                                            </p:txEl>
                                          </p:spTgt>
                                        </p:tgtEl>
                                        <p:attrNameLst>
                                          <p:attrName>style.visibility</p:attrName>
                                        </p:attrNameLst>
                                      </p:cBhvr>
                                      <p:to>
                                        <p:strVal val="visible"/>
                                      </p:to>
                                    </p:set>
                                    <p:animEffect transition="in" filter="blinds(horizontal)">
                                      <p:cBhvr>
                                        <p:cTn id="28" dur="500"/>
                                        <p:tgtEl>
                                          <p:spTgt spid="71683">
                                            <p:txEl>
                                              <p:pRg st="3" end="3"/>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71684"/>
                                        </p:tgtEl>
                                        <p:attrNameLst>
                                          <p:attrName>style.visibility</p:attrName>
                                        </p:attrNameLst>
                                      </p:cBhvr>
                                      <p:to>
                                        <p:strVal val="visible"/>
                                      </p:to>
                                    </p:set>
                                    <p:animEffect transition="in" filter="blinds(horizontal)">
                                      <p:cBhvr>
                                        <p:cTn id="31" dur="500"/>
                                        <p:tgtEl>
                                          <p:spTgt spid="71684"/>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71683">
                                            <p:txEl>
                                              <p:pRg st="4" end="4"/>
                                            </p:txEl>
                                          </p:spTgt>
                                        </p:tgtEl>
                                        <p:attrNameLst>
                                          <p:attrName>style.visibility</p:attrName>
                                        </p:attrNameLst>
                                      </p:cBhvr>
                                      <p:to>
                                        <p:strVal val="visible"/>
                                      </p:to>
                                    </p:set>
                                    <p:animEffect transition="in" filter="blinds(horizontal)">
                                      <p:cBhvr>
                                        <p:cTn id="36" dur="500"/>
                                        <p:tgtEl>
                                          <p:spTgt spid="7168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71683">
                                            <p:txEl>
                                              <p:pRg st="5" end="5"/>
                                            </p:txEl>
                                          </p:spTgt>
                                        </p:tgtEl>
                                        <p:attrNameLst>
                                          <p:attrName>style.visibility</p:attrName>
                                        </p:attrNameLst>
                                      </p:cBhvr>
                                      <p:to>
                                        <p:strVal val="visible"/>
                                      </p:to>
                                    </p:set>
                                    <p:animEffect transition="in" filter="blinds(horizontal)">
                                      <p:cBhvr>
                                        <p:cTn id="41" dur="500"/>
                                        <p:tgtEl>
                                          <p:spTgt spid="71683">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71683">
                                            <p:txEl>
                                              <p:pRg st="6" end="6"/>
                                            </p:txEl>
                                          </p:spTgt>
                                        </p:tgtEl>
                                        <p:attrNameLst>
                                          <p:attrName>style.visibility</p:attrName>
                                        </p:attrNameLst>
                                      </p:cBhvr>
                                      <p:to>
                                        <p:strVal val="visible"/>
                                      </p:to>
                                    </p:set>
                                    <p:animEffect transition="in" filter="blinds(horizontal)">
                                      <p:cBhvr>
                                        <p:cTn id="46" dur="500"/>
                                        <p:tgtEl>
                                          <p:spTgt spid="71683">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1683">
                                            <p:txEl>
                                              <p:pRg st="7" end="7"/>
                                            </p:txEl>
                                          </p:spTgt>
                                        </p:tgtEl>
                                        <p:attrNameLst>
                                          <p:attrName>style.visibility</p:attrName>
                                        </p:attrNameLst>
                                      </p:cBhvr>
                                      <p:to>
                                        <p:strVal val="visible"/>
                                      </p:to>
                                    </p:set>
                                    <p:animEffect transition="in" filter="blinds(horizontal)">
                                      <p:cBhvr>
                                        <p:cTn id="51" dur="500"/>
                                        <p:tgtEl>
                                          <p:spTgt spid="71683">
                                            <p:txEl>
                                              <p:pRg st="7" end="7"/>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71683">
                                            <p:txEl>
                                              <p:pRg st="8" end="8"/>
                                            </p:txEl>
                                          </p:spTgt>
                                        </p:tgtEl>
                                        <p:attrNameLst>
                                          <p:attrName>style.visibility</p:attrName>
                                        </p:attrNameLst>
                                      </p:cBhvr>
                                      <p:to>
                                        <p:strVal val="visible"/>
                                      </p:to>
                                    </p:set>
                                    <p:animEffect transition="in" filter="blinds(horizontal)">
                                      <p:cBhvr>
                                        <p:cTn id="56" dur="500"/>
                                        <p:tgtEl>
                                          <p:spTgt spid="7168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71683">
                                            <p:txEl>
                                              <p:pRg st="9" end="9"/>
                                            </p:txEl>
                                          </p:spTgt>
                                        </p:tgtEl>
                                        <p:attrNameLst>
                                          <p:attrName>style.visibility</p:attrName>
                                        </p:attrNameLst>
                                      </p:cBhvr>
                                      <p:to>
                                        <p:strVal val="visible"/>
                                      </p:to>
                                    </p:set>
                                    <p:animEffect transition="in" filter="blinds(horizontal)">
                                      <p:cBhvr>
                                        <p:cTn id="61" dur="500"/>
                                        <p:tgtEl>
                                          <p:spTgt spid="71683">
                                            <p:txEl>
                                              <p:pRg st="9" end="9"/>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71683">
                                            <p:txEl>
                                              <p:pRg st="10" end="10"/>
                                            </p:txEl>
                                          </p:spTgt>
                                        </p:tgtEl>
                                        <p:attrNameLst>
                                          <p:attrName>style.visibility</p:attrName>
                                        </p:attrNameLst>
                                      </p:cBhvr>
                                      <p:to>
                                        <p:strVal val="visible"/>
                                      </p:to>
                                    </p:set>
                                    <p:animEffect transition="in" filter="blinds(horizontal)">
                                      <p:cBhvr>
                                        <p:cTn id="66" dur="500"/>
                                        <p:tgtEl>
                                          <p:spTgt spid="71683">
                                            <p:txEl>
                                              <p:pRg st="10" end="10"/>
                                            </p:txEl>
                                          </p:spTgt>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71683">
                                            <p:txEl>
                                              <p:pRg st="11" end="11"/>
                                            </p:txEl>
                                          </p:spTgt>
                                        </p:tgtEl>
                                        <p:attrNameLst>
                                          <p:attrName>style.visibility</p:attrName>
                                        </p:attrNameLst>
                                      </p:cBhvr>
                                      <p:to>
                                        <p:strVal val="visible"/>
                                      </p:to>
                                    </p:set>
                                    <p:animEffect transition="in" filter="blinds(horizontal)">
                                      <p:cBhvr>
                                        <p:cTn id="69" dur="500"/>
                                        <p:tgtEl>
                                          <p:spTgt spid="716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P spid="71684" grpId="0" animBg="1"/>
      <p:bldP spid="71685" grpId="0" animBg="1"/>
      <p:bldP spid="7168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title" idx="4294967295"/>
          </p:nvPr>
        </p:nvSpPr>
        <p:spPr>
          <a:xfrm>
            <a:off x="2119314" y="96838"/>
            <a:ext cx="7953375" cy="939800"/>
          </a:xfrm>
        </p:spPr>
        <p:txBody>
          <a:bodyPr/>
          <a:lstStyle/>
          <a:p>
            <a:r>
              <a:rPr lang="en-US"/>
              <a:t>Fault Detection Relationships</a:t>
            </a:r>
          </a:p>
        </p:txBody>
      </p:sp>
      <p:sp>
        <p:nvSpPr>
          <p:cNvPr id="21507" name="Rectangle 4"/>
          <p:cNvSpPr>
            <a:spLocks noChangeArrowheads="1"/>
          </p:cNvSpPr>
          <p:nvPr/>
        </p:nvSpPr>
        <p:spPr bwMode="auto">
          <a:xfrm>
            <a:off x="6553201" y="2555876"/>
            <a:ext cx="404813" cy="315913"/>
          </a:xfrm>
          <a:prstGeom prst="rect">
            <a:avLst/>
          </a:prstGeom>
          <a:noFill/>
          <a:ln w="12700">
            <a:noFill/>
            <a:miter lim="800000"/>
            <a:headEnd type="none" w="sm" len="sm"/>
            <a:tailEnd type="none" w="sm" len="sm"/>
          </a:ln>
        </p:spPr>
        <p:txBody>
          <a:bodyPr wrap="none" anchor="ctr"/>
          <a:lstStyle/>
          <a:p>
            <a:endParaRPr lang="en-US">
              <a:latin typeface="Gill Sans MT" panose="020B0502020104020203" pitchFamily="34" charset="0"/>
            </a:endParaRPr>
          </a:p>
        </p:txBody>
      </p:sp>
      <p:grpSp>
        <p:nvGrpSpPr>
          <p:cNvPr id="21508" name="Group 47"/>
          <p:cNvGrpSpPr>
            <a:grpSpLocks/>
          </p:cNvGrpSpPr>
          <p:nvPr/>
        </p:nvGrpSpPr>
        <p:grpSpPr bwMode="auto">
          <a:xfrm>
            <a:off x="5203826" y="5603876"/>
            <a:ext cx="1929711" cy="835025"/>
            <a:chOff x="2318" y="3351"/>
            <a:chExt cx="1123" cy="526"/>
          </a:xfrm>
        </p:grpSpPr>
        <p:sp>
          <p:nvSpPr>
            <p:cNvPr id="21547" name="Text Box 11"/>
            <p:cNvSpPr txBox="1">
              <a:spLocks noChangeArrowheads="1"/>
            </p:cNvSpPr>
            <p:nvPr/>
          </p:nvSpPr>
          <p:spPr bwMode="auto">
            <a:xfrm>
              <a:off x="2318" y="3351"/>
              <a:ext cx="1123" cy="526"/>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Expression Negation Fault</a:t>
              </a:r>
            </a:p>
            <a:p>
              <a:pPr algn="ctr">
                <a:lnSpc>
                  <a:spcPct val="70000"/>
                </a:lnSpc>
                <a:spcBef>
                  <a:spcPct val="50000"/>
                </a:spcBef>
              </a:pPr>
              <a:r>
                <a:rPr lang="en-US" sz="1800">
                  <a:solidFill>
                    <a:schemeClr val="tx1"/>
                  </a:solidFill>
                  <a:latin typeface="Gill Sans MT" panose="020B0502020104020203" pitchFamily="34" charset="0"/>
                </a:rPr>
                <a:t>ENF</a:t>
              </a:r>
            </a:p>
          </p:txBody>
        </p:sp>
        <p:sp>
          <p:nvSpPr>
            <p:cNvPr id="21548" name="Line 12"/>
            <p:cNvSpPr>
              <a:spLocks noChangeShapeType="1"/>
            </p:cNvSpPr>
            <p:nvPr/>
          </p:nvSpPr>
          <p:spPr bwMode="auto">
            <a:xfrm flipV="1">
              <a:off x="2420" y="3646"/>
              <a:ext cx="925" cy="13"/>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grpSp>
        <p:nvGrpSpPr>
          <p:cNvPr id="21509" name="Group 22"/>
          <p:cNvGrpSpPr>
            <a:grpSpLocks/>
          </p:cNvGrpSpPr>
          <p:nvPr/>
        </p:nvGrpSpPr>
        <p:grpSpPr bwMode="auto">
          <a:xfrm>
            <a:off x="2420938" y="935039"/>
            <a:ext cx="1988007" cy="835025"/>
            <a:chOff x="3145" y="576"/>
            <a:chExt cx="1099" cy="526"/>
          </a:xfrm>
        </p:grpSpPr>
        <p:sp>
          <p:nvSpPr>
            <p:cNvPr id="21545" name="Text Box 23"/>
            <p:cNvSpPr txBox="1">
              <a:spLocks noChangeArrowheads="1"/>
            </p:cNvSpPr>
            <p:nvPr/>
          </p:nvSpPr>
          <p:spPr bwMode="auto">
            <a:xfrm>
              <a:off x="3145" y="576"/>
              <a:ext cx="1099" cy="526"/>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Literal Insertion Fault</a:t>
              </a:r>
            </a:p>
            <a:p>
              <a:pPr algn="ctr">
                <a:lnSpc>
                  <a:spcPct val="70000"/>
                </a:lnSpc>
                <a:spcBef>
                  <a:spcPct val="50000"/>
                </a:spcBef>
              </a:pPr>
              <a:r>
                <a:rPr lang="en-US" sz="1800">
                  <a:solidFill>
                    <a:schemeClr val="tx1"/>
                  </a:solidFill>
                  <a:latin typeface="Gill Sans MT" panose="020B0502020104020203" pitchFamily="34" charset="0"/>
                </a:rPr>
                <a:t>LIF</a:t>
              </a:r>
            </a:p>
          </p:txBody>
        </p:sp>
        <p:sp>
          <p:nvSpPr>
            <p:cNvPr id="21546" name="Line 24"/>
            <p:cNvSpPr>
              <a:spLocks noChangeShapeType="1"/>
            </p:cNvSpPr>
            <p:nvPr/>
          </p:nvSpPr>
          <p:spPr bwMode="auto">
            <a:xfrm>
              <a:off x="3225" y="879"/>
              <a:ext cx="938"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sp>
        <p:nvSpPr>
          <p:cNvPr id="21510" name="Line 38"/>
          <p:cNvSpPr>
            <a:spLocks noChangeShapeType="1"/>
          </p:cNvSpPr>
          <p:nvPr/>
        </p:nvSpPr>
        <p:spPr bwMode="auto">
          <a:xfrm>
            <a:off x="3303589" y="4522789"/>
            <a:ext cx="1874837" cy="1538287"/>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11" name="Line 41"/>
          <p:cNvSpPr>
            <a:spLocks noChangeShapeType="1"/>
          </p:cNvSpPr>
          <p:nvPr/>
        </p:nvSpPr>
        <p:spPr bwMode="auto">
          <a:xfrm>
            <a:off x="4249738" y="1392239"/>
            <a:ext cx="882650" cy="212725"/>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grpSp>
        <p:nvGrpSpPr>
          <p:cNvPr id="21512" name="Group 19"/>
          <p:cNvGrpSpPr>
            <a:grpSpLocks/>
          </p:cNvGrpSpPr>
          <p:nvPr/>
        </p:nvGrpSpPr>
        <p:grpSpPr bwMode="auto">
          <a:xfrm>
            <a:off x="2444750" y="2255839"/>
            <a:ext cx="2043472" cy="835025"/>
            <a:chOff x="3153" y="1294"/>
            <a:chExt cx="1092" cy="526"/>
          </a:xfrm>
        </p:grpSpPr>
        <p:sp>
          <p:nvSpPr>
            <p:cNvPr id="21543" name="Text Box 20"/>
            <p:cNvSpPr txBox="1">
              <a:spLocks noChangeArrowheads="1"/>
            </p:cNvSpPr>
            <p:nvPr/>
          </p:nvSpPr>
          <p:spPr bwMode="auto">
            <a:xfrm>
              <a:off x="3153" y="1294"/>
              <a:ext cx="1092" cy="526"/>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Term Omission Fault</a:t>
              </a:r>
            </a:p>
            <a:p>
              <a:pPr algn="ctr">
                <a:lnSpc>
                  <a:spcPct val="70000"/>
                </a:lnSpc>
                <a:spcBef>
                  <a:spcPct val="50000"/>
                </a:spcBef>
              </a:pPr>
              <a:r>
                <a:rPr lang="en-US" sz="1800">
                  <a:solidFill>
                    <a:schemeClr val="tx1"/>
                  </a:solidFill>
                  <a:latin typeface="Gill Sans MT" panose="020B0502020104020203" pitchFamily="34" charset="0"/>
                </a:rPr>
                <a:t>TOF</a:t>
              </a:r>
            </a:p>
          </p:txBody>
        </p:sp>
        <p:sp>
          <p:nvSpPr>
            <p:cNvPr id="21544" name="Line 21"/>
            <p:cNvSpPr>
              <a:spLocks noChangeShapeType="1"/>
            </p:cNvSpPr>
            <p:nvPr/>
          </p:nvSpPr>
          <p:spPr bwMode="auto">
            <a:xfrm>
              <a:off x="3233" y="1603"/>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grpSp>
        <p:nvGrpSpPr>
          <p:cNvPr id="21513" name="Group 47"/>
          <p:cNvGrpSpPr>
            <a:grpSpLocks/>
          </p:cNvGrpSpPr>
          <p:nvPr/>
        </p:nvGrpSpPr>
        <p:grpSpPr bwMode="auto">
          <a:xfrm>
            <a:off x="5154613" y="1589089"/>
            <a:ext cx="1988134" cy="824737"/>
            <a:chOff x="3153" y="1294"/>
            <a:chExt cx="1092" cy="481"/>
          </a:xfrm>
        </p:grpSpPr>
        <p:sp>
          <p:nvSpPr>
            <p:cNvPr id="21541" name="Text Box 48"/>
            <p:cNvSpPr txBox="1">
              <a:spLocks noChangeArrowheads="1"/>
            </p:cNvSpPr>
            <p:nvPr/>
          </p:nvSpPr>
          <p:spPr bwMode="auto">
            <a:xfrm>
              <a:off x="3153" y="1294"/>
              <a:ext cx="1092" cy="481"/>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Literal Reference Fault</a:t>
              </a:r>
            </a:p>
            <a:p>
              <a:pPr algn="ctr">
                <a:lnSpc>
                  <a:spcPct val="70000"/>
                </a:lnSpc>
                <a:spcBef>
                  <a:spcPct val="50000"/>
                </a:spcBef>
              </a:pPr>
              <a:r>
                <a:rPr lang="en-US" sz="1800">
                  <a:solidFill>
                    <a:schemeClr val="tx1"/>
                  </a:solidFill>
                  <a:latin typeface="Gill Sans MT" panose="020B0502020104020203" pitchFamily="34" charset="0"/>
                </a:rPr>
                <a:t>LRF</a:t>
              </a:r>
            </a:p>
          </p:txBody>
        </p:sp>
        <p:sp>
          <p:nvSpPr>
            <p:cNvPr id="21542" name="Line 49"/>
            <p:cNvSpPr>
              <a:spLocks noChangeShapeType="1"/>
            </p:cNvSpPr>
            <p:nvPr/>
          </p:nvSpPr>
          <p:spPr bwMode="auto">
            <a:xfrm>
              <a:off x="3233" y="1579"/>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grpSp>
        <p:nvGrpSpPr>
          <p:cNvPr id="21514" name="Group 53"/>
          <p:cNvGrpSpPr>
            <a:grpSpLocks/>
          </p:cNvGrpSpPr>
          <p:nvPr/>
        </p:nvGrpSpPr>
        <p:grpSpPr bwMode="auto">
          <a:xfrm>
            <a:off x="5149850" y="2917826"/>
            <a:ext cx="2000163" cy="835025"/>
            <a:chOff x="3153" y="1294"/>
            <a:chExt cx="1092" cy="526"/>
          </a:xfrm>
        </p:grpSpPr>
        <p:sp>
          <p:nvSpPr>
            <p:cNvPr id="21539" name="Text Box 54"/>
            <p:cNvSpPr txBox="1">
              <a:spLocks noChangeArrowheads="1"/>
            </p:cNvSpPr>
            <p:nvPr/>
          </p:nvSpPr>
          <p:spPr bwMode="auto">
            <a:xfrm>
              <a:off x="3153" y="1294"/>
              <a:ext cx="1092" cy="526"/>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Literal Negation Fault</a:t>
              </a:r>
            </a:p>
            <a:p>
              <a:pPr algn="ctr">
                <a:lnSpc>
                  <a:spcPct val="70000"/>
                </a:lnSpc>
                <a:spcBef>
                  <a:spcPct val="50000"/>
                </a:spcBef>
              </a:pPr>
              <a:r>
                <a:rPr lang="en-US" sz="1800">
                  <a:solidFill>
                    <a:schemeClr val="tx1"/>
                  </a:solidFill>
                  <a:latin typeface="Gill Sans MT" panose="020B0502020104020203" pitchFamily="34" charset="0"/>
                </a:rPr>
                <a:t>LNF</a:t>
              </a:r>
            </a:p>
          </p:txBody>
        </p:sp>
        <p:sp>
          <p:nvSpPr>
            <p:cNvPr id="21540" name="Line 55"/>
            <p:cNvSpPr>
              <a:spLocks noChangeShapeType="1"/>
            </p:cNvSpPr>
            <p:nvPr/>
          </p:nvSpPr>
          <p:spPr bwMode="auto">
            <a:xfrm>
              <a:off x="3233" y="1603"/>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grpSp>
        <p:nvGrpSpPr>
          <p:cNvPr id="21515" name="Group 50"/>
          <p:cNvGrpSpPr>
            <a:grpSpLocks/>
          </p:cNvGrpSpPr>
          <p:nvPr/>
        </p:nvGrpSpPr>
        <p:grpSpPr bwMode="auto">
          <a:xfrm>
            <a:off x="2451100" y="3665538"/>
            <a:ext cx="1984542" cy="825500"/>
            <a:chOff x="3153" y="1294"/>
            <a:chExt cx="1092" cy="520"/>
          </a:xfrm>
        </p:grpSpPr>
        <p:sp>
          <p:nvSpPr>
            <p:cNvPr id="21537" name="Text Box 51"/>
            <p:cNvSpPr txBox="1">
              <a:spLocks noChangeArrowheads="1"/>
            </p:cNvSpPr>
            <p:nvPr/>
          </p:nvSpPr>
          <p:spPr bwMode="auto">
            <a:xfrm>
              <a:off x="3153" y="1294"/>
              <a:ext cx="1092" cy="520"/>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Operator Reference Fault</a:t>
              </a:r>
            </a:p>
            <a:p>
              <a:pPr algn="ctr">
                <a:lnSpc>
                  <a:spcPct val="70000"/>
                </a:lnSpc>
                <a:spcBef>
                  <a:spcPct val="50000"/>
                </a:spcBef>
              </a:pPr>
              <a:r>
                <a:rPr lang="en-US" sz="1800">
                  <a:solidFill>
                    <a:schemeClr val="tx1"/>
                  </a:solidFill>
                  <a:latin typeface="Gill Sans MT" panose="020B0502020104020203" pitchFamily="34" charset="0"/>
                </a:rPr>
                <a:t>ORF+</a:t>
              </a:r>
            </a:p>
          </p:txBody>
        </p:sp>
        <p:sp>
          <p:nvSpPr>
            <p:cNvPr id="21538" name="Line 52"/>
            <p:cNvSpPr>
              <a:spLocks noChangeShapeType="1"/>
            </p:cNvSpPr>
            <p:nvPr/>
          </p:nvSpPr>
          <p:spPr bwMode="auto">
            <a:xfrm>
              <a:off x="3233" y="1617"/>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grpSp>
        <p:nvGrpSpPr>
          <p:cNvPr id="21516" name="Group 56"/>
          <p:cNvGrpSpPr>
            <a:grpSpLocks/>
          </p:cNvGrpSpPr>
          <p:nvPr/>
        </p:nvGrpSpPr>
        <p:grpSpPr bwMode="auto">
          <a:xfrm>
            <a:off x="7900988" y="2117726"/>
            <a:ext cx="2033086" cy="835025"/>
            <a:chOff x="3153" y="1294"/>
            <a:chExt cx="1092" cy="539"/>
          </a:xfrm>
        </p:grpSpPr>
        <p:sp>
          <p:nvSpPr>
            <p:cNvPr id="21535" name="Text Box 57"/>
            <p:cNvSpPr txBox="1">
              <a:spLocks noChangeArrowheads="1"/>
            </p:cNvSpPr>
            <p:nvPr/>
          </p:nvSpPr>
          <p:spPr bwMode="auto">
            <a:xfrm>
              <a:off x="3153" y="1294"/>
              <a:ext cx="1092" cy="539"/>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Literal Omission Fault</a:t>
              </a:r>
            </a:p>
            <a:p>
              <a:pPr algn="ctr">
                <a:lnSpc>
                  <a:spcPct val="70000"/>
                </a:lnSpc>
                <a:spcBef>
                  <a:spcPct val="50000"/>
                </a:spcBef>
              </a:pPr>
              <a:r>
                <a:rPr lang="en-US" sz="1800">
                  <a:solidFill>
                    <a:schemeClr val="tx1"/>
                  </a:solidFill>
                  <a:latin typeface="Gill Sans MT" panose="020B0502020104020203" pitchFamily="34" charset="0"/>
                </a:rPr>
                <a:t>LOF</a:t>
              </a:r>
            </a:p>
          </p:txBody>
        </p:sp>
        <p:sp>
          <p:nvSpPr>
            <p:cNvPr id="21536" name="Line 58"/>
            <p:cNvSpPr>
              <a:spLocks noChangeShapeType="1"/>
            </p:cNvSpPr>
            <p:nvPr/>
          </p:nvSpPr>
          <p:spPr bwMode="auto">
            <a:xfrm>
              <a:off x="3233" y="1617"/>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sp>
        <p:nvSpPr>
          <p:cNvPr id="21517" name="Line 63"/>
          <p:cNvSpPr>
            <a:spLocks noChangeShapeType="1"/>
          </p:cNvSpPr>
          <p:nvPr/>
        </p:nvSpPr>
        <p:spPr bwMode="auto">
          <a:xfrm flipH="1">
            <a:off x="3365499" y="1787525"/>
            <a:ext cx="3466" cy="425450"/>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18" name="Line 66"/>
          <p:cNvSpPr>
            <a:spLocks noChangeShapeType="1"/>
          </p:cNvSpPr>
          <p:nvPr/>
        </p:nvSpPr>
        <p:spPr bwMode="auto">
          <a:xfrm>
            <a:off x="6086476" y="5113338"/>
            <a:ext cx="22225" cy="463550"/>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19" name="Line 63"/>
          <p:cNvSpPr>
            <a:spLocks noChangeShapeType="1"/>
          </p:cNvSpPr>
          <p:nvPr/>
        </p:nvSpPr>
        <p:spPr bwMode="auto">
          <a:xfrm flipH="1">
            <a:off x="3365499" y="3127376"/>
            <a:ext cx="3466" cy="468313"/>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grpSp>
        <p:nvGrpSpPr>
          <p:cNvPr id="21520" name="Group 53"/>
          <p:cNvGrpSpPr>
            <a:grpSpLocks/>
          </p:cNvGrpSpPr>
          <p:nvPr/>
        </p:nvGrpSpPr>
        <p:grpSpPr bwMode="auto">
          <a:xfrm>
            <a:off x="5160963" y="4276726"/>
            <a:ext cx="2000163" cy="835025"/>
            <a:chOff x="3153" y="1294"/>
            <a:chExt cx="1092" cy="526"/>
          </a:xfrm>
        </p:grpSpPr>
        <p:sp>
          <p:nvSpPr>
            <p:cNvPr id="21533" name="Text Box 54"/>
            <p:cNvSpPr txBox="1">
              <a:spLocks noChangeArrowheads="1"/>
            </p:cNvSpPr>
            <p:nvPr/>
          </p:nvSpPr>
          <p:spPr bwMode="auto">
            <a:xfrm>
              <a:off x="3153" y="1294"/>
              <a:ext cx="1092" cy="526"/>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a:solidFill>
                    <a:schemeClr val="tx1"/>
                  </a:solidFill>
                  <a:latin typeface="Gill Sans MT" panose="020B0502020104020203" pitchFamily="34" charset="0"/>
                </a:rPr>
                <a:t>Term Negation Fault</a:t>
              </a:r>
            </a:p>
            <a:p>
              <a:pPr algn="ctr">
                <a:lnSpc>
                  <a:spcPct val="70000"/>
                </a:lnSpc>
                <a:spcBef>
                  <a:spcPct val="50000"/>
                </a:spcBef>
              </a:pPr>
              <a:r>
                <a:rPr lang="en-US" sz="1800">
                  <a:solidFill>
                    <a:schemeClr val="tx1"/>
                  </a:solidFill>
                  <a:latin typeface="Gill Sans MT" panose="020B0502020104020203" pitchFamily="34" charset="0"/>
                </a:rPr>
                <a:t>TNF</a:t>
              </a:r>
            </a:p>
          </p:txBody>
        </p:sp>
        <p:sp>
          <p:nvSpPr>
            <p:cNvPr id="21534" name="Line 55"/>
            <p:cNvSpPr>
              <a:spLocks noChangeShapeType="1"/>
            </p:cNvSpPr>
            <p:nvPr/>
          </p:nvSpPr>
          <p:spPr bwMode="auto">
            <a:xfrm>
              <a:off x="3233" y="1597"/>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sp>
        <p:nvSpPr>
          <p:cNvPr id="21521" name="Line 41"/>
          <p:cNvSpPr>
            <a:spLocks noChangeShapeType="1"/>
          </p:cNvSpPr>
          <p:nvPr/>
        </p:nvSpPr>
        <p:spPr bwMode="auto">
          <a:xfrm>
            <a:off x="4325939" y="2533650"/>
            <a:ext cx="858837" cy="374650"/>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22" name="Line 63"/>
          <p:cNvSpPr>
            <a:spLocks noChangeShapeType="1"/>
          </p:cNvSpPr>
          <p:nvPr/>
        </p:nvSpPr>
        <p:spPr bwMode="auto">
          <a:xfrm flipH="1">
            <a:off x="6086476" y="3756026"/>
            <a:ext cx="3175" cy="479425"/>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23" name="Line 63"/>
          <p:cNvSpPr>
            <a:spLocks noChangeShapeType="1"/>
          </p:cNvSpPr>
          <p:nvPr/>
        </p:nvSpPr>
        <p:spPr bwMode="auto">
          <a:xfrm flipH="1">
            <a:off x="6097589" y="2484439"/>
            <a:ext cx="3175" cy="414337"/>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grpSp>
        <p:nvGrpSpPr>
          <p:cNvPr id="21524" name="Group 56"/>
          <p:cNvGrpSpPr>
            <a:grpSpLocks/>
          </p:cNvGrpSpPr>
          <p:nvPr/>
        </p:nvGrpSpPr>
        <p:grpSpPr bwMode="auto">
          <a:xfrm>
            <a:off x="7921626" y="3500439"/>
            <a:ext cx="1984761" cy="824757"/>
            <a:chOff x="3153" y="1294"/>
            <a:chExt cx="1092" cy="487"/>
          </a:xfrm>
        </p:grpSpPr>
        <p:sp>
          <p:nvSpPr>
            <p:cNvPr id="21531" name="Text Box 57"/>
            <p:cNvSpPr txBox="1">
              <a:spLocks noChangeArrowheads="1"/>
            </p:cNvSpPr>
            <p:nvPr/>
          </p:nvSpPr>
          <p:spPr bwMode="auto">
            <a:xfrm>
              <a:off x="3153" y="1294"/>
              <a:ext cx="1092" cy="487"/>
            </a:xfrm>
            <a:prstGeom prst="rect">
              <a:avLst/>
            </a:prstGeom>
            <a:solidFill>
              <a:srgbClr val="0066FF"/>
            </a:solidFill>
            <a:ln w="28575">
              <a:solidFill>
                <a:schemeClr val="tx1"/>
              </a:solidFill>
              <a:miter lim="800000"/>
              <a:headEnd type="none" w="sm" len="sm"/>
              <a:tailEnd type="none" w="sm" len="sm"/>
            </a:ln>
          </p:spPr>
          <p:txBody>
            <a:bodyPr>
              <a:spAutoFit/>
            </a:bodyPr>
            <a:lstStyle/>
            <a:p>
              <a:pPr algn="ctr">
                <a:lnSpc>
                  <a:spcPct val="70000"/>
                </a:lnSpc>
                <a:spcBef>
                  <a:spcPct val="50000"/>
                </a:spcBef>
              </a:pPr>
              <a:r>
                <a:rPr lang="en-US" sz="1800" dirty="0">
                  <a:solidFill>
                    <a:schemeClr val="tx1"/>
                  </a:solidFill>
                  <a:latin typeface="Gill Sans MT" panose="020B0502020104020203" pitchFamily="34" charset="0"/>
                </a:rPr>
                <a:t>Operator Reference Fault</a:t>
              </a:r>
            </a:p>
            <a:p>
              <a:pPr algn="ctr">
                <a:lnSpc>
                  <a:spcPct val="70000"/>
                </a:lnSpc>
                <a:spcBef>
                  <a:spcPct val="50000"/>
                </a:spcBef>
              </a:pPr>
              <a:r>
                <a:rPr lang="en-US" sz="1800" dirty="0">
                  <a:solidFill>
                    <a:schemeClr val="tx1"/>
                  </a:solidFill>
                  <a:latin typeface="Gill Sans MT" panose="020B0502020104020203" pitchFamily="34" charset="0"/>
                </a:rPr>
                <a:t>ORF*</a:t>
              </a:r>
            </a:p>
          </p:txBody>
        </p:sp>
        <p:sp>
          <p:nvSpPr>
            <p:cNvPr id="21532" name="Line 58"/>
            <p:cNvSpPr>
              <a:spLocks noChangeShapeType="1"/>
            </p:cNvSpPr>
            <p:nvPr/>
          </p:nvSpPr>
          <p:spPr bwMode="auto">
            <a:xfrm>
              <a:off x="3233" y="1585"/>
              <a:ext cx="931" cy="0"/>
            </a:xfrm>
            <a:prstGeom prst="line">
              <a:avLst/>
            </a:prstGeom>
            <a:noFill/>
            <a:ln w="28575">
              <a:solidFill>
                <a:schemeClr val="tx1"/>
              </a:solidFill>
              <a:round/>
              <a:headEnd type="none" w="sm" len="sm"/>
              <a:tailEnd type="none" w="sm" len="sm"/>
            </a:ln>
          </p:spPr>
          <p:txBody>
            <a:bodyPr/>
            <a:lstStyle/>
            <a:p>
              <a:endParaRPr lang="en-US">
                <a:latin typeface="Gill Sans MT" panose="020B0502020104020203" pitchFamily="34" charset="0"/>
              </a:endParaRPr>
            </a:p>
          </p:txBody>
        </p:sp>
      </p:grpSp>
      <p:sp>
        <p:nvSpPr>
          <p:cNvPr id="21525" name="Line 38"/>
          <p:cNvSpPr>
            <a:spLocks noChangeShapeType="1"/>
          </p:cNvSpPr>
          <p:nvPr/>
        </p:nvSpPr>
        <p:spPr bwMode="auto">
          <a:xfrm flipH="1">
            <a:off x="7018339" y="3795713"/>
            <a:ext cx="911225" cy="417512"/>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26" name="Line 38"/>
          <p:cNvSpPr>
            <a:spLocks noChangeShapeType="1"/>
          </p:cNvSpPr>
          <p:nvPr/>
        </p:nvSpPr>
        <p:spPr bwMode="auto">
          <a:xfrm flipH="1">
            <a:off x="7007226" y="2541588"/>
            <a:ext cx="900113" cy="328612"/>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27" name="Line 63"/>
          <p:cNvSpPr>
            <a:spLocks noChangeShapeType="1"/>
          </p:cNvSpPr>
          <p:nvPr/>
        </p:nvSpPr>
        <p:spPr bwMode="auto">
          <a:xfrm flipH="1">
            <a:off x="8807451" y="3017838"/>
            <a:ext cx="3175" cy="425450"/>
          </a:xfrm>
          <a:prstGeom prst="line">
            <a:avLst/>
          </a:prstGeom>
          <a:noFill/>
          <a:ln w="38100">
            <a:solidFill>
              <a:schemeClr val="tx1"/>
            </a:solidFill>
            <a:round/>
            <a:headEnd type="none" w="sm" len="sm"/>
            <a:tailEnd type="triangle" w="med" len="med"/>
          </a:ln>
        </p:spPr>
        <p:txBody>
          <a:bodyPr/>
          <a:lstStyle/>
          <a:p>
            <a:endParaRPr lang="en-US">
              <a:latin typeface="Gill Sans MT" panose="020B0502020104020203" pitchFamily="34" charset="0"/>
            </a:endParaRPr>
          </a:p>
        </p:txBody>
      </p:sp>
      <p:sp>
        <p:nvSpPr>
          <p:cNvPr id="21529" name="Slide Number Placeholder 48"/>
          <p:cNvSpPr>
            <a:spLocks noGrp="1"/>
          </p:cNvSpPr>
          <p:nvPr>
            <p:ph type="sldNum" sz="quarter" idx="12"/>
          </p:nvPr>
        </p:nvSpPr>
        <p:spPr>
          <a:noFill/>
        </p:spPr>
        <p:txBody>
          <a:bodyPr/>
          <a:lstStyle/>
          <a:p>
            <a:fld id="{F871EDAF-74B4-40A8-90FB-E6EAF10C4FD0}" type="slidenum">
              <a:rPr lang="en-US" smtClean="0">
                <a:latin typeface="Arial" charset="0"/>
                <a:cs typeface="Arial" charset="0"/>
              </a:rPr>
              <a:pPr/>
              <a:t>13</a:t>
            </a:fld>
            <a:endParaRPr lang="en-US">
              <a:latin typeface="Arial" charset="0"/>
              <a:cs typeface="Arial" charset="0"/>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FCA71A-BB47-4F12-94C8-58BF5BF97F8B}"/>
              </a:ext>
            </a:extLst>
          </p:cNvPr>
          <p:cNvSpPr>
            <a:spLocks noGrp="1"/>
          </p:cNvSpPr>
          <p:nvPr>
            <p:ph type="title"/>
          </p:nvPr>
        </p:nvSpPr>
        <p:spPr/>
        <p:txBody>
          <a:bodyPr/>
          <a:lstStyle/>
          <a:p>
            <a:r>
              <a:rPr lang="en-US" altLang="zh-CN" dirty="0"/>
              <a:t>MUTP</a:t>
            </a:r>
            <a:r>
              <a:rPr lang="zh-CN" altLang="en-US" dirty="0"/>
              <a:t>可以检测所有的</a:t>
            </a:r>
            <a:r>
              <a:rPr lang="en-US" altLang="zh-CN" dirty="0"/>
              <a:t>LIF</a:t>
            </a:r>
            <a:endParaRPr lang="zh-CN" altLang="en-US" dirty="0"/>
          </a:p>
        </p:txBody>
      </p:sp>
      <p:sp>
        <p:nvSpPr>
          <p:cNvPr id="3" name="内容占位符 2">
            <a:extLst>
              <a:ext uri="{FF2B5EF4-FFF2-40B4-BE49-F238E27FC236}">
                <a16:creationId xmlns:a16="http://schemas.microsoft.com/office/drawing/2014/main" id="{975C6E93-DBDD-4CB6-9D47-1C0A202B1483}"/>
              </a:ext>
            </a:extLst>
          </p:cNvPr>
          <p:cNvSpPr>
            <a:spLocks noGrp="1"/>
          </p:cNvSpPr>
          <p:nvPr>
            <p:ph idx="1"/>
          </p:nvPr>
        </p:nvSpPr>
        <p:spPr>
          <a:xfrm>
            <a:off x="1662114" y="876300"/>
            <a:ext cx="8867775" cy="5539248"/>
          </a:xfrm>
        </p:spPr>
        <p:txBody>
          <a:bodyPr/>
          <a:lstStyle/>
          <a:p>
            <a:pPr>
              <a:lnSpc>
                <a:spcPct val="100000"/>
              </a:lnSpc>
              <a:buSzTx/>
              <a:defRPr/>
            </a:pPr>
            <a:r>
              <a:rPr lang="en-US" altLang="zh-CN" dirty="0"/>
              <a:t>Take f=</a:t>
            </a:r>
            <a:r>
              <a:rPr lang="en-US" altLang="zh-CN" dirty="0" err="1"/>
              <a:t>ab+cd</a:t>
            </a:r>
            <a:r>
              <a:rPr lang="zh-CN" altLang="en-US" dirty="0"/>
              <a:t> </a:t>
            </a:r>
            <a:r>
              <a:rPr lang="en-US" altLang="zh-CN" dirty="0"/>
              <a:t>as</a:t>
            </a:r>
            <a:r>
              <a:rPr lang="zh-CN" altLang="en-US" dirty="0"/>
              <a:t> </a:t>
            </a:r>
            <a:r>
              <a:rPr lang="en-US" altLang="zh-CN" dirty="0"/>
              <a:t>example,</a:t>
            </a:r>
            <a:r>
              <a:rPr lang="zh-CN" altLang="en-US" dirty="0"/>
              <a:t> </a:t>
            </a:r>
            <a:r>
              <a:rPr lang="en-US" altLang="zh-CN" dirty="0"/>
              <a:t>suppose f is written as </a:t>
            </a:r>
            <a:r>
              <a:rPr lang="en-US" altLang="zh-CN" dirty="0" err="1"/>
              <a:t>abl+cd</a:t>
            </a:r>
            <a:endParaRPr lang="en-US" altLang="zh-CN" dirty="0"/>
          </a:p>
          <a:p>
            <a:pPr lvl="1"/>
            <a:r>
              <a:rPr lang="en-US" altLang="zh-CN" dirty="0"/>
              <a:t>If</a:t>
            </a:r>
            <a:r>
              <a:rPr lang="zh-CN" altLang="en-US" dirty="0"/>
              <a:t> </a:t>
            </a:r>
            <a:r>
              <a:rPr lang="en-US" altLang="zh-CN" dirty="0"/>
              <a:t>l</a:t>
            </a:r>
            <a:r>
              <a:rPr lang="zh-CN" altLang="en-US" dirty="0"/>
              <a:t> </a:t>
            </a:r>
            <a:r>
              <a:rPr lang="en-US" altLang="zh-CN" dirty="0"/>
              <a:t>is</a:t>
            </a:r>
            <a:r>
              <a:rPr lang="zh-CN" altLang="en-US" dirty="0"/>
              <a:t> </a:t>
            </a:r>
            <a:r>
              <a:rPr lang="en-US" altLang="zh-CN" dirty="0"/>
              <a:t>a,</a:t>
            </a:r>
            <a:r>
              <a:rPr lang="zh-CN" altLang="en-US" dirty="0"/>
              <a:t> </a:t>
            </a:r>
            <a:r>
              <a:rPr lang="en-US" altLang="zh-CN" dirty="0"/>
              <a:t>then the value of ab won’t change.</a:t>
            </a:r>
            <a:r>
              <a:rPr lang="zh-CN" altLang="en-US" dirty="0"/>
              <a:t> </a:t>
            </a:r>
            <a:r>
              <a:rPr lang="en-US" altLang="zh-CN" dirty="0"/>
              <a:t>It does not matter.</a:t>
            </a:r>
            <a:endParaRPr lang="zh-CN" altLang="en-US" dirty="0"/>
          </a:p>
          <a:p>
            <a:pPr lvl="1"/>
            <a:r>
              <a:rPr lang="en-US" altLang="zh-CN" dirty="0"/>
              <a:t>If</a:t>
            </a:r>
            <a:r>
              <a:rPr lang="zh-CN" altLang="en-US" dirty="0"/>
              <a:t> </a:t>
            </a:r>
            <a:r>
              <a:rPr lang="en-US" altLang="zh-CN" dirty="0"/>
              <a:t>l</a:t>
            </a:r>
            <a:r>
              <a:rPr lang="zh-CN" altLang="en-US" dirty="0"/>
              <a:t> </a:t>
            </a:r>
            <a:r>
              <a:rPr lang="en-US" altLang="zh-CN" dirty="0"/>
              <a:t>is</a:t>
            </a:r>
            <a:r>
              <a:rPr lang="zh-CN" altLang="en-US" dirty="0"/>
              <a:t> </a:t>
            </a:r>
            <a:r>
              <a:rPr lang="en-US" altLang="zh-CN" dirty="0"/>
              <a:t>a’,</a:t>
            </a:r>
            <a:r>
              <a:rPr lang="zh-CN" altLang="en-US" dirty="0"/>
              <a:t> </a:t>
            </a:r>
            <a:r>
              <a:rPr lang="en-US" altLang="zh-CN" dirty="0"/>
              <a:t>then the fault can be detected by TTFT</a:t>
            </a:r>
            <a:r>
              <a:rPr lang="zh-CN" altLang="en-US" dirty="0"/>
              <a:t> </a:t>
            </a:r>
            <a:r>
              <a:rPr lang="en-US" altLang="zh-CN" dirty="0"/>
              <a:t>and</a:t>
            </a:r>
            <a:r>
              <a:rPr lang="zh-CN" altLang="en-US" dirty="0"/>
              <a:t> </a:t>
            </a:r>
            <a:r>
              <a:rPr lang="en-US" altLang="zh-CN" dirty="0"/>
              <a:t>TTTF with MUTP. i.e. the expected result is T, but the actual result is F.</a:t>
            </a:r>
          </a:p>
          <a:p>
            <a:pPr lvl="1"/>
            <a:r>
              <a:rPr lang="en-US" altLang="zh-CN" dirty="0"/>
              <a:t>If</a:t>
            </a:r>
            <a:r>
              <a:rPr lang="zh-CN" altLang="en-US" dirty="0"/>
              <a:t> </a:t>
            </a:r>
            <a:r>
              <a:rPr lang="en-US" altLang="zh-CN" dirty="0"/>
              <a:t>l</a:t>
            </a:r>
            <a:r>
              <a:rPr lang="zh-CN" altLang="en-US" dirty="0"/>
              <a:t> </a:t>
            </a:r>
            <a:r>
              <a:rPr lang="en-US" altLang="zh-CN" dirty="0"/>
              <a:t>is</a:t>
            </a:r>
            <a:r>
              <a:rPr lang="zh-CN" altLang="en-US" dirty="0"/>
              <a:t> </a:t>
            </a:r>
            <a:r>
              <a:rPr lang="en-US" altLang="zh-CN" dirty="0"/>
              <a:t>c,</a:t>
            </a:r>
            <a:r>
              <a:rPr lang="zh-CN" altLang="en-US" dirty="0"/>
              <a:t> </a:t>
            </a:r>
            <a:r>
              <a:rPr lang="en-US" altLang="zh-CN" dirty="0"/>
              <a:t>then the fault can be detected by TTFT</a:t>
            </a:r>
            <a:r>
              <a:rPr lang="zh-CN" altLang="en-US" dirty="0"/>
              <a:t> </a:t>
            </a:r>
            <a:r>
              <a:rPr lang="en-US" altLang="zh-CN" dirty="0"/>
              <a:t>with MUTP. i.e. the expected result is T, but the actual result is F.</a:t>
            </a:r>
          </a:p>
          <a:p>
            <a:pPr lvl="1"/>
            <a:r>
              <a:rPr lang="en-US" altLang="zh-CN" dirty="0"/>
              <a:t>If</a:t>
            </a:r>
            <a:r>
              <a:rPr lang="zh-CN" altLang="en-US" dirty="0"/>
              <a:t> </a:t>
            </a:r>
            <a:r>
              <a:rPr lang="en-US" altLang="zh-CN" dirty="0"/>
              <a:t>l</a:t>
            </a:r>
            <a:r>
              <a:rPr lang="zh-CN" altLang="en-US" dirty="0"/>
              <a:t> </a:t>
            </a:r>
            <a:r>
              <a:rPr lang="en-US" altLang="zh-CN" dirty="0"/>
              <a:t>is</a:t>
            </a:r>
            <a:r>
              <a:rPr lang="zh-CN" altLang="en-US" dirty="0"/>
              <a:t> </a:t>
            </a:r>
            <a:r>
              <a:rPr lang="en-US" altLang="zh-CN" dirty="0"/>
              <a:t>c’,</a:t>
            </a:r>
            <a:r>
              <a:rPr lang="zh-CN" altLang="en-US" dirty="0"/>
              <a:t> </a:t>
            </a:r>
            <a:r>
              <a:rPr lang="en-US" altLang="zh-CN" dirty="0"/>
              <a:t>then the fault can be detected by TTTF with MUTP. i.e. the expected result is T, but the actual result is F.</a:t>
            </a:r>
          </a:p>
        </p:txBody>
      </p:sp>
      <p:sp>
        <p:nvSpPr>
          <p:cNvPr id="4" name="灯片编号占位符 3">
            <a:extLst>
              <a:ext uri="{FF2B5EF4-FFF2-40B4-BE49-F238E27FC236}">
                <a16:creationId xmlns:a16="http://schemas.microsoft.com/office/drawing/2014/main" id="{95AC37FB-9BEA-4235-B27A-DEF2ACFA9994}"/>
              </a:ext>
            </a:extLst>
          </p:cNvPr>
          <p:cNvSpPr>
            <a:spLocks noGrp="1"/>
          </p:cNvSpPr>
          <p:nvPr>
            <p:ph type="sldNum" sz="quarter" idx="12"/>
          </p:nvPr>
        </p:nvSpPr>
        <p:spPr/>
        <p:txBody>
          <a:bodyPr/>
          <a:lstStyle/>
          <a:p>
            <a:pPr>
              <a:defRPr/>
            </a:pPr>
            <a:fld id="{87403644-4D52-41F6-89B9-DF8667E14DBC}" type="slidenum">
              <a:rPr lang="en-US" smtClean="0"/>
              <a:pPr>
                <a:defRPr/>
              </a:pPr>
              <a:t>14</a:t>
            </a:fld>
            <a:endParaRPr lang="en-US"/>
          </a:p>
        </p:txBody>
      </p:sp>
    </p:spTree>
    <p:extLst>
      <p:ext uri="{BB962C8B-B14F-4D97-AF65-F5344CB8AC3E}">
        <p14:creationId xmlns:p14="http://schemas.microsoft.com/office/powerpoint/2010/main" val="1702597600"/>
      </p:ext>
    </p:extLst>
  </p:cSld>
  <p:clrMapOvr>
    <a:masterClrMapping/>
  </p:clrMapOvr>
  <p:transition spd="med" advTm="22890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20523-F9FF-4193-8C3E-D2AB023A4B61}"/>
              </a:ext>
            </a:extLst>
          </p:cNvPr>
          <p:cNvSpPr>
            <a:spLocks noGrp="1"/>
          </p:cNvSpPr>
          <p:nvPr>
            <p:ph type="title"/>
          </p:nvPr>
        </p:nvSpPr>
        <p:spPr/>
        <p:txBody>
          <a:bodyPr/>
          <a:lstStyle/>
          <a:p>
            <a:r>
              <a:rPr lang="en-US" altLang="zh-CN" dirty="0"/>
              <a:t>CUTPNFP</a:t>
            </a:r>
            <a:r>
              <a:rPr lang="zh-CN" altLang="en-US" dirty="0"/>
              <a:t>可以检测所有的</a:t>
            </a:r>
            <a:r>
              <a:rPr lang="en-US" altLang="zh-CN" dirty="0"/>
              <a:t>LOF</a:t>
            </a:r>
            <a:endParaRPr lang="zh-CN" altLang="en-US" dirty="0"/>
          </a:p>
        </p:txBody>
      </p:sp>
      <p:sp>
        <p:nvSpPr>
          <p:cNvPr id="3" name="内容占位符 2">
            <a:extLst>
              <a:ext uri="{FF2B5EF4-FFF2-40B4-BE49-F238E27FC236}">
                <a16:creationId xmlns:a16="http://schemas.microsoft.com/office/drawing/2014/main" id="{5A213AA3-B1AC-4B49-8483-88D80252A7C6}"/>
              </a:ext>
            </a:extLst>
          </p:cNvPr>
          <p:cNvSpPr>
            <a:spLocks noGrp="1"/>
          </p:cNvSpPr>
          <p:nvPr>
            <p:ph idx="1"/>
          </p:nvPr>
        </p:nvSpPr>
        <p:spPr/>
        <p:txBody>
          <a:bodyPr/>
          <a:lstStyle/>
          <a:p>
            <a:pPr>
              <a:lnSpc>
                <a:spcPct val="100000"/>
              </a:lnSpc>
              <a:buSzTx/>
              <a:defRPr/>
            </a:pPr>
            <a:r>
              <a:rPr lang="en-US" altLang="zh-CN" dirty="0"/>
              <a:t>Take f=</a:t>
            </a:r>
            <a:r>
              <a:rPr lang="en-US" altLang="zh-CN" dirty="0" err="1"/>
              <a:t>ab+cd</a:t>
            </a:r>
            <a:r>
              <a:rPr lang="zh-CN" altLang="en-US" dirty="0"/>
              <a:t> </a:t>
            </a:r>
            <a:r>
              <a:rPr lang="en-US" altLang="zh-CN" dirty="0"/>
              <a:t>as</a:t>
            </a:r>
            <a:r>
              <a:rPr lang="zh-CN" altLang="en-US" dirty="0"/>
              <a:t> </a:t>
            </a:r>
            <a:r>
              <a:rPr lang="en-US" altLang="zh-CN" dirty="0"/>
              <a:t>example,</a:t>
            </a:r>
            <a:r>
              <a:rPr lang="zh-CN" altLang="en-US" dirty="0"/>
              <a:t> </a:t>
            </a:r>
            <a:r>
              <a:rPr lang="en-US" altLang="zh-CN" dirty="0"/>
              <a:t>suppose c is omitted and f is written as </a:t>
            </a:r>
            <a:r>
              <a:rPr lang="en-US" altLang="zh-CN" dirty="0" err="1"/>
              <a:t>ab+d</a:t>
            </a:r>
            <a:endParaRPr lang="en-US" altLang="zh-CN" dirty="0"/>
          </a:p>
          <a:p>
            <a:pPr lvl="1"/>
            <a:r>
              <a:rPr lang="en-US" altLang="zh-CN" dirty="0"/>
              <a:t>the fault can be detected by FFTT (UTP)</a:t>
            </a:r>
            <a:r>
              <a:rPr lang="zh-CN" altLang="en-US" dirty="0"/>
              <a:t> </a:t>
            </a:r>
            <a:r>
              <a:rPr lang="en-US" altLang="zh-CN" dirty="0"/>
              <a:t>and</a:t>
            </a:r>
            <a:r>
              <a:rPr lang="zh-CN" altLang="en-US" dirty="0"/>
              <a:t> </a:t>
            </a:r>
            <a:r>
              <a:rPr lang="en-US" altLang="zh-CN" dirty="0"/>
              <a:t>FFFT (NFP) with CUTPNFP. i.e. the expected result of UTP is T, the expected result of NFP is F, but the actual result of NFP is T.</a:t>
            </a:r>
          </a:p>
          <a:p>
            <a:endParaRPr lang="zh-CN" altLang="en-US" dirty="0"/>
          </a:p>
        </p:txBody>
      </p:sp>
      <p:sp>
        <p:nvSpPr>
          <p:cNvPr id="4" name="灯片编号占位符 3">
            <a:extLst>
              <a:ext uri="{FF2B5EF4-FFF2-40B4-BE49-F238E27FC236}">
                <a16:creationId xmlns:a16="http://schemas.microsoft.com/office/drawing/2014/main" id="{2DE9690D-DD01-4076-9658-BB4B60C15319}"/>
              </a:ext>
            </a:extLst>
          </p:cNvPr>
          <p:cNvSpPr>
            <a:spLocks noGrp="1"/>
          </p:cNvSpPr>
          <p:nvPr>
            <p:ph type="sldNum" sz="quarter" idx="12"/>
          </p:nvPr>
        </p:nvSpPr>
        <p:spPr/>
        <p:txBody>
          <a:bodyPr/>
          <a:lstStyle/>
          <a:p>
            <a:pPr>
              <a:defRPr/>
            </a:pPr>
            <a:fld id="{87403644-4D52-41F6-89B9-DF8667E14DBC}" type="slidenum">
              <a:rPr lang="en-US" smtClean="0"/>
              <a:pPr>
                <a:defRPr/>
              </a:pPr>
              <a:t>15</a:t>
            </a:fld>
            <a:endParaRPr lang="en-US"/>
          </a:p>
        </p:txBody>
      </p:sp>
    </p:spTree>
    <p:extLst>
      <p:ext uri="{BB962C8B-B14F-4D97-AF65-F5344CB8AC3E}">
        <p14:creationId xmlns:p14="http://schemas.microsoft.com/office/powerpoint/2010/main" val="1647353533"/>
      </p:ext>
    </p:extLst>
  </p:cSld>
  <p:clrMapOvr>
    <a:masterClrMapping/>
  </p:clrMapOvr>
  <p:transition spd="med" advTm="85083"/>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0B43D2-E05B-4992-85CB-67737F85F444}"/>
              </a:ext>
            </a:extLst>
          </p:cNvPr>
          <p:cNvSpPr>
            <a:spLocks noGrp="1"/>
          </p:cNvSpPr>
          <p:nvPr>
            <p:ph type="title"/>
          </p:nvPr>
        </p:nvSpPr>
        <p:spPr/>
        <p:txBody>
          <a:bodyPr/>
          <a:lstStyle/>
          <a:p>
            <a:r>
              <a:rPr lang="en-US" altLang="zh-CN" sz="2800" dirty="0"/>
              <a:t>Comparison between Syntactic  and Semantic Coverage Criterion</a:t>
            </a:r>
            <a:endParaRPr lang="zh-CN" altLang="en-US" sz="2800" dirty="0"/>
          </a:p>
        </p:txBody>
      </p:sp>
      <p:sp>
        <p:nvSpPr>
          <p:cNvPr id="3" name="内容占位符 2">
            <a:extLst>
              <a:ext uri="{FF2B5EF4-FFF2-40B4-BE49-F238E27FC236}">
                <a16:creationId xmlns:a16="http://schemas.microsoft.com/office/drawing/2014/main" id="{6DF65CAB-4A70-4E01-BAAD-269F4365E3F4}"/>
              </a:ext>
            </a:extLst>
          </p:cNvPr>
          <p:cNvSpPr>
            <a:spLocks noGrp="1"/>
          </p:cNvSpPr>
          <p:nvPr>
            <p:ph idx="1"/>
          </p:nvPr>
        </p:nvSpPr>
        <p:spPr/>
        <p:txBody>
          <a:bodyPr/>
          <a:lstStyle/>
          <a:p>
            <a:r>
              <a:rPr lang="en-US" altLang="zh-CN" dirty="0"/>
              <a:t>Compared to a semantic coverage criterion such as RACC, MUMCUT is quite </a:t>
            </a:r>
            <a:r>
              <a:rPr lang="en-US" altLang="zh-CN" b="1" dirty="0">
                <a:solidFill>
                  <a:srgbClr val="FFFF00"/>
                </a:solidFill>
              </a:rPr>
              <a:t>expensive in terms of the number of tests</a:t>
            </a:r>
            <a:r>
              <a:rPr lang="en-US" altLang="zh-CN" dirty="0"/>
              <a:t> needed for a given predicate. </a:t>
            </a:r>
            <a:endParaRPr lang="zh-CN" altLang="zh-CN" dirty="0"/>
          </a:p>
          <a:p>
            <a:r>
              <a:rPr lang="en-US" altLang="zh-CN" dirty="0"/>
              <a:t>Significant benefit to extra tests. </a:t>
            </a:r>
            <a:endParaRPr lang="zh-CN" altLang="zh-CN" dirty="0"/>
          </a:p>
          <a:p>
            <a:pPr lvl="1"/>
            <a:r>
              <a:rPr lang="en-US" altLang="zh-CN" dirty="0"/>
              <a:t>From a theoretical perspective, RACC is only guaranteed to detect all instances of the TNF and ENF faults. RACC tests are not guaranteed to detect the faults for the other seven fault classes. </a:t>
            </a:r>
            <a:endParaRPr lang="zh-CN" altLang="zh-CN" dirty="0"/>
          </a:p>
          <a:p>
            <a:pPr lvl="1"/>
            <a:r>
              <a:rPr lang="en-US" altLang="zh-CN" dirty="0"/>
              <a:t>In practice, researchers have found that RACC tests only detect about one-third of the faults from the fault hierarchy, failing to detect two-thirds. </a:t>
            </a:r>
            <a:endParaRPr lang="zh-CN" altLang="zh-CN" dirty="0"/>
          </a:p>
          <a:p>
            <a:pPr lvl="1"/>
            <a:r>
              <a:rPr lang="en-US" altLang="zh-CN" dirty="0"/>
              <a:t>Thus, MUMCUT should be considered when testing applications where the consequences of failures are especially severe.</a:t>
            </a:r>
            <a:endParaRPr lang="zh-CN" altLang="zh-CN" dirty="0"/>
          </a:p>
          <a:p>
            <a:endParaRPr lang="zh-CN" altLang="en-US" dirty="0"/>
          </a:p>
        </p:txBody>
      </p:sp>
      <p:sp>
        <p:nvSpPr>
          <p:cNvPr id="4" name="灯片编号占位符 3">
            <a:extLst>
              <a:ext uri="{FF2B5EF4-FFF2-40B4-BE49-F238E27FC236}">
                <a16:creationId xmlns:a16="http://schemas.microsoft.com/office/drawing/2014/main" id="{2DAD580A-4D4F-4A89-84D6-852DFAE3B606}"/>
              </a:ext>
            </a:extLst>
          </p:cNvPr>
          <p:cNvSpPr>
            <a:spLocks noGrp="1"/>
          </p:cNvSpPr>
          <p:nvPr>
            <p:ph type="sldNum" sz="quarter" idx="12"/>
          </p:nvPr>
        </p:nvSpPr>
        <p:spPr/>
        <p:txBody>
          <a:bodyPr/>
          <a:lstStyle/>
          <a:p>
            <a:pPr>
              <a:defRPr/>
            </a:pPr>
            <a:fld id="{87403644-4D52-41F6-89B9-DF8667E14DBC}" type="slidenum">
              <a:rPr lang="en-US" smtClean="0"/>
              <a:pPr>
                <a:defRPr/>
              </a:pPr>
              <a:t>16</a:t>
            </a:fld>
            <a:endParaRPr lang="en-US"/>
          </a:p>
        </p:txBody>
      </p:sp>
    </p:spTree>
    <p:extLst>
      <p:ext uri="{BB962C8B-B14F-4D97-AF65-F5344CB8AC3E}">
        <p14:creationId xmlns:p14="http://schemas.microsoft.com/office/powerpoint/2010/main" val="302199226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1545086" y="103188"/>
            <a:ext cx="9087584" cy="1256381"/>
          </a:xfrm>
        </p:spPr>
        <p:txBody>
          <a:bodyPr/>
          <a:lstStyle/>
          <a:p>
            <a:r>
              <a:rPr lang="en-US" sz="3200" dirty="0" err="1"/>
              <a:t>Karnaugh</a:t>
            </a:r>
            <a:r>
              <a:rPr lang="en-US" sz="3200" dirty="0"/>
              <a:t> Maps for Testing Logic Expressions</a:t>
            </a:r>
          </a:p>
        </p:txBody>
      </p:sp>
      <p:sp>
        <p:nvSpPr>
          <p:cNvPr id="75779" name="Rectangle 3"/>
          <p:cNvSpPr>
            <a:spLocks noGrp="1" noChangeArrowheads="1"/>
          </p:cNvSpPr>
          <p:nvPr>
            <p:ph type="body" idx="4294967295"/>
          </p:nvPr>
        </p:nvSpPr>
        <p:spPr/>
        <p:txBody>
          <a:bodyPr/>
          <a:lstStyle/>
          <a:p>
            <a:r>
              <a:rPr lang="en-US" dirty="0"/>
              <a:t>Fair Warning</a:t>
            </a:r>
          </a:p>
          <a:p>
            <a:pPr lvl="1"/>
            <a:r>
              <a:rPr lang="en-US" dirty="0"/>
              <a:t>We </a:t>
            </a:r>
            <a:r>
              <a:rPr lang="en-US" i="1" dirty="0"/>
              <a:t>use</a:t>
            </a:r>
            <a:r>
              <a:rPr lang="en-US" dirty="0"/>
              <a:t>, rather than </a:t>
            </a:r>
            <a:r>
              <a:rPr lang="en-US" i="1" dirty="0"/>
              <a:t>teach</a:t>
            </a:r>
            <a:r>
              <a:rPr lang="en-US" dirty="0"/>
              <a:t>, </a:t>
            </a:r>
            <a:r>
              <a:rPr lang="en-US" dirty="0" err="1"/>
              <a:t>Karnaugh</a:t>
            </a:r>
            <a:r>
              <a:rPr lang="en-US" dirty="0"/>
              <a:t> Maps</a:t>
            </a:r>
          </a:p>
          <a:p>
            <a:pPr lvl="1"/>
            <a:r>
              <a:rPr lang="en-US" dirty="0"/>
              <a:t>Newcomers to </a:t>
            </a:r>
            <a:r>
              <a:rPr lang="en-US" dirty="0" err="1"/>
              <a:t>Karnaugh</a:t>
            </a:r>
            <a:r>
              <a:rPr lang="en-US" dirty="0"/>
              <a:t> Maps probably need a tutorial</a:t>
            </a:r>
          </a:p>
          <a:p>
            <a:pPr lvl="2"/>
            <a:r>
              <a:rPr lang="en-US" dirty="0"/>
              <a:t>Suggestion:  Google “</a:t>
            </a:r>
            <a:r>
              <a:rPr lang="en-US" dirty="0" err="1"/>
              <a:t>Karnaugh</a:t>
            </a:r>
            <a:r>
              <a:rPr lang="en-US" dirty="0"/>
              <a:t> Map Tutorial”</a:t>
            </a:r>
          </a:p>
          <a:p>
            <a:r>
              <a:rPr lang="en-US" dirty="0"/>
              <a:t>Our goal:  Apply </a:t>
            </a:r>
            <a:r>
              <a:rPr lang="en-US" dirty="0" err="1"/>
              <a:t>Karnaugh</a:t>
            </a:r>
            <a:r>
              <a:rPr lang="en-US" dirty="0"/>
              <a:t> Maps to concepts used to test logic expressions</a:t>
            </a:r>
          </a:p>
          <a:p>
            <a:pPr lvl="1">
              <a:lnSpc>
                <a:spcPct val="80000"/>
              </a:lnSpc>
            </a:pPr>
            <a:r>
              <a:rPr lang="en-US" dirty="0"/>
              <a:t>Identify when a clause determines a predicate</a:t>
            </a:r>
          </a:p>
          <a:p>
            <a:pPr lvl="1">
              <a:lnSpc>
                <a:spcPct val="80000"/>
              </a:lnSpc>
            </a:pPr>
            <a:r>
              <a:rPr lang="en-US" dirty="0"/>
              <a:t>Identify the negation of a predicate</a:t>
            </a:r>
          </a:p>
          <a:p>
            <a:pPr lvl="1">
              <a:lnSpc>
                <a:spcPct val="80000"/>
              </a:lnSpc>
            </a:pPr>
            <a:r>
              <a:rPr lang="en-US" dirty="0"/>
              <a:t>Identify prime implicants and redundant implicants</a:t>
            </a:r>
          </a:p>
          <a:p>
            <a:pPr lvl="1">
              <a:lnSpc>
                <a:spcPct val="80000"/>
              </a:lnSpc>
            </a:pPr>
            <a:r>
              <a:rPr lang="en-US" dirty="0"/>
              <a:t>Identify unique true points</a:t>
            </a:r>
          </a:p>
          <a:p>
            <a:pPr lvl="1">
              <a:lnSpc>
                <a:spcPct val="80000"/>
              </a:lnSpc>
            </a:pPr>
            <a:r>
              <a:rPr lang="en-US" dirty="0"/>
              <a:t>Identify unique true point / near false point pairs</a:t>
            </a:r>
          </a:p>
          <a:p>
            <a:r>
              <a:rPr lang="en-US" dirty="0"/>
              <a:t>No new material here on </a:t>
            </a:r>
            <a:r>
              <a:rPr lang="en-US" i="1" dirty="0"/>
              <a:t>testing</a:t>
            </a:r>
          </a:p>
          <a:p>
            <a:pPr lvl="1"/>
            <a:r>
              <a:rPr lang="en-US" dirty="0"/>
              <a:t>Just fast shortcuts for concepts already presented</a:t>
            </a:r>
          </a:p>
        </p:txBody>
      </p:sp>
      <p:sp>
        <p:nvSpPr>
          <p:cNvPr id="23557" name="Slide Number Placeholder 7"/>
          <p:cNvSpPr>
            <a:spLocks noGrp="1"/>
          </p:cNvSpPr>
          <p:nvPr>
            <p:ph type="sldNum" sz="quarter" idx="12"/>
          </p:nvPr>
        </p:nvSpPr>
        <p:spPr>
          <a:noFill/>
        </p:spPr>
        <p:txBody>
          <a:bodyPr/>
          <a:lstStyle/>
          <a:p>
            <a:fld id="{D5FDFE39-85D8-4341-A02E-1AFF3E28308D}" type="slidenum">
              <a:rPr lang="en-US" smtClean="0">
                <a:latin typeface="Arial" charset="0"/>
                <a:cs typeface="Arial" charset="0"/>
              </a:rPr>
              <a:pPr/>
              <a:t>17</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79">
                                            <p:txEl>
                                              <p:pRg st="2" end="2"/>
                                            </p:txEl>
                                          </p:spTgt>
                                        </p:tgtEl>
                                        <p:attrNameLst>
                                          <p:attrName>style.visibility</p:attrName>
                                        </p:attrNameLst>
                                      </p:cBhvr>
                                      <p:to>
                                        <p:strVal val="visible"/>
                                      </p:to>
                                    </p:set>
                                    <p:animEffect transition="in" filter="blinds(horizontal)">
                                      <p:cBhvr>
                                        <p:cTn id="7" dur="500"/>
                                        <p:tgtEl>
                                          <p:spTgt spid="75779">
                                            <p:txEl>
                                              <p:pRg st="2" end="2"/>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5779">
                                            <p:txEl>
                                              <p:pRg st="3" end="3"/>
                                            </p:txEl>
                                          </p:spTgt>
                                        </p:tgtEl>
                                        <p:attrNameLst>
                                          <p:attrName>style.visibility</p:attrName>
                                        </p:attrNameLst>
                                      </p:cBhvr>
                                      <p:to>
                                        <p:strVal val="visible"/>
                                      </p:to>
                                    </p:set>
                                    <p:animEffect transition="in" filter="blinds(horizontal)">
                                      <p:cBhvr>
                                        <p:cTn id="10" dur="500"/>
                                        <p:tgtEl>
                                          <p:spTgt spid="75779">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5779">
                                            <p:txEl>
                                              <p:pRg st="4" end="4"/>
                                            </p:txEl>
                                          </p:spTgt>
                                        </p:tgtEl>
                                        <p:attrNameLst>
                                          <p:attrName>style.visibility</p:attrName>
                                        </p:attrNameLst>
                                      </p:cBhvr>
                                      <p:to>
                                        <p:strVal val="visible"/>
                                      </p:to>
                                    </p:set>
                                    <p:animEffect transition="in" filter="blinds(horizontal)">
                                      <p:cBhvr>
                                        <p:cTn id="15" dur="500"/>
                                        <p:tgtEl>
                                          <p:spTgt spid="75779">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5779">
                                            <p:txEl>
                                              <p:pRg st="5" end="5"/>
                                            </p:txEl>
                                          </p:spTgt>
                                        </p:tgtEl>
                                        <p:attrNameLst>
                                          <p:attrName>style.visibility</p:attrName>
                                        </p:attrNameLst>
                                      </p:cBhvr>
                                      <p:to>
                                        <p:strVal val="visible"/>
                                      </p:to>
                                    </p:set>
                                    <p:animEffect transition="in" filter="blinds(horizontal)">
                                      <p:cBhvr>
                                        <p:cTn id="20" dur="500"/>
                                        <p:tgtEl>
                                          <p:spTgt spid="75779">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5779">
                                            <p:txEl>
                                              <p:pRg st="6" end="6"/>
                                            </p:txEl>
                                          </p:spTgt>
                                        </p:tgtEl>
                                        <p:attrNameLst>
                                          <p:attrName>style.visibility</p:attrName>
                                        </p:attrNameLst>
                                      </p:cBhvr>
                                      <p:to>
                                        <p:strVal val="visible"/>
                                      </p:to>
                                    </p:set>
                                    <p:animEffect transition="in" filter="blinds(horizontal)">
                                      <p:cBhvr>
                                        <p:cTn id="25" dur="500"/>
                                        <p:tgtEl>
                                          <p:spTgt spid="75779">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5779">
                                            <p:txEl>
                                              <p:pRg st="7" end="7"/>
                                            </p:txEl>
                                          </p:spTgt>
                                        </p:tgtEl>
                                        <p:attrNameLst>
                                          <p:attrName>style.visibility</p:attrName>
                                        </p:attrNameLst>
                                      </p:cBhvr>
                                      <p:to>
                                        <p:strVal val="visible"/>
                                      </p:to>
                                    </p:set>
                                    <p:animEffect transition="in" filter="blinds(horizontal)">
                                      <p:cBhvr>
                                        <p:cTn id="30" dur="500"/>
                                        <p:tgtEl>
                                          <p:spTgt spid="75779">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5779">
                                            <p:txEl>
                                              <p:pRg st="8" end="8"/>
                                            </p:txEl>
                                          </p:spTgt>
                                        </p:tgtEl>
                                        <p:attrNameLst>
                                          <p:attrName>style.visibility</p:attrName>
                                        </p:attrNameLst>
                                      </p:cBhvr>
                                      <p:to>
                                        <p:strVal val="visible"/>
                                      </p:to>
                                    </p:set>
                                    <p:animEffect transition="in" filter="blinds(horizontal)">
                                      <p:cBhvr>
                                        <p:cTn id="35" dur="500"/>
                                        <p:tgtEl>
                                          <p:spTgt spid="75779">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75779">
                                            <p:txEl>
                                              <p:pRg st="9" end="9"/>
                                            </p:txEl>
                                          </p:spTgt>
                                        </p:tgtEl>
                                        <p:attrNameLst>
                                          <p:attrName>style.visibility</p:attrName>
                                        </p:attrNameLst>
                                      </p:cBhvr>
                                      <p:to>
                                        <p:strVal val="visible"/>
                                      </p:to>
                                    </p:set>
                                    <p:animEffect transition="in" filter="blinds(horizontal)">
                                      <p:cBhvr>
                                        <p:cTn id="40" dur="500"/>
                                        <p:tgtEl>
                                          <p:spTgt spid="75779">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75779">
                                            <p:txEl>
                                              <p:pRg st="10" end="10"/>
                                            </p:txEl>
                                          </p:spTgt>
                                        </p:tgtEl>
                                        <p:attrNameLst>
                                          <p:attrName>style.visibility</p:attrName>
                                        </p:attrNameLst>
                                      </p:cBhvr>
                                      <p:to>
                                        <p:strVal val="visible"/>
                                      </p:to>
                                    </p:set>
                                    <p:animEffect transition="in" filter="blinds(horizontal)">
                                      <p:cBhvr>
                                        <p:cTn id="45" dur="500"/>
                                        <p:tgtEl>
                                          <p:spTgt spid="75779">
                                            <p:txEl>
                                              <p:pRg st="10" end="10"/>
                                            </p:txEl>
                                          </p:spTgt>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75779">
                                            <p:txEl>
                                              <p:pRg st="11" end="11"/>
                                            </p:txEl>
                                          </p:spTgt>
                                        </p:tgtEl>
                                        <p:attrNameLst>
                                          <p:attrName>style.visibility</p:attrName>
                                        </p:attrNameLst>
                                      </p:cBhvr>
                                      <p:to>
                                        <p:strVal val="visible"/>
                                      </p:to>
                                    </p:set>
                                    <p:animEffect transition="in" filter="blinds(horizontal)">
                                      <p:cBhvr>
                                        <p:cTn id="48" dur="500"/>
                                        <p:tgtEl>
                                          <p:spTgt spid="7577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p:txBody>
          <a:bodyPr/>
          <a:lstStyle/>
          <a:p>
            <a:r>
              <a:rPr lang="en-US" dirty="0"/>
              <a:t>K-Map</a:t>
            </a:r>
            <a:r>
              <a:rPr lang="en-US" sz="2800" dirty="0"/>
              <a:t>:  A Clause Determines a Predicate</a:t>
            </a:r>
          </a:p>
        </p:txBody>
      </p:sp>
      <p:sp>
        <p:nvSpPr>
          <p:cNvPr id="79875" name="Rectangle 3"/>
          <p:cNvSpPr>
            <a:spLocks noGrp="1" noChangeArrowheads="1"/>
          </p:cNvSpPr>
          <p:nvPr>
            <p:ph type="body" idx="4294967295"/>
          </p:nvPr>
        </p:nvSpPr>
        <p:spPr/>
        <p:txBody>
          <a:bodyPr/>
          <a:lstStyle/>
          <a:p>
            <a:pPr>
              <a:lnSpc>
                <a:spcPct val="80000"/>
              </a:lnSpc>
            </a:pPr>
            <a:r>
              <a:rPr lang="en-US" dirty="0"/>
              <a:t>Consider the predicate :  </a:t>
            </a:r>
            <a:r>
              <a:rPr lang="en-US" i="1" dirty="0"/>
              <a:t>f = b + ac + ac</a:t>
            </a:r>
          </a:p>
          <a:p>
            <a:pPr>
              <a:lnSpc>
                <a:spcPct val="80000"/>
              </a:lnSpc>
            </a:pPr>
            <a:r>
              <a:rPr lang="en-US" dirty="0"/>
              <a:t>Suppose we want to identify when </a:t>
            </a:r>
            <a:r>
              <a:rPr lang="en-US" i="1" dirty="0"/>
              <a:t>b</a:t>
            </a:r>
            <a:r>
              <a:rPr lang="en-US" dirty="0"/>
              <a:t> determines </a:t>
            </a:r>
            <a:r>
              <a:rPr lang="en-US" i="1" dirty="0"/>
              <a:t>f</a:t>
            </a:r>
          </a:p>
          <a:p>
            <a:pPr>
              <a:lnSpc>
                <a:spcPct val="80000"/>
              </a:lnSpc>
            </a:pPr>
            <a:r>
              <a:rPr lang="en-US" dirty="0"/>
              <a:t>The dashed line highlights where </a:t>
            </a:r>
            <a:r>
              <a:rPr lang="en-US" i="1" dirty="0"/>
              <a:t>b</a:t>
            </a:r>
            <a:r>
              <a:rPr lang="en-US" dirty="0"/>
              <a:t> changes value</a:t>
            </a:r>
          </a:p>
          <a:p>
            <a:pPr lvl="1">
              <a:lnSpc>
                <a:spcPct val="80000"/>
              </a:lnSpc>
            </a:pPr>
            <a:r>
              <a:rPr lang="en-US" dirty="0"/>
              <a:t>If two cells joined by the dashed line have different values for</a:t>
            </a:r>
            <a:r>
              <a:rPr lang="en-US" i="1" dirty="0"/>
              <a:t> f</a:t>
            </a:r>
            <a:r>
              <a:rPr lang="en-US" dirty="0"/>
              <a:t>, then </a:t>
            </a:r>
            <a:r>
              <a:rPr lang="en-US" i="1" dirty="0"/>
              <a:t>b</a:t>
            </a:r>
            <a:r>
              <a:rPr lang="en-US" dirty="0"/>
              <a:t> determines </a:t>
            </a:r>
            <a:r>
              <a:rPr lang="en-US" i="1" dirty="0"/>
              <a:t>f</a:t>
            </a:r>
            <a:r>
              <a:rPr lang="en-US" dirty="0"/>
              <a:t> for those two cells</a:t>
            </a:r>
          </a:p>
          <a:p>
            <a:pPr lvl="1">
              <a:lnSpc>
                <a:spcPct val="80000"/>
              </a:lnSpc>
            </a:pPr>
            <a:r>
              <a:rPr lang="en-US" i="1" dirty="0"/>
              <a:t>b</a:t>
            </a:r>
            <a:r>
              <a:rPr lang="en-US" dirty="0"/>
              <a:t> determines </a:t>
            </a:r>
            <a:r>
              <a:rPr lang="en-US" i="1" dirty="0"/>
              <a:t>f</a:t>
            </a:r>
            <a:r>
              <a:rPr lang="en-US" dirty="0"/>
              <a:t>:  </a:t>
            </a:r>
            <a:r>
              <a:rPr lang="en-US" i="1" dirty="0"/>
              <a:t>ac + ac  </a:t>
            </a:r>
            <a:r>
              <a:rPr lang="en-US" dirty="0"/>
              <a:t>(but NOT at </a:t>
            </a:r>
            <a:r>
              <a:rPr lang="en-US" i="1" dirty="0"/>
              <a:t>ac</a:t>
            </a:r>
            <a:r>
              <a:rPr lang="en-US" dirty="0"/>
              <a:t> or </a:t>
            </a:r>
            <a:r>
              <a:rPr lang="en-US" i="1" dirty="0"/>
              <a:t>ac </a:t>
            </a:r>
            <a:r>
              <a:rPr lang="en-US" dirty="0"/>
              <a:t>)</a:t>
            </a:r>
          </a:p>
          <a:p>
            <a:pPr>
              <a:lnSpc>
                <a:spcPct val="80000"/>
              </a:lnSpc>
            </a:pPr>
            <a:r>
              <a:rPr lang="en-US" dirty="0"/>
              <a:t>Repeat for clauses </a:t>
            </a:r>
            <a:r>
              <a:rPr lang="en-US" i="1" dirty="0"/>
              <a:t>a</a:t>
            </a:r>
            <a:r>
              <a:rPr lang="en-US" dirty="0"/>
              <a:t> and </a:t>
            </a:r>
            <a:r>
              <a:rPr lang="en-US" i="1" dirty="0"/>
              <a:t>c</a:t>
            </a:r>
          </a:p>
        </p:txBody>
      </p:sp>
      <p:grpSp>
        <p:nvGrpSpPr>
          <p:cNvPr id="2" name="Group 4"/>
          <p:cNvGrpSpPr>
            <a:grpSpLocks/>
          </p:cNvGrpSpPr>
          <p:nvPr/>
        </p:nvGrpSpPr>
        <p:grpSpPr bwMode="auto">
          <a:xfrm>
            <a:off x="2676525" y="4064001"/>
            <a:ext cx="3957638" cy="2124075"/>
            <a:chOff x="733" y="817"/>
            <a:chExt cx="2493" cy="1476"/>
          </a:xfrm>
        </p:grpSpPr>
        <p:sp>
          <p:nvSpPr>
            <p:cNvPr id="24594" name="Rectangle 5"/>
            <p:cNvSpPr>
              <a:spLocks noChangeArrowheads="1"/>
            </p:cNvSpPr>
            <p:nvPr/>
          </p:nvSpPr>
          <p:spPr bwMode="auto">
            <a:xfrm>
              <a:off x="2727" y="1803"/>
              <a:ext cx="499"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4595" name="Rectangle 6"/>
            <p:cNvSpPr>
              <a:spLocks noChangeArrowheads="1"/>
            </p:cNvSpPr>
            <p:nvPr/>
          </p:nvSpPr>
          <p:spPr bwMode="auto">
            <a:xfrm>
              <a:off x="2229" y="1803"/>
              <a:ext cx="498"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4596" name="Rectangle 7"/>
            <p:cNvSpPr>
              <a:spLocks noChangeArrowheads="1"/>
            </p:cNvSpPr>
            <p:nvPr/>
          </p:nvSpPr>
          <p:spPr bwMode="auto">
            <a:xfrm>
              <a:off x="1730" y="1803"/>
              <a:ext cx="499"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4597" name="Rectangle 8"/>
            <p:cNvSpPr>
              <a:spLocks noChangeArrowheads="1"/>
            </p:cNvSpPr>
            <p:nvPr/>
          </p:nvSpPr>
          <p:spPr bwMode="auto">
            <a:xfrm>
              <a:off x="1232" y="1803"/>
              <a:ext cx="498"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4598" name="Rectangle 9"/>
            <p:cNvSpPr>
              <a:spLocks noChangeArrowheads="1"/>
            </p:cNvSpPr>
            <p:nvPr/>
          </p:nvSpPr>
          <p:spPr bwMode="auto">
            <a:xfrm>
              <a:off x="733" y="1803"/>
              <a:ext cx="499" cy="49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a:t>
              </a:r>
            </a:p>
          </p:txBody>
        </p:sp>
        <p:sp>
          <p:nvSpPr>
            <p:cNvPr id="24599" name="Rectangle 10"/>
            <p:cNvSpPr>
              <a:spLocks noChangeArrowheads="1"/>
            </p:cNvSpPr>
            <p:nvPr/>
          </p:nvSpPr>
          <p:spPr bwMode="auto">
            <a:xfrm>
              <a:off x="2727" y="1335"/>
              <a:ext cx="499"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4600" name="Rectangle 11"/>
            <p:cNvSpPr>
              <a:spLocks noChangeArrowheads="1"/>
            </p:cNvSpPr>
            <p:nvPr/>
          </p:nvSpPr>
          <p:spPr bwMode="auto">
            <a:xfrm>
              <a:off x="2229" y="1335"/>
              <a:ext cx="498"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4601" name="Rectangle 12"/>
            <p:cNvSpPr>
              <a:spLocks noChangeArrowheads="1"/>
            </p:cNvSpPr>
            <p:nvPr/>
          </p:nvSpPr>
          <p:spPr bwMode="auto">
            <a:xfrm>
              <a:off x="1730" y="1335"/>
              <a:ext cx="499"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4602" name="Rectangle 13"/>
            <p:cNvSpPr>
              <a:spLocks noChangeArrowheads="1"/>
            </p:cNvSpPr>
            <p:nvPr/>
          </p:nvSpPr>
          <p:spPr bwMode="auto">
            <a:xfrm>
              <a:off x="1232" y="1335"/>
              <a:ext cx="498"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4603" name="Rectangle 14"/>
            <p:cNvSpPr>
              <a:spLocks noChangeArrowheads="1"/>
            </p:cNvSpPr>
            <p:nvPr/>
          </p:nvSpPr>
          <p:spPr bwMode="auto">
            <a:xfrm>
              <a:off x="733" y="1335"/>
              <a:ext cx="499" cy="468"/>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a:t>
              </a:r>
            </a:p>
          </p:txBody>
        </p:sp>
        <p:sp>
          <p:nvSpPr>
            <p:cNvPr id="24604" name="Rectangle 15"/>
            <p:cNvSpPr>
              <a:spLocks noChangeArrowheads="1"/>
            </p:cNvSpPr>
            <p:nvPr/>
          </p:nvSpPr>
          <p:spPr bwMode="auto">
            <a:xfrm>
              <a:off x="2727" y="817"/>
              <a:ext cx="499"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4605" name="Rectangle 16"/>
            <p:cNvSpPr>
              <a:spLocks noChangeArrowheads="1"/>
            </p:cNvSpPr>
            <p:nvPr/>
          </p:nvSpPr>
          <p:spPr bwMode="auto">
            <a:xfrm>
              <a:off x="2229" y="817"/>
              <a:ext cx="498"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4606" name="Rectangle 17"/>
            <p:cNvSpPr>
              <a:spLocks noChangeArrowheads="1"/>
            </p:cNvSpPr>
            <p:nvPr/>
          </p:nvSpPr>
          <p:spPr bwMode="auto">
            <a:xfrm>
              <a:off x="1730" y="817"/>
              <a:ext cx="499"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4607" name="Rectangle 18"/>
            <p:cNvSpPr>
              <a:spLocks noChangeArrowheads="1"/>
            </p:cNvSpPr>
            <p:nvPr/>
          </p:nvSpPr>
          <p:spPr bwMode="auto">
            <a:xfrm>
              <a:off x="1232" y="817"/>
              <a:ext cx="498"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4608" name="Rectangle 19"/>
            <p:cNvSpPr>
              <a:spLocks noChangeArrowheads="1"/>
            </p:cNvSpPr>
            <p:nvPr/>
          </p:nvSpPr>
          <p:spPr bwMode="auto">
            <a:xfrm>
              <a:off x="733" y="817"/>
              <a:ext cx="499" cy="518"/>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dirty="0">
                  <a:solidFill>
                    <a:schemeClr val="tx1"/>
                  </a:solidFill>
                </a:rPr>
                <a:t>    ab</a:t>
              </a:r>
            </a:p>
            <a:p>
              <a:pPr>
                <a:lnSpc>
                  <a:spcPct val="90000"/>
                </a:lnSpc>
                <a:spcBef>
                  <a:spcPct val="30000"/>
                </a:spcBef>
                <a:buSzPct val="85000"/>
              </a:pPr>
              <a:r>
                <a:rPr lang="en-US" dirty="0">
                  <a:solidFill>
                    <a:schemeClr val="tx1"/>
                  </a:solidFill>
                </a:rPr>
                <a:t>  c</a:t>
              </a:r>
            </a:p>
          </p:txBody>
        </p:sp>
        <p:sp>
          <p:nvSpPr>
            <p:cNvPr id="24609" name="Line 20"/>
            <p:cNvSpPr>
              <a:spLocks noChangeShapeType="1"/>
            </p:cNvSpPr>
            <p:nvPr/>
          </p:nvSpPr>
          <p:spPr bwMode="auto">
            <a:xfrm>
              <a:off x="733" y="817"/>
              <a:ext cx="499" cy="0"/>
            </a:xfrm>
            <a:prstGeom prst="line">
              <a:avLst/>
            </a:prstGeom>
            <a:noFill/>
            <a:ln w="28575" cap="sq">
              <a:noFill/>
              <a:round/>
              <a:headEnd type="none" w="med" len="lg"/>
              <a:tailEnd type="none" w="sm" len="sm"/>
            </a:ln>
          </p:spPr>
          <p:txBody>
            <a:bodyPr/>
            <a:lstStyle/>
            <a:p>
              <a:endParaRPr lang="en-US"/>
            </a:p>
          </p:txBody>
        </p:sp>
        <p:sp>
          <p:nvSpPr>
            <p:cNvPr id="24610" name="Line 21"/>
            <p:cNvSpPr>
              <a:spLocks noChangeShapeType="1"/>
            </p:cNvSpPr>
            <p:nvPr/>
          </p:nvSpPr>
          <p:spPr bwMode="auto">
            <a:xfrm>
              <a:off x="733" y="817"/>
              <a:ext cx="0" cy="518"/>
            </a:xfrm>
            <a:prstGeom prst="line">
              <a:avLst/>
            </a:prstGeom>
            <a:noFill/>
            <a:ln w="28575" cap="sq">
              <a:noFill/>
              <a:round/>
              <a:headEnd type="none" w="med" len="lg"/>
              <a:tailEnd type="none" w="sm" len="sm"/>
            </a:ln>
          </p:spPr>
          <p:txBody>
            <a:bodyPr/>
            <a:lstStyle/>
            <a:p>
              <a:endParaRPr lang="en-US"/>
            </a:p>
          </p:txBody>
        </p:sp>
        <p:sp>
          <p:nvSpPr>
            <p:cNvPr id="24611" name="Line 22"/>
            <p:cNvSpPr>
              <a:spLocks noChangeShapeType="1"/>
            </p:cNvSpPr>
            <p:nvPr/>
          </p:nvSpPr>
          <p:spPr bwMode="auto">
            <a:xfrm>
              <a:off x="1232" y="817"/>
              <a:ext cx="498" cy="0"/>
            </a:xfrm>
            <a:prstGeom prst="line">
              <a:avLst/>
            </a:prstGeom>
            <a:noFill/>
            <a:ln w="28575" cap="sq">
              <a:noFill/>
              <a:round/>
              <a:headEnd type="none" w="med" len="lg"/>
              <a:tailEnd type="none" w="sm" len="sm"/>
            </a:ln>
          </p:spPr>
          <p:txBody>
            <a:bodyPr/>
            <a:lstStyle/>
            <a:p>
              <a:endParaRPr lang="en-US"/>
            </a:p>
          </p:txBody>
        </p:sp>
        <p:sp>
          <p:nvSpPr>
            <p:cNvPr id="24612" name="Line 23"/>
            <p:cNvSpPr>
              <a:spLocks noChangeShapeType="1"/>
            </p:cNvSpPr>
            <p:nvPr/>
          </p:nvSpPr>
          <p:spPr bwMode="auto">
            <a:xfrm>
              <a:off x="733" y="1335"/>
              <a:ext cx="0" cy="468"/>
            </a:xfrm>
            <a:prstGeom prst="line">
              <a:avLst/>
            </a:prstGeom>
            <a:noFill/>
            <a:ln w="28575" cap="sq">
              <a:noFill/>
              <a:round/>
              <a:headEnd type="none" w="med" len="lg"/>
              <a:tailEnd type="none" w="sm" len="sm"/>
            </a:ln>
          </p:spPr>
          <p:txBody>
            <a:bodyPr/>
            <a:lstStyle/>
            <a:p>
              <a:endParaRPr lang="en-US"/>
            </a:p>
          </p:txBody>
        </p:sp>
        <p:sp>
          <p:nvSpPr>
            <p:cNvPr id="24613" name="Line 24"/>
            <p:cNvSpPr>
              <a:spLocks noChangeShapeType="1"/>
            </p:cNvSpPr>
            <p:nvPr/>
          </p:nvSpPr>
          <p:spPr bwMode="auto">
            <a:xfrm>
              <a:off x="1730" y="817"/>
              <a:ext cx="499" cy="0"/>
            </a:xfrm>
            <a:prstGeom prst="line">
              <a:avLst/>
            </a:prstGeom>
            <a:noFill/>
            <a:ln w="28575" cap="sq">
              <a:noFill/>
              <a:round/>
              <a:headEnd type="none" w="med" len="lg"/>
              <a:tailEnd type="none" w="sm" len="sm"/>
            </a:ln>
          </p:spPr>
          <p:txBody>
            <a:bodyPr/>
            <a:lstStyle/>
            <a:p>
              <a:endParaRPr lang="en-US"/>
            </a:p>
          </p:txBody>
        </p:sp>
        <p:sp>
          <p:nvSpPr>
            <p:cNvPr id="24614" name="Line 25"/>
            <p:cNvSpPr>
              <a:spLocks noChangeShapeType="1"/>
            </p:cNvSpPr>
            <p:nvPr/>
          </p:nvSpPr>
          <p:spPr bwMode="auto">
            <a:xfrm>
              <a:off x="2229" y="817"/>
              <a:ext cx="498" cy="0"/>
            </a:xfrm>
            <a:prstGeom prst="line">
              <a:avLst/>
            </a:prstGeom>
            <a:noFill/>
            <a:ln w="28575" cap="sq">
              <a:noFill/>
              <a:round/>
              <a:headEnd type="none" w="med" len="lg"/>
              <a:tailEnd type="none" w="sm" len="sm"/>
            </a:ln>
          </p:spPr>
          <p:txBody>
            <a:bodyPr/>
            <a:lstStyle/>
            <a:p>
              <a:endParaRPr lang="en-US"/>
            </a:p>
          </p:txBody>
        </p:sp>
        <p:sp>
          <p:nvSpPr>
            <p:cNvPr id="24615" name="Line 26"/>
            <p:cNvSpPr>
              <a:spLocks noChangeShapeType="1"/>
            </p:cNvSpPr>
            <p:nvPr/>
          </p:nvSpPr>
          <p:spPr bwMode="auto">
            <a:xfrm>
              <a:off x="2727" y="817"/>
              <a:ext cx="499" cy="0"/>
            </a:xfrm>
            <a:prstGeom prst="line">
              <a:avLst/>
            </a:prstGeom>
            <a:noFill/>
            <a:ln w="28575" cap="sq">
              <a:noFill/>
              <a:round/>
              <a:headEnd type="none" w="med" len="lg"/>
              <a:tailEnd type="none" w="sm" len="sm"/>
            </a:ln>
          </p:spPr>
          <p:txBody>
            <a:bodyPr/>
            <a:lstStyle/>
            <a:p>
              <a:endParaRPr lang="en-US"/>
            </a:p>
          </p:txBody>
        </p:sp>
        <p:sp>
          <p:nvSpPr>
            <p:cNvPr id="24616" name="Line 27"/>
            <p:cNvSpPr>
              <a:spLocks noChangeShapeType="1"/>
            </p:cNvSpPr>
            <p:nvPr/>
          </p:nvSpPr>
          <p:spPr bwMode="auto">
            <a:xfrm>
              <a:off x="3226" y="1335"/>
              <a:ext cx="0" cy="958"/>
            </a:xfrm>
            <a:prstGeom prst="line">
              <a:avLst/>
            </a:prstGeom>
            <a:noFill/>
            <a:ln w="12700" cap="sq">
              <a:solidFill>
                <a:schemeClr val="tx1"/>
              </a:solidFill>
              <a:round/>
              <a:headEnd type="none" w="med" len="lg"/>
              <a:tailEnd type="none" w="sm" len="sm"/>
            </a:ln>
          </p:spPr>
          <p:txBody>
            <a:bodyPr/>
            <a:lstStyle/>
            <a:p>
              <a:endParaRPr lang="en-US"/>
            </a:p>
          </p:txBody>
        </p:sp>
        <p:sp>
          <p:nvSpPr>
            <p:cNvPr id="24617" name="Line 28"/>
            <p:cNvSpPr>
              <a:spLocks noChangeShapeType="1"/>
            </p:cNvSpPr>
            <p:nvPr/>
          </p:nvSpPr>
          <p:spPr bwMode="auto">
            <a:xfrm>
              <a:off x="733" y="1803"/>
              <a:ext cx="0" cy="490"/>
            </a:xfrm>
            <a:prstGeom prst="line">
              <a:avLst/>
            </a:prstGeom>
            <a:noFill/>
            <a:ln w="28575" cap="sq">
              <a:noFill/>
              <a:round/>
              <a:headEnd type="none" w="med" len="lg"/>
              <a:tailEnd type="none" w="sm" len="sm"/>
            </a:ln>
          </p:spPr>
          <p:txBody>
            <a:bodyPr/>
            <a:lstStyle/>
            <a:p>
              <a:endParaRPr lang="en-US"/>
            </a:p>
          </p:txBody>
        </p:sp>
        <p:sp>
          <p:nvSpPr>
            <p:cNvPr id="24618" name="Line 29"/>
            <p:cNvSpPr>
              <a:spLocks noChangeShapeType="1"/>
            </p:cNvSpPr>
            <p:nvPr/>
          </p:nvSpPr>
          <p:spPr bwMode="auto">
            <a:xfrm>
              <a:off x="1232" y="2293"/>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4619" name="Line 30"/>
            <p:cNvSpPr>
              <a:spLocks noChangeShapeType="1"/>
            </p:cNvSpPr>
            <p:nvPr/>
          </p:nvSpPr>
          <p:spPr bwMode="auto">
            <a:xfrm>
              <a:off x="1232" y="1335"/>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4620" name="Line 31"/>
            <p:cNvSpPr>
              <a:spLocks noChangeShapeType="1"/>
            </p:cNvSpPr>
            <p:nvPr/>
          </p:nvSpPr>
          <p:spPr bwMode="auto">
            <a:xfrm>
              <a:off x="1232" y="1335"/>
              <a:ext cx="0" cy="958"/>
            </a:xfrm>
            <a:prstGeom prst="line">
              <a:avLst/>
            </a:prstGeom>
            <a:noFill/>
            <a:ln w="12700" cap="sq">
              <a:solidFill>
                <a:schemeClr val="tx1"/>
              </a:solidFill>
              <a:round/>
              <a:headEnd type="none" w="med" len="lg"/>
              <a:tailEnd type="none" w="sm" len="sm"/>
            </a:ln>
          </p:spPr>
          <p:txBody>
            <a:bodyPr/>
            <a:lstStyle/>
            <a:p>
              <a:endParaRPr lang="en-US"/>
            </a:p>
          </p:txBody>
        </p:sp>
        <p:sp>
          <p:nvSpPr>
            <p:cNvPr id="24621" name="Line 32"/>
            <p:cNvSpPr>
              <a:spLocks noChangeShapeType="1"/>
            </p:cNvSpPr>
            <p:nvPr/>
          </p:nvSpPr>
          <p:spPr bwMode="auto">
            <a:xfrm>
              <a:off x="1730"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4622" name="Line 33"/>
            <p:cNvSpPr>
              <a:spLocks noChangeShapeType="1"/>
            </p:cNvSpPr>
            <p:nvPr/>
          </p:nvSpPr>
          <p:spPr bwMode="auto">
            <a:xfrm>
              <a:off x="2229"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4623" name="Line 34"/>
            <p:cNvSpPr>
              <a:spLocks noChangeShapeType="1"/>
            </p:cNvSpPr>
            <p:nvPr/>
          </p:nvSpPr>
          <p:spPr bwMode="auto">
            <a:xfrm>
              <a:off x="2727"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4624" name="Line 35"/>
            <p:cNvSpPr>
              <a:spLocks noChangeShapeType="1"/>
            </p:cNvSpPr>
            <p:nvPr/>
          </p:nvSpPr>
          <p:spPr bwMode="auto">
            <a:xfrm>
              <a:off x="3226" y="817"/>
              <a:ext cx="0" cy="518"/>
            </a:xfrm>
            <a:prstGeom prst="line">
              <a:avLst/>
            </a:prstGeom>
            <a:noFill/>
            <a:ln w="28575" cap="sq">
              <a:noFill/>
              <a:round/>
              <a:headEnd type="none" w="med" len="lg"/>
              <a:tailEnd type="none" w="sm" len="sm"/>
            </a:ln>
          </p:spPr>
          <p:txBody>
            <a:bodyPr/>
            <a:lstStyle/>
            <a:p>
              <a:endParaRPr lang="en-US"/>
            </a:p>
          </p:txBody>
        </p:sp>
        <p:sp>
          <p:nvSpPr>
            <p:cNvPr id="24625" name="Line 36"/>
            <p:cNvSpPr>
              <a:spLocks noChangeShapeType="1"/>
            </p:cNvSpPr>
            <p:nvPr/>
          </p:nvSpPr>
          <p:spPr bwMode="auto">
            <a:xfrm>
              <a:off x="1232" y="1803"/>
              <a:ext cx="1994" cy="0"/>
            </a:xfrm>
            <a:prstGeom prst="line">
              <a:avLst/>
            </a:prstGeom>
            <a:noFill/>
            <a:ln w="12700">
              <a:solidFill>
                <a:schemeClr val="tx1"/>
              </a:solidFill>
              <a:round/>
              <a:headEnd type="none" w="med" len="lg"/>
              <a:tailEnd type="none" w="sm" len="sm"/>
            </a:ln>
          </p:spPr>
          <p:txBody>
            <a:bodyPr/>
            <a:lstStyle/>
            <a:p>
              <a:endParaRPr lang="en-US"/>
            </a:p>
          </p:txBody>
        </p:sp>
        <p:sp>
          <p:nvSpPr>
            <p:cNvPr id="24626" name="Line 37"/>
            <p:cNvSpPr>
              <a:spLocks noChangeShapeType="1"/>
            </p:cNvSpPr>
            <p:nvPr/>
          </p:nvSpPr>
          <p:spPr bwMode="auto">
            <a:xfrm>
              <a:off x="733" y="2293"/>
              <a:ext cx="499" cy="0"/>
            </a:xfrm>
            <a:prstGeom prst="line">
              <a:avLst/>
            </a:prstGeom>
            <a:noFill/>
            <a:ln w="28575" cap="sq">
              <a:noFill/>
              <a:round/>
              <a:headEnd type="none" w="med" len="lg"/>
              <a:tailEnd type="none" w="sm" len="sm"/>
            </a:ln>
          </p:spPr>
          <p:txBody>
            <a:bodyPr/>
            <a:lstStyle/>
            <a:p>
              <a:endParaRPr lang="en-US"/>
            </a:p>
          </p:txBody>
        </p:sp>
        <p:sp>
          <p:nvSpPr>
            <p:cNvPr id="24627" name="Line 38"/>
            <p:cNvSpPr>
              <a:spLocks noChangeShapeType="1"/>
            </p:cNvSpPr>
            <p:nvPr/>
          </p:nvSpPr>
          <p:spPr bwMode="auto">
            <a:xfrm>
              <a:off x="879" y="961"/>
              <a:ext cx="344" cy="364"/>
            </a:xfrm>
            <a:prstGeom prst="line">
              <a:avLst/>
            </a:prstGeom>
            <a:noFill/>
            <a:ln w="12700">
              <a:solidFill>
                <a:schemeClr val="tx1"/>
              </a:solidFill>
              <a:round/>
              <a:headEnd type="none" w="sm" len="sm"/>
              <a:tailEnd type="none" w="sm" len="sm"/>
            </a:ln>
          </p:spPr>
          <p:txBody>
            <a:bodyPr/>
            <a:lstStyle/>
            <a:p>
              <a:endParaRPr lang="en-US"/>
            </a:p>
          </p:txBody>
        </p:sp>
      </p:grpSp>
      <p:sp>
        <p:nvSpPr>
          <p:cNvPr id="79913" name="Oval 41"/>
          <p:cNvSpPr>
            <a:spLocks noChangeArrowheads="1"/>
          </p:cNvSpPr>
          <p:nvPr/>
        </p:nvSpPr>
        <p:spPr bwMode="auto">
          <a:xfrm>
            <a:off x="3471864" y="5487989"/>
            <a:ext cx="1557337" cy="64293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79916" name="Oval 44"/>
          <p:cNvSpPr>
            <a:spLocks noChangeArrowheads="1"/>
          </p:cNvSpPr>
          <p:nvPr/>
        </p:nvSpPr>
        <p:spPr bwMode="auto">
          <a:xfrm>
            <a:off x="5083175" y="4824414"/>
            <a:ext cx="1557338" cy="64293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79919" name="Line 47"/>
          <p:cNvSpPr>
            <a:spLocks noChangeShapeType="1"/>
          </p:cNvSpPr>
          <p:nvPr/>
        </p:nvSpPr>
        <p:spPr bwMode="auto">
          <a:xfrm flipV="1">
            <a:off x="4267200" y="3984625"/>
            <a:ext cx="0" cy="2698750"/>
          </a:xfrm>
          <a:prstGeom prst="line">
            <a:avLst/>
          </a:prstGeom>
          <a:noFill/>
          <a:ln w="50800">
            <a:solidFill>
              <a:schemeClr val="accent1"/>
            </a:solidFill>
            <a:prstDash val="lgDash"/>
            <a:round/>
            <a:headEnd type="none" w="sm" len="sm"/>
            <a:tailEnd type="none" w="sm" len="sm"/>
          </a:ln>
        </p:spPr>
        <p:txBody>
          <a:bodyPr/>
          <a:lstStyle/>
          <a:p>
            <a:endParaRPr lang="en-US"/>
          </a:p>
        </p:txBody>
      </p:sp>
      <p:sp>
        <p:nvSpPr>
          <p:cNvPr id="79920" name="Line 48"/>
          <p:cNvSpPr>
            <a:spLocks noChangeShapeType="1"/>
          </p:cNvSpPr>
          <p:nvPr/>
        </p:nvSpPr>
        <p:spPr bwMode="auto">
          <a:xfrm flipV="1">
            <a:off x="5834063" y="3995738"/>
            <a:ext cx="0" cy="2698750"/>
          </a:xfrm>
          <a:prstGeom prst="line">
            <a:avLst/>
          </a:prstGeom>
          <a:noFill/>
          <a:ln w="50800">
            <a:solidFill>
              <a:schemeClr val="accent1"/>
            </a:solidFill>
            <a:prstDash val="lgDash"/>
            <a:round/>
            <a:headEnd type="none" w="sm" len="sm"/>
            <a:tailEnd type="none" w="sm" len="sm"/>
          </a:ln>
        </p:spPr>
        <p:txBody>
          <a:bodyPr/>
          <a:lstStyle/>
          <a:p>
            <a:endParaRPr lang="en-US"/>
          </a:p>
        </p:txBody>
      </p:sp>
      <p:sp>
        <p:nvSpPr>
          <p:cNvPr id="79921" name="Line 49"/>
          <p:cNvSpPr>
            <a:spLocks noChangeShapeType="1"/>
          </p:cNvSpPr>
          <p:nvPr/>
        </p:nvSpPr>
        <p:spPr bwMode="auto">
          <a:xfrm>
            <a:off x="4328948" y="3043404"/>
            <a:ext cx="165100" cy="0"/>
          </a:xfrm>
          <a:prstGeom prst="line">
            <a:avLst/>
          </a:prstGeom>
          <a:noFill/>
          <a:ln w="19050">
            <a:solidFill>
              <a:schemeClr val="tx1"/>
            </a:solidFill>
            <a:round/>
            <a:headEnd type="none" w="sm" len="sm"/>
            <a:tailEnd type="none" w="sm" len="sm"/>
          </a:ln>
        </p:spPr>
        <p:txBody>
          <a:bodyPr/>
          <a:lstStyle/>
          <a:p>
            <a:endParaRPr lang="en-US"/>
          </a:p>
        </p:txBody>
      </p:sp>
      <p:sp>
        <p:nvSpPr>
          <p:cNvPr id="79922" name="Line 50"/>
          <p:cNvSpPr>
            <a:spLocks noChangeShapeType="1"/>
          </p:cNvSpPr>
          <p:nvPr/>
        </p:nvSpPr>
        <p:spPr bwMode="auto">
          <a:xfrm>
            <a:off x="5071143" y="3041900"/>
            <a:ext cx="165100" cy="0"/>
          </a:xfrm>
          <a:prstGeom prst="line">
            <a:avLst/>
          </a:prstGeom>
          <a:noFill/>
          <a:ln w="19050">
            <a:solidFill>
              <a:schemeClr val="tx1"/>
            </a:solidFill>
            <a:round/>
            <a:headEnd type="none" w="sm" len="sm"/>
            <a:tailEnd type="none" w="sm" len="sm"/>
          </a:ln>
        </p:spPr>
        <p:txBody>
          <a:bodyPr/>
          <a:lstStyle/>
          <a:p>
            <a:endParaRPr lang="en-US"/>
          </a:p>
        </p:txBody>
      </p:sp>
      <p:sp>
        <p:nvSpPr>
          <p:cNvPr id="79924" name="Line 52"/>
          <p:cNvSpPr>
            <a:spLocks noChangeShapeType="1"/>
          </p:cNvSpPr>
          <p:nvPr/>
        </p:nvSpPr>
        <p:spPr bwMode="auto">
          <a:xfrm>
            <a:off x="7907673" y="3041900"/>
            <a:ext cx="68262" cy="0"/>
          </a:xfrm>
          <a:prstGeom prst="line">
            <a:avLst/>
          </a:prstGeom>
          <a:noFill/>
          <a:ln w="19050">
            <a:solidFill>
              <a:schemeClr val="tx1"/>
            </a:solidFill>
            <a:round/>
            <a:headEnd type="none" w="sm" len="sm"/>
            <a:tailEnd type="none" w="sm" len="sm"/>
          </a:ln>
        </p:spPr>
        <p:txBody>
          <a:bodyPr/>
          <a:lstStyle/>
          <a:p>
            <a:endParaRPr lang="en-US"/>
          </a:p>
        </p:txBody>
      </p:sp>
      <p:sp>
        <p:nvSpPr>
          <p:cNvPr id="24588" name="Line 53"/>
          <p:cNvSpPr>
            <a:spLocks noChangeShapeType="1"/>
          </p:cNvSpPr>
          <p:nvPr/>
        </p:nvSpPr>
        <p:spPr bwMode="auto">
          <a:xfrm>
            <a:off x="6755835" y="990184"/>
            <a:ext cx="82550" cy="0"/>
          </a:xfrm>
          <a:prstGeom prst="line">
            <a:avLst/>
          </a:prstGeom>
          <a:noFill/>
          <a:ln w="19050">
            <a:solidFill>
              <a:schemeClr val="tx1"/>
            </a:solidFill>
            <a:round/>
            <a:headEnd type="none" w="sm" len="sm"/>
            <a:tailEnd type="none" w="sm" len="sm"/>
          </a:ln>
        </p:spPr>
        <p:txBody>
          <a:bodyPr/>
          <a:lstStyle/>
          <a:p>
            <a:endParaRPr lang="en-US"/>
          </a:p>
        </p:txBody>
      </p:sp>
      <p:sp>
        <p:nvSpPr>
          <p:cNvPr id="24589" name="Line 54"/>
          <p:cNvSpPr>
            <a:spLocks noChangeShapeType="1"/>
          </p:cNvSpPr>
          <p:nvPr/>
        </p:nvSpPr>
        <p:spPr bwMode="auto">
          <a:xfrm>
            <a:off x="6895536" y="982246"/>
            <a:ext cx="98425" cy="0"/>
          </a:xfrm>
          <a:prstGeom prst="line">
            <a:avLst/>
          </a:prstGeom>
          <a:noFill/>
          <a:ln w="19050">
            <a:solidFill>
              <a:schemeClr val="tx1"/>
            </a:solidFill>
            <a:round/>
            <a:headEnd type="none" w="sm" len="sm"/>
            <a:tailEnd type="none" w="sm" len="sm"/>
          </a:ln>
        </p:spPr>
        <p:txBody>
          <a:bodyPr/>
          <a:lstStyle/>
          <a:p>
            <a:endParaRPr lang="en-US"/>
          </a:p>
        </p:txBody>
      </p:sp>
      <p:sp>
        <p:nvSpPr>
          <p:cNvPr id="79928" name="Line 56"/>
          <p:cNvSpPr>
            <a:spLocks noChangeShapeType="1"/>
          </p:cNvSpPr>
          <p:nvPr/>
        </p:nvSpPr>
        <p:spPr bwMode="auto">
          <a:xfrm>
            <a:off x="7767219" y="3038558"/>
            <a:ext cx="68263" cy="0"/>
          </a:xfrm>
          <a:prstGeom prst="line">
            <a:avLst/>
          </a:prstGeom>
          <a:noFill/>
          <a:ln w="19050">
            <a:solidFill>
              <a:schemeClr val="tx1"/>
            </a:solidFill>
            <a:round/>
            <a:headEnd type="none" w="sm" len="sm"/>
            <a:tailEnd type="none" w="sm" len="sm"/>
          </a:ln>
        </p:spPr>
        <p:txBody>
          <a:bodyPr/>
          <a:lstStyle/>
          <a:p>
            <a:endParaRPr lang="en-US"/>
          </a:p>
        </p:txBody>
      </p:sp>
      <p:sp>
        <p:nvSpPr>
          <p:cNvPr id="24592" name="Slide Number Placeholder 52"/>
          <p:cNvSpPr>
            <a:spLocks noGrp="1"/>
          </p:cNvSpPr>
          <p:nvPr>
            <p:ph type="sldNum" sz="quarter" idx="12"/>
          </p:nvPr>
        </p:nvSpPr>
        <p:spPr>
          <a:noFill/>
        </p:spPr>
        <p:txBody>
          <a:bodyPr/>
          <a:lstStyle/>
          <a:p>
            <a:fld id="{4A732D91-7862-470D-9A75-B0BB91CB1A99}" type="slidenum">
              <a:rPr lang="en-US" smtClean="0">
                <a:latin typeface="Arial" charset="0"/>
                <a:cs typeface="Arial" charset="0"/>
              </a:rPr>
              <a:pPr/>
              <a:t>18</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875">
                                            <p:txEl>
                                              <p:pRg st="1" end="1"/>
                                            </p:txEl>
                                          </p:spTgt>
                                        </p:tgtEl>
                                        <p:attrNameLst>
                                          <p:attrName>style.visibility</p:attrName>
                                        </p:attrNameLst>
                                      </p:cBhvr>
                                      <p:to>
                                        <p:strVal val="visible"/>
                                      </p:to>
                                    </p:set>
                                    <p:animEffect transition="in" filter="blinds(horizontal)">
                                      <p:cBhvr>
                                        <p:cTn id="7" dur="500"/>
                                        <p:tgtEl>
                                          <p:spTgt spid="7987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9875">
                                            <p:txEl>
                                              <p:pRg st="2" end="2"/>
                                            </p:txEl>
                                          </p:spTgt>
                                        </p:tgtEl>
                                        <p:attrNameLst>
                                          <p:attrName>style.visibility</p:attrName>
                                        </p:attrNameLst>
                                      </p:cBhvr>
                                      <p:to>
                                        <p:strVal val="visible"/>
                                      </p:to>
                                    </p:set>
                                    <p:animEffect transition="in" filter="blinds(horizontal)">
                                      <p:cBhvr>
                                        <p:cTn id="15" dur="500"/>
                                        <p:tgtEl>
                                          <p:spTgt spid="7987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9920"/>
                                        </p:tgtEl>
                                        <p:attrNameLst>
                                          <p:attrName>style.visibility</p:attrName>
                                        </p:attrNameLst>
                                      </p:cBhvr>
                                      <p:to>
                                        <p:strVal val="visible"/>
                                      </p:to>
                                    </p:set>
                                    <p:animEffect transition="in" filter="blinds(horizontal)">
                                      <p:cBhvr>
                                        <p:cTn id="18" dur="500"/>
                                        <p:tgtEl>
                                          <p:spTgt spid="7992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9919"/>
                                        </p:tgtEl>
                                        <p:attrNameLst>
                                          <p:attrName>style.visibility</p:attrName>
                                        </p:attrNameLst>
                                      </p:cBhvr>
                                      <p:to>
                                        <p:strVal val="visible"/>
                                      </p:to>
                                    </p:set>
                                    <p:animEffect transition="in" filter="blinds(horizontal)">
                                      <p:cBhvr>
                                        <p:cTn id="21" dur="500"/>
                                        <p:tgtEl>
                                          <p:spTgt spid="7991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9875">
                                            <p:txEl>
                                              <p:pRg st="3" end="3"/>
                                            </p:txEl>
                                          </p:spTgt>
                                        </p:tgtEl>
                                        <p:attrNameLst>
                                          <p:attrName>style.visibility</p:attrName>
                                        </p:attrNameLst>
                                      </p:cBhvr>
                                      <p:to>
                                        <p:strVal val="visible"/>
                                      </p:to>
                                    </p:set>
                                    <p:animEffect transition="in" filter="blinds(horizontal)">
                                      <p:cBhvr>
                                        <p:cTn id="26" dur="500"/>
                                        <p:tgtEl>
                                          <p:spTgt spid="79875">
                                            <p:txEl>
                                              <p:pRg st="3" end="3"/>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79916"/>
                                        </p:tgtEl>
                                        <p:attrNameLst>
                                          <p:attrName>style.visibility</p:attrName>
                                        </p:attrNameLst>
                                      </p:cBhvr>
                                      <p:to>
                                        <p:strVal val="visible"/>
                                      </p:to>
                                    </p:set>
                                    <p:animEffect transition="in" filter="blinds(horizontal)">
                                      <p:cBhvr>
                                        <p:cTn id="29" dur="500"/>
                                        <p:tgtEl>
                                          <p:spTgt spid="79916"/>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79913"/>
                                        </p:tgtEl>
                                        <p:attrNameLst>
                                          <p:attrName>style.visibility</p:attrName>
                                        </p:attrNameLst>
                                      </p:cBhvr>
                                      <p:to>
                                        <p:strVal val="visible"/>
                                      </p:to>
                                    </p:set>
                                    <p:animEffect transition="in" filter="blinds(horizontal)">
                                      <p:cBhvr>
                                        <p:cTn id="32" dur="500"/>
                                        <p:tgtEl>
                                          <p:spTgt spid="7991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9875">
                                            <p:txEl>
                                              <p:pRg st="4" end="4"/>
                                            </p:txEl>
                                          </p:spTgt>
                                        </p:tgtEl>
                                        <p:attrNameLst>
                                          <p:attrName>style.visibility</p:attrName>
                                        </p:attrNameLst>
                                      </p:cBhvr>
                                      <p:to>
                                        <p:strVal val="visible"/>
                                      </p:to>
                                    </p:set>
                                    <p:animEffect transition="in" filter="blinds(horizontal)">
                                      <p:cBhvr>
                                        <p:cTn id="37" dur="500"/>
                                        <p:tgtEl>
                                          <p:spTgt spid="79875">
                                            <p:txEl>
                                              <p:pRg st="4" end="4"/>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79922"/>
                                        </p:tgtEl>
                                        <p:attrNameLst>
                                          <p:attrName>style.visibility</p:attrName>
                                        </p:attrNameLst>
                                      </p:cBhvr>
                                      <p:to>
                                        <p:strVal val="visible"/>
                                      </p:to>
                                    </p:set>
                                    <p:animEffect transition="in" filter="blinds(horizontal)">
                                      <p:cBhvr>
                                        <p:cTn id="40" dur="500"/>
                                        <p:tgtEl>
                                          <p:spTgt spid="7992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79924"/>
                                        </p:tgtEl>
                                        <p:attrNameLst>
                                          <p:attrName>style.visibility</p:attrName>
                                        </p:attrNameLst>
                                      </p:cBhvr>
                                      <p:to>
                                        <p:strVal val="visible"/>
                                      </p:to>
                                    </p:set>
                                    <p:animEffect transition="in" filter="blinds(horizontal)">
                                      <p:cBhvr>
                                        <p:cTn id="43" dur="500"/>
                                        <p:tgtEl>
                                          <p:spTgt spid="7992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79928"/>
                                        </p:tgtEl>
                                        <p:attrNameLst>
                                          <p:attrName>style.visibility</p:attrName>
                                        </p:attrNameLst>
                                      </p:cBhvr>
                                      <p:to>
                                        <p:strVal val="visible"/>
                                      </p:to>
                                    </p:set>
                                    <p:animEffect transition="in" filter="blinds(horizontal)">
                                      <p:cBhvr>
                                        <p:cTn id="46" dur="500"/>
                                        <p:tgtEl>
                                          <p:spTgt spid="79928"/>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79921"/>
                                        </p:tgtEl>
                                        <p:attrNameLst>
                                          <p:attrName>style.visibility</p:attrName>
                                        </p:attrNameLst>
                                      </p:cBhvr>
                                      <p:to>
                                        <p:strVal val="visible"/>
                                      </p:to>
                                    </p:set>
                                    <p:animEffect transition="in" filter="blinds(horizontal)">
                                      <p:cBhvr>
                                        <p:cTn id="49" dur="500"/>
                                        <p:tgtEl>
                                          <p:spTgt spid="79921"/>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79875">
                                            <p:txEl>
                                              <p:pRg st="5" end="5"/>
                                            </p:txEl>
                                          </p:spTgt>
                                        </p:tgtEl>
                                        <p:attrNameLst>
                                          <p:attrName>style.visibility</p:attrName>
                                        </p:attrNameLst>
                                      </p:cBhvr>
                                      <p:to>
                                        <p:strVal val="visible"/>
                                      </p:to>
                                    </p:set>
                                    <p:animEffect transition="in" filter="blinds(horizontal)">
                                      <p:cBhvr>
                                        <p:cTn id="54" dur="500"/>
                                        <p:tgtEl>
                                          <p:spTgt spid="798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13" grpId="0" animBg="1"/>
      <p:bldP spid="79916" grpId="0" animBg="1"/>
      <p:bldP spid="79919" grpId="0" animBg="1"/>
      <p:bldP spid="79920" grpId="0" animBg="1"/>
      <p:bldP spid="79921" grpId="0" animBg="1"/>
      <p:bldP spid="79922" grpId="0" animBg="1"/>
      <p:bldP spid="79924" grpId="0" animBg="1"/>
      <p:bldP spid="799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p:txBody>
          <a:bodyPr/>
          <a:lstStyle/>
          <a:p>
            <a:r>
              <a:rPr lang="en-US"/>
              <a:t>K-Map:  Negation of a predicate</a:t>
            </a:r>
          </a:p>
        </p:txBody>
      </p:sp>
      <p:sp>
        <p:nvSpPr>
          <p:cNvPr id="81923" name="Rectangle 3"/>
          <p:cNvSpPr>
            <a:spLocks noGrp="1" noChangeArrowheads="1"/>
          </p:cNvSpPr>
          <p:nvPr>
            <p:ph type="body" idx="4294967295"/>
          </p:nvPr>
        </p:nvSpPr>
        <p:spPr/>
        <p:txBody>
          <a:bodyPr/>
          <a:lstStyle/>
          <a:p>
            <a:r>
              <a:rPr lang="en-US"/>
              <a:t>Consider the predicate:  </a:t>
            </a:r>
            <a:r>
              <a:rPr lang="en-US" i="1"/>
              <a:t>f = ab + bc</a:t>
            </a:r>
          </a:p>
          <a:p>
            <a:r>
              <a:rPr lang="en-US"/>
              <a:t>Draw the Karnaugh Map for the negation</a:t>
            </a:r>
          </a:p>
          <a:p>
            <a:pPr lvl="1"/>
            <a:r>
              <a:rPr lang="en-US"/>
              <a:t>Identify groups</a:t>
            </a:r>
          </a:p>
          <a:p>
            <a:pPr lvl="1"/>
            <a:r>
              <a:rPr lang="en-US"/>
              <a:t>Write down negation:  </a:t>
            </a:r>
            <a:r>
              <a:rPr lang="en-US" i="1"/>
              <a:t>f = b + a c</a:t>
            </a:r>
          </a:p>
        </p:txBody>
      </p:sp>
      <p:grpSp>
        <p:nvGrpSpPr>
          <p:cNvPr id="2" name="Group 4"/>
          <p:cNvGrpSpPr>
            <a:grpSpLocks/>
          </p:cNvGrpSpPr>
          <p:nvPr/>
        </p:nvGrpSpPr>
        <p:grpSpPr bwMode="auto">
          <a:xfrm>
            <a:off x="1876590" y="3523481"/>
            <a:ext cx="3957638" cy="2124075"/>
            <a:chOff x="733" y="817"/>
            <a:chExt cx="2493" cy="1476"/>
          </a:xfrm>
        </p:grpSpPr>
        <p:sp>
          <p:nvSpPr>
            <p:cNvPr id="25652" name="Rectangle 5"/>
            <p:cNvSpPr>
              <a:spLocks noChangeArrowheads="1"/>
            </p:cNvSpPr>
            <p:nvPr/>
          </p:nvSpPr>
          <p:spPr bwMode="auto">
            <a:xfrm>
              <a:off x="2727" y="1803"/>
              <a:ext cx="499"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5653" name="Rectangle 6"/>
            <p:cNvSpPr>
              <a:spLocks noChangeArrowheads="1"/>
            </p:cNvSpPr>
            <p:nvPr/>
          </p:nvSpPr>
          <p:spPr bwMode="auto">
            <a:xfrm>
              <a:off x="2229" y="1803"/>
              <a:ext cx="498"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5654" name="Rectangle 7"/>
            <p:cNvSpPr>
              <a:spLocks noChangeArrowheads="1"/>
            </p:cNvSpPr>
            <p:nvPr/>
          </p:nvSpPr>
          <p:spPr bwMode="auto">
            <a:xfrm>
              <a:off x="1730" y="1803"/>
              <a:ext cx="499"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5655" name="Rectangle 8"/>
            <p:cNvSpPr>
              <a:spLocks noChangeArrowheads="1"/>
            </p:cNvSpPr>
            <p:nvPr/>
          </p:nvSpPr>
          <p:spPr bwMode="auto">
            <a:xfrm>
              <a:off x="1232" y="1803"/>
              <a:ext cx="498"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5656" name="Rectangle 9"/>
            <p:cNvSpPr>
              <a:spLocks noChangeArrowheads="1"/>
            </p:cNvSpPr>
            <p:nvPr/>
          </p:nvSpPr>
          <p:spPr bwMode="auto">
            <a:xfrm>
              <a:off x="733" y="1803"/>
              <a:ext cx="499" cy="49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a:t>
              </a:r>
            </a:p>
          </p:txBody>
        </p:sp>
        <p:sp>
          <p:nvSpPr>
            <p:cNvPr id="25657" name="Rectangle 10"/>
            <p:cNvSpPr>
              <a:spLocks noChangeArrowheads="1"/>
            </p:cNvSpPr>
            <p:nvPr/>
          </p:nvSpPr>
          <p:spPr bwMode="auto">
            <a:xfrm>
              <a:off x="2727" y="1335"/>
              <a:ext cx="499"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5658" name="Rectangle 11"/>
            <p:cNvSpPr>
              <a:spLocks noChangeArrowheads="1"/>
            </p:cNvSpPr>
            <p:nvPr/>
          </p:nvSpPr>
          <p:spPr bwMode="auto">
            <a:xfrm>
              <a:off x="2229" y="1335"/>
              <a:ext cx="498"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5659" name="Rectangle 12"/>
            <p:cNvSpPr>
              <a:spLocks noChangeArrowheads="1"/>
            </p:cNvSpPr>
            <p:nvPr/>
          </p:nvSpPr>
          <p:spPr bwMode="auto">
            <a:xfrm>
              <a:off x="1730" y="1335"/>
              <a:ext cx="499"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5660" name="Rectangle 13"/>
            <p:cNvSpPr>
              <a:spLocks noChangeArrowheads="1"/>
            </p:cNvSpPr>
            <p:nvPr/>
          </p:nvSpPr>
          <p:spPr bwMode="auto">
            <a:xfrm>
              <a:off x="1232" y="1335"/>
              <a:ext cx="498"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5661" name="Rectangle 14"/>
            <p:cNvSpPr>
              <a:spLocks noChangeArrowheads="1"/>
            </p:cNvSpPr>
            <p:nvPr/>
          </p:nvSpPr>
          <p:spPr bwMode="auto">
            <a:xfrm>
              <a:off x="733" y="1335"/>
              <a:ext cx="499" cy="468"/>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a:t>
              </a:r>
            </a:p>
          </p:txBody>
        </p:sp>
        <p:sp>
          <p:nvSpPr>
            <p:cNvPr id="25662" name="Rectangle 15"/>
            <p:cNvSpPr>
              <a:spLocks noChangeArrowheads="1"/>
            </p:cNvSpPr>
            <p:nvPr/>
          </p:nvSpPr>
          <p:spPr bwMode="auto">
            <a:xfrm>
              <a:off x="2727" y="817"/>
              <a:ext cx="499"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5663" name="Rectangle 16"/>
            <p:cNvSpPr>
              <a:spLocks noChangeArrowheads="1"/>
            </p:cNvSpPr>
            <p:nvPr/>
          </p:nvSpPr>
          <p:spPr bwMode="auto">
            <a:xfrm>
              <a:off x="2229" y="817"/>
              <a:ext cx="498"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5664" name="Rectangle 17"/>
            <p:cNvSpPr>
              <a:spLocks noChangeArrowheads="1"/>
            </p:cNvSpPr>
            <p:nvPr/>
          </p:nvSpPr>
          <p:spPr bwMode="auto">
            <a:xfrm>
              <a:off x="1730" y="817"/>
              <a:ext cx="499"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5665" name="Rectangle 18"/>
            <p:cNvSpPr>
              <a:spLocks noChangeArrowheads="1"/>
            </p:cNvSpPr>
            <p:nvPr/>
          </p:nvSpPr>
          <p:spPr bwMode="auto">
            <a:xfrm>
              <a:off x="1232" y="817"/>
              <a:ext cx="498"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5666" name="Rectangle 19"/>
            <p:cNvSpPr>
              <a:spLocks noChangeArrowheads="1"/>
            </p:cNvSpPr>
            <p:nvPr/>
          </p:nvSpPr>
          <p:spPr bwMode="auto">
            <a:xfrm>
              <a:off x="733" y="817"/>
              <a:ext cx="499" cy="518"/>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a:solidFill>
                    <a:schemeClr val="tx1"/>
                  </a:solidFill>
                </a:rPr>
                <a:t>    ab</a:t>
              </a:r>
            </a:p>
            <a:p>
              <a:pPr>
                <a:lnSpc>
                  <a:spcPct val="90000"/>
                </a:lnSpc>
                <a:spcBef>
                  <a:spcPct val="30000"/>
                </a:spcBef>
                <a:buSzPct val="85000"/>
              </a:pPr>
              <a:r>
                <a:rPr lang="en-US">
                  <a:solidFill>
                    <a:schemeClr val="tx1"/>
                  </a:solidFill>
                </a:rPr>
                <a:t>  c</a:t>
              </a:r>
            </a:p>
          </p:txBody>
        </p:sp>
        <p:sp>
          <p:nvSpPr>
            <p:cNvPr id="25667" name="Line 20"/>
            <p:cNvSpPr>
              <a:spLocks noChangeShapeType="1"/>
            </p:cNvSpPr>
            <p:nvPr/>
          </p:nvSpPr>
          <p:spPr bwMode="auto">
            <a:xfrm>
              <a:off x="733" y="817"/>
              <a:ext cx="499" cy="0"/>
            </a:xfrm>
            <a:prstGeom prst="line">
              <a:avLst/>
            </a:prstGeom>
            <a:noFill/>
            <a:ln w="28575" cap="sq">
              <a:noFill/>
              <a:round/>
              <a:headEnd type="none" w="med" len="lg"/>
              <a:tailEnd type="none" w="sm" len="sm"/>
            </a:ln>
          </p:spPr>
          <p:txBody>
            <a:bodyPr/>
            <a:lstStyle/>
            <a:p>
              <a:endParaRPr lang="en-US"/>
            </a:p>
          </p:txBody>
        </p:sp>
        <p:sp>
          <p:nvSpPr>
            <p:cNvPr id="25668" name="Line 21"/>
            <p:cNvSpPr>
              <a:spLocks noChangeShapeType="1"/>
            </p:cNvSpPr>
            <p:nvPr/>
          </p:nvSpPr>
          <p:spPr bwMode="auto">
            <a:xfrm>
              <a:off x="733" y="817"/>
              <a:ext cx="0" cy="518"/>
            </a:xfrm>
            <a:prstGeom prst="line">
              <a:avLst/>
            </a:prstGeom>
            <a:noFill/>
            <a:ln w="28575" cap="sq">
              <a:noFill/>
              <a:round/>
              <a:headEnd type="none" w="med" len="lg"/>
              <a:tailEnd type="none" w="sm" len="sm"/>
            </a:ln>
          </p:spPr>
          <p:txBody>
            <a:bodyPr/>
            <a:lstStyle/>
            <a:p>
              <a:endParaRPr lang="en-US"/>
            </a:p>
          </p:txBody>
        </p:sp>
        <p:sp>
          <p:nvSpPr>
            <p:cNvPr id="25669" name="Line 22"/>
            <p:cNvSpPr>
              <a:spLocks noChangeShapeType="1"/>
            </p:cNvSpPr>
            <p:nvPr/>
          </p:nvSpPr>
          <p:spPr bwMode="auto">
            <a:xfrm>
              <a:off x="1232" y="817"/>
              <a:ext cx="498" cy="0"/>
            </a:xfrm>
            <a:prstGeom prst="line">
              <a:avLst/>
            </a:prstGeom>
            <a:noFill/>
            <a:ln w="28575" cap="sq">
              <a:noFill/>
              <a:round/>
              <a:headEnd type="none" w="med" len="lg"/>
              <a:tailEnd type="none" w="sm" len="sm"/>
            </a:ln>
          </p:spPr>
          <p:txBody>
            <a:bodyPr/>
            <a:lstStyle/>
            <a:p>
              <a:endParaRPr lang="en-US"/>
            </a:p>
          </p:txBody>
        </p:sp>
        <p:sp>
          <p:nvSpPr>
            <p:cNvPr id="25670" name="Line 23"/>
            <p:cNvSpPr>
              <a:spLocks noChangeShapeType="1"/>
            </p:cNvSpPr>
            <p:nvPr/>
          </p:nvSpPr>
          <p:spPr bwMode="auto">
            <a:xfrm>
              <a:off x="733" y="1335"/>
              <a:ext cx="0" cy="468"/>
            </a:xfrm>
            <a:prstGeom prst="line">
              <a:avLst/>
            </a:prstGeom>
            <a:noFill/>
            <a:ln w="28575" cap="sq">
              <a:noFill/>
              <a:round/>
              <a:headEnd type="none" w="med" len="lg"/>
              <a:tailEnd type="none" w="sm" len="sm"/>
            </a:ln>
          </p:spPr>
          <p:txBody>
            <a:bodyPr/>
            <a:lstStyle/>
            <a:p>
              <a:endParaRPr lang="en-US"/>
            </a:p>
          </p:txBody>
        </p:sp>
        <p:sp>
          <p:nvSpPr>
            <p:cNvPr id="25671" name="Line 24"/>
            <p:cNvSpPr>
              <a:spLocks noChangeShapeType="1"/>
            </p:cNvSpPr>
            <p:nvPr/>
          </p:nvSpPr>
          <p:spPr bwMode="auto">
            <a:xfrm>
              <a:off x="1730" y="817"/>
              <a:ext cx="499" cy="0"/>
            </a:xfrm>
            <a:prstGeom prst="line">
              <a:avLst/>
            </a:prstGeom>
            <a:noFill/>
            <a:ln w="28575" cap="sq">
              <a:noFill/>
              <a:round/>
              <a:headEnd type="none" w="med" len="lg"/>
              <a:tailEnd type="none" w="sm" len="sm"/>
            </a:ln>
          </p:spPr>
          <p:txBody>
            <a:bodyPr/>
            <a:lstStyle/>
            <a:p>
              <a:endParaRPr lang="en-US"/>
            </a:p>
          </p:txBody>
        </p:sp>
        <p:sp>
          <p:nvSpPr>
            <p:cNvPr id="25672" name="Line 25"/>
            <p:cNvSpPr>
              <a:spLocks noChangeShapeType="1"/>
            </p:cNvSpPr>
            <p:nvPr/>
          </p:nvSpPr>
          <p:spPr bwMode="auto">
            <a:xfrm>
              <a:off x="2229" y="817"/>
              <a:ext cx="498" cy="0"/>
            </a:xfrm>
            <a:prstGeom prst="line">
              <a:avLst/>
            </a:prstGeom>
            <a:noFill/>
            <a:ln w="28575" cap="sq">
              <a:noFill/>
              <a:round/>
              <a:headEnd type="none" w="med" len="lg"/>
              <a:tailEnd type="none" w="sm" len="sm"/>
            </a:ln>
          </p:spPr>
          <p:txBody>
            <a:bodyPr/>
            <a:lstStyle/>
            <a:p>
              <a:endParaRPr lang="en-US"/>
            </a:p>
          </p:txBody>
        </p:sp>
        <p:sp>
          <p:nvSpPr>
            <p:cNvPr id="25673" name="Line 26"/>
            <p:cNvSpPr>
              <a:spLocks noChangeShapeType="1"/>
            </p:cNvSpPr>
            <p:nvPr/>
          </p:nvSpPr>
          <p:spPr bwMode="auto">
            <a:xfrm>
              <a:off x="2727" y="817"/>
              <a:ext cx="499" cy="0"/>
            </a:xfrm>
            <a:prstGeom prst="line">
              <a:avLst/>
            </a:prstGeom>
            <a:noFill/>
            <a:ln w="28575" cap="sq">
              <a:noFill/>
              <a:round/>
              <a:headEnd type="none" w="med" len="lg"/>
              <a:tailEnd type="none" w="sm" len="sm"/>
            </a:ln>
          </p:spPr>
          <p:txBody>
            <a:bodyPr/>
            <a:lstStyle/>
            <a:p>
              <a:endParaRPr lang="en-US"/>
            </a:p>
          </p:txBody>
        </p:sp>
        <p:sp>
          <p:nvSpPr>
            <p:cNvPr id="25674" name="Line 27"/>
            <p:cNvSpPr>
              <a:spLocks noChangeShapeType="1"/>
            </p:cNvSpPr>
            <p:nvPr/>
          </p:nvSpPr>
          <p:spPr bwMode="auto">
            <a:xfrm>
              <a:off x="3226" y="1335"/>
              <a:ext cx="0" cy="958"/>
            </a:xfrm>
            <a:prstGeom prst="line">
              <a:avLst/>
            </a:prstGeom>
            <a:noFill/>
            <a:ln w="12700" cap="sq">
              <a:solidFill>
                <a:schemeClr val="tx1"/>
              </a:solidFill>
              <a:round/>
              <a:headEnd type="none" w="med" len="lg"/>
              <a:tailEnd type="none" w="sm" len="sm"/>
            </a:ln>
          </p:spPr>
          <p:txBody>
            <a:bodyPr/>
            <a:lstStyle/>
            <a:p>
              <a:endParaRPr lang="en-US"/>
            </a:p>
          </p:txBody>
        </p:sp>
        <p:sp>
          <p:nvSpPr>
            <p:cNvPr id="25675" name="Line 28"/>
            <p:cNvSpPr>
              <a:spLocks noChangeShapeType="1"/>
            </p:cNvSpPr>
            <p:nvPr/>
          </p:nvSpPr>
          <p:spPr bwMode="auto">
            <a:xfrm>
              <a:off x="733" y="1803"/>
              <a:ext cx="0" cy="490"/>
            </a:xfrm>
            <a:prstGeom prst="line">
              <a:avLst/>
            </a:prstGeom>
            <a:noFill/>
            <a:ln w="28575" cap="sq">
              <a:noFill/>
              <a:round/>
              <a:headEnd type="none" w="med" len="lg"/>
              <a:tailEnd type="none" w="sm" len="sm"/>
            </a:ln>
          </p:spPr>
          <p:txBody>
            <a:bodyPr/>
            <a:lstStyle/>
            <a:p>
              <a:endParaRPr lang="en-US"/>
            </a:p>
          </p:txBody>
        </p:sp>
        <p:sp>
          <p:nvSpPr>
            <p:cNvPr id="25676" name="Line 29"/>
            <p:cNvSpPr>
              <a:spLocks noChangeShapeType="1"/>
            </p:cNvSpPr>
            <p:nvPr/>
          </p:nvSpPr>
          <p:spPr bwMode="auto">
            <a:xfrm>
              <a:off x="1232" y="2293"/>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5677" name="Line 30"/>
            <p:cNvSpPr>
              <a:spLocks noChangeShapeType="1"/>
            </p:cNvSpPr>
            <p:nvPr/>
          </p:nvSpPr>
          <p:spPr bwMode="auto">
            <a:xfrm>
              <a:off x="1232" y="1335"/>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5678" name="Line 31"/>
            <p:cNvSpPr>
              <a:spLocks noChangeShapeType="1"/>
            </p:cNvSpPr>
            <p:nvPr/>
          </p:nvSpPr>
          <p:spPr bwMode="auto">
            <a:xfrm>
              <a:off x="1232" y="1335"/>
              <a:ext cx="0" cy="958"/>
            </a:xfrm>
            <a:prstGeom prst="line">
              <a:avLst/>
            </a:prstGeom>
            <a:noFill/>
            <a:ln w="12700" cap="sq">
              <a:solidFill>
                <a:schemeClr val="tx1"/>
              </a:solidFill>
              <a:round/>
              <a:headEnd type="none" w="med" len="lg"/>
              <a:tailEnd type="none" w="sm" len="sm"/>
            </a:ln>
          </p:spPr>
          <p:txBody>
            <a:bodyPr/>
            <a:lstStyle/>
            <a:p>
              <a:endParaRPr lang="en-US"/>
            </a:p>
          </p:txBody>
        </p:sp>
        <p:sp>
          <p:nvSpPr>
            <p:cNvPr id="25679" name="Line 32"/>
            <p:cNvSpPr>
              <a:spLocks noChangeShapeType="1"/>
            </p:cNvSpPr>
            <p:nvPr/>
          </p:nvSpPr>
          <p:spPr bwMode="auto">
            <a:xfrm>
              <a:off x="1730"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5680" name="Line 33"/>
            <p:cNvSpPr>
              <a:spLocks noChangeShapeType="1"/>
            </p:cNvSpPr>
            <p:nvPr/>
          </p:nvSpPr>
          <p:spPr bwMode="auto">
            <a:xfrm>
              <a:off x="2229"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5681" name="Line 34"/>
            <p:cNvSpPr>
              <a:spLocks noChangeShapeType="1"/>
            </p:cNvSpPr>
            <p:nvPr/>
          </p:nvSpPr>
          <p:spPr bwMode="auto">
            <a:xfrm>
              <a:off x="2727"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5682" name="Line 35"/>
            <p:cNvSpPr>
              <a:spLocks noChangeShapeType="1"/>
            </p:cNvSpPr>
            <p:nvPr/>
          </p:nvSpPr>
          <p:spPr bwMode="auto">
            <a:xfrm>
              <a:off x="3226" y="817"/>
              <a:ext cx="0" cy="518"/>
            </a:xfrm>
            <a:prstGeom prst="line">
              <a:avLst/>
            </a:prstGeom>
            <a:noFill/>
            <a:ln w="28575" cap="sq">
              <a:noFill/>
              <a:round/>
              <a:headEnd type="none" w="med" len="lg"/>
              <a:tailEnd type="none" w="sm" len="sm"/>
            </a:ln>
          </p:spPr>
          <p:txBody>
            <a:bodyPr/>
            <a:lstStyle/>
            <a:p>
              <a:endParaRPr lang="en-US"/>
            </a:p>
          </p:txBody>
        </p:sp>
        <p:sp>
          <p:nvSpPr>
            <p:cNvPr id="25683" name="Line 36"/>
            <p:cNvSpPr>
              <a:spLocks noChangeShapeType="1"/>
            </p:cNvSpPr>
            <p:nvPr/>
          </p:nvSpPr>
          <p:spPr bwMode="auto">
            <a:xfrm>
              <a:off x="1232" y="1803"/>
              <a:ext cx="1994" cy="0"/>
            </a:xfrm>
            <a:prstGeom prst="line">
              <a:avLst/>
            </a:prstGeom>
            <a:noFill/>
            <a:ln w="12700">
              <a:solidFill>
                <a:schemeClr val="tx1"/>
              </a:solidFill>
              <a:round/>
              <a:headEnd type="none" w="med" len="lg"/>
              <a:tailEnd type="none" w="sm" len="sm"/>
            </a:ln>
          </p:spPr>
          <p:txBody>
            <a:bodyPr/>
            <a:lstStyle/>
            <a:p>
              <a:endParaRPr lang="en-US"/>
            </a:p>
          </p:txBody>
        </p:sp>
        <p:sp>
          <p:nvSpPr>
            <p:cNvPr id="25684" name="Line 37"/>
            <p:cNvSpPr>
              <a:spLocks noChangeShapeType="1"/>
            </p:cNvSpPr>
            <p:nvPr/>
          </p:nvSpPr>
          <p:spPr bwMode="auto">
            <a:xfrm>
              <a:off x="733" y="2293"/>
              <a:ext cx="499" cy="0"/>
            </a:xfrm>
            <a:prstGeom prst="line">
              <a:avLst/>
            </a:prstGeom>
            <a:noFill/>
            <a:ln w="28575" cap="sq">
              <a:noFill/>
              <a:round/>
              <a:headEnd type="none" w="med" len="lg"/>
              <a:tailEnd type="none" w="sm" len="sm"/>
            </a:ln>
          </p:spPr>
          <p:txBody>
            <a:bodyPr/>
            <a:lstStyle/>
            <a:p>
              <a:endParaRPr lang="en-US"/>
            </a:p>
          </p:txBody>
        </p:sp>
        <p:sp>
          <p:nvSpPr>
            <p:cNvPr id="25685" name="Line 38"/>
            <p:cNvSpPr>
              <a:spLocks noChangeShapeType="1"/>
            </p:cNvSpPr>
            <p:nvPr/>
          </p:nvSpPr>
          <p:spPr bwMode="auto">
            <a:xfrm>
              <a:off x="879" y="961"/>
              <a:ext cx="344" cy="364"/>
            </a:xfrm>
            <a:prstGeom prst="line">
              <a:avLst/>
            </a:prstGeom>
            <a:noFill/>
            <a:ln w="12700">
              <a:solidFill>
                <a:schemeClr val="tx1"/>
              </a:solidFill>
              <a:round/>
              <a:headEnd type="none" w="sm" len="sm"/>
              <a:tailEnd type="none" w="sm" len="sm"/>
            </a:ln>
          </p:spPr>
          <p:txBody>
            <a:bodyPr/>
            <a:lstStyle/>
            <a:p>
              <a:endParaRPr lang="en-US"/>
            </a:p>
          </p:txBody>
        </p:sp>
      </p:grpSp>
      <p:sp>
        <p:nvSpPr>
          <p:cNvPr id="81959" name="Oval 39"/>
          <p:cNvSpPr>
            <a:spLocks noChangeArrowheads="1"/>
          </p:cNvSpPr>
          <p:nvPr/>
        </p:nvSpPr>
        <p:spPr bwMode="auto">
          <a:xfrm>
            <a:off x="4292765" y="4250555"/>
            <a:ext cx="763588" cy="1384300"/>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1960" name="Oval 40"/>
          <p:cNvSpPr>
            <a:spLocks noChangeArrowheads="1"/>
          </p:cNvSpPr>
          <p:nvPr/>
        </p:nvSpPr>
        <p:spPr bwMode="auto">
          <a:xfrm>
            <a:off x="3432340" y="4960167"/>
            <a:ext cx="1557338" cy="642938"/>
          </a:xfrm>
          <a:prstGeom prst="ellipse">
            <a:avLst/>
          </a:prstGeom>
          <a:noFill/>
          <a:ln w="38100">
            <a:solidFill>
              <a:schemeClr val="tx2"/>
            </a:solidFill>
            <a:round/>
            <a:headEnd type="none" w="sm" len="sm"/>
            <a:tailEnd type="none" w="sm" len="sm"/>
          </a:ln>
        </p:spPr>
        <p:txBody>
          <a:bodyPr wrap="none" anchor="ctr"/>
          <a:lstStyle/>
          <a:p>
            <a:endParaRPr lang="en-US"/>
          </a:p>
        </p:txBody>
      </p:sp>
      <p:grpSp>
        <p:nvGrpSpPr>
          <p:cNvPr id="3" name="Group 49"/>
          <p:cNvGrpSpPr>
            <a:grpSpLocks/>
          </p:cNvGrpSpPr>
          <p:nvPr/>
        </p:nvGrpSpPr>
        <p:grpSpPr bwMode="auto">
          <a:xfrm>
            <a:off x="6307304" y="3555231"/>
            <a:ext cx="3957637" cy="2124075"/>
            <a:chOff x="733" y="817"/>
            <a:chExt cx="2493" cy="1476"/>
          </a:xfrm>
        </p:grpSpPr>
        <p:sp>
          <p:nvSpPr>
            <p:cNvPr id="25618" name="Rectangle 50"/>
            <p:cNvSpPr>
              <a:spLocks noChangeArrowheads="1"/>
            </p:cNvSpPr>
            <p:nvPr/>
          </p:nvSpPr>
          <p:spPr bwMode="auto">
            <a:xfrm>
              <a:off x="2727" y="1803"/>
              <a:ext cx="499"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5619" name="Rectangle 51"/>
            <p:cNvSpPr>
              <a:spLocks noChangeArrowheads="1"/>
            </p:cNvSpPr>
            <p:nvPr/>
          </p:nvSpPr>
          <p:spPr bwMode="auto">
            <a:xfrm>
              <a:off x="2229" y="1803"/>
              <a:ext cx="498"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5620" name="Rectangle 52"/>
            <p:cNvSpPr>
              <a:spLocks noChangeArrowheads="1"/>
            </p:cNvSpPr>
            <p:nvPr/>
          </p:nvSpPr>
          <p:spPr bwMode="auto">
            <a:xfrm>
              <a:off x="1730" y="1803"/>
              <a:ext cx="499"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5621" name="Rectangle 53"/>
            <p:cNvSpPr>
              <a:spLocks noChangeArrowheads="1"/>
            </p:cNvSpPr>
            <p:nvPr/>
          </p:nvSpPr>
          <p:spPr bwMode="auto">
            <a:xfrm>
              <a:off x="1232" y="1803"/>
              <a:ext cx="498" cy="49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5622" name="Rectangle 54"/>
            <p:cNvSpPr>
              <a:spLocks noChangeArrowheads="1"/>
            </p:cNvSpPr>
            <p:nvPr/>
          </p:nvSpPr>
          <p:spPr bwMode="auto">
            <a:xfrm>
              <a:off x="733" y="1803"/>
              <a:ext cx="499" cy="49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a:t>
              </a:r>
            </a:p>
          </p:txBody>
        </p:sp>
        <p:sp>
          <p:nvSpPr>
            <p:cNvPr id="25623" name="Rectangle 55"/>
            <p:cNvSpPr>
              <a:spLocks noChangeArrowheads="1"/>
            </p:cNvSpPr>
            <p:nvPr/>
          </p:nvSpPr>
          <p:spPr bwMode="auto">
            <a:xfrm>
              <a:off x="2727" y="1335"/>
              <a:ext cx="499"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5624" name="Rectangle 56"/>
            <p:cNvSpPr>
              <a:spLocks noChangeArrowheads="1"/>
            </p:cNvSpPr>
            <p:nvPr/>
          </p:nvSpPr>
          <p:spPr bwMode="auto">
            <a:xfrm>
              <a:off x="2229" y="1335"/>
              <a:ext cx="498"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5625" name="Rectangle 57"/>
            <p:cNvSpPr>
              <a:spLocks noChangeArrowheads="1"/>
            </p:cNvSpPr>
            <p:nvPr/>
          </p:nvSpPr>
          <p:spPr bwMode="auto">
            <a:xfrm>
              <a:off x="1730" y="1335"/>
              <a:ext cx="499"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5626" name="Rectangle 58"/>
            <p:cNvSpPr>
              <a:spLocks noChangeArrowheads="1"/>
            </p:cNvSpPr>
            <p:nvPr/>
          </p:nvSpPr>
          <p:spPr bwMode="auto">
            <a:xfrm>
              <a:off x="1232" y="1335"/>
              <a:ext cx="498" cy="46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5627" name="Rectangle 59"/>
            <p:cNvSpPr>
              <a:spLocks noChangeArrowheads="1"/>
            </p:cNvSpPr>
            <p:nvPr/>
          </p:nvSpPr>
          <p:spPr bwMode="auto">
            <a:xfrm>
              <a:off x="733" y="1335"/>
              <a:ext cx="499" cy="468"/>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a:t>
              </a:r>
            </a:p>
          </p:txBody>
        </p:sp>
        <p:sp>
          <p:nvSpPr>
            <p:cNvPr id="25628" name="Rectangle 60"/>
            <p:cNvSpPr>
              <a:spLocks noChangeArrowheads="1"/>
            </p:cNvSpPr>
            <p:nvPr/>
          </p:nvSpPr>
          <p:spPr bwMode="auto">
            <a:xfrm>
              <a:off x="2727" y="817"/>
              <a:ext cx="499"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5629" name="Rectangle 61"/>
            <p:cNvSpPr>
              <a:spLocks noChangeArrowheads="1"/>
            </p:cNvSpPr>
            <p:nvPr/>
          </p:nvSpPr>
          <p:spPr bwMode="auto">
            <a:xfrm>
              <a:off x="2229" y="817"/>
              <a:ext cx="498"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5630" name="Rectangle 62"/>
            <p:cNvSpPr>
              <a:spLocks noChangeArrowheads="1"/>
            </p:cNvSpPr>
            <p:nvPr/>
          </p:nvSpPr>
          <p:spPr bwMode="auto">
            <a:xfrm>
              <a:off x="1730" y="817"/>
              <a:ext cx="499"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5631" name="Rectangle 63"/>
            <p:cNvSpPr>
              <a:spLocks noChangeArrowheads="1"/>
            </p:cNvSpPr>
            <p:nvPr/>
          </p:nvSpPr>
          <p:spPr bwMode="auto">
            <a:xfrm>
              <a:off x="1232" y="817"/>
              <a:ext cx="498" cy="518"/>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5632" name="Rectangle 64"/>
            <p:cNvSpPr>
              <a:spLocks noChangeArrowheads="1"/>
            </p:cNvSpPr>
            <p:nvPr/>
          </p:nvSpPr>
          <p:spPr bwMode="auto">
            <a:xfrm>
              <a:off x="733" y="817"/>
              <a:ext cx="499" cy="518"/>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a:solidFill>
                    <a:schemeClr val="tx1"/>
                  </a:solidFill>
                </a:rPr>
                <a:t>    ab</a:t>
              </a:r>
            </a:p>
            <a:p>
              <a:pPr>
                <a:lnSpc>
                  <a:spcPct val="90000"/>
                </a:lnSpc>
                <a:spcBef>
                  <a:spcPct val="30000"/>
                </a:spcBef>
                <a:buSzPct val="85000"/>
              </a:pPr>
              <a:r>
                <a:rPr lang="en-US">
                  <a:solidFill>
                    <a:schemeClr val="tx1"/>
                  </a:solidFill>
                </a:rPr>
                <a:t>  c</a:t>
              </a:r>
            </a:p>
          </p:txBody>
        </p:sp>
        <p:sp>
          <p:nvSpPr>
            <p:cNvPr id="25633" name="Line 65"/>
            <p:cNvSpPr>
              <a:spLocks noChangeShapeType="1"/>
            </p:cNvSpPr>
            <p:nvPr/>
          </p:nvSpPr>
          <p:spPr bwMode="auto">
            <a:xfrm>
              <a:off x="733" y="817"/>
              <a:ext cx="499" cy="0"/>
            </a:xfrm>
            <a:prstGeom prst="line">
              <a:avLst/>
            </a:prstGeom>
            <a:noFill/>
            <a:ln w="28575" cap="sq">
              <a:noFill/>
              <a:round/>
              <a:headEnd type="none" w="med" len="lg"/>
              <a:tailEnd type="none" w="sm" len="sm"/>
            </a:ln>
          </p:spPr>
          <p:txBody>
            <a:bodyPr/>
            <a:lstStyle/>
            <a:p>
              <a:endParaRPr lang="en-US"/>
            </a:p>
          </p:txBody>
        </p:sp>
        <p:sp>
          <p:nvSpPr>
            <p:cNvPr id="25634" name="Line 66"/>
            <p:cNvSpPr>
              <a:spLocks noChangeShapeType="1"/>
            </p:cNvSpPr>
            <p:nvPr/>
          </p:nvSpPr>
          <p:spPr bwMode="auto">
            <a:xfrm>
              <a:off x="733" y="817"/>
              <a:ext cx="0" cy="518"/>
            </a:xfrm>
            <a:prstGeom prst="line">
              <a:avLst/>
            </a:prstGeom>
            <a:noFill/>
            <a:ln w="28575" cap="sq">
              <a:noFill/>
              <a:round/>
              <a:headEnd type="none" w="med" len="lg"/>
              <a:tailEnd type="none" w="sm" len="sm"/>
            </a:ln>
          </p:spPr>
          <p:txBody>
            <a:bodyPr/>
            <a:lstStyle/>
            <a:p>
              <a:endParaRPr lang="en-US"/>
            </a:p>
          </p:txBody>
        </p:sp>
        <p:sp>
          <p:nvSpPr>
            <p:cNvPr id="25635" name="Line 67"/>
            <p:cNvSpPr>
              <a:spLocks noChangeShapeType="1"/>
            </p:cNvSpPr>
            <p:nvPr/>
          </p:nvSpPr>
          <p:spPr bwMode="auto">
            <a:xfrm>
              <a:off x="1232" y="817"/>
              <a:ext cx="498" cy="0"/>
            </a:xfrm>
            <a:prstGeom prst="line">
              <a:avLst/>
            </a:prstGeom>
            <a:noFill/>
            <a:ln w="28575" cap="sq">
              <a:noFill/>
              <a:round/>
              <a:headEnd type="none" w="med" len="lg"/>
              <a:tailEnd type="none" w="sm" len="sm"/>
            </a:ln>
          </p:spPr>
          <p:txBody>
            <a:bodyPr/>
            <a:lstStyle/>
            <a:p>
              <a:endParaRPr lang="en-US"/>
            </a:p>
          </p:txBody>
        </p:sp>
        <p:sp>
          <p:nvSpPr>
            <p:cNvPr id="25636" name="Line 68"/>
            <p:cNvSpPr>
              <a:spLocks noChangeShapeType="1"/>
            </p:cNvSpPr>
            <p:nvPr/>
          </p:nvSpPr>
          <p:spPr bwMode="auto">
            <a:xfrm>
              <a:off x="733" y="1335"/>
              <a:ext cx="0" cy="468"/>
            </a:xfrm>
            <a:prstGeom prst="line">
              <a:avLst/>
            </a:prstGeom>
            <a:noFill/>
            <a:ln w="28575" cap="sq">
              <a:noFill/>
              <a:round/>
              <a:headEnd type="none" w="med" len="lg"/>
              <a:tailEnd type="none" w="sm" len="sm"/>
            </a:ln>
          </p:spPr>
          <p:txBody>
            <a:bodyPr/>
            <a:lstStyle/>
            <a:p>
              <a:endParaRPr lang="en-US"/>
            </a:p>
          </p:txBody>
        </p:sp>
        <p:sp>
          <p:nvSpPr>
            <p:cNvPr id="25637" name="Line 69"/>
            <p:cNvSpPr>
              <a:spLocks noChangeShapeType="1"/>
            </p:cNvSpPr>
            <p:nvPr/>
          </p:nvSpPr>
          <p:spPr bwMode="auto">
            <a:xfrm>
              <a:off x="1730" y="817"/>
              <a:ext cx="499" cy="0"/>
            </a:xfrm>
            <a:prstGeom prst="line">
              <a:avLst/>
            </a:prstGeom>
            <a:noFill/>
            <a:ln w="28575" cap="sq">
              <a:noFill/>
              <a:round/>
              <a:headEnd type="none" w="med" len="lg"/>
              <a:tailEnd type="none" w="sm" len="sm"/>
            </a:ln>
          </p:spPr>
          <p:txBody>
            <a:bodyPr/>
            <a:lstStyle/>
            <a:p>
              <a:endParaRPr lang="en-US"/>
            </a:p>
          </p:txBody>
        </p:sp>
        <p:sp>
          <p:nvSpPr>
            <p:cNvPr id="25638" name="Line 70"/>
            <p:cNvSpPr>
              <a:spLocks noChangeShapeType="1"/>
            </p:cNvSpPr>
            <p:nvPr/>
          </p:nvSpPr>
          <p:spPr bwMode="auto">
            <a:xfrm>
              <a:off x="2229" y="817"/>
              <a:ext cx="498" cy="0"/>
            </a:xfrm>
            <a:prstGeom prst="line">
              <a:avLst/>
            </a:prstGeom>
            <a:noFill/>
            <a:ln w="28575" cap="sq">
              <a:noFill/>
              <a:round/>
              <a:headEnd type="none" w="med" len="lg"/>
              <a:tailEnd type="none" w="sm" len="sm"/>
            </a:ln>
          </p:spPr>
          <p:txBody>
            <a:bodyPr/>
            <a:lstStyle/>
            <a:p>
              <a:endParaRPr lang="en-US"/>
            </a:p>
          </p:txBody>
        </p:sp>
        <p:sp>
          <p:nvSpPr>
            <p:cNvPr id="25639" name="Line 71"/>
            <p:cNvSpPr>
              <a:spLocks noChangeShapeType="1"/>
            </p:cNvSpPr>
            <p:nvPr/>
          </p:nvSpPr>
          <p:spPr bwMode="auto">
            <a:xfrm>
              <a:off x="2727" y="817"/>
              <a:ext cx="499" cy="0"/>
            </a:xfrm>
            <a:prstGeom prst="line">
              <a:avLst/>
            </a:prstGeom>
            <a:noFill/>
            <a:ln w="28575" cap="sq">
              <a:noFill/>
              <a:round/>
              <a:headEnd type="none" w="med" len="lg"/>
              <a:tailEnd type="none" w="sm" len="sm"/>
            </a:ln>
          </p:spPr>
          <p:txBody>
            <a:bodyPr/>
            <a:lstStyle/>
            <a:p>
              <a:endParaRPr lang="en-US"/>
            </a:p>
          </p:txBody>
        </p:sp>
        <p:sp>
          <p:nvSpPr>
            <p:cNvPr id="25640" name="Line 72"/>
            <p:cNvSpPr>
              <a:spLocks noChangeShapeType="1"/>
            </p:cNvSpPr>
            <p:nvPr/>
          </p:nvSpPr>
          <p:spPr bwMode="auto">
            <a:xfrm>
              <a:off x="3226" y="1335"/>
              <a:ext cx="0" cy="958"/>
            </a:xfrm>
            <a:prstGeom prst="line">
              <a:avLst/>
            </a:prstGeom>
            <a:noFill/>
            <a:ln w="12700" cap="sq">
              <a:solidFill>
                <a:schemeClr val="tx1"/>
              </a:solidFill>
              <a:round/>
              <a:headEnd type="none" w="med" len="lg"/>
              <a:tailEnd type="none" w="sm" len="sm"/>
            </a:ln>
          </p:spPr>
          <p:txBody>
            <a:bodyPr/>
            <a:lstStyle/>
            <a:p>
              <a:endParaRPr lang="en-US"/>
            </a:p>
          </p:txBody>
        </p:sp>
        <p:sp>
          <p:nvSpPr>
            <p:cNvPr id="25641" name="Line 73"/>
            <p:cNvSpPr>
              <a:spLocks noChangeShapeType="1"/>
            </p:cNvSpPr>
            <p:nvPr/>
          </p:nvSpPr>
          <p:spPr bwMode="auto">
            <a:xfrm>
              <a:off x="733" y="1803"/>
              <a:ext cx="0" cy="490"/>
            </a:xfrm>
            <a:prstGeom prst="line">
              <a:avLst/>
            </a:prstGeom>
            <a:noFill/>
            <a:ln w="28575" cap="sq">
              <a:noFill/>
              <a:round/>
              <a:headEnd type="none" w="med" len="lg"/>
              <a:tailEnd type="none" w="sm" len="sm"/>
            </a:ln>
          </p:spPr>
          <p:txBody>
            <a:bodyPr/>
            <a:lstStyle/>
            <a:p>
              <a:endParaRPr lang="en-US"/>
            </a:p>
          </p:txBody>
        </p:sp>
        <p:sp>
          <p:nvSpPr>
            <p:cNvPr id="25642" name="Line 74"/>
            <p:cNvSpPr>
              <a:spLocks noChangeShapeType="1"/>
            </p:cNvSpPr>
            <p:nvPr/>
          </p:nvSpPr>
          <p:spPr bwMode="auto">
            <a:xfrm>
              <a:off x="1232" y="2293"/>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5643" name="Line 75"/>
            <p:cNvSpPr>
              <a:spLocks noChangeShapeType="1"/>
            </p:cNvSpPr>
            <p:nvPr/>
          </p:nvSpPr>
          <p:spPr bwMode="auto">
            <a:xfrm>
              <a:off x="1232" y="1335"/>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5644" name="Line 76"/>
            <p:cNvSpPr>
              <a:spLocks noChangeShapeType="1"/>
            </p:cNvSpPr>
            <p:nvPr/>
          </p:nvSpPr>
          <p:spPr bwMode="auto">
            <a:xfrm>
              <a:off x="1232" y="1335"/>
              <a:ext cx="0" cy="958"/>
            </a:xfrm>
            <a:prstGeom prst="line">
              <a:avLst/>
            </a:prstGeom>
            <a:noFill/>
            <a:ln w="12700" cap="sq">
              <a:solidFill>
                <a:schemeClr val="tx1"/>
              </a:solidFill>
              <a:round/>
              <a:headEnd type="none" w="med" len="lg"/>
              <a:tailEnd type="none" w="sm" len="sm"/>
            </a:ln>
          </p:spPr>
          <p:txBody>
            <a:bodyPr/>
            <a:lstStyle/>
            <a:p>
              <a:endParaRPr lang="en-US"/>
            </a:p>
          </p:txBody>
        </p:sp>
        <p:sp>
          <p:nvSpPr>
            <p:cNvPr id="25645" name="Line 77"/>
            <p:cNvSpPr>
              <a:spLocks noChangeShapeType="1"/>
            </p:cNvSpPr>
            <p:nvPr/>
          </p:nvSpPr>
          <p:spPr bwMode="auto">
            <a:xfrm>
              <a:off x="1730"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5646" name="Line 78"/>
            <p:cNvSpPr>
              <a:spLocks noChangeShapeType="1"/>
            </p:cNvSpPr>
            <p:nvPr/>
          </p:nvSpPr>
          <p:spPr bwMode="auto">
            <a:xfrm>
              <a:off x="2229"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5647" name="Line 79"/>
            <p:cNvSpPr>
              <a:spLocks noChangeShapeType="1"/>
            </p:cNvSpPr>
            <p:nvPr/>
          </p:nvSpPr>
          <p:spPr bwMode="auto">
            <a:xfrm>
              <a:off x="2727" y="1335"/>
              <a:ext cx="0" cy="958"/>
            </a:xfrm>
            <a:prstGeom prst="line">
              <a:avLst/>
            </a:prstGeom>
            <a:noFill/>
            <a:ln w="12700">
              <a:solidFill>
                <a:schemeClr val="tx1"/>
              </a:solidFill>
              <a:round/>
              <a:headEnd type="none" w="med" len="lg"/>
              <a:tailEnd type="none" w="sm" len="sm"/>
            </a:ln>
          </p:spPr>
          <p:txBody>
            <a:bodyPr/>
            <a:lstStyle/>
            <a:p>
              <a:endParaRPr lang="en-US"/>
            </a:p>
          </p:txBody>
        </p:sp>
        <p:sp>
          <p:nvSpPr>
            <p:cNvPr id="25648" name="Line 80"/>
            <p:cNvSpPr>
              <a:spLocks noChangeShapeType="1"/>
            </p:cNvSpPr>
            <p:nvPr/>
          </p:nvSpPr>
          <p:spPr bwMode="auto">
            <a:xfrm>
              <a:off x="3226" y="817"/>
              <a:ext cx="0" cy="518"/>
            </a:xfrm>
            <a:prstGeom prst="line">
              <a:avLst/>
            </a:prstGeom>
            <a:noFill/>
            <a:ln w="28575" cap="sq">
              <a:noFill/>
              <a:round/>
              <a:headEnd type="none" w="med" len="lg"/>
              <a:tailEnd type="none" w="sm" len="sm"/>
            </a:ln>
          </p:spPr>
          <p:txBody>
            <a:bodyPr/>
            <a:lstStyle/>
            <a:p>
              <a:endParaRPr lang="en-US"/>
            </a:p>
          </p:txBody>
        </p:sp>
        <p:sp>
          <p:nvSpPr>
            <p:cNvPr id="25649" name="Line 81"/>
            <p:cNvSpPr>
              <a:spLocks noChangeShapeType="1"/>
            </p:cNvSpPr>
            <p:nvPr/>
          </p:nvSpPr>
          <p:spPr bwMode="auto">
            <a:xfrm>
              <a:off x="1232" y="1803"/>
              <a:ext cx="1994" cy="0"/>
            </a:xfrm>
            <a:prstGeom prst="line">
              <a:avLst/>
            </a:prstGeom>
            <a:noFill/>
            <a:ln w="12700">
              <a:solidFill>
                <a:schemeClr val="tx1"/>
              </a:solidFill>
              <a:round/>
              <a:headEnd type="none" w="med" len="lg"/>
              <a:tailEnd type="none" w="sm" len="sm"/>
            </a:ln>
          </p:spPr>
          <p:txBody>
            <a:bodyPr/>
            <a:lstStyle/>
            <a:p>
              <a:endParaRPr lang="en-US"/>
            </a:p>
          </p:txBody>
        </p:sp>
        <p:sp>
          <p:nvSpPr>
            <p:cNvPr id="25650" name="Line 82"/>
            <p:cNvSpPr>
              <a:spLocks noChangeShapeType="1"/>
            </p:cNvSpPr>
            <p:nvPr/>
          </p:nvSpPr>
          <p:spPr bwMode="auto">
            <a:xfrm>
              <a:off x="733" y="2293"/>
              <a:ext cx="499" cy="0"/>
            </a:xfrm>
            <a:prstGeom prst="line">
              <a:avLst/>
            </a:prstGeom>
            <a:noFill/>
            <a:ln w="28575" cap="sq">
              <a:noFill/>
              <a:round/>
              <a:headEnd type="none" w="med" len="lg"/>
              <a:tailEnd type="none" w="sm" len="sm"/>
            </a:ln>
          </p:spPr>
          <p:txBody>
            <a:bodyPr/>
            <a:lstStyle/>
            <a:p>
              <a:endParaRPr lang="en-US"/>
            </a:p>
          </p:txBody>
        </p:sp>
        <p:sp>
          <p:nvSpPr>
            <p:cNvPr id="25651" name="Line 83"/>
            <p:cNvSpPr>
              <a:spLocks noChangeShapeType="1"/>
            </p:cNvSpPr>
            <p:nvPr/>
          </p:nvSpPr>
          <p:spPr bwMode="auto">
            <a:xfrm>
              <a:off x="879" y="961"/>
              <a:ext cx="344" cy="364"/>
            </a:xfrm>
            <a:prstGeom prst="line">
              <a:avLst/>
            </a:prstGeom>
            <a:noFill/>
            <a:ln w="12700">
              <a:solidFill>
                <a:schemeClr val="tx1"/>
              </a:solidFill>
              <a:round/>
              <a:headEnd type="none" w="sm" len="sm"/>
              <a:tailEnd type="none" w="sm" len="sm"/>
            </a:ln>
          </p:spPr>
          <p:txBody>
            <a:bodyPr/>
            <a:lstStyle/>
            <a:p>
              <a:endParaRPr lang="en-US"/>
            </a:p>
          </p:txBody>
        </p:sp>
      </p:grpSp>
      <p:sp>
        <p:nvSpPr>
          <p:cNvPr id="82006" name="Freeform 86"/>
          <p:cNvSpPr>
            <a:spLocks/>
          </p:cNvSpPr>
          <p:nvPr/>
        </p:nvSpPr>
        <p:spPr bwMode="auto">
          <a:xfrm>
            <a:off x="7069304" y="3933055"/>
            <a:ext cx="827087" cy="2068512"/>
          </a:xfrm>
          <a:custGeom>
            <a:avLst/>
            <a:gdLst>
              <a:gd name="T0" fmla="*/ 2147483647 w 521"/>
              <a:gd name="T1" fmla="*/ 2147483647 h 1303"/>
              <a:gd name="T2" fmla="*/ 2147483647 w 521"/>
              <a:gd name="T3" fmla="*/ 2147483647 h 1303"/>
              <a:gd name="T4" fmla="*/ 0 w 521"/>
              <a:gd name="T5" fmla="*/ 0 h 1303"/>
              <a:gd name="T6" fmla="*/ 0 60000 65536"/>
              <a:gd name="T7" fmla="*/ 0 60000 65536"/>
              <a:gd name="T8" fmla="*/ 0 60000 65536"/>
              <a:gd name="T9" fmla="*/ 0 w 521"/>
              <a:gd name="T10" fmla="*/ 0 h 1303"/>
              <a:gd name="T11" fmla="*/ 521 w 521"/>
              <a:gd name="T12" fmla="*/ 1303 h 1303"/>
            </a:gdLst>
            <a:ahLst/>
            <a:cxnLst>
              <a:cxn ang="T6">
                <a:pos x="T0" y="T1"/>
              </a:cxn>
              <a:cxn ang="T7">
                <a:pos x="T2" y="T3"/>
              </a:cxn>
              <a:cxn ang="T8">
                <a:pos x="T4" y="T5"/>
              </a:cxn>
            </a:cxnLst>
            <a:rect l="T9" t="T10" r="T11" b="T12"/>
            <a:pathLst>
              <a:path w="521" h="1303">
                <a:moveTo>
                  <a:pt x="76" y="1303"/>
                </a:moveTo>
                <a:cubicBezTo>
                  <a:pt x="298" y="1089"/>
                  <a:pt x="521" y="876"/>
                  <a:pt x="508" y="659"/>
                </a:cubicBezTo>
                <a:cubicBezTo>
                  <a:pt x="495" y="442"/>
                  <a:pt x="247" y="221"/>
                  <a:pt x="0" y="0"/>
                </a:cubicBezTo>
              </a:path>
            </a:pathLst>
          </a:custGeom>
          <a:noFill/>
          <a:ln w="38100">
            <a:solidFill>
              <a:schemeClr val="tx2"/>
            </a:solidFill>
            <a:round/>
            <a:headEnd type="none" w="sm" len="sm"/>
            <a:tailEnd type="none" w="sm" len="sm"/>
          </a:ln>
        </p:spPr>
        <p:txBody>
          <a:bodyPr/>
          <a:lstStyle/>
          <a:p>
            <a:endParaRPr lang="en-US"/>
          </a:p>
        </p:txBody>
      </p:sp>
      <p:sp>
        <p:nvSpPr>
          <p:cNvPr id="82007" name="Freeform 87"/>
          <p:cNvSpPr>
            <a:spLocks/>
          </p:cNvSpPr>
          <p:nvPr/>
        </p:nvSpPr>
        <p:spPr bwMode="auto">
          <a:xfrm>
            <a:off x="9491829" y="4020368"/>
            <a:ext cx="833437" cy="2068513"/>
          </a:xfrm>
          <a:custGeom>
            <a:avLst/>
            <a:gdLst>
              <a:gd name="T0" fmla="*/ 2147483647 w 525"/>
              <a:gd name="T1" fmla="*/ 0 h 1303"/>
              <a:gd name="T2" fmla="*/ 2147483647 w 525"/>
              <a:gd name="T3" fmla="*/ 2147483647 h 1303"/>
              <a:gd name="T4" fmla="*/ 2147483647 w 525"/>
              <a:gd name="T5" fmla="*/ 2147483647 h 1303"/>
              <a:gd name="T6" fmla="*/ 0 60000 65536"/>
              <a:gd name="T7" fmla="*/ 0 60000 65536"/>
              <a:gd name="T8" fmla="*/ 0 60000 65536"/>
              <a:gd name="T9" fmla="*/ 0 w 525"/>
              <a:gd name="T10" fmla="*/ 0 h 1303"/>
              <a:gd name="T11" fmla="*/ 525 w 525"/>
              <a:gd name="T12" fmla="*/ 1303 h 1303"/>
            </a:gdLst>
            <a:ahLst/>
            <a:cxnLst>
              <a:cxn ang="T6">
                <a:pos x="T0" y="T1"/>
              </a:cxn>
              <a:cxn ang="T7">
                <a:pos x="T2" y="T3"/>
              </a:cxn>
              <a:cxn ang="T8">
                <a:pos x="T4" y="T5"/>
              </a:cxn>
            </a:cxnLst>
            <a:rect l="T9" t="T10" r="T11" b="T12"/>
            <a:pathLst>
              <a:path w="525" h="1303">
                <a:moveTo>
                  <a:pt x="463" y="0"/>
                </a:moveTo>
                <a:cubicBezTo>
                  <a:pt x="231" y="197"/>
                  <a:pt x="0" y="394"/>
                  <a:pt x="10" y="611"/>
                </a:cubicBezTo>
                <a:cubicBezTo>
                  <a:pt x="20" y="828"/>
                  <a:pt x="272" y="1065"/>
                  <a:pt x="525" y="1303"/>
                </a:cubicBezTo>
              </a:path>
            </a:pathLst>
          </a:custGeom>
          <a:noFill/>
          <a:ln w="38100">
            <a:solidFill>
              <a:schemeClr val="tx2"/>
            </a:solidFill>
            <a:round/>
            <a:headEnd type="none" w="sm" len="sm"/>
            <a:tailEnd type="none" w="sm" len="sm"/>
          </a:ln>
        </p:spPr>
        <p:txBody>
          <a:bodyPr/>
          <a:lstStyle/>
          <a:p>
            <a:endParaRPr lang="en-US"/>
          </a:p>
        </p:txBody>
      </p:sp>
      <p:sp>
        <p:nvSpPr>
          <p:cNvPr id="82009" name="Oval 89"/>
          <p:cNvSpPr>
            <a:spLocks noChangeArrowheads="1"/>
          </p:cNvSpPr>
          <p:nvPr/>
        </p:nvSpPr>
        <p:spPr bwMode="auto">
          <a:xfrm>
            <a:off x="7058190" y="4328342"/>
            <a:ext cx="1557338" cy="64293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2010" name="Line 90"/>
          <p:cNvSpPr>
            <a:spLocks noChangeShapeType="1"/>
          </p:cNvSpPr>
          <p:nvPr/>
        </p:nvSpPr>
        <p:spPr bwMode="auto">
          <a:xfrm>
            <a:off x="5226813" y="2341571"/>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2011" name="Line 91"/>
          <p:cNvSpPr>
            <a:spLocks noChangeShapeType="1"/>
          </p:cNvSpPr>
          <p:nvPr/>
        </p:nvSpPr>
        <p:spPr bwMode="auto">
          <a:xfrm>
            <a:off x="5628537" y="235268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2012" name="Line 92"/>
          <p:cNvSpPr>
            <a:spLocks noChangeShapeType="1"/>
          </p:cNvSpPr>
          <p:nvPr/>
        </p:nvSpPr>
        <p:spPr bwMode="auto">
          <a:xfrm>
            <a:off x="6100527" y="2395546"/>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2013" name="Line 93"/>
          <p:cNvSpPr>
            <a:spLocks noChangeShapeType="1"/>
          </p:cNvSpPr>
          <p:nvPr/>
        </p:nvSpPr>
        <p:spPr bwMode="auto">
          <a:xfrm>
            <a:off x="6318015" y="237490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25616" name="Slide Number Placeholder 86"/>
          <p:cNvSpPr>
            <a:spLocks noGrp="1"/>
          </p:cNvSpPr>
          <p:nvPr>
            <p:ph type="sldNum" sz="quarter" idx="12"/>
          </p:nvPr>
        </p:nvSpPr>
        <p:spPr>
          <a:noFill/>
        </p:spPr>
        <p:txBody>
          <a:bodyPr/>
          <a:lstStyle/>
          <a:p>
            <a:fld id="{7CF45BA2-EDED-4685-A92D-97F5FA5DE84F}" type="slidenum">
              <a:rPr lang="en-US" smtClean="0">
                <a:latin typeface="Arial" charset="0"/>
                <a:cs typeface="Arial" charset="0"/>
              </a:rPr>
              <a:pPr/>
              <a:t>19</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1960"/>
                                        </p:tgtEl>
                                        <p:attrNameLst>
                                          <p:attrName>style.visibility</p:attrName>
                                        </p:attrNameLst>
                                      </p:cBhvr>
                                      <p:to>
                                        <p:strVal val="visible"/>
                                      </p:to>
                                    </p:set>
                                    <p:animEffect transition="in" filter="blinds(horizontal)">
                                      <p:cBhvr>
                                        <p:cTn id="10" dur="500"/>
                                        <p:tgtEl>
                                          <p:spTgt spid="8196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1959"/>
                                        </p:tgtEl>
                                        <p:attrNameLst>
                                          <p:attrName>style.visibility</p:attrName>
                                        </p:attrNameLst>
                                      </p:cBhvr>
                                      <p:to>
                                        <p:strVal val="visible"/>
                                      </p:to>
                                    </p:set>
                                    <p:animEffect transition="in" filter="blinds(horizontal)">
                                      <p:cBhvr>
                                        <p:cTn id="13" dur="500"/>
                                        <p:tgtEl>
                                          <p:spTgt spid="8195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1923">
                                            <p:txEl>
                                              <p:pRg st="1" end="1"/>
                                            </p:txEl>
                                          </p:spTgt>
                                        </p:tgtEl>
                                        <p:attrNameLst>
                                          <p:attrName>style.visibility</p:attrName>
                                        </p:attrNameLst>
                                      </p:cBhvr>
                                      <p:to>
                                        <p:strVal val="visible"/>
                                      </p:to>
                                    </p:set>
                                    <p:animEffect transition="in" filter="blinds(horizontal)">
                                      <p:cBhvr>
                                        <p:cTn id="18" dur="500"/>
                                        <p:tgtEl>
                                          <p:spTgt spid="8192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1923">
                                            <p:txEl>
                                              <p:pRg st="2" end="2"/>
                                            </p:txEl>
                                          </p:spTgt>
                                        </p:tgtEl>
                                        <p:attrNameLst>
                                          <p:attrName>style.visibility</p:attrName>
                                        </p:attrNameLst>
                                      </p:cBhvr>
                                      <p:to>
                                        <p:strVal val="visible"/>
                                      </p:to>
                                    </p:set>
                                    <p:animEffect transition="in" filter="blinds(horizontal)">
                                      <p:cBhvr>
                                        <p:cTn id="28" dur="500"/>
                                        <p:tgtEl>
                                          <p:spTgt spid="81923">
                                            <p:txEl>
                                              <p:pRg st="2" end="2"/>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2009"/>
                                        </p:tgtEl>
                                        <p:attrNameLst>
                                          <p:attrName>style.visibility</p:attrName>
                                        </p:attrNameLst>
                                      </p:cBhvr>
                                      <p:to>
                                        <p:strVal val="visible"/>
                                      </p:to>
                                    </p:set>
                                    <p:animEffect transition="in" filter="blinds(horizontal)">
                                      <p:cBhvr>
                                        <p:cTn id="31" dur="500"/>
                                        <p:tgtEl>
                                          <p:spTgt spid="82009"/>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2006"/>
                                        </p:tgtEl>
                                        <p:attrNameLst>
                                          <p:attrName>style.visibility</p:attrName>
                                        </p:attrNameLst>
                                      </p:cBhvr>
                                      <p:to>
                                        <p:strVal val="visible"/>
                                      </p:to>
                                    </p:set>
                                    <p:animEffect transition="in" filter="blinds(horizontal)">
                                      <p:cBhvr>
                                        <p:cTn id="34" dur="500"/>
                                        <p:tgtEl>
                                          <p:spTgt spid="8200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82007"/>
                                        </p:tgtEl>
                                        <p:attrNameLst>
                                          <p:attrName>style.visibility</p:attrName>
                                        </p:attrNameLst>
                                      </p:cBhvr>
                                      <p:to>
                                        <p:strVal val="visible"/>
                                      </p:to>
                                    </p:set>
                                    <p:animEffect transition="in" filter="blinds(horizontal)">
                                      <p:cBhvr>
                                        <p:cTn id="37" dur="500"/>
                                        <p:tgtEl>
                                          <p:spTgt spid="8200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1923">
                                            <p:txEl>
                                              <p:pRg st="3" end="3"/>
                                            </p:txEl>
                                          </p:spTgt>
                                        </p:tgtEl>
                                        <p:attrNameLst>
                                          <p:attrName>style.visibility</p:attrName>
                                        </p:attrNameLst>
                                      </p:cBhvr>
                                      <p:to>
                                        <p:strVal val="visible"/>
                                      </p:to>
                                    </p:set>
                                    <p:animEffect transition="in" filter="blinds(horizontal)">
                                      <p:cBhvr>
                                        <p:cTn id="42" dur="500"/>
                                        <p:tgtEl>
                                          <p:spTgt spid="81923">
                                            <p:txEl>
                                              <p:pRg st="3" end="3"/>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82010"/>
                                        </p:tgtEl>
                                        <p:attrNameLst>
                                          <p:attrName>style.visibility</p:attrName>
                                        </p:attrNameLst>
                                      </p:cBhvr>
                                      <p:to>
                                        <p:strVal val="visible"/>
                                      </p:to>
                                    </p:set>
                                    <p:animEffect transition="in" filter="blinds(horizontal)">
                                      <p:cBhvr>
                                        <p:cTn id="45" dur="500"/>
                                        <p:tgtEl>
                                          <p:spTgt spid="82010"/>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82011"/>
                                        </p:tgtEl>
                                        <p:attrNameLst>
                                          <p:attrName>style.visibility</p:attrName>
                                        </p:attrNameLst>
                                      </p:cBhvr>
                                      <p:to>
                                        <p:strVal val="visible"/>
                                      </p:to>
                                    </p:set>
                                    <p:animEffect transition="in" filter="blinds(horizontal)">
                                      <p:cBhvr>
                                        <p:cTn id="48" dur="500"/>
                                        <p:tgtEl>
                                          <p:spTgt spid="82011"/>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82012"/>
                                        </p:tgtEl>
                                        <p:attrNameLst>
                                          <p:attrName>style.visibility</p:attrName>
                                        </p:attrNameLst>
                                      </p:cBhvr>
                                      <p:to>
                                        <p:strVal val="visible"/>
                                      </p:to>
                                    </p:set>
                                    <p:animEffect transition="in" filter="blinds(horizontal)">
                                      <p:cBhvr>
                                        <p:cTn id="51" dur="500"/>
                                        <p:tgtEl>
                                          <p:spTgt spid="82012"/>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82013"/>
                                        </p:tgtEl>
                                        <p:attrNameLst>
                                          <p:attrName>style.visibility</p:attrName>
                                        </p:attrNameLst>
                                      </p:cBhvr>
                                      <p:to>
                                        <p:strVal val="visible"/>
                                      </p:to>
                                    </p:set>
                                    <p:animEffect transition="in" filter="blinds(horizontal)">
                                      <p:cBhvr>
                                        <p:cTn id="54" dur="500"/>
                                        <p:tgtEl>
                                          <p:spTgt spid="82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9" grpId="0" animBg="1"/>
      <p:bldP spid="81960" grpId="0" animBg="1"/>
      <p:bldP spid="82006" grpId="0" animBg="1"/>
      <p:bldP spid="82007" grpId="0" animBg="1"/>
      <p:bldP spid="82009" grpId="0" animBg="1"/>
      <p:bldP spid="82010" grpId="0" animBg="1"/>
      <p:bldP spid="82011" grpId="0" animBg="1"/>
      <p:bldP spid="82012" grpId="0" animBg="1"/>
      <p:bldP spid="8201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r>
              <a:rPr lang="en-US" dirty="0"/>
              <a:t>K-Map:</a:t>
            </a:r>
            <a:r>
              <a:rPr lang="en-US" sz="2800" dirty="0"/>
              <a:t>  Prime and Redundant Implicants</a:t>
            </a:r>
            <a:endParaRPr lang="en-US" dirty="0"/>
          </a:p>
        </p:txBody>
      </p:sp>
      <p:sp>
        <p:nvSpPr>
          <p:cNvPr id="82947" name="Rectangle 3"/>
          <p:cNvSpPr>
            <a:spLocks noGrp="1" noChangeArrowheads="1"/>
          </p:cNvSpPr>
          <p:nvPr>
            <p:ph type="body" idx="4294967295"/>
          </p:nvPr>
        </p:nvSpPr>
        <p:spPr/>
        <p:txBody>
          <a:bodyPr/>
          <a:lstStyle/>
          <a:p>
            <a:r>
              <a:rPr lang="en-US" dirty="0"/>
              <a:t>Consider the predicate:  </a:t>
            </a:r>
            <a:r>
              <a:rPr lang="en-US" i="1" dirty="0"/>
              <a:t>f = </a:t>
            </a:r>
            <a:r>
              <a:rPr lang="en-US" i="1" dirty="0" err="1"/>
              <a:t>abc</a:t>
            </a:r>
            <a:r>
              <a:rPr lang="en-US" i="1" dirty="0"/>
              <a:t> + </a:t>
            </a:r>
            <a:r>
              <a:rPr lang="en-US" i="1" dirty="0" err="1"/>
              <a:t>abd</a:t>
            </a:r>
            <a:r>
              <a:rPr lang="en-US" i="1" dirty="0"/>
              <a:t> + </a:t>
            </a:r>
            <a:r>
              <a:rPr lang="en-US" i="1" dirty="0" err="1"/>
              <a:t>abcd</a:t>
            </a:r>
            <a:r>
              <a:rPr lang="en-US" i="1" dirty="0"/>
              <a:t> + </a:t>
            </a:r>
            <a:r>
              <a:rPr lang="en-US" i="1" dirty="0" err="1"/>
              <a:t>abcd</a:t>
            </a:r>
            <a:r>
              <a:rPr lang="en-US" i="1" dirty="0"/>
              <a:t> + </a:t>
            </a:r>
            <a:r>
              <a:rPr lang="en-US" i="1" dirty="0" err="1"/>
              <a:t>acd</a:t>
            </a:r>
            <a:endParaRPr lang="en-US" i="1" dirty="0"/>
          </a:p>
          <a:p>
            <a:r>
              <a:rPr lang="en-US" dirty="0"/>
              <a:t>Draw the </a:t>
            </a:r>
            <a:r>
              <a:rPr lang="en-US" dirty="0" err="1"/>
              <a:t>Karnaugh</a:t>
            </a:r>
            <a:r>
              <a:rPr lang="en-US" dirty="0"/>
              <a:t> Map</a:t>
            </a:r>
          </a:p>
          <a:p>
            <a:r>
              <a:rPr lang="en-US" dirty="0"/>
              <a:t>Implicants that are not prime: </a:t>
            </a:r>
            <a:r>
              <a:rPr lang="en-US" i="1" dirty="0" err="1"/>
              <a:t>abd</a:t>
            </a:r>
            <a:r>
              <a:rPr lang="en-US" i="1" dirty="0"/>
              <a:t>,  </a:t>
            </a:r>
            <a:r>
              <a:rPr lang="en-US" i="1" dirty="0" err="1"/>
              <a:t>abcd</a:t>
            </a:r>
            <a:r>
              <a:rPr lang="en-US" i="1" dirty="0"/>
              <a:t>,  </a:t>
            </a:r>
            <a:r>
              <a:rPr lang="en-US" i="1" dirty="0" err="1"/>
              <a:t>abcd</a:t>
            </a:r>
            <a:r>
              <a:rPr lang="en-US" i="1" dirty="0"/>
              <a:t>,  </a:t>
            </a:r>
            <a:r>
              <a:rPr lang="en-US" i="1" dirty="0" err="1"/>
              <a:t>acd</a:t>
            </a:r>
            <a:endParaRPr lang="en-US" i="1" dirty="0"/>
          </a:p>
          <a:p>
            <a:r>
              <a:rPr lang="en-US" dirty="0"/>
              <a:t>Redundant implicant: </a:t>
            </a:r>
            <a:r>
              <a:rPr lang="en-US" i="1" dirty="0" err="1"/>
              <a:t>abd</a:t>
            </a:r>
            <a:endParaRPr lang="en-US" i="1" dirty="0"/>
          </a:p>
          <a:p>
            <a:r>
              <a:rPr lang="en-US" dirty="0"/>
              <a:t>Prime implicants</a:t>
            </a:r>
          </a:p>
          <a:p>
            <a:pPr lvl="1"/>
            <a:r>
              <a:rPr lang="en-US" dirty="0"/>
              <a:t>Three:  </a:t>
            </a:r>
            <a:r>
              <a:rPr lang="en-US" i="1" dirty="0"/>
              <a:t>ad, </a:t>
            </a:r>
            <a:r>
              <a:rPr lang="en-US" i="1" dirty="0" err="1"/>
              <a:t>bcd</a:t>
            </a:r>
            <a:r>
              <a:rPr lang="en-US" i="1" dirty="0"/>
              <a:t>, </a:t>
            </a:r>
            <a:r>
              <a:rPr lang="en-US" i="1" dirty="0" err="1"/>
              <a:t>abc</a:t>
            </a:r>
            <a:endParaRPr lang="en-US" i="1" dirty="0"/>
          </a:p>
          <a:p>
            <a:pPr lvl="1"/>
            <a:r>
              <a:rPr lang="en-US" dirty="0"/>
              <a:t>The last is redundant</a:t>
            </a:r>
          </a:p>
          <a:p>
            <a:pPr lvl="1"/>
            <a:r>
              <a:rPr lang="en-US" dirty="0"/>
              <a:t>Minimal DNF representation</a:t>
            </a:r>
          </a:p>
          <a:p>
            <a:pPr lvl="2"/>
            <a:r>
              <a:rPr lang="en-US" i="1" dirty="0"/>
              <a:t>f = ad + </a:t>
            </a:r>
            <a:r>
              <a:rPr lang="en-US" i="1" dirty="0" err="1"/>
              <a:t>bcd</a:t>
            </a:r>
            <a:endParaRPr lang="en-US" i="1" dirty="0"/>
          </a:p>
        </p:txBody>
      </p:sp>
      <p:sp>
        <p:nvSpPr>
          <p:cNvPr id="26628" name="Line 79"/>
          <p:cNvSpPr>
            <a:spLocks noChangeShapeType="1"/>
          </p:cNvSpPr>
          <p:nvPr/>
        </p:nvSpPr>
        <p:spPr bwMode="auto">
          <a:xfrm>
            <a:off x="7806154" y="96453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26629" name="Line 80"/>
          <p:cNvSpPr>
            <a:spLocks noChangeShapeType="1"/>
          </p:cNvSpPr>
          <p:nvPr/>
        </p:nvSpPr>
        <p:spPr bwMode="auto">
          <a:xfrm>
            <a:off x="8990878" y="916239"/>
            <a:ext cx="165100" cy="0"/>
          </a:xfrm>
          <a:prstGeom prst="line">
            <a:avLst/>
          </a:prstGeom>
          <a:noFill/>
          <a:ln w="19050">
            <a:solidFill>
              <a:schemeClr val="tx1"/>
            </a:solidFill>
            <a:round/>
            <a:headEnd type="none" w="sm" len="sm"/>
            <a:tailEnd type="none" w="sm" len="sm"/>
          </a:ln>
        </p:spPr>
        <p:txBody>
          <a:bodyPr/>
          <a:lstStyle/>
          <a:p>
            <a:endParaRPr lang="en-US"/>
          </a:p>
        </p:txBody>
      </p:sp>
      <p:sp>
        <p:nvSpPr>
          <p:cNvPr id="26630" name="Line 81"/>
          <p:cNvSpPr>
            <a:spLocks noChangeShapeType="1"/>
          </p:cNvSpPr>
          <p:nvPr/>
        </p:nvSpPr>
        <p:spPr bwMode="auto">
          <a:xfrm>
            <a:off x="9403374" y="90963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26631" name="Line 82"/>
          <p:cNvSpPr>
            <a:spLocks noChangeShapeType="1"/>
          </p:cNvSpPr>
          <p:nvPr/>
        </p:nvSpPr>
        <p:spPr bwMode="auto">
          <a:xfrm>
            <a:off x="10260878" y="903288"/>
            <a:ext cx="165100" cy="0"/>
          </a:xfrm>
          <a:prstGeom prst="line">
            <a:avLst/>
          </a:prstGeom>
          <a:noFill/>
          <a:ln w="19050">
            <a:solidFill>
              <a:schemeClr val="tx1"/>
            </a:solidFill>
            <a:round/>
            <a:headEnd type="none" w="sm" len="sm"/>
            <a:tailEnd type="none" w="sm" len="sm"/>
          </a:ln>
        </p:spPr>
        <p:txBody>
          <a:bodyPr/>
          <a:lstStyle/>
          <a:p>
            <a:endParaRPr lang="en-US"/>
          </a:p>
        </p:txBody>
      </p:sp>
      <p:sp>
        <p:nvSpPr>
          <p:cNvPr id="26632" name="Line 110"/>
          <p:cNvSpPr>
            <a:spLocks noChangeShapeType="1"/>
          </p:cNvSpPr>
          <p:nvPr/>
        </p:nvSpPr>
        <p:spPr bwMode="auto">
          <a:xfrm>
            <a:off x="10093742" y="96453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56" name="Line 112"/>
          <p:cNvSpPr>
            <a:spLocks noChangeShapeType="1"/>
          </p:cNvSpPr>
          <p:nvPr/>
        </p:nvSpPr>
        <p:spPr bwMode="auto">
          <a:xfrm>
            <a:off x="3255963" y="4756561"/>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57" name="Line 113"/>
          <p:cNvSpPr>
            <a:spLocks noChangeShapeType="1"/>
          </p:cNvSpPr>
          <p:nvPr/>
        </p:nvSpPr>
        <p:spPr bwMode="auto">
          <a:xfrm>
            <a:off x="3451561" y="347131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26635" name="Line 115"/>
          <p:cNvSpPr>
            <a:spLocks noChangeShapeType="1"/>
          </p:cNvSpPr>
          <p:nvPr/>
        </p:nvSpPr>
        <p:spPr bwMode="auto">
          <a:xfrm>
            <a:off x="7311522" y="928436"/>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67" name="Line 123"/>
          <p:cNvSpPr>
            <a:spLocks noChangeShapeType="1"/>
          </p:cNvSpPr>
          <p:nvPr/>
        </p:nvSpPr>
        <p:spPr bwMode="auto">
          <a:xfrm>
            <a:off x="6028084" y="1344613"/>
            <a:ext cx="431800" cy="0"/>
          </a:xfrm>
          <a:prstGeom prst="line">
            <a:avLst/>
          </a:prstGeom>
          <a:noFill/>
          <a:ln w="63500">
            <a:solidFill>
              <a:schemeClr val="accent1"/>
            </a:solidFill>
            <a:round/>
            <a:headEnd type="none" w="sm" len="sm"/>
            <a:tailEnd type="none" w="sm" len="sm"/>
          </a:ln>
        </p:spPr>
        <p:txBody>
          <a:bodyPr/>
          <a:lstStyle/>
          <a:p>
            <a:endParaRPr lang="en-US"/>
          </a:p>
        </p:txBody>
      </p:sp>
      <p:sp>
        <p:nvSpPr>
          <p:cNvPr id="83068" name="Line 124"/>
          <p:cNvSpPr>
            <a:spLocks noChangeShapeType="1"/>
          </p:cNvSpPr>
          <p:nvPr/>
        </p:nvSpPr>
        <p:spPr bwMode="auto">
          <a:xfrm>
            <a:off x="6916754" y="1346200"/>
            <a:ext cx="431800" cy="0"/>
          </a:xfrm>
          <a:prstGeom prst="line">
            <a:avLst/>
          </a:prstGeom>
          <a:noFill/>
          <a:ln w="63500">
            <a:solidFill>
              <a:schemeClr val="accent1"/>
            </a:solidFill>
            <a:round/>
            <a:headEnd type="none" w="sm" len="sm"/>
            <a:tailEnd type="none" w="sm" len="sm"/>
          </a:ln>
        </p:spPr>
        <p:txBody>
          <a:bodyPr/>
          <a:lstStyle/>
          <a:p>
            <a:endParaRPr lang="en-US"/>
          </a:p>
        </p:txBody>
      </p:sp>
      <p:sp>
        <p:nvSpPr>
          <p:cNvPr id="83069" name="Line 125"/>
          <p:cNvSpPr>
            <a:spLocks noChangeShapeType="1"/>
          </p:cNvSpPr>
          <p:nvPr/>
        </p:nvSpPr>
        <p:spPr bwMode="auto">
          <a:xfrm>
            <a:off x="9911628" y="1346200"/>
            <a:ext cx="431800" cy="0"/>
          </a:xfrm>
          <a:prstGeom prst="line">
            <a:avLst/>
          </a:prstGeom>
          <a:noFill/>
          <a:ln w="63500">
            <a:solidFill>
              <a:schemeClr val="accent1"/>
            </a:solidFill>
            <a:round/>
            <a:headEnd type="none" w="sm" len="sm"/>
            <a:tailEnd type="none" w="sm" len="sm"/>
          </a:ln>
        </p:spPr>
        <p:txBody>
          <a:bodyPr/>
          <a:lstStyle/>
          <a:p>
            <a:endParaRPr lang="en-US"/>
          </a:p>
        </p:txBody>
      </p:sp>
      <p:sp>
        <p:nvSpPr>
          <p:cNvPr id="83070" name="Line 126"/>
          <p:cNvSpPr>
            <a:spLocks noChangeShapeType="1"/>
          </p:cNvSpPr>
          <p:nvPr/>
        </p:nvSpPr>
        <p:spPr bwMode="auto">
          <a:xfrm>
            <a:off x="7863746" y="1365250"/>
            <a:ext cx="573087" cy="0"/>
          </a:xfrm>
          <a:prstGeom prst="line">
            <a:avLst/>
          </a:prstGeom>
          <a:noFill/>
          <a:ln w="63500">
            <a:solidFill>
              <a:schemeClr val="accent1"/>
            </a:solidFill>
            <a:round/>
            <a:headEnd type="none" w="sm" len="sm"/>
            <a:tailEnd type="none" w="sm" len="sm"/>
          </a:ln>
        </p:spPr>
        <p:txBody>
          <a:bodyPr/>
          <a:lstStyle/>
          <a:p>
            <a:endParaRPr lang="en-US"/>
          </a:p>
        </p:txBody>
      </p:sp>
      <p:sp>
        <p:nvSpPr>
          <p:cNvPr id="83071" name="Line 127"/>
          <p:cNvSpPr>
            <a:spLocks noChangeShapeType="1"/>
          </p:cNvSpPr>
          <p:nvPr/>
        </p:nvSpPr>
        <p:spPr bwMode="auto">
          <a:xfrm>
            <a:off x="8907070" y="1349375"/>
            <a:ext cx="573088" cy="0"/>
          </a:xfrm>
          <a:prstGeom prst="line">
            <a:avLst/>
          </a:prstGeom>
          <a:noFill/>
          <a:ln w="63500">
            <a:solidFill>
              <a:schemeClr val="accent1"/>
            </a:solidFill>
            <a:round/>
            <a:headEnd type="none" w="sm" len="sm"/>
            <a:tailEnd type="none" w="sm" len="sm"/>
          </a:ln>
        </p:spPr>
        <p:txBody>
          <a:bodyPr/>
          <a:lstStyle/>
          <a:p>
            <a:endParaRPr lang="en-US"/>
          </a:p>
        </p:txBody>
      </p:sp>
      <p:sp>
        <p:nvSpPr>
          <p:cNvPr id="83073" name="Line 129"/>
          <p:cNvSpPr>
            <a:spLocks noChangeShapeType="1"/>
          </p:cNvSpPr>
          <p:nvPr/>
        </p:nvSpPr>
        <p:spPr bwMode="auto">
          <a:xfrm>
            <a:off x="6343941" y="2371892"/>
            <a:ext cx="431800" cy="0"/>
          </a:xfrm>
          <a:prstGeom prst="line">
            <a:avLst/>
          </a:prstGeom>
          <a:noFill/>
          <a:ln w="63500">
            <a:solidFill>
              <a:schemeClr val="accent1"/>
            </a:solidFill>
            <a:round/>
            <a:headEnd type="none" w="sm" len="sm"/>
            <a:tailEnd type="none" w="sm" len="sm"/>
          </a:ln>
        </p:spPr>
        <p:txBody>
          <a:bodyPr/>
          <a:lstStyle/>
          <a:p>
            <a:endParaRPr lang="en-US"/>
          </a:p>
        </p:txBody>
      </p:sp>
      <p:sp>
        <p:nvSpPr>
          <p:cNvPr id="83074" name="Line 130"/>
          <p:cNvSpPr>
            <a:spLocks noChangeShapeType="1"/>
          </p:cNvSpPr>
          <p:nvPr/>
        </p:nvSpPr>
        <p:spPr bwMode="auto">
          <a:xfrm>
            <a:off x="8881559" y="2371892"/>
            <a:ext cx="431800" cy="0"/>
          </a:xfrm>
          <a:prstGeom prst="line">
            <a:avLst/>
          </a:prstGeom>
          <a:noFill/>
          <a:ln w="63500">
            <a:solidFill>
              <a:schemeClr val="accent1"/>
            </a:solidFill>
            <a:round/>
            <a:headEnd type="none" w="sm" len="sm"/>
            <a:tailEnd type="none" w="sm" len="sm"/>
          </a:ln>
        </p:spPr>
        <p:txBody>
          <a:bodyPr/>
          <a:lstStyle/>
          <a:p>
            <a:endParaRPr lang="en-US"/>
          </a:p>
        </p:txBody>
      </p:sp>
      <p:sp>
        <p:nvSpPr>
          <p:cNvPr id="83075" name="Line 131"/>
          <p:cNvSpPr>
            <a:spLocks noChangeShapeType="1"/>
          </p:cNvSpPr>
          <p:nvPr/>
        </p:nvSpPr>
        <p:spPr bwMode="auto">
          <a:xfrm>
            <a:off x="5075238" y="2892586"/>
            <a:ext cx="431800" cy="0"/>
          </a:xfrm>
          <a:prstGeom prst="line">
            <a:avLst/>
          </a:prstGeom>
          <a:noFill/>
          <a:ln w="63500">
            <a:solidFill>
              <a:schemeClr val="tx2"/>
            </a:solidFill>
            <a:round/>
            <a:headEnd type="none" w="sm" len="sm"/>
            <a:tailEnd type="none" w="sm" len="sm"/>
          </a:ln>
        </p:spPr>
        <p:txBody>
          <a:bodyPr/>
          <a:lstStyle/>
          <a:p>
            <a:endParaRPr lang="en-US"/>
          </a:p>
        </p:txBody>
      </p:sp>
      <p:sp>
        <p:nvSpPr>
          <p:cNvPr id="83076" name="Line 132"/>
          <p:cNvSpPr>
            <a:spLocks noChangeShapeType="1"/>
          </p:cNvSpPr>
          <p:nvPr/>
        </p:nvSpPr>
        <p:spPr bwMode="auto">
          <a:xfrm>
            <a:off x="7962399" y="2371892"/>
            <a:ext cx="573087" cy="0"/>
          </a:xfrm>
          <a:prstGeom prst="line">
            <a:avLst/>
          </a:prstGeom>
          <a:noFill/>
          <a:ln w="63500">
            <a:solidFill>
              <a:schemeClr val="accent1"/>
            </a:solidFill>
            <a:round/>
            <a:headEnd type="none" w="sm" len="sm"/>
            <a:tailEnd type="none" w="sm" len="sm"/>
          </a:ln>
        </p:spPr>
        <p:txBody>
          <a:bodyPr/>
          <a:lstStyle/>
          <a:p>
            <a:endParaRPr lang="en-US"/>
          </a:p>
        </p:txBody>
      </p:sp>
      <p:sp>
        <p:nvSpPr>
          <p:cNvPr id="83077" name="Line 133"/>
          <p:cNvSpPr>
            <a:spLocks noChangeShapeType="1"/>
          </p:cNvSpPr>
          <p:nvPr/>
        </p:nvSpPr>
        <p:spPr bwMode="auto">
          <a:xfrm>
            <a:off x="7064124" y="2371892"/>
            <a:ext cx="573087" cy="0"/>
          </a:xfrm>
          <a:prstGeom prst="line">
            <a:avLst/>
          </a:prstGeom>
          <a:noFill/>
          <a:ln w="63500">
            <a:solidFill>
              <a:schemeClr val="accent1"/>
            </a:solidFill>
            <a:round/>
            <a:headEnd type="none" w="sm" len="sm"/>
            <a:tailEnd type="none" w="sm" len="sm"/>
          </a:ln>
        </p:spPr>
        <p:txBody>
          <a:bodyPr/>
          <a:lstStyle/>
          <a:p>
            <a:endParaRPr lang="en-US"/>
          </a:p>
        </p:txBody>
      </p:sp>
      <p:sp>
        <p:nvSpPr>
          <p:cNvPr id="83078" name="Line 134"/>
          <p:cNvSpPr>
            <a:spLocks noChangeShapeType="1"/>
          </p:cNvSpPr>
          <p:nvPr/>
        </p:nvSpPr>
        <p:spPr bwMode="auto">
          <a:xfrm>
            <a:off x="6693191" y="196574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79" name="Line 135"/>
          <p:cNvSpPr>
            <a:spLocks noChangeShapeType="1"/>
          </p:cNvSpPr>
          <p:nvPr/>
        </p:nvSpPr>
        <p:spPr bwMode="auto">
          <a:xfrm>
            <a:off x="7052091" y="2015709"/>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80" name="Line 136"/>
          <p:cNvSpPr>
            <a:spLocks noChangeShapeType="1"/>
          </p:cNvSpPr>
          <p:nvPr/>
        </p:nvSpPr>
        <p:spPr bwMode="auto">
          <a:xfrm>
            <a:off x="8501511" y="1953711"/>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81" name="Line 137"/>
          <p:cNvSpPr>
            <a:spLocks noChangeShapeType="1"/>
          </p:cNvSpPr>
          <p:nvPr/>
        </p:nvSpPr>
        <p:spPr bwMode="auto">
          <a:xfrm>
            <a:off x="9028514" y="2013871"/>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82" name="Line 138"/>
          <p:cNvSpPr>
            <a:spLocks noChangeShapeType="1"/>
          </p:cNvSpPr>
          <p:nvPr/>
        </p:nvSpPr>
        <p:spPr bwMode="auto">
          <a:xfrm>
            <a:off x="8078351" y="1953711"/>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83" name="Line 139"/>
          <p:cNvSpPr>
            <a:spLocks noChangeShapeType="1"/>
          </p:cNvSpPr>
          <p:nvPr/>
        </p:nvSpPr>
        <p:spPr bwMode="auto">
          <a:xfrm>
            <a:off x="9238526" y="196574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3090" name="Line 146"/>
          <p:cNvSpPr>
            <a:spLocks noChangeShapeType="1"/>
          </p:cNvSpPr>
          <p:nvPr/>
        </p:nvSpPr>
        <p:spPr bwMode="auto">
          <a:xfrm>
            <a:off x="5450808" y="2460625"/>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2984" name="Oval 40"/>
          <p:cNvSpPr>
            <a:spLocks noChangeArrowheads="1"/>
          </p:cNvSpPr>
          <p:nvPr/>
        </p:nvSpPr>
        <p:spPr bwMode="auto">
          <a:xfrm>
            <a:off x="8521197" y="3440356"/>
            <a:ext cx="1557338" cy="64293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3022" name="Oval 78"/>
          <p:cNvSpPr>
            <a:spLocks noChangeArrowheads="1"/>
          </p:cNvSpPr>
          <p:nvPr/>
        </p:nvSpPr>
        <p:spPr bwMode="auto">
          <a:xfrm>
            <a:off x="9337173" y="5545381"/>
            <a:ext cx="695325" cy="642938"/>
          </a:xfrm>
          <a:prstGeom prst="ellipse">
            <a:avLst/>
          </a:prstGeom>
          <a:noFill/>
          <a:ln w="38100">
            <a:solidFill>
              <a:schemeClr val="tx2"/>
            </a:solidFill>
            <a:round/>
            <a:headEnd type="none" w="sm" len="sm"/>
            <a:tailEnd type="none" w="sm" len="sm"/>
          </a:ln>
        </p:spPr>
        <p:txBody>
          <a:bodyPr wrap="none" anchor="ctr"/>
          <a:lstStyle/>
          <a:p>
            <a:endParaRPr lang="en-US"/>
          </a:p>
        </p:txBody>
      </p:sp>
      <p:grpSp>
        <p:nvGrpSpPr>
          <p:cNvPr id="2" name="Group 153"/>
          <p:cNvGrpSpPr>
            <a:grpSpLocks/>
          </p:cNvGrpSpPr>
          <p:nvPr/>
        </p:nvGrpSpPr>
        <p:grpSpPr bwMode="auto">
          <a:xfrm>
            <a:off x="6135186" y="2652956"/>
            <a:ext cx="3983037" cy="3538538"/>
            <a:chOff x="2935" y="1800"/>
            <a:chExt cx="2509" cy="2229"/>
          </a:xfrm>
        </p:grpSpPr>
        <p:sp>
          <p:nvSpPr>
            <p:cNvPr id="26679" name="Rectangle 9"/>
            <p:cNvSpPr>
              <a:spLocks noChangeArrowheads="1"/>
            </p:cNvSpPr>
            <p:nvPr/>
          </p:nvSpPr>
          <p:spPr bwMode="auto">
            <a:xfrm>
              <a:off x="2946" y="2708"/>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01</a:t>
              </a:r>
            </a:p>
          </p:txBody>
        </p:sp>
        <p:sp>
          <p:nvSpPr>
            <p:cNvPr id="26680" name="Rectangle 14"/>
            <p:cNvSpPr>
              <a:spLocks noChangeArrowheads="1"/>
            </p:cNvSpPr>
            <p:nvPr/>
          </p:nvSpPr>
          <p:spPr bwMode="auto">
            <a:xfrm>
              <a:off x="2946" y="2284"/>
              <a:ext cx="499" cy="42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00</a:t>
              </a:r>
            </a:p>
          </p:txBody>
        </p:sp>
        <p:sp>
          <p:nvSpPr>
            <p:cNvPr id="26681" name="Rectangle 15"/>
            <p:cNvSpPr>
              <a:spLocks noChangeArrowheads="1"/>
            </p:cNvSpPr>
            <p:nvPr/>
          </p:nvSpPr>
          <p:spPr bwMode="auto">
            <a:xfrm>
              <a:off x="4940" y="1814"/>
              <a:ext cx="499"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6682" name="Rectangle 16"/>
            <p:cNvSpPr>
              <a:spLocks noChangeArrowheads="1"/>
            </p:cNvSpPr>
            <p:nvPr/>
          </p:nvSpPr>
          <p:spPr bwMode="auto">
            <a:xfrm>
              <a:off x="4450" y="1800"/>
              <a:ext cx="498"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6683" name="Rectangle 17"/>
            <p:cNvSpPr>
              <a:spLocks noChangeArrowheads="1"/>
            </p:cNvSpPr>
            <p:nvPr/>
          </p:nvSpPr>
          <p:spPr bwMode="auto">
            <a:xfrm>
              <a:off x="3943" y="1814"/>
              <a:ext cx="499"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6684" name="Rectangle 18"/>
            <p:cNvSpPr>
              <a:spLocks noChangeArrowheads="1"/>
            </p:cNvSpPr>
            <p:nvPr/>
          </p:nvSpPr>
          <p:spPr bwMode="auto">
            <a:xfrm>
              <a:off x="3445" y="1814"/>
              <a:ext cx="498"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6685" name="Rectangle 19"/>
            <p:cNvSpPr>
              <a:spLocks noChangeArrowheads="1"/>
            </p:cNvSpPr>
            <p:nvPr/>
          </p:nvSpPr>
          <p:spPr bwMode="auto">
            <a:xfrm>
              <a:off x="2946" y="1814"/>
              <a:ext cx="499" cy="470"/>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a:solidFill>
                    <a:schemeClr val="tx1"/>
                  </a:solidFill>
                </a:rPr>
                <a:t>    ab</a:t>
              </a:r>
            </a:p>
            <a:p>
              <a:pPr>
                <a:lnSpc>
                  <a:spcPct val="90000"/>
                </a:lnSpc>
                <a:spcBef>
                  <a:spcPct val="30000"/>
                </a:spcBef>
                <a:buSzPct val="85000"/>
              </a:pPr>
              <a:r>
                <a:rPr lang="en-US">
                  <a:solidFill>
                    <a:schemeClr val="tx1"/>
                  </a:solidFill>
                </a:rPr>
                <a:t>  cd</a:t>
              </a:r>
            </a:p>
          </p:txBody>
        </p:sp>
        <p:sp>
          <p:nvSpPr>
            <p:cNvPr id="26686" name="Line 20"/>
            <p:cNvSpPr>
              <a:spLocks noChangeShapeType="1"/>
            </p:cNvSpPr>
            <p:nvPr/>
          </p:nvSpPr>
          <p:spPr bwMode="auto">
            <a:xfrm>
              <a:off x="2946" y="1814"/>
              <a:ext cx="499" cy="0"/>
            </a:xfrm>
            <a:prstGeom prst="line">
              <a:avLst/>
            </a:prstGeom>
            <a:noFill/>
            <a:ln w="28575" cap="sq">
              <a:noFill/>
              <a:round/>
              <a:headEnd type="none" w="med" len="lg"/>
              <a:tailEnd type="none" w="sm" len="sm"/>
            </a:ln>
          </p:spPr>
          <p:txBody>
            <a:bodyPr/>
            <a:lstStyle/>
            <a:p>
              <a:endParaRPr lang="en-US"/>
            </a:p>
          </p:txBody>
        </p:sp>
        <p:sp>
          <p:nvSpPr>
            <p:cNvPr id="26687" name="Line 21"/>
            <p:cNvSpPr>
              <a:spLocks noChangeShapeType="1"/>
            </p:cNvSpPr>
            <p:nvPr/>
          </p:nvSpPr>
          <p:spPr bwMode="auto">
            <a:xfrm>
              <a:off x="2946" y="1814"/>
              <a:ext cx="0" cy="470"/>
            </a:xfrm>
            <a:prstGeom prst="line">
              <a:avLst/>
            </a:prstGeom>
            <a:noFill/>
            <a:ln w="28575" cap="sq">
              <a:noFill/>
              <a:round/>
              <a:headEnd type="none" w="med" len="lg"/>
              <a:tailEnd type="none" w="sm" len="sm"/>
            </a:ln>
          </p:spPr>
          <p:txBody>
            <a:bodyPr/>
            <a:lstStyle/>
            <a:p>
              <a:endParaRPr lang="en-US"/>
            </a:p>
          </p:txBody>
        </p:sp>
        <p:sp>
          <p:nvSpPr>
            <p:cNvPr id="26688" name="Line 22"/>
            <p:cNvSpPr>
              <a:spLocks noChangeShapeType="1"/>
            </p:cNvSpPr>
            <p:nvPr/>
          </p:nvSpPr>
          <p:spPr bwMode="auto">
            <a:xfrm>
              <a:off x="3445" y="1814"/>
              <a:ext cx="498" cy="0"/>
            </a:xfrm>
            <a:prstGeom prst="line">
              <a:avLst/>
            </a:prstGeom>
            <a:noFill/>
            <a:ln w="28575" cap="sq">
              <a:noFill/>
              <a:round/>
              <a:headEnd type="none" w="med" len="lg"/>
              <a:tailEnd type="none" w="sm" len="sm"/>
            </a:ln>
          </p:spPr>
          <p:txBody>
            <a:bodyPr/>
            <a:lstStyle/>
            <a:p>
              <a:endParaRPr lang="en-US"/>
            </a:p>
          </p:txBody>
        </p:sp>
        <p:sp>
          <p:nvSpPr>
            <p:cNvPr id="26689" name="Line 23"/>
            <p:cNvSpPr>
              <a:spLocks noChangeShapeType="1"/>
            </p:cNvSpPr>
            <p:nvPr/>
          </p:nvSpPr>
          <p:spPr bwMode="auto">
            <a:xfrm>
              <a:off x="2946" y="2284"/>
              <a:ext cx="0" cy="424"/>
            </a:xfrm>
            <a:prstGeom prst="line">
              <a:avLst/>
            </a:prstGeom>
            <a:noFill/>
            <a:ln w="28575" cap="sq">
              <a:noFill/>
              <a:round/>
              <a:headEnd type="none" w="med" len="lg"/>
              <a:tailEnd type="none" w="sm" len="sm"/>
            </a:ln>
          </p:spPr>
          <p:txBody>
            <a:bodyPr/>
            <a:lstStyle/>
            <a:p>
              <a:endParaRPr lang="en-US"/>
            </a:p>
          </p:txBody>
        </p:sp>
        <p:sp>
          <p:nvSpPr>
            <p:cNvPr id="26690" name="Line 28"/>
            <p:cNvSpPr>
              <a:spLocks noChangeShapeType="1"/>
            </p:cNvSpPr>
            <p:nvPr/>
          </p:nvSpPr>
          <p:spPr bwMode="auto">
            <a:xfrm>
              <a:off x="2946" y="2708"/>
              <a:ext cx="0" cy="444"/>
            </a:xfrm>
            <a:prstGeom prst="line">
              <a:avLst/>
            </a:prstGeom>
            <a:noFill/>
            <a:ln w="28575" cap="sq">
              <a:noFill/>
              <a:round/>
              <a:headEnd type="none" w="med" len="lg"/>
              <a:tailEnd type="none" w="sm" len="sm"/>
            </a:ln>
          </p:spPr>
          <p:txBody>
            <a:bodyPr/>
            <a:lstStyle/>
            <a:p>
              <a:endParaRPr lang="en-US"/>
            </a:p>
          </p:txBody>
        </p:sp>
        <p:sp>
          <p:nvSpPr>
            <p:cNvPr id="26691" name="Line 35"/>
            <p:cNvSpPr>
              <a:spLocks noChangeShapeType="1"/>
            </p:cNvSpPr>
            <p:nvPr/>
          </p:nvSpPr>
          <p:spPr bwMode="auto">
            <a:xfrm>
              <a:off x="5439" y="1814"/>
              <a:ext cx="0" cy="470"/>
            </a:xfrm>
            <a:prstGeom prst="line">
              <a:avLst/>
            </a:prstGeom>
            <a:noFill/>
            <a:ln w="28575" cap="sq">
              <a:noFill/>
              <a:round/>
              <a:headEnd type="none" w="med" len="lg"/>
              <a:tailEnd type="none" w="sm" len="sm"/>
            </a:ln>
          </p:spPr>
          <p:txBody>
            <a:bodyPr/>
            <a:lstStyle/>
            <a:p>
              <a:endParaRPr lang="en-US"/>
            </a:p>
          </p:txBody>
        </p:sp>
        <p:sp>
          <p:nvSpPr>
            <p:cNvPr id="26692" name="Line 37"/>
            <p:cNvSpPr>
              <a:spLocks noChangeShapeType="1"/>
            </p:cNvSpPr>
            <p:nvPr/>
          </p:nvSpPr>
          <p:spPr bwMode="auto">
            <a:xfrm>
              <a:off x="2946" y="3152"/>
              <a:ext cx="499" cy="0"/>
            </a:xfrm>
            <a:prstGeom prst="line">
              <a:avLst/>
            </a:prstGeom>
            <a:noFill/>
            <a:ln w="28575" cap="sq">
              <a:noFill/>
              <a:round/>
              <a:headEnd type="none" w="med" len="lg"/>
              <a:tailEnd type="none" w="sm" len="sm"/>
            </a:ln>
          </p:spPr>
          <p:txBody>
            <a:bodyPr/>
            <a:lstStyle/>
            <a:p>
              <a:endParaRPr lang="en-US"/>
            </a:p>
          </p:txBody>
        </p:sp>
        <p:sp>
          <p:nvSpPr>
            <p:cNvPr id="26693" name="Line 38"/>
            <p:cNvSpPr>
              <a:spLocks noChangeShapeType="1"/>
            </p:cNvSpPr>
            <p:nvPr/>
          </p:nvSpPr>
          <p:spPr bwMode="auto">
            <a:xfrm>
              <a:off x="3092" y="1945"/>
              <a:ext cx="344" cy="330"/>
            </a:xfrm>
            <a:prstGeom prst="line">
              <a:avLst/>
            </a:prstGeom>
            <a:noFill/>
            <a:ln w="12700">
              <a:solidFill>
                <a:schemeClr val="tx1"/>
              </a:solidFill>
              <a:round/>
              <a:headEnd type="none" w="sm" len="sm"/>
              <a:tailEnd type="none" w="sm" len="sm"/>
            </a:ln>
          </p:spPr>
          <p:txBody>
            <a:bodyPr/>
            <a:lstStyle/>
            <a:p>
              <a:endParaRPr lang="en-US"/>
            </a:p>
          </p:txBody>
        </p:sp>
        <p:sp>
          <p:nvSpPr>
            <p:cNvPr id="26694" name="Rectangle 5"/>
            <p:cNvSpPr>
              <a:spLocks noChangeArrowheads="1"/>
            </p:cNvSpPr>
            <p:nvPr/>
          </p:nvSpPr>
          <p:spPr bwMode="auto">
            <a:xfrm>
              <a:off x="4940" y="2708"/>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6695" name="Rectangle 6"/>
            <p:cNvSpPr>
              <a:spLocks noChangeArrowheads="1"/>
            </p:cNvSpPr>
            <p:nvPr/>
          </p:nvSpPr>
          <p:spPr bwMode="auto">
            <a:xfrm>
              <a:off x="4442" y="2708"/>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6696" name="Rectangle 7"/>
            <p:cNvSpPr>
              <a:spLocks noChangeArrowheads="1"/>
            </p:cNvSpPr>
            <p:nvPr/>
          </p:nvSpPr>
          <p:spPr bwMode="auto">
            <a:xfrm>
              <a:off x="3943" y="2708"/>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6697" name="Rectangle 8"/>
            <p:cNvSpPr>
              <a:spLocks noChangeArrowheads="1"/>
            </p:cNvSpPr>
            <p:nvPr/>
          </p:nvSpPr>
          <p:spPr bwMode="auto">
            <a:xfrm>
              <a:off x="3445" y="2708"/>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6698" name="Rectangle 10"/>
            <p:cNvSpPr>
              <a:spLocks noChangeArrowheads="1"/>
            </p:cNvSpPr>
            <p:nvPr/>
          </p:nvSpPr>
          <p:spPr bwMode="auto">
            <a:xfrm>
              <a:off x="4940" y="2284"/>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6699" name="Rectangle 11"/>
            <p:cNvSpPr>
              <a:spLocks noChangeArrowheads="1"/>
            </p:cNvSpPr>
            <p:nvPr/>
          </p:nvSpPr>
          <p:spPr bwMode="auto">
            <a:xfrm>
              <a:off x="4442" y="2277"/>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6700" name="Rectangle 12"/>
            <p:cNvSpPr>
              <a:spLocks noChangeArrowheads="1"/>
            </p:cNvSpPr>
            <p:nvPr/>
          </p:nvSpPr>
          <p:spPr bwMode="auto">
            <a:xfrm>
              <a:off x="3943" y="2284"/>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6701" name="Rectangle 13"/>
            <p:cNvSpPr>
              <a:spLocks noChangeArrowheads="1"/>
            </p:cNvSpPr>
            <p:nvPr/>
          </p:nvSpPr>
          <p:spPr bwMode="auto">
            <a:xfrm>
              <a:off x="3445" y="2284"/>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6702" name="Line 27"/>
            <p:cNvSpPr>
              <a:spLocks noChangeShapeType="1"/>
            </p:cNvSpPr>
            <p:nvPr/>
          </p:nvSpPr>
          <p:spPr bwMode="auto">
            <a:xfrm>
              <a:off x="5439" y="2284"/>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6703" name="Line 30"/>
            <p:cNvSpPr>
              <a:spLocks noChangeShapeType="1"/>
            </p:cNvSpPr>
            <p:nvPr/>
          </p:nvSpPr>
          <p:spPr bwMode="auto">
            <a:xfrm>
              <a:off x="3433" y="2270"/>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6704" name="Line 31"/>
            <p:cNvSpPr>
              <a:spLocks noChangeShapeType="1"/>
            </p:cNvSpPr>
            <p:nvPr/>
          </p:nvSpPr>
          <p:spPr bwMode="auto">
            <a:xfrm>
              <a:off x="3445" y="2284"/>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6705" name="Line 32"/>
            <p:cNvSpPr>
              <a:spLocks noChangeShapeType="1"/>
            </p:cNvSpPr>
            <p:nvPr/>
          </p:nvSpPr>
          <p:spPr bwMode="auto">
            <a:xfrm>
              <a:off x="3943" y="2284"/>
              <a:ext cx="0" cy="868"/>
            </a:xfrm>
            <a:prstGeom prst="line">
              <a:avLst/>
            </a:prstGeom>
            <a:noFill/>
            <a:ln w="12700">
              <a:solidFill>
                <a:schemeClr val="tx1"/>
              </a:solidFill>
              <a:round/>
              <a:headEnd type="none" w="med" len="lg"/>
              <a:tailEnd type="none" w="sm" len="sm"/>
            </a:ln>
          </p:spPr>
          <p:txBody>
            <a:bodyPr/>
            <a:lstStyle/>
            <a:p>
              <a:endParaRPr lang="en-US"/>
            </a:p>
          </p:txBody>
        </p:sp>
        <p:sp>
          <p:nvSpPr>
            <p:cNvPr id="26706" name="Line 33"/>
            <p:cNvSpPr>
              <a:spLocks noChangeShapeType="1"/>
            </p:cNvSpPr>
            <p:nvPr/>
          </p:nvSpPr>
          <p:spPr bwMode="auto">
            <a:xfrm>
              <a:off x="4442" y="2284"/>
              <a:ext cx="0" cy="868"/>
            </a:xfrm>
            <a:prstGeom prst="line">
              <a:avLst/>
            </a:prstGeom>
            <a:noFill/>
            <a:ln w="12700">
              <a:solidFill>
                <a:schemeClr val="tx1"/>
              </a:solidFill>
              <a:round/>
              <a:headEnd type="none" w="med" len="lg"/>
              <a:tailEnd type="none" w="sm" len="sm"/>
            </a:ln>
          </p:spPr>
          <p:txBody>
            <a:bodyPr/>
            <a:lstStyle/>
            <a:p>
              <a:endParaRPr lang="en-US"/>
            </a:p>
          </p:txBody>
        </p:sp>
        <p:sp>
          <p:nvSpPr>
            <p:cNvPr id="26707" name="Line 34"/>
            <p:cNvSpPr>
              <a:spLocks noChangeShapeType="1"/>
            </p:cNvSpPr>
            <p:nvPr/>
          </p:nvSpPr>
          <p:spPr bwMode="auto">
            <a:xfrm>
              <a:off x="4940" y="2284"/>
              <a:ext cx="0" cy="868"/>
            </a:xfrm>
            <a:prstGeom prst="line">
              <a:avLst/>
            </a:prstGeom>
            <a:noFill/>
            <a:ln w="12700">
              <a:solidFill>
                <a:schemeClr val="tx1"/>
              </a:solidFill>
              <a:round/>
              <a:headEnd type="none" w="med" len="lg"/>
              <a:tailEnd type="none" w="sm" len="sm"/>
            </a:ln>
          </p:spPr>
          <p:txBody>
            <a:bodyPr/>
            <a:lstStyle/>
            <a:p>
              <a:endParaRPr lang="en-US"/>
            </a:p>
          </p:txBody>
        </p:sp>
        <p:sp>
          <p:nvSpPr>
            <p:cNvPr id="26708" name="Line 36"/>
            <p:cNvSpPr>
              <a:spLocks noChangeShapeType="1"/>
            </p:cNvSpPr>
            <p:nvPr/>
          </p:nvSpPr>
          <p:spPr bwMode="auto">
            <a:xfrm>
              <a:off x="3445" y="2708"/>
              <a:ext cx="1994" cy="0"/>
            </a:xfrm>
            <a:prstGeom prst="line">
              <a:avLst/>
            </a:prstGeom>
            <a:noFill/>
            <a:ln w="12700">
              <a:solidFill>
                <a:schemeClr val="tx1"/>
              </a:solidFill>
              <a:round/>
              <a:headEnd type="none" w="med" len="lg"/>
              <a:tailEnd type="none" w="sm" len="sm"/>
            </a:ln>
          </p:spPr>
          <p:txBody>
            <a:bodyPr/>
            <a:lstStyle/>
            <a:p>
              <a:endParaRPr lang="en-US"/>
            </a:p>
          </p:txBody>
        </p:sp>
        <p:sp>
          <p:nvSpPr>
            <p:cNvPr id="26709" name="Line 29"/>
            <p:cNvSpPr>
              <a:spLocks noChangeShapeType="1"/>
            </p:cNvSpPr>
            <p:nvPr/>
          </p:nvSpPr>
          <p:spPr bwMode="auto">
            <a:xfrm>
              <a:off x="3450" y="3133"/>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6710" name="Line 24"/>
            <p:cNvSpPr>
              <a:spLocks noChangeShapeType="1"/>
            </p:cNvSpPr>
            <p:nvPr/>
          </p:nvSpPr>
          <p:spPr bwMode="auto">
            <a:xfrm>
              <a:off x="3676" y="3946"/>
              <a:ext cx="499" cy="0"/>
            </a:xfrm>
            <a:prstGeom prst="line">
              <a:avLst/>
            </a:prstGeom>
            <a:noFill/>
            <a:ln w="28575" cap="sq">
              <a:noFill/>
              <a:round/>
              <a:headEnd type="none" w="med" len="lg"/>
              <a:tailEnd type="none" w="sm" len="sm"/>
            </a:ln>
          </p:spPr>
          <p:txBody>
            <a:bodyPr/>
            <a:lstStyle/>
            <a:p>
              <a:endParaRPr lang="en-US"/>
            </a:p>
          </p:txBody>
        </p:sp>
        <p:sp>
          <p:nvSpPr>
            <p:cNvPr id="26711" name="Line 25"/>
            <p:cNvSpPr>
              <a:spLocks noChangeShapeType="1"/>
            </p:cNvSpPr>
            <p:nvPr/>
          </p:nvSpPr>
          <p:spPr bwMode="auto">
            <a:xfrm>
              <a:off x="4175" y="3946"/>
              <a:ext cx="498" cy="0"/>
            </a:xfrm>
            <a:prstGeom prst="line">
              <a:avLst/>
            </a:prstGeom>
            <a:noFill/>
            <a:ln w="28575" cap="sq">
              <a:noFill/>
              <a:round/>
              <a:headEnd type="none" w="med" len="lg"/>
              <a:tailEnd type="none" w="sm" len="sm"/>
            </a:ln>
          </p:spPr>
          <p:txBody>
            <a:bodyPr/>
            <a:lstStyle/>
            <a:p>
              <a:endParaRPr lang="en-US"/>
            </a:p>
          </p:txBody>
        </p:sp>
        <p:sp>
          <p:nvSpPr>
            <p:cNvPr id="26712" name="Line 26"/>
            <p:cNvSpPr>
              <a:spLocks noChangeShapeType="1"/>
            </p:cNvSpPr>
            <p:nvPr/>
          </p:nvSpPr>
          <p:spPr bwMode="auto">
            <a:xfrm>
              <a:off x="4673" y="3946"/>
              <a:ext cx="499" cy="0"/>
            </a:xfrm>
            <a:prstGeom prst="line">
              <a:avLst/>
            </a:prstGeom>
            <a:noFill/>
            <a:ln w="28575" cap="sq">
              <a:noFill/>
              <a:round/>
              <a:headEnd type="none" w="med" len="lg"/>
              <a:tailEnd type="none" w="sm" len="sm"/>
            </a:ln>
          </p:spPr>
          <p:txBody>
            <a:bodyPr/>
            <a:lstStyle/>
            <a:p>
              <a:endParaRPr lang="en-US"/>
            </a:p>
          </p:txBody>
        </p:sp>
        <p:sp>
          <p:nvSpPr>
            <p:cNvPr id="26713" name="Rectangle 83"/>
            <p:cNvSpPr>
              <a:spLocks noChangeArrowheads="1"/>
            </p:cNvSpPr>
            <p:nvPr/>
          </p:nvSpPr>
          <p:spPr bwMode="auto">
            <a:xfrm>
              <a:off x="4940" y="3585"/>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6714" name="Rectangle 84"/>
            <p:cNvSpPr>
              <a:spLocks noChangeArrowheads="1"/>
            </p:cNvSpPr>
            <p:nvPr/>
          </p:nvSpPr>
          <p:spPr bwMode="auto">
            <a:xfrm>
              <a:off x="4442" y="3585"/>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6715" name="Rectangle 85"/>
            <p:cNvSpPr>
              <a:spLocks noChangeArrowheads="1"/>
            </p:cNvSpPr>
            <p:nvPr/>
          </p:nvSpPr>
          <p:spPr bwMode="auto">
            <a:xfrm>
              <a:off x="3943" y="3585"/>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6716" name="Rectangle 86"/>
            <p:cNvSpPr>
              <a:spLocks noChangeArrowheads="1"/>
            </p:cNvSpPr>
            <p:nvPr/>
          </p:nvSpPr>
          <p:spPr bwMode="auto">
            <a:xfrm>
              <a:off x="3445" y="3585"/>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6717" name="Rectangle 87"/>
            <p:cNvSpPr>
              <a:spLocks noChangeArrowheads="1"/>
            </p:cNvSpPr>
            <p:nvPr/>
          </p:nvSpPr>
          <p:spPr bwMode="auto">
            <a:xfrm>
              <a:off x="4940" y="3161"/>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6718" name="Rectangle 88"/>
            <p:cNvSpPr>
              <a:spLocks noChangeArrowheads="1"/>
            </p:cNvSpPr>
            <p:nvPr/>
          </p:nvSpPr>
          <p:spPr bwMode="auto">
            <a:xfrm>
              <a:off x="4434" y="3161"/>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6719" name="Rectangle 89"/>
            <p:cNvSpPr>
              <a:spLocks noChangeArrowheads="1"/>
            </p:cNvSpPr>
            <p:nvPr/>
          </p:nvSpPr>
          <p:spPr bwMode="auto">
            <a:xfrm>
              <a:off x="3941" y="3133"/>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6720" name="Rectangle 90"/>
            <p:cNvSpPr>
              <a:spLocks noChangeArrowheads="1"/>
            </p:cNvSpPr>
            <p:nvPr/>
          </p:nvSpPr>
          <p:spPr bwMode="auto">
            <a:xfrm>
              <a:off x="3445" y="3161"/>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6721" name="Line 91"/>
            <p:cNvSpPr>
              <a:spLocks noChangeShapeType="1"/>
            </p:cNvSpPr>
            <p:nvPr/>
          </p:nvSpPr>
          <p:spPr bwMode="auto">
            <a:xfrm>
              <a:off x="5439" y="3161"/>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6722" name="Line 92"/>
            <p:cNvSpPr>
              <a:spLocks noChangeShapeType="1"/>
            </p:cNvSpPr>
            <p:nvPr/>
          </p:nvSpPr>
          <p:spPr bwMode="auto">
            <a:xfrm>
              <a:off x="3445" y="4029"/>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6723" name="Line 93"/>
            <p:cNvSpPr>
              <a:spLocks noChangeShapeType="1"/>
            </p:cNvSpPr>
            <p:nvPr/>
          </p:nvSpPr>
          <p:spPr bwMode="auto">
            <a:xfrm>
              <a:off x="3445" y="3133"/>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6724" name="Line 94"/>
            <p:cNvSpPr>
              <a:spLocks noChangeShapeType="1"/>
            </p:cNvSpPr>
            <p:nvPr/>
          </p:nvSpPr>
          <p:spPr bwMode="auto">
            <a:xfrm>
              <a:off x="3445" y="3161"/>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6725" name="Line 95"/>
            <p:cNvSpPr>
              <a:spLocks noChangeShapeType="1"/>
            </p:cNvSpPr>
            <p:nvPr/>
          </p:nvSpPr>
          <p:spPr bwMode="auto">
            <a:xfrm>
              <a:off x="3943" y="3161"/>
              <a:ext cx="0" cy="868"/>
            </a:xfrm>
            <a:prstGeom prst="line">
              <a:avLst/>
            </a:prstGeom>
            <a:noFill/>
            <a:ln w="12700">
              <a:solidFill>
                <a:schemeClr val="tx1"/>
              </a:solidFill>
              <a:round/>
              <a:headEnd type="none" w="med" len="lg"/>
              <a:tailEnd type="none" w="sm" len="sm"/>
            </a:ln>
          </p:spPr>
          <p:txBody>
            <a:bodyPr/>
            <a:lstStyle/>
            <a:p>
              <a:endParaRPr lang="en-US"/>
            </a:p>
          </p:txBody>
        </p:sp>
        <p:sp>
          <p:nvSpPr>
            <p:cNvPr id="26726" name="Line 96"/>
            <p:cNvSpPr>
              <a:spLocks noChangeShapeType="1"/>
            </p:cNvSpPr>
            <p:nvPr/>
          </p:nvSpPr>
          <p:spPr bwMode="auto">
            <a:xfrm>
              <a:off x="4442" y="3161"/>
              <a:ext cx="0" cy="868"/>
            </a:xfrm>
            <a:prstGeom prst="line">
              <a:avLst/>
            </a:prstGeom>
            <a:noFill/>
            <a:ln w="12700">
              <a:solidFill>
                <a:schemeClr val="tx1"/>
              </a:solidFill>
              <a:round/>
              <a:headEnd type="none" w="med" len="lg"/>
              <a:tailEnd type="none" w="sm" len="sm"/>
            </a:ln>
          </p:spPr>
          <p:txBody>
            <a:bodyPr/>
            <a:lstStyle/>
            <a:p>
              <a:endParaRPr lang="en-US"/>
            </a:p>
          </p:txBody>
        </p:sp>
        <p:sp>
          <p:nvSpPr>
            <p:cNvPr id="26727" name="Line 97"/>
            <p:cNvSpPr>
              <a:spLocks noChangeShapeType="1"/>
            </p:cNvSpPr>
            <p:nvPr/>
          </p:nvSpPr>
          <p:spPr bwMode="auto">
            <a:xfrm>
              <a:off x="4940" y="3161"/>
              <a:ext cx="0" cy="868"/>
            </a:xfrm>
            <a:prstGeom prst="line">
              <a:avLst/>
            </a:prstGeom>
            <a:noFill/>
            <a:ln w="12700">
              <a:solidFill>
                <a:schemeClr val="tx1"/>
              </a:solidFill>
              <a:round/>
              <a:headEnd type="none" w="med" len="lg"/>
              <a:tailEnd type="none" w="sm" len="sm"/>
            </a:ln>
          </p:spPr>
          <p:txBody>
            <a:bodyPr/>
            <a:lstStyle/>
            <a:p>
              <a:endParaRPr lang="en-US"/>
            </a:p>
          </p:txBody>
        </p:sp>
        <p:sp>
          <p:nvSpPr>
            <p:cNvPr id="26728" name="Line 98"/>
            <p:cNvSpPr>
              <a:spLocks noChangeShapeType="1"/>
            </p:cNvSpPr>
            <p:nvPr/>
          </p:nvSpPr>
          <p:spPr bwMode="auto">
            <a:xfrm>
              <a:off x="3445" y="3585"/>
              <a:ext cx="1994" cy="0"/>
            </a:xfrm>
            <a:prstGeom prst="line">
              <a:avLst/>
            </a:prstGeom>
            <a:noFill/>
            <a:ln w="12700">
              <a:solidFill>
                <a:schemeClr val="tx1"/>
              </a:solidFill>
              <a:round/>
              <a:headEnd type="none" w="med" len="lg"/>
              <a:tailEnd type="none" w="sm" len="sm"/>
            </a:ln>
          </p:spPr>
          <p:txBody>
            <a:bodyPr/>
            <a:lstStyle/>
            <a:p>
              <a:endParaRPr lang="en-US"/>
            </a:p>
          </p:txBody>
        </p:sp>
        <p:sp>
          <p:nvSpPr>
            <p:cNvPr id="26729" name="Rectangle 104"/>
            <p:cNvSpPr>
              <a:spLocks noChangeArrowheads="1"/>
            </p:cNvSpPr>
            <p:nvPr/>
          </p:nvSpPr>
          <p:spPr bwMode="auto">
            <a:xfrm>
              <a:off x="2953" y="3137"/>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11</a:t>
              </a:r>
            </a:p>
          </p:txBody>
        </p:sp>
        <p:sp>
          <p:nvSpPr>
            <p:cNvPr id="26730" name="Rectangle 105"/>
            <p:cNvSpPr>
              <a:spLocks noChangeArrowheads="1"/>
            </p:cNvSpPr>
            <p:nvPr/>
          </p:nvSpPr>
          <p:spPr bwMode="auto">
            <a:xfrm>
              <a:off x="2935" y="3581"/>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10</a:t>
              </a:r>
            </a:p>
          </p:txBody>
        </p:sp>
      </p:grpSp>
      <p:sp>
        <p:nvSpPr>
          <p:cNvPr id="83053" name="Oval 109"/>
          <p:cNvSpPr>
            <a:spLocks noChangeArrowheads="1"/>
          </p:cNvSpPr>
          <p:nvPr/>
        </p:nvSpPr>
        <p:spPr bwMode="auto">
          <a:xfrm>
            <a:off x="7759198" y="4816720"/>
            <a:ext cx="695325" cy="64293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3084" name="Oval 140"/>
          <p:cNvSpPr>
            <a:spLocks noChangeArrowheads="1"/>
          </p:cNvSpPr>
          <p:nvPr/>
        </p:nvSpPr>
        <p:spPr bwMode="auto">
          <a:xfrm>
            <a:off x="7732211" y="4818306"/>
            <a:ext cx="1557337" cy="642938"/>
          </a:xfrm>
          <a:prstGeom prst="ellipse">
            <a:avLst/>
          </a:prstGeom>
          <a:noFill/>
          <a:ln w="63500">
            <a:solidFill>
              <a:srgbClr val="008080"/>
            </a:solidFill>
            <a:prstDash val="sysDot"/>
            <a:round/>
            <a:headEnd type="none" w="sm" len="sm"/>
            <a:tailEnd type="none" w="sm" len="sm"/>
          </a:ln>
        </p:spPr>
        <p:txBody>
          <a:bodyPr wrap="none" anchor="ctr"/>
          <a:lstStyle/>
          <a:p>
            <a:endParaRPr lang="en-US"/>
          </a:p>
        </p:txBody>
      </p:sp>
      <p:sp>
        <p:nvSpPr>
          <p:cNvPr id="83093" name="Oval 149"/>
          <p:cNvSpPr>
            <a:spLocks noChangeArrowheads="1"/>
          </p:cNvSpPr>
          <p:nvPr/>
        </p:nvSpPr>
        <p:spPr bwMode="auto">
          <a:xfrm>
            <a:off x="8525961" y="4821481"/>
            <a:ext cx="763587" cy="1384300"/>
          </a:xfrm>
          <a:prstGeom prst="ellipse">
            <a:avLst/>
          </a:prstGeom>
          <a:noFill/>
          <a:ln w="63500">
            <a:solidFill>
              <a:srgbClr val="008080"/>
            </a:solidFill>
            <a:prstDash val="sysDot"/>
            <a:round/>
            <a:headEnd type="none" w="sm" len="sm"/>
            <a:tailEnd type="none" w="sm" len="sm"/>
          </a:ln>
        </p:spPr>
        <p:txBody>
          <a:bodyPr wrap="none" anchor="ctr"/>
          <a:lstStyle/>
          <a:p>
            <a:endParaRPr lang="en-US"/>
          </a:p>
        </p:txBody>
      </p:sp>
      <p:grpSp>
        <p:nvGrpSpPr>
          <p:cNvPr id="3" name="Group 156"/>
          <p:cNvGrpSpPr>
            <a:grpSpLocks/>
          </p:cNvGrpSpPr>
          <p:nvPr/>
        </p:nvGrpSpPr>
        <p:grpSpPr bwMode="auto">
          <a:xfrm>
            <a:off x="8557711" y="2787894"/>
            <a:ext cx="790575" cy="3757612"/>
            <a:chOff x="4461" y="1885"/>
            <a:chExt cx="498" cy="2367"/>
          </a:xfrm>
        </p:grpSpPr>
        <p:sp>
          <p:nvSpPr>
            <p:cNvPr id="26677" name="Freeform 120"/>
            <p:cNvSpPr>
              <a:spLocks/>
            </p:cNvSpPr>
            <p:nvPr/>
          </p:nvSpPr>
          <p:spPr bwMode="auto">
            <a:xfrm>
              <a:off x="4461" y="3584"/>
              <a:ext cx="498" cy="668"/>
            </a:xfrm>
            <a:custGeom>
              <a:avLst/>
              <a:gdLst>
                <a:gd name="T0" fmla="*/ 0 w 498"/>
                <a:gd name="T1" fmla="*/ 668 h 668"/>
                <a:gd name="T2" fmla="*/ 111 w 498"/>
                <a:gd name="T3" fmla="*/ 92 h 668"/>
                <a:gd name="T4" fmla="*/ 349 w 498"/>
                <a:gd name="T5" fmla="*/ 114 h 668"/>
                <a:gd name="T6" fmla="*/ 498 w 498"/>
                <a:gd name="T7" fmla="*/ 652 h 668"/>
                <a:gd name="T8" fmla="*/ 0 60000 65536"/>
                <a:gd name="T9" fmla="*/ 0 60000 65536"/>
                <a:gd name="T10" fmla="*/ 0 60000 65536"/>
                <a:gd name="T11" fmla="*/ 0 60000 65536"/>
                <a:gd name="T12" fmla="*/ 0 w 498"/>
                <a:gd name="T13" fmla="*/ 0 h 668"/>
                <a:gd name="T14" fmla="*/ 498 w 498"/>
                <a:gd name="T15" fmla="*/ 668 h 668"/>
              </a:gdLst>
              <a:ahLst/>
              <a:cxnLst>
                <a:cxn ang="T8">
                  <a:pos x="T0" y="T1"/>
                </a:cxn>
                <a:cxn ang="T9">
                  <a:pos x="T2" y="T3"/>
                </a:cxn>
                <a:cxn ang="T10">
                  <a:pos x="T4" y="T5"/>
                </a:cxn>
                <a:cxn ang="T11">
                  <a:pos x="T6" y="T7"/>
                </a:cxn>
              </a:cxnLst>
              <a:rect l="T12" t="T13" r="T14" b="T15"/>
              <a:pathLst>
                <a:path w="498" h="668">
                  <a:moveTo>
                    <a:pt x="0" y="668"/>
                  </a:moveTo>
                  <a:cubicBezTo>
                    <a:pt x="26" y="426"/>
                    <a:pt x="53" y="184"/>
                    <a:pt x="111" y="92"/>
                  </a:cubicBezTo>
                  <a:cubicBezTo>
                    <a:pt x="169" y="0"/>
                    <a:pt x="285" y="21"/>
                    <a:pt x="349" y="114"/>
                  </a:cubicBezTo>
                  <a:cubicBezTo>
                    <a:pt x="413" y="207"/>
                    <a:pt x="473" y="562"/>
                    <a:pt x="498" y="652"/>
                  </a:cubicBezTo>
                </a:path>
              </a:pathLst>
            </a:custGeom>
            <a:noFill/>
            <a:ln w="38100">
              <a:solidFill>
                <a:schemeClr val="tx2"/>
              </a:solidFill>
              <a:round/>
              <a:headEnd type="none" w="sm" len="sm"/>
              <a:tailEnd type="none" w="sm" len="sm"/>
            </a:ln>
          </p:spPr>
          <p:txBody>
            <a:bodyPr/>
            <a:lstStyle/>
            <a:p>
              <a:endParaRPr lang="en-US"/>
            </a:p>
          </p:txBody>
        </p:sp>
        <p:sp>
          <p:nvSpPr>
            <p:cNvPr id="26678" name="Freeform 155"/>
            <p:cNvSpPr>
              <a:spLocks/>
            </p:cNvSpPr>
            <p:nvPr/>
          </p:nvSpPr>
          <p:spPr bwMode="auto">
            <a:xfrm>
              <a:off x="4467" y="1885"/>
              <a:ext cx="445" cy="861"/>
            </a:xfrm>
            <a:custGeom>
              <a:avLst/>
              <a:gdLst>
                <a:gd name="T0" fmla="*/ 0 w 445"/>
                <a:gd name="T1" fmla="*/ 0 h 861"/>
                <a:gd name="T2" fmla="*/ 94 w 445"/>
                <a:gd name="T3" fmla="*/ 727 h 861"/>
                <a:gd name="T4" fmla="*/ 330 w 445"/>
                <a:gd name="T5" fmla="*/ 743 h 861"/>
                <a:gd name="T6" fmla="*/ 445 w 445"/>
                <a:gd name="T7" fmla="*/ 21 h 861"/>
                <a:gd name="T8" fmla="*/ 0 60000 65536"/>
                <a:gd name="T9" fmla="*/ 0 60000 65536"/>
                <a:gd name="T10" fmla="*/ 0 60000 65536"/>
                <a:gd name="T11" fmla="*/ 0 60000 65536"/>
                <a:gd name="T12" fmla="*/ 0 w 445"/>
                <a:gd name="T13" fmla="*/ 0 h 861"/>
                <a:gd name="T14" fmla="*/ 445 w 445"/>
                <a:gd name="T15" fmla="*/ 861 h 861"/>
              </a:gdLst>
              <a:ahLst/>
              <a:cxnLst>
                <a:cxn ang="T8">
                  <a:pos x="T0" y="T1"/>
                </a:cxn>
                <a:cxn ang="T9">
                  <a:pos x="T2" y="T3"/>
                </a:cxn>
                <a:cxn ang="T10">
                  <a:pos x="T4" y="T5"/>
                </a:cxn>
                <a:cxn ang="T11">
                  <a:pos x="T6" y="T7"/>
                </a:cxn>
              </a:cxnLst>
              <a:rect l="T12" t="T13" r="T14" b="T15"/>
              <a:pathLst>
                <a:path w="445" h="861">
                  <a:moveTo>
                    <a:pt x="0" y="0"/>
                  </a:moveTo>
                  <a:cubicBezTo>
                    <a:pt x="19" y="301"/>
                    <a:pt x="39" y="603"/>
                    <a:pt x="94" y="727"/>
                  </a:cubicBezTo>
                  <a:cubicBezTo>
                    <a:pt x="149" y="851"/>
                    <a:pt x="272" y="861"/>
                    <a:pt x="330" y="743"/>
                  </a:cubicBezTo>
                  <a:cubicBezTo>
                    <a:pt x="388" y="625"/>
                    <a:pt x="426" y="141"/>
                    <a:pt x="445" y="21"/>
                  </a:cubicBezTo>
                </a:path>
              </a:pathLst>
            </a:custGeom>
            <a:noFill/>
            <a:ln w="38100">
              <a:solidFill>
                <a:schemeClr val="tx2"/>
              </a:solidFill>
              <a:round/>
              <a:headEnd type="none" w="sm" len="sm"/>
              <a:tailEnd type="none" w="sm" len="sm"/>
            </a:ln>
          </p:spPr>
          <p:txBody>
            <a:bodyPr/>
            <a:lstStyle/>
            <a:p>
              <a:endParaRPr lang="en-US"/>
            </a:p>
          </p:txBody>
        </p:sp>
      </p:grpSp>
      <p:grpSp>
        <p:nvGrpSpPr>
          <p:cNvPr id="4" name="Group 158"/>
          <p:cNvGrpSpPr>
            <a:grpSpLocks/>
          </p:cNvGrpSpPr>
          <p:nvPr/>
        </p:nvGrpSpPr>
        <p:grpSpPr bwMode="auto">
          <a:xfrm>
            <a:off x="8578347" y="2664069"/>
            <a:ext cx="1557338" cy="4017962"/>
            <a:chOff x="4506" y="1812"/>
            <a:chExt cx="981" cy="2531"/>
          </a:xfrm>
        </p:grpSpPr>
        <p:sp>
          <p:nvSpPr>
            <p:cNvPr id="26675" name="Freeform 142"/>
            <p:cNvSpPr>
              <a:spLocks/>
            </p:cNvSpPr>
            <p:nvPr/>
          </p:nvSpPr>
          <p:spPr bwMode="auto">
            <a:xfrm>
              <a:off x="4506" y="3559"/>
              <a:ext cx="981" cy="784"/>
            </a:xfrm>
            <a:custGeom>
              <a:avLst/>
              <a:gdLst>
                <a:gd name="T0" fmla="*/ 0 w 981"/>
                <a:gd name="T1" fmla="*/ 784 h 784"/>
                <a:gd name="T2" fmla="*/ 213 w 981"/>
                <a:gd name="T3" fmla="*/ 112 h 784"/>
                <a:gd name="T4" fmla="*/ 707 w 981"/>
                <a:gd name="T5" fmla="*/ 112 h 784"/>
                <a:gd name="T6" fmla="*/ 981 w 981"/>
                <a:gd name="T7" fmla="*/ 722 h 784"/>
                <a:gd name="T8" fmla="*/ 0 60000 65536"/>
                <a:gd name="T9" fmla="*/ 0 60000 65536"/>
                <a:gd name="T10" fmla="*/ 0 60000 65536"/>
                <a:gd name="T11" fmla="*/ 0 60000 65536"/>
                <a:gd name="T12" fmla="*/ 0 w 981"/>
                <a:gd name="T13" fmla="*/ 0 h 784"/>
                <a:gd name="T14" fmla="*/ 981 w 981"/>
                <a:gd name="T15" fmla="*/ 784 h 784"/>
              </a:gdLst>
              <a:ahLst/>
              <a:cxnLst>
                <a:cxn ang="T8">
                  <a:pos x="T0" y="T1"/>
                </a:cxn>
                <a:cxn ang="T9">
                  <a:pos x="T2" y="T3"/>
                </a:cxn>
                <a:cxn ang="T10">
                  <a:pos x="T4" y="T5"/>
                </a:cxn>
                <a:cxn ang="T11">
                  <a:pos x="T6" y="T7"/>
                </a:cxn>
              </a:cxnLst>
              <a:rect l="T12" t="T13" r="T14" b="T15"/>
              <a:pathLst>
                <a:path w="981" h="784">
                  <a:moveTo>
                    <a:pt x="0" y="784"/>
                  </a:moveTo>
                  <a:cubicBezTo>
                    <a:pt x="47" y="504"/>
                    <a:pt x="95" y="224"/>
                    <a:pt x="213" y="112"/>
                  </a:cubicBezTo>
                  <a:cubicBezTo>
                    <a:pt x="331" y="0"/>
                    <a:pt x="579" y="10"/>
                    <a:pt x="707" y="112"/>
                  </a:cubicBezTo>
                  <a:cubicBezTo>
                    <a:pt x="835" y="214"/>
                    <a:pt x="935" y="620"/>
                    <a:pt x="981" y="722"/>
                  </a:cubicBezTo>
                </a:path>
              </a:pathLst>
            </a:custGeom>
            <a:noFill/>
            <a:ln w="63500">
              <a:solidFill>
                <a:srgbClr val="008080"/>
              </a:solidFill>
              <a:prstDash val="sysDot"/>
              <a:round/>
              <a:headEnd type="none" w="sm" len="sm"/>
              <a:tailEnd type="none" w="sm" len="sm"/>
            </a:ln>
          </p:spPr>
          <p:txBody>
            <a:bodyPr/>
            <a:lstStyle/>
            <a:p>
              <a:endParaRPr lang="en-US"/>
            </a:p>
          </p:txBody>
        </p:sp>
        <p:sp>
          <p:nvSpPr>
            <p:cNvPr id="26676" name="Freeform 157"/>
            <p:cNvSpPr>
              <a:spLocks/>
            </p:cNvSpPr>
            <p:nvPr/>
          </p:nvSpPr>
          <p:spPr bwMode="auto">
            <a:xfrm>
              <a:off x="4519" y="1812"/>
              <a:ext cx="890" cy="955"/>
            </a:xfrm>
            <a:custGeom>
              <a:avLst/>
              <a:gdLst>
                <a:gd name="T0" fmla="*/ 0 w 890"/>
                <a:gd name="T1" fmla="*/ 0 h 955"/>
                <a:gd name="T2" fmla="*/ 173 w 890"/>
                <a:gd name="T3" fmla="*/ 822 h 955"/>
                <a:gd name="T4" fmla="*/ 754 w 890"/>
                <a:gd name="T5" fmla="*/ 801 h 955"/>
                <a:gd name="T6" fmla="*/ 890 w 890"/>
                <a:gd name="T7" fmla="*/ 11 h 955"/>
                <a:gd name="T8" fmla="*/ 0 60000 65536"/>
                <a:gd name="T9" fmla="*/ 0 60000 65536"/>
                <a:gd name="T10" fmla="*/ 0 60000 65536"/>
                <a:gd name="T11" fmla="*/ 0 60000 65536"/>
                <a:gd name="T12" fmla="*/ 0 w 890"/>
                <a:gd name="T13" fmla="*/ 0 h 955"/>
                <a:gd name="T14" fmla="*/ 890 w 890"/>
                <a:gd name="T15" fmla="*/ 955 h 955"/>
              </a:gdLst>
              <a:ahLst/>
              <a:cxnLst>
                <a:cxn ang="T8">
                  <a:pos x="T0" y="T1"/>
                </a:cxn>
                <a:cxn ang="T9">
                  <a:pos x="T2" y="T3"/>
                </a:cxn>
                <a:cxn ang="T10">
                  <a:pos x="T4" y="T5"/>
                </a:cxn>
                <a:cxn ang="T11">
                  <a:pos x="T6" y="T7"/>
                </a:cxn>
              </a:cxnLst>
              <a:rect l="T12" t="T13" r="T14" b="T15"/>
              <a:pathLst>
                <a:path w="890" h="955">
                  <a:moveTo>
                    <a:pt x="0" y="0"/>
                  </a:moveTo>
                  <a:cubicBezTo>
                    <a:pt x="24" y="344"/>
                    <a:pt x="48" y="689"/>
                    <a:pt x="173" y="822"/>
                  </a:cubicBezTo>
                  <a:cubicBezTo>
                    <a:pt x="298" y="955"/>
                    <a:pt x="635" y="936"/>
                    <a:pt x="754" y="801"/>
                  </a:cubicBezTo>
                  <a:cubicBezTo>
                    <a:pt x="873" y="666"/>
                    <a:pt x="867" y="143"/>
                    <a:pt x="890" y="11"/>
                  </a:cubicBezTo>
                </a:path>
              </a:pathLst>
            </a:custGeom>
            <a:noFill/>
            <a:ln w="63500">
              <a:solidFill>
                <a:srgbClr val="008080"/>
              </a:solidFill>
              <a:prstDash val="sysDot"/>
              <a:round/>
              <a:headEnd type="none" w="sm" len="sm"/>
              <a:tailEnd type="none" w="sm" len="sm"/>
            </a:ln>
          </p:spPr>
          <p:txBody>
            <a:bodyPr/>
            <a:lstStyle/>
            <a:p>
              <a:endParaRPr lang="en-US"/>
            </a:p>
          </p:txBody>
        </p:sp>
      </p:grpSp>
      <p:sp>
        <p:nvSpPr>
          <p:cNvPr id="83103" name="Oval 159"/>
          <p:cNvSpPr>
            <a:spLocks noChangeArrowheads="1"/>
          </p:cNvSpPr>
          <p:nvPr/>
        </p:nvSpPr>
        <p:spPr bwMode="auto">
          <a:xfrm>
            <a:off x="8535486" y="4802431"/>
            <a:ext cx="763587" cy="1384300"/>
          </a:xfrm>
          <a:prstGeom prst="ellipse">
            <a:avLst/>
          </a:prstGeom>
          <a:noFill/>
          <a:ln w="38100">
            <a:solidFill>
              <a:schemeClr val="tx2"/>
            </a:solidFill>
            <a:round/>
            <a:headEnd type="none" w="sm" len="sm"/>
            <a:tailEnd type="none" w="sm" len="sm"/>
          </a:ln>
        </p:spPr>
        <p:txBody>
          <a:bodyPr wrap="none" anchor="ctr"/>
          <a:lstStyle/>
          <a:p>
            <a:endParaRPr lang="en-US"/>
          </a:p>
        </p:txBody>
      </p:sp>
      <p:grpSp>
        <p:nvGrpSpPr>
          <p:cNvPr id="5" name="Group 160"/>
          <p:cNvGrpSpPr>
            <a:grpSpLocks/>
          </p:cNvGrpSpPr>
          <p:nvPr/>
        </p:nvGrpSpPr>
        <p:grpSpPr bwMode="auto">
          <a:xfrm>
            <a:off x="8581522" y="2659307"/>
            <a:ext cx="1557338" cy="4017963"/>
            <a:chOff x="4506" y="1812"/>
            <a:chExt cx="981" cy="2531"/>
          </a:xfrm>
        </p:grpSpPr>
        <p:sp>
          <p:nvSpPr>
            <p:cNvPr id="26673" name="Freeform 161"/>
            <p:cNvSpPr>
              <a:spLocks/>
            </p:cNvSpPr>
            <p:nvPr/>
          </p:nvSpPr>
          <p:spPr bwMode="auto">
            <a:xfrm>
              <a:off x="4506" y="3559"/>
              <a:ext cx="981" cy="784"/>
            </a:xfrm>
            <a:custGeom>
              <a:avLst/>
              <a:gdLst>
                <a:gd name="T0" fmla="*/ 0 w 981"/>
                <a:gd name="T1" fmla="*/ 784 h 784"/>
                <a:gd name="T2" fmla="*/ 213 w 981"/>
                <a:gd name="T3" fmla="*/ 112 h 784"/>
                <a:gd name="T4" fmla="*/ 707 w 981"/>
                <a:gd name="T5" fmla="*/ 112 h 784"/>
                <a:gd name="T6" fmla="*/ 981 w 981"/>
                <a:gd name="T7" fmla="*/ 722 h 784"/>
                <a:gd name="T8" fmla="*/ 0 60000 65536"/>
                <a:gd name="T9" fmla="*/ 0 60000 65536"/>
                <a:gd name="T10" fmla="*/ 0 60000 65536"/>
                <a:gd name="T11" fmla="*/ 0 60000 65536"/>
                <a:gd name="T12" fmla="*/ 0 w 981"/>
                <a:gd name="T13" fmla="*/ 0 h 784"/>
                <a:gd name="T14" fmla="*/ 981 w 981"/>
                <a:gd name="T15" fmla="*/ 784 h 784"/>
              </a:gdLst>
              <a:ahLst/>
              <a:cxnLst>
                <a:cxn ang="T8">
                  <a:pos x="T0" y="T1"/>
                </a:cxn>
                <a:cxn ang="T9">
                  <a:pos x="T2" y="T3"/>
                </a:cxn>
                <a:cxn ang="T10">
                  <a:pos x="T4" y="T5"/>
                </a:cxn>
                <a:cxn ang="T11">
                  <a:pos x="T6" y="T7"/>
                </a:cxn>
              </a:cxnLst>
              <a:rect l="T12" t="T13" r="T14" b="T15"/>
              <a:pathLst>
                <a:path w="981" h="784">
                  <a:moveTo>
                    <a:pt x="0" y="784"/>
                  </a:moveTo>
                  <a:cubicBezTo>
                    <a:pt x="47" y="504"/>
                    <a:pt x="95" y="224"/>
                    <a:pt x="213" y="112"/>
                  </a:cubicBezTo>
                  <a:cubicBezTo>
                    <a:pt x="331" y="0"/>
                    <a:pt x="579" y="10"/>
                    <a:pt x="707" y="112"/>
                  </a:cubicBezTo>
                  <a:cubicBezTo>
                    <a:pt x="835" y="214"/>
                    <a:pt x="935" y="620"/>
                    <a:pt x="981" y="722"/>
                  </a:cubicBezTo>
                </a:path>
              </a:pathLst>
            </a:custGeom>
            <a:noFill/>
            <a:ln w="63500">
              <a:solidFill>
                <a:srgbClr val="008080"/>
              </a:solidFill>
              <a:prstDash val="sysDot"/>
              <a:round/>
              <a:headEnd type="none" w="sm" len="sm"/>
              <a:tailEnd type="none" w="sm" len="sm"/>
            </a:ln>
          </p:spPr>
          <p:txBody>
            <a:bodyPr/>
            <a:lstStyle/>
            <a:p>
              <a:endParaRPr lang="en-US"/>
            </a:p>
          </p:txBody>
        </p:sp>
        <p:sp>
          <p:nvSpPr>
            <p:cNvPr id="26674" name="Freeform 162"/>
            <p:cNvSpPr>
              <a:spLocks/>
            </p:cNvSpPr>
            <p:nvPr/>
          </p:nvSpPr>
          <p:spPr bwMode="auto">
            <a:xfrm>
              <a:off x="4519" y="1812"/>
              <a:ext cx="890" cy="955"/>
            </a:xfrm>
            <a:custGeom>
              <a:avLst/>
              <a:gdLst>
                <a:gd name="T0" fmla="*/ 0 w 890"/>
                <a:gd name="T1" fmla="*/ 0 h 955"/>
                <a:gd name="T2" fmla="*/ 173 w 890"/>
                <a:gd name="T3" fmla="*/ 822 h 955"/>
                <a:gd name="T4" fmla="*/ 754 w 890"/>
                <a:gd name="T5" fmla="*/ 801 h 955"/>
                <a:gd name="T6" fmla="*/ 890 w 890"/>
                <a:gd name="T7" fmla="*/ 11 h 955"/>
                <a:gd name="T8" fmla="*/ 0 60000 65536"/>
                <a:gd name="T9" fmla="*/ 0 60000 65536"/>
                <a:gd name="T10" fmla="*/ 0 60000 65536"/>
                <a:gd name="T11" fmla="*/ 0 60000 65536"/>
                <a:gd name="T12" fmla="*/ 0 w 890"/>
                <a:gd name="T13" fmla="*/ 0 h 955"/>
                <a:gd name="T14" fmla="*/ 890 w 890"/>
                <a:gd name="T15" fmla="*/ 955 h 955"/>
              </a:gdLst>
              <a:ahLst/>
              <a:cxnLst>
                <a:cxn ang="T8">
                  <a:pos x="T0" y="T1"/>
                </a:cxn>
                <a:cxn ang="T9">
                  <a:pos x="T2" y="T3"/>
                </a:cxn>
                <a:cxn ang="T10">
                  <a:pos x="T4" y="T5"/>
                </a:cxn>
                <a:cxn ang="T11">
                  <a:pos x="T6" y="T7"/>
                </a:cxn>
              </a:cxnLst>
              <a:rect l="T12" t="T13" r="T14" b="T15"/>
              <a:pathLst>
                <a:path w="890" h="955">
                  <a:moveTo>
                    <a:pt x="0" y="0"/>
                  </a:moveTo>
                  <a:cubicBezTo>
                    <a:pt x="24" y="344"/>
                    <a:pt x="48" y="689"/>
                    <a:pt x="173" y="822"/>
                  </a:cubicBezTo>
                  <a:cubicBezTo>
                    <a:pt x="298" y="955"/>
                    <a:pt x="635" y="936"/>
                    <a:pt x="754" y="801"/>
                  </a:cubicBezTo>
                  <a:cubicBezTo>
                    <a:pt x="873" y="666"/>
                    <a:pt x="867" y="143"/>
                    <a:pt x="890" y="11"/>
                  </a:cubicBezTo>
                </a:path>
              </a:pathLst>
            </a:custGeom>
            <a:noFill/>
            <a:ln w="63500">
              <a:solidFill>
                <a:srgbClr val="008080"/>
              </a:solidFill>
              <a:prstDash val="sysDot"/>
              <a:round/>
              <a:headEnd type="none" w="sm" len="sm"/>
              <a:tailEnd type="none" w="sm" len="sm"/>
            </a:ln>
          </p:spPr>
          <p:txBody>
            <a:bodyPr/>
            <a:lstStyle/>
            <a:p>
              <a:endParaRPr lang="en-US"/>
            </a:p>
          </p:txBody>
        </p:sp>
      </p:grpSp>
      <p:grpSp>
        <p:nvGrpSpPr>
          <p:cNvPr id="6" name="Group 164"/>
          <p:cNvGrpSpPr>
            <a:grpSpLocks/>
          </p:cNvGrpSpPr>
          <p:nvPr/>
        </p:nvGrpSpPr>
        <p:grpSpPr bwMode="auto">
          <a:xfrm>
            <a:off x="8578348" y="3467345"/>
            <a:ext cx="1470025" cy="2706687"/>
            <a:chOff x="4474" y="2313"/>
            <a:chExt cx="926" cy="1705"/>
          </a:xfrm>
        </p:grpSpPr>
        <p:sp>
          <p:nvSpPr>
            <p:cNvPr id="26671" name="Oval 147"/>
            <p:cNvSpPr>
              <a:spLocks noChangeArrowheads="1"/>
            </p:cNvSpPr>
            <p:nvPr/>
          </p:nvSpPr>
          <p:spPr bwMode="auto">
            <a:xfrm>
              <a:off x="4474" y="2313"/>
              <a:ext cx="926" cy="367"/>
            </a:xfrm>
            <a:prstGeom prst="ellipse">
              <a:avLst/>
            </a:prstGeom>
            <a:noFill/>
            <a:ln w="38100">
              <a:solidFill>
                <a:schemeClr val="accent1"/>
              </a:solidFill>
              <a:round/>
              <a:headEnd type="none" w="sm" len="sm"/>
              <a:tailEnd type="none" w="sm" len="sm"/>
            </a:ln>
          </p:spPr>
          <p:txBody>
            <a:bodyPr wrap="none" anchor="ctr"/>
            <a:lstStyle/>
            <a:p>
              <a:endParaRPr lang="en-US"/>
            </a:p>
          </p:txBody>
        </p:sp>
        <p:sp>
          <p:nvSpPr>
            <p:cNvPr id="26672" name="Oval 163"/>
            <p:cNvSpPr>
              <a:spLocks noChangeArrowheads="1"/>
            </p:cNvSpPr>
            <p:nvPr/>
          </p:nvSpPr>
          <p:spPr bwMode="auto">
            <a:xfrm>
              <a:off x="4476" y="3153"/>
              <a:ext cx="412" cy="865"/>
            </a:xfrm>
            <a:prstGeom prst="ellipse">
              <a:avLst/>
            </a:prstGeom>
            <a:noFill/>
            <a:ln w="38100">
              <a:solidFill>
                <a:schemeClr val="accent1"/>
              </a:solidFill>
              <a:round/>
              <a:headEnd type="none" w="sm" len="sm"/>
              <a:tailEnd type="none" w="sm" len="sm"/>
            </a:ln>
          </p:spPr>
          <p:txBody>
            <a:bodyPr wrap="none" anchor="ctr"/>
            <a:lstStyle/>
            <a:p>
              <a:endParaRPr lang="en-US"/>
            </a:p>
          </p:txBody>
        </p:sp>
      </p:grpSp>
      <p:grpSp>
        <p:nvGrpSpPr>
          <p:cNvPr id="7" name="Group 165"/>
          <p:cNvGrpSpPr>
            <a:grpSpLocks/>
          </p:cNvGrpSpPr>
          <p:nvPr/>
        </p:nvGrpSpPr>
        <p:grpSpPr bwMode="auto">
          <a:xfrm>
            <a:off x="8600572" y="2652957"/>
            <a:ext cx="1557338" cy="4017963"/>
            <a:chOff x="4506" y="1812"/>
            <a:chExt cx="981" cy="2531"/>
          </a:xfrm>
        </p:grpSpPr>
        <p:sp>
          <p:nvSpPr>
            <p:cNvPr id="26669" name="Freeform 166"/>
            <p:cNvSpPr>
              <a:spLocks/>
            </p:cNvSpPr>
            <p:nvPr/>
          </p:nvSpPr>
          <p:spPr bwMode="auto">
            <a:xfrm>
              <a:off x="4506" y="3559"/>
              <a:ext cx="981" cy="784"/>
            </a:xfrm>
            <a:custGeom>
              <a:avLst/>
              <a:gdLst>
                <a:gd name="T0" fmla="*/ 0 w 981"/>
                <a:gd name="T1" fmla="*/ 784 h 784"/>
                <a:gd name="T2" fmla="*/ 213 w 981"/>
                <a:gd name="T3" fmla="*/ 112 h 784"/>
                <a:gd name="T4" fmla="*/ 707 w 981"/>
                <a:gd name="T5" fmla="*/ 112 h 784"/>
                <a:gd name="T6" fmla="*/ 981 w 981"/>
                <a:gd name="T7" fmla="*/ 722 h 784"/>
                <a:gd name="T8" fmla="*/ 0 60000 65536"/>
                <a:gd name="T9" fmla="*/ 0 60000 65536"/>
                <a:gd name="T10" fmla="*/ 0 60000 65536"/>
                <a:gd name="T11" fmla="*/ 0 60000 65536"/>
                <a:gd name="T12" fmla="*/ 0 w 981"/>
                <a:gd name="T13" fmla="*/ 0 h 784"/>
                <a:gd name="T14" fmla="*/ 981 w 981"/>
                <a:gd name="T15" fmla="*/ 784 h 784"/>
              </a:gdLst>
              <a:ahLst/>
              <a:cxnLst>
                <a:cxn ang="T8">
                  <a:pos x="T0" y="T1"/>
                </a:cxn>
                <a:cxn ang="T9">
                  <a:pos x="T2" y="T3"/>
                </a:cxn>
                <a:cxn ang="T10">
                  <a:pos x="T4" y="T5"/>
                </a:cxn>
                <a:cxn ang="T11">
                  <a:pos x="T6" y="T7"/>
                </a:cxn>
              </a:cxnLst>
              <a:rect l="T12" t="T13" r="T14" b="T15"/>
              <a:pathLst>
                <a:path w="981" h="784">
                  <a:moveTo>
                    <a:pt x="0" y="784"/>
                  </a:moveTo>
                  <a:cubicBezTo>
                    <a:pt x="47" y="504"/>
                    <a:pt x="95" y="224"/>
                    <a:pt x="213" y="112"/>
                  </a:cubicBezTo>
                  <a:cubicBezTo>
                    <a:pt x="331" y="0"/>
                    <a:pt x="579" y="10"/>
                    <a:pt x="707" y="112"/>
                  </a:cubicBezTo>
                  <a:cubicBezTo>
                    <a:pt x="835" y="214"/>
                    <a:pt x="935" y="620"/>
                    <a:pt x="981" y="722"/>
                  </a:cubicBezTo>
                </a:path>
              </a:pathLst>
            </a:custGeom>
            <a:noFill/>
            <a:ln w="63500">
              <a:solidFill>
                <a:srgbClr val="008080"/>
              </a:solidFill>
              <a:prstDash val="sysDot"/>
              <a:round/>
              <a:headEnd type="none" w="sm" len="sm"/>
              <a:tailEnd type="none" w="sm" len="sm"/>
            </a:ln>
          </p:spPr>
          <p:txBody>
            <a:bodyPr/>
            <a:lstStyle/>
            <a:p>
              <a:endParaRPr lang="en-US"/>
            </a:p>
          </p:txBody>
        </p:sp>
        <p:sp>
          <p:nvSpPr>
            <p:cNvPr id="26670" name="Freeform 167"/>
            <p:cNvSpPr>
              <a:spLocks/>
            </p:cNvSpPr>
            <p:nvPr/>
          </p:nvSpPr>
          <p:spPr bwMode="auto">
            <a:xfrm>
              <a:off x="4519" y="1812"/>
              <a:ext cx="890" cy="955"/>
            </a:xfrm>
            <a:custGeom>
              <a:avLst/>
              <a:gdLst>
                <a:gd name="T0" fmla="*/ 0 w 890"/>
                <a:gd name="T1" fmla="*/ 0 h 955"/>
                <a:gd name="T2" fmla="*/ 173 w 890"/>
                <a:gd name="T3" fmla="*/ 822 h 955"/>
                <a:gd name="T4" fmla="*/ 754 w 890"/>
                <a:gd name="T5" fmla="*/ 801 h 955"/>
                <a:gd name="T6" fmla="*/ 890 w 890"/>
                <a:gd name="T7" fmla="*/ 11 h 955"/>
                <a:gd name="T8" fmla="*/ 0 60000 65536"/>
                <a:gd name="T9" fmla="*/ 0 60000 65536"/>
                <a:gd name="T10" fmla="*/ 0 60000 65536"/>
                <a:gd name="T11" fmla="*/ 0 60000 65536"/>
                <a:gd name="T12" fmla="*/ 0 w 890"/>
                <a:gd name="T13" fmla="*/ 0 h 955"/>
                <a:gd name="T14" fmla="*/ 890 w 890"/>
                <a:gd name="T15" fmla="*/ 955 h 955"/>
              </a:gdLst>
              <a:ahLst/>
              <a:cxnLst>
                <a:cxn ang="T8">
                  <a:pos x="T0" y="T1"/>
                </a:cxn>
                <a:cxn ang="T9">
                  <a:pos x="T2" y="T3"/>
                </a:cxn>
                <a:cxn ang="T10">
                  <a:pos x="T4" y="T5"/>
                </a:cxn>
                <a:cxn ang="T11">
                  <a:pos x="T6" y="T7"/>
                </a:cxn>
              </a:cxnLst>
              <a:rect l="T12" t="T13" r="T14" b="T15"/>
              <a:pathLst>
                <a:path w="890" h="955">
                  <a:moveTo>
                    <a:pt x="0" y="0"/>
                  </a:moveTo>
                  <a:cubicBezTo>
                    <a:pt x="24" y="344"/>
                    <a:pt x="48" y="689"/>
                    <a:pt x="173" y="822"/>
                  </a:cubicBezTo>
                  <a:cubicBezTo>
                    <a:pt x="298" y="955"/>
                    <a:pt x="635" y="936"/>
                    <a:pt x="754" y="801"/>
                  </a:cubicBezTo>
                  <a:cubicBezTo>
                    <a:pt x="873" y="666"/>
                    <a:pt x="867" y="143"/>
                    <a:pt x="890" y="11"/>
                  </a:cubicBezTo>
                </a:path>
              </a:pathLst>
            </a:custGeom>
            <a:noFill/>
            <a:ln w="63500">
              <a:solidFill>
                <a:srgbClr val="008080"/>
              </a:solidFill>
              <a:prstDash val="sysDot"/>
              <a:round/>
              <a:headEnd type="none" w="sm" len="sm"/>
              <a:tailEnd type="none" w="sm" len="sm"/>
            </a:ln>
          </p:spPr>
          <p:txBody>
            <a:bodyPr/>
            <a:lstStyle/>
            <a:p>
              <a:endParaRPr lang="en-US"/>
            </a:p>
          </p:txBody>
        </p:sp>
      </p:grpSp>
      <p:sp>
        <p:nvSpPr>
          <p:cNvPr id="83112" name="Oval 168"/>
          <p:cNvSpPr>
            <a:spLocks noChangeArrowheads="1"/>
          </p:cNvSpPr>
          <p:nvPr/>
        </p:nvSpPr>
        <p:spPr bwMode="auto">
          <a:xfrm>
            <a:off x="7794122" y="4811956"/>
            <a:ext cx="1557338" cy="642938"/>
          </a:xfrm>
          <a:prstGeom prst="ellipse">
            <a:avLst/>
          </a:prstGeom>
          <a:noFill/>
          <a:ln w="63500">
            <a:solidFill>
              <a:srgbClr val="008080"/>
            </a:solidFill>
            <a:prstDash val="sysDot"/>
            <a:round/>
            <a:headEnd type="none" w="sm" len="sm"/>
            <a:tailEnd type="none" w="sm" len="sm"/>
          </a:ln>
        </p:spPr>
        <p:txBody>
          <a:bodyPr wrap="none" anchor="ctr"/>
          <a:lstStyle/>
          <a:p>
            <a:endParaRPr lang="en-US"/>
          </a:p>
        </p:txBody>
      </p:sp>
      <p:sp>
        <p:nvSpPr>
          <p:cNvPr id="26667" name="Slide Number Placeholder 107"/>
          <p:cNvSpPr>
            <a:spLocks noGrp="1"/>
          </p:cNvSpPr>
          <p:nvPr>
            <p:ph type="sldNum" sz="quarter" idx="12"/>
          </p:nvPr>
        </p:nvSpPr>
        <p:spPr>
          <a:noFill/>
        </p:spPr>
        <p:txBody>
          <a:bodyPr/>
          <a:lstStyle/>
          <a:p>
            <a:fld id="{4777E232-D973-44D1-AE97-7F435CE29C7E}" type="slidenum">
              <a:rPr lang="en-US" smtClean="0">
                <a:latin typeface="Arial" charset="0"/>
                <a:cs typeface="Arial" charset="0"/>
              </a:rPr>
              <a:pPr/>
              <a:t>20</a:t>
            </a:fld>
            <a:endParaRPr lang="en-US">
              <a:latin typeface="Arial" charset="0"/>
              <a:cs typeface="Arial"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2947">
                                            <p:txEl>
                                              <p:pRg st="1" end="1"/>
                                            </p:txEl>
                                          </p:spTgt>
                                        </p:tgtEl>
                                        <p:attrNameLst>
                                          <p:attrName>style.visibility</p:attrName>
                                        </p:attrNameLst>
                                      </p:cBhvr>
                                      <p:to>
                                        <p:strVal val="visible"/>
                                      </p:to>
                                    </p:set>
                                    <p:animEffect transition="in" filter="blinds(horizontal)">
                                      <p:cBhvr>
                                        <p:cTn id="7" dur="500"/>
                                        <p:tgtEl>
                                          <p:spTgt spid="82947">
                                            <p:txEl>
                                              <p:pRg st="1" end="1"/>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ppt_x"/>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3067"/>
                                        </p:tgtEl>
                                        <p:attrNameLst>
                                          <p:attrName>style.visibility</p:attrName>
                                        </p:attrNameLst>
                                      </p:cBhvr>
                                      <p:to>
                                        <p:strVal val="visible"/>
                                      </p:to>
                                    </p:set>
                                    <p:animEffect transition="in" filter="blinds(horizontal)">
                                      <p:cBhvr>
                                        <p:cTn id="16" dur="500"/>
                                        <p:tgtEl>
                                          <p:spTgt spid="83067"/>
                                        </p:tgtEl>
                                      </p:cBhvr>
                                    </p:animEffect>
                                  </p:childTnLst>
                                  <p:subTnLst>
                                    <p:set>
                                      <p:cBhvr override="childStyle">
                                        <p:cTn dur="1" fill="hold" display="0" masterRel="nextClick" afterEffect="1"/>
                                        <p:tgtEl>
                                          <p:spTgt spid="83067"/>
                                        </p:tgtEl>
                                        <p:attrNameLst>
                                          <p:attrName>style.visibility</p:attrName>
                                        </p:attrNameLst>
                                      </p:cBhvr>
                                      <p:to>
                                        <p:strVal val="hidden"/>
                                      </p:to>
                                    </p:set>
                                  </p:subTnLst>
                                </p:cTn>
                              </p:par>
                              <p:par>
                                <p:cTn id="17" presetID="3" presetClass="entr" presetSubtype="10" fill="hold" grpId="0" nodeType="withEffect">
                                  <p:stCondLst>
                                    <p:cond delay="0"/>
                                  </p:stCondLst>
                                  <p:childTnLst>
                                    <p:set>
                                      <p:cBhvr>
                                        <p:cTn id="18" dur="1" fill="hold">
                                          <p:stCondLst>
                                            <p:cond delay="0"/>
                                          </p:stCondLst>
                                        </p:cTn>
                                        <p:tgtEl>
                                          <p:spTgt spid="83103"/>
                                        </p:tgtEl>
                                        <p:attrNameLst>
                                          <p:attrName>style.visibility</p:attrName>
                                        </p:attrNameLst>
                                      </p:cBhvr>
                                      <p:to>
                                        <p:strVal val="visible"/>
                                      </p:to>
                                    </p:set>
                                    <p:animEffect transition="in" filter="blinds(horizontal)">
                                      <p:cBhvr>
                                        <p:cTn id="19" dur="500"/>
                                        <p:tgtEl>
                                          <p:spTgt spid="83103"/>
                                        </p:tgtEl>
                                      </p:cBhvr>
                                    </p:animEffect>
                                  </p:childTnLst>
                                  <p:subTnLst>
                                    <p:set>
                                      <p:cBhvr override="childStyle">
                                        <p:cTn dur="1" fill="hold" display="0" masterRel="nextClick" afterEffect="1"/>
                                        <p:tgtEl>
                                          <p:spTgt spid="83103"/>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83068"/>
                                        </p:tgtEl>
                                        <p:attrNameLst>
                                          <p:attrName>style.visibility</p:attrName>
                                        </p:attrNameLst>
                                      </p:cBhvr>
                                      <p:to>
                                        <p:strVal val="visible"/>
                                      </p:to>
                                    </p:set>
                                    <p:animEffect transition="in" filter="blinds(horizontal)">
                                      <p:cBhvr>
                                        <p:cTn id="24" dur="500"/>
                                        <p:tgtEl>
                                          <p:spTgt spid="83068"/>
                                        </p:tgtEl>
                                      </p:cBhvr>
                                    </p:animEffect>
                                  </p:childTnLst>
                                  <p:subTnLst>
                                    <p:set>
                                      <p:cBhvr override="childStyle">
                                        <p:cTn dur="1" fill="hold" display="0" masterRel="nextClick" afterEffect="1"/>
                                        <p:tgtEl>
                                          <p:spTgt spid="83068"/>
                                        </p:tgtEl>
                                        <p:attrNameLst>
                                          <p:attrName>style.visibility</p:attrName>
                                        </p:attrNameLst>
                                      </p:cBhvr>
                                      <p:to>
                                        <p:strVal val="hidden"/>
                                      </p:to>
                                    </p:set>
                                  </p:subTnLst>
                                </p:cTn>
                              </p:par>
                              <p:par>
                                <p:cTn id="25" presetID="3" presetClass="entr" presetSubtype="1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3070"/>
                                        </p:tgtEl>
                                        <p:attrNameLst>
                                          <p:attrName>style.visibility</p:attrName>
                                        </p:attrNameLst>
                                      </p:cBhvr>
                                      <p:to>
                                        <p:strVal val="visible"/>
                                      </p:to>
                                    </p:set>
                                    <p:animEffect transition="in" filter="blinds(horizontal)">
                                      <p:cBhvr>
                                        <p:cTn id="32" dur="500"/>
                                        <p:tgtEl>
                                          <p:spTgt spid="83070"/>
                                        </p:tgtEl>
                                      </p:cBhvr>
                                    </p:animEffect>
                                  </p:childTnLst>
                                  <p:subTnLst>
                                    <p:set>
                                      <p:cBhvr override="childStyle">
                                        <p:cTn dur="1" fill="hold" display="0" masterRel="nextClick" afterEffect="1"/>
                                        <p:tgtEl>
                                          <p:spTgt spid="83070"/>
                                        </p:tgtEl>
                                        <p:attrNameLst>
                                          <p:attrName>style.visibility</p:attrName>
                                        </p:attrNameLst>
                                      </p:cBhvr>
                                      <p:to>
                                        <p:strVal val="hidden"/>
                                      </p:to>
                                    </p:set>
                                  </p:subTnLst>
                                </p:cTn>
                              </p:par>
                              <p:par>
                                <p:cTn id="33" presetID="3" presetClass="entr" presetSubtype="10" fill="hold" grpId="0" nodeType="withEffect">
                                  <p:stCondLst>
                                    <p:cond delay="0"/>
                                  </p:stCondLst>
                                  <p:childTnLst>
                                    <p:set>
                                      <p:cBhvr>
                                        <p:cTn id="34" dur="1" fill="hold">
                                          <p:stCondLst>
                                            <p:cond delay="0"/>
                                          </p:stCondLst>
                                        </p:cTn>
                                        <p:tgtEl>
                                          <p:spTgt spid="83053"/>
                                        </p:tgtEl>
                                        <p:attrNameLst>
                                          <p:attrName>style.visibility</p:attrName>
                                        </p:attrNameLst>
                                      </p:cBhvr>
                                      <p:to>
                                        <p:strVal val="visible"/>
                                      </p:to>
                                    </p:set>
                                    <p:animEffect transition="in" filter="blinds(horizontal)">
                                      <p:cBhvr>
                                        <p:cTn id="35" dur="500"/>
                                        <p:tgtEl>
                                          <p:spTgt spid="83053"/>
                                        </p:tgtEl>
                                      </p:cBhvr>
                                    </p:animEffect>
                                  </p:childTnLst>
                                  <p:subTnLst>
                                    <p:set>
                                      <p:cBhvr override="childStyle">
                                        <p:cTn dur="1" fill="hold" display="0" masterRel="nextClick" afterEffect="1"/>
                                        <p:tgtEl>
                                          <p:spTgt spid="83053"/>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83071"/>
                                        </p:tgtEl>
                                        <p:attrNameLst>
                                          <p:attrName>style.visibility</p:attrName>
                                        </p:attrNameLst>
                                      </p:cBhvr>
                                      <p:to>
                                        <p:strVal val="visible"/>
                                      </p:to>
                                    </p:set>
                                    <p:animEffect transition="in" filter="blinds(horizontal)">
                                      <p:cBhvr>
                                        <p:cTn id="40" dur="500"/>
                                        <p:tgtEl>
                                          <p:spTgt spid="83071"/>
                                        </p:tgtEl>
                                      </p:cBhvr>
                                    </p:animEffect>
                                  </p:childTnLst>
                                  <p:subTnLst>
                                    <p:set>
                                      <p:cBhvr override="childStyle">
                                        <p:cTn dur="1" fill="hold" display="0" masterRel="nextClick" afterEffect="1"/>
                                        <p:tgtEl>
                                          <p:spTgt spid="83071"/>
                                        </p:tgtEl>
                                        <p:attrNameLst>
                                          <p:attrName>style.visibility</p:attrName>
                                        </p:attrNameLst>
                                      </p:cBhvr>
                                      <p:to>
                                        <p:strVal val="hidden"/>
                                      </p:to>
                                    </p:set>
                                  </p:subTnLst>
                                </p:cTn>
                              </p:par>
                              <p:par>
                                <p:cTn id="41" presetID="3" presetClass="entr" presetSubtype="10" fill="hold" grpId="0" nodeType="withEffect">
                                  <p:stCondLst>
                                    <p:cond delay="0"/>
                                  </p:stCondLst>
                                  <p:childTnLst>
                                    <p:set>
                                      <p:cBhvr>
                                        <p:cTn id="42" dur="1" fill="hold">
                                          <p:stCondLst>
                                            <p:cond delay="0"/>
                                          </p:stCondLst>
                                        </p:cTn>
                                        <p:tgtEl>
                                          <p:spTgt spid="83022"/>
                                        </p:tgtEl>
                                        <p:attrNameLst>
                                          <p:attrName>style.visibility</p:attrName>
                                        </p:attrNameLst>
                                      </p:cBhvr>
                                      <p:to>
                                        <p:strVal val="visible"/>
                                      </p:to>
                                    </p:set>
                                    <p:animEffect transition="in" filter="blinds(horizontal)">
                                      <p:cBhvr>
                                        <p:cTn id="43" dur="500"/>
                                        <p:tgtEl>
                                          <p:spTgt spid="83022"/>
                                        </p:tgtEl>
                                      </p:cBhvr>
                                    </p:animEffect>
                                  </p:childTnLst>
                                  <p:subTnLst>
                                    <p:set>
                                      <p:cBhvr override="childStyle">
                                        <p:cTn dur="1" fill="hold" display="0" masterRel="nextClick" afterEffect="1"/>
                                        <p:tgtEl>
                                          <p:spTgt spid="83022"/>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83069"/>
                                        </p:tgtEl>
                                        <p:attrNameLst>
                                          <p:attrName>style.visibility</p:attrName>
                                        </p:attrNameLst>
                                      </p:cBhvr>
                                      <p:to>
                                        <p:strVal val="visible"/>
                                      </p:to>
                                    </p:set>
                                    <p:animEffect transition="in" filter="blinds(horizontal)">
                                      <p:cBhvr>
                                        <p:cTn id="48" dur="500"/>
                                        <p:tgtEl>
                                          <p:spTgt spid="83069"/>
                                        </p:tgtEl>
                                      </p:cBhvr>
                                    </p:animEffect>
                                  </p:childTnLst>
                                  <p:subTnLst>
                                    <p:set>
                                      <p:cBhvr override="childStyle">
                                        <p:cTn dur="1" fill="hold" display="0" masterRel="nextClick" afterEffect="1"/>
                                        <p:tgtEl>
                                          <p:spTgt spid="83069"/>
                                        </p:tgtEl>
                                        <p:attrNameLst>
                                          <p:attrName>style.visibility</p:attrName>
                                        </p:attrNameLst>
                                      </p:cBhvr>
                                      <p:to>
                                        <p:strVal val="hidden"/>
                                      </p:to>
                                    </p:set>
                                  </p:subTnLst>
                                </p:cTn>
                              </p:par>
                              <p:par>
                                <p:cTn id="49" presetID="3" presetClass="entr" presetSubtype="10" fill="hold" grpId="0" nodeType="withEffect">
                                  <p:stCondLst>
                                    <p:cond delay="0"/>
                                  </p:stCondLst>
                                  <p:childTnLst>
                                    <p:set>
                                      <p:cBhvr>
                                        <p:cTn id="50" dur="1" fill="hold">
                                          <p:stCondLst>
                                            <p:cond delay="0"/>
                                          </p:stCondLst>
                                        </p:cTn>
                                        <p:tgtEl>
                                          <p:spTgt spid="82984"/>
                                        </p:tgtEl>
                                        <p:attrNameLst>
                                          <p:attrName>style.visibility</p:attrName>
                                        </p:attrNameLst>
                                      </p:cBhvr>
                                      <p:to>
                                        <p:strVal val="visible"/>
                                      </p:to>
                                    </p:set>
                                    <p:animEffect transition="in" filter="blinds(horizontal)">
                                      <p:cBhvr>
                                        <p:cTn id="51" dur="500"/>
                                        <p:tgtEl>
                                          <p:spTgt spid="82984"/>
                                        </p:tgtEl>
                                      </p:cBhvr>
                                    </p:animEffect>
                                  </p:childTnLst>
                                  <p:subTnLst>
                                    <p:set>
                                      <p:cBhvr override="childStyle">
                                        <p:cTn dur="1" fill="hold" display="0" masterRel="nextClick" afterEffect="1"/>
                                        <p:tgtEl>
                                          <p:spTgt spid="82984"/>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82947">
                                            <p:txEl>
                                              <p:pRg st="2" end="2"/>
                                            </p:txEl>
                                          </p:spTgt>
                                        </p:tgtEl>
                                        <p:attrNameLst>
                                          <p:attrName>style.visibility</p:attrName>
                                        </p:attrNameLst>
                                      </p:cBhvr>
                                      <p:to>
                                        <p:strVal val="visible"/>
                                      </p:to>
                                    </p:set>
                                    <p:animEffect transition="in" filter="blinds(horizontal)">
                                      <p:cBhvr>
                                        <p:cTn id="56" dur="500"/>
                                        <p:tgtEl>
                                          <p:spTgt spid="82947">
                                            <p:txEl>
                                              <p:pRg st="2" end="2"/>
                                            </p:txEl>
                                          </p:spTgt>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83083"/>
                                        </p:tgtEl>
                                        <p:attrNameLst>
                                          <p:attrName>style.visibility</p:attrName>
                                        </p:attrNameLst>
                                      </p:cBhvr>
                                      <p:to>
                                        <p:strVal val="visible"/>
                                      </p:to>
                                    </p:set>
                                    <p:animEffect transition="in" filter="blinds(horizontal)">
                                      <p:cBhvr>
                                        <p:cTn id="59" dur="500"/>
                                        <p:tgtEl>
                                          <p:spTgt spid="83083"/>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83082"/>
                                        </p:tgtEl>
                                        <p:attrNameLst>
                                          <p:attrName>style.visibility</p:attrName>
                                        </p:attrNameLst>
                                      </p:cBhvr>
                                      <p:to>
                                        <p:strVal val="visible"/>
                                      </p:to>
                                    </p:set>
                                    <p:animEffect transition="in" filter="blinds(horizontal)">
                                      <p:cBhvr>
                                        <p:cTn id="62" dur="500"/>
                                        <p:tgtEl>
                                          <p:spTgt spid="83082"/>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83081"/>
                                        </p:tgtEl>
                                        <p:attrNameLst>
                                          <p:attrName>style.visibility</p:attrName>
                                        </p:attrNameLst>
                                      </p:cBhvr>
                                      <p:to>
                                        <p:strVal val="visible"/>
                                      </p:to>
                                    </p:set>
                                    <p:animEffect transition="in" filter="blinds(horizontal)">
                                      <p:cBhvr>
                                        <p:cTn id="65" dur="500"/>
                                        <p:tgtEl>
                                          <p:spTgt spid="83081"/>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83080"/>
                                        </p:tgtEl>
                                        <p:attrNameLst>
                                          <p:attrName>style.visibility</p:attrName>
                                        </p:attrNameLst>
                                      </p:cBhvr>
                                      <p:to>
                                        <p:strVal val="visible"/>
                                      </p:to>
                                    </p:set>
                                    <p:animEffect transition="in" filter="blinds(horizontal)">
                                      <p:cBhvr>
                                        <p:cTn id="68" dur="500"/>
                                        <p:tgtEl>
                                          <p:spTgt spid="83080"/>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83079"/>
                                        </p:tgtEl>
                                        <p:attrNameLst>
                                          <p:attrName>style.visibility</p:attrName>
                                        </p:attrNameLst>
                                      </p:cBhvr>
                                      <p:to>
                                        <p:strVal val="visible"/>
                                      </p:to>
                                    </p:set>
                                    <p:animEffect transition="in" filter="blinds(horizontal)">
                                      <p:cBhvr>
                                        <p:cTn id="71" dur="500"/>
                                        <p:tgtEl>
                                          <p:spTgt spid="83079"/>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83078"/>
                                        </p:tgtEl>
                                        <p:attrNameLst>
                                          <p:attrName>style.visibility</p:attrName>
                                        </p:attrNameLst>
                                      </p:cBhvr>
                                      <p:to>
                                        <p:strVal val="visible"/>
                                      </p:to>
                                    </p:set>
                                    <p:animEffect transition="in" filter="blinds(horizontal)">
                                      <p:cBhvr>
                                        <p:cTn id="74" dur="500"/>
                                        <p:tgtEl>
                                          <p:spTgt spid="83078"/>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83073"/>
                                        </p:tgtEl>
                                        <p:attrNameLst>
                                          <p:attrName>style.visibility</p:attrName>
                                        </p:attrNameLst>
                                      </p:cBhvr>
                                      <p:to>
                                        <p:strVal val="visible"/>
                                      </p:to>
                                    </p:set>
                                    <p:animEffect transition="in" filter="blinds(horizontal)">
                                      <p:cBhvr>
                                        <p:cTn id="79" dur="500"/>
                                        <p:tgtEl>
                                          <p:spTgt spid="83073"/>
                                        </p:tgtEl>
                                      </p:cBhvr>
                                    </p:animEffect>
                                  </p:childTnLst>
                                  <p:subTnLst>
                                    <p:set>
                                      <p:cBhvr override="childStyle">
                                        <p:cTn dur="1" fill="hold" display="0" masterRel="nextClick" afterEffect="1"/>
                                        <p:tgtEl>
                                          <p:spTgt spid="83073"/>
                                        </p:tgtEl>
                                        <p:attrNameLst>
                                          <p:attrName>style.visibility</p:attrName>
                                        </p:attrNameLst>
                                      </p:cBhvr>
                                      <p:to>
                                        <p:strVal val="hidden"/>
                                      </p:to>
                                    </p:set>
                                  </p:subTnLst>
                                </p:cTn>
                              </p:par>
                              <p:par>
                                <p:cTn id="80" presetID="3" presetClass="entr" presetSubtype="10" fill="hold" nodeType="with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blinds(horizontal)">
                                      <p:cBhvr>
                                        <p:cTn id="8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par>
                                <p:cTn id="83" presetID="3" presetClass="entr" presetSubtype="10" fill="hold" nodeType="withEffect">
                                  <p:stCondLst>
                                    <p:cond delay="0"/>
                                  </p:stCondLst>
                                  <p:childTnLst>
                                    <p:set>
                                      <p:cBhvr>
                                        <p:cTn id="84" dur="1" fill="hold">
                                          <p:stCondLst>
                                            <p:cond delay="0"/>
                                          </p:stCondLst>
                                        </p:cTn>
                                        <p:tgtEl>
                                          <p:spTgt spid="4"/>
                                        </p:tgtEl>
                                        <p:attrNameLst>
                                          <p:attrName>style.visibility</p:attrName>
                                        </p:attrNameLst>
                                      </p:cBhvr>
                                      <p:to>
                                        <p:strVal val="visible"/>
                                      </p:to>
                                    </p:set>
                                    <p:animEffect transition="in" filter="blinds(horizontal)">
                                      <p:cBhvr>
                                        <p:cTn id="85"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83077"/>
                                        </p:tgtEl>
                                        <p:attrNameLst>
                                          <p:attrName>style.visibility</p:attrName>
                                        </p:attrNameLst>
                                      </p:cBhvr>
                                      <p:to>
                                        <p:strVal val="visible"/>
                                      </p:to>
                                    </p:set>
                                    <p:animEffect transition="in" filter="blinds(horizontal)">
                                      <p:cBhvr>
                                        <p:cTn id="90" dur="500"/>
                                        <p:tgtEl>
                                          <p:spTgt spid="83077"/>
                                        </p:tgtEl>
                                      </p:cBhvr>
                                    </p:animEffect>
                                  </p:childTnLst>
                                  <p:subTnLst>
                                    <p:set>
                                      <p:cBhvr override="childStyle">
                                        <p:cTn dur="1" fill="hold" display="0" masterRel="nextClick" afterEffect="1"/>
                                        <p:tgtEl>
                                          <p:spTgt spid="83077"/>
                                        </p:tgtEl>
                                        <p:attrNameLst>
                                          <p:attrName>style.visibility</p:attrName>
                                        </p:attrNameLst>
                                      </p:cBhvr>
                                      <p:to>
                                        <p:strVal val="hidden"/>
                                      </p:to>
                                    </p:set>
                                  </p:subTnLst>
                                </p:cTn>
                              </p:par>
                              <p:par>
                                <p:cTn id="91" presetID="3" presetClass="entr" presetSubtype="10" fill="hold" grpId="1" nodeType="withEffect">
                                  <p:stCondLst>
                                    <p:cond delay="0"/>
                                  </p:stCondLst>
                                  <p:childTnLst>
                                    <p:set>
                                      <p:cBhvr>
                                        <p:cTn id="92" dur="1" fill="hold">
                                          <p:stCondLst>
                                            <p:cond delay="0"/>
                                          </p:stCondLst>
                                        </p:cTn>
                                        <p:tgtEl>
                                          <p:spTgt spid="83053"/>
                                        </p:tgtEl>
                                        <p:attrNameLst>
                                          <p:attrName>style.visibility</p:attrName>
                                        </p:attrNameLst>
                                      </p:cBhvr>
                                      <p:to>
                                        <p:strVal val="visible"/>
                                      </p:to>
                                    </p:set>
                                    <p:animEffect transition="in" filter="blinds(horizontal)">
                                      <p:cBhvr>
                                        <p:cTn id="93" dur="500"/>
                                        <p:tgtEl>
                                          <p:spTgt spid="83053"/>
                                        </p:tgtEl>
                                      </p:cBhvr>
                                    </p:animEffect>
                                  </p:childTnLst>
                                  <p:subTnLst>
                                    <p:set>
                                      <p:cBhvr override="childStyle">
                                        <p:cTn dur="1" fill="hold" display="0" masterRel="nextClick" afterEffect="1"/>
                                        <p:tgtEl>
                                          <p:spTgt spid="83053"/>
                                        </p:tgtEl>
                                        <p:attrNameLst>
                                          <p:attrName>style.visibility</p:attrName>
                                        </p:attrNameLst>
                                      </p:cBhvr>
                                      <p:to>
                                        <p:strVal val="hidden"/>
                                      </p:to>
                                    </p:set>
                                  </p:subTnLst>
                                </p:cTn>
                              </p:par>
                              <p:par>
                                <p:cTn id="94" presetID="3" presetClass="entr" presetSubtype="10" fill="hold" grpId="0" nodeType="withEffect">
                                  <p:stCondLst>
                                    <p:cond delay="0"/>
                                  </p:stCondLst>
                                  <p:childTnLst>
                                    <p:set>
                                      <p:cBhvr>
                                        <p:cTn id="95" dur="1" fill="hold">
                                          <p:stCondLst>
                                            <p:cond delay="0"/>
                                          </p:stCondLst>
                                        </p:cTn>
                                        <p:tgtEl>
                                          <p:spTgt spid="83084"/>
                                        </p:tgtEl>
                                        <p:attrNameLst>
                                          <p:attrName>style.visibility</p:attrName>
                                        </p:attrNameLst>
                                      </p:cBhvr>
                                      <p:to>
                                        <p:strVal val="visible"/>
                                      </p:to>
                                    </p:set>
                                    <p:animEffect transition="in" filter="blinds(horizontal)">
                                      <p:cBhvr>
                                        <p:cTn id="96" dur="500"/>
                                        <p:tgtEl>
                                          <p:spTgt spid="83084"/>
                                        </p:tgtEl>
                                      </p:cBhvr>
                                    </p:animEffect>
                                  </p:childTnLst>
                                  <p:subTnLst>
                                    <p:set>
                                      <p:cBhvr override="childStyle">
                                        <p:cTn dur="1" fill="hold" display="0" masterRel="nextClick" afterEffect="1"/>
                                        <p:tgtEl>
                                          <p:spTgt spid="83084"/>
                                        </p:tgtEl>
                                        <p:attrNameLst>
                                          <p:attrName>style.visibility</p:attrName>
                                        </p:attrNameLst>
                                      </p:cBhvr>
                                      <p:to>
                                        <p:strVal val="hidden"/>
                                      </p:to>
                                    </p:set>
                                  </p:sub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83076"/>
                                        </p:tgtEl>
                                        <p:attrNameLst>
                                          <p:attrName>style.visibility</p:attrName>
                                        </p:attrNameLst>
                                      </p:cBhvr>
                                      <p:to>
                                        <p:strVal val="visible"/>
                                      </p:to>
                                    </p:set>
                                    <p:animEffect transition="in" filter="blinds(horizontal)">
                                      <p:cBhvr>
                                        <p:cTn id="101" dur="500"/>
                                        <p:tgtEl>
                                          <p:spTgt spid="83076"/>
                                        </p:tgtEl>
                                      </p:cBhvr>
                                    </p:animEffect>
                                  </p:childTnLst>
                                  <p:subTnLst>
                                    <p:set>
                                      <p:cBhvr override="childStyle">
                                        <p:cTn dur="1" fill="hold" display="0" masterRel="nextClick" afterEffect="1"/>
                                        <p:tgtEl>
                                          <p:spTgt spid="83076"/>
                                        </p:tgtEl>
                                        <p:attrNameLst>
                                          <p:attrName>style.visibility</p:attrName>
                                        </p:attrNameLst>
                                      </p:cBhvr>
                                      <p:to>
                                        <p:strVal val="hidden"/>
                                      </p:to>
                                    </p:set>
                                  </p:subTnLst>
                                </p:cTn>
                              </p:par>
                              <p:par>
                                <p:cTn id="102" presetID="3" presetClass="entr" presetSubtype="10" fill="hold" grpId="1" nodeType="withEffect">
                                  <p:stCondLst>
                                    <p:cond delay="0"/>
                                  </p:stCondLst>
                                  <p:childTnLst>
                                    <p:set>
                                      <p:cBhvr>
                                        <p:cTn id="103" dur="1" fill="hold">
                                          <p:stCondLst>
                                            <p:cond delay="0"/>
                                          </p:stCondLst>
                                        </p:cTn>
                                        <p:tgtEl>
                                          <p:spTgt spid="83022"/>
                                        </p:tgtEl>
                                        <p:attrNameLst>
                                          <p:attrName>style.visibility</p:attrName>
                                        </p:attrNameLst>
                                      </p:cBhvr>
                                      <p:to>
                                        <p:strVal val="visible"/>
                                      </p:to>
                                    </p:set>
                                    <p:animEffect transition="in" filter="blinds(horizontal)">
                                      <p:cBhvr>
                                        <p:cTn id="104" dur="500"/>
                                        <p:tgtEl>
                                          <p:spTgt spid="83022"/>
                                        </p:tgtEl>
                                      </p:cBhvr>
                                    </p:animEffect>
                                  </p:childTnLst>
                                  <p:subTnLst>
                                    <p:set>
                                      <p:cBhvr override="childStyle">
                                        <p:cTn dur="1" fill="hold" display="0" masterRel="nextClick" afterEffect="1"/>
                                        <p:tgtEl>
                                          <p:spTgt spid="83022"/>
                                        </p:tgtEl>
                                        <p:attrNameLst>
                                          <p:attrName>style.visibility</p:attrName>
                                        </p:attrNameLst>
                                      </p:cBhvr>
                                      <p:to>
                                        <p:strVal val="hidden"/>
                                      </p:to>
                                    </p:set>
                                  </p:subTnLst>
                                </p:cTn>
                              </p:par>
                              <p:par>
                                <p:cTn id="105" presetID="3" presetClass="entr" presetSubtype="10" fill="hold" nodeType="withEffect">
                                  <p:stCondLst>
                                    <p:cond delay="0"/>
                                  </p:stCondLst>
                                  <p:childTnLst>
                                    <p:set>
                                      <p:cBhvr>
                                        <p:cTn id="106" dur="1" fill="hold">
                                          <p:stCondLst>
                                            <p:cond delay="0"/>
                                          </p:stCondLst>
                                        </p:cTn>
                                        <p:tgtEl>
                                          <p:spTgt spid="4"/>
                                        </p:tgtEl>
                                        <p:attrNameLst>
                                          <p:attrName>style.visibility</p:attrName>
                                        </p:attrNameLst>
                                      </p:cBhvr>
                                      <p:to>
                                        <p:strVal val="visible"/>
                                      </p:to>
                                    </p:set>
                                    <p:animEffect transition="in" filter="blinds(horizontal)">
                                      <p:cBhvr>
                                        <p:cTn id="10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3" presetClass="entr" presetSubtype="10" fill="hold" grpId="0" nodeType="clickEffect">
                                  <p:stCondLst>
                                    <p:cond delay="0"/>
                                  </p:stCondLst>
                                  <p:childTnLst>
                                    <p:set>
                                      <p:cBhvr>
                                        <p:cTn id="111" dur="1" fill="hold">
                                          <p:stCondLst>
                                            <p:cond delay="0"/>
                                          </p:stCondLst>
                                        </p:cTn>
                                        <p:tgtEl>
                                          <p:spTgt spid="83074"/>
                                        </p:tgtEl>
                                        <p:attrNameLst>
                                          <p:attrName>style.visibility</p:attrName>
                                        </p:attrNameLst>
                                      </p:cBhvr>
                                      <p:to>
                                        <p:strVal val="visible"/>
                                      </p:to>
                                    </p:set>
                                    <p:animEffect transition="in" filter="blinds(horizontal)">
                                      <p:cBhvr>
                                        <p:cTn id="112" dur="500"/>
                                        <p:tgtEl>
                                          <p:spTgt spid="83074"/>
                                        </p:tgtEl>
                                      </p:cBhvr>
                                    </p:animEffect>
                                  </p:childTnLst>
                                  <p:subTnLst>
                                    <p:set>
                                      <p:cBhvr override="childStyle">
                                        <p:cTn dur="1" fill="hold" display="0" masterRel="nextClick" afterEffect="1"/>
                                        <p:tgtEl>
                                          <p:spTgt spid="83074"/>
                                        </p:tgtEl>
                                        <p:attrNameLst>
                                          <p:attrName>style.visibility</p:attrName>
                                        </p:attrNameLst>
                                      </p:cBhvr>
                                      <p:to>
                                        <p:strVal val="hidden"/>
                                      </p:to>
                                    </p:set>
                                  </p:subTnLst>
                                </p:cTn>
                              </p:par>
                              <p:par>
                                <p:cTn id="113" presetID="3" presetClass="entr" presetSubtype="10" fill="hold" grpId="1" nodeType="withEffect">
                                  <p:stCondLst>
                                    <p:cond delay="0"/>
                                  </p:stCondLst>
                                  <p:childTnLst>
                                    <p:set>
                                      <p:cBhvr>
                                        <p:cTn id="114" dur="1" fill="hold">
                                          <p:stCondLst>
                                            <p:cond delay="0"/>
                                          </p:stCondLst>
                                        </p:cTn>
                                        <p:tgtEl>
                                          <p:spTgt spid="82984"/>
                                        </p:tgtEl>
                                        <p:attrNameLst>
                                          <p:attrName>style.visibility</p:attrName>
                                        </p:attrNameLst>
                                      </p:cBhvr>
                                      <p:to>
                                        <p:strVal val="visible"/>
                                      </p:to>
                                    </p:set>
                                    <p:animEffect transition="in" filter="blinds(horizontal)">
                                      <p:cBhvr>
                                        <p:cTn id="115" dur="500"/>
                                        <p:tgtEl>
                                          <p:spTgt spid="82984"/>
                                        </p:tgtEl>
                                      </p:cBhvr>
                                    </p:animEffect>
                                  </p:childTnLst>
                                  <p:subTnLst>
                                    <p:set>
                                      <p:cBhvr override="childStyle">
                                        <p:cTn dur="1" fill="hold" display="0" masterRel="nextClick" afterEffect="1"/>
                                        <p:tgtEl>
                                          <p:spTgt spid="82984"/>
                                        </p:tgtEl>
                                        <p:attrNameLst>
                                          <p:attrName>style.visibility</p:attrName>
                                        </p:attrNameLst>
                                      </p:cBhvr>
                                      <p:to>
                                        <p:strVal val="hidden"/>
                                      </p:to>
                                    </p:set>
                                  </p:subTnLst>
                                </p:cTn>
                              </p:par>
                              <p:par>
                                <p:cTn id="116" presetID="3" presetClass="entr" presetSubtype="10" fill="hold" nodeType="withEffect">
                                  <p:stCondLst>
                                    <p:cond delay="0"/>
                                  </p:stCondLst>
                                  <p:childTnLst>
                                    <p:set>
                                      <p:cBhvr>
                                        <p:cTn id="117" dur="1" fill="hold">
                                          <p:stCondLst>
                                            <p:cond delay="0"/>
                                          </p:stCondLst>
                                        </p:cTn>
                                        <p:tgtEl>
                                          <p:spTgt spid="5"/>
                                        </p:tgtEl>
                                        <p:attrNameLst>
                                          <p:attrName>style.visibility</p:attrName>
                                        </p:attrNameLst>
                                      </p:cBhvr>
                                      <p:to>
                                        <p:strVal val="visible"/>
                                      </p:to>
                                    </p:set>
                                    <p:animEffect transition="in" filter="blinds(horizontal)">
                                      <p:cBhvr>
                                        <p:cTn id="118"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nodeType="clickEffect">
                                  <p:stCondLst>
                                    <p:cond delay="0"/>
                                  </p:stCondLst>
                                  <p:childTnLst>
                                    <p:set>
                                      <p:cBhvr>
                                        <p:cTn id="122" dur="1" fill="hold">
                                          <p:stCondLst>
                                            <p:cond delay="0"/>
                                          </p:stCondLst>
                                        </p:cTn>
                                        <p:tgtEl>
                                          <p:spTgt spid="82947">
                                            <p:txEl>
                                              <p:pRg st="3" end="3"/>
                                            </p:txEl>
                                          </p:spTgt>
                                        </p:tgtEl>
                                        <p:attrNameLst>
                                          <p:attrName>style.visibility</p:attrName>
                                        </p:attrNameLst>
                                      </p:cBhvr>
                                      <p:to>
                                        <p:strVal val="visible"/>
                                      </p:to>
                                    </p:set>
                                    <p:animEffect transition="in" filter="blinds(horizontal)">
                                      <p:cBhvr>
                                        <p:cTn id="123" dur="500"/>
                                        <p:tgtEl>
                                          <p:spTgt spid="82947">
                                            <p:txEl>
                                              <p:pRg st="3" end="3"/>
                                            </p:txEl>
                                          </p:spTgt>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83075"/>
                                        </p:tgtEl>
                                        <p:attrNameLst>
                                          <p:attrName>style.visibility</p:attrName>
                                        </p:attrNameLst>
                                      </p:cBhvr>
                                      <p:to>
                                        <p:strVal val="visible"/>
                                      </p:to>
                                    </p:set>
                                    <p:animEffect transition="in" filter="blinds(horizontal)">
                                      <p:cBhvr>
                                        <p:cTn id="126" dur="500"/>
                                        <p:tgtEl>
                                          <p:spTgt spid="83075"/>
                                        </p:tgtEl>
                                      </p:cBhvr>
                                    </p:animEffect>
                                  </p:childTnLst>
                                  <p:subTnLst>
                                    <p:set>
                                      <p:cBhvr override="childStyle">
                                        <p:cTn dur="1" fill="hold" display="0" masterRel="nextClick" afterEffect="1"/>
                                        <p:tgtEl>
                                          <p:spTgt spid="83075"/>
                                        </p:tgtEl>
                                        <p:attrNameLst>
                                          <p:attrName>style.visibility</p:attrName>
                                        </p:attrNameLst>
                                      </p:cBhvr>
                                      <p:to>
                                        <p:strVal val="hidden"/>
                                      </p:to>
                                    </p:set>
                                  </p:subTnLst>
                                </p:cTn>
                              </p:par>
                              <p:par>
                                <p:cTn id="127" presetID="3" presetClass="entr" presetSubtype="10" fill="hold" grpId="0" nodeType="withEffect">
                                  <p:stCondLst>
                                    <p:cond delay="0"/>
                                  </p:stCondLst>
                                  <p:childTnLst>
                                    <p:set>
                                      <p:cBhvr>
                                        <p:cTn id="128" dur="1" fill="hold">
                                          <p:stCondLst>
                                            <p:cond delay="0"/>
                                          </p:stCondLst>
                                        </p:cTn>
                                        <p:tgtEl>
                                          <p:spTgt spid="83090"/>
                                        </p:tgtEl>
                                        <p:attrNameLst>
                                          <p:attrName>style.visibility</p:attrName>
                                        </p:attrNameLst>
                                      </p:cBhvr>
                                      <p:to>
                                        <p:strVal val="visible"/>
                                      </p:to>
                                    </p:set>
                                    <p:animEffect transition="in" filter="blinds(horizontal)">
                                      <p:cBhvr>
                                        <p:cTn id="129" dur="500"/>
                                        <p:tgtEl>
                                          <p:spTgt spid="83090"/>
                                        </p:tgtEl>
                                      </p:cBhvr>
                                    </p:animEffect>
                                  </p:childTnLst>
                                </p:cTn>
                              </p:par>
                              <p:par>
                                <p:cTn id="130" presetID="3" presetClass="entr" presetSubtype="10" fill="hold" nodeType="withEffect">
                                  <p:stCondLst>
                                    <p:cond delay="0"/>
                                  </p:stCondLst>
                                  <p:childTnLst>
                                    <p:set>
                                      <p:cBhvr>
                                        <p:cTn id="131" dur="1" fill="hold">
                                          <p:stCondLst>
                                            <p:cond delay="0"/>
                                          </p:stCondLst>
                                        </p:cTn>
                                        <p:tgtEl>
                                          <p:spTgt spid="3"/>
                                        </p:tgtEl>
                                        <p:attrNameLst>
                                          <p:attrName>style.visibility</p:attrName>
                                        </p:attrNameLst>
                                      </p:cBhvr>
                                      <p:to>
                                        <p:strVal val="visible"/>
                                      </p:to>
                                    </p:set>
                                    <p:animEffect transition="in" filter="blinds(horizontal)">
                                      <p:cBhvr>
                                        <p:cTn id="13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par>
                                <p:cTn id="133" presetID="3" presetClass="entr" presetSubtype="10" fill="hold" nodeType="withEffect">
                                  <p:stCondLst>
                                    <p:cond delay="0"/>
                                  </p:stCondLst>
                                  <p:childTnLst>
                                    <p:set>
                                      <p:cBhvr>
                                        <p:cTn id="134" dur="1" fill="hold">
                                          <p:stCondLst>
                                            <p:cond delay="0"/>
                                          </p:stCondLst>
                                        </p:cTn>
                                        <p:tgtEl>
                                          <p:spTgt spid="6"/>
                                        </p:tgtEl>
                                        <p:attrNameLst>
                                          <p:attrName>style.visibility</p:attrName>
                                        </p:attrNameLst>
                                      </p:cBhvr>
                                      <p:to>
                                        <p:strVal val="visible"/>
                                      </p:to>
                                    </p:set>
                                    <p:animEffect transition="in" filter="blinds(horizontal)">
                                      <p:cBhvr>
                                        <p:cTn id="135"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82947">
                                            <p:txEl>
                                              <p:pRg st="4" end="4"/>
                                            </p:txEl>
                                          </p:spTgt>
                                        </p:tgtEl>
                                        <p:attrNameLst>
                                          <p:attrName>style.visibility</p:attrName>
                                        </p:attrNameLst>
                                      </p:cBhvr>
                                      <p:to>
                                        <p:strVal val="visible"/>
                                      </p:to>
                                    </p:set>
                                    <p:animEffect transition="in" filter="blinds(horizontal)">
                                      <p:cBhvr>
                                        <p:cTn id="140" dur="500"/>
                                        <p:tgtEl>
                                          <p:spTgt spid="82947">
                                            <p:txEl>
                                              <p:pRg st="4" end="4"/>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nodeType="clickEffect">
                                  <p:stCondLst>
                                    <p:cond delay="0"/>
                                  </p:stCondLst>
                                  <p:childTnLst>
                                    <p:set>
                                      <p:cBhvr>
                                        <p:cTn id="144" dur="1" fill="hold">
                                          <p:stCondLst>
                                            <p:cond delay="0"/>
                                          </p:stCondLst>
                                        </p:cTn>
                                        <p:tgtEl>
                                          <p:spTgt spid="82947">
                                            <p:txEl>
                                              <p:pRg st="5" end="5"/>
                                            </p:txEl>
                                          </p:spTgt>
                                        </p:tgtEl>
                                        <p:attrNameLst>
                                          <p:attrName>style.visibility</p:attrName>
                                        </p:attrNameLst>
                                      </p:cBhvr>
                                      <p:to>
                                        <p:strVal val="visible"/>
                                      </p:to>
                                    </p:set>
                                    <p:animEffect transition="in" filter="blinds(horizontal)">
                                      <p:cBhvr>
                                        <p:cTn id="145" dur="500"/>
                                        <p:tgtEl>
                                          <p:spTgt spid="82947">
                                            <p:txEl>
                                              <p:pRg st="5" end="5"/>
                                            </p:txEl>
                                          </p:spTgt>
                                        </p:tgtEl>
                                      </p:cBhvr>
                                    </p:animEffect>
                                  </p:childTnLst>
                                </p:cTn>
                              </p:par>
                              <p:par>
                                <p:cTn id="146" presetID="3" presetClass="entr" presetSubtype="10" fill="hold" grpId="0" nodeType="withEffect">
                                  <p:stCondLst>
                                    <p:cond delay="0"/>
                                  </p:stCondLst>
                                  <p:childTnLst>
                                    <p:set>
                                      <p:cBhvr>
                                        <p:cTn id="147" dur="1" fill="hold">
                                          <p:stCondLst>
                                            <p:cond delay="0"/>
                                          </p:stCondLst>
                                        </p:cTn>
                                        <p:tgtEl>
                                          <p:spTgt spid="83057"/>
                                        </p:tgtEl>
                                        <p:attrNameLst>
                                          <p:attrName>style.visibility</p:attrName>
                                        </p:attrNameLst>
                                      </p:cBhvr>
                                      <p:to>
                                        <p:strVal val="visible"/>
                                      </p:to>
                                    </p:set>
                                    <p:animEffect transition="in" filter="blinds(horizontal)">
                                      <p:cBhvr>
                                        <p:cTn id="148" dur="500"/>
                                        <p:tgtEl>
                                          <p:spTgt spid="83057"/>
                                        </p:tgtEl>
                                      </p:cBhvr>
                                    </p:animEffect>
                                  </p:childTnLst>
                                </p:cTn>
                              </p:par>
                              <p:par>
                                <p:cTn id="149" presetID="3" presetClass="entr" presetSubtype="10" fill="hold" nodeType="withEffect">
                                  <p:stCondLst>
                                    <p:cond delay="0"/>
                                  </p:stCondLst>
                                  <p:childTnLst>
                                    <p:set>
                                      <p:cBhvr>
                                        <p:cTn id="150" dur="1" fill="hold">
                                          <p:stCondLst>
                                            <p:cond delay="0"/>
                                          </p:stCondLst>
                                        </p:cTn>
                                        <p:tgtEl>
                                          <p:spTgt spid="82947">
                                            <p:txEl>
                                              <p:pRg st="6" end="6"/>
                                            </p:txEl>
                                          </p:spTgt>
                                        </p:tgtEl>
                                        <p:attrNameLst>
                                          <p:attrName>style.visibility</p:attrName>
                                        </p:attrNameLst>
                                      </p:cBhvr>
                                      <p:to>
                                        <p:strVal val="visible"/>
                                      </p:to>
                                    </p:set>
                                    <p:animEffect transition="in" filter="blinds(horizontal)">
                                      <p:cBhvr>
                                        <p:cTn id="151" dur="500"/>
                                        <p:tgtEl>
                                          <p:spTgt spid="82947">
                                            <p:txEl>
                                              <p:pRg st="6" end="6"/>
                                            </p:txEl>
                                          </p:spTgt>
                                        </p:tgtEl>
                                      </p:cBhvr>
                                    </p:animEffect>
                                  </p:childTnLst>
                                </p:cTn>
                              </p:par>
                              <p:par>
                                <p:cTn id="152" presetID="3" presetClass="entr" presetSubtype="10" fill="hold" nodeType="withEffect">
                                  <p:stCondLst>
                                    <p:cond delay="0"/>
                                  </p:stCondLst>
                                  <p:childTnLst>
                                    <p:set>
                                      <p:cBhvr>
                                        <p:cTn id="153" dur="1" fill="hold">
                                          <p:stCondLst>
                                            <p:cond delay="0"/>
                                          </p:stCondLst>
                                        </p:cTn>
                                        <p:tgtEl>
                                          <p:spTgt spid="5"/>
                                        </p:tgtEl>
                                        <p:attrNameLst>
                                          <p:attrName>style.visibility</p:attrName>
                                        </p:attrNameLst>
                                      </p:cBhvr>
                                      <p:to>
                                        <p:strVal val="visible"/>
                                      </p:to>
                                    </p:set>
                                    <p:animEffect transition="in" filter="blinds(horizontal)">
                                      <p:cBhvr>
                                        <p:cTn id="154"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par>
                                <p:cTn id="155" presetID="3" presetClass="entr" presetSubtype="10" fill="hold" grpId="1" nodeType="withEffect">
                                  <p:stCondLst>
                                    <p:cond delay="0"/>
                                  </p:stCondLst>
                                  <p:childTnLst>
                                    <p:set>
                                      <p:cBhvr>
                                        <p:cTn id="156" dur="1" fill="hold">
                                          <p:stCondLst>
                                            <p:cond delay="0"/>
                                          </p:stCondLst>
                                        </p:cTn>
                                        <p:tgtEl>
                                          <p:spTgt spid="83084"/>
                                        </p:tgtEl>
                                        <p:attrNameLst>
                                          <p:attrName>style.visibility</p:attrName>
                                        </p:attrNameLst>
                                      </p:cBhvr>
                                      <p:to>
                                        <p:strVal val="visible"/>
                                      </p:to>
                                    </p:set>
                                    <p:animEffect transition="in" filter="blinds(horizontal)">
                                      <p:cBhvr>
                                        <p:cTn id="157" dur="500"/>
                                        <p:tgtEl>
                                          <p:spTgt spid="83084"/>
                                        </p:tgtEl>
                                      </p:cBhvr>
                                    </p:animEffect>
                                  </p:childTnLst>
                                  <p:subTnLst>
                                    <p:set>
                                      <p:cBhvr override="childStyle">
                                        <p:cTn dur="1" fill="hold" display="0" masterRel="nextClick" afterEffect="1"/>
                                        <p:tgtEl>
                                          <p:spTgt spid="83084"/>
                                        </p:tgtEl>
                                        <p:attrNameLst>
                                          <p:attrName>style.visibility</p:attrName>
                                        </p:attrNameLst>
                                      </p:cBhvr>
                                      <p:to>
                                        <p:strVal val="hidden"/>
                                      </p:to>
                                    </p:set>
                                  </p:subTnLst>
                                </p:cTn>
                              </p:par>
                              <p:par>
                                <p:cTn id="158" presetID="3" presetClass="entr" presetSubtype="10" fill="hold" grpId="0" nodeType="withEffect">
                                  <p:stCondLst>
                                    <p:cond delay="0"/>
                                  </p:stCondLst>
                                  <p:childTnLst>
                                    <p:set>
                                      <p:cBhvr>
                                        <p:cTn id="159" dur="1" fill="hold">
                                          <p:stCondLst>
                                            <p:cond delay="0"/>
                                          </p:stCondLst>
                                        </p:cTn>
                                        <p:tgtEl>
                                          <p:spTgt spid="83093"/>
                                        </p:tgtEl>
                                        <p:attrNameLst>
                                          <p:attrName>style.visibility</p:attrName>
                                        </p:attrNameLst>
                                      </p:cBhvr>
                                      <p:to>
                                        <p:strVal val="visible"/>
                                      </p:to>
                                    </p:set>
                                    <p:animEffect transition="in" filter="blinds(horizontal)">
                                      <p:cBhvr>
                                        <p:cTn id="160" dur="500"/>
                                        <p:tgtEl>
                                          <p:spTgt spid="83093"/>
                                        </p:tgtEl>
                                      </p:cBhvr>
                                    </p:animEffect>
                                  </p:childTnLst>
                                  <p:subTnLst>
                                    <p:set>
                                      <p:cBhvr override="childStyle">
                                        <p:cTn dur="1" fill="hold" display="0" masterRel="nextClick" afterEffect="1"/>
                                        <p:tgtEl>
                                          <p:spTgt spid="83093"/>
                                        </p:tgtEl>
                                        <p:attrNameLst>
                                          <p:attrName>style.visibility</p:attrName>
                                        </p:attrNameLst>
                                      </p:cBhvr>
                                      <p:to>
                                        <p:strVal val="hidden"/>
                                      </p:to>
                                    </p:set>
                                  </p:subTnLst>
                                </p:cTn>
                              </p:par>
                            </p:childTnLst>
                          </p:cTn>
                        </p:par>
                      </p:childTnLst>
                    </p:cTn>
                  </p:par>
                  <p:par>
                    <p:cTn id="161" fill="hold">
                      <p:stCondLst>
                        <p:cond delay="indefinite"/>
                      </p:stCondLst>
                      <p:childTnLst>
                        <p:par>
                          <p:cTn id="162" fill="hold">
                            <p:stCondLst>
                              <p:cond delay="0"/>
                            </p:stCondLst>
                            <p:childTnLst>
                              <p:par>
                                <p:cTn id="163" presetID="3" presetClass="entr" presetSubtype="10" fill="hold" nodeType="clickEffect">
                                  <p:stCondLst>
                                    <p:cond delay="0"/>
                                  </p:stCondLst>
                                  <p:childTnLst>
                                    <p:set>
                                      <p:cBhvr>
                                        <p:cTn id="164" dur="1" fill="hold">
                                          <p:stCondLst>
                                            <p:cond delay="0"/>
                                          </p:stCondLst>
                                        </p:cTn>
                                        <p:tgtEl>
                                          <p:spTgt spid="82947">
                                            <p:txEl>
                                              <p:pRg st="7" end="7"/>
                                            </p:txEl>
                                          </p:spTgt>
                                        </p:tgtEl>
                                        <p:attrNameLst>
                                          <p:attrName>style.visibility</p:attrName>
                                        </p:attrNameLst>
                                      </p:cBhvr>
                                      <p:to>
                                        <p:strVal val="visible"/>
                                      </p:to>
                                    </p:set>
                                    <p:animEffect transition="in" filter="blinds(horizontal)">
                                      <p:cBhvr>
                                        <p:cTn id="165" dur="500"/>
                                        <p:tgtEl>
                                          <p:spTgt spid="82947">
                                            <p:txEl>
                                              <p:pRg st="7" end="7"/>
                                            </p:txEl>
                                          </p:spTgt>
                                        </p:tgtEl>
                                      </p:cBhvr>
                                    </p:animEffect>
                                  </p:childTnLst>
                                </p:cTn>
                              </p:par>
                              <p:par>
                                <p:cTn id="166" presetID="3" presetClass="entr" presetSubtype="10" fill="hold" nodeType="withEffect">
                                  <p:stCondLst>
                                    <p:cond delay="0"/>
                                  </p:stCondLst>
                                  <p:childTnLst>
                                    <p:set>
                                      <p:cBhvr>
                                        <p:cTn id="167" dur="1" fill="hold">
                                          <p:stCondLst>
                                            <p:cond delay="0"/>
                                          </p:stCondLst>
                                        </p:cTn>
                                        <p:tgtEl>
                                          <p:spTgt spid="82947">
                                            <p:txEl>
                                              <p:pRg st="8" end="8"/>
                                            </p:txEl>
                                          </p:spTgt>
                                        </p:tgtEl>
                                        <p:attrNameLst>
                                          <p:attrName>style.visibility</p:attrName>
                                        </p:attrNameLst>
                                      </p:cBhvr>
                                      <p:to>
                                        <p:strVal val="visible"/>
                                      </p:to>
                                    </p:set>
                                    <p:animEffect transition="in" filter="blinds(horizontal)">
                                      <p:cBhvr>
                                        <p:cTn id="168" dur="500"/>
                                        <p:tgtEl>
                                          <p:spTgt spid="82947">
                                            <p:txEl>
                                              <p:pRg st="8" end="8"/>
                                            </p:txEl>
                                          </p:spTgt>
                                        </p:tgtEl>
                                      </p:cBhvr>
                                    </p:animEffect>
                                  </p:childTnLst>
                                </p:cTn>
                              </p:par>
                              <p:par>
                                <p:cTn id="169" presetID="3" presetClass="entr" presetSubtype="10" fill="hold" grpId="0" nodeType="withEffect">
                                  <p:stCondLst>
                                    <p:cond delay="0"/>
                                  </p:stCondLst>
                                  <p:childTnLst>
                                    <p:set>
                                      <p:cBhvr>
                                        <p:cTn id="170" dur="1" fill="hold">
                                          <p:stCondLst>
                                            <p:cond delay="0"/>
                                          </p:stCondLst>
                                        </p:cTn>
                                        <p:tgtEl>
                                          <p:spTgt spid="83056"/>
                                        </p:tgtEl>
                                        <p:attrNameLst>
                                          <p:attrName>style.visibility</p:attrName>
                                        </p:attrNameLst>
                                      </p:cBhvr>
                                      <p:to>
                                        <p:strVal val="visible"/>
                                      </p:to>
                                    </p:set>
                                    <p:animEffect transition="in" filter="blinds(horizontal)">
                                      <p:cBhvr>
                                        <p:cTn id="171" dur="500"/>
                                        <p:tgtEl>
                                          <p:spTgt spid="83056"/>
                                        </p:tgtEl>
                                      </p:cBhvr>
                                    </p:animEffect>
                                  </p:childTnLst>
                                </p:cTn>
                              </p:par>
                              <p:par>
                                <p:cTn id="172" presetID="3" presetClass="entr" presetSubtype="10" fill="hold" nodeType="withEffect">
                                  <p:stCondLst>
                                    <p:cond delay="0"/>
                                  </p:stCondLst>
                                  <p:childTnLst>
                                    <p:set>
                                      <p:cBhvr>
                                        <p:cTn id="173" dur="1" fill="hold">
                                          <p:stCondLst>
                                            <p:cond delay="0"/>
                                          </p:stCondLst>
                                        </p:cTn>
                                        <p:tgtEl>
                                          <p:spTgt spid="7"/>
                                        </p:tgtEl>
                                        <p:attrNameLst>
                                          <p:attrName>style.visibility</p:attrName>
                                        </p:attrNameLst>
                                      </p:cBhvr>
                                      <p:to>
                                        <p:strVal val="visible"/>
                                      </p:to>
                                    </p:set>
                                    <p:animEffect transition="in" filter="blinds(horizontal)">
                                      <p:cBhvr>
                                        <p:cTn id="174"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par>
                                <p:cTn id="175" presetID="3" presetClass="entr" presetSubtype="10" fill="hold" grpId="0" nodeType="withEffect">
                                  <p:stCondLst>
                                    <p:cond delay="0"/>
                                  </p:stCondLst>
                                  <p:childTnLst>
                                    <p:set>
                                      <p:cBhvr>
                                        <p:cTn id="176" dur="1" fill="hold">
                                          <p:stCondLst>
                                            <p:cond delay="0"/>
                                          </p:stCondLst>
                                        </p:cTn>
                                        <p:tgtEl>
                                          <p:spTgt spid="83112"/>
                                        </p:tgtEl>
                                        <p:attrNameLst>
                                          <p:attrName>style.visibility</p:attrName>
                                        </p:attrNameLst>
                                      </p:cBhvr>
                                      <p:to>
                                        <p:strVal val="visible"/>
                                      </p:to>
                                    </p:set>
                                    <p:animEffect transition="in" filter="blinds(horizontal)">
                                      <p:cBhvr>
                                        <p:cTn id="177" dur="500"/>
                                        <p:tgtEl>
                                          <p:spTgt spid="83112"/>
                                        </p:tgtEl>
                                      </p:cBhvr>
                                    </p:animEffect>
                                  </p:childTnLst>
                                  <p:subTnLst>
                                    <p:set>
                                      <p:cBhvr override="childStyle">
                                        <p:cTn dur="1" fill="hold" display="0" masterRel="nextClick" afterEffect="1"/>
                                        <p:tgtEl>
                                          <p:spTgt spid="8311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056" grpId="0" animBg="1"/>
      <p:bldP spid="83057" grpId="0" animBg="1"/>
      <p:bldP spid="83067" grpId="0" animBg="1"/>
      <p:bldP spid="83068" grpId="0" animBg="1"/>
      <p:bldP spid="83069" grpId="0" animBg="1"/>
      <p:bldP spid="83070" grpId="0" animBg="1"/>
      <p:bldP spid="83071" grpId="0" animBg="1"/>
      <p:bldP spid="83073" grpId="0" animBg="1"/>
      <p:bldP spid="83074" grpId="0" animBg="1"/>
      <p:bldP spid="83075" grpId="0" animBg="1"/>
      <p:bldP spid="83076" grpId="0" animBg="1"/>
      <p:bldP spid="83077" grpId="0" animBg="1"/>
      <p:bldP spid="83078" grpId="0" animBg="1"/>
      <p:bldP spid="83079" grpId="0" animBg="1"/>
      <p:bldP spid="83080" grpId="0" animBg="1"/>
      <p:bldP spid="83081" grpId="0" animBg="1"/>
      <p:bldP spid="83082" grpId="0" animBg="1"/>
      <p:bldP spid="83083" grpId="0" animBg="1"/>
      <p:bldP spid="83090" grpId="0" animBg="1"/>
      <p:bldP spid="82984" grpId="0" animBg="1"/>
      <p:bldP spid="82984" grpId="1" animBg="1"/>
      <p:bldP spid="83022" grpId="0" animBg="1"/>
      <p:bldP spid="83022" grpId="1" animBg="1"/>
      <p:bldP spid="83053" grpId="0" animBg="1"/>
      <p:bldP spid="83053" grpId="1" animBg="1"/>
      <p:bldP spid="83084" grpId="0" animBg="1"/>
      <p:bldP spid="83084" grpId="1" animBg="1"/>
      <p:bldP spid="83093" grpId="0" animBg="1"/>
      <p:bldP spid="83103" grpId="0" animBg="1"/>
      <p:bldP spid="831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r>
              <a:rPr lang="en-US"/>
              <a:t>K-Map:  Unique True Points</a:t>
            </a:r>
          </a:p>
        </p:txBody>
      </p:sp>
      <p:sp>
        <p:nvSpPr>
          <p:cNvPr id="83971" name="Rectangle 3"/>
          <p:cNvSpPr>
            <a:spLocks noGrp="1" noChangeArrowheads="1"/>
          </p:cNvSpPr>
          <p:nvPr>
            <p:ph type="body" idx="4294967295"/>
          </p:nvPr>
        </p:nvSpPr>
        <p:spPr/>
        <p:txBody>
          <a:bodyPr/>
          <a:lstStyle/>
          <a:p>
            <a:pPr>
              <a:lnSpc>
                <a:spcPct val="80000"/>
              </a:lnSpc>
            </a:pPr>
            <a:r>
              <a:rPr lang="en-US" dirty="0"/>
              <a:t>Consider the predicate:  </a:t>
            </a:r>
            <a:r>
              <a:rPr lang="en-US" i="1" dirty="0"/>
              <a:t>f = ab + cd</a:t>
            </a:r>
          </a:p>
          <a:p>
            <a:r>
              <a:rPr lang="en-US" dirty="0"/>
              <a:t>Three unique true points for </a:t>
            </a:r>
            <a:r>
              <a:rPr lang="en-US" i="1" dirty="0"/>
              <a:t>ab</a:t>
            </a:r>
          </a:p>
          <a:p>
            <a:pPr lvl="1">
              <a:lnSpc>
                <a:spcPct val="80000"/>
              </a:lnSpc>
            </a:pPr>
            <a:r>
              <a:rPr lang="en-US" dirty="0"/>
              <a:t>TTFF, TTFT, TTTF</a:t>
            </a:r>
          </a:p>
          <a:p>
            <a:pPr lvl="1">
              <a:lnSpc>
                <a:spcPct val="80000"/>
              </a:lnSpc>
            </a:pPr>
            <a:r>
              <a:rPr lang="en-US" dirty="0"/>
              <a:t>TTTT is a true point, but not a unique true point</a:t>
            </a:r>
          </a:p>
          <a:p>
            <a:r>
              <a:rPr lang="en-US" dirty="0"/>
              <a:t>Three unique true points for </a:t>
            </a:r>
            <a:r>
              <a:rPr lang="en-US" i="1" dirty="0"/>
              <a:t>cd</a:t>
            </a:r>
          </a:p>
          <a:p>
            <a:pPr lvl="1"/>
            <a:r>
              <a:rPr lang="en-US" dirty="0"/>
              <a:t>FFTT, FTTT, TFTT</a:t>
            </a:r>
          </a:p>
          <a:p>
            <a:r>
              <a:rPr lang="en-US" dirty="0"/>
              <a:t>Unique true points for </a:t>
            </a:r>
            <a:r>
              <a:rPr lang="en-US" i="1" dirty="0"/>
              <a:t>f</a:t>
            </a:r>
          </a:p>
          <a:p>
            <a:pPr lvl="1">
              <a:buFontTx/>
              <a:buNone/>
            </a:pPr>
            <a:r>
              <a:rPr lang="en-US" i="1" dirty="0"/>
              <a:t>f = ac + </a:t>
            </a:r>
            <a:r>
              <a:rPr lang="en-US" i="1" dirty="0" err="1"/>
              <a:t>bc</a:t>
            </a:r>
            <a:r>
              <a:rPr lang="en-US" i="1" dirty="0"/>
              <a:t> + ad + </a:t>
            </a:r>
            <a:r>
              <a:rPr lang="en-US" i="1" dirty="0" err="1"/>
              <a:t>bd</a:t>
            </a:r>
            <a:endParaRPr lang="en-US" i="1" dirty="0"/>
          </a:p>
          <a:p>
            <a:pPr lvl="1"/>
            <a:r>
              <a:rPr lang="en-US" dirty="0"/>
              <a:t>FTFT,TFFT, FTTF, TFTF</a:t>
            </a:r>
          </a:p>
        </p:txBody>
      </p:sp>
      <p:grpSp>
        <p:nvGrpSpPr>
          <p:cNvPr id="2" name="Group 150"/>
          <p:cNvGrpSpPr>
            <a:grpSpLocks/>
          </p:cNvGrpSpPr>
          <p:nvPr/>
        </p:nvGrpSpPr>
        <p:grpSpPr bwMode="auto">
          <a:xfrm>
            <a:off x="6081714" y="2857501"/>
            <a:ext cx="3971925" cy="3516313"/>
            <a:chOff x="2871" y="1800"/>
            <a:chExt cx="2502" cy="2215"/>
          </a:xfrm>
        </p:grpSpPr>
        <p:sp>
          <p:nvSpPr>
            <p:cNvPr id="27691" name="Rectangle 87"/>
            <p:cNvSpPr>
              <a:spLocks noChangeArrowheads="1"/>
            </p:cNvSpPr>
            <p:nvPr/>
          </p:nvSpPr>
          <p:spPr bwMode="auto">
            <a:xfrm>
              <a:off x="2875" y="2694"/>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01</a:t>
              </a:r>
            </a:p>
          </p:txBody>
        </p:sp>
        <p:sp>
          <p:nvSpPr>
            <p:cNvPr id="27692" name="Rectangle 88"/>
            <p:cNvSpPr>
              <a:spLocks noChangeArrowheads="1"/>
            </p:cNvSpPr>
            <p:nvPr/>
          </p:nvSpPr>
          <p:spPr bwMode="auto">
            <a:xfrm>
              <a:off x="2875" y="2270"/>
              <a:ext cx="499" cy="42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00</a:t>
              </a:r>
            </a:p>
          </p:txBody>
        </p:sp>
        <p:sp>
          <p:nvSpPr>
            <p:cNvPr id="27693" name="Rectangle 89"/>
            <p:cNvSpPr>
              <a:spLocks noChangeArrowheads="1"/>
            </p:cNvSpPr>
            <p:nvPr/>
          </p:nvSpPr>
          <p:spPr bwMode="auto">
            <a:xfrm>
              <a:off x="4869" y="1800"/>
              <a:ext cx="499"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7694" name="Rectangle 90"/>
            <p:cNvSpPr>
              <a:spLocks noChangeArrowheads="1"/>
            </p:cNvSpPr>
            <p:nvPr/>
          </p:nvSpPr>
          <p:spPr bwMode="auto">
            <a:xfrm>
              <a:off x="4371" y="1800"/>
              <a:ext cx="498"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7695" name="Rectangle 91"/>
            <p:cNvSpPr>
              <a:spLocks noChangeArrowheads="1"/>
            </p:cNvSpPr>
            <p:nvPr/>
          </p:nvSpPr>
          <p:spPr bwMode="auto">
            <a:xfrm>
              <a:off x="3872" y="1800"/>
              <a:ext cx="499"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7696" name="Rectangle 92"/>
            <p:cNvSpPr>
              <a:spLocks noChangeArrowheads="1"/>
            </p:cNvSpPr>
            <p:nvPr/>
          </p:nvSpPr>
          <p:spPr bwMode="auto">
            <a:xfrm>
              <a:off x="3374" y="1800"/>
              <a:ext cx="498"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7697" name="Rectangle 93"/>
            <p:cNvSpPr>
              <a:spLocks noChangeArrowheads="1"/>
            </p:cNvSpPr>
            <p:nvPr/>
          </p:nvSpPr>
          <p:spPr bwMode="auto">
            <a:xfrm>
              <a:off x="2955" y="1880"/>
              <a:ext cx="499" cy="470"/>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dirty="0">
                  <a:solidFill>
                    <a:schemeClr val="tx1"/>
                  </a:solidFill>
                </a:rPr>
                <a:t>    ab</a:t>
              </a:r>
            </a:p>
            <a:p>
              <a:pPr>
                <a:lnSpc>
                  <a:spcPct val="90000"/>
                </a:lnSpc>
                <a:spcBef>
                  <a:spcPct val="30000"/>
                </a:spcBef>
                <a:buSzPct val="85000"/>
              </a:pPr>
              <a:r>
                <a:rPr lang="en-US" dirty="0">
                  <a:solidFill>
                    <a:schemeClr val="tx1"/>
                  </a:solidFill>
                </a:rPr>
                <a:t>  cd</a:t>
              </a:r>
            </a:p>
          </p:txBody>
        </p:sp>
        <p:sp>
          <p:nvSpPr>
            <p:cNvPr id="27698" name="Line 94"/>
            <p:cNvSpPr>
              <a:spLocks noChangeShapeType="1"/>
            </p:cNvSpPr>
            <p:nvPr/>
          </p:nvSpPr>
          <p:spPr bwMode="auto">
            <a:xfrm>
              <a:off x="2875" y="1800"/>
              <a:ext cx="499" cy="0"/>
            </a:xfrm>
            <a:prstGeom prst="line">
              <a:avLst/>
            </a:prstGeom>
            <a:noFill/>
            <a:ln w="28575" cap="sq">
              <a:noFill/>
              <a:round/>
              <a:headEnd type="none" w="med" len="lg"/>
              <a:tailEnd type="none" w="sm" len="sm"/>
            </a:ln>
          </p:spPr>
          <p:txBody>
            <a:bodyPr/>
            <a:lstStyle/>
            <a:p>
              <a:endParaRPr lang="en-US"/>
            </a:p>
          </p:txBody>
        </p:sp>
        <p:sp>
          <p:nvSpPr>
            <p:cNvPr id="27699" name="Line 95"/>
            <p:cNvSpPr>
              <a:spLocks noChangeShapeType="1"/>
            </p:cNvSpPr>
            <p:nvPr/>
          </p:nvSpPr>
          <p:spPr bwMode="auto">
            <a:xfrm>
              <a:off x="2875" y="1800"/>
              <a:ext cx="0" cy="470"/>
            </a:xfrm>
            <a:prstGeom prst="line">
              <a:avLst/>
            </a:prstGeom>
            <a:noFill/>
            <a:ln w="28575" cap="sq">
              <a:noFill/>
              <a:round/>
              <a:headEnd type="none" w="med" len="lg"/>
              <a:tailEnd type="none" w="sm" len="sm"/>
            </a:ln>
          </p:spPr>
          <p:txBody>
            <a:bodyPr/>
            <a:lstStyle/>
            <a:p>
              <a:endParaRPr lang="en-US"/>
            </a:p>
          </p:txBody>
        </p:sp>
        <p:sp>
          <p:nvSpPr>
            <p:cNvPr id="27700" name="Line 96"/>
            <p:cNvSpPr>
              <a:spLocks noChangeShapeType="1"/>
            </p:cNvSpPr>
            <p:nvPr/>
          </p:nvSpPr>
          <p:spPr bwMode="auto">
            <a:xfrm>
              <a:off x="3374" y="1800"/>
              <a:ext cx="498" cy="0"/>
            </a:xfrm>
            <a:prstGeom prst="line">
              <a:avLst/>
            </a:prstGeom>
            <a:noFill/>
            <a:ln w="28575" cap="sq">
              <a:noFill/>
              <a:round/>
              <a:headEnd type="none" w="med" len="lg"/>
              <a:tailEnd type="none" w="sm" len="sm"/>
            </a:ln>
          </p:spPr>
          <p:txBody>
            <a:bodyPr/>
            <a:lstStyle/>
            <a:p>
              <a:endParaRPr lang="en-US"/>
            </a:p>
          </p:txBody>
        </p:sp>
        <p:sp>
          <p:nvSpPr>
            <p:cNvPr id="27701" name="Line 97"/>
            <p:cNvSpPr>
              <a:spLocks noChangeShapeType="1"/>
            </p:cNvSpPr>
            <p:nvPr/>
          </p:nvSpPr>
          <p:spPr bwMode="auto">
            <a:xfrm>
              <a:off x="2875" y="2270"/>
              <a:ext cx="0" cy="424"/>
            </a:xfrm>
            <a:prstGeom prst="line">
              <a:avLst/>
            </a:prstGeom>
            <a:noFill/>
            <a:ln w="28575" cap="sq">
              <a:noFill/>
              <a:round/>
              <a:headEnd type="none" w="med" len="lg"/>
              <a:tailEnd type="none" w="sm" len="sm"/>
            </a:ln>
          </p:spPr>
          <p:txBody>
            <a:bodyPr/>
            <a:lstStyle/>
            <a:p>
              <a:endParaRPr lang="en-US"/>
            </a:p>
          </p:txBody>
        </p:sp>
        <p:sp>
          <p:nvSpPr>
            <p:cNvPr id="27702" name="Line 98"/>
            <p:cNvSpPr>
              <a:spLocks noChangeShapeType="1"/>
            </p:cNvSpPr>
            <p:nvPr/>
          </p:nvSpPr>
          <p:spPr bwMode="auto">
            <a:xfrm>
              <a:off x="2875" y="2694"/>
              <a:ext cx="0" cy="444"/>
            </a:xfrm>
            <a:prstGeom prst="line">
              <a:avLst/>
            </a:prstGeom>
            <a:noFill/>
            <a:ln w="28575" cap="sq">
              <a:noFill/>
              <a:round/>
              <a:headEnd type="none" w="med" len="lg"/>
              <a:tailEnd type="none" w="sm" len="sm"/>
            </a:ln>
          </p:spPr>
          <p:txBody>
            <a:bodyPr/>
            <a:lstStyle/>
            <a:p>
              <a:endParaRPr lang="en-US"/>
            </a:p>
          </p:txBody>
        </p:sp>
        <p:sp>
          <p:nvSpPr>
            <p:cNvPr id="27703" name="Line 99"/>
            <p:cNvSpPr>
              <a:spLocks noChangeShapeType="1"/>
            </p:cNvSpPr>
            <p:nvPr/>
          </p:nvSpPr>
          <p:spPr bwMode="auto">
            <a:xfrm>
              <a:off x="5368" y="1800"/>
              <a:ext cx="0" cy="470"/>
            </a:xfrm>
            <a:prstGeom prst="line">
              <a:avLst/>
            </a:prstGeom>
            <a:noFill/>
            <a:ln w="28575" cap="sq">
              <a:noFill/>
              <a:round/>
              <a:headEnd type="none" w="med" len="lg"/>
              <a:tailEnd type="none" w="sm" len="sm"/>
            </a:ln>
          </p:spPr>
          <p:txBody>
            <a:bodyPr/>
            <a:lstStyle/>
            <a:p>
              <a:endParaRPr lang="en-US"/>
            </a:p>
          </p:txBody>
        </p:sp>
        <p:sp>
          <p:nvSpPr>
            <p:cNvPr id="27704" name="Line 100"/>
            <p:cNvSpPr>
              <a:spLocks noChangeShapeType="1"/>
            </p:cNvSpPr>
            <p:nvPr/>
          </p:nvSpPr>
          <p:spPr bwMode="auto">
            <a:xfrm>
              <a:off x="2875" y="3138"/>
              <a:ext cx="499" cy="0"/>
            </a:xfrm>
            <a:prstGeom prst="line">
              <a:avLst/>
            </a:prstGeom>
            <a:noFill/>
            <a:ln w="28575" cap="sq">
              <a:noFill/>
              <a:round/>
              <a:headEnd type="none" w="med" len="lg"/>
              <a:tailEnd type="none" w="sm" len="sm"/>
            </a:ln>
          </p:spPr>
          <p:txBody>
            <a:bodyPr/>
            <a:lstStyle/>
            <a:p>
              <a:endParaRPr lang="en-US"/>
            </a:p>
          </p:txBody>
        </p:sp>
        <p:sp>
          <p:nvSpPr>
            <p:cNvPr id="27705" name="Line 101"/>
            <p:cNvSpPr>
              <a:spLocks noChangeShapeType="1"/>
            </p:cNvSpPr>
            <p:nvPr/>
          </p:nvSpPr>
          <p:spPr bwMode="auto">
            <a:xfrm>
              <a:off x="3021" y="1931"/>
              <a:ext cx="344" cy="330"/>
            </a:xfrm>
            <a:prstGeom prst="line">
              <a:avLst/>
            </a:prstGeom>
            <a:noFill/>
            <a:ln w="12700">
              <a:solidFill>
                <a:schemeClr val="tx1"/>
              </a:solidFill>
              <a:round/>
              <a:headEnd type="none" w="sm" len="sm"/>
              <a:tailEnd type="none" w="sm" len="sm"/>
            </a:ln>
          </p:spPr>
          <p:txBody>
            <a:bodyPr/>
            <a:lstStyle/>
            <a:p>
              <a:endParaRPr lang="en-US"/>
            </a:p>
          </p:txBody>
        </p:sp>
        <p:sp>
          <p:nvSpPr>
            <p:cNvPr id="27706" name="Rectangle 102"/>
            <p:cNvSpPr>
              <a:spLocks noChangeArrowheads="1"/>
            </p:cNvSpPr>
            <p:nvPr/>
          </p:nvSpPr>
          <p:spPr bwMode="auto">
            <a:xfrm>
              <a:off x="4869" y="2694"/>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7707" name="Rectangle 103"/>
            <p:cNvSpPr>
              <a:spLocks noChangeArrowheads="1"/>
            </p:cNvSpPr>
            <p:nvPr/>
          </p:nvSpPr>
          <p:spPr bwMode="auto">
            <a:xfrm>
              <a:off x="4371" y="2694"/>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7708" name="Rectangle 104"/>
            <p:cNvSpPr>
              <a:spLocks noChangeArrowheads="1"/>
            </p:cNvSpPr>
            <p:nvPr/>
          </p:nvSpPr>
          <p:spPr bwMode="auto">
            <a:xfrm>
              <a:off x="3872" y="2694"/>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7709" name="Rectangle 105"/>
            <p:cNvSpPr>
              <a:spLocks noChangeArrowheads="1"/>
            </p:cNvSpPr>
            <p:nvPr/>
          </p:nvSpPr>
          <p:spPr bwMode="auto">
            <a:xfrm>
              <a:off x="3374" y="2694"/>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7710" name="Rectangle 106"/>
            <p:cNvSpPr>
              <a:spLocks noChangeArrowheads="1"/>
            </p:cNvSpPr>
            <p:nvPr/>
          </p:nvSpPr>
          <p:spPr bwMode="auto">
            <a:xfrm>
              <a:off x="4869" y="2270"/>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7711" name="Rectangle 108"/>
            <p:cNvSpPr>
              <a:spLocks noChangeArrowheads="1"/>
            </p:cNvSpPr>
            <p:nvPr/>
          </p:nvSpPr>
          <p:spPr bwMode="auto">
            <a:xfrm>
              <a:off x="3872" y="2270"/>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7712" name="Rectangle 109"/>
            <p:cNvSpPr>
              <a:spLocks noChangeArrowheads="1"/>
            </p:cNvSpPr>
            <p:nvPr/>
          </p:nvSpPr>
          <p:spPr bwMode="auto">
            <a:xfrm>
              <a:off x="3374" y="2270"/>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7713" name="Line 110"/>
            <p:cNvSpPr>
              <a:spLocks noChangeShapeType="1"/>
            </p:cNvSpPr>
            <p:nvPr/>
          </p:nvSpPr>
          <p:spPr bwMode="auto">
            <a:xfrm>
              <a:off x="5368" y="2270"/>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7714" name="Line 111"/>
            <p:cNvSpPr>
              <a:spLocks noChangeShapeType="1"/>
            </p:cNvSpPr>
            <p:nvPr/>
          </p:nvSpPr>
          <p:spPr bwMode="auto">
            <a:xfrm>
              <a:off x="3374" y="2270"/>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7715" name="Line 112"/>
            <p:cNvSpPr>
              <a:spLocks noChangeShapeType="1"/>
            </p:cNvSpPr>
            <p:nvPr/>
          </p:nvSpPr>
          <p:spPr bwMode="auto">
            <a:xfrm>
              <a:off x="3374" y="2270"/>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7716" name="Line 113"/>
            <p:cNvSpPr>
              <a:spLocks noChangeShapeType="1"/>
            </p:cNvSpPr>
            <p:nvPr/>
          </p:nvSpPr>
          <p:spPr bwMode="auto">
            <a:xfrm>
              <a:off x="3872" y="2270"/>
              <a:ext cx="0" cy="868"/>
            </a:xfrm>
            <a:prstGeom prst="line">
              <a:avLst/>
            </a:prstGeom>
            <a:noFill/>
            <a:ln w="12700">
              <a:solidFill>
                <a:schemeClr val="tx1"/>
              </a:solidFill>
              <a:round/>
              <a:headEnd type="none" w="med" len="lg"/>
              <a:tailEnd type="none" w="sm" len="sm"/>
            </a:ln>
          </p:spPr>
          <p:txBody>
            <a:bodyPr/>
            <a:lstStyle/>
            <a:p>
              <a:endParaRPr lang="en-US"/>
            </a:p>
          </p:txBody>
        </p:sp>
        <p:sp>
          <p:nvSpPr>
            <p:cNvPr id="27717" name="Line 114"/>
            <p:cNvSpPr>
              <a:spLocks noChangeShapeType="1"/>
            </p:cNvSpPr>
            <p:nvPr/>
          </p:nvSpPr>
          <p:spPr bwMode="auto">
            <a:xfrm>
              <a:off x="4371" y="2270"/>
              <a:ext cx="0" cy="868"/>
            </a:xfrm>
            <a:prstGeom prst="line">
              <a:avLst/>
            </a:prstGeom>
            <a:noFill/>
            <a:ln w="12700">
              <a:solidFill>
                <a:schemeClr val="tx1"/>
              </a:solidFill>
              <a:round/>
              <a:headEnd type="none" w="med" len="lg"/>
              <a:tailEnd type="none" w="sm" len="sm"/>
            </a:ln>
          </p:spPr>
          <p:txBody>
            <a:bodyPr/>
            <a:lstStyle/>
            <a:p>
              <a:endParaRPr lang="en-US"/>
            </a:p>
          </p:txBody>
        </p:sp>
        <p:sp>
          <p:nvSpPr>
            <p:cNvPr id="27718" name="Line 115"/>
            <p:cNvSpPr>
              <a:spLocks noChangeShapeType="1"/>
            </p:cNvSpPr>
            <p:nvPr/>
          </p:nvSpPr>
          <p:spPr bwMode="auto">
            <a:xfrm>
              <a:off x="4869" y="2270"/>
              <a:ext cx="0" cy="868"/>
            </a:xfrm>
            <a:prstGeom prst="line">
              <a:avLst/>
            </a:prstGeom>
            <a:noFill/>
            <a:ln w="12700">
              <a:solidFill>
                <a:schemeClr val="tx1"/>
              </a:solidFill>
              <a:round/>
              <a:headEnd type="none" w="med" len="lg"/>
              <a:tailEnd type="none" w="sm" len="sm"/>
            </a:ln>
          </p:spPr>
          <p:txBody>
            <a:bodyPr/>
            <a:lstStyle/>
            <a:p>
              <a:endParaRPr lang="en-US"/>
            </a:p>
          </p:txBody>
        </p:sp>
        <p:sp>
          <p:nvSpPr>
            <p:cNvPr id="27719" name="Line 116"/>
            <p:cNvSpPr>
              <a:spLocks noChangeShapeType="1"/>
            </p:cNvSpPr>
            <p:nvPr/>
          </p:nvSpPr>
          <p:spPr bwMode="auto">
            <a:xfrm>
              <a:off x="3374" y="2694"/>
              <a:ext cx="1994" cy="0"/>
            </a:xfrm>
            <a:prstGeom prst="line">
              <a:avLst/>
            </a:prstGeom>
            <a:noFill/>
            <a:ln w="12700">
              <a:solidFill>
                <a:schemeClr val="tx1"/>
              </a:solidFill>
              <a:round/>
              <a:headEnd type="none" w="med" len="lg"/>
              <a:tailEnd type="none" w="sm" len="sm"/>
            </a:ln>
          </p:spPr>
          <p:txBody>
            <a:bodyPr/>
            <a:lstStyle/>
            <a:p>
              <a:endParaRPr lang="en-US"/>
            </a:p>
          </p:txBody>
        </p:sp>
        <p:sp>
          <p:nvSpPr>
            <p:cNvPr id="27720" name="Line 117"/>
            <p:cNvSpPr>
              <a:spLocks noChangeShapeType="1"/>
            </p:cNvSpPr>
            <p:nvPr/>
          </p:nvSpPr>
          <p:spPr bwMode="auto">
            <a:xfrm>
              <a:off x="3379" y="3154"/>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7721" name="Line 118"/>
            <p:cNvSpPr>
              <a:spLocks noChangeShapeType="1"/>
            </p:cNvSpPr>
            <p:nvPr/>
          </p:nvSpPr>
          <p:spPr bwMode="auto">
            <a:xfrm>
              <a:off x="3605" y="3932"/>
              <a:ext cx="499" cy="0"/>
            </a:xfrm>
            <a:prstGeom prst="line">
              <a:avLst/>
            </a:prstGeom>
            <a:noFill/>
            <a:ln w="28575" cap="sq">
              <a:noFill/>
              <a:round/>
              <a:headEnd type="none" w="med" len="lg"/>
              <a:tailEnd type="none" w="sm" len="sm"/>
            </a:ln>
          </p:spPr>
          <p:txBody>
            <a:bodyPr/>
            <a:lstStyle/>
            <a:p>
              <a:endParaRPr lang="en-US"/>
            </a:p>
          </p:txBody>
        </p:sp>
        <p:sp>
          <p:nvSpPr>
            <p:cNvPr id="27722" name="Line 119"/>
            <p:cNvSpPr>
              <a:spLocks noChangeShapeType="1"/>
            </p:cNvSpPr>
            <p:nvPr/>
          </p:nvSpPr>
          <p:spPr bwMode="auto">
            <a:xfrm>
              <a:off x="4104" y="3932"/>
              <a:ext cx="498" cy="0"/>
            </a:xfrm>
            <a:prstGeom prst="line">
              <a:avLst/>
            </a:prstGeom>
            <a:noFill/>
            <a:ln w="28575" cap="sq">
              <a:noFill/>
              <a:round/>
              <a:headEnd type="none" w="med" len="lg"/>
              <a:tailEnd type="none" w="sm" len="sm"/>
            </a:ln>
          </p:spPr>
          <p:txBody>
            <a:bodyPr/>
            <a:lstStyle/>
            <a:p>
              <a:endParaRPr lang="en-US"/>
            </a:p>
          </p:txBody>
        </p:sp>
        <p:sp>
          <p:nvSpPr>
            <p:cNvPr id="27723" name="Line 120"/>
            <p:cNvSpPr>
              <a:spLocks noChangeShapeType="1"/>
            </p:cNvSpPr>
            <p:nvPr/>
          </p:nvSpPr>
          <p:spPr bwMode="auto">
            <a:xfrm>
              <a:off x="4602" y="3932"/>
              <a:ext cx="499" cy="0"/>
            </a:xfrm>
            <a:prstGeom prst="line">
              <a:avLst/>
            </a:prstGeom>
            <a:noFill/>
            <a:ln w="28575" cap="sq">
              <a:noFill/>
              <a:round/>
              <a:headEnd type="none" w="med" len="lg"/>
              <a:tailEnd type="none" w="sm" len="sm"/>
            </a:ln>
          </p:spPr>
          <p:txBody>
            <a:bodyPr/>
            <a:lstStyle/>
            <a:p>
              <a:endParaRPr lang="en-US"/>
            </a:p>
          </p:txBody>
        </p:sp>
        <p:sp>
          <p:nvSpPr>
            <p:cNvPr id="27724" name="Rectangle 121"/>
            <p:cNvSpPr>
              <a:spLocks noChangeArrowheads="1"/>
            </p:cNvSpPr>
            <p:nvPr/>
          </p:nvSpPr>
          <p:spPr bwMode="auto">
            <a:xfrm>
              <a:off x="4869" y="3571"/>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7725" name="Rectangle 122"/>
            <p:cNvSpPr>
              <a:spLocks noChangeArrowheads="1"/>
            </p:cNvSpPr>
            <p:nvPr/>
          </p:nvSpPr>
          <p:spPr bwMode="auto">
            <a:xfrm>
              <a:off x="4371" y="3571"/>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7726" name="Rectangle 123"/>
            <p:cNvSpPr>
              <a:spLocks noChangeArrowheads="1"/>
            </p:cNvSpPr>
            <p:nvPr/>
          </p:nvSpPr>
          <p:spPr bwMode="auto">
            <a:xfrm>
              <a:off x="3872" y="3571"/>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7727" name="Rectangle 124"/>
            <p:cNvSpPr>
              <a:spLocks noChangeArrowheads="1"/>
            </p:cNvSpPr>
            <p:nvPr/>
          </p:nvSpPr>
          <p:spPr bwMode="auto">
            <a:xfrm>
              <a:off x="3374" y="3571"/>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7728" name="Rectangle 125"/>
            <p:cNvSpPr>
              <a:spLocks noChangeArrowheads="1"/>
            </p:cNvSpPr>
            <p:nvPr/>
          </p:nvSpPr>
          <p:spPr bwMode="auto">
            <a:xfrm>
              <a:off x="4869" y="3147"/>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7729" name="Rectangle 128"/>
            <p:cNvSpPr>
              <a:spLocks noChangeArrowheads="1"/>
            </p:cNvSpPr>
            <p:nvPr/>
          </p:nvSpPr>
          <p:spPr bwMode="auto">
            <a:xfrm>
              <a:off x="3374" y="3147"/>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7730" name="Line 129"/>
            <p:cNvSpPr>
              <a:spLocks noChangeShapeType="1"/>
            </p:cNvSpPr>
            <p:nvPr/>
          </p:nvSpPr>
          <p:spPr bwMode="auto">
            <a:xfrm>
              <a:off x="5368" y="3147"/>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7731" name="Line 130"/>
            <p:cNvSpPr>
              <a:spLocks noChangeShapeType="1"/>
            </p:cNvSpPr>
            <p:nvPr/>
          </p:nvSpPr>
          <p:spPr bwMode="auto">
            <a:xfrm>
              <a:off x="3374" y="4015"/>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7732" name="Line 131"/>
            <p:cNvSpPr>
              <a:spLocks noChangeShapeType="1"/>
            </p:cNvSpPr>
            <p:nvPr/>
          </p:nvSpPr>
          <p:spPr bwMode="auto">
            <a:xfrm>
              <a:off x="3374" y="3147"/>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7733" name="Line 132"/>
            <p:cNvSpPr>
              <a:spLocks noChangeShapeType="1"/>
            </p:cNvSpPr>
            <p:nvPr/>
          </p:nvSpPr>
          <p:spPr bwMode="auto">
            <a:xfrm>
              <a:off x="3374" y="3147"/>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7734" name="Line 133"/>
            <p:cNvSpPr>
              <a:spLocks noChangeShapeType="1"/>
            </p:cNvSpPr>
            <p:nvPr/>
          </p:nvSpPr>
          <p:spPr bwMode="auto">
            <a:xfrm>
              <a:off x="3872" y="3147"/>
              <a:ext cx="0" cy="868"/>
            </a:xfrm>
            <a:prstGeom prst="line">
              <a:avLst/>
            </a:prstGeom>
            <a:noFill/>
            <a:ln w="12700">
              <a:solidFill>
                <a:schemeClr val="tx1"/>
              </a:solidFill>
              <a:round/>
              <a:headEnd type="none" w="med" len="lg"/>
              <a:tailEnd type="none" w="sm" len="sm"/>
            </a:ln>
          </p:spPr>
          <p:txBody>
            <a:bodyPr/>
            <a:lstStyle/>
            <a:p>
              <a:endParaRPr lang="en-US"/>
            </a:p>
          </p:txBody>
        </p:sp>
        <p:sp>
          <p:nvSpPr>
            <p:cNvPr id="27735" name="Line 134"/>
            <p:cNvSpPr>
              <a:spLocks noChangeShapeType="1"/>
            </p:cNvSpPr>
            <p:nvPr/>
          </p:nvSpPr>
          <p:spPr bwMode="auto">
            <a:xfrm>
              <a:off x="4371" y="3147"/>
              <a:ext cx="0" cy="868"/>
            </a:xfrm>
            <a:prstGeom prst="line">
              <a:avLst/>
            </a:prstGeom>
            <a:noFill/>
            <a:ln w="12700">
              <a:solidFill>
                <a:schemeClr val="tx1"/>
              </a:solidFill>
              <a:round/>
              <a:headEnd type="none" w="med" len="lg"/>
              <a:tailEnd type="none" w="sm" len="sm"/>
            </a:ln>
          </p:spPr>
          <p:txBody>
            <a:bodyPr/>
            <a:lstStyle/>
            <a:p>
              <a:endParaRPr lang="en-US"/>
            </a:p>
          </p:txBody>
        </p:sp>
        <p:sp>
          <p:nvSpPr>
            <p:cNvPr id="27736" name="Line 135"/>
            <p:cNvSpPr>
              <a:spLocks noChangeShapeType="1"/>
            </p:cNvSpPr>
            <p:nvPr/>
          </p:nvSpPr>
          <p:spPr bwMode="auto">
            <a:xfrm>
              <a:off x="4869" y="3147"/>
              <a:ext cx="0" cy="868"/>
            </a:xfrm>
            <a:prstGeom prst="line">
              <a:avLst/>
            </a:prstGeom>
            <a:noFill/>
            <a:ln w="12700">
              <a:solidFill>
                <a:schemeClr val="tx1"/>
              </a:solidFill>
              <a:round/>
              <a:headEnd type="none" w="med" len="lg"/>
              <a:tailEnd type="none" w="sm" len="sm"/>
            </a:ln>
          </p:spPr>
          <p:txBody>
            <a:bodyPr/>
            <a:lstStyle/>
            <a:p>
              <a:endParaRPr lang="en-US"/>
            </a:p>
          </p:txBody>
        </p:sp>
        <p:sp>
          <p:nvSpPr>
            <p:cNvPr id="27737" name="Line 136"/>
            <p:cNvSpPr>
              <a:spLocks noChangeShapeType="1"/>
            </p:cNvSpPr>
            <p:nvPr/>
          </p:nvSpPr>
          <p:spPr bwMode="auto">
            <a:xfrm>
              <a:off x="3374" y="3571"/>
              <a:ext cx="1994" cy="0"/>
            </a:xfrm>
            <a:prstGeom prst="line">
              <a:avLst/>
            </a:prstGeom>
            <a:noFill/>
            <a:ln w="12700">
              <a:solidFill>
                <a:schemeClr val="tx1"/>
              </a:solidFill>
              <a:round/>
              <a:headEnd type="none" w="med" len="lg"/>
              <a:tailEnd type="none" w="sm" len="sm"/>
            </a:ln>
          </p:spPr>
          <p:txBody>
            <a:bodyPr/>
            <a:lstStyle/>
            <a:p>
              <a:endParaRPr lang="en-US"/>
            </a:p>
          </p:txBody>
        </p:sp>
        <p:sp>
          <p:nvSpPr>
            <p:cNvPr id="27738" name="Rectangle 137"/>
            <p:cNvSpPr>
              <a:spLocks noChangeArrowheads="1"/>
            </p:cNvSpPr>
            <p:nvPr/>
          </p:nvSpPr>
          <p:spPr bwMode="auto">
            <a:xfrm>
              <a:off x="2882" y="3123"/>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11</a:t>
              </a:r>
            </a:p>
          </p:txBody>
        </p:sp>
        <p:sp>
          <p:nvSpPr>
            <p:cNvPr id="27739" name="Rectangle 138"/>
            <p:cNvSpPr>
              <a:spLocks noChangeArrowheads="1"/>
            </p:cNvSpPr>
            <p:nvPr/>
          </p:nvSpPr>
          <p:spPr bwMode="auto">
            <a:xfrm>
              <a:off x="2871" y="3543"/>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10</a:t>
              </a:r>
            </a:p>
          </p:txBody>
        </p:sp>
        <p:sp>
          <p:nvSpPr>
            <p:cNvPr id="27740" name="Rectangle 147"/>
            <p:cNvSpPr>
              <a:spLocks noChangeArrowheads="1"/>
            </p:cNvSpPr>
            <p:nvPr/>
          </p:nvSpPr>
          <p:spPr bwMode="auto">
            <a:xfrm>
              <a:off x="4366" y="2255"/>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7741" name="Rectangle 148"/>
            <p:cNvSpPr>
              <a:spLocks noChangeArrowheads="1"/>
            </p:cNvSpPr>
            <p:nvPr/>
          </p:nvSpPr>
          <p:spPr bwMode="auto">
            <a:xfrm>
              <a:off x="4372" y="3126"/>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7742" name="Rectangle 149"/>
            <p:cNvSpPr>
              <a:spLocks noChangeArrowheads="1"/>
            </p:cNvSpPr>
            <p:nvPr/>
          </p:nvSpPr>
          <p:spPr bwMode="auto">
            <a:xfrm>
              <a:off x="3879" y="3140"/>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grpSp>
      <p:sp>
        <p:nvSpPr>
          <p:cNvPr id="84154" name="Oval 186"/>
          <p:cNvSpPr>
            <a:spLocks noChangeArrowheads="1"/>
          </p:cNvSpPr>
          <p:nvPr/>
        </p:nvSpPr>
        <p:spPr bwMode="auto">
          <a:xfrm>
            <a:off x="8523289" y="3384551"/>
            <a:ext cx="630237" cy="3211513"/>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55" name="Oval 187"/>
          <p:cNvSpPr>
            <a:spLocks noChangeArrowheads="1"/>
          </p:cNvSpPr>
          <p:nvPr/>
        </p:nvSpPr>
        <p:spPr bwMode="auto">
          <a:xfrm>
            <a:off x="6870700" y="4972050"/>
            <a:ext cx="3328988" cy="698500"/>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56" name="Oval 188"/>
          <p:cNvSpPr>
            <a:spLocks noChangeArrowheads="1"/>
          </p:cNvSpPr>
          <p:nvPr/>
        </p:nvSpPr>
        <p:spPr bwMode="auto">
          <a:xfrm>
            <a:off x="8577263" y="3635375"/>
            <a:ext cx="544512"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58" name="Oval 190"/>
          <p:cNvSpPr>
            <a:spLocks noChangeArrowheads="1"/>
          </p:cNvSpPr>
          <p:nvPr/>
        </p:nvSpPr>
        <p:spPr bwMode="auto">
          <a:xfrm>
            <a:off x="8577263" y="4310064"/>
            <a:ext cx="544512"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59" name="Oval 191"/>
          <p:cNvSpPr>
            <a:spLocks noChangeArrowheads="1"/>
          </p:cNvSpPr>
          <p:nvPr/>
        </p:nvSpPr>
        <p:spPr bwMode="auto">
          <a:xfrm>
            <a:off x="8609013" y="5703889"/>
            <a:ext cx="544512"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60" name="Oval 192"/>
          <p:cNvSpPr>
            <a:spLocks noChangeArrowheads="1"/>
          </p:cNvSpPr>
          <p:nvPr/>
        </p:nvSpPr>
        <p:spPr bwMode="auto">
          <a:xfrm>
            <a:off x="8566151" y="5018089"/>
            <a:ext cx="544513" cy="598487"/>
          </a:xfrm>
          <a:prstGeom prst="ellipse">
            <a:avLst/>
          </a:prstGeom>
          <a:noFill/>
          <a:ln w="38100">
            <a:solidFill>
              <a:schemeClr val="hlink"/>
            </a:solidFill>
            <a:round/>
            <a:headEnd type="none" w="sm" len="sm"/>
            <a:tailEnd type="none" w="sm" len="sm"/>
          </a:ln>
        </p:spPr>
        <p:txBody>
          <a:bodyPr wrap="none" anchor="ctr"/>
          <a:lstStyle/>
          <a:p>
            <a:endParaRPr lang="en-US"/>
          </a:p>
        </p:txBody>
      </p:sp>
      <p:sp>
        <p:nvSpPr>
          <p:cNvPr id="84161" name="Oval 193"/>
          <p:cNvSpPr>
            <a:spLocks noChangeArrowheads="1"/>
          </p:cNvSpPr>
          <p:nvPr/>
        </p:nvSpPr>
        <p:spPr bwMode="auto">
          <a:xfrm>
            <a:off x="9383713" y="5016500"/>
            <a:ext cx="544512"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62" name="Oval 194"/>
          <p:cNvSpPr>
            <a:spLocks noChangeArrowheads="1"/>
          </p:cNvSpPr>
          <p:nvPr/>
        </p:nvSpPr>
        <p:spPr bwMode="auto">
          <a:xfrm>
            <a:off x="7793038" y="5040314"/>
            <a:ext cx="544512"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63" name="Oval 195"/>
          <p:cNvSpPr>
            <a:spLocks noChangeArrowheads="1"/>
          </p:cNvSpPr>
          <p:nvPr/>
        </p:nvSpPr>
        <p:spPr bwMode="auto">
          <a:xfrm>
            <a:off x="6977063" y="5029200"/>
            <a:ext cx="544512"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64" name="Oval 196"/>
          <p:cNvSpPr>
            <a:spLocks noChangeArrowheads="1"/>
          </p:cNvSpPr>
          <p:nvPr/>
        </p:nvSpPr>
        <p:spPr bwMode="auto">
          <a:xfrm>
            <a:off x="6988176" y="5040314"/>
            <a:ext cx="544513"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65" name="Oval 197"/>
          <p:cNvSpPr>
            <a:spLocks noChangeArrowheads="1"/>
          </p:cNvSpPr>
          <p:nvPr/>
        </p:nvSpPr>
        <p:spPr bwMode="auto">
          <a:xfrm>
            <a:off x="8599488" y="4311650"/>
            <a:ext cx="544512"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4166" name="Line 198"/>
          <p:cNvSpPr>
            <a:spLocks noChangeShapeType="1"/>
          </p:cNvSpPr>
          <p:nvPr/>
        </p:nvSpPr>
        <p:spPr bwMode="auto">
          <a:xfrm>
            <a:off x="5297070" y="3640472"/>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4167" name="Line 199"/>
          <p:cNvSpPr>
            <a:spLocks noChangeShapeType="1"/>
          </p:cNvSpPr>
          <p:nvPr/>
        </p:nvSpPr>
        <p:spPr bwMode="auto">
          <a:xfrm>
            <a:off x="2101599" y="4143543"/>
            <a:ext cx="165100" cy="0"/>
          </a:xfrm>
          <a:prstGeom prst="line">
            <a:avLst/>
          </a:prstGeom>
          <a:noFill/>
          <a:ln w="19050">
            <a:solidFill>
              <a:schemeClr val="tx1"/>
            </a:solidFill>
            <a:round/>
            <a:headEnd type="none" w="sm" len="sm"/>
            <a:tailEnd type="none" w="sm" len="sm"/>
          </a:ln>
        </p:spPr>
        <p:txBody>
          <a:bodyPr/>
          <a:lstStyle/>
          <a:p>
            <a:endParaRPr lang="en-US"/>
          </a:p>
        </p:txBody>
      </p:sp>
      <p:sp>
        <p:nvSpPr>
          <p:cNvPr id="84168" name="Line 200"/>
          <p:cNvSpPr>
            <a:spLocks noChangeShapeType="1"/>
          </p:cNvSpPr>
          <p:nvPr/>
        </p:nvSpPr>
        <p:spPr bwMode="auto">
          <a:xfrm>
            <a:off x="2535238" y="4188245"/>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69" name="Line 201"/>
          <p:cNvSpPr>
            <a:spLocks noChangeShapeType="1"/>
          </p:cNvSpPr>
          <p:nvPr/>
        </p:nvSpPr>
        <p:spPr bwMode="auto">
          <a:xfrm>
            <a:off x="2712786" y="4189832"/>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0" name="Line 202"/>
          <p:cNvSpPr>
            <a:spLocks noChangeShapeType="1"/>
          </p:cNvSpPr>
          <p:nvPr/>
        </p:nvSpPr>
        <p:spPr bwMode="auto">
          <a:xfrm>
            <a:off x="3123870" y="4146718"/>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1" name="Line 203"/>
          <p:cNvSpPr>
            <a:spLocks noChangeShapeType="1"/>
          </p:cNvSpPr>
          <p:nvPr/>
        </p:nvSpPr>
        <p:spPr bwMode="auto">
          <a:xfrm>
            <a:off x="3302503" y="4174124"/>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2" name="Line 204"/>
          <p:cNvSpPr>
            <a:spLocks noChangeShapeType="1"/>
          </p:cNvSpPr>
          <p:nvPr/>
        </p:nvSpPr>
        <p:spPr bwMode="auto">
          <a:xfrm>
            <a:off x="3750925" y="4183231"/>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3" name="Line 205"/>
          <p:cNvSpPr>
            <a:spLocks noChangeShapeType="1"/>
          </p:cNvSpPr>
          <p:nvPr/>
        </p:nvSpPr>
        <p:spPr bwMode="auto">
          <a:xfrm>
            <a:off x="3917699" y="4134018"/>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4" name="Line 206"/>
          <p:cNvSpPr>
            <a:spLocks noChangeShapeType="1"/>
          </p:cNvSpPr>
          <p:nvPr/>
        </p:nvSpPr>
        <p:spPr bwMode="auto">
          <a:xfrm>
            <a:off x="4359107" y="4157749"/>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5" name="Line 207"/>
          <p:cNvSpPr>
            <a:spLocks noChangeShapeType="1"/>
          </p:cNvSpPr>
          <p:nvPr/>
        </p:nvSpPr>
        <p:spPr bwMode="auto">
          <a:xfrm>
            <a:off x="4569827" y="4174124"/>
            <a:ext cx="82550" cy="0"/>
          </a:xfrm>
          <a:prstGeom prst="line">
            <a:avLst/>
          </a:prstGeom>
          <a:noFill/>
          <a:ln w="19050">
            <a:solidFill>
              <a:schemeClr val="tx1"/>
            </a:solidFill>
            <a:round/>
            <a:headEnd type="none" w="sm" len="sm"/>
            <a:tailEnd type="none" w="sm" len="sm"/>
          </a:ln>
        </p:spPr>
        <p:txBody>
          <a:bodyPr/>
          <a:lstStyle/>
          <a:p>
            <a:endParaRPr lang="en-US"/>
          </a:p>
        </p:txBody>
      </p:sp>
      <p:sp>
        <p:nvSpPr>
          <p:cNvPr id="84178" name="Oval 210"/>
          <p:cNvSpPr>
            <a:spLocks noChangeArrowheads="1"/>
          </p:cNvSpPr>
          <p:nvPr/>
        </p:nvSpPr>
        <p:spPr bwMode="auto">
          <a:xfrm>
            <a:off x="7812088" y="4348164"/>
            <a:ext cx="544512" cy="598487"/>
          </a:xfrm>
          <a:prstGeom prst="ellipse">
            <a:avLst/>
          </a:prstGeom>
          <a:noFill/>
          <a:ln w="38100">
            <a:solidFill>
              <a:srgbClr val="FFFF99"/>
            </a:solidFill>
            <a:round/>
            <a:headEnd type="none" w="sm" len="sm"/>
            <a:tailEnd type="none" w="sm" len="sm"/>
          </a:ln>
        </p:spPr>
        <p:txBody>
          <a:bodyPr wrap="none" anchor="ctr"/>
          <a:lstStyle/>
          <a:p>
            <a:endParaRPr lang="en-US"/>
          </a:p>
        </p:txBody>
      </p:sp>
      <p:sp>
        <p:nvSpPr>
          <p:cNvPr id="84179" name="Oval 211"/>
          <p:cNvSpPr>
            <a:spLocks noChangeArrowheads="1"/>
          </p:cNvSpPr>
          <p:nvPr/>
        </p:nvSpPr>
        <p:spPr bwMode="auto">
          <a:xfrm>
            <a:off x="9375776" y="4348164"/>
            <a:ext cx="544513" cy="598487"/>
          </a:xfrm>
          <a:prstGeom prst="ellipse">
            <a:avLst/>
          </a:prstGeom>
          <a:noFill/>
          <a:ln w="38100">
            <a:solidFill>
              <a:srgbClr val="FFFF99"/>
            </a:solidFill>
            <a:round/>
            <a:headEnd type="none" w="sm" len="sm"/>
            <a:tailEnd type="none" w="sm" len="sm"/>
          </a:ln>
        </p:spPr>
        <p:txBody>
          <a:bodyPr wrap="none" anchor="ctr"/>
          <a:lstStyle/>
          <a:p>
            <a:endParaRPr lang="en-US"/>
          </a:p>
        </p:txBody>
      </p:sp>
      <p:sp>
        <p:nvSpPr>
          <p:cNvPr id="84180" name="Oval 212"/>
          <p:cNvSpPr>
            <a:spLocks noChangeArrowheads="1"/>
          </p:cNvSpPr>
          <p:nvPr/>
        </p:nvSpPr>
        <p:spPr bwMode="auto">
          <a:xfrm>
            <a:off x="9391651" y="5727700"/>
            <a:ext cx="544513" cy="598488"/>
          </a:xfrm>
          <a:prstGeom prst="ellipse">
            <a:avLst/>
          </a:prstGeom>
          <a:noFill/>
          <a:ln w="38100">
            <a:solidFill>
              <a:srgbClr val="FFFF99"/>
            </a:solidFill>
            <a:round/>
            <a:headEnd type="none" w="sm" len="sm"/>
            <a:tailEnd type="none" w="sm" len="sm"/>
          </a:ln>
        </p:spPr>
        <p:txBody>
          <a:bodyPr wrap="none" anchor="ctr"/>
          <a:lstStyle/>
          <a:p>
            <a:endParaRPr lang="en-US"/>
          </a:p>
        </p:txBody>
      </p:sp>
      <p:sp>
        <p:nvSpPr>
          <p:cNvPr id="84181" name="Oval 213"/>
          <p:cNvSpPr>
            <a:spLocks noChangeArrowheads="1"/>
          </p:cNvSpPr>
          <p:nvPr/>
        </p:nvSpPr>
        <p:spPr bwMode="auto">
          <a:xfrm>
            <a:off x="7845426" y="5727700"/>
            <a:ext cx="544513" cy="598488"/>
          </a:xfrm>
          <a:prstGeom prst="ellipse">
            <a:avLst/>
          </a:prstGeom>
          <a:noFill/>
          <a:ln w="38100">
            <a:solidFill>
              <a:srgbClr val="FFFF99"/>
            </a:solidFill>
            <a:round/>
            <a:headEnd type="none" w="sm" len="sm"/>
            <a:tailEnd type="none" w="sm" len="sm"/>
          </a:ln>
        </p:spPr>
        <p:txBody>
          <a:bodyPr wrap="none" anchor="ctr"/>
          <a:lstStyle/>
          <a:p>
            <a:endParaRPr lang="en-US"/>
          </a:p>
        </p:txBody>
      </p:sp>
      <p:sp>
        <p:nvSpPr>
          <p:cNvPr id="84183" name="Oval 215"/>
          <p:cNvSpPr>
            <a:spLocks noChangeArrowheads="1"/>
          </p:cNvSpPr>
          <p:nvPr/>
        </p:nvSpPr>
        <p:spPr bwMode="auto">
          <a:xfrm>
            <a:off x="6942139" y="3616325"/>
            <a:ext cx="1455737" cy="1379538"/>
          </a:xfrm>
          <a:prstGeom prst="ellipse">
            <a:avLst/>
          </a:prstGeom>
          <a:noFill/>
          <a:ln w="38100">
            <a:solidFill>
              <a:srgbClr val="008000"/>
            </a:solidFill>
            <a:round/>
            <a:headEnd type="none" w="sm" len="sm"/>
            <a:tailEnd type="none" w="sm" len="sm"/>
          </a:ln>
        </p:spPr>
        <p:txBody>
          <a:bodyPr wrap="none" anchor="ctr"/>
          <a:lstStyle/>
          <a:p>
            <a:endParaRPr lang="en-US"/>
          </a:p>
        </p:txBody>
      </p:sp>
      <p:sp>
        <p:nvSpPr>
          <p:cNvPr id="84185" name="Freeform 217"/>
          <p:cNvSpPr>
            <a:spLocks/>
          </p:cNvSpPr>
          <p:nvPr/>
        </p:nvSpPr>
        <p:spPr bwMode="auto">
          <a:xfrm>
            <a:off x="6827838" y="5661025"/>
            <a:ext cx="1617662" cy="1104900"/>
          </a:xfrm>
          <a:custGeom>
            <a:avLst/>
            <a:gdLst>
              <a:gd name="T0" fmla="*/ 2147483647 w 1019"/>
              <a:gd name="T1" fmla="*/ 2147483647 h 696"/>
              <a:gd name="T2" fmla="*/ 2147483647 w 1019"/>
              <a:gd name="T3" fmla="*/ 2147483647 h 696"/>
              <a:gd name="T4" fmla="*/ 2147483647 w 1019"/>
              <a:gd name="T5" fmla="*/ 2147483647 h 696"/>
              <a:gd name="T6" fmla="*/ 2147483647 w 1019"/>
              <a:gd name="T7" fmla="*/ 2147483647 h 696"/>
              <a:gd name="T8" fmla="*/ 0 60000 65536"/>
              <a:gd name="T9" fmla="*/ 0 60000 65536"/>
              <a:gd name="T10" fmla="*/ 0 60000 65536"/>
              <a:gd name="T11" fmla="*/ 0 60000 65536"/>
              <a:gd name="T12" fmla="*/ 0 w 1019"/>
              <a:gd name="T13" fmla="*/ 0 h 696"/>
              <a:gd name="T14" fmla="*/ 1019 w 1019"/>
              <a:gd name="T15" fmla="*/ 696 h 696"/>
            </a:gdLst>
            <a:ahLst/>
            <a:cxnLst>
              <a:cxn ang="T8">
                <a:pos x="T0" y="T1"/>
              </a:cxn>
              <a:cxn ang="T9">
                <a:pos x="T2" y="T3"/>
              </a:cxn>
              <a:cxn ang="T10">
                <a:pos x="T4" y="T5"/>
              </a:cxn>
              <a:cxn ang="T11">
                <a:pos x="T6" y="T7"/>
              </a:cxn>
            </a:cxnLst>
            <a:rect l="T12" t="T13" r="T14" b="T15"/>
            <a:pathLst>
              <a:path w="1019" h="696">
                <a:moveTo>
                  <a:pt x="63" y="696"/>
                </a:moveTo>
                <a:cubicBezTo>
                  <a:pt x="75" y="597"/>
                  <a:pt x="0" y="198"/>
                  <a:pt x="136" y="99"/>
                </a:cubicBezTo>
                <a:cubicBezTo>
                  <a:pt x="272" y="0"/>
                  <a:pt x="741" y="1"/>
                  <a:pt x="880" y="99"/>
                </a:cubicBezTo>
                <a:cubicBezTo>
                  <a:pt x="1019" y="197"/>
                  <a:pt x="951" y="564"/>
                  <a:pt x="969" y="686"/>
                </a:cubicBezTo>
              </a:path>
            </a:pathLst>
          </a:custGeom>
          <a:noFill/>
          <a:ln w="38100">
            <a:solidFill>
              <a:srgbClr val="808000"/>
            </a:solidFill>
            <a:round/>
            <a:headEnd type="none" w="sm" len="sm"/>
            <a:tailEnd type="none" w="sm" len="sm"/>
          </a:ln>
        </p:spPr>
        <p:txBody>
          <a:bodyPr/>
          <a:lstStyle/>
          <a:p>
            <a:endParaRPr lang="en-US"/>
          </a:p>
        </p:txBody>
      </p:sp>
      <p:sp>
        <p:nvSpPr>
          <p:cNvPr id="84186" name="Freeform 218"/>
          <p:cNvSpPr>
            <a:spLocks/>
          </p:cNvSpPr>
          <p:nvPr/>
        </p:nvSpPr>
        <p:spPr bwMode="auto">
          <a:xfrm>
            <a:off x="6921500" y="3117851"/>
            <a:ext cx="1538288" cy="1196975"/>
          </a:xfrm>
          <a:custGeom>
            <a:avLst/>
            <a:gdLst>
              <a:gd name="T0" fmla="*/ 2147483647 w 969"/>
              <a:gd name="T1" fmla="*/ 0 h 754"/>
              <a:gd name="T2" fmla="*/ 2147483647 w 969"/>
              <a:gd name="T3" fmla="*/ 2147483647 h 754"/>
              <a:gd name="T4" fmla="*/ 2147483647 w 969"/>
              <a:gd name="T5" fmla="*/ 2147483647 h 754"/>
              <a:gd name="T6" fmla="*/ 2147483647 w 969"/>
              <a:gd name="T7" fmla="*/ 2147483647 h 754"/>
              <a:gd name="T8" fmla="*/ 0 60000 65536"/>
              <a:gd name="T9" fmla="*/ 0 60000 65536"/>
              <a:gd name="T10" fmla="*/ 0 60000 65536"/>
              <a:gd name="T11" fmla="*/ 0 60000 65536"/>
              <a:gd name="T12" fmla="*/ 0 w 969"/>
              <a:gd name="T13" fmla="*/ 0 h 754"/>
              <a:gd name="T14" fmla="*/ 969 w 969"/>
              <a:gd name="T15" fmla="*/ 754 h 754"/>
            </a:gdLst>
            <a:ahLst/>
            <a:cxnLst>
              <a:cxn ang="T8">
                <a:pos x="T0" y="T1"/>
              </a:cxn>
              <a:cxn ang="T9">
                <a:pos x="T2" y="T3"/>
              </a:cxn>
              <a:cxn ang="T10">
                <a:pos x="T4" y="T5"/>
              </a:cxn>
              <a:cxn ang="T11">
                <a:pos x="T6" y="T7"/>
              </a:cxn>
            </a:cxnLst>
            <a:rect l="T12" t="T13" r="T14" b="T15"/>
            <a:pathLst>
              <a:path w="969" h="754">
                <a:moveTo>
                  <a:pt x="27" y="0"/>
                </a:moveTo>
                <a:cubicBezTo>
                  <a:pt x="45" y="106"/>
                  <a:pt x="0" y="530"/>
                  <a:pt x="135" y="638"/>
                </a:cubicBezTo>
                <a:cubicBezTo>
                  <a:pt x="270" y="746"/>
                  <a:pt x="703" y="754"/>
                  <a:pt x="836" y="649"/>
                </a:cubicBezTo>
                <a:cubicBezTo>
                  <a:pt x="969" y="544"/>
                  <a:pt x="913" y="143"/>
                  <a:pt x="933" y="10"/>
                </a:cubicBezTo>
              </a:path>
            </a:pathLst>
          </a:custGeom>
          <a:noFill/>
          <a:ln w="38100">
            <a:solidFill>
              <a:srgbClr val="808000"/>
            </a:solidFill>
            <a:round/>
            <a:headEnd type="none" w="sm" len="sm"/>
            <a:tailEnd type="none" w="sm" len="sm"/>
          </a:ln>
        </p:spPr>
        <p:txBody>
          <a:bodyPr/>
          <a:lstStyle/>
          <a:p>
            <a:endParaRPr lang="en-US"/>
          </a:p>
        </p:txBody>
      </p:sp>
      <p:sp>
        <p:nvSpPr>
          <p:cNvPr id="84187" name="Freeform 219"/>
          <p:cNvSpPr>
            <a:spLocks/>
          </p:cNvSpPr>
          <p:nvPr/>
        </p:nvSpPr>
        <p:spPr bwMode="auto">
          <a:xfrm>
            <a:off x="6494463" y="3554413"/>
            <a:ext cx="1206500" cy="1528762"/>
          </a:xfrm>
          <a:custGeom>
            <a:avLst/>
            <a:gdLst>
              <a:gd name="T0" fmla="*/ 2147483647 w 760"/>
              <a:gd name="T1" fmla="*/ 2147483647 h 963"/>
              <a:gd name="T2" fmla="*/ 2147483647 w 760"/>
              <a:gd name="T3" fmla="*/ 2147483647 h 963"/>
              <a:gd name="T4" fmla="*/ 2147483647 w 760"/>
              <a:gd name="T5" fmla="*/ 2147483647 h 963"/>
              <a:gd name="T6" fmla="*/ 0 w 760"/>
              <a:gd name="T7" fmla="*/ 2147483647 h 963"/>
              <a:gd name="T8" fmla="*/ 0 60000 65536"/>
              <a:gd name="T9" fmla="*/ 0 60000 65536"/>
              <a:gd name="T10" fmla="*/ 0 60000 65536"/>
              <a:gd name="T11" fmla="*/ 0 60000 65536"/>
              <a:gd name="T12" fmla="*/ 0 w 760"/>
              <a:gd name="T13" fmla="*/ 0 h 963"/>
              <a:gd name="T14" fmla="*/ 760 w 760"/>
              <a:gd name="T15" fmla="*/ 963 h 963"/>
            </a:gdLst>
            <a:ahLst/>
            <a:cxnLst>
              <a:cxn ang="T8">
                <a:pos x="T0" y="T1"/>
              </a:cxn>
              <a:cxn ang="T9">
                <a:pos x="T2" y="T3"/>
              </a:cxn>
              <a:cxn ang="T10">
                <a:pos x="T4" y="T5"/>
              </a:cxn>
              <a:cxn ang="T11">
                <a:pos x="T6" y="T7"/>
              </a:cxn>
            </a:cxnLst>
            <a:rect l="T12" t="T13" r="T14" b="T15"/>
            <a:pathLst>
              <a:path w="760" h="963">
                <a:moveTo>
                  <a:pt x="2" y="898"/>
                </a:moveTo>
                <a:cubicBezTo>
                  <a:pt x="111" y="888"/>
                  <a:pt x="550" y="963"/>
                  <a:pt x="655" y="835"/>
                </a:cubicBezTo>
                <a:cubicBezTo>
                  <a:pt x="760" y="707"/>
                  <a:pt x="743" y="256"/>
                  <a:pt x="634" y="128"/>
                </a:cubicBezTo>
                <a:cubicBezTo>
                  <a:pt x="525" y="0"/>
                  <a:pt x="132" y="78"/>
                  <a:pt x="0" y="65"/>
                </a:cubicBezTo>
              </a:path>
            </a:pathLst>
          </a:custGeom>
          <a:noFill/>
          <a:ln w="38100">
            <a:solidFill>
              <a:srgbClr val="008080"/>
            </a:solidFill>
            <a:round/>
            <a:headEnd type="none" w="sm" len="sm"/>
            <a:tailEnd type="none" w="sm" len="sm"/>
          </a:ln>
        </p:spPr>
        <p:txBody>
          <a:bodyPr/>
          <a:lstStyle/>
          <a:p>
            <a:endParaRPr lang="en-US"/>
          </a:p>
        </p:txBody>
      </p:sp>
      <p:sp>
        <p:nvSpPr>
          <p:cNvPr id="84188" name="Freeform 220"/>
          <p:cNvSpPr>
            <a:spLocks/>
          </p:cNvSpPr>
          <p:nvPr/>
        </p:nvSpPr>
        <p:spPr bwMode="auto">
          <a:xfrm>
            <a:off x="9199564" y="3590925"/>
            <a:ext cx="1330325" cy="1455738"/>
          </a:xfrm>
          <a:custGeom>
            <a:avLst/>
            <a:gdLst>
              <a:gd name="T0" fmla="*/ 2147483647 w 838"/>
              <a:gd name="T1" fmla="*/ 2147483647 h 917"/>
              <a:gd name="T2" fmla="*/ 2147483647 w 838"/>
              <a:gd name="T3" fmla="*/ 2147483647 h 917"/>
              <a:gd name="T4" fmla="*/ 2147483647 w 838"/>
              <a:gd name="T5" fmla="*/ 2147483647 h 917"/>
              <a:gd name="T6" fmla="*/ 2147483647 w 838"/>
              <a:gd name="T7" fmla="*/ 2147483647 h 917"/>
              <a:gd name="T8" fmla="*/ 2147483647 w 838"/>
              <a:gd name="T9" fmla="*/ 2147483647 h 917"/>
              <a:gd name="T10" fmla="*/ 0 60000 65536"/>
              <a:gd name="T11" fmla="*/ 0 60000 65536"/>
              <a:gd name="T12" fmla="*/ 0 60000 65536"/>
              <a:gd name="T13" fmla="*/ 0 60000 65536"/>
              <a:gd name="T14" fmla="*/ 0 60000 65536"/>
              <a:gd name="T15" fmla="*/ 0 w 838"/>
              <a:gd name="T16" fmla="*/ 0 h 917"/>
              <a:gd name="T17" fmla="*/ 838 w 838"/>
              <a:gd name="T18" fmla="*/ 917 h 917"/>
            </a:gdLst>
            <a:ahLst/>
            <a:cxnLst>
              <a:cxn ang="T10">
                <a:pos x="T0" y="T1"/>
              </a:cxn>
              <a:cxn ang="T11">
                <a:pos x="T2" y="T3"/>
              </a:cxn>
              <a:cxn ang="T12">
                <a:pos x="T4" y="T5"/>
              </a:cxn>
              <a:cxn ang="T13">
                <a:pos x="T6" y="T7"/>
              </a:cxn>
              <a:cxn ang="T14">
                <a:pos x="T8" y="T9"/>
              </a:cxn>
            </a:cxnLst>
            <a:rect l="T15" t="T16" r="T17" b="T18"/>
            <a:pathLst>
              <a:path w="838" h="917">
                <a:moveTo>
                  <a:pt x="746" y="887"/>
                </a:moveTo>
                <a:cubicBezTo>
                  <a:pt x="744" y="882"/>
                  <a:pt x="838" y="869"/>
                  <a:pt x="736" y="854"/>
                </a:cubicBezTo>
                <a:cubicBezTo>
                  <a:pt x="634" y="839"/>
                  <a:pt x="240" y="917"/>
                  <a:pt x="134" y="796"/>
                </a:cubicBezTo>
                <a:cubicBezTo>
                  <a:pt x="28" y="675"/>
                  <a:pt x="0" y="252"/>
                  <a:pt x="98" y="126"/>
                </a:cubicBezTo>
                <a:cubicBezTo>
                  <a:pt x="196" y="0"/>
                  <a:pt x="591" y="56"/>
                  <a:pt x="721" y="37"/>
                </a:cubicBezTo>
              </a:path>
            </a:pathLst>
          </a:custGeom>
          <a:noFill/>
          <a:ln w="38100">
            <a:solidFill>
              <a:srgbClr val="008080"/>
            </a:solidFill>
            <a:round/>
            <a:headEnd type="none" w="sm" len="sm"/>
            <a:tailEnd type="none" w="sm" len="sm"/>
          </a:ln>
        </p:spPr>
        <p:txBody>
          <a:bodyPr/>
          <a:lstStyle/>
          <a:p>
            <a:endParaRPr lang="en-US"/>
          </a:p>
        </p:txBody>
      </p:sp>
      <p:sp>
        <p:nvSpPr>
          <p:cNvPr id="84190" name="Freeform 222"/>
          <p:cNvSpPr>
            <a:spLocks/>
          </p:cNvSpPr>
          <p:nvPr/>
        </p:nvSpPr>
        <p:spPr bwMode="auto">
          <a:xfrm>
            <a:off x="9242426" y="5632451"/>
            <a:ext cx="993775" cy="1058863"/>
          </a:xfrm>
          <a:custGeom>
            <a:avLst/>
            <a:gdLst>
              <a:gd name="T0" fmla="*/ 2147483647 w 626"/>
              <a:gd name="T1" fmla="*/ 2147483647 h 667"/>
              <a:gd name="T2" fmla="*/ 2147483647 w 626"/>
              <a:gd name="T3" fmla="*/ 2147483647 h 667"/>
              <a:gd name="T4" fmla="*/ 2147483647 w 626"/>
              <a:gd name="T5" fmla="*/ 2147483647 h 667"/>
              <a:gd name="T6" fmla="*/ 0 60000 65536"/>
              <a:gd name="T7" fmla="*/ 0 60000 65536"/>
              <a:gd name="T8" fmla="*/ 0 60000 65536"/>
              <a:gd name="T9" fmla="*/ 0 w 626"/>
              <a:gd name="T10" fmla="*/ 0 h 667"/>
              <a:gd name="T11" fmla="*/ 626 w 626"/>
              <a:gd name="T12" fmla="*/ 667 h 667"/>
            </a:gdLst>
            <a:ahLst/>
            <a:cxnLst>
              <a:cxn ang="T6">
                <a:pos x="T0" y="T1"/>
              </a:cxn>
              <a:cxn ang="T7">
                <a:pos x="T2" y="T3"/>
              </a:cxn>
              <a:cxn ang="T8">
                <a:pos x="T4" y="T5"/>
              </a:cxn>
            </a:cxnLst>
            <a:rect l="T9" t="T10" r="T11" b="T12"/>
            <a:pathLst>
              <a:path w="626" h="667">
                <a:moveTo>
                  <a:pt x="71" y="667"/>
                </a:moveTo>
                <a:cubicBezTo>
                  <a:pt x="74" y="573"/>
                  <a:pt x="0" y="204"/>
                  <a:pt x="92" y="102"/>
                </a:cubicBezTo>
                <a:cubicBezTo>
                  <a:pt x="184" y="0"/>
                  <a:pt x="515" y="65"/>
                  <a:pt x="626" y="55"/>
                </a:cubicBezTo>
              </a:path>
            </a:pathLst>
          </a:custGeom>
          <a:noFill/>
          <a:ln w="38100">
            <a:solidFill>
              <a:srgbClr val="00FF00"/>
            </a:solidFill>
            <a:round/>
            <a:headEnd type="none" w="sm" len="sm"/>
            <a:tailEnd type="none" w="sm" len="sm"/>
          </a:ln>
        </p:spPr>
        <p:txBody>
          <a:bodyPr/>
          <a:lstStyle/>
          <a:p>
            <a:endParaRPr lang="en-US"/>
          </a:p>
        </p:txBody>
      </p:sp>
      <p:sp>
        <p:nvSpPr>
          <p:cNvPr id="84191" name="Freeform 223"/>
          <p:cNvSpPr>
            <a:spLocks/>
          </p:cNvSpPr>
          <p:nvPr/>
        </p:nvSpPr>
        <p:spPr bwMode="auto">
          <a:xfrm>
            <a:off x="6553200" y="3267076"/>
            <a:ext cx="1143000" cy="1039813"/>
          </a:xfrm>
          <a:custGeom>
            <a:avLst/>
            <a:gdLst>
              <a:gd name="T0" fmla="*/ 0 w 720"/>
              <a:gd name="T1" fmla="*/ 2147483647 h 655"/>
              <a:gd name="T2" fmla="*/ 2147483647 w 720"/>
              <a:gd name="T3" fmla="*/ 2147483647 h 655"/>
              <a:gd name="T4" fmla="*/ 2147483647 w 720"/>
              <a:gd name="T5" fmla="*/ 0 h 655"/>
              <a:gd name="T6" fmla="*/ 0 60000 65536"/>
              <a:gd name="T7" fmla="*/ 0 60000 65536"/>
              <a:gd name="T8" fmla="*/ 0 60000 65536"/>
              <a:gd name="T9" fmla="*/ 0 w 720"/>
              <a:gd name="T10" fmla="*/ 0 h 655"/>
              <a:gd name="T11" fmla="*/ 720 w 720"/>
              <a:gd name="T12" fmla="*/ 655 h 655"/>
            </a:gdLst>
            <a:ahLst/>
            <a:cxnLst>
              <a:cxn ang="T6">
                <a:pos x="T0" y="T1"/>
              </a:cxn>
              <a:cxn ang="T7">
                <a:pos x="T2" y="T3"/>
              </a:cxn>
              <a:cxn ang="T8">
                <a:pos x="T4" y="T5"/>
              </a:cxn>
            </a:cxnLst>
            <a:rect l="T9" t="T10" r="T11" b="T12"/>
            <a:pathLst>
              <a:path w="720" h="655">
                <a:moveTo>
                  <a:pt x="0" y="602"/>
                </a:moveTo>
                <a:cubicBezTo>
                  <a:pt x="101" y="594"/>
                  <a:pt x="494" y="655"/>
                  <a:pt x="607" y="555"/>
                </a:cubicBezTo>
                <a:cubicBezTo>
                  <a:pt x="720" y="455"/>
                  <a:pt x="661" y="116"/>
                  <a:pt x="675" y="0"/>
                </a:cubicBezTo>
              </a:path>
            </a:pathLst>
          </a:custGeom>
          <a:noFill/>
          <a:ln w="38100">
            <a:solidFill>
              <a:srgbClr val="00FF00"/>
            </a:solidFill>
            <a:round/>
            <a:headEnd type="none" w="sm" len="sm"/>
            <a:tailEnd type="none" w="sm" len="sm"/>
          </a:ln>
        </p:spPr>
        <p:txBody>
          <a:bodyPr/>
          <a:lstStyle/>
          <a:p>
            <a:endParaRPr lang="en-US"/>
          </a:p>
        </p:txBody>
      </p:sp>
      <p:sp>
        <p:nvSpPr>
          <p:cNvPr id="84192" name="Freeform 224"/>
          <p:cNvSpPr>
            <a:spLocks/>
          </p:cNvSpPr>
          <p:nvPr/>
        </p:nvSpPr>
        <p:spPr bwMode="auto">
          <a:xfrm>
            <a:off x="6569076" y="5630864"/>
            <a:ext cx="1096963" cy="1093787"/>
          </a:xfrm>
          <a:custGeom>
            <a:avLst/>
            <a:gdLst>
              <a:gd name="T0" fmla="*/ 0 w 691"/>
              <a:gd name="T1" fmla="*/ 2147483647 h 689"/>
              <a:gd name="T2" fmla="*/ 2147483647 w 691"/>
              <a:gd name="T3" fmla="*/ 2147483647 h 689"/>
              <a:gd name="T4" fmla="*/ 2147483647 w 691"/>
              <a:gd name="T5" fmla="*/ 2147483647 h 689"/>
              <a:gd name="T6" fmla="*/ 0 60000 65536"/>
              <a:gd name="T7" fmla="*/ 0 60000 65536"/>
              <a:gd name="T8" fmla="*/ 0 60000 65536"/>
              <a:gd name="T9" fmla="*/ 0 w 691"/>
              <a:gd name="T10" fmla="*/ 0 h 689"/>
              <a:gd name="T11" fmla="*/ 691 w 691"/>
              <a:gd name="T12" fmla="*/ 689 h 689"/>
            </a:gdLst>
            <a:ahLst/>
            <a:cxnLst>
              <a:cxn ang="T6">
                <a:pos x="T0" y="T1"/>
              </a:cxn>
              <a:cxn ang="T7">
                <a:pos x="T2" y="T3"/>
              </a:cxn>
              <a:cxn ang="T8">
                <a:pos x="T4" y="T5"/>
              </a:cxn>
            </a:cxnLst>
            <a:rect l="T9" t="T10" r="T11" b="T12"/>
            <a:pathLst>
              <a:path w="691" h="689">
                <a:moveTo>
                  <a:pt x="0" y="82"/>
                </a:moveTo>
                <a:cubicBezTo>
                  <a:pt x="96" y="84"/>
                  <a:pt x="467" y="0"/>
                  <a:pt x="579" y="101"/>
                </a:cubicBezTo>
                <a:cubicBezTo>
                  <a:pt x="691" y="202"/>
                  <a:pt x="652" y="567"/>
                  <a:pt x="671" y="689"/>
                </a:cubicBezTo>
              </a:path>
            </a:pathLst>
          </a:custGeom>
          <a:noFill/>
          <a:ln w="38100">
            <a:solidFill>
              <a:srgbClr val="00FF00"/>
            </a:solidFill>
            <a:round/>
            <a:headEnd type="none" w="sm" len="sm"/>
            <a:tailEnd type="none" w="sm" len="sm"/>
          </a:ln>
        </p:spPr>
        <p:txBody>
          <a:bodyPr/>
          <a:lstStyle/>
          <a:p>
            <a:endParaRPr lang="en-US"/>
          </a:p>
        </p:txBody>
      </p:sp>
      <p:sp>
        <p:nvSpPr>
          <p:cNvPr id="84193" name="Freeform 225"/>
          <p:cNvSpPr>
            <a:spLocks/>
          </p:cNvSpPr>
          <p:nvPr/>
        </p:nvSpPr>
        <p:spPr bwMode="auto">
          <a:xfrm>
            <a:off x="9271000" y="3184525"/>
            <a:ext cx="1130300" cy="1138238"/>
          </a:xfrm>
          <a:custGeom>
            <a:avLst/>
            <a:gdLst>
              <a:gd name="T0" fmla="*/ 2147483647 w 712"/>
              <a:gd name="T1" fmla="*/ 2147483647 h 717"/>
              <a:gd name="T2" fmla="*/ 2147483647 w 712"/>
              <a:gd name="T3" fmla="*/ 2147483647 h 717"/>
              <a:gd name="T4" fmla="*/ 2147483647 w 712"/>
              <a:gd name="T5" fmla="*/ 0 h 717"/>
              <a:gd name="T6" fmla="*/ 0 60000 65536"/>
              <a:gd name="T7" fmla="*/ 0 60000 65536"/>
              <a:gd name="T8" fmla="*/ 0 60000 65536"/>
              <a:gd name="T9" fmla="*/ 0 w 712"/>
              <a:gd name="T10" fmla="*/ 0 h 717"/>
              <a:gd name="T11" fmla="*/ 712 w 712"/>
              <a:gd name="T12" fmla="*/ 717 h 717"/>
            </a:gdLst>
            <a:ahLst/>
            <a:cxnLst>
              <a:cxn ang="T6">
                <a:pos x="T0" y="T1"/>
              </a:cxn>
              <a:cxn ang="T7">
                <a:pos x="T2" y="T3"/>
              </a:cxn>
              <a:cxn ang="T8">
                <a:pos x="T4" y="T5"/>
              </a:cxn>
            </a:cxnLst>
            <a:rect l="T9" t="T10" r="T11" b="T12"/>
            <a:pathLst>
              <a:path w="712" h="717">
                <a:moveTo>
                  <a:pt x="712" y="659"/>
                </a:moveTo>
                <a:cubicBezTo>
                  <a:pt x="612" y="650"/>
                  <a:pt x="220" y="717"/>
                  <a:pt x="110" y="607"/>
                </a:cubicBezTo>
                <a:cubicBezTo>
                  <a:pt x="0" y="497"/>
                  <a:pt x="65" y="126"/>
                  <a:pt x="53" y="0"/>
                </a:cubicBezTo>
              </a:path>
            </a:pathLst>
          </a:custGeom>
          <a:noFill/>
          <a:ln w="38100">
            <a:solidFill>
              <a:srgbClr val="00FF00"/>
            </a:solidFill>
            <a:round/>
            <a:headEnd type="none" w="sm" len="sm"/>
            <a:tailEnd type="none" w="sm" len="sm"/>
          </a:ln>
        </p:spPr>
        <p:txBody>
          <a:bodyPr/>
          <a:lstStyle/>
          <a:p>
            <a:endParaRPr lang="en-US"/>
          </a:p>
        </p:txBody>
      </p:sp>
      <p:sp>
        <p:nvSpPr>
          <p:cNvPr id="27689" name="Slide Number Placeholder 95"/>
          <p:cNvSpPr>
            <a:spLocks noGrp="1"/>
          </p:cNvSpPr>
          <p:nvPr>
            <p:ph type="sldNum" sz="quarter" idx="12"/>
          </p:nvPr>
        </p:nvSpPr>
        <p:spPr>
          <a:noFill/>
        </p:spPr>
        <p:txBody>
          <a:bodyPr/>
          <a:lstStyle/>
          <a:p>
            <a:fld id="{04A9E202-8324-4D0D-B4CE-A87CDBA80E87}" type="slidenum">
              <a:rPr lang="en-US" smtClean="0">
                <a:latin typeface="Arial" charset="0"/>
                <a:cs typeface="Arial" charset="0"/>
              </a:rPr>
              <a:pPr/>
              <a:t>21</a:t>
            </a:fld>
            <a:endParaRPr lang="en-US">
              <a:latin typeface="Arial" charset="0"/>
              <a:cs typeface="Arial" charset="0"/>
            </a:endParaRPr>
          </a:p>
        </p:txBody>
      </p:sp>
      <p:sp>
        <p:nvSpPr>
          <p:cNvPr id="4" name="矩形 3"/>
          <p:cNvSpPr/>
          <p:nvPr/>
        </p:nvSpPr>
        <p:spPr>
          <a:xfrm>
            <a:off x="1970881" y="5325141"/>
            <a:ext cx="4572000" cy="707886"/>
          </a:xfrm>
          <a:prstGeom prst="rect">
            <a:avLst/>
          </a:prstGeom>
        </p:spPr>
        <p:txBody>
          <a:bodyPr>
            <a:spAutoFit/>
          </a:bodyPr>
          <a:lstStyle/>
          <a:p>
            <a:r>
              <a:rPr lang="zh-CN" altLang="en-US" dirty="0"/>
              <a:t>Unique true points are simply true points covered by a single rectangle.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4155"/>
                                        </p:tgtEl>
                                        <p:attrNameLst>
                                          <p:attrName>style.visibility</p:attrName>
                                        </p:attrNameLst>
                                      </p:cBhvr>
                                      <p:to>
                                        <p:strVal val="visible"/>
                                      </p:to>
                                    </p:set>
                                    <p:animEffect transition="in" filter="blinds(horizontal)">
                                      <p:cBhvr>
                                        <p:cTn id="7" dur="500"/>
                                        <p:tgtEl>
                                          <p:spTgt spid="84155"/>
                                        </p:tgtEl>
                                      </p:cBhvr>
                                    </p:animEffect>
                                  </p:childTnLst>
                                  <p:subTnLst>
                                    <p:set>
                                      <p:cBhvr override="childStyle">
                                        <p:cTn dur="1" fill="hold" display="0" masterRel="nextClick" afterEffect="1"/>
                                        <p:tgtEl>
                                          <p:spTgt spid="84155"/>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84154"/>
                                        </p:tgtEl>
                                        <p:attrNameLst>
                                          <p:attrName>style.visibility</p:attrName>
                                        </p:attrNameLst>
                                      </p:cBhvr>
                                      <p:to>
                                        <p:strVal val="visible"/>
                                      </p:to>
                                    </p:set>
                                    <p:animEffect transition="in" filter="blinds(horizontal)">
                                      <p:cBhvr>
                                        <p:cTn id="10" dur="500"/>
                                        <p:tgtEl>
                                          <p:spTgt spid="84154"/>
                                        </p:tgtEl>
                                      </p:cBhvr>
                                    </p:animEffect>
                                  </p:childTnLst>
                                  <p:subTnLst>
                                    <p:set>
                                      <p:cBhvr override="childStyle">
                                        <p:cTn dur="1" fill="hold" display="0" masterRel="nextClick" afterEffect="1"/>
                                        <p:tgtEl>
                                          <p:spTgt spid="84154"/>
                                        </p:tgtEl>
                                        <p:attrNameLst>
                                          <p:attrName>style.visibility</p:attrName>
                                        </p:attrNameLst>
                                      </p:cBhvr>
                                      <p:to>
                                        <p:strVal val="hidden"/>
                                      </p:to>
                                    </p:set>
                                  </p:subTnLst>
                                </p:cTn>
                              </p:par>
                              <p:par>
                                <p:cTn id="11" presetID="3"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3971">
                                            <p:txEl>
                                              <p:pRg st="1" end="1"/>
                                            </p:txEl>
                                          </p:spTgt>
                                        </p:tgtEl>
                                        <p:attrNameLst>
                                          <p:attrName>style.visibility</p:attrName>
                                        </p:attrNameLst>
                                      </p:cBhvr>
                                      <p:to>
                                        <p:strVal val="visible"/>
                                      </p:to>
                                    </p:set>
                                    <p:animEffect transition="in" filter="blinds(horizontal)">
                                      <p:cBhvr>
                                        <p:cTn id="18" dur="500"/>
                                        <p:tgtEl>
                                          <p:spTgt spid="83971">
                                            <p:txEl>
                                              <p:pRg st="1" end="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83971">
                                            <p:txEl>
                                              <p:pRg st="2" end="2"/>
                                            </p:txEl>
                                          </p:spTgt>
                                        </p:tgtEl>
                                        <p:attrNameLst>
                                          <p:attrName>style.visibility</p:attrName>
                                        </p:attrNameLst>
                                      </p:cBhvr>
                                      <p:to>
                                        <p:strVal val="visible"/>
                                      </p:to>
                                    </p:set>
                                    <p:animEffect transition="in" filter="blinds(horizontal)">
                                      <p:cBhvr>
                                        <p:cTn id="21" dur="500"/>
                                        <p:tgtEl>
                                          <p:spTgt spid="83971">
                                            <p:txEl>
                                              <p:pRg st="2" end="2"/>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84158"/>
                                        </p:tgtEl>
                                        <p:attrNameLst>
                                          <p:attrName>style.visibility</p:attrName>
                                        </p:attrNameLst>
                                      </p:cBhvr>
                                      <p:to>
                                        <p:strVal val="visible"/>
                                      </p:to>
                                    </p:set>
                                    <p:animEffect transition="in" filter="blinds(horizontal)">
                                      <p:cBhvr>
                                        <p:cTn id="24" dur="500"/>
                                        <p:tgtEl>
                                          <p:spTgt spid="84158"/>
                                        </p:tgtEl>
                                      </p:cBhvr>
                                    </p:animEffect>
                                  </p:childTnLst>
                                  <p:subTnLst>
                                    <p:set>
                                      <p:cBhvr override="childStyle">
                                        <p:cTn dur="1" fill="hold" display="0" masterRel="nextClick" afterEffect="1"/>
                                        <p:tgtEl>
                                          <p:spTgt spid="84158"/>
                                        </p:tgtEl>
                                        <p:attrNameLst>
                                          <p:attrName>style.visibility</p:attrName>
                                        </p:attrNameLst>
                                      </p:cBhvr>
                                      <p:to>
                                        <p:strVal val="hidden"/>
                                      </p:to>
                                    </p:set>
                                  </p:subTnLst>
                                </p:cTn>
                              </p:par>
                              <p:par>
                                <p:cTn id="25" presetID="3" presetClass="entr" presetSubtype="10" fill="hold" grpId="0" nodeType="withEffect">
                                  <p:stCondLst>
                                    <p:cond delay="0"/>
                                  </p:stCondLst>
                                  <p:childTnLst>
                                    <p:set>
                                      <p:cBhvr>
                                        <p:cTn id="26" dur="1" fill="hold">
                                          <p:stCondLst>
                                            <p:cond delay="0"/>
                                          </p:stCondLst>
                                        </p:cTn>
                                        <p:tgtEl>
                                          <p:spTgt spid="84156"/>
                                        </p:tgtEl>
                                        <p:attrNameLst>
                                          <p:attrName>style.visibility</p:attrName>
                                        </p:attrNameLst>
                                      </p:cBhvr>
                                      <p:to>
                                        <p:strVal val="visible"/>
                                      </p:to>
                                    </p:set>
                                    <p:animEffect transition="in" filter="blinds(horizontal)">
                                      <p:cBhvr>
                                        <p:cTn id="27" dur="500"/>
                                        <p:tgtEl>
                                          <p:spTgt spid="84156"/>
                                        </p:tgtEl>
                                      </p:cBhvr>
                                    </p:animEffect>
                                  </p:childTnLst>
                                  <p:subTnLst>
                                    <p:set>
                                      <p:cBhvr override="childStyle">
                                        <p:cTn dur="1" fill="hold" display="0" masterRel="nextClick" afterEffect="1"/>
                                        <p:tgtEl>
                                          <p:spTgt spid="84156"/>
                                        </p:tgtEl>
                                        <p:attrNameLst>
                                          <p:attrName>style.visibility</p:attrName>
                                        </p:attrNameLst>
                                      </p:cBhvr>
                                      <p:to>
                                        <p:strVal val="hidden"/>
                                      </p:to>
                                    </p:set>
                                  </p:subTnLst>
                                </p:cTn>
                              </p:par>
                              <p:par>
                                <p:cTn id="28" presetID="3" presetClass="entr" presetSubtype="10" fill="hold" grpId="0" nodeType="withEffect">
                                  <p:stCondLst>
                                    <p:cond delay="0"/>
                                  </p:stCondLst>
                                  <p:childTnLst>
                                    <p:set>
                                      <p:cBhvr>
                                        <p:cTn id="29" dur="1" fill="hold">
                                          <p:stCondLst>
                                            <p:cond delay="0"/>
                                          </p:stCondLst>
                                        </p:cTn>
                                        <p:tgtEl>
                                          <p:spTgt spid="84159"/>
                                        </p:tgtEl>
                                        <p:attrNameLst>
                                          <p:attrName>style.visibility</p:attrName>
                                        </p:attrNameLst>
                                      </p:cBhvr>
                                      <p:to>
                                        <p:strVal val="visible"/>
                                      </p:to>
                                    </p:set>
                                    <p:animEffect transition="in" filter="blinds(horizontal)">
                                      <p:cBhvr>
                                        <p:cTn id="30" dur="500"/>
                                        <p:tgtEl>
                                          <p:spTgt spid="84159"/>
                                        </p:tgtEl>
                                      </p:cBhvr>
                                    </p:animEffect>
                                  </p:childTnLst>
                                  <p:subTnLst>
                                    <p:set>
                                      <p:cBhvr override="childStyle">
                                        <p:cTn dur="1" fill="hold" display="0" masterRel="nextClick" afterEffect="1"/>
                                        <p:tgtEl>
                                          <p:spTgt spid="84159"/>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83971">
                                            <p:txEl>
                                              <p:pRg st="3" end="3"/>
                                            </p:txEl>
                                          </p:spTgt>
                                        </p:tgtEl>
                                        <p:attrNameLst>
                                          <p:attrName>style.visibility</p:attrName>
                                        </p:attrNameLst>
                                      </p:cBhvr>
                                      <p:to>
                                        <p:strVal val="visible"/>
                                      </p:to>
                                    </p:set>
                                    <p:animEffect transition="in" filter="blinds(horizontal)">
                                      <p:cBhvr>
                                        <p:cTn id="35" dur="500"/>
                                        <p:tgtEl>
                                          <p:spTgt spid="83971">
                                            <p:txEl>
                                              <p:pRg st="3" end="3"/>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84160"/>
                                        </p:tgtEl>
                                        <p:attrNameLst>
                                          <p:attrName>style.visibility</p:attrName>
                                        </p:attrNameLst>
                                      </p:cBhvr>
                                      <p:to>
                                        <p:strVal val="visible"/>
                                      </p:to>
                                    </p:set>
                                    <p:animEffect transition="in" filter="blinds(horizontal)">
                                      <p:cBhvr>
                                        <p:cTn id="38" dur="500"/>
                                        <p:tgtEl>
                                          <p:spTgt spid="84160"/>
                                        </p:tgtEl>
                                      </p:cBhvr>
                                    </p:animEffect>
                                  </p:childTnLst>
                                  <p:subTnLst>
                                    <p:set>
                                      <p:cBhvr override="childStyle">
                                        <p:cTn dur="1" fill="hold" display="0" masterRel="nextClick" afterEffect="1"/>
                                        <p:tgtEl>
                                          <p:spTgt spid="84160"/>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3971">
                                            <p:txEl>
                                              <p:pRg st="4" end="4"/>
                                            </p:txEl>
                                          </p:spTgt>
                                        </p:tgtEl>
                                        <p:attrNameLst>
                                          <p:attrName>style.visibility</p:attrName>
                                        </p:attrNameLst>
                                      </p:cBhvr>
                                      <p:to>
                                        <p:strVal val="visible"/>
                                      </p:to>
                                    </p:set>
                                    <p:animEffect transition="in" filter="blinds(horizontal)">
                                      <p:cBhvr>
                                        <p:cTn id="43" dur="500"/>
                                        <p:tgtEl>
                                          <p:spTgt spid="83971">
                                            <p:txEl>
                                              <p:pRg st="4" end="4"/>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83971">
                                            <p:txEl>
                                              <p:pRg st="5" end="5"/>
                                            </p:txEl>
                                          </p:spTgt>
                                        </p:tgtEl>
                                        <p:attrNameLst>
                                          <p:attrName>style.visibility</p:attrName>
                                        </p:attrNameLst>
                                      </p:cBhvr>
                                      <p:to>
                                        <p:strVal val="visible"/>
                                      </p:to>
                                    </p:set>
                                    <p:animEffect transition="in" filter="blinds(horizontal)">
                                      <p:cBhvr>
                                        <p:cTn id="46" dur="500"/>
                                        <p:tgtEl>
                                          <p:spTgt spid="83971">
                                            <p:txEl>
                                              <p:pRg st="5" end="5"/>
                                            </p:txEl>
                                          </p:spTgt>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84161"/>
                                        </p:tgtEl>
                                        <p:attrNameLst>
                                          <p:attrName>style.visibility</p:attrName>
                                        </p:attrNameLst>
                                      </p:cBhvr>
                                      <p:to>
                                        <p:strVal val="visible"/>
                                      </p:to>
                                    </p:set>
                                    <p:animEffect transition="in" filter="blinds(horizontal)">
                                      <p:cBhvr>
                                        <p:cTn id="49" dur="500"/>
                                        <p:tgtEl>
                                          <p:spTgt spid="84161"/>
                                        </p:tgtEl>
                                      </p:cBhvr>
                                    </p:animEffect>
                                  </p:childTnLst>
                                  <p:subTnLst>
                                    <p:set>
                                      <p:cBhvr override="childStyle">
                                        <p:cTn dur="1" fill="hold" display="0" masterRel="nextClick" afterEffect="1"/>
                                        <p:tgtEl>
                                          <p:spTgt spid="84161"/>
                                        </p:tgtEl>
                                        <p:attrNameLst>
                                          <p:attrName>style.visibility</p:attrName>
                                        </p:attrNameLst>
                                      </p:cBhvr>
                                      <p:to>
                                        <p:strVal val="hidden"/>
                                      </p:to>
                                    </p:set>
                                  </p:subTnLst>
                                </p:cTn>
                              </p:par>
                              <p:par>
                                <p:cTn id="50" presetID="3" presetClass="entr" presetSubtype="10" fill="hold" grpId="0" nodeType="withEffect">
                                  <p:stCondLst>
                                    <p:cond delay="0"/>
                                  </p:stCondLst>
                                  <p:childTnLst>
                                    <p:set>
                                      <p:cBhvr>
                                        <p:cTn id="51" dur="1" fill="hold">
                                          <p:stCondLst>
                                            <p:cond delay="0"/>
                                          </p:stCondLst>
                                        </p:cTn>
                                        <p:tgtEl>
                                          <p:spTgt spid="84162"/>
                                        </p:tgtEl>
                                        <p:attrNameLst>
                                          <p:attrName>style.visibility</p:attrName>
                                        </p:attrNameLst>
                                      </p:cBhvr>
                                      <p:to>
                                        <p:strVal val="visible"/>
                                      </p:to>
                                    </p:set>
                                    <p:animEffect transition="in" filter="blinds(horizontal)">
                                      <p:cBhvr>
                                        <p:cTn id="52" dur="500"/>
                                        <p:tgtEl>
                                          <p:spTgt spid="84162"/>
                                        </p:tgtEl>
                                      </p:cBhvr>
                                    </p:animEffect>
                                  </p:childTnLst>
                                  <p:subTnLst>
                                    <p:set>
                                      <p:cBhvr override="childStyle">
                                        <p:cTn dur="1" fill="hold" display="0" masterRel="nextClick" afterEffect="1"/>
                                        <p:tgtEl>
                                          <p:spTgt spid="84162"/>
                                        </p:tgtEl>
                                        <p:attrNameLst>
                                          <p:attrName>style.visibility</p:attrName>
                                        </p:attrNameLst>
                                      </p:cBhvr>
                                      <p:to>
                                        <p:strVal val="hidden"/>
                                      </p:to>
                                    </p:set>
                                  </p:subTnLst>
                                </p:cTn>
                              </p:par>
                              <p:par>
                                <p:cTn id="53" presetID="3" presetClass="entr" presetSubtype="10" fill="hold" grpId="0" nodeType="withEffect">
                                  <p:stCondLst>
                                    <p:cond delay="0"/>
                                  </p:stCondLst>
                                  <p:childTnLst>
                                    <p:set>
                                      <p:cBhvr>
                                        <p:cTn id="54" dur="1" fill="hold">
                                          <p:stCondLst>
                                            <p:cond delay="0"/>
                                          </p:stCondLst>
                                        </p:cTn>
                                        <p:tgtEl>
                                          <p:spTgt spid="84163"/>
                                        </p:tgtEl>
                                        <p:attrNameLst>
                                          <p:attrName>style.visibility</p:attrName>
                                        </p:attrNameLst>
                                      </p:cBhvr>
                                      <p:to>
                                        <p:strVal val="visible"/>
                                      </p:to>
                                    </p:set>
                                    <p:animEffect transition="in" filter="blinds(horizontal)">
                                      <p:cBhvr>
                                        <p:cTn id="55" dur="500"/>
                                        <p:tgtEl>
                                          <p:spTgt spid="84163"/>
                                        </p:tgtEl>
                                      </p:cBhvr>
                                    </p:animEffect>
                                  </p:childTnLst>
                                  <p:subTnLst>
                                    <p:set>
                                      <p:cBhvr override="childStyle">
                                        <p:cTn dur="1" fill="hold" display="0" masterRel="nextClick" afterEffect="1"/>
                                        <p:tgtEl>
                                          <p:spTgt spid="84163"/>
                                        </p:tgtEl>
                                        <p:attrNameLst>
                                          <p:attrName>style.visibility</p:attrName>
                                        </p:attrNameLst>
                                      </p:cBhvr>
                                      <p:to>
                                        <p:strVal val="hidden"/>
                                      </p:to>
                                    </p:set>
                                  </p:sub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83971">
                                            <p:txEl>
                                              <p:pRg st="6" end="6"/>
                                            </p:txEl>
                                          </p:spTgt>
                                        </p:tgtEl>
                                        <p:attrNameLst>
                                          <p:attrName>style.visibility</p:attrName>
                                        </p:attrNameLst>
                                      </p:cBhvr>
                                      <p:to>
                                        <p:strVal val="visible"/>
                                      </p:to>
                                    </p:set>
                                    <p:animEffect transition="in" filter="blinds(horizontal)">
                                      <p:cBhvr>
                                        <p:cTn id="60" dur="500"/>
                                        <p:tgtEl>
                                          <p:spTgt spid="83971">
                                            <p:txEl>
                                              <p:pRg st="6" end="6"/>
                                            </p:txEl>
                                          </p:spTgt>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84166"/>
                                        </p:tgtEl>
                                        <p:attrNameLst>
                                          <p:attrName>style.visibility</p:attrName>
                                        </p:attrNameLst>
                                      </p:cBhvr>
                                      <p:to>
                                        <p:strVal val="visible"/>
                                      </p:to>
                                    </p:set>
                                    <p:animEffect transition="in" filter="blinds(horizontal)">
                                      <p:cBhvr>
                                        <p:cTn id="63" dur="500"/>
                                        <p:tgtEl>
                                          <p:spTgt spid="84166"/>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83971">
                                            <p:txEl>
                                              <p:pRg st="7" end="7"/>
                                            </p:txEl>
                                          </p:spTgt>
                                        </p:tgtEl>
                                        <p:attrNameLst>
                                          <p:attrName>style.visibility</p:attrName>
                                        </p:attrNameLst>
                                      </p:cBhvr>
                                      <p:to>
                                        <p:strVal val="visible"/>
                                      </p:to>
                                    </p:set>
                                    <p:animEffect transition="in" filter="blinds(horizontal)">
                                      <p:cBhvr>
                                        <p:cTn id="68" dur="500"/>
                                        <p:tgtEl>
                                          <p:spTgt spid="83971">
                                            <p:txEl>
                                              <p:pRg st="7" end="7"/>
                                            </p:txEl>
                                          </p:spTgt>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84186"/>
                                        </p:tgtEl>
                                        <p:attrNameLst>
                                          <p:attrName>style.visibility</p:attrName>
                                        </p:attrNameLst>
                                      </p:cBhvr>
                                      <p:to>
                                        <p:strVal val="visible"/>
                                      </p:to>
                                    </p:set>
                                    <p:animEffect transition="in" filter="blinds(horizontal)">
                                      <p:cBhvr>
                                        <p:cTn id="71" dur="500"/>
                                        <p:tgtEl>
                                          <p:spTgt spid="84186"/>
                                        </p:tgtEl>
                                      </p:cBhvr>
                                    </p:animEffect>
                                  </p:childTnLst>
                                  <p:subTnLst>
                                    <p:set>
                                      <p:cBhvr override="childStyle">
                                        <p:cTn dur="1" fill="hold" display="0" masterRel="nextClick" afterEffect="1"/>
                                        <p:tgtEl>
                                          <p:spTgt spid="84186"/>
                                        </p:tgtEl>
                                        <p:attrNameLst>
                                          <p:attrName>style.visibility</p:attrName>
                                        </p:attrNameLst>
                                      </p:cBhvr>
                                      <p:to>
                                        <p:strVal val="hidden"/>
                                      </p:to>
                                    </p:set>
                                  </p:subTnLst>
                                </p:cTn>
                              </p:par>
                              <p:par>
                                <p:cTn id="72" presetID="3" presetClass="entr" presetSubtype="10" fill="hold" grpId="0" nodeType="withEffect">
                                  <p:stCondLst>
                                    <p:cond delay="0"/>
                                  </p:stCondLst>
                                  <p:childTnLst>
                                    <p:set>
                                      <p:cBhvr>
                                        <p:cTn id="73" dur="1" fill="hold">
                                          <p:stCondLst>
                                            <p:cond delay="0"/>
                                          </p:stCondLst>
                                        </p:cTn>
                                        <p:tgtEl>
                                          <p:spTgt spid="84187"/>
                                        </p:tgtEl>
                                        <p:attrNameLst>
                                          <p:attrName>style.visibility</p:attrName>
                                        </p:attrNameLst>
                                      </p:cBhvr>
                                      <p:to>
                                        <p:strVal val="visible"/>
                                      </p:to>
                                    </p:set>
                                    <p:animEffect transition="in" filter="blinds(horizontal)">
                                      <p:cBhvr>
                                        <p:cTn id="74" dur="500"/>
                                        <p:tgtEl>
                                          <p:spTgt spid="84187"/>
                                        </p:tgtEl>
                                      </p:cBhvr>
                                    </p:animEffect>
                                  </p:childTnLst>
                                  <p:subTnLst>
                                    <p:set>
                                      <p:cBhvr override="childStyle">
                                        <p:cTn dur="1" fill="hold" display="0" masterRel="nextClick" afterEffect="1"/>
                                        <p:tgtEl>
                                          <p:spTgt spid="84187"/>
                                        </p:tgtEl>
                                        <p:attrNameLst>
                                          <p:attrName>style.visibility</p:attrName>
                                        </p:attrNameLst>
                                      </p:cBhvr>
                                      <p:to>
                                        <p:strVal val="hidden"/>
                                      </p:to>
                                    </p:set>
                                  </p:subTnLst>
                                </p:cTn>
                              </p:par>
                              <p:par>
                                <p:cTn id="75" presetID="3" presetClass="entr" presetSubtype="10" fill="hold" grpId="0" nodeType="withEffect">
                                  <p:stCondLst>
                                    <p:cond delay="0"/>
                                  </p:stCondLst>
                                  <p:childTnLst>
                                    <p:set>
                                      <p:cBhvr>
                                        <p:cTn id="76" dur="1" fill="hold">
                                          <p:stCondLst>
                                            <p:cond delay="0"/>
                                          </p:stCondLst>
                                        </p:cTn>
                                        <p:tgtEl>
                                          <p:spTgt spid="84185"/>
                                        </p:tgtEl>
                                        <p:attrNameLst>
                                          <p:attrName>style.visibility</p:attrName>
                                        </p:attrNameLst>
                                      </p:cBhvr>
                                      <p:to>
                                        <p:strVal val="visible"/>
                                      </p:to>
                                    </p:set>
                                    <p:animEffect transition="in" filter="blinds(horizontal)">
                                      <p:cBhvr>
                                        <p:cTn id="77" dur="500"/>
                                        <p:tgtEl>
                                          <p:spTgt spid="84185"/>
                                        </p:tgtEl>
                                      </p:cBhvr>
                                    </p:animEffect>
                                  </p:childTnLst>
                                  <p:subTnLst>
                                    <p:set>
                                      <p:cBhvr override="childStyle">
                                        <p:cTn dur="1" fill="hold" display="0" masterRel="nextClick" afterEffect="1"/>
                                        <p:tgtEl>
                                          <p:spTgt spid="84185"/>
                                        </p:tgtEl>
                                        <p:attrNameLst>
                                          <p:attrName>style.visibility</p:attrName>
                                        </p:attrNameLst>
                                      </p:cBhvr>
                                      <p:to>
                                        <p:strVal val="hidden"/>
                                      </p:to>
                                    </p:set>
                                  </p:subTnLst>
                                </p:cTn>
                              </p:par>
                              <p:par>
                                <p:cTn id="78" presetID="3" presetClass="entr" presetSubtype="10" fill="hold" grpId="0" nodeType="withEffect">
                                  <p:stCondLst>
                                    <p:cond delay="0"/>
                                  </p:stCondLst>
                                  <p:childTnLst>
                                    <p:set>
                                      <p:cBhvr>
                                        <p:cTn id="79" dur="1" fill="hold">
                                          <p:stCondLst>
                                            <p:cond delay="0"/>
                                          </p:stCondLst>
                                        </p:cTn>
                                        <p:tgtEl>
                                          <p:spTgt spid="84190"/>
                                        </p:tgtEl>
                                        <p:attrNameLst>
                                          <p:attrName>style.visibility</p:attrName>
                                        </p:attrNameLst>
                                      </p:cBhvr>
                                      <p:to>
                                        <p:strVal val="visible"/>
                                      </p:to>
                                    </p:set>
                                    <p:animEffect transition="in" filter="blinds(horizontal)">
                                      <p:cBhvr>
                                        <p:cTn id="80" dur="500"/>
                                        <p:tgtEl>
                                          <p:spTgt spid="84190"/>
                                        </p:tgtEl>
                                      </p:cBhvr>
                                    </p:animEffect>
                                  </p:childTnLst>
                                  <p:subTnLst>
                                    <p:set>
                                      <p:cBhvr override="childStyle">
                                        <p:cTn dur="1" fill="hold" display="0" masterRel="nextClick" afterEffect="1"/>
                                        <p:tgtEl>
                                          <p:spTgt spid="84190"/>
                                        </p:tgtEl>
                                        <p:attrNameLst>
                                          <p:attrName>style.visibility</p:attrName>
                                        </p:attrNameLst>
                                      </p:cBhvr>
                                      <p:to>
                                        <p:strVal val="hidden"/>
                                      </p:to>
                                    </p:set>
                                  </p:subTnLst>
                                </p:cTn>
                              </p:par>
                              <p:par>
                                <p:cTn id="81" presetID="3" presetClass="entr" presetSubtype="10" fill="hold" grpId="0" nodeType="withEffect">
                                  <p:stCondLst>
                                    <p:cond delay="0"/>
                                  </p:stCondLst>
                                  <p:childTnLst>
                                    <p:set>
                                      <p:cBhvr>
                                        <p:cTn id="82" dur="1" fill="hold">
                                          <p:stCondLst>
                                            <p:cond delay="0"/>
                                          </p:stCondLst>
                                        </p:cTn>
                                        <p:tgtEl>
                                          <p:spTgt spid="84192"/>
                                        </p:tgtEl>
                                        <p:attrNameLst>
                                          <p:attrName>style.visibility</p:attrName>
                                        </p:attrNameLst>
                                      </p:cBhvr>
                                      <p:to>
                                        <p:strVal val="visible"/>
                                      </p:to>
                                    </p:set>
                                    <p:animEffect transition="in" filter="blinds(horizontal)">
                                      <p:cBhvr>
                                        <p:cTn id="83" dur="500"/>
                                        <p:tgtEl>
                                          <p:spTgt spid="84192"/>
                                        </p:tgtEl>
                                      </p:cBhvr>
                                    </p:animEffect>
                                  </p:childTnLst>
                                  <p:subTnLst>
                                    <p:set>
                                      <p:cBhvr override="childStyle">
                                        <p:cTn dur="1" fill="hold" display="0" masterRel="nextClick" afterEffect="1"/>
                                        <p:tgtEl>
                                          <p:spTgt spid="84192"/>
                                        </p:tgtEl>
                                        <p:attrNameLst>
                                          <p:attrName>style.visibility</p:attrName>
                                        </p:attrNameLst>
                                      </p:cBhvr>
                                      <p:to>
                                        <p:strVal val="hidden"/>
                                      </p:to>
                                    </p:set>
                                  </p:subTnLst>
                                </p:cTn>
                              </p:par>
                              <p:par>
                                <p:cTn id="84" presetID="3" presetClass="entr" presetSubtype="10" fill="hold" grpId="0" nodeType="withEffect">
                                  <p:stCondLst>
                                    <p:cond delay="0"/>
                                  </p:stCondLst>
                                  <p:childTnLst>
                                    <p:set>
                                      <p:cBhvr>
                                        <p:cTn id="85" dur="1" fill="hold">
                                          <p:stCondLst>
                                            <p:cond delay="0"/>
                                          </p:stCondLst>
                                        </p:cTn>
                                        <p:tgtEl>
                                          <p:spTgt spid="84188"/>
                                        </p:tgtEl>
                                        <p:attrNameLst>
                                          <p:attrName>style.visibility</p:attrName>
                                        </p:attrNameLst>
                                      </p:cBhvr>
                                      <p:to>
                                        <p:strVal val="visible"/>
                                      </p:to>
                                    </p:set>
                                    <p:animEffect transition="in" filter="blinds(horizontal)">
                                      <p:cBhvr>
                                        <p:cTn id="86" dur="500"/>
                                        <p:tgtEl>
                                          <p:spTgt spid="84188"/>
                                        </p:tgtEl>
                                      </p:cBhvr>
                                    </p:animEffect>
                                  </p:childTnLst>
                                  <p:subTnLst>
                                    <p:set>
                                      <p:cBhvr override="childStyle">
                                        <p:cTn dur="1" fill="hold" display="0" masterRel="nextClick" afterEffect="1"/>
                                        <p:tgtEl>
                                          <p:spTgt spid="84188"/>
                                        </p:tgtEl>
                                        <p:attrNameLst>
                                          <p:attrName>style.visibility</p:attrName>
                                        </p:attrNameLst>
                                      </p:cBhvr>
                                      <p:to>
                                        <p:strVal val="hidden"/>
                                      </p:to>
                                    </p:set>
                                  </p:subTnLst>
                                </p:cTn>
                              </p:par>
                              <p:par>
                                <p:cTn id="87" presetID="3" presetClass="entr" presetSubtype="10" fill="hold" grpId="0" nodeType="withEffect">
                                  <p:stCondLst>
                                    <p:cond delay="0"/>
                                  </p:stCondLst>
                                  <p:childTnLst>
                                    <p:set>
                                      <p:cBhvr>
                                        <p:cTn id="88" dur="1" fill="hold">
                                          <p:stCondLst>
                                            <p:cond delay="0"/>
                                          </p:stCondLst>
                                        </p:cTn>
                                        <p:tgtEl>
                                          <p:spTgt spid="84193"/>
                                        </p:tgtEl>
                                        <p:attrNameLst>
                                          <p:attrName>style.visibility</p:attrName>
                                        </p:attrNameLst>
                                      </p:cBhvr>
                                      <p:to>
                                        <p:strVal val="visible"/>
                                      </p:to>
                                    </p:set>
                                    <p:animEffect transition="in" filter="blinds(horizontal)">
                                      <p:cBhvr>
                                        <p:cTn id="89" dur="500"/>
                                        <p:tgtEl>
                                          <p:spTgt spid="84193"/>
                                        </p:tgtEl>
                                      </p:cBhvr>
                                    </p:animEffect>
                                  </p:childTnLst>
                                  <p:subTnLst>
                                    <p:set>
                                      <p:cBhvr override="childStyle">
                                        <p:cTn dur="1" fill="hold" display="0" masterRel="nextClick" afterEffect="1"/>
                                        <p:tgtEl>
                                          <p:spTgt spid="84193"/>
                                        </p:tgtEl>
                                        <p:attrNameLst>
                                          <p:attrName>style.visibility</p:attrName>
                                        </p:attrNameLst>
                                      </p:cBhvr>
                                      <p:to>
                                        <p:strVal val="hidden"/>
                                      </p:to>
                                    </p:set>
                                  </p:subTnLst>
                                </p:cTn>
                              </p:par>
                              <p:par>
                                <p:cTn id="90" presetID="3" presetClass="entr" presetSubtype="10" fill="hold" grpId="0" nodeType="withEffect">
                                  <p:stCondLst>
                                    <p:cond delay="0"/>
                                  </p:stCondLst>
                                  <p:childTnLst>
                                    <p:set>
                                      <p:cBhvr>
                                        <p:cTn id="91" dur="1" fill="hold">
                                          <p:stCondLst>
                                            <p:cond delay="0"/>
                                          </p:stCondLst>
                                        </p:cTn>
                                        <p:tgtEl>
                                          <p:spTgt spid="84191"/>
                                        </p:tgtEl>
                                        <p:attrNameLst>
                                          <p:attrName>style.visibility</p:attrName>
                                        </p:attrNameLst>
                                      </p:cBhvr>
                                      <p:to>
                                        <p:strVal val="visible"/>
                                      </p:to>
                                    </p:set>
                                    <p:animEffect transition="in" filter="blinds(horizontal)">
                                      <p:cBhvr>
                                        <p:cTn id="92" dur="500"/>
                                        <p:tgtEl>
                                          <p:spTgt spid="84191"/>
                                        </p:tgtEl>
                                      </p:cBhvr>
                                    </p:animEffect>
                                  </p:childTnLst>
                                  <p:subTnLst>
                                    <p:set>
                                      <p:cBhvr override="childStyle">
                                        <p:cTn dur="1" fill="hold" display="0" masterRel="nextClick" afterEffect="1"/>
                                        <p:tgtEl>
                                          <p:spTgt spid="84191"/>
                                        </p:tgtEl>
                                        <p:attrNameLst>
                                          <p:attrName>style.visibility</p:attrName>
                                        </p:attrNameLst>
                                      </p:cBhvr>
                                      <p:to>
                                        <p:strVal val="hidden"/>
                                      </p:to>
                                    </p:set>
                                  </p:subTnLst>
                                </p:cTn>
                              </p:par>
                              <p:par>
                                <p:cTn id="93" presetID="3" presetClass="entr" presetSubtype="10" fill="hold" grpId="0" nodeType="withEffect">
                                  <p:stCondLst>
                                    <p:cond delay="0"/>
                                  </p:stCondLst>
                                  <p:childTnLst>
                                    <p:set>
                                      <p:cBhvr>
                                        <p:cTn id="94" dur="1" fill="hold">
                                          <p:stCondLst>
                                            <p:cond delay="0"/>
                                          </p:stCondLst>
                                        </p:cTn>
                                        <p:tgtEl>
                                          <p:spTgt spid="84183"/>
                                        </p:tgtEl>
                                        <p:attrNameLst>
                                          <p:attrName>style.visibility</p:attrName>
                                        </p:attrNameLst>
                                      </p:cBhvr>
                                      <p:to>
                                        <p:strVal val="visible"/>
                                      </p:to>
                                    </p:set>
                                    <p:animEffect transition="in" filter="blinds(horizontal)">
                                      <p:cBhvr>
                                        <p:cTn id="95" dur="500"/>
                                        <p:tgtEl>
                                          <p:spTgt spid="84183"/>
                                        </p:tgtEl>
                                      </p:cBhvr>
                                    </p:animEffect>
                                  </p:childTnLst>
                                  <p:subTnLst>
                                    <p:set>
                                      <p:cBhvr override="childStyle">
                                        <p:cTn dur="1" fill="hold" display="0" masterRel="nextClick" afterEffect="1"/>
                                        <p:tgtEl>
                                          <p:spTgt spid="84183"/>
                                        </p:tgtEl>
                                        <p:attrNameLst>
                                          <p:attrName>style.visibility</p:attrName>
                                        </p:attrNameLst>
                                      </p:cBhvr>
                                      <p:to>
                                        <p:strVal val="hidden"/>
                                      </p:to>
                                    </p:set>
                                  </p:subTnLst>
                                </p:cTn>
                              </p:par>
                              <p:par>
                                <p:cTn id="96" presetID="3" presetClass="entr" presetSubtype="10" fill="hold" grpId="0" nodeType="withEffect">
                                  <p:stCondLst>
                                    <p:cond delay="0"/>
                                  </p:stCondLst>
                                  <p:childTnLst>
                                    <p:set>
                                      <p:cBhvr>
                                        <p:cTn id="97" dur="1" fill="hold">
                                          <p:stCondLst>
                                            <p:cond delay="0"/>
                                          </p:stCondLst>
                                        </p:cTn>
                                        <p:tgtEl>
                                          <p:spTgt spid="84167"/>
                                        </p:tgtEl>
                                        <p:attrNameLst>
                                          <p:attrName>style.visibility</p:attrName>
                                        </p:attrNameLst>
                                      </p:cBhvr>
                                      <p:to>
                                        <p:strVal val="visible"/>
                                      </p:to>
                                    </p:set>
                                    <p:animEffect transition="in" filter="blinds(horizontal)">
                                      <p:cBhvr>
                                        <p:cTn id="98" dur="500"/>
                                        <p:tgtEl>
                                          <p:spTgt spid="84167"/>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84168"/>
                                        </p:tgtEl>
                                        <p:attrNameLst>
                                          <p:attrName>style.visibility</p:attrName>
                                        </p:attrNameLst>
                                      </p:cBhvr>
                                      <p:to>
                                        <p:strVal val="visible"/>
                                      </p:to>
                                    </p:set>
                                    <p:animEffect transition="in" filter="blinds(horizontal)">
                                      <p:cBhvr>
                                        <p:cTn id="101" dur="500"/>
                                        <p:tgtEl>
                                          <p:spTgt spid="84168"/>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84169"/>
                                        </p:tgtEl>
                                        <p:attrNameLst>
                                          <p:attrName>style.visibility</p:attrName>
                                        </p:attrNameLst>
                                      </p:cBhvr>
                                      <p:to>
                                        <p:strVal val="visible"/>
                                      </p:to>
                                    </p:set>
                                    <p:animEffect transition="in" filter="blinds(horizontal)">
                                      <p:cBhvr>
                                        <p:cTn id="104" dur="500"/>
                                        <p:tgtEl>
                                          <p:spTgt spid="84169"/>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84170"/>
                                        </p:tgtEl>
                                        <p:attrNameLst>
                                          <p:attrName>style.visibility</p:attrName>
                                        </p:attrNameLst>
                                      </p:cBhvr>
                                      <p:to>
                                        <p:strVal val="visible"/>
                                      </p:to>
                                    </p:set>
                                    <p:animEffect transition="in" filter="blinds(horizontal)">
                                      <p:cBhvr>
                                        <p:cTn id="107" dur="500"/>
                                        <p:tgtEl>
                                          <p:spTgt spid="84170"/>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84171"/>
                                        </p:tgtEl>
                                        <p:attrNameLst>
                                          <p:attrName>style.visibility</p:attrName>
                                        </p:attrNameLst>
                                      </p:cBhvr>
                                      <p:to>
                                        <p:strVal val="visible"/>
                                      </p:to>
                                    </p:set>
                                    <p:animEffect transition="in" filter="blinds(horizontal)">
                                      <p:cBhvr>
                                        <p:cTn id="110" dur="500"/>
                                        <p:tgtEl>
                                          <p:spTgt spid="84171"/>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84172"/>
                                        </p:tgtEl>
                                        <p:attrNameLst>
                                          <p:attrName>style.visibility</p:attrName>
                                        </p:attrNameLst>
                                      </p:cBhvr>
                                      <p:to>
                                        <p:strVal val="visible"/>
                                      </p:to>
                                    </p:set>
                                    <p:animEffect transition="in" filter="blinds(horizontal)">
                                      <p:cBhvr>
                                        <p:cTn id="113" dur="500"/>
                                        <p:tgtEl>
                                          <p:spTgt spid="84172"/>
                                        </p:tgtEl>
                                      </p:cBhvr>
                                    </p:animEffect>
                                  </p:childTnLst>
                                </p:cTn>
                              </p:par>
                              <p:par>
                                <p:cTn id="114" presetID="3" presetClass="entr" presetSubtype="10" fill="hold" grpId="0" nodeType="withEffect">
                                  <p:stCondLst>
                                    <p:cond delay="0"/>
                                  </p:stCondLst>
                                  <p:childTnLst>
                                    <p:set>
                                      <p:cBhvr>
                                        <p:cTn id="115" dur="1" fill="hold">
                                          <p:stCondLst>
                                            <p:cond delay="0"/>
                                          </p:stCondLst>
                                        </p:cTn>
                                        <p:tgtEl>
                                          <p:spTgt spid="84173"/>
                                        </p:tgtEl>
                                        <p:attrNameLst>
                                          <p:attrName>style.visibility</p:attrName>
                                        </p:attrNameLst>
                                      </p:cBhvr>
                                      <p:to>
                                        <p:strVal val="visible"/>
                                      </p:to>
                                    </p:set>
                                    <p:animEffect transition="in" filter="blinds(horizontal)">
                                      <p:cBhvr>
                                        <p:cTn id="116" dur="500"/>
                                        <p:tgtEl>
                                          <p:spTgt spid="84173"/>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84174"/>
                                        </p:tgtEl>
                                        <p:attrNameLst>
                                          <p:attrName>style.visibility</p:attrName>
                                        </p:attrNameLst>
                                      </p:cBhvr>
                                      <p:to>
                                        <p:strVal val="visible"/>
                                      </p:to>
                                    </p:set>
                                    <p:animEffect transition="in" filter="blinds(horizontal)">
                                      <p:cBhvr>
                                        <p:cTn id="119" dur="500"/>
                                        <p:tgtEl>
                                          <p:spTgt spid="84174"/>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84175"/>
                                        </p:tgtEl>
                                        <p:attrNameLst>
                                          <p:attrName>style.visibility</p:attrName>
                                        </p:attrNameLst>
                                      </p:cBhvr>
                                      <p:to>
                                        <p:strVal val="visible"/>
                                      </p:to>
                                    </p:set>
                                    <p:animEffect transition="in" filter="blinds(horizontal)">
                                      <p:cBhvr>
                                        <p:cTn id="122" dur="500"/>
                                        <p:tgtEl>
                                          <p:spTgt spid="84175"/>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nodeType="clickEffect">
                                  <p:stCondLst>
                                    <p:cond delay="0"/>
                                  </p:stCondLst>
                                  <p:childTnLst>
                                    <p:set>
                                      <p:cBhvr>
                                        <p:cTn id="126" dur="1" fill="hold">
                                          <p:stCondLst>
                                            <p:cond delay="0"/>
                                          </p:stCondLst>
                                        </p:cTn>
                                        <p:tgtEl>
                                          <p:spTgt spid="83971">
                                            <p:txEl>
                                              <p:pRg st="8" end="8"/>
                                            </p:txEl>
                                          </p:spTgt>
                                        </p:tgtEl>
                                        <p:attrNameLst>
                                          <p:attrName>style.visibility</p:attrName>
                                        </p:attrNameLst>
                                      </p:cBhvr>
                                      <p:to>
                                        <p:strVal val="visible"/>
                                      </p:to>
                                    </p:set>
                                    <p:animEffect transition="in" filter="blinds(horizontal)">
                                      <p:cBhvr>
                                        <p:cTn id="127" dur="500"/>
                                        <p:tgtEl>
                                          <p:spTgt spid="83971">
                                            <p:txEl>
                                              <p:pRg st="8" end="8"/>
                                            </p:txEl>
                                          </p:spTgt>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84178"/>
                                        </p:tgtEl>
                                        <p:attrNameLst>
                                          <p:attrName>style.visibility</p:attrName>
                                        </p:attrNameLst>
                                      </p:cBhvr>
                                      <p:to>
                                        <p:strVal val="visible"/>
                                      </p:to>
                                    </p:set>
                                    <p:animEffect transition="in" filter="blinds(horizontal)">
                                      <p:cBhvr>
                                        <p:cTn id="130" dur="500"/>
                                        <p:tgtEl>
                                          <p:spTgt spid="84178"/>
                                        </p:tgtEl>
                                      </p:cBhvr>
                                    </p:animEffect>
                                  </p:childTnLst>
                                </p:cTn>
                              </p:par>
                              <p:par>
                                <p:cTn id="131" presetID="3" presetClass="entr" presetSubtype="10" fill="hold" grpId="0" nodeType="withEffect">
                                  <p:stCondLst>
                                    <p:cond delay="0"/>
                                  </p:stCondLst>
                                  <p:childTnLst>
                                    <p:set>
                                      <p:cBhvr>
                                        <p:cTn id="132" dur="1" fill="hold">
                                          <p:stCondLst>
                                            <p:cond delay="0"/>
                                          </p:stCondLst>
                                        </p:cTn>
                                        <p:tgtEl>
                                          <p:spTgt spid="84179"/>
                                        </p:tgtEl>
                                        <p:attrNameLst>
                                          <p:attrName>style.visibility</p:attrName>
                                        </p:attrNameLst>
                                      </p:cBhvr>
                                      <p:to>
                                        <p:strVal val="visible"/>
                                      </p:to>
                                    </p:set>
                                    <p:animEffect transition="in" filter="blinds(horizontal)">
                                      <p:cBhvr>
                                        <p:cTn id="133" dur="500"/>
                                        <p:tgtEl>
                                          <p:spTgt spid="84179"/>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84180"/>
                                        </p:tgtEl>
                                        <p:attrNameLst>
                                          <p:attrName>style.visibility</p:attrName>
                                        </p:attrNameLst>
                                      </p:cBhvr>
                                      <p:to>
                                        <p:strVal val="visible"/>
                                      </p:to>
                                    </p:set>
                                    <p:animEffect transition="in" filter="blinds(horizontal)">
                                      <p:cBhvr>
                                        <p:cTn id="136" dur="500"/>
                                        <p:tgtEl>
                                          <p:spTgt spid="84180"/>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84181"/>
                                        </p:tgtEl>
                                        <p:attrNameLst>
                                          <p:attrName>style.visibility</p:attrName>
                                        </p:attrNameLst>
                                      </p:cBhvr>
                                      <p:to>
                                        <p:strVal val="visible"/>
                                      </p:to>
                                    </p:set>
                                    <p:animEffect transition="in" filter="blinds(horizontal)">
                                      <p:cBhvr>
                                        <p:cTn id="139" dur="500"/>
                                        <p:tgtEl>
                                          <p:spTgt spid="84181"/>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84164"/>
                                        </p:tgtEl>
                                        <p:attrNameLst>
                                          <p:attrName>style.visibility</p:attrName>
                                        </p:attrNameLst>
                                      </p:cBhvr>
                                      <p:to>
                                        <p:strVal val="visible"/>
                                      </p:to>
                                    </p:set>
                                    <p:animEffect transition="in" filter="blinds(horizontal)">
                                      <p:cBhvr>
                                        <p:cTn id="142" dur="500"/>
                                        <p:tgtEl>
                                          <p:spTgt spid="84164"/>
                                        </p:tgtEl>
                                      </p:cBhvr>
                                    </p:animEffect>
                                  </p:childTnLst>
                                </p:cTn>
                              </p:par>
                              <p:par>
                                <p:cTn id="143" presetID="3" presetClass="entr" presetSubtype="10" fill="hold" grpId="0" nodeType="withEffect">
                                  <p:stCondLst>
                                    <p:cond delay="0"/>
                                  </p:stCondLst>
                                  <p:childTnLst>
                                    <p:set>
                                      <p:cBhvr>
                                        <p:cTn id="144" dur="1" fill="hold">
                                          <p:stCondLst>
                                            <p:cond delay="0"/>
                                          </p:stCondLst>
                                        </p:cTn>
                                        <p:tgtEl>
                                          <p:spTgt spid="84165"/>
                                        </p:tgtEl>
                                        <p:attrNameLst>
                                          <p:attrName>style.visibility</p:attrName>
                                        </p:attrNameLst>
                                      </p:cBhvr>
                                      <p:to>
                                        <p:strVal val="visible"/>
                                      </p:to>
                                    </p:set>
                                    <p:animEffect transition="in" filter="blinds(horizontal)">
                                      <p:cBhvr>
                                        <p:cTn id="145" dur="500"/>
                                        <p:tgtEl>
                                          <p:spTgt spid="84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54" grpId="0" animBg="1"/>
      <p:bldP spid="84155" grpId="0" animBg="1"/>
      <p:bldP spid="84156" grpId="0" animBg="1"/>
      <p:bldP spid="84158" grpId="0" animBg="1"/>
      <p:bldP spid="84159" grpId="0" animBg="1"/>
      <p:bldP spid="84160" grpId="0" animBg="1"/>
      <p:bldP spid="84161" grpId="0" animBg="1"/>
      <p:bldP spid="84162" grpId="0" animBg="1"/>
      <p:bldP spid="84163" grpId="0" animBg="1"/>
      <p:bldP spid="84164" grpId="0" animBg="1"/>
      <p:bldP spid="84165" grpId="0" animBg="1"/>
      <p:bldP spid="84166" grpId="0" animBg="1"/>
      <p:bldP spid="84167" grpId="0" animBg="1"/>
      <p:bldP spid="84168" grpId="0" animBg="1"/>
      <p:bldP spid="84169" grpId="0" animBg="1"/>
      <p:bldP spid="84170" grpId="0" animBg="1"/>
      <p:bldP spid="84171" grpId="0" animBg="1"/>
      <p:bldP spid="84172" grpId="0" animBg="1"/>
      <p:bldP spid="84173" grpId="0" animBg="1"/>
      <p:bldP spid="84174" grpId="0" animBg="1"/>
      <p:bldP spid="84175" grpId="0" animBg="1"/>
      <p:bldP spid="84178" grpId="0" animBg="1"/>
      <p:bldP spid="84179" grpId="0" animBg="1"/>
      <p:bldP spid="84180" grpId="0" animBg="1"/>
      <p:bldP spid="84181" grpId="0" animBg="1"/>
      <p:bldP spid="84183" grpId="0" animBg="1"/>
      <p:bldP spid="84185" grpId="0" animBg="1"/>
      <p:bldP spid="84186" grpId="0" animBg="1"/>
      <p:bldP spid="84187" grpId="0" animBg="1"/>
      <p:bldP spid="84188" grpId="0" animBg="1"/>
      <p:bldP spid="84190" grpId="0" animBg="1"/>
      <p:bldP spid="84191" grpId="0" animBg="1"/>
      <p:bldP spid="84192" grpId="0" animBg="1"/>
      <p:bldP spid="8419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type="body" idx="4294967295"/>
          </p:nvPr>
        </p:nvSpPr>
        <p:spPr>
          <a:xfrm>
            <a:off x="1701800" y="914400"/>
            <a:ext cx="8966200" cy="5291138"/>
          </a:xfrm>
        </p:spPr>
        <p:txBody>
          <a:bodyPr/>
          <a:lstStyle/>
          <a:p>
            <a:r>
              <a:rPr lang="zh-CN" altLang="en-US" dirty="0"/>
              <a:t>For MUTP, we can identify unique true points where clauses not in the term take on both truth values.</a:t>
            </a:r>
            <a:endParaRPr lang="en-US" altLang="zh-CN" dirty="0"/>
          </a:p>
          <a:p>
            <a:r>
              <a:rPr lang="en-US" dirty="0"/>
              <a:t>For each implicant find unique true points (UTPs) so that</a:t>
            </a:r>
          </a:p>
          <a:p>
            <a:pPr lvl="1"/>
            <a:r>
              <a:rPr lang="en-US" dirty="0"/>
              <a:t>Literals not in implicant take on values T and F</a:t>
            </a:r>
          </a:p>
          <a:p>
            <a:r>
              <a:rPr lang="en-US" dirty="0"/>
              <a:t>Consider the DNF predicate: </a:t>
            </a:r>
          </a:p>
          <a:p>
            <a:pPr lvl="1"/>
            <a:r>
              <a:rPr lang="en-US" dirty="0"/>
              <a:t> </a:t>
            </a:r>
            <a:r>
              <a:rPr lang="en-US" i="1" dirty="0"/>
              <a:t>f = </a:t>
            </a:r>
            <a:r>
              <a:rPr lang="en-US" i="1" dirty="0" err="1"/>
              <a:t>ab</a:t>
            </a:r>
            <a:r>
              <a:rPr lang="en-US" i="1" dirty="0"/>
              <a:t> + </a:t>
            </a:r>
            <a:r>
              <a:rPr lang="en-US" i="1" dirty="0" err="1"/>
              <a:t>cd</a:t>
            </a:r>
            <a:endParaRPr lang="en-US" i="1" dirty="0"/>
          </a:p>
          <a:p>
            <a:r>
              <a:rPr lang="en-US" dirty="0"/>
              <a:t>For implicant </a:t>
            </a:r>
            <a:r>
              <a:rPr lang="en-US" i="1" dirty="0"/>
              <a:t>ab</a:t>
            </a:r>
          </a:p>
          <a:p>
            <a:pPr lvl="1"/>
            <a:r>
              <a:rPr lang="en-US" dirty="0"/>
              <a:t>Choose TTFT, TTTF</a:t>
            </a:r>
          </a:p>
          <a:p>
            <a:r>
              <a:rPr lang="en-US" dirty="0"/>
              <a:t>For implicant cd</a:t>
            </a:r>
          </a:p>
          <a:p>
            <a:pPr lvl="1"/>
            <a:r>
              <a:rPr lang="en-US" dirty="0"/>
              <a:t>Choose FTTT, TFTT</a:t>
            </a:r>
          </a:p>
          <a:p>
            <a:r>
              <a:rPr lang="en-US" dirty="0"/>
              <a:t>MUTP test set</a:t>
            </a:r>
          </a:p>
          <a:p>
            <a:pPr lvl="1"/>
            <a:r>
              <a:rPr lang="en-US" dirty="0"/>
              <a:t>{TTFT, TTTF, FTTT, TFTT}</a:t>
            </a:r>
          </a:p>
        </p:txBody>
      </p:sp>
      <p:sp>
        <p:nvSpPr>
          <p:cNvPr id="29698" name="Rectangle 2"/>
          <p:cNvSpPr>
            <a:spLocks noGrp="1" noChangeArrowheads="1"/>
          </p:cNvSpPr>
          <p:nvPr>
            <p:ph type="title" idx="4294967295"/>
          </p:nvPr>
        </p:nvSpPr>
        <p:spPr/>
        <p:txBody>
          <a:bodyPr/>
          <a:lstStyle/>
          <a:p>
            <a:r>
              <a:rPr lang="en-US" sz="3200" dirty="0"/>
              <a:t>MUTP: Multiple Unique True Points</a:t>
            </a:r>
          </a:p>
        </p:txBody>
      </p:sp>
      <p:grpSp>
        <p:nvGrpSpPr>
          <p:cNvPr id="2" name="Group 68"/>
          <p:cNvGrpSpPr/>
          <p:nvPr/>
        </p:nvGrpSpPr>
        <p:grpSpPr>
          <a:xfrm>
            <a:off x="6248400" y="2839072"/>
            <a:ext cx="4013200" cy="3562350"/>
            <a:chOff x="4724400" y="1905000"/>
            <a:chExt cx="4013200" cy="3562350"/>
          </a:xfrm>
        </p:grpSpPr>
        <p:sp>
          <p:nvSpPr>
            <p:cNvPr id="29710" name="Rectangle 5"/>
            <p:cNvSpPr>
              <a:spLocks noChangeArrowheads="1"/>
            </p:cNvSpPr>
            <p:nvPr/>
          </p:nvSpPr>
          <p:spPr bwMode="auto">
            <a:xfrm>
              <a:off x="4772025" y="3370263"/>
              <a:ext cx="792163" cy="70485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01</a:t>
              </a:r>
            </a:p>
          </p:txBody>
        </p:sp>
        <p:sp>
          <p:nvSpPr>
            <p:cNvPr id="29711" name="Rectangle 6"/>
            <p:cNvSpPr>
              <a:spLocks noChangeArrowheads="1"/>
            </p:cNvSpPr>
            <p:nvPr/>
          </p:nvSpPr>
          <p:spPr bwMode="auto">
            <a:xfrm>
              <a:off x="4772025" y="2697163"/>
              <a:ext cx="792163" cy="67310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00</a:t>
              </a:r>
            </a:p>
          </p:txBody>
        </p:sp>
        <p:sp>
          <p:nvSpPr>
            <p:cNvPr id="29712" name="Rectangle 7"/>
            <p:cNvSpPr>
              <a:spLocks noChangeArrowheads="1"/>
            </p:cNvSpPr>
            <p:nvPr/>
          </p:nvSpPr>
          <p:spPr bwMode="auto">
            <a:xfrm>
              <a:off x="7937500" y="1951038"/>
              <a:ext cx="792163"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9713" name="Rectangle 8"/>
            <p:cNvSpPr>
              <a:spLocks noChangeArrowheads="1"/>
            </p:cNvSpPr>
            <p:nvPr/>
          </p:nvSpPr>
          <p:spPr bwMode="auto">
            <a:xfrm>
              <a:off x="7146925" y="1951038"/>
              <a:ext cx="790575"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9714" name="Rectangle 9"/>
            <p:cNvSpPr>
              <a:spLocks noChangeArrowheads="1"/>
            </p:cNvSpPr>
            <p:nvPr/>
          </p:nvSpPr>
          <p:spPr bwMode="auto">
            <a:xfrm>
              <a:off x="6354763" y="1951038"/>
              <a:ext cx="792163"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9715" name="Rectangle 10"/>
            <p:cNvSpPr>
              <a:spLocks noChangeArrowheads="1"/>
            </p:cNvSpPr>
            <p:nvPr/>
          </p:nvSpPr>
          <p:spPr bwMode="auto">
            <a:xfrm>
              <a:off x="5564188" y="1951038"/>
              <a:ext cx="790575"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9716" name="Rectangle 11"/>
            <p:cNvSpPr>
              <a:spLocks noChangeArrowheads="1"/>
            </p:cNvSpPr>
            <p:nvPr/>
          </p:nvSpPr>
          <p:spPr bwMode="auto">
            <a:xfrm>
              <a:off x="4724400" y="1905000"/>
              <a:ext cx="792163" cy="746125"/>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a:solidFill>
                    <a:schemeClr val="tx1"/>
                  </a:solidFill>
                </a:rPr>
                <a:t>    ab</a:t>
              </a:r>
            </a:p>
            <a:p>
              <a:pPr>
                <a:lnSpc>
                  <a:spcPct val="90000"/>
                </a:lnSpc>
                <a:spcBef>
                  <a:spcPct val="30000"/>
                </a:spcBef>
                <a:buSzPct val="85000"/>
              </a:pPr>
              <a:r>
                <a:rPr lang="en-US">
                  <a:solidFill>
                    <a:schemeClr val="tx1"/>
                  </a:solidFill>
                </a:rPr>
                <a:t>  cd</a:t>
              </a:r>
            </a:p>
          </p:txBody>
        </p:sp>
        <p:sp>
          <p:nvSpPr>
            <p:cNvPr id="29717" name="Line 12"/>
            <p:cNvSpPr>
              <a:spLocks noChangeShapeType="1"/>
            </p:cNvSpPr>
            <p:nvPr/>
          </p:nvSpPr>
          <p:spPr bwMode="auto">
            <a:xfrm>
              <a:off x="4772025" y="1951038"/>
              <a:ext cx="792163" cy="0"/>
            </a:xfrm>
            <a:prstGeom prst="line">
              <a:avLst/>
            </a:prstGeom>
            <a:noFill/>
            <a:ln w="28575" cap="sq">
              <a:noFill/>
              <a:round/>
              <a:headEnd type="none" w="med" len="lg"/>
              <a:tailEnd type="none" w="sm" len="sm"/>
            </a:ln>
          </p:spPr>
          <p:txBody>
            <a:bodyPr/>
            <a:lstStyle/>
            <a:p>
              <a:endParaRPr lang="en-US"/>
            </a:p>
          </p:txBody>
        </p:sp>
        <p:sp>
          <p:nvSpPr>
            <p:cNvPr id="29718" name="Line 13"/>
            <p:cNvSpPr>
              <a:spLocks noChangeShapeType="1"/>
            </p:cNvSpPr>
            <p:nvPr/>
          </p:nvSpPr>
          <p:spPr bwMode="auto">
            <a:xfrm>
              <a:off x="4772025" y="1951038"/>
              <a:ext cx="0" cy="746125"/>
            </a:xfrm>
            <a:prstGeom prst="line">
              <a:avLst/>
            </a:prstGeom>
            <a:noFill/>
            <a:ln w="28575" cap="sq">
              <a:noFill/>
              <a:round/>
              <a:headEnd type="none" w="med" len="lg"/>
              <a:tailEnd type="none" w="sm" len="sm"/>
            </a:ln>
          </p:spPr>
          <p:txBody>
            <a:bodyPr/>
            <a:lstStyle/>
            <a:p>
              <a:endParaRPr lang="en-US"/>
            </a:p>
          </p:txBody>
        </p:sp>
        <p:sp>
          <p:nvSpPr>
            <p:cNvPr id="29719" name="Line 14"/>
            <p:cNvSpPr>
              <a:spLocks noChangeShapeType="1"/>
            </p:cNvSpPr>
            <p:nvPr/>
          </p:nvSpPr>
          <p:spPr bwMode="auto">
            <a:xfrm>
              <a:off x="5564188" y="1951038"/>
              <a:ext cx="790575" cy="0"/>
            </a:xfrm>
            <a:prstGeom prst="line">
              <a:avLst/>
            </a:prstGeom>
            <a:noFill/>
            <a:ln w="28575" cap="sq">
              <a:noFill/>
              <a:round/>
              <a:headEnd type="none" w="med" len="lg"/>
              <a:tailEnd type="none" w="sm" len="sm"/>
            </a:ln>
          </p:spPr>
          <p:txBody>
            <a:bodyPr/>
            <a:lstStyle/>
            <a:p>
              <a:endParaRPr lang="en-US"/>
            </a:p>
          </p:txBody>
        </p:sp>
        <p:sp>
          <p:nvSpPr>
            <p:cNvPr id="29720" name="Line 15"/>
            <p:cNvSpPr>
              <a:spLocks noChangeShapeType="1"/>
            </p:cNvSpPr>
            <p:nvPr/>
          </p:nvSpPr>
          <p:spPr bwMode="auto">
            <a:xfrm>
              <a:off x="4772025" y="2697163"/>
              <a:ext cx="0" cy="673100"/>
            </a:xfrm>
            <a:prstGeom prst="line">
              <a:avLst/>
            </a:prstGeom>
            <a:noFill/>
            <a:ln w="28575" cap="sq">
              <a:noFill/>
              <a:round/>
              <a:headEnd type="none" w="med" len="lg"/>
              <a:tailEnd type="none" w="sm" len="sm"/>
            </a:ln>
          </p:spPr>
          <p:txBody>
            <a:bodyPr/>
            <a:lstStyle/>
            <a:p>
              <a:endParaRPr lang="en-US"/>
            </a:p>
          </p:txBody>
        </p:sp>
        <p:sp>
          <p:nvSpPr>
            <p:cNvPr id="29721" name="Line 16"/>
            <p:cNvSpPr>
              <a:spLocks noChangeShapeType="1"/>
            </p:cNvSpPr>
            <p:nvPr/>
          </p:nvSpPr>
          <p:spPr bwMode="auto">
            <a:xfrm>
              <a:off x="4772025" y="3370263"/>
              <a:ext cx="0" cy="704850"/>
            </a:xfrm>
            <a:prstGeom prst="line">
              <a:avLst/>
            </a:prstGeom>
            <a:noFill/>
            <a:ln w="28575" cap="sq">
              <a:noFill/>
              <a:round/>
              <a:headEnd type="none" w="med" len="lg"/>
              <a:tailEnd type="none" w="sm" len="sm"/>
            </a:ln>
          </p:spPr>
          <p:txBody>
            <a:bodyPr/>
            <a:lstStyle/>
            <a:p>
              <a:endParaRPr lang="en-US"/>
            </a:p>
          </p:txBody>
        </p:sp>
        <p:sp>
          <p:nvSpPr>
            <p:cNvPr id="29722" name="Line 17"/>
            <p:cNvSpPr>
              <a:spLocks noChangeShapeType="1"/>
            </p:cNvSpPr>
            <p:nvPr/>
          </p:nvSpPr>
          <p:spPr bwMode="auto">
            <a:xfrm>
              <a:off x="8729663" y="1951038"/>
              <a:ext cx="0" cy="746125"/>
            </a:xfrm>
            <a:prstGeom prst="line">
              <a:avLst/>
            </a:prstGeom>
            <a:noFill/>
            <a:ln w="28575" cap="sq">
              <a:noFill/>
              <a:round/>
              <a:headEnd type="none" w="med" len="lg"/>
              <a:tailEnd type="none" w="sm" len="sm"/>
            </a:ln>
          </p:spPr>
          <p:txBody>
            <a:bodyPr/>
            <a:lstStyle/>
            <a:p>
              <a:endParaRPr lang="en-US"/>
            </a:p>
          </p:txBody>
        </p:sp>
        <p:sp>
          <p:nvSpPr>
            <p:cNvPr id="29723" name="Line 18"/>
            <p:cNvSpPr>
              <a:spLocks noChangeShapeType="1"/>
            </p:cNvSpPr>
            <p:nvPr/>
          </p:nvSpPr>
          <p:spPr bwMode="auto">
            <a:xfrm>
              <a:off x="4772025" y="4075113"/>
              <a:ext cx="792163" cy="0"/>
            </a:xfrm>
            <a:prstGeom prst="line">
              <a:avLst/>
            </a:prstGeom>
            <a:noFill/>
            <a:ln w="28575" cap="sq">
              <a:noFill/>
              <a:round/>
              <a:headEnd type="none" w="med" len="lg"/>
              <a:tailEnd type="none" w="sm" len="sm"/>
            </a:ln>
          </p:spPr>
          <p:txBody>
            <a:bodyPr/>
            <a:lstStyle/>
            <a:p>
              <a:endParaRPr lang="en-US"/>
            </a:p>
          </p:txBody>
        </p:sp>
        <p:sp>
          <p:nvSpPr>
            <p:cNvPr id="29724" name="Line 19"/>
            <p:cNvSpPr>
              <a:spLocks noChangeShapeType="1"/>
            </p:cNvSpPr>
            <p:nvPr/>
          </p:nvSpPr>
          <p:spPr bwMode="auto">
            <a:xfrm>
              <a:off x="5003800" y="2159000"/>
              <a:ext cx="546100" cy="523875"/>
            </a:xfrm>
            <a:prstGeom prst="line">
              <a:avLst/>
            </a:prstGeom>
            <a:noFill/>
            <a:ln w="12700">
              <a:solidFill>
                <a:schemeClr val="tx1"/>
              </a:solidFill>
              <a:round/>
              <a:headEnd type="none" w="sm" len="sm"/>
              <a:tailEnd type="none" w="sm" len="sm"/>
            </a:ln>
          </p:spPr>
          <p:txBody>
            <a:bodyPr/>
            <a:lstStyle/>
            <a:p>
              <a:endParaRPr lang="en-US"/>
            </a:p>
          </p:txBody>
        </p:sp>
        <p:sp>
          <p:nvSpPr>
            <p:cNvPr id="29725" name="Rectangle 20"/>
            <p:cNvSpPr>
              <a:spLocks noChangeArrowheads="1"/>
            </p:cNvSpPr>
            <p:nvPr/>
          </p:nvSpPr>
          <p:spPr bwMode="auto">
            <a:xfrm>
              <a:off x="7937500" y="3370263"/>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26" name="Rectangle 21"/>
            <p:cNvSpPr>
              <a:spLocks noChangeArrowheads="1"/>
            </p:cNvSpPr>
            <p:nvPr/>
          </p:nvSpPr>
          <p:spPr bwMode="auto">
            <a:xfrm>
              <a:off x="7146925" y="3370263"/>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27" name="Rectangle 22"/>
            <p:cNvSpPr>
              <a:spLocks noChangeArrowheads="1"/>
            </p:cNvSpPr>
            <p:nvPr/>
          </p:nvSpPr>
          <p:spPr bwMode="auto">
            <a:xfrm>
              <a:off x="6354763" y="3370263"/>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28" name="Rectangle 23"/>
            <p:cNvSpPr>
              <a:spLocks noChangeArrowheads="1"/>
            </p:cNvSpPr>
            <p:nvPr/>
          </p:nvSpPr>
          <p:spPr bwMode="auto">
            <a:xfrm>
              <a:off x="5564188" y="3370263"/>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29" name="Rectangle 24"/>
            <p:cNvSpPr>
              <a:spLocks noChangeArrowheads="1"/>
            </p:cNvSpPr>
            <p:nvPr/>
          </p:nvSpPr>
          <p:spPr bwMode="auto">
            <a:xfrm>
              <a:off x="7937500" y="2697163"/>
              <a:ext cx="792163"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30" name="Rectangle 25"/>
            <p:cNvSpPr>
              <a:spLocks noChangeArrowheads="1"/>
            </p:cNvSpPr>
            <p:nvPr/>
          </p:nvSpPr>
          <p:spPr bwMode="auto">
            <a:xfrm>
              <a:off x="6354763" y="2697163"/>
              <a:ext cx="792163"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31" name="Rectangle 26"/>
            <p:cNvSpPr>
              <a:spLocks noChangeArrowheads="1"/>
            </p:cNvSpPr>
            <p:nvPr/>
          </p:nvSpPr>
          <p:spPr bwMode="auto">
            <a:xfrm>
              <a:off x="5564188" y="2697163"/>
              <a:ext cx="790575"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32" name="Line 27"/>
            <p:cNvSpPr>
              <a:spLocks noChangeShapeType="1"/>
            </p:cNvSpPr>
            <p:nvPr/>
          </p:nvSpPr>
          <p:spPr bwMode="auto">
            <a:xfrm>
              <a:off x="8729663" y="2697163"/>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33" name="Line 28"/>
            <p:cNvSpPr>
              <a:spLocks noChangeShapeType="1"/>
            </p:cNvSpPr>
            <p:nvPr/>
          </p:nvSpPr>
          <p:spPr bwMode="auto">
            <a:xfrm>
              <a:off x="5564188" y="2697163"/>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34" name="Line 29"/>
            <p:cNvSpPr>
              <a:spLocks noChangeShapeType="1"/>
            </p:cNvSpPr>
            <p:nvPr/>
          </p:nvSpPr>
          <p:spPr bwMode="auto">
            <a:xfrm>
              <a:off x="5564188" y="2697163"/>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35" name="Line 30"/>
            <p:cNvSpPr>
              <a:spLocks noChangeShapeType="1"/>
            </p:cNvSpPr>
            <p:nvPr/>
          </p:nvSpPr>
          <p:spPr bwMode="auto">
            <a:xfrm>
              <a:off x="6354763" y="2697163"/>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36" name="Line 31"/>
            <p:cNvSpPr>
              <a:spLocks noChangeShapeType="1"/>
            </p:cNvSpPr>
            <p:nvPr/>
          </p:nvSpPr>
          <p:spPr bwMode="auto">
            <a:xfrm>
              <a:off x="7146925" y="2697163"/>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37" name="Line 32"/>
            <p:cNvSpPr>
              <a:spLocks noChangeShapeType="1"/>
            </p:cNvSpPr>
            <p:nvPr/>
          </p:nvSpPr>
          <p:spPr bwMode="auto">
            <a:xfrm>
              <a:off x="7937500" y="2697163"/>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38" name="Line 33"/>
            <p:cNvSpPr>
              <a:spLocks noChangeShapeType="1"/>
            </p:cNvSpPr>
            <p:nvPr/>
          </p:nvSpPr>
          <p:spPr bwMode="auto">
            <a:xfrm>
              <a:off x="5564188" y="3370263"/>
              <a:ext cx="3165475" cy="0"/>
            </a:xfrm>
            <a:prstGeom prst="line">
              <a:avLst/>
            </a:prstGeom>
            <a:noFill/>
            <a:ln w="12700">
              <a:solidFill>
                <a:schemeClr val="tx1"/>
              </a:solidFill>
              <a:round/>
              <a:headEnd type="none" w="med" len="lg"/>
              <a:tailEnd type="none" w="sm" len="sm"/>
            </a:ln>
          </p:spPr>
          <p:txBody>
            <a:bodyPr/>
            <a:lstStyle/>
            <a:p>
              <a:endParaRPr lang="en-US"/>
            </a:p>
          </p:txBody>
        </p:sp>
        <p:sp>
          <p:nvSpPr>
            <p:cNvPr id="29739" name="Line 34"/>
            <p:cNvSpPr>
              <a:spLocks noChangeShapeType="1"/>
            </p:cNvSpPr>
            <p:nvPr/>
          </p:nvSpPr>
          <p:spPr bwMode="auto">
            <a:xfrm>
              <a:off x="5572125" y="4100513"/>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40" name="Line 35"/>
            <p:cNvSpPr>
              <a:spLocks noChangeShapeType="1"/>
            </p:cNvSpPr>
            <p:nvPr/>
          </p:nvSpPr>
          <p:spPr bwMode="auto">
            <a:xfrm>
              <a:off x="5930900" y="5335588"/>
              <a:ext cx="792163" cy="0"/>
            </a:xfrm>
            <a:prstGeom prst="line">
              <a:avLst/>
            </a:prstGeom>
            <a:noFill/>
            <a:ln w="28575" cap="sq">
              <a:noFill/>
              <a:round/>
              <a:headEnd type="none" w="med" len="lg"/>
              <a:tailEnd type="none" w="sm" len="sm"/>
            </a:ln>
          </p:spPr>
          <p:txBody>
            <a:bodyPr/>
            <a:lstStyle/>
            <a:p>
              <a:endParaRPr lang="en-US"/>
            </a:p>
          </p:txBody>
        </p:sp>
        <p:sp>
          <p:nvSpPr>
            <p:cNvPr id="29741" name="Line 36"/>
            <p:cNvSpPr>
              <a:spLocks noChangeShapeType="1"/>
            </p:cNvSpPr>
            <p:nvPr/>
          </p:nvSpPr>
          <p:spPr bwMode="auto">
            <a:xfrm>
              <a:off x="6723063" y="5335588"/>
              <a:ext cx="790575" cy="0"/>
            </a:xfrm>
            <a:prstGeom prst="line">
              <a:avLst/>
            </a:prstGeom>
            <a:noFill/>
            <a:ln w="28575" cap="sq">
              <a:noFill/>
              <a:round/>
              <a:headEnd type="none" w="med" len="lg"/>
              <a:tailEnd type="none" w="sm" len="sm"/>
            </a:ln>
          </p:spPr>
          <p:txBody>
            <a:bodyPr/>
            <a:lstStyle/>
            <a:p>
              <a:endParaRPr lang="en-US"/>
            </a:p>
          </p:txBody>
        </p:sp>
        <p:sp>
          <p:nvSpPr>
            <p:cNvPr id="29742" name="Line 37"/>
            <p:cNvSpPr>
              <a:spLocks noChangeShapeType="1"/>
            </p:cNvSpPr>
            <p:nvPr/>
          </p:nvSpPr>
          <p:spPr bwMode="auto">
            <a:xfrm>
              <a:off x="7513638" y="5335588"/>
              <a:ext cx="792163" cy="0"/>
            </a:xfrm>
            <a:prstGeom prst="line">
              <a:avLst/>
            </a:prstGeom>
            <a:noFill/>
            <a:ln w="28575" cap="sq">
              <a:noFill/>
              <a:round/>
              <a:headEnd type="none" w="med" len="lg"/>
              <a:tailEnd type="none" w="sm" len="sm"/>
            </a:ln>
          </p:spPr>
          <p:txBody>
            <a:bodyPr/>
            <a:lstStyle/>
            <a:p>
              <a:endParaRPr lang="en-US"/>
            </a:p>
          </p:txBody>
        </p:sp>
        <p:sp>
          <p:nvSpPr>
            <p:cNvPr id="29743" name="Rectangle 38"/>
            <p:cNvSpPr>
              <a:spLocks noChangeArrowheads="1"/>
            </p:cNvSpPr>
            <p:nvPr/>
          </p:nvSpPr>
          <p:spPr bwMode="auto">
            <a:xfrm>
              <a:off x="7937500" y="4762500"/>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44" name="Rectangle 39"/>
            <p:cNvSpPr>
              <a:spLocks noChangeArrowheads="1"/>
            </p:cNvSpPr>
            <p:nvPr/>
          </p:nvSpPr>
          <p:spPr bwMode="auto">
            <a:xfrm>
              <a:off x="7146925" y="4762500"/>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45" name="Rectangle 40"/>
            <p:cNvSpPr>
              <a:spLocks noChangeArrowheads="1"/>
            </p:cNvSpPr>
            <p:nvPr/>
          </p:nvSpPr>
          <p:spPr bwMode="auto">
            <a:xfrm>
              <a:off x="6354763" y="4762500"/>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46" name="Rectangle 41"/>
            <p:cNvSpPr>
              <a:spLocks noChangeArrowheads="1"/>
            </p:cNvSpPr>
            <p:nvPr/>
          </p:nvSpPr>
          <p:spPr bwMode="auto">
            <a:xfrm>
              <a:off x="5564188" y="4762500"/>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47" name="Rectangle 42"/>
            <p:cNvSpPr>
              <a:spLocks noChangeArrowheads="1"/>
            </p:cNvSpPr>
            <p:nvPr/>
          </p:nvSpPr>
          <p:spPr bwMode="auto">
            <a:xfrm>
              <a:off x="7937500" y="4089400"/>
              <a:ext cx="792163"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48" name="Rectangle 43"/>
            <p:cNvSpPr>
              <a:spLocks noChangeArrowheads="1"/>
            </p:cNvSpPr>
            <p:nvPr/>
          </p:nvSpPr>
          <p:spPr bwMode="auto">
            <a:xfrm>
              <a:off x="5564188" y="4089400"/>
              <a:ext cx="790575"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49" name="Line 44"/>
            <p:cNvSpPr>
              <a:spLocks noChangeShapeType="1"/>
            </p:cNvSpPr>
            <p:nvPr/>
          </p:nvSpPr>
          <p:spPr bwMode="auto">
            <a:xfrm>
              <a:off x="8729663" y="4089400"/>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50" name="Line 45"/>
            <p:cNvSpPr>
              <a:spLocks noChangeShapeType="1"/>
            </p:cNvSpPr>
            <p:nvPr/>
          </p:nvSpPr>
          <p:spPr bwMode="auto">
            <a:xfrm>
              <a:off x="5564188" y="5467350"/>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51" name="Line 46"/>
            <p:cNvSpPr>
              <a:spLocks noChangeShapeType="1"/>
            </p:cNvSpPr>
            <p:nvPr/>
          </p:nvSpPr>
          <p:spPr bwMode="auto">
            <a:xfrm>
              <a:off x="5564188" y="4089400"/>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52" name="Line 47"/>
            <p:cNvSpPr>
              <a:spLocks noChangeShapeType="1"/>
            </p:cNvSpPr>
            <p:nvPr/>
          </p:nvSpPr>
          <p:spPr bwMode="auto">
            <a:xfrm>
              <a:off x="5564188" y="4089400"/>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53" name="Line 48"/>
            <p:cNvSpPr>
              <a:spLocks noChangeShapeType="1"/>
            </p:cNvSpPr>
            <p:nvPr/>
          </p:nvSpPr>
          <p:spPr bwMode="auto">
            <a:xfrm>
              <a:off x="6354763" y="4089400"/>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54" name="Line 49"/>
            <p:cNvSpPr>
              <a:spLocks noChangeShapeType="1"/>
            </p:cNvSpPr>
            <p:nvPr/>
          </p:nvSpPr>
          <p:spPr bwMode="auto">
            <a:xfrm>
              <a:off x="7146925" y="4089400"/>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55" name="Line 50"/>
            <p:cNvSpPr>
              <a:spLocks noChangeShapeType="1"/>
            </p:cNvSpPr>
            <p:nvPr/>
          </p:nvSpPr>
          <p:spPr bwMode="auto">
            <a:xfrm>
              <a:off x="7937500" y="4089400"/>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56" name="Line 51"/>
            <p:cNvSpPr>
              <a:spLocks noChangeShapeType="1"/>
            </p:cNvSpPr>
            <p:nvPr/>
          </p:nvSpPr>
          <p:spPr bwMode="auto">
            <a:xfrm>
              <a:off x="5564188" y="4762500"/>
              <a:ext cx="3165475" cy="0"/>
            </a:xfrm>
            <a:prstGeom prst="line">
              <a:avLst/>
            </a:prstGeom>
            <a:noFill/>
            <a:ln w="12700">
              <a:solidFill>
                <a:schemeClr val="tx1"/>
              </a:solidFill>
              <a:round/>
              <a:headEnd type="none" w="med" len="lg"/>
              <a:tailEnd type="none" w="sm" len="sm"/>
            </a:ln>
          </p:spPr>
          <p:txBody>
            <a:bodyPr/>
            <a:lstStyle/>
            <a:p>
              <a:endParaRPr lang="en-US"/>
            </a:p>
          </p:txBody>
        </p:sp>
        <p:sp>
          <p:nvSpPr>
            <p:cNvPr id="29757" name="Rectangle 52"/>
            <p:cNvSpPr>
              <a:spLocks noChangeArrowheads="1"/>
            </p:cNvSpPr>
            <p:nvPr/>
          </p:nvSpPr>
          <p:spPr bwMode="auto">
            <a:xfrm>
              <a:off x="4783138" y="4051300"/>
              <a:ext cx="792163" cy="70485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11</a:t>
              </a:r>
            </a:p>
          </p:txBody>
        </p:sp>
        <p:sp>
          <p:nvSpPr>
            <p:cNvPr id="29758" name="Rectangle 53"/>
            <p:cNvSpPr>
              <a:spLocks noChangeArrowheads="1"/>
            </p:cNvSpPr>
            <p:nvPr/>
          </p:nvSpPr>
          <p:spPr bwMode="auto">
            <a:xfrm>
              <a:off x="4765675" y="4718050"/>
              <a:ext cx="792163" cy="70485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10</a:t>
              </a:r>
            </a:p>
          </p:txBody>
        </p:sp>
        <p:sp>
          <p:nvSpPr>
            <p:cNvPr id="29759" name="Rectangle 54"/>
            <p:cNvSpPr>
              <a:spLocks noChangeArrowheads="1"/>
            </p:cNvSpPr>
            <p:nvPr/>
          </p:nvSpPr>
          <p:spPr bwMode="auto">
            <a:xfrm>
              <a:off x="7138988" y="2673350"/>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60" name="Rectangle 55"/>
            <p:cNvSpPr>
              <a:spLocks noChangeArrowheads="1"/>
            </p:cNvSpPr>
            <p:nvPr/>
          </p:nvSpPr>
          <p:spPr bwMode="auto">
            <a:xfrm>
              <a:off x="7148513" y="4056063"/>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61" name="Rectangle 56"/>
            <p:cNvSpPr>
              <a:spLocks noChangeArrowheads="1"/>
            </p:cNvSpPr>
            <p:nvPr/>
          </p:nvSpPr>
          <p:spPr bwMode="auto">
            <a:xfrm>
              <a:off x="6365875" y="4078288"/>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grpSp>
      <p:sp>
        <p:nvSpPr>
          <p:cNvPr id="85060" name="Oval 68"/>
          <p:cNvSpPr>
            <a:spLocks noChangeArrowheads="1"/>
          </p:cNvSpPr>
          <p:nvPr/>
        </p:nvSpPr>
        <p:spPr bwMode="auto">
          <a:xfrm>
            <a:off x="9601201" y="5048873"/>
            <a:ext cx="544513"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66" name="Oval 186"/>
          <p:cNvSpPr>
            <a:spLocks noChangeArrowheads="1"/>
          </p:cNvSpPr>
          <p:nvPr/>
        </p:nvSpPr>
        <p:spPr bwMode="auto">
          <a:xfrm>
            <a:off x="8763001" y="3372473"/>
            <a:ext cx="630237" cy="3211513"/>
          </a:xfrm>
          <a:prstGeom prst="ellipse">
            <a:avLst/>
          </a:prstGeom>
          <a:noFill/>
          <a:ln w="38100">
            <a:solidFill>
              <a:srgbClr val="FF0000"/>
            </a:solidFill>
            <a:round/>
            <a:headEnd type="none" w="sm" len="sm"/>
            <a:tailEnd type="none" w="sm" len="sm"/>
          </a:ln>
        </p:spPr>
        <p:txBody>
          <a:bodyPr wrap="none" anchor="ctr"/>
          <a:lstStyle/>
          <a:p>
            <a:endParaRPr lang="en-US"/>
          </a:p>
        </p:txBody>
      </p:sp>
      <p:sp>
        <p:nvSpPr>
          <p:cNvPr id="67" name="Oval 186"/>
          <p:cNvSpPr>
            <a:spLocks noChangeArrowheads="1"/>
          </p:cNvSpPr>
          <p:nvPr/>
        </p:nvSpPr>
        <p:spPr bwMode="auto">
          <a:xfrm>
            <a:off x="7086600" y="4972672"/>
            <a:ext cx="3352800" cy="762000"/>
          </a:xfrm>
          <a:prstGeom prst="ellipse">
            <a:avLst/>
          </a:prstGeom>
          <a:noFill/>
          <a:ln w="38100">
            <a:solidFill>
              <a:srgbClr val="FF0000"/>
            </a:solidFill>
            <a:round/>
            <a:headEnd type="none" w="sm" len="sm"/>
            <a:tailEnd type="none" w="sm" len="sm"/>
          </a:ln>
          <a:scene3d>
            <a:camera prst="orthographicFront">
              <a:rot lat="0" lon="0" rev="0"/>
            </a:camera>
            <a:lightRig rig="threePt" dir="t"/>
          </a:scene3d>
        </p:spPr>
        <p:txBody>
          <a:bodyPr wrap="none" anchor="ctr"/>
          <a:lstStyle/>
          <a:p>
            <a:endParaRPr lang="en-US"/>
          </a:p>
        </p:txBody>
      </p:sp>
      <p:sp>
        <p:nvSpPr>
          <p:cNvPr id="70" name="Oval 60"/>
          <p:cNvSpPr>
            <a:spLocks noChangeArrowheads="1"/>
          </p:cNvSpPr>
          <p:nvPr/>
        </p:nvSpPr>
        <p:spPr bwMode="auto">
          <a:xfrm>
            <a:off x="8839201" y="4363072"/>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71" name="Oval 60"/>
          <p:cNvSpPr>
            <a:spLocks noChangeArrowheads="1"/>
          </p:cNvSpPr>
          <p:nvPr/>
        </p:nvSpPr>
        <p:spPr bwMode="auto">
          <a:xfrm>
            <a:off x="8839201" y="5734672"/>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72" name="Oval 60"/>
          <p:cNvSpPr>
            <a:spLocks noChangeArrowheads="1"/>
          </p:cNvSpPr>
          <p:nvPr/>
        </p:nvSpPr>
        <p:spPr bwMode="auto">
          <a:xfrm>
            <a:off x="8001001" y="5048872"/>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87403644-4D52-41F6-89B9-DF8667E14DBC}" type="slidenum">
              <a:rPr lang="en-US" smtClean="0"/>
              <a:pPr>
                <a:defRPr/>
              </a:pPr>
              <a:t>22</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99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499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4995">
                                            <p:txEl>
                                              <p:pRg st="7" end="7"/>
                                            </p:txEl>
                                          </p:spTgt>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70"/>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71"/>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66"/>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4995">
                                            <p:txEl>
                                              <p:pRg st="8" end="8"/>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506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4995">
                                            <p:txEl>
                                              <p:pRg st="9" end="9"/>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4995">
                                            <p:txEl>
                                              <p:pRg st="10" end="10"/>
                                            </p:txEl>
                                          </p:spTgt>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67"/>
                                        </p:tgtEl>
                                        <p:attrNameLst>
                                          <p:attrName>style.visibility</p:attrName>
                                        </p:attrNameLst>
                                      </p:cBhvr>
                                      <p:to>
                                        <p:strVal val="hidden"/>
                                      </p:to>
                                    </p:set>
                                  </p:childTnLst>
                                </p:cTn>
                              </p:par>
                              <p:par>
                                <p:cTn id="53" presetID="1" presetClass="entr" presetSubtype="0" fill="hold" grpId="1" nodeType="withEffect">
                                  <p:stCondLst>
                                    <p:cond delay="0"/>
                                  </p:stCondLst>
                                  <p:childTnLst>
                                    <p:set>
                                      <p:cBhvr>
                                        <p:cTn id="54" dur="1" fill="hold">
                                          <p:stCondLst>
                                            <p:cond delay="0"/>
                                          </p:stCondLst>
                                        </p:cTn>
                                        <p:tgtEl>
                                          <p:spTgt spid="72"/>
                                        </p:tgtEl>
                                        <p:attrNameLst>
                                          <p:attrName>style.visibility</p:attrName>
                                        </p:attrNameLst>
                                      </p:cBhvr>
                                      <p:to>
                                        <p:strVal val="visible"/>
                                      </p:to>
                                    </p:set>
                                  </p:childTnLst>
                                </p:cTn>
                              </p:par>
                              <p:par>
                                <p:cTn id="55" presetID="1" presetClass="entr" presetSubtype="0" fill="hold" grpId="2" nodeType="with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par>
                                <p:cTn id="57" presetID="1" presetClass="entr" presetSubtype="0" fill="hold" grpId="2" nodeType="withEffect">
                                  <p:stCondLst>
                                    <p:cond delay="0"/>
                                  </p:stCondLst>
                                  <p:childTnLst>
                                    <p:set>
                                      <p:cBhvr>
                                        <p:cTn id="58"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60" grpId="0" animBg="1"/>
      <p:bldP spid="66" grpId="0" animBg="1"/>
      <p:bldP spid="66" grpId="1" animBg="1"/>
      <p:bldP spid="67" grpId="0" animBg="1"/>
      <p:bldP spid="67" grpId="1" animBg="1"/>
      <p:bldP spid="70" grpId="0" animBg="1"/>
      <p:bldP spid="70" grpId="1" animBg="1"/>
      <p:bldP spid="70" grpId="2" animBg="1"/>
      <p:bldP spid="71" grpId="0" animBg="1"/>
      <p:bldP spid="71" grpId="1" animBg="1"/>
      <p:bldP spid="71" grpId="2" animBg="1"/>
      <p:bldP spid="72" grpId="0" animBg="1"/>
      <p:bldP spid="72"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7403644-4D52-41F6-89B9-DF8667E14DBC}" type="slidenum">
              <a:rPr lang="en-US" smtClean="0"/>
              <a:pPr>
                <a:defRPr/>
              </a:pPr>
              <a:t>23</a:t>
            </a:fld>
            <a:endParaRPr lang="en-US"/>
          </a:p>
        </p:txBody>
      </p:sp>
      <p:sp>
        <p:nvSpPr>
          <p:cNvPr id="5" name="内容占位符 4"/>
          <p:cNvSpPr>
            <a:spLocks noGrp="1"/>
          </p:cNvSpPr>
          <p:nvPr>
            <p:ph idx="1"/>
          </p:nvPr>
        </p:nvSpPr>
        <p:spPr>
          <a:xfrm>
            <a:off x="1662114" y="876301"/>
            <a:ext cx="8867775" cy="3583161"/>
          </a:xfrm>
          <a:prstGeom prst="rect">
            <a:avLst/>
          </a:prstGeom>
        </p:spPr>
        <p:txBody>
          <a:bodyPr wrap="square">
            <a:spAutoFit/>
          </a:bodyPr>
          <a:lstStyle/>
          <a:p>
            <a:endParaRPr lang="en-US" altLang="zh-CN" dirty="0"/>
          </a:p>
          <a:p>
            <a:r>
              <a:rPr lang="zh-CN" altLang="en-US" dirty="0"/>
              <a:t>Near false points for any given true point are simply those false points that are immediately adjacent in the Karnaugh map. </a:t>
            </a:r>
          </a:p>
          <a:p>
            <a:endParaRPr lang="en-US" altLang="zh-CN" dirty="0"/>
          </a:p>
          <a:p>
            <a:r>
              <a:rPr lang="zh-CN" altLang="en-US" dirty="0"/>
              <a:t>For CUTPNFP, pair up near false points with unique true points, being careful to obtain a pairing for each clause in f.</a:t>
            </a:r>
          </a:p>
        </p:txBody>
      </p:sp>
      <p:sp>
        <p:nvSpPr>
          <p:cNvPr id="7" name="Rectangle 2"/>
          <p:cNvSpPr txBox="1">
            <a:spLocks noChangeArrowheads="1"/>
          </p:cNvSpPr>
          <p:nvPr/>
        </p:nvSpPr>
        <p:spPr bwMode="auto">
          <a:xfrm>
            <a:off x="1545086" y="103188"/>
            <a:ext cx="9087584" cy="1328570"/>
          </a:xfrm>
          <a:prstGeom prst="rect">
            <a:avLst/>
          </a:prstGeom>
          <a:noFill/>
          <a:ln w="9525">
            <a:noFill/>
            <a:miter lim="800000"/>
            <a:headEnd/>
            <a:tailEnd/>
          </a:ln>
        </p:spPr>
        <p:txBody>
          <a:bodyPr vert="horz" wrap="square" lIns="92075" tIns="46038" rIns="92075" bIns="46038" numCol="1" anchor="ctr" anchorCtr="0" compatLnSpc="1">
            <a:prstTxWarp prst="textNoShape">
              <a:avLst/>
            </a:prstTxWarp>
          </a:bodyPr>
          <a:lstStyle>
            <a:lvl1pPr algn="ctr" rtl="0" eaLnBrk="0" fontAlgn="base" hangingPunct="0">
              <a:lnSpc>
                <a:spcPct val="90000"/>
              </a:lnSpc>
              <a:spcBef>
                <a:spcPct val="0"/>
              </a:spcBef>
              <a:spcAft>
                <a:spcPct val="0"/>
              </a:spcAft>
              <a:defRPr sz="3600" b="1">
                <a:solidFill>
                  <a:schemeClr val="tx2"/>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cs typeface="Verdana" panose="020B0604030504040204" pitchFamily="34" charset="0"/>
              </a:defRPr>
            </a:lvl1pPr>
            <a:lvl2pPr algn="ctr" rtl="0" eaLnBrk="0" fontAlgn="base" hangingPunct="0">
              <a:lnSpc>
                <a:spcPct val="90000"/>
              </a:lnSpc>
              <a:spcBef>
                <a:spcPct val="0"/>
              </a:spcBef>
              <a:spcAft>
                <a:spcPct val="0"/>
              </a:spcAft>
              <a:defRPr sz="3600" b="1">
                <a:solidFill>
                  <a:schemeClr val="tx2"/>
                </a:solidFill>
                <a:latin typeface="Times New Roman" pitchFamily="18" charset="0"/>
              </a:defRPr>
            </a:lvl2pPr>
            <a:lvl3pPr algn="ctr" rtl="0" eaLnBrk="0" fontAlgn="base" hangingPunct="0">
              <a:lnSpc>
                <a:spcPct val="90000"/>
              </a:lnSpc>
              <a:spcBef>
                <a:spcPct val="0"/>
              </a:spcBef>
              <a:spcAft>
                <a:spcPct val="0"/>
              </a:spcAft>
              <a:defRPr sz="3600" b="1">
                <a:solidFill>
                  <a:schemeClr val="tx2"/>
                </a:solidFill>
                <a:latin typeface="Times New Roman" pitchFamily="18" charset="0"/>
              </a:defRPr>
            </a:lvl3pPr>
            <a:lvl4pPr algn="ctr" rtl="0" eaLnBrk="0" fontAlgn="base" hangingPunct="0">
              <a:lnSpc>
                <a:spcPct val="90000"/>
              </a:lnSpc>
              <a:spcBef>
                <a:spcPct val="0"/>
              </a:spcBef>
              <a:spcAft>
                <a:spcPct val="0"/>
              </a:spcAft>
              <a:defRPr sz="3600" b="1">
                <a:solidFill>
                  <a:schemeClr val="tx2"/>
                </a:solidFill>
                <a:latin typeface="Times New Roman" pitchFamily="18" charset="0"/>
              </a:defRPr>
            </a:lvl4pPr>
            <a:lvl5pPr algn="ctr" rtl="0" eaLnBrk="0" fontAlgn="base" hangingPunct="0">
              <a:lnSpc>
                <a:spcPct val="90000"/>
              </a:lnSpc>
              <a:spcBef>
                <a:spcPct val="0"/>
              </a:spcBef>
              <a:spcAft>
                <a:spcPct val="0"/>
              </a:spcAft>
              <a:defRPr sz="3600" b="1">
                <a:solidFill>
                  <a:schemeClr val="tx2"/>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a:lstStyle>
          <a:p>
            <a:r>
              <a:rPr lang="en-US" sz="3200" kern="0" dirty="0"/>
              <a:t>CUTPNFP: Corresponding Unique True Point Near False Point Pairs</a:t>
            </a:r>
          </a:p>
        </p:txBody>
      </p:sp>
    </p:spTree>
    <p:extLst>
      <p:ext uri="{BB962C8B-B14F-4D97-AF65-F5344CB8AC3E}">
        <p14:creationId xmlns:p14="http://schemas.microsoft.com/office/powerpoint/2010/main" val="163697262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1545086" y="103188"/>
            <a:ext cx="9087584" cy="1328570"/>
          </a:xfrm>
        </p:spPr>
        <p:txBody>
          <a:bodyPr/>
          <a:lstStyle/>
          <a:p>
            <a:r>
              <a:rPr lang="en-US" sz="3200" dirty="0"/>
              <a:t>CUTPNFP: Corresponding Unique True Point Near False Point Pairs</a:t>
            </a:r>
          </a:p>
        </p:txBody>
      </p:sp>
      <p:sp>
        <p:nvSpPr>
          <p:cNvPr id="84995" name="Rectangle 3"/>
          <p:cNvSpPr>
            <a:spLocks noGrp="1" noChangeArrowheads="1"/>
          </p:cNvSpPr>
          <p:nvPr>
            <p:ph type="body" idx="4294967295"/>
          </p:nvPr>
        </p:nvSpPr>
        <p:spPr>
          <a:xfrm>
            <a:off x="1530351" y="1130968"/>
            <a:ext cx="9118599" cy="5424210"/>
          </a:xfrm>
        </p:spPr>
        <p:txBody>
          <a:bodyPr/>
          <a:lstStyle/>
          <a:p>
            <a:pPr>
              <a:lnSpc>
                <a:spcPct val="80000"/>
              </a:lnSpc>
            </a:pPr>
            <a:r>
              <a:rPr lang="en-US" dirty="0"/>
              <a:t>Consider the DNF predicate:  </a:t>
            </a:r>
            <a:r>
              <a:rPr lang="en-US" i="1" dirty="0"/>
              <a:t>f = </a:t>
            </a:r>
            <a:r>
              <a:rPr lang="en-US" i="1" dirty="0" err="1"/>
              <a:t>ab</a:t>
            </a:r>
            <a:r>
              <a:rPr lang="en-US" i="1" dirty="0"/>
              <a:t> + </a:t>
            </a:r>
            <a:r>
              <a:rPr lang="en-US" i="1" dirty="0" err="1"/>
              <a:t>cd</a:t>
            </a:r>
            <a:endParaRPr lang="en-US" i="1" dirty="0"/>
          </a:p>
          <a:p>
            <a:pPr>
              <a:lnSpc>
                <a:spcPct val="80000"/>
              </a:lnSpc>
            </a:pPr>
            <a:r>
              <a:rPr lang="en-US" dirty="0"/>
              <a:t>For implicant </a:t>
            </a:r>
            <a:r>
              <a:rPr lang="en-US" i="1" dirty="0"/>
              <a:t>ab</a:t>
            </a:r>
          </a:p>
          <a:p>
            <a:pPr lvl="1">
              <a:lnSpc>
                <a:spcPct val="80000"/>
              </a:lnSpc>
            </a:pPr>
            <a:r>
              <a:rPr lang="en-US" dirty="0"/>
              <a:t>For </a:t>
            </a:r>
            <a:r>
              <a:rPr lang="en-US" i="1" dirty="0"/>
              <a:t>a</a:t>
            </a:r>
            <a:r>
              <a:rPr lang="en-US" dirty="0"/>
              <a:t>, choose UTP, NFP pair</a:t>
            </a:r>
          </a:p>
          <a:p>
            <a:pPr lvl="2">
              <a:lnSpc>
                <a:spcPct val="80000"/>
              </a:lnSpc>
            </a:pPr>
            <a:r>
              <a:rPr lang="en-US" dirty="0"/>
              <a:t>TTFF, FTFF</a:t>
            </a:r>
          </a:p>
          <a:p>
            <a:pPr lvl="1">
              <a:lnSpc>
                <a:spcPct val="80000"/>
              </a:lnSpc>
            </a:pPr>
            <a:r>
              <a:rPr lang="en-US" dirty="0"/>
              <a:t>For </a:t>
            </a:r>
            <a:r>
              <a:rPr lang="en-US" i="1" dirty="0"/>
              <a:t>b</a:t>
            </a:r>
            <a:r>
              <a:rPr lang="en-US" dirty="0"/>
              <a:t>, choose UTP, NFP pair</a:t>
            </a:r>
          </a:p>
          <a:p>
            <a:pPr lvl="2">
              <a:lnSpc>
                <a:spcPct val="80000"/>
              </a:lnSpc>
            </a:pPr>
            <a:r>
              <a:rPr lang="en-US" dirty="0"/>
              <a:t>TTFT, TFFT</a:t>
            </a:r>
          </a:p>
          <a:p>
            <a:pPr>
              <a:lnSpc>
                <a:spcPct val="80000"/>
              </a:lnSpc>
            </a:pPr>
            <a:r>
              <a:rPr lang="en-US" dirty="0"/>
              <a:t>For implicant cd</a:t>
            </a:r>
          </a:p>
          <a:p>
            <a:pPr lvl="1">
              <a:lnSpc>
                <a:spcPct val="80000"/>
              </a:lnSpc>
            </a:pPr>
            <a:r>
              <a:rPr lang="en-US" dirty="0"/>
              <a:t>For </a:t>
            </a:r>
            <a:r>
              <a:rPr lang="en-US" i="1" dirty="0"/>
              <a:t>c</a:t>
            </a:r>
            <a:r>
              <a:rPr lang="en-US" dirty="0"/>
              <a:t>, choose UTP, NFP pair</a:t>
            </a:r>
          </a:p>
          <a:p>
            <a:pPr lvl="2">
              <a:lnSpc>
                <a:spcPct val="80000"/>
              </a:lnSpc>
            </a:pPr>
            <a:r>
              <a:rPr lang="en-US" dirty="0"/>
              <a:t>FFTT, FFFT</a:t>
            </a:r>
          </a:p>
          <a:p>
            <a:pPr lvl="1">
              <a:lnSpc>
                <a:spcPct val="80000"/>
              </a:lnSpc>
            </a:pPr>
            <a:r>
              <a:rPr lang="en-US" dirty="0"/>
              <a:t>For </a:t>
            </a:r>
            <a:r>
              <a:rPr lang="en-US" i="1" dirty="0"/>
              <a:t>d</a:t>
            </a:r>
            <a:r>
              <a:rPr lang="en-US" dirty="0"/>
              <a:t>, choose UTP, NFP pair</a:t>
            </a:r>
            <a:endParaRPr lang="en-US" i="1" dirty="0"/>
          </a:p>
          <a:p>
            <a:pPr lvl="2">
              <a:lnSpc>
                <a:spcPct val="80000"/>
              </a:lnSpc>
            </a:pPr>
            <a:r>
              <a:rPr lang="en-US" dirty="0"/>
              <a:t>FFTT, FFTF</a:t>
            </a:r>
          </a:p>
          <a:p>
            <a:pPr>
              <a:lnSpc>
                <a:spcPct val="80000"/>
              </a:lnSpc>
            </a:pPr>
            <a:r>
              <a:rPr lang="en-US" dirty="0"/>
              <a:t>Possible CUTPNFP test set</a:t>
            </a:r>
          </a:p>
          <a:p>
            <a:pPr lvl="1">
              <a:lnSpc>
                <a:spcPct val="80000"/>
              </a:lnSpc>
            </a:pPr>
            <a:r>
              <a:rPr lang="en-US" dirty="0"/>
              <a:t>{TTFF, TTFT, FFTT              //UTPs</a:t>
            </a:r>
          </a:p>
          <a:p>
            <a:pPr lvl="1">
              <a:lnSpc>
                <a:spcPct val="80000"/>
              </a:lnSpc>
              <a:buFontTx/>
              <a:buNone/>
            </a:pPr>
            <a:r>
              <a:rPr lang="en-US" dirty="0"/>
              <a:t>     FTFF, TFFT, FFFT, FFTF} //NFPs</a:t>
            </a:r>
          </a:p>
        </p:txBody>
      </p:sp>
      <p:grpSp>
        <p:nvGrpSpPr>
          <p:cNvPr id="2" name="Group 4"/>
          <p:cNvGrpSpPr>
            <a:grpSpLocks/>
          </p:cNvGrpSpPr>
          <p:nvPr/>
        </p:nvGrpSpPr>
        <p:grpSpPr bwMode="auto">
          <a:xfrm>
            <a:off x="6289676" y="1951038"/>
            <a:ext cx="3971925" cy="3516312"/>
            <a:chOff x="2871" y="1800"/>
            <a:chExt cx="2502" cy="2215"/>
          </a:xfrm>
        </p:grpSpPr>
        <p:sp>
          <p:nvSpPr>
            <p:cNvPr id="29710" name="Rectangle 5"/>
            <p:cNvSpPr>
              <a:spLocks noChangeArrowheads="1"/>
            </p:cNvSpPr>
            <p:nvPr/>
          </p:nvSpPr>
          <p:spPr bwMode="auto">
            <a:xfrm>
              <a:off x="2875" y="2694"/>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01</a:t>
              </a:r>
            </a:p>
          </p:txBody>
        </p:sp>
        <p:sp>
          <p:nvSpPr>
            <p:cNvPr id="29711" name="Rectangle 6"/>
            <p:cNvSpPr>
              <a:spLocks noChangeArrowheads="1"/>
            </p:cNvSpPr>
            <p:nvPr/>
          </p:nvSpPr>
          <p:spPr bwMode="auto">
            <a:xfrm>
              <a:off x="2875" y="2270"/>
              <a:ext cx="499" cy="42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00</a:t>
              </a:r>
            </a:p>
          </p:txBody>
        </p:sp>
        <p:sp>
          <p:nvSpPr>
            <p:cNvPr id="29712" name="Rectangle 7"/>
            <p:cNvSpPr>
              <a:spLocks noChangeArrowheads="1"/>
            </p:cNvSpPr>
            <p:nvPr/>
          </p:nvSpPr>
          <p:spPr bwMode="auto">
            <a:xfrm>
              <a:off x="4869" y="1800"/>
              <a:ext cx="499"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9713" name="Rectangle 8"/>
            <p:cNvSpPr>
              <a:spLocks noChangeArrowheads="1"/>
            </p:cNvSpPr>
            <p:nvPr/>
          </p:nvSpPr>
          <p:spPr bwMode="auto">
            <a:xfrm>
              <a:off x="4371" y="1800"/>
              <a:ext cx="498"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9714" name="Rectangle 9"/>
            <p:cNvSpPr>
              <a:spLocks noChangeArrowheads="1"/>
            </p:cNvSpPr>
            <p:nvPr/>
          </p:nvSpPr>
          <p:spPr bwMode="auto">
            <a:xfrm>
              <a:off x="3872" y="1800"/>
              <a:ext cx="499"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9715" name="Rectangle 10"/>
            <p:cNvSpPr>
              <a:spLocks noChangeArrowheads="1"/>
            </p:cNvSpPr>
            <p:nvPr/>
          </p:nvSpPr>
          <p:spPr bwMode="auto">
            <a:xfrm>
              <a:off x="3374" y="1800"/>
              <a:ext cx="498" cy="47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9716" name="Rectangle 11"/>
            <p:cNvSpPr>
              <a:spLocks noChangeArrowheads="1"/>
            </p:cNvSpPr>
            <p:nvPr/>
          </p:nvSpPr>
          <p:spPr bwMode="auto">
            <a:xfrm>
              <a:off x="2875" y="1800"/>
              <a:ext cx="499" cy="470"/>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a:solidFill>
                    <a:schemeClr val="tx1"/>
                  </a:solidFill>
                </a:rPr>
                <a:t>    ab</a:t>
              </a:r>
            </a:p>
            <a:p>
              <a:pPr>
                <a:lnSpc>
                  <a:spcPct val="90000"/>
                </a:lnSpc>
                <a:spcBef>
                  <a:spcPct val="30000"/>
                </a:spcBef>
                <a:buSzPct val="85000"/>
              </a:pPr>
              <a:r>
                <a:rPr lang="en-US">
                  <a:solidFill>
                    <a:schemeClr val="tx1"/>
                  </a:solidFill>
                </a:rPr>
                <a:t>  cd</a:t>
              </a:r>
            </a:p>
          </p:txBody>
        </p:sp>
        <p:sp>
          <p:nvSpPr>
            <p:cNvPr id="29717" name="Line 12"/>
            <p:cNvSpPr>
              <a:spLocks noChangeShapeType="1"/>
            </p:cNvSpPr>
            <p:nvPr/>
          </p:nvSpPr>
          <p:spPr bwMode="auto">
            <a:xfrm>
              <a:off x="2875" y="1800"/>
              <a:ext cx="499" cy="0"/>
            </a:xfrm>
            <a:prstGeom prst="line">
              <a:avLst/>
            </a:prstGeom>
            <a:noFill/>
            <a:ln w="28575" cap="sq">
              <a:noFill/>
              <a:round/>
              <a:headEnd type="none" w="med" len="lg"/>
              <a:tailEnd type="none" w="sm" len="sm"/>
            </a:ln>
          </p:spPr>
          <p:txBody>
            <a:bodyPr/>
            <a:lstStyle/>
            <a:p>
              <a:endParaRPr lang="en-US"/>
            </a:p>
          </p:txBody>
        </p:sp>
        <p:sp>
          <p:nvSpPr>
            <p:cNvPr id="29718" name="Line 13"/>
            <p:cNvSpPr>
              <a:spLocks noChangeShapeType="1"/>
            </p:cNvSpPr>
            <p:nvPr/>
          </p:nvSpPr>
          <p:spPr bwMode="auto">
            <a:xfrm>
              <a:off x="2875" y="1800"/>
              <a:ext cx="0" cy="470"/>
            </a:xfrm>
            <a:prstGeom prst="line">
              <a:avLst/>
            </a:prstGeom>
            <a:noFill/>
            <a:ln w="28575" cap="sq">
              <a:noFill/>
              <a:round/>
              <a:headEnd type="none" w="med" len="lg"/>
              <a:tailEnd type="none" w="sm" len="sm"/>
            </a:ln>
          </p:spPr>
          <p:txBody>
            <a:bodyPr/>
            <a:lstStyle/>
            <a:p>
              <a:endParaRPr lang="en-US"/>
            </a:p>
          </p:txBody>
        </p:sp>
        <p:sp>
          <p:nvSpPr>
            <p:cNvPr id="29719" name="Line 14"/>
            <p:cNvSpPr>
              <a:spLocks noChangeShapeType="1"/>
            </p:cNvSpPr>
            <p:nvPr/>
          </p:nvSpPr>
          <p:spPr bwMode="auto">
            <a:xfrm>
              <a:off x="3374" y="1800"/>
              <a:ext cx="498" cy="0"/>
            </a:xfrm>
            <a:prstGeom prst="line">
              <a:avLst/>
            </a:prstGeom>
            <a:noFill/>
            <a:ln w="28575" cap="sq">
              <a:noFill/>
              <a:round/>
              <a:headEnd type="none" w="med" len="lg"/>
              <a:tailEnd type="none" w="sm" len="sm"/>
            </a:ln>
          </p:spPr>
          <p:txBody>
            <a:bodyPr/>
            <a:lstStyle/>
            <a:p>
              <a:endParaRPr lang="en-US"/>
            </a:p>
          </p:txBody>
        </p:sp>
        <p:sp>
          <p:nvSpPr>
            <p:cNvPr id="29720" name="Line 15"/>
            <p:cNvSpPr>
              <a:spLocks noChangeShapeType="1"/>
            </p:cNvSpPr>
            <p:nvPr/>
          </p:nvSpPr>
          <p:spPr bwMode="auto">
            <a:xfrm>
              <a:off x="2875" y="2270"/>
              <a:ext cx="0" cy="424"/>
            </a:xfrm>
            <a:prstGeom prst="line">
              <a:avLst/>
            </a:prstGeom>
            <a:noFill/>
            <a:ln w="28575" cap="sq">
              <a:noFill/>
              <a:round/>
              <a:headEnd type="none" w="med" len="lg"/>
              <a:tailEnd type="none" w="sm" len="sm"/>
            </a:ln>
          </p:spPr>
          <p:txBody>
            <a:bodyPr/>
            <a:lstStyle/>
            <a:p>
              <a:endParaRPr lang="en-US"/>
            </a:p>
          </p:txBody>
        </p:sp>
        <p:sp>
          <p:nvSpPr>
            <p:cNvPr id="29721" name="Line 16"/>
            <p:cNvSpPr>
              <a:spLocks noChangeShapeType="1"/>
            </p:cNvSpPr>
            <p:nvPr/>
          </p:nvSpPr>
          <p:spPr bwMode="auto">
            <a:xfrm>
              <a:off x="2875" y="2694"/>
              <a:ext cx="0" cy="444"/>
            </a:xfrm>
            <a:prstGeom prst="line">
              <a:avLst/>
            </a:prstGeom>
            <a:noFill/>
            <a:ln w="28575" cap="sq">
              <a:noFill/>
              <a:round/>
              <a:headEnd type="none" w="med" len="lg"/>
              <a:tailEnd type="none" w="sm" len="sm"/>
            </a:ln>
          </p:spPr>
          <p:txBody>
            <a:bodyPr/>
            <a:lstStyle/>
            <a:p>
              <a:endParaRPr lang="en-US"/>
            </a:p>
          </p:txBody>
        </p:sp>
        <p:sp>
          <p:nvSpPr>
            <p:cNvPr id="29722" name="Line 17"/>
            <p:cNvSpPr>
              <a:spLocks noChangeShapeType="1"/>
            </p:cNvSpPr>
            <p:nvPr/>
          </p:nvSpPr>
          <p:spPr bwMode="auto">
            <a:xfrm>
              <a:off x="5368" y="1800"/>
              <a:ext cx="0" cy="470"/>
            </a:xfrm>
            <a:prstGeom prst="line">
              <a:avLst/>
            </a:prstGeom>
            <a:noFill/>
            <a:ln w="28575" cap="sq">
              <a:noFill/>
              <a:round/>
              <a:headEnd type="none" w="med" len="lg"/>
              <a:tailEnd type="none" w="sm" len="sm"/>
            </a:ln>
          </p:spPr>
          <p:txBody>
            <a:bodyPr/>
            <a:lstStyle/>
            <a:p>
              <a:endParaRPr lang="en-US"/>
            </a:p>
          </p:txBody>
        </p:sp>
        <p:sp>
          <p:nvSpPr>
            <p:cNvPr id="29723" name="Line 18"/>
            <p:cNvSpPr>
              <a:spLocks noChangeShapeType="1"/>
            </p:cNvSpPr>
            <p:nvPr/>
          </p:nvSpPr>
          <p:spPr bwMode="auto">
            <a:xfrm>
              <a:off x="2875" y="3138"/>
              <a:ext cx="499" cy="0"/>
            </a:xfrm>
            <a:prstGeom prst="line">
              <a:avLst/>
            </a:prstGeom>
            <a:noFill/>
            <a:ln w="28575" cap="sq">
              <a:noFill/>
              <a:round/>
              <a:headEnd type="none" w="med" len="lg"/>
              <a:tailEnd type="none" w="sm" len="sm"/>
            </a:ln>
          </p:spPr>
          <p:txBody>
            <a:bodyPr/>
            <a:lstStyle/>
            <a:p>
              <a:endParaRPr lang="en-US"/>
            </a:p>
          </p:txBody>
        </p:sp>
        <p:sp>
          <p:nvSpPr>
            <p:cNvPr id="29724" name="Line 19"/>
            <p:cNvSpPr>
              <a:spLocks noChangeShapeType="1"/>
            </p:cNvSpPr>
            <p:nvPr/>
          </p:nvSpPr>
          <p:spPr bwMode="auto">
            <a:xfrm>
              <a:off x="3021" y="1931"/>
              <a:ext cx="344" cy="330"/>
            </a:xfrm>
            <a:prstGeom prst="line">
              <a:avLst/>
            </a:prstGeom>
            <a:noFill/>
            <a:ln w="12700">
              <a:solidFill>
                <a:schemeClr val="tx1"/>
              </a:solidFill>
              <a:round/>
              <a:headEnd type="none" w="sm" len="sm"/>
              <a:tailEnd type="none" w="sm" len="sm"/>
            </a:ln>
          </p:spPr>
          <p:txBody>
            <a:bodyPr/>
            <a:lstStyle/>
            <a:p>
              <a:endParaRPr lang="en-US"/>
            </a:p>
          </p:txBody>
        </p:sp>
        <p:sp>
          <p:nvSpPr>
            <p:cNvPr id="29725" name="Rectangle 20"/>
            <p:cNvSpPr>
              <a:spLocks noChangeArrowheads="1"/>
            </p:cNvSpPr>
            <p:nvPr/>
          </p:nvSpPr>
          <p:spPr bwMode="auto">
            <a:xfrm>
              <a:off x="4869" y="2694"/>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26" name="Rectangle 21"/>
            <p:cNvSpPr>
              <a:spLocks noChangeArrowheads="1"/>
            </p:cNvSpPr>
            <p:nvPr/>
          </p:nvSpPr>
          <p:spPr bwMode="auto">
            <a:xfrm>
              <a:off x="4371" y="2694"/>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27" name="Rectangle 22"/>
            <p:cNvSpPr>
              <a:spLocks noChangeArrowheads="1"/>
            </p:cNvSpPr>
            <p:nvPr/>
          </p:nvSpPr>
          <p:spPr bwMode="auto">
            <a:xfrm>
              <a:off x="3872" y="2694"/>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28" name="Rectangle 23"/>
            <p:cNvSpPr>
              <a:spLocks noChangeArrowheads="1"/>
            </p:cNvSpPr>
            <p:nvPr/>
          </p:nvSpPr>
          <p:spPr bwMode="auto">
            <a:xfrm>
              <a:off x="3374" y="2694"/>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29" name="Rectangle 24"/>
            <p:cNvSpPr>
              <a:spLocks noChangeArrowheads="1"/>
            </p:cNvSpPr>
            <p:nvPr/>
          </p:nvSpPr>
          <p:spPr bwMode="auto">
            <a:xfrm>
              <a:off x="4869" y="2270"/>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30" name="Rectangle 25"/>
            <p:cNvSpPr>
              <a:spLocks noChangeArrowheads="1"/>
            </p:cNvSpPr>
            <p:nvPr/>
          </p:nvSpPr>
          <p:spPr bwMode="auto">
            <a:xfrm>
              <a:off x="3872" y="2270"/>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31" name="Rectangle 26"/>
            <p:cNvSpPr>
              <a:spLocks noChangeArrowheads="1"/>
            </p:cNvSpPr>
            <p:nvPr/>
          </p:nvSpPr>
          <p:spPr bwMode="auto">
            <a:xfrm>
              <a:off x="3374" y="2270"/>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32" name="Line 27"/>
            <p:cNvSpPr>
              <a:spLocks noChangeShapeType="1"/>
            </p:cNvSpPr>
            <p:nvPr/>
          </p:nvSpPr>
          <p:spPr bwMode="auto">
            <a:xfrm>
              <a:off x="5368" y="2270"/>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9733" name="Line 28"/>
            <p:cNvSpPr>
              <a:spLocks noChangeShapeType="1"/>
            </p:cNvSpPr>
            <p:nvPr/>
          </p:nvSpPr>
          <p:spPr bwMode="auto">
            <a:xfrm>
              <a:off x="3374" y="2270"/>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9734" name="Line 29"/>
            <p:cNvSpPr>
              <a:spLocks noChangeShapeType="1"/>
            </p:cNvSpPr>
            <p:nvPr/>
          </p:nvSpPr>
          <p:spPr bwMode="auto">
            <a:xfrm>
              <a:off x="3374" y="2270"/>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9735" name="Line 30"/>
            <p:cNvSpPr>
              <a:spLocks noChangeShapeType="1"/>
            </p:cNvSpPr>
            <p:nvPr/>
          </p:nvSpPr>
          <p:spPr bwMode="auto">
            <a:xfrm>
              <a:off x="3872" y="2270"/>
              <a:ext cx="0" cy="868"/>
            </a:xfrm>
            <a:prstGeom prst="line">
              <a:avLst/>
            </a:prstGeom>
            <a:noFill/>
            <a:ln w="12700">
              <a:solidFill>
                <a:schemeClr val="tx1"/>
              </a:solidFill>
              <a:round/>
              <a:headEnd type="none" w="med" len="lg"/>
              <a:tailEnd type="none" w="sm" len="sm"/>
            </a:ln>
          </p:spPr>
          <p:txBody>
            <a:bodyPr/>
            <a:lstStyle/>
            <a:p>
              <a:endParaRPr lang="en-US"/>
            </a:p>
          </p:txBody>
        </p:sp>
        <p:sp>
          <p:nvSpPr>
            <p:cNvPr id="29736" name="Line 31"/>
            <p:cNvSpPr>
              <a:spLocks noChangeShapeType="1"/>
            </p:cNvSpPr>
            <p:nvPr/>
          </p:nvSpPr>
          <p:spPr bwMode="auto">
            <a:xfrm>
              <a:off x="4371" y="2270"/>
              <a:ext cx="0" cy="868"/>
            </a:xfrm>
            <a:prstGeom prst="line">
              <a:avLst/>
            </a:prstGeom>
            <a:noFill/>
            <a:ln w="12700">
              <a:solidFill>
                <a:schemeClr val="tx1"/>
              </a:solidFill>
              <a:round/>
              <a:headEnd type="none" w="med" len="lg"/>
              <a:tailEnd type="none" w="sm" len="sm"/>
            </a:ln>
          </p:spPr>
          <p:txBody>
            <a:bodyPr/>
            <a:lstStyle/>
            <a:p>
              <a:endParaRPr lang="en-US"/>
            </a:p>
          </p:txBody>
        </p:sp>
        <p:sp>
          <p:nvSpPr>
            <p:cNvPr id="29737" name="Line 32"/>
            <p:cNvSpPr>
              <a:spLocks noChangeShapeType="1"/>
            </p:cNvSpPr>
            <p:nvPr/>
          </p:nvSpPr>
          <p:spPr bwMode="auto">
            <a:xfrm>
              <a:off x="4869" y="2270"/>
              <a:ext cx="0" cy="868"/>
            </a:xfrm>
            <a:prstGeom prst="line">
              <a:avLst/>
            </a:prstGeom>
            <a:noFill/>
            <a:ln w="12700">
              <a:solidFill>
                <a:schemeClr val="tx1"/>
              </a:solidFill>
              <a:round/>
              <a:headEnd type="none" w="med" len="lg"/>
              <a:tailEnd type="none" w="sm" len="sm"/>
            </a:ln>
          </p:spPr>
          <p:txBody>
            <a:bodyPr/>
            <a:lstStyle/>
            <a:p>
              <a:endParaRPr lang="en-US"/>
            </a:p>
          </p:txBody>
        </p:sp>
        <p:sp>
          <p:nvSpPr>
            <p:cNvPr id="29738" name="Line 33"/>
            <p:cNvSpPr>
              <a:spLocks noChangeShapeType="1"/>
            </p:cNvSpPr>
            <p:nvPr/>
          </p:nvSpPr>
          <p:spPr bwMode="auto">
            <a:xfrm>
              <a:off x="3374" y="2694"/>
              <a:ext cx="1994" cy="0"/>
            </a:xfrm>
            <a:prstGeom prst="line">
              <a:avLst/>
            </a:prstGeom>
            <a:noFill/>
            <a:ln w="12700">
              <a:solidFill>
                <a:schemeClr val="tx1"/>
              </a:solidFill>
              <a:round/>
              <a:headEnd type="none" w="med" len="lg"/>
              <a:tailEnd type="none" w="sm" len="sm"/>
            </a:ln>
          </p:spPr>
          <p:txBody>
            <a:bodyPr/>
            <a:lstStyle/>
            <a:p>
              <a:endParaRPr lang="en-US"/>
            </a:p>
          </p:txBody>
        </p:sp>
        <p:sp>
          <p:nvSpPr>
            <p:cNvPr id="29739" name="Line 34"/>
            <p:cNvSpPr>
              <a:spLocks noChangeShapeType="1"/>
            </p:cNvSpPr>
            <p:nvPr/>
          </p:nvSpPr>
          <p:spPr bwMode="auto">
            <a:xfrm>
              <a:off x="3379" y="3154"/>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9740" name="Line 35"/>
            <p:cNvSpPr>
              <a:spLocks noChangeShapeType="1"/>
            </p:cNvSpPr>
            <p:nvPr/>
          </p:nvSpPr>
          <p:spPr bwMode="auto">
            <a:xfrm>
              <a:off x="3605" y="3932"/>
              <a:ext cx="499" cy="0"/>
            </a:xfrm>
            <a:prstGeom prst="line">
              <a:avLst/>
            </a:prstGeom>
            <a:noFill/>
            <a:ln w="28575" cap="sq">
              <a:noFill/>
              <a:round/>
              <a:headEnd type="none" w="med" len="lg"/>
              <a:tailEnd type="none" w="sm" len="sm"/>
            </a:ln>
          </p:spPr>
          <p:txBody>
            <a:bodyPr/>
            <a:lstStyle/>
            <a:p>
              <a:endParaRPr lang="en-US"/>
            </a:p>
          </p:txBody>
        </p:sp>
        <p:sp>
          <p:nvSpPr>
            <p:cNvPr id="29741" name="Line 36"/>
            <p:cNvSpPr>
              <a:spLocks noChangeShapeType="1"/>
            </p:cNvSpPr>
            <p:nvPr/>
          </p:nvSpPr>
          <p:spPr bwMode="auto">
            <a:xfrm>
              <a:off x="4104" y="3932"/>
              <a:ext cx="498" cy="0"/>
            </a:xfrm>
            <a:prstGeom prst="line">
              <a:avLst/>
            </a:prstGeom>
            <a:noFill/>
            <a:ln w="28575" cap="sq">
              <a:noFill/>
              <a:round/>
              <a:headEnd type="none" w="med" len="lg"/>
              <a:tailEnd type="none" w="sm" len="sm"/>
            </a:ln>
          </p:spPr>
          <p:txBody>
            <a:bodyPr/>
            <a:lstStyle/>
            <a:p>
              <a:endParaRPr lang="en-US"/>
            </a:p>
          </p:txBody>
        </p:sp>
        <p:sp>
          <p:nvSpPr>
            <p:cNvPr id="29742" name="Line 37"/>
            <p:cNvSpPr>
              <a:spLocks noChangeShapeType="1"/>
            </p:cNvSpPr>
            <p:nvPr/>
          </p:nvSpPr>
          <p:spPr bwMode="auto">
            <a:xfrm>
              <a:off x="4602" y="3932"/>
              <a:ext cx="499" cy="0"/>
            </a:xfrm>
            <a:prstGeom prst="line">
              <a:avLst/>
            </a:prstGeom>
            <a:noFill/>
            <a:ln w="28575" cap="sq">
              <a:noFill/>
              <a:round/>
              <a:headEnd type="none" w="med" len="lg"/>
              <a:tailEnd type="none" w="sm" len="sm"/>
            </a:ln>
          </p:spPr>
          <p:txBody>
            <a:bodyPr/>
            <a:lstStyle/>
            <a:p>
              <a:endParaRPr lang="en-US"/>
            </a:p>
          </p:txBody>
        </p:sp>
        <p:sp>
          <p:nvSpPr>
            <p:cNvPr id="29743" name="Rectangle 38"/>
            <p:cNvSpPr>
              <a:spLocks noChangeArrowheads="1"/>
            </p:cNvSpPr>
            <p:nvPr/>
          </p:nvSpPr>
          <p:spPr bwMode="auto">
            <a:xfrm>
              <a:off x="4869" y="3571"/>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44" name="Rectangle 39"/>
            <p:cNvSpPr>
              <a:spLocks noChangeArrowheads="1"/>
            </p:cNvSpPr>
            <p:nvPr/>
          </p:nvSpPr>
          <p:spPr bwMode="auto">
            <a:xfrm>
              <a:off x="4371" y="3571"/>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45" name="Rectangle 40"/>
            <p:cNvSpPr>
              <a:spLocks noChangeArrowheads="1"/>
            </p:cNvSpPr>
            <p:nvPr/>
          </p:nvSpPr>
          <p:spPr bwMode="auto">
            <a:xfrm>
              <a:off x="3872" y="3571"/>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46" name="Rectangle 41"/>
            <p:cNvSpPr>
              <a:spLocks noChangeArrowheads="1"/>
            </p:cNvSpPr>
            <p:nvPr/>
          </p:nvSpPr>
          <p:spPr bwMode="auto">
            <a:xfrm>
              <a:off x="3374" y="3571"/>
              <a:ext cx="498"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47" name="Rectangle 42"/>
            <p:cNvSpPr>
              <a:spLocks noChangeArrowheads="1"/>
            </p:cNvSpPr>
            <p:nvPr/>
          </p:nvSpPr>
          <p:spPr bwMode="auto">
            <a:xfrm>
              <a:off x="4869" y="3147"/>
              <a:ext cx="499"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48" name="Rectangle 43"/>
            <p:cNvSpPr>
              <a:spLocks noChangeArrowheads="1"/>
            </p:cNvSpPr>
            <p:nvPr/>
          </p:nvSpPr>
          <p:spPr bwMode="auto">
            <a:xfrm>
              <a:off x="3374" y="3147"/>
              <a:ext cx="498" cy="42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49" name="Line 44"/>
            <p:cNvSpPr>
              <a:spLocks noChangeShapeType="1"/>
            </p:cNvSpPr>
            <p:nvPr/>
          </p:nvSpPr>
          <p:spPr bwMode="auto">
            <a:xfrm>
              <a:off x="5368" y="3147"/>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9750" name="Line 45"/>
            <p:cNvSpPr>
              <a:spLocks noChangeShapeType="1"/>
            </p:cNvSpPr>
            <p:nvPr/>
          </p:nvSpPr>
          <p:spPr bwMode="auto">
            <a:xfrm>
              <a:off x="3374" y="4015"/>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9751" name="Line 46"/>
            <p:cNvSpPr>
              <a:spLocks noChangeShapeType="1"/>
            </p:cNvSpPr>
            <p:nvPr/>
          </p:nvSpPr>
          <p:spPr bwMode="auto">
            <a:xfrm>
              <a:off x="3374" y="3147"/>
              <a:ext cx="1994" cy="0"/>
            </a:xfrm>
            <a:prstGeom prst="line">
              <a:avLst/>
            </a:prstGeom>
            <a:noFill/>
            <a:ln w="12700" cap="sq">
              <a:solidFill>
                <a:schemeClr val="tx1"/>
              </a:solidFill>
              <a:round/>
              <a:headEnd type="none" w="med" len="lg"/>
              <a:tailEnd type="none" w="sm" len="sm"/>
            </a:ln>
          </p:spPr>
          <p:txBody>
            <a:bodyPr/>
            <a:lstStyle/>
            <a:p>
              <a:endParaRPr lang="en-US"/>
            </a:p>
          </p:txBody>
        </p:sp>
        <p:sp>
          <p:nvSpPr>
            <p:cNvPr id="29752" name="Line 47"/>
            <p:cNvSpPr>
              <a:spLocks noChangeShapeType="1"/>
            </p:cNvSpPr>
            <p:nvPr/>
          </p:nvSpPr>
          <p:spPr bwMode="auto">
            <a:xfrm>
              <a:off x="3374" y="3147"/>
              <a:ext cx="0" cy="868"/>
            </a:xfrm>
            <a:prstGeom prst="line">
              <a:avLst/>
            </a:prstGeom>
            <a:noFill/>
            <a:ln w="12700" cap="sq">
              <a:solidFill>
                <a:schemeClr val="tx1"/>
              </a:solidFill>
              <a:round/>
              <a:headEnd type="none" w="med" len="lg"/>
              <a:tailEnd type="none" w="sm" len="sm"/>
            </a:ln>
          </p:spPr>
          <p:txBody>
            <a:bodyPr/>
            <a:lstStyle/>
            <a:p>
              <a:endParaRPr lang="en-US"/>
            </a:p>
          </p:txBody>
        </p:sp>
        <p:sp>
          <p:nvSpPr>
            <p:cNvPr id="29753" name="Line 48"/>
            <p:cNvSpPr>
              <a:spLocks noChangeShapeType="1"/>
            </p:cNvSpPr>
            <p:nvPr/>
          </p:nvSpPr>
          <p:spPr bwMode="auto">
            <a:xfrm>
              <a:off x="3872" y="3147"/>
              <a:ext cx="0" cy="868"/>
            </a:xfrm>
            <a:prstGeom prst="line">
              <a:avLst/>
            </a:prstGeom>
            <a:noFill/>
            <a:ln w="12700">
              <a:solidFill>
                <a:schemeClr val="tx1"/>
              </a:solidFill>
              <a:round/>
              <a:headEnd type="none" w="med" len="lg"/>
              <a:tailEnd type="none" w="sm" len="sm"/>
            </a:ln>
          </p:spPr>
          <p:txBody>
            <a:bodyPr/>
            <a:lstStyle/>
            <a:p>
              <a:endParaRPr lang="en-US"/>
            </a:p>
          </p:txBody>
        </p:sp>
        <p:sp>
          <p:nvSpPr>
            <p:cNvPr id="29754" name="Line 49"/>
            <p:cNvSpPr>
              <a:spLocks noChangeShapeType="1"/>
            </p:cNvSpPr>
            <p:nvPr/>
          </p:nvSpPr>
          <p:spPr bwMode="auto">
            <a:xfrm>
              <a:off x="4371" y="3147"/>
              <a:ext cx="0" cy="868"/>
            </a:xfrm>
            <a:prstGeom prst="line">
              <a:avLst/>
            </a:prstGeom>
            <a:noFill/>
            <a:ln w="12700">
              <a:solidFill>
                <a:schemeClr val="tx1"/>
              </a:solidFill>
              <a:round/>
              <a:headEnd type="none" w="med" len="lg"/>
              <a:tailEnd type="none" w="sm" len="sm"/>
            </a:ln>
          </p:spPr>
          <p:txBody>
            <a:bodyPr/>
            <a:lstStyle/>
            <a:p>
              <a:endParaRPr lang="en-US"/>
            </a:p>
          </p:txBody>
        </p:sp>
        <p:sp>
          <p:nvSpPr>
            <p:cNvPr id="29755" name="Line 50"/>
            <p:cNvSpPr>
              <a:spLocks noChangeShapeType="1"/>
            </p:cNvSpPr>
            <p:nvPr/>
          </p:nvSpPr>
          <p:spPr bwMode="auto">
            <a:xfrm>
              <a:off x="4869" y="3147"/>
              <a:ext cx="0" cy="868"/>
            </a:xfrm>
            <a:prstGeom prst="line">
              <a:avLst/>
            </a:prstGeom>
            <a:noFill/>
            <a:ln w="12700">
              <a:solidFill>
                <a:schemeClr val="tx1"/>
              </a:solidFill>
              <a:round/>
              <a:headEnd type="none" w="med" len="lg"/>
              <a:tailEnd type="none" w="sm" len="sm"/>
            </a:ln>
          </p:spPr>
          <p:txBody>
            <a:bodyPr/>
            <a:lstStyle/>
            <a:p>
              <a:endParaRPr lang="en-US"/>
            </a:p>
          </p:txBody>
        </p:sp>
        <p:sp>
          <p:nvSpPr>
            <p:cNvPr id="29756" name="Line 51"/>
            <p:cNvSpPr>
              <a:spLocks noChangeShapeType="1"/>
            </p:cNvSpPr>
            <p:nvPr/>
          </p:nvSpPr>
          <p:spPr bwMode="auto">
            <a:xfrm>
              <a:off x="3374" y="3571"/>
              <a:ext cx="1994" cy="0"/>
            </a:xfrm>
            <a:prstGeom prst="line">
              <a:avLst/>
            </a:prstGeom>
            <a:noFill/>
            <a:ln w="12700">
              <a:solidFill>
                <a:schemeClr val="tx1"/>
              </a:solidFill>
              <a:round/>
              <a:headEnd type="none" w="med" len="lg"/>
              <a:tailEnd type="none" w="sm" len="sm"/>
            </a:ln>
          </p:spPr>
          <p:txBody>
            <a:bodyPr/>
            <a:lstStyle/>
            <a:p>
              <a:endParaRPr lang="en-US"/>
            </a:p>
          </p:txBody>
        </p:sp>
        <p:sp>
          <p:nvSpPr>
            <p:cNvPr id="29757" name="Rectangle 52"/>
            <p:cNvSpPr>
              <a:spLocks noChangeArrowheads="1"/>
            </p:cNvSpPr>
            <p:nvPr/>
          </p:nvSpPr>
          <p:spPr bwMode="auto">
            <a:xfrm>
              <a:off x="2882" y="3123"/>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11</a:t>
              </a:r>
            </a:p>
          </p:txBody>
        </p:sp>
        <p:sp>
          <p:nvSpPr>
            <p:cNvPr id="29758" name="Rectangle 53"/>
            <p:cNvSpPr>
              <a:spLocks noChangeArrowheads="1"/>
            </p:cNvSpPr>
            <p:nvPr/>
          </p:nvSpPr>
          <p:spPr bwMode="auto">
            <a:xfrm>
              <a:off x="2871" y="3543"/>
              <a:ext cx="499" cy="444"/>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10</a:t>
              </a:r>
            </a:p>
          </p:txBody>
        </p:sp>
        <p:sp>
          <p:nvSpPr>
            <p:cNvPr id="29759" name="Rectangle 54"/>
            <p:cNvSpPr>
              <a:spLocks noChangeArrowheads="1"/>
            </p:cNvSpPr>
            <p:nvPr/>
          </p:nvSpPr>
          <p:spPr bwMode="auto">
            <a:xfrm>
              <a:off x="4366" y="2255"/>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60" name="Rectangle 55"/>
            <p:cNvSpPr>
              <a:spLocks noChangeArrowheads="1"/>
            </p:cNvSpPr>
            <p:nvPr/>
          </p:nvSpPr>
          <p:spPr bwMode="auto">
            <a:xfrm>
              <a:off x="4372" y="3126"/>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61" name="Rectangle 56"/>
            <p:cNvSpPr>
              <a:spLocks noChangeArrowheads="1"/>
            </p:cNvSpPr>
            <p:nvPr/>
          </p:nvSpPr>
          <p:spPr bwMode="auto">
            <a:xfrm>
              <a:off x="3879" y="3140"/>
              <a:ext cx="499" cy="444"/>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grpSp>
      <p:sp>
        <p:nvSpPr>
          <p:cNvPr id="85051" name="Oval 59"/>
          <p:cNvSpPr>
            <a:spLocks noChangeArrowheads="1"/>
          </p:cNvSpPr>
          <p:nvPr/>
        </p:nvSpPr>
        <p:spPr bwMode="auto">
          <a:xfrm>
            <a:off x="8824913" y="3429000"/>
            <a:ext cx="544512"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5052" name="Oval 60"/>
          <p:cNvSpPr>
            <a:spLocks noChangeArrowheads="1"/>
          </p:cNvSpPr>
          <p:nvPr/>
        </p:nvSpPr>
        <p:spPr bwMode="auto">
          <a:xfrm>
            <a:off x="8785226" y="2724150"/>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5053" name="Oval 61"/>
          <p:cNvSpPr>
            <a:spLocks noChangeArrowheads="1"/>
          </p:cNvSpPr>
          <p:nvPr/>
        </p:nvSpPr>
        <p:spPr bwMode="auto">
          <a:xfrm>
            <a:off x="7204076" y="4149725"/>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5055" name="Oval 63"/>
          <p:cNvSpPr>
            <a:spLocks noChangeArrowheads="1"/>
          </p:cNvSpPr>
          <p:nvPr/>
        </p:nvSpPr>
        <p:spPr bwMode="auto">
          <a:xfrm>
            <a:off x="9583738" y="3444875"/>
            <a:ext cx="544512" cy="598488"/>
          </a:xfrm>
          <a:prstGeom prst="ellipse">
            <a:avLst/>
          </a:prstGeom>
          <a:noFill/>
          <a:ln w="38100">
            <a:solidFill>
              <a:schemeClr val="accent1"/>
            </a:solidFill>
            <a:round/>
            <a:headEnd type="none" w="sm" len="sm"/>
            <a:tailEnd type="none" w="sm" len="sm"/>
          </a:ln>
        </p:spPr>
        <p:txBody>
          <a:bodyPr wrap="none" anchor="ctr"/>
          <a:lstStyle/>
          <a:p>
            <a:endParaRPr lang="en-US"/>
          </a:p>
        </p:txBody>
      </p:sp>
      <p:sp>
        <p:nvSpPr>
          <p:cNvPr id="85056" name="Oval 64"/>
          <p:cNvSpPr>
            <a:spLocks noChangeArrowheads="1"/>
          </p:cNvSpPr>
          <p:nvPr/>
        </p:nvSpPr>
        <p:spPr bwMode="auto">
          <a:xfrm>
            <a:off x="7202488" y="3419475"/>
            <a:ext cx="544512" cy="598488"/>
          </a:xfrm>
          <a:prstGeom prst="ellipse">
            <a:avLst/>
          </a:prstGeom>
          <a:noFill/>
          <a:ln w="38100">
            <a:solidFill>
              <a:schemeClr val="accent1"/>
            </a:solidFill>
            <a:round/>
            <a:headEnd type="none" w="sm" len="sm"/>
            <a:tailEnd type="none" w="sm" len="sm"/>
          </a:ln>
        </p:spPr>
        <p:txBody>
          <a:bodyPr wrap="none" anchor="ctr"/>
          <a:lstStyle/>
          <a:p>
            <a:endParaRPr lang="en-US"/>
          </a:p>
        </p:txBody>
      </p:sp>
      <p:sp>
        <p:nvSpPr>
          <p:cNvPr id="85057" name="Oval 65"/>
          <p:cNvSpPr>
            <a:spLocks noChangeArrowheads="1"/>
          </p:cNvSpPr>
          <p:nvPr/>
        </p:nvSpPr>
        <p:spPr bwMode="auto">
          <a:xfrm>
            <a:off x="7267576" y="4778375"/>
            <a:ext cx="544513" cy="598488"/>
          </a:xfrm>
          <a:prstGeom prst="ellipse">
            <a:avLst/>
          </a:prstGeom>
          <a:noFill/>
          <a:ln w="38100">
            <a:solidFill>
              <a:schemeClr val="accent1"/>
            </a:solidFill>
            <a:round/>
            <a:headEnd type="none" w="sm" len="sm"/>
            <a:tailEnd type="none" w="sm" len="sm"/>
          </a:ln>
        </p:spPr>
        <p:txBody>
          <a:bodyPr wrap="none" anchor="ctr"/>
          <a:lstStyle/>
          <a:p>
            <a:endParaRPr lang="en-US"/>
          </a:p>
        </p:txBody>
      </p:sp>
      <p:sp>
        <p:nvSpPr>
          <p:cNvPr id="85059" name="Oval 67"/>
          <p:cNvSpPr>
            <a:spLocks noChangeArrowheads="1"/>
          </p:cNvSpPr>
          <p:nvPr/>
        </p:nvSpPr>
        <p:spPr bwMode="auto">
          <a:xfrm>
            <a:off x="7993063" y="2722564"/>
            <a:ext cx="544512" cy="598487"/>
          </a:xfrm>
          <a:prstGeom prst="ellipse">
            <a:avLst/>
          </a:prstGeom>
          <a:noFill/>
          <a:ln w="38100">
            <a:solidFill>
              <a:schemeClr val="accent1"/>
            </a:solidFill>
            <a:round/>
            <a:headEnd type="none" w="sm" len="sm"/>
            <a:tailEnd type="none" w="sm" len="sm"/>
          </a:ln>
        </p:spPr>
        <p:txBody>
          <a:bodyPr wrap="none" anchor="ctr"/>
          <a:lstStyle/>
          <a:p>
            <a:endParaRPr lang="en-US"/>
          </a:p>
        </p:txBody>
      </p:sp>
      <p:sp>
        <p:nvSpPr>
          <p:cNvPr id="85060" name="Oval 68"/>
          <p:cNvSpPr>
            <a:spLocks noChangeArrowheads="1"/>
          </p:cNvSpPr>
          <p:nvPr/>
        </p:nvSpPr>
        <p:spPr bwMode="auto">
          <a:xfrm>
            <a:off x="7223126" y="4119564"/>
            <a:ext cx="544513"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85061" name="Oval 69"/>
          <p:cNvSpPr>
            <a:spLocks noChangeArrowheads="1"/>
          </p:cNvSpPr>
          <p:nvPr/>
        </p:nvSpPr>
        <p:spPr bwMode="auto">
          <a:xfrm>
            <a:off x="7245351" y="4806950"/>
            <a:ext cx="544513" cy="598488"/>
          </a:xfrm>
          <a:prstGeom prst="ellipse">
            <a:avLst/>
          </a:prstGeom>
          <a:noFill/>
          <a:ln w="38100">
            <a:solidFill>
              <a:schemeClr val="accent1"/>
            </a:solidFill>
            <a:round/>
            <a:headEnd type="none" w="sm" len="sm"/>
            <a:tailEnd type="none" w="sm" len="sm"/>
          </a:ln>
        </p:spPr>
        <p:txBody>
          <a:bodyPr wrap="none" anchor="ctr"/>
          <a:lstStyle/>
          <a:p>
            <a:endParaRPr lang="en-US"/>
          </a:p>
        </p:txBody>
      </p:sp>
      <p:sp>
        <p:nvSpPr>
          <p:cNvPr id="66" name="Oval 186"/>
          <p:cNvSpPr>
            <a:spLocks noChangeArrowheads="1"/>
          </p:cNvSpPr>
          <p:nvPr/>
        </p:nvSpPr>
        <p:spPr bwMode="auto">
          <a:xfrm>
            <a:off x="8763001" y="2514601"/>
            <a:ext cx="630237" cy="3211513"/>
          </a:xfrm>
          <a:prstGeom prst="ellipse">
            <a:avLst/>
          </a:prstGeom>
          <a:noFill/>
          <a:ln w="38100">
            <a:solidFill>
              <a:srgbClr val="FF0000"/>
            </a:solidFill>
            <a:round/>
            <a:headEnd type="none" w="sm" len="sm"/>
            <a:tailEnd type="none" w="sm" len="sm"/>
          </a:ln>
        </p:spPr>
        <p:txBody>
          <a:bodyPr wrap="none" anchor="ctr"/>
          <a:lstStyle/>
          <a:p>
            <a:endParaRPr lang="en-US"/>
          </a:p>
        </p:txBody>
      </p:sp>
      <p:sp>
        <p:nvSpPr>
          <p:cNvPr id="67" name="Oval 186"/>
          <p:cNvSpPr>
            <a:spLocks noChangeArrowheads="1"/>
          </p:cNvSpPr>
          <p:nvPr/>
        </p:nvSpPr>
        <p:spPr bwMode="auto">
          <a:xfrm>
            <a:off x="8382001" y="2819400"/>
            <a:ext cx="630237" cy="3200400"/>
          </a:xfrm>
          <a:prstGeom prst="ellipse">
            <a:avLst/>
          </a:prstGeom>
          <a:noFill/>
          <a:ln w="38100">
            <a:solidFill>
              <a:srgbClr val="FF0000"/>
            </a:solidFill>
            <a:round/>
            <a:headEnd type="none" w="sm" len="sm"/>
            <a:tailEnd type="none" w="sm" len="sm"/>
          </a:ln>
          <a:scene3d>
            <a:camera prst="orthographicFront">
              <a:rot lat="0" lon="0" rev="5400000"/>
            </a:camera>
            <a:lightRig rig="threePt" dir="t"/>
          </a:scene3d>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87403644-4D52-41F6-89B9-DF8667E14DBC}" type="slidenum">
              <a:rPr lang="en-US" smtClean="0"/>
              <a:pPr>
                <a:defRPr/>
              </a:pPr>
              <a:t>24</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99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052"/>
                                        </p:tgtEl>
                                        <p:attrNameLst>
                                          <p:attrName>style.visibility</p:attrName>
                                        </p:attrNameLst>
                                      </p:cBhvr>
                                      <p:to>
                                        <p:strVal val="visible"/>
                                      </p:to>
                                    </p:set>
                                  </p:childTnLst>
                                  <p:subTnLst>
                                    <p:set>
                                      <p:cBhvr override="childStyle">
                                        <p:cTn dur="1" fill="hold" display="0" masterRel="nextClick" afterEffect="1"/>
                                        <p:tgtEl>
                                          <p:spTgt spid="85052"/>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85059"/>
                                        </p:tgtEl>
                                        <p:attrNameLst>
                                          <p:attrName>style.visibility</p:attrName>
                                        </p:attrNameLst>
                                      </p:cBhvr>
                                      <p:to>
                                        <p:strVal val="visible"/>
                                      </p:to>
                                    </p:set>
                                  </p:childTnLst>
                                  <p:subTnLst>
                                    <p:set>
                                      <p:cBhvr override="childStyle">
                                        <p:cTn dur="1" fill="hold" display="0" masterRel="nextClick" afterEffect="1"/>
                                        <p:tgtEl>
                                          <p:spTgt spid="8505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995">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4995">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5051"/>
                                        </p:tgtEl>
                                        <p:attrNameLst>
                                          <p:attrName>style.visibility</p:attrName>
                                        </p:attrNameLst>
                                      </p:cBhvr>
                                      <p:to>
                                        <p:strVal val="visible"/>
                                      </p:to>
                                    </p:set>
                                  </p:childTnLst>
                                  <p:subTnLst>
                                    <p:set>
                                      <p:cBhvr override="childStyle">
                                        <p:cTn dur="1" fill="hold" display="0" masterRel="nextClick" afterEffect="1"/>
                                        <p:tgtEl>
                                          <p:spTgt spid="85051"/>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85055"/>
                                        </p:tgtEl>
                                        <p:attrNameLst>
                                          <p:attrName>style.visibility</p:attrName>
                                        </p:attrNameLst>
                                      </p:cBhvr>
                                      <p:to>
                                        <p:strVal val="visible"/>
                                      </p:to>
                                    </p:set>
                                  </p:childTnLst>
                                  <p:subTnLst>
                                    <p:set>
                                      <p:cBhvr override="childStyle">
                                        <p:cTn dur="1" fill="hold" display="0" masterRel="nextClick" afterEffect="1"/>
                                        <p:tgtEl>
                                          <p:spTgt spid="85055"/>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4995">
                                            <p:txEl>
                                              <p:pRg st="6" end="6"/>
                                            </p:txEl>
                                          </p:spTgt>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66"/>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4995">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4995">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5060"/>
                                        </p:tgtEl>
                                        <p:attrNameLst>
                                          <p:attrName>style.visibility</p:attrName>
                                        </p:attrNameLst>
                                      </p:cBhvr>
                                      <p:to>
                                        <p:strVal val="visible"/>
                                      </p:to>
                                    </p:set>
                                  </p:childTnLst>
                                  <p:subTnLst>
                                    <p:set>
                                      <p:cBhvr override="childStyle">
                                        <p:cTn dur="1" fill="hold" display="0" masterRel="nextClick" afterEffect="1"/>
                                        <p:tgtEl>
                                          <p:spTgt spid="85060"/>
                                        </p:tgtEl>
                                        <p:attrNameLst>
                                          <p:attrName>style.visibility</p:attrName>
                                        </p:attrNameLst>
                                      </p:cBhvr>
                                      <p:to>
                                        <p:strVal val="hidden"/>
                                      </p:to>
                                    </p:set>
                                  </p:subTnLst>
                                </p:cTn>
                              </p:par>
                              <p:par>
                                <p:cTn id="45" presetID="1" presetClass="entr" presetSubtype="0" fill="hold" grpId="0" nodeType="withEffect">
                                  <p:stCondLst>
                                    <p:cond delay="0"/>
                                  </p:stCondLst>
                                  <p:childTnLst>
                                    <p:set>
                                      <p:cBhvr>
                                        <p:cTn id="46" dur="1" fill="hold">
                                          <p:stCondLst>
                                            <p:cond delay="0"/>
                                          </p:stCondLst>
                                        </p:cTn>
                                        <p:tgtEl>
                                          <p:spTgt spid="85056"/>
                                        </p:tgtEl>
                                        <p:attrNameLst>
                                          <p:attrName>style.visibility</p:attrName>
                                        </p:attrNameLst>
                                      </p:cBhvr>
                                      <p:to>
                                        <p:strVal val="visible"/>
                                      </p:to>
                                    </p:set>
                                  </p:childTnLst>
                                  <p:subTnLst>
                                    <p:set>
                                      <p:cBhvr override="childStyle">
                                        <p:cTn dur="1" fill="hold" display="0" masterRel="nextClick" afterEffect="1"/>
                                        <p:tgtEl>
                                          <p:spTgt spid="85056"/>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4995">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4995">
                                            <p:txEl>
                                              <p:pRg st="10" end="1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5053"/>
                                        </p:tgtEl>
                                        <p:attrNameLst>
                                          <p:attrName>style.visibility</p:attrName>
                                        </p:attrNameLst>
                                      </p:cBhvr>
                                      <p:to>
                                        <p:strVal val="visible"/>
                                      </p:to>
                                    </p:set>
                                  </p:childTnLst>
                                  <p:subTnLst>
                                    <p:set>
                                      <p:cBhvr override="childStyle">
                                        <p:cTn dur="1" fill="hold" display="0" masterRel="nextClick" afterEffect="1"/>
                                        <p:tgtEl>
                                          <p:spTgt spid="85053"/>
                                        </p:tgtEl>
                                        <p:attrNameLst>
                                          <p:attrName>style.visibility</p:attrName>
                                        </p:attrNameLst>
                                      </p:cBhvr>
                                      <p:to>
                                        <p:strVal val="hidden"/>
                                      </p:to>
                                    </p:set>
                                  </p:subTnLst>
                                </p:cTn>
                              </p:par>
                              <p:par>
                                <p:cTn id="55" presetID="1" presetClass="entr" presetSubtype="0" fill="hold" grpId="0" nodeType="withEffect">
                                  <p:stCondLst>
                                    <p:cond delay="0"/>
                                  </p:stCondLst>
                                  <p:childTnLst>
                                    <p:set>
                                      <p:cBhvr>
                                        <p:cTn id="56" dur="1" fill="hold">
                                          <p:stCondLst>
                                            <p:cond delay="0"/>
                                          </p:stCondLst>
                                        </p:cTn>
                                        <p:tgtEl>
                                          <p:spTgt spid="85057"/>
                                        </p:tgtEl>
                                        <p:attrNameLst>
                                          <p:attrName>style.visibility</p:attrName>
                                        </p:attrNameLst>
                                      </p:cBhvr>
                                      <p:to>
                                        <p:strVal val="visible"/>
                                      </p:to>
                                    </p:set>
                                  </p:childTnLst>
                                  <p:subTnLst>
                                    <p:set>
                                      <p:cBhvr override="childStyle">
                                        <p:cTn dur="1" fill="hold" display="0" masterRel="nextClick" afterEffect="1"/>
                                        <p:tgtEl>
                                          <p:spTgt spid="85057"/>
                                        </p:tgtEl>
                                        <p:attrNameLst>
                                          <p:attrName>style.visibility</p:attrName>
                                        </p:attrNameLst>
                                      </p:cBhvr>
                                      <p:to>
                                        <p:strVal val="hidden"/>
                                      </p:to>
                                    </p:set>
                                  </p:sub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4995">
                                            <p:txEl>
                                              <p:pRg st="11" end="1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4995">
                                            <p:txEl>
                                              <p:pRg st="12" end="12"/>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4995">
                                            <p:txEl>
                                              <p:pRg st="13" end="13"/>
                                            </p:txEl>
                                          </p:spTgt>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85060"/>
                                        </p:tgtEl>
                                        <p:attrNameLst>
                                          <p:attrName>style.visibility</p:attrName>
                                        </p:attrNameLst>
                                      </p:cBhvr>
                                      <p:to>
                                        <p:strVal val="visible"/>
                                      </p:to>
                                    </p:set>
                                  </p:childTnLst>
                                </p:cTn>
                              </p:par>
                              <p:par>
                                <p:cTn id="67" presetID="1" presetClass="entr" presetSubtype="0" fill="hold" grpId="1" nodeType="withEffect">
                                  <p:stCondLst>
                                    <p:cond delay="0"/>
                                  </p:stCondLst>
                                  <p:childTnLst>
                                    <p:set>
                                      <p:cBhvr>
                                        <p:cTn id="68" dur="1" fill="hold">
                                          <p:stCondLst>
                                            <p:cond delay="0"/>
                                          </p:stCondLst>
                                        </p:cTn>
                                        <p:tgtEl>
                                          <p:spTgt spid="85056"/>
                                        </p:tgtEl>
                                        <p:attrNameLst>
                                          <p:attrName>style.visibility</p:attrName>
                                        </p:attrNameLst>
                                      </p:cBhvr>
                                      <p:to>
                                        <p:strVal val="visible"/>
                                      </p:to>
                                    </p:set>
                                  </p:childTnLst>
                                </p:cTn>
                              </p:par>
                              <p:par>
                                <p:cTn id="69" presetID="1" presetClass="entr" presetSubtype="0" fill="hold" grpId="1" nodeType="withEffect">
                                  <p:stCondLst>
                                    <p:cond delay="0"/>
                                  </p:stCondLst>
                                  <p:childTnLst>
                                    <p:set>
                                      <p:cBhvr>
                                        <p:cTn id="70" dur="1" fill="hold">
                                          <p:stCondLst>
                                            <p:cond delay="0"/>
                                          </p:stCondLst>
                                        </p:cTn>
                                        <p:tgtEl>
                                          <p:spTgt spid="85059"/>
                                        </p:tgtEl>
                                        <p:attrNameLst>
                                          <p:attrName>style.visibility</p:attrName>
                                        </p:attrNameLst>
                                      </p:cBhvr>
                                      <p:to>
                                        <p:strVal val="visible"/>
                                      </p:to>
                                    </p:set>
                                  </p:childTnLst>
                                </p:cTn>
                              </p:par>
                              <p:par>
                                <p:cTn id="71" presetID="1" presetClass="entr" presetSubtype="0" fill="hold" grpId="1" nodeType="withEffect">
                                  <p:stCondLst>
                                    <p:cond delay="0"/>
                                  </p:stCondLst>
                                  <p:childTnLst>
                                    <p:set>
                                      <p:cBhvr>
                                        <p:cTn id="72" dur="1" fill="hold">
                                          <p:stCondLst>
                                            <p:cond delay="0"/>
                                          </p:stCondLst>
                                        </p:cTn>
                                        <p:tgtEl>
                                          <p:spTgt spid="85052"/>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85051"/>
                                        </p:tgtEl>
                                        <p:attrNameLst>
                                          <p:attrName>style.visibility</p:attrName>
                                        </p:attrNameLst>
                                      </p:cBhvr>
                                      <p:to>
                                        <p:strVal val="visible"/>
                                      </p:to>
                                    </p:set>
                                  </p:childTnLst>
                                </p:cTn>
                              </p:par>
                              <p:par>
                                <p:cTn id="75" presetID="1" presetClass="entr" presetSubtype="0" fill="hold" grpId="1" nodeType="withEffect">
                                  <p:stCondLst>
                                    <p:cond delay="0"/>
                                  </p:stCondLst>
                                  <p:childTnLst>
                                    <p:set>
                                      <p:cBhvr>
                                        <p:cTn id="76" dur="1" fill="hold">
                                          <p:stCondLst>
                                            <p:cond delay="0"/>
                                          </p:stCondLst>
                                        </p:cTn>
                                        <p:tgtEl>
                                          <p:spTgt spid="8505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5061"/>
                                        </p:tgtEl>
                                        <p:attrNameLst>
                                          <p:attrName>style.visibility</p:attrName>
                                        </p:attrNameLst>
                                      </p:cBhvr>
                                      <p:to>
                                        <p:strVal val="visible"/>
                                      </p:to>
                                    </p:set>
                                  </p:childTnLst>
                                </p:cTn>
                              </p:par>
                              <p:par>
                                <p:cTn id="79" presetID="1" presetClass="exit" presetSubtype="0" fill="hold" grpId="1" nodeType="withEffect">
                                  <p:stCondLst>
                                    <p:cond delay="0"/>
                                  </p:stCondLst>
                                  <p:childTnLst>
                                    <p:set>
                                      <p:cBhvr>
                                        <p:cTn id="80" dur="1" fill="hold">
                                          <p:stCondLst>
                                            <p:cond delay="0"/>
                                          </p:stCondLst>
                                        </p:cTn>
                                        <p:tgtEl>
                                          <p:spTgt spid="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51" grpId="0" animBg="1"/>
      <p:bldP spid="85051" grpId="1" animBg="1"/>
      <p:bldP spid="85052" grpId="0" animBg="1"/>
      <p:bldP spid="85052" grpId="1" animBg="1"/>
      <p:bldP spid="85053" grpId="0" animBg="1"/>
      <p:bldP spid="85055" grpId="0" animBg="1"/>
      <p:bldP spid="85055" grpId="1" animBg="1"/>
      <p:bldP spid="85056" grpId="0" animBg="1"/>
      <p:bldP spid="85056" grpId="1" animBg="1"/>
      <p:bldP spid="85057" grpId="0" animBg="1"/>
      <p:bldP spid="85059" grpId="0" animBg="1"/>
      <p:bldP spid="85059" grpId="1" animBg="1"/>
      <p:bldP spid="85060" grpId="0" animBg="1"/>
      <p:bldP spid="85060" grpId="1" animBg="1"/>
      <p:bldP spid="85061" grpId="0" animBg="1"/>
      <p:bldP spid="66" grpId="0" animBg="1"/>
      <p:bldP spid="66" grpId="1" animBg="1"/>
      <p:bldP spid="67" grpId="0" animBg="1"/>
      <p:bldP spid="67"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type="body" idx="4294967295"/>
          </p:nvPr>
        </p:nvSpPr>
        <p:spPr>
          <a:xfrm>
            <a:off x="1701800" y="745958"/>
            <a:ext cx="8966200" cy="5459580"/>
          </a:xfrm>
        </p:spPr>
        <p:txBody>
          <a:bodyPr/>
          <a:lstStyle/>
          <a:p>
            <a:pPr>
              <a:lnSpc>
                <a:spcPct val="80000"/>
              </a:lnSpc>
            </a:pPr>
            <a:r>
              <a:rPr lang="en-US" dirty="0"/>
              <a:t>Find NFP tests for each literal such that all literals not in the term attain F and T </a:t>
            </a:r>
          </a:p>
          <a:p>
            <a:pPr>
              <a:lnSpc>
                <a:spcPct val="80000"/>
              </a:lnSpc>
            </a:pPr>
            <a:r>
              <a:rPr lang="en-US" dirty="0"/>
              <a:t>Consider the DNF predicate: </a:t>
            </a:r>
          </a:p>
          <a:p>
            <a:pPr lvl="1">
              <a:lnSpc>
                <a:spcPct val="80000"/>
              </a:lnSpc>
            </a:pPr>
            <a:r>
              <a:rPr lang="en-US" dirty="0"/>
              <a:t> </a:t>
            </a:r>
            <a:r>
              <a:rPr lang="en-US" i="1" dirty="0"/>
              <a:t>f = </a:t>
            </a:r>
            <a:r>
              <a:rPr lang="en-US" i="1" dirty="0" err="1"/>
              <a:t>ab</a:t>
            </a:r>
            <a:r>
              <a:rPr lang="en-US" i="1" dirty="0"/>
              <a:t> + </a:t>
            </a:r>
            <a:r>
              <a:rPr lang="en-US" i="1" dirty="0" err="1"/>
              <a:t>cd</a:t>
            </a:r>
            <a:endParaRPr lang="en-US" i="1" dirty="0"/>
          </a:p>
          <a:p>
            <a:pPr>
              <a:lnSpc>
                <a:spcPct val="80000"/>
              </a:lnSpc>
            </a:pPr>
            <a:r>
              <a:rPr lang="en-US" dirty="0"/>
              <a:t>For implicant </a:t>
            </a:r>
            <a:r>
              <a:rPr lang="en-US" i="1" dirty="0"/>
              <a:t>ab</a:t>
            </a:r>
            <a:endParaRPr lang="en-US" dirty="0"/>
          </a:p>
          <a:p>
            <a:pPr lvl="1">
              <a:lnSpc>
                <a:spcPct val="80000"/>
              </a:lnSpc>
            </a:pPr>
            <a:r>
              <a:rPr lang="en-US" dirty="0"/>
              <a:t>Choose FTFT, FTTF for a</a:t>
            </a:r>
          </a:p>
          <a:p>
            <a:pPr lvl="1">
              <a:lnSpc>
                <a:spcPct val="80000"/>
              </a:lnSpc>
            </a:pPr>
            <a:r>
              <a:rPr lang="en-US" dirty="0"/>
              <a:t>Choose TFFT, TFTF for b</a:t>
            </a:r>
          </a:p>
          <a:p>
            <a:pPr>
              <a:lnSpc>
                <a:spcPct val="80000"/>
              </a:lnSpc>
            </a:pPr>
            <a:r>
              <a:rPr lang="en-US" dirty="0"/>
              <a:t>For implicant cd</a:t>
            </a:r>
          </a:p>
          <a:p>
            <a:pPr lvl="1">
              <a:lnSpc>
                <a:spcPct val="80000"/>
              </a:lnSpc>
            </a:pPr>
            <a:r>
              <a:rPr lang="en-US" dirty="0"/>
              <a:t>Choose FTFT, TFFT for c</a:t>
            </a:r>
          </a:p>
          <a:p>
            <a:pPr lvl="1">
              <a:lnSpc>
                <a:spcPct val="80000"/>
              </a:lnSpc>
            </a:pPr>
            <a:r>
              <a:rPr lang="en-US" dirty="0"/>
              <a:t>Choose FTTF, TFTF for d</a:t>
            </a:r>
          </a:p>
          <a:p>
            <a:pPr>
              <a:lnSpc>
                <a:spcPct val="80000"/>
              </a:lnSpc>
            </a:pPr>
            <a:r>
              <a:rPr lang="en-US" dirty="0"/>
              <a:t>MNFP test set</a:t>
            </a:r>
          </a:p>
          <a:p>
            <a:pPr lvl="1">
              <a:lnSpc>
                <a:spcPct val="80000"/>
              </a:lnSpc>
            </a:pPr>
            <a:r>
              <a:rPr lang="en-US" dirty="0"/>
              <a:t>{TFTF, TFFT, FTTF, TFTF}</a:t>
            </a:r>
          </a:p>
          <a:p>
            <a:pPr>
              <a:lnSpc>
                <a:spcPct val="80000"/>
              </a:lnSpc>
            </a:pPr>
            <a:r>
              <a:rPr lang="en-US" dirty="0"/>
              <a:t>Example is small, but generally MNFP is large</a:t>
            </a:r>
          </a:p>
        </p:txBody>
      </p:sp>
      <p:sp>
        <p:nvSpPr>
          <p:cNvPr id="29698" name="Rectangle 2"/>
          <p:cNvSpPr>
            <a:spLocks noGrp="1" noChangeArrowheads="1"/>
          </p:cNvSpPr>
          <p:nvPr>
            <p:ph type="title" idx="4294967295"/>
          </p:nvPr>
        </p:nvSpPr>
        <p:spPr>
          <a:xfrm>
            <a:off x="1545086" y="103188"/>
            <a:ext cx="9087584" cy="823244"/>
          </a:xfrm>
        </p:spPr>
        <p:txBody>
          <a:bodyPr/>
          <a:lstStyle/>
          <a:p>
            <a:r>
              <a:rPr lang="en-US" sz="3200" dirty="0"/>
              <a:t>MNFP : Multiple Near False Points</a:t>
            </a:r>
          </a:p>
        </p:txBody>
      </p:sp>
      <p:grpSp>
        <p:nvGrpSpPr>
          <p:cNvPr id="2" name="Group 68"/>
          <p:cNvGrpSpPr/>
          <p:nvPr/>
        </p:nvGrpSpPr>
        <p:grpSpPr>
          <a:xfrm>
            <a:off x="6248400" y="1905000"/>
            <a:ext cx="4013200" cy="3562350"/>
            <a:chOff x="4724400" y="1905000"/>
            <a:chExt cx="4013200" cy="3562350"/>
          </a:xfrm>
        </p:grpSpPr>
        <p:sp>
          <p:nvSpPr>
            <p:cNvPr id="29710" name="Rectangle 5"/>
            <p:cNvSpPr>
              <a:spLocks noChangeArrowheads="1"/>
            </p:cNvSpPr>
            <p:nvPr/>
          </p:nvSpPr>
          <p:spPr bwMode="auto">
            <a:xfrm>
              <a:off x="4772025" y="3370263"/>
              <a:ext cx="792163" cy="70485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01</a:t>
              </a:r>
            </a:p>
          </p:txBody>
        </p:sp>
        <p:sp>
          <p:nvSpPr>
            <p:cNvPr id="29711" name="Rectangle 6"/>
            <p:cNvSpPr>
              <a:spLocks noChangeArrowheads="1"/>
            </p:cNvSpPr>
            <p:nvPr/>
          </p:nvSpPr>
          <p:spPr bwMode="auto">
            <a:xfrm>
              <a:off x="4772025" y="2697163"/>
              <a:ext cx="792163" cy="67310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00</a:t>
              </a:r>
            </a:p>
          </p:txBody>
        </p:sp>
        <p:sp>
          <p:nvSpPr>
            <p:cNvPr id="29712" name="Rectangle 7"/>
            <p:cNvSpPr>
              <a:spLocks noChangeArrowheads="1"/>
            </p:cNvSpPr>
            <p:nvPr/>
          </p:nvSpPr>
          <p:spPr bwMode="auto">
            <a:xfrm>
              <a:off x="7937500" y="1951038"/>
              <a:ext cx="792163"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10</a:t>
              </a:r>
            </a:p>
          </p:txBody>
        </p:sp>
        <p:sp>
          <p:nvSpPr>
            <p:cNvPr id="29713" name="Rectangle 8"/>
            <p:cNvSpPr>
              <a:spLocks noChangeArrowheads="1"/>
            </p:cNvSpPr>
            <p:nvPr/>
          </p:nvSpPr>
          <p:spPr bwMode="auto">
            <a:xfrm>
              <a:off x="7146925" y="1951038"/>
              <a:ext cx="790575"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11</a:t>
              </a:r>
            </a:p>
          </p:txBody>
        </p:sp>
        <p:sp>
          <p:nvSpPr>
            <p:cNvPr id="29714" name="Rectangle 9"/>
            <p:cNvSpPr>
              <a:spLocks noChangeArrowheads="1"/>
            </p:cNvSpPr>
            <p:nvPr/>
          </p:nvSpPr>
          <p:spPr bwMode="auto">
            <a:xfrm>
              <a:off x="6354763" y="1951038"/>
              <a:ext cx="792163"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01</a:t>
              </a:r>
            </a:p>
          </p:txBody>
        </p:sp>
        <p:sp>
          <p:nvSpPr>
            <p:cNvPr id="29715" name="Rectangle 10"/>
            <p:cNvSpPr>
              <a:spLocks noChangeArrowheads="1"/>
            </p:cNvSpPr>
            <p:nvPr/>
          </p:nvSpPr>
          <p:spPr bwMode="auto">
            <a:xfrm>
              <a:off x="5564188" y="1951038"/>
              <a:ext cx="790575" cy="746125"/>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00</a:t>
              </a:r>
            </a:p>
          </p:txBody>
        </p:sp>
        <p:sp>
          <p:nvSpPr>
            <p:cNvPr id="29716" name="Rectangle 11"/>
            <p:cNvSpPr>
              <a:spLocks noChangeArrowheads="1"/>
            </p:cNvSpPr>
            <p:nvPr/>
          </p:nvSpPr>
          <p:spPr bwMode="auto">
            <a:xfrm>
              <a:off x="4724400" y="1905000"/>
              <a:ext cx="792163" cy="746125"/>
            </a:xfrm>
            <a:prstGeom prst="rect">
              <a:avLst/>
            </a:prstGeom>
            <a:noFill/>
            <a:ln w="25400">
              <a:noFill/>
              <a:miter lim="800000"/>
              <a:headEnd type="none" w="med" len="lg"/>
              <a:tailEnd type="none" w="sm" len="sm"/>
            </a:ln>
          </p:spPr>
          <p:txBody>
            <a:bodyPr anchor="ctr"/>
            <a:lstStyle/>
            <a:p>
              <a:pPr>
                <a:lnSpc>
                  <a:spcPct val="90000"/>
                </a:lnSpc>
                <a:spcBef>
                  <a:spcPct val="30000"/>
                </a:spcBef>
                <a:buSzPct val="85000"/>
              </a:pPr>
              <a:r>
                <a:rPr lang="en-US">
                  <a:solidFill>
                    <a:schemeClr val="tx1"/>
                  </a:solidFill>
                </a:rPr>
                <a:t>    ab</a:t>
              </a:r>
            </a:p>
            <a:p>
              <a:pPr>
                <a:lnSpc>
                  <a:spcPct val="90000"/>
                </a:lnSpc>
                <a:spcBef>
                  <a:spcPct val="30000"/>
                </a:spcBef>
                <a:buSzPct val="85000"/>
              </a:pPr>
              <a:r>
                <a:rPr lang="en-US">
                  <a:solidFill>
                    <a:schemeClr val="tx1"/>
                  </a:solidFill>
                </a:rPr>
                <a:t>  cd</a:t>
              </a:r>
            </a:p>
          </p:txBody>
        </p:sp>
        <p:sp>
          <p:nvSpPr>
            <p:cNvPr id="29717" name="Line 12"/>
            <p:cNvSpPr>
              <a:spLocks noChangeShapeType="1"/>
            </p:cNvSpPr>
            <p:nvPr/>
          </p:nvSpPr>
          <p:spPr bwMode="auto">
            <a:xfrm>
              <a:off x="4772025" y="1951038"/>
              <a:ext cx="792163" cy="0"/>
            </a:xfrm>
            <a:prstGeom prst="line">
              <a:avLst/>
            </a:prstGeom>
            <a:noFill/>
            <a:ln w="28575" cap="sq">
              <a:noFill/>
              <a:round/>
              <a:headEnd type="none" w="med" len="lg"/>
              <a:tailEnd type="none" w="sm" len="sm"/>
            </a:ln>
          </p:spPr>
          <p:txBody>
            <a:bodyPr/>
            <a:lstStyle/>
            <a:p>
              <a:endParaRPr lang="en-US"/>
            </a:p>
          </p:txBody>
        </p:sp>
        <p:sp>
          <p:nvSpPr>
            <p:cNvPr id="29718" name="Line 13"/>
            <p:cNvSpPr>
              <a:spLocks noChangeShapeType="1"/>
            </p:cNvSpPr>
            <p:nvPr/>
          </p:nvSpPr>
          <p:spPr bwMode="auto">
            <a:xfrm>
              <a:off x="4772025" y="1951038"/>
              <a:ext cx="0" cy="746125"/>
            </a:xfrm>
            <a:prstGeom prst="line">
              <a:avLst/>
            </a:prstGeom>
            <a:noFill/>
            <a:ln w="28575" cap="sq">
              <a:noFill/>
              <a:round/>
              <a:headEnd type="none" w="med" len="lg"/>
              <a:tailEnd type="none" w="sm" len="sm"/>
            </a:ln>
          </p:spPr>
          <p:txBody>
            <a:bodyPr/>
            <a:lstStyle/>
            <a:p>
              <a:endParaRPr lang="en-US"/>
            </a:p>
          </p:txBody>
        </p:sp>
        <p:sp>
          <p:nvSpPr>
            <p:cNvPr id="29719" name="Line 14"/>
            <p:cNvSpPr>
              <a:spLocks noChangeShapeType="1"/>
            </p:cNvSpPr>
            <p:nvPr/>
          </p:nvSpPr>
          <p:spPr bwMode="auto">
            <a:xfrm>
              <a:off x="5564188" y="1951038"/>
              <a:ext cx="790575" cy="0"/>
            </a:xfrm>
            <a:prstGeom prst="line">
              <a:avLst/>
            </a:prstGeom>
            <a:noFill/>
            <a:ln w="28575" cap="sq">
              <a:noFill/>
              <a:round/>
              <a:headEnd type="none" w="med" len="lg"/>
              <a:tailEnd type="none" w="sm" len="sm"/>
            </a:ln>
          </p:spPr>
          <p:txBody>
            <a:bodyPr/>
            <a:lstStyle/>
            <a:p>
              <a:endParaRPr lang="en-US"/>
            </a:p>
          </p:txBody>
        </p:sp>
        <p:sp>
          <p:nvSpPr>
            <p:cNvPr id="29720" name="Line 15"/>
            <p:cNvSpPr>
              <a:spLocks noChangeShapeType="1"/>
            </p:cNvSpPr>
            <p:nvPr/>
          </p:nvSpPr>
          <p:spPr bwMode="auto">
            <a:xfrm>
              <a:off x="4772025" y="2697163"/>
              <a:ext cx="0" cy="673100"/>
            </a:xfrm>
            <a:prstGeom prst="line">
              <a:avLst/>
            </a:prstGeom>
            <a:noFill/>
            <a:ln w="28575" cap="sq">
              <a:noFill/>
              <a:round/>
              <a:headEnd type="none" w="med" len="lg"/>
              <a:tailEnd type="none" w="sm" len="sm"/>
            </a:ln>
          </p:spPr>
          <p:txBody>
            <a:bodyPr/>
            <a:lstStyle/>
            <a:p>
              <a:endParaRPr lang="en-US"/>
            </a:p>
          </p:txBody>
        </p:sp>
        <p:sp>
          <p:nvSpPr>
            <p:cNvPr id="29721" name="Line 16"/>
            <p:cNvSpPr>
              <a:spLocks noChangeShapeType="1"/>
            </p:cNvSpPr>
            <p:nvPr/>
          </p:nvSpPr>
          <p:spPr bwMode="auto">
            <a:xfrm>
              <a:off x="4772025" y="3370263"/>
              <a:ext cx="0" cy="704850"/>
            </a:xfrm>
            <a:prstGeom prst="line">
              <a:avLst/>
            </a:prstGeom>
            <a:noFill/>
            <a:ln w="28575" cap="sq">
              <a:noFill/>
              <a:round/>
              <a:headEnd type="none" w="med" len="lg"/>
              <a:tailEnd type="none" w="sm" len="sm"/>
            </a:ln>
          </p:spPr>
          <p:txBody>
            <a:bodyPr/>
            <a:lstStyle/>
            <a:p>
              <a:endParaRPr lang="en-US"/>
            </a:p>
          </p:txBody>
        </p:sp>
        <p:sp>
          <p:nvSpPr>
            <p:cNvPr id="29722" name="Line 17"/>
            <p:cNvSpPr>
              <a:spLocks noChangeShapeType="1"/>
            </p:cNvSpPr>
            <p:nvPr/>
          </p:nvSpPr>
          <p:spPr bwMode="auto">
            <a:xfrm>
              <a:off x="8729663" y="1951038"/>
              <a:ext cx="0" cy="746125"/>
            </a:xfrm>
            <a:prstGeom prst="line">
              <a:avLst/>
            </a:prstGeom>
            <a:noFill/>
            <a:ln w="28575" cap="sq">
              <a:noFill/>
              <a:round/>
              <a:headEnd type="none" w="med" len="lg"/>
              <a:tailEnd type="none" w="sm" len="sm"/>
            </a:ln>
          </p:spPr>
          <p:txBody>
            <a:bodyPr/>
            <a:lstStyle/>
            <a:p>
              <a:endParaRPr lang="en-US"/>
            </a:p>
          </p:txBody>
        </p:sp>
        <p:sp>
          <p:nvSpPr>
            <p:cNvPr id="29723" name="Line 18"/>
            <p:cNvSpPr>
              <a:spLocks noChangeShapeType="1"/>
            </p:cNvSpPr>
            <p:nvPr/>
          </p:nvSpPr>
          <p:spPr bwMode="auto">
            <a:xfrm>
              <a:off x="4772025" y="4075113"/>
              <a:ext cx="792163" cy="0"/>
            </a:xfrm>
            <a:prstGeom prst="line">
              <a:avLst/>
            </a:prstGeom>
            <a:noFill/>
            <a:ln w="28575" cap="sq">
              <a:noFill/>
              <a:round/>
              <a:headEnd type="none" w="med" len="lg"/>
              <a:tailEnd type="none" w="sm" len="sm"/>
            </a:ln>
          </p:spPr>
          <p:txBody>
            <a:bodyPr/>
            <a:lstStyle/>
            <a:p>
              <a:endParaRPr lang="en-US"/>
            </a:p>
          </p:txBody>
        </p:sp>
        <p:sp>
          <p:nvSpPr>
            <p:cNvPr id="29724" name="Line 19"/>
            <p:cNvSpPr>
              <a:spLocks noChangeShapeType="1"/>
            </p:cNvSpPr>
            <p:nvPr/>
          </p:nvSpPr>
          <p:spPr bwMode="auto">
            <a:xfrm>
              <a:off x="5003800" y="2159000"/>
              <a:ext cx="546100" cy="523875"/>
            </a:xfrm>
            <a:prstGeom prst="line">
              <a:avLst/>
            </a:prstGeom>
            <a:noFill/>
            <a:ln w="12700">
              <a:solidFill>
                <a:schemeClr val="tx1"/>
              </a:solidFill>
              <a:round/>
              <a:headEnd type="none" w="sm" len="sm"/>
              <a:tailEnd type="none" w="sm" len="sm"/>
            </a:ln>
          </p:spPr>
          <p:txBody>
            <a:bodyPr/>
            <a:lstStyle/>
            <a:p>
              <a:endParaRPr lang="en-US"/>
            </a:p>
          </p:txBody>
        </p:sp>
        <p:sp>
          <p:nvSpPr>
            <p:cNvPr id="29725" name="Rectangle 20"/>
            <p:cNvSpPr>
              <a:spLocks noChangeArrowheads="1"/>
            </p:cNvSpPr>
            <p:nvPr/>
          </p:nvSpPr>
          <p:spPr bwMode="auto">
            <a:xfrm>
              <a:off x="7937500" y="3370263"/>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26" name="Rectangle 21"/>
            <p:cNvSpPr>
              <a:spLocks noChangeArrowheads="1"/>
            </p:cNvSpPr>
            <p:nvPr/>
          </p:nvSpPr>
          <p:spPr bwMode="auto">
            <a:xfrm>
              <a:off x="7146925" y="3370263"/>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27" name="Rectangle 22"/>
            <p:cNvSpPr>
              <a:spLocks noChangeArrowheads="1"/>
            </p:cNvSpPr>
            <p:nvPr/>
          </p:nvSpPr>
          <p:spPr bwMode="auto">
            <a:xfrm>
              <a:off x="6354763" y="3370263"/>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28" name="Rectangle 23"/>
            <p:cNvSpPr>
              <a:spLocks noChangeArrowheads="1"/>
            </p:cNvSpPr>
            <p:nvPr/>
          </p:nvSpPr>
          <p:spPr bwMode="auto">
            <a:xfrm>
              <a:off x="5564188" y="3370263"/>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29" name="Rectangle 24"/>
            <p:cNvSpPr>
              <a:spLocks noChangeArrowheads="1"/>
            </p:cNvSpPr>
            <p:nvPr/>
          </p:nvSpPr>
          <p:spPr bwMode="auto">
            <a:xfrm>
              <a:off x="7937500" y="2697163"/>
              <a:ext cx="792163"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30" name="Rectangle 25"/>
            <p:cNvSpPr>
              <a:spLocks noChangeArrowheads="1"/>
            </p:cNvSpPr>
            <p:nvPr/>
          </p:nvSpPr>
          <p:spPr bwMode="auto">
            <a:xfrm>
              <a:off x="6354763" y="2697163"/>
              <a:ext cx="792163"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31" name="Rectangle 26"/>
            <p:cNvSpPr>
              <a:spLocks noChangeArrowheads="1"/>
            </p:cNvSpPr>
            <p:nvPr/>
          </p:nvSpPr>
          <p:spPr bwMode="auto">
            <a:xfrm>
              <a:off x="5564188" y="2697163"/>
              <a:ext cx="790575"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32" name="Line 27"/>
            <p:cNvSpPr>
              <a:spLocks noChangeShapeType="1"/>
            </p:cNvSpPr>
            <p:nvPr/>
          </p:nvSpPr>
          <p:spPr bwMode="auto">
            <a:xfrm>
              <a:off x="8729663" y="2697163"/>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33" name="Line 28"/>
            <p:cNvSpPr>
              <a:spLocks noChangeShapeType="1"/>
            </p:cNvSpPr>
            <p:nvPr/>
          </p:nvSpPr>
          <p:spPr bwMode="auto">
            <a:xfrm>
              <a:off x="5564188" y="2697163"/>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34" name="Line 29"/>
            <p:cNvSpPr>
              <a:spLocks noChangeShapeType="1"/>
            </p:cNvSpPr>
            <p:nvPr/>
          </p:nvSpPr>
          <p:spPr bwMode="auto">
            <a:xfrm>
              <a:off x="5564188" y="2697163"/>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35" name="Line 30"/>
            <p:cNvSpPr>
              <a:spLocks noChangeShapeType="1"/>
            </p:cNvSpPr>
            <p:nvPr/>
          </p:nvSpPr>
          <p:spPr bwMode="auto">
            <a:xfrm>
              <a:off x="6354763" y="2697163"/>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36" name="Line 31"/>
            <p:cNvSpPr>
              <a:spLocks noChangeShapeType="1"/>
            </p:cNvSpPr>
            <p:nvPr/>
          </p:nvSpPr>
          <p:spPr bwMode="auto">
            <a:xfrm>
              <a:off x="7146925" y="2697163"/>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37" name="Line 32"/>
            <p:cNvSpPr>
              <a:spLocks noChangeShapeType="1"/>
            </p:cNvSpPr>
            <p:nvPr/>
          </p:nvSpPr>
          <p:spPr bwMode="auto">
            <a:xfrm>
              <a:off x="7937500" y="2697163"/>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38" name="Line 33"/>
            <p:cNvSpPr>
              <a:spLocks noChangeShapeType="1"/>
            </p:cNvSpPr>
            <p:nvPr/>
          </p:nvSpPr>
          <p:spPr bwMode="auto">
            <a:xfrm>
              <a:off x="5564188" y="3370263"/>
              <a:ext cx="3165475" cy="0"/>
            </a:xfrm>
            <a:prstGeom prst="line">
              <a:avLst/>
            </a:prstGeom>
            <a:noFill/>
            <a:ln w="12700">
              <a:solidFill>
                <a:schemeClr val="tx1"/>
              </a:solidFill>
              <a:round/>
              <a:headEnd type="none" w="med" len="lg"/>
              <a:tailEnd type="none" w="sm" len="sm"/>
            </a:ln>
          </p:spPr>
          <p:txBody>
            <a:bodyPr/>
            <a:lstStyle/>
            <a:p>
              <a:endParaRPr lang="en-US"/>
            </a:p>
          </p:txBody>
        </p:sp>
        <p:sp>
          <p:nvSpPr>
            <p:cNvPr id="29739" name="Line 34"/>
            <p:cNvSpPr>
              <a:spLocks noChangeShapeType="1"/>
            </p:cNvSpPr>
            <p:nvPr/>
          </p:nvSpPr>
          <p:spPr bwMode="auto">
            <a:xfrm>
              <a:off x="5572125" y="4100513"/>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40" name="Line 35"/>
            <p:cNvSpPr>
              <a:spLocks noChangeShapeType="1"/>
            </p:cNvSpPr>
            <p:nvPr/>
          </p:nvSpPr>
          <p:spPr bwMode="auto">
            <a:xfrm>
              <a:off x="5930900" y="5335588"/>
              <a:ext cx="792163" cy="0"/>
            </a:xfrm>
            <a:prstGeom prst="line">
              <a:avLst/>
            </a:prstGeom>
            <a:noFill/>
            <a:ln w="28575" cap="sq">
              <a:noFill/>
              <a:round/>
              <a:headEnd type="none" w="med" len="lg"/>
              <a:tailEnd type="none" w="sm" len="sm"/>
            </a:ln>
          </p:spPr>
          <p:txBody>
            <a:bodyPr/>
            <a:lstStyle/>
            <a:p>
              <a:endParaRPr lang="en-US"/>
            </a:p>
          </p:txBody>
        </p:sp>
        <p:sp>
          <p:nvSpPr>
            <p:cNvPr id="29741" name="Line 36"/>
            <p:cNvSpPr>
              <a:spLocks noChangeShapeType="1"/>
            </p:cNvSpPr>
            <p:nvPr/>
          </p:nvSpPr>
          <p:spPr bwMode="auto">
            <a:xfrm>
              <a:off x="6723063" y="5335588"/>
              <a:ext cx="790575" cy="0"/>
            </a:xfrm>
            <a:prstGeom prst="line">
              <a:avLst/>
            </a:prstGeom>
            <a:noFill/>
            <a:ln w="28575" cap="sq">
              <a:noFill/>
              <a:round/>
              <a:headEnd type="none" w="med" len="lg"/>
              <a:tailEnd type="none" w="sm" len="sm"/>
            </a:ln>
          </p:spPr>
          <p:txBody>
            <a:bodyPr/>
            <a:lstStyle/>
            <a:p>
              <a:endParaRPr lang="en-US"/>
            </a:p>
          </p:txBody>
        </p:sp>
        <p:sp>
          <p:nvSpPr>
            <p:cNvPr id="29742" name="Line 37"/>
            <p:cNvSpPr>
              <a:spLocks noChangeShapeType="1"/>
            </p:cNvSpPr>
            <p:nvPr/>
          </p:nvSpPr>
          <p:spPr bwMode="auto">
            <a:xfrm>
              <a:off x="7513638" y="5335588"/>
              <a:ext cx="792163" cy="0"/>
            </a:xfrm>
            <a:prstGeom prst="line">
              <a:avLst/>
            </a:prstGeom>
            <a:noFill/>
            <a:ln w="28575" cap="sq">
              <a:noFill/>
              <a:round/>
              <a:headEnd type="none" w="med" len="lg"/>
              <a:tailEnd type="none" w="sm" len="sm"/>
            </a:ln>
          </p:spPr>
          <p:txBody>
            <a:bodyPr/>
            <a:lstStyle/>
            <a:p>
              <a:endParaRPr lang="en-US"/>
            </a:p>
          </p:txBody>
        </p:sp>
        <p:sp>
          <p:nvSpPr>
            <p:cNvPr id="29743" name="Rectangle 38"/>
            <p:cNvSpPr>
              <a:spLocks noChangeArrowheads="1"/>
            </p:cNvSpPr>
            <p:nvPr/>
          </p:nvSpPr>
          <p:spPr bwMode="auto">
            <a:xfrm>
              <a:off x="7937500" y="4762500"/>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44" name="Rectangle 39"/>
            <p:cNvSpPr>
              <a:spLocks noChangeArrowheads="1"/>
            </p:cNvSpPr>
            <p:nvPr/>
          </p:nvSpPr>
          <p:spPr bwMode="auto">
            <a:xfrm>
              <a:off x="7146925" y="4762500"/>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45" name="Rectangle 40"/>
            <p:cNvSpPr>
              <a:spLocks noChangeArrowheads="1"/>
            </p:cNvSpPr>
            <p:nvPr/>
          </p:nvSpPr>
          <p:spPr bwMode="auto">
            <a:xfrm>
              <a:off x="6354763" y="4762500"/>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AU">
                <a:solidFill>
                  <a:schemeClr val="tx1"/>
                </a:solidFill>
              </a:endParaRPr>
            </a:p>
          </p:txBody>
        </p:sp>
        <p:sp>
          <p:nvSpPr>
            <p:cNvPr id="29746" name="Rectangle 41"/>
            <p:cNvSpPr>
              <a:spLocks noChangeArrowheads="1"/>
            </p:cNvSpPr>
            <p:nvPr/>
          </p:nvSpPr>
          <p:spPr bwMode="auto">
            <a:xfrm>
              <a:off x="5564188" y="4762500"/>
              <a:ext cx="790575"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endParaRPr lang="en-US">
                <a:solidFill>
                  <a:schemeClr val="tx1"/>
                </a:solidFill>
              </a:endParaRPr>
            </a:p>
          </p:txBody>
        </p:sp>
        <p:sp>
          <p:nvSpPr>
            <p:cNvPr id="29747" name="Rectangle 42"/>
            <p:cNvSpPr>
              <a:spLocks noChangeArrowheads="1"/>
            </p:cNvSpPr>
            <p:nvPr/>
          </p:nvSpPr>
          <p:spPr bwMode="auto">
            <a:xfrm>
              <a:off x="7937500" y="4089400"/>
              <a:ext cx="792163"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48" name="Rectangle 43"/>
            <p:cNvSpPr>
              <a:spLocks noChangeArrowheads="1"/>
            </p:cNvSpPr>
            <p:nvPr/>
          </p:nvSpPr>
          <p:spPr bwMode="auto">
            <a:xfrm>
              <a:off x="5564188" y="4089400"/>
              <a:ext cx="790575" cy="67310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US">
                  <a:solidFill>
                    <a:schemeClr val="tx1"/>
                  </a:solidFill>
                </a:rPr>
                <a:t>t</a:t>
              </a:r>
            </a:p>
          </p:txBody>
        </p:sp>
        <p:sp>
          <p:nvSpPr>
            <p:cNvPr id="29749" name="Line 44"/>
            <p:cNvSpPr>
              <a:spLocks noChangeShapeType="1"/>
            </p:cNvSpPr>
            <p:nvPr/>
          </p:nvSpPr>
          <p:spPr bwMode="auto">
            <a:xfrm>
              <a:off x="8729663" y="4089400"/>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50" name="Line 45"/>
            <p:cNvSpPr>
              <a:spLocks noChangeShapeType="1"/>
            </p:cNvSpPr>
            <p:nvPr/>
          </p:nvSpPr>
          <p:spPr bwMode="auto">
            <a:xfrm>
              <a:off x="5564188" y="5467350"/>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51" name="Line 46"/>
            <p:cNvSpPr>
              <a:spLocks noChangeShapeType="1"/>
            </p:cNvSpPr>
            <p:nvPr/>
          </p:nvSpPr>
          <p:spPr bwMode="auto">
            <a:xfrm>
              <a:off x="5564188" y="4089400"/>
              <a:ext cx="3165475" cy="0"/>
            </a:xfrm>
            <a:prstGeom prst="line">
              <a:avLst/>
            </a:prstGeom>
            <a:noFill/>
            <a:ln w="12700" cap="sq">
              <a:solidFill>
                <a:schemeClr val="tx1"/>
              </a:solidFill>
              <a:round/>
              <a:headEnd type="none" w="med" len="lg"/>
              <a:tailEnd type="none" w="sm" len="sm"/>
            </a:ln>
          </p:spPr>
          <p:txBody>
            <a:bodyPr/>
            <a:lstStyle/>
            <a:p>
              <a:endParaRPr lang="en-US"/>
            </a:p>
          </p:txBody>
        </p:sp>
        <p:sp>
          <p:nvSpPr>
            <p:cNvPr id="29752" name="Line 47"/>
            <p:cNvSpPr>
              <a:spLocks noChangeShapeType="1"/>
            </p:cNvSpPr>
            <p:nvPr/>
          </p:nvSpPr>
          <p:spPr bwMode="auto">
            <a:xfrm>
              <a:off x="5564188" y="4089400"/>
              <a:ext cx="0" cy="1377950"/>
            </a:xfrm>
            <a:prstGeom prst="line">
              <a:avLst/>
            </a:prstGeom>
            <a:noFill/>
            <a:ln w="12700" cap="sq">
              <a:solidFill>
                <a:schemeClr val="tx1"/>
              </a:solidFill>
              <a:round/>
              <a:headEnd type="none" w="med" len="lg"/>
              <a:tailEnd type="none" w="sm" len="sm"/>
            </a:ln>
          </p:spPr>
          <p:txBody>
            <a:bodyPr/>
            <a:lstStyle/>
            <a:p>
              <a:endParaRPr lang="en-US"/>
            </a:p>
          </p:txBody>
        </p:sp>
        <p:sp>
          <p:nvSpPr>
            <p:cNvPr id="29753" name="Line 48"/>
            <p:cNvSpPr>
              <a:spLocks noChangeShapeType="1"/>
            </p:cNvSpPr>
            <p:nvPr/>
          </p:nvSpPr>
          <p:spPr bwMode="auto">
            <a:xfrm>
              <a:off x="6354763" y="4089400"/>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54" name="Line 49"/>
            <p:cNvSpPr>
              <a:spLocks noChangeShapeType="1"/>
            </p:cNvSpPr>
            <p:nvPr/>
          </p:nvSpPr>
          <p:spPr bwMode="auto">
            <a:xfrm>
              <a:off x="7146925" y="4089400"/>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55" name="Line 50"/>
            <p:cNvSpPr>
              <a:spLocks noChangeShapeType="1"/>
            </p:cNvSpPr>
            <p:nvPr/>
          </p:nvSpPr>
          <p:spPr bwMode="auto">
            <a:xfrm>
              <a:off x="7937500" y="4089400"/>
              <a:ext cx="0" cy="1377950"/>
            </a:xfrm>
            <a:prstGeom prst="line">
              <a:avLst/>
            </a:prstGeom>
            <a:noFill/>
            <a:ln w="12700">
              <a:solidFill>
                <a:schemeClr val="tx1"/>
              </a:solidFill>
              <a:round/>
              <a:headEnd type="none" w="med" len="lg"/>
              <a:tailEnd type="none" w="sm" len="sm"/>
            </a:ln>
          </p:spPr>
          <p:txBody>
            <a:bodyPr/>
            <a:lstStyle/>
            <a:p>
              <a:endParaRPr lang="en-US"/>
            </a:p>
          </p:txBody>
        </p:sp>
        <p:sp>
          <p:nvSpPr>
            <p:cNvPr id="29756" name="Line 51"/>
            <p:cNvSpPr>
              <a:spLocks noChangeShapeType="1"/>
            </p:cNvSpPr>
            <p:nvPr/>
          </p:nvSpPr>
          <p:spPr bwMode="auto">
            <a:xfrm>
              <a:off x="5564188" y="4762500"/>
              <a:ext cx="3165475" cy="0"/>
            </a:xfrm>
            <a:prstGeom prst="line">
              <a:avLst/>
            </a:prstGeom>
            <a:noFill/>
            <a:ln w="12700">
              <a:solidFill>
                <a:schemeClr val="tx1"/>
              </a:solidFill>
              <a:round/>
              <a:headEnd type="none" w="med" len="lg"/>
              <a:tailEnd type="none" w="sm" len="sm"/>
            </a:ln>
          </p:spPr>
          <p:txBody>
            <a:bodyPr/>
            <a:lstStyle/>
            <a:p>
              <a:endParaRPr lang="en-US"/>
            </a:p>
          </p:txBody>
        </p:sp>
        <p:sp>
          <p:nvSpPr>
            <p:cNvPr id="29757" name="Rectangle 52"/>
            <p:cNvSpPr>
              <a:spLocks noChangeArrowheads="1"/>
            </p:cNvSpPr>
            <p:nvPr/>
          </p:nvSpPr>
          <p:spPr bwMode="auto">
            <a:xfrm>
              <a:off x="4783138" y="4051300"/>
              <a:ext cx="792163" cy="70485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11</a:t>
              </a:r>
            </a:p>
          </p:txBody>
        </p:sp>
        <p:sp>
          <p:nvSpPr>
            <p:cNvPr id="29758" name="Rectangle 53"/>
            <p:cNvSpPr>
              <a:spLocks noChangeArrowheads="1"/>
            </p:cNvSpPr>
            <p:nvPr/>
          </p:nvSpPr>
          <p:spPr bwMode="auto">
            <a:xfrm>
              <a:off x="4765675" y="4718050"/>
              <a:ext cx="792163" cy="704850"/>
            </a:xfrm>
            <a:prstGeom prst="rect">
              <a:avLst/>
            </a:prstGeom>
            <a:noFill/>
            <a:ln w="25400">
              <a:noFill/>
              <a:miter lim="800000"/>
              <a:headEnd type="none" w="med" len="lg"/>
              <a:tailEnd type="none" w="sm" len="sm"/>
            </a:ln>
          </p:spPr>
          <p:txBody>
            <a:bodyPr anchor="ctr"/>
            <a:lstStyle/>
            <a:p>
              <a:pPr algn="r">
                <a:lnSpc>
                  <a:spcPct val="90000"/>
                </a:lnSpc>
                <a:spcBef>
                  <a:spcPct val="30000"/>
                </a:spcBef>
                <a:buSzPct val="85000"/>
              </a:pPr>
              <a:r>
                <a:rPr lang="en-US">
                  <a:solidFill>
                    <a:schemeClr val="tx1"/>
                  </a:solidFill>
                </a:rPr>
                <a:t>10</a:t>
              </a:r>
            </a:p>
          </p:txBody>
        </p:sp>
        <p:sp>
          <p:nvSpPr>
            <p:cNvPr id="29759" name="Rectangle 54"/>
            <p:cNvSpPr>
              <a:spLocks noChangeArrowheads="1"/>
            </p:cNvSpPr>
            <p:nvPr/>
          </p:nvSpPr>
          <p:spPr bwMode="auto">
            <a:xfrm>
              <a:off x="7138988" y="2673350"/>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60" name="Rectangle 55"/>
            <p:cNvSpPr>
              <a:spLocks noChangeArrowheads="1"/>
            </p:cNvSpPr>
            <p:nvPr/>
          </p:nvSpPr>
          <p:spPr bwMode="auto">
            <a:xfrm>
              <a:off x="7148513" y="4056063"/>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sp>
          <p:nvSpPr>
            <p:cNvPr id="29761" name="Rectangle 56"/>
            <p:cNvSpPr>
              <a:spLocks noChangeArrowheads="1"/>
            </p:cNvSpPr>
            <p:nvPr/>
          </p:nvSpPr>
          <p:spPr bwMode="auto">
            <a:xfrm>
              <a:off x="6365875" y="4078288"/>
              <a:ext cx="792163" cy="704850"/>
            </a:xfrm>
            <a:prstGeom prst="rect">
              <a:avLst/>
            </a:prstGeom>
            <a:noFill/>
            <a:ln w="25400">
              <a:noFill/>
              <a:miter lim="800000"/>
              <a:headEnd type="none" w="med" len="lg"/>
              <a:tailEnd type="none" w="sm" len="sm"/>
            </a:ln>
          </p:spPr>
          <p:txBody>
            <a:bodyPr anchor="ctr"/>
            <a:lstStyle/>
            <a:p>
              <a:pPr algn="ctr">
                <a:lnSpc>
                  <a:spcPct val="90000"/>
                </a:lnSpc>
                <a:spcBef>
                  <a:spcPct val="30000"/>
                </a:spcBef>
                <a:buSzPct val="85000"/>
              </a:pPr>
              <a:r>
                <a:rPr lang="en-AU">
                  <a:solidFill>
                    <a:schemeClr val="tx1"/>
                  </a:solidFill>
                </a:rPr>
                <a:t>t</a:t>
              </a:r>
            </a:p>
          </p:txBody>
        </p:sp>
      </p:grpSp>
      <p:sp>
        <p:nvSpPr>
          <p:cNvPr id="85060" name="Oval 68"/>
          <p:cNvSpPr>
            <a:spLocks noChangeArrowheads="1"/>
          </p:cNvSpPr>
          <p:nvPr/>
        </p:nvSpPr>
        <p:spPr bwMode="auto">
          <a:xfrm>
            <a:off x="9601201" y="4876801"/>
            <a:ext cx="544513" cy="598487"/>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66" name="Oval 186"/>
          <p:cNvSpPr>
            <a:spLocks noChangeArrowheads="1"/>
          </p:cNvSpPr>
          <p:nvPr/>
        </p:nvSpPr>
        <p:spPr bwMode="auto">
          <a:xfrm>
            <a:off x="8763001" y="2438401"/>
            <a:ext cx="630237" cy="3211513"/>
          </a:xfrm>
          <a:prstGeom prst="ellipse">
            <a:avLst/>
          </a:prstGeom>
          <a:noFill/>
          <a:ln w="38100">
            <a:solidFill>
              <a:srgbClr val="FF0000"/>
            </a:solidFill>
            <a:round/>
            <a:headEnd type="none" w="sm" len="sm"/>
            <a:tailEnd type="none" w="sm" len="sm"/>
          </a:ln>
        </p:spPr>
        <p:txBody>
          <a:bodyPr wrap="none" anchor="ctr"/>
          <a:lstStyle/>
          <a:p>
            <a:endParaRPr lang="en-US"/>
          </a:p>
        </p:txBody>
      </p:sp>
      <p:sp>
        <p:nvSpPr>
          <p:cNvPr id="67" name="Oval 186"/>
          <p:cNvSpPr>
            <a:spLocks noChangeArrowheads="1"/>
          </p:cNvSpPr>
          <p:nvPr/>
        </p:nvSpPr>
        <p:spPr bwMode="auto">
          <a:xfrm>
            <a:off x="7086600" y="4038600"/>
            <a:ext cx="3352800" cy="762000"/>
          </a:xfrm>
          <a:prstGeom prst="ellipse">
            <a:avLst/>
          </a:prstGeom>
          <a:noFill/>
          <a:ln w="38100">
            <a:solidFill>
              <a:srgbClr val="FF0000"/>
            </a:solidFill>
            <a:round/>
            <a:headEnd type="none" w="sm" len="sm"/>
            <a:tailEnd type="none" w="sm" len="sm"/>
          </a:ln>
          <a:scene3d>
            <a:camera prst="orthographicFront">
              <a:rot lat="0" lon="0" rev="0"/>
            </a:camera>
            <a:lightRig rig="threePt" dir="t"/>
          </a:scene3d>
        </p:spPr>
        <p:txBody>
          <a:bodyPr wrap="none" anchor="ctr"/>
          <a:lstStyle/>
          <a:p>
            <a:endParaRPr lang="en-US"/>
          </a:p>
        </p:txBody>
      </p:sp>
      <p:sp>
        <p:nvSpPr>
          <p:cNvPr id="70" name="Oval 60"/>
          <p:cNvSpPr>
            <a:spLocks noChangeArrowheads="1"/>
          </p:cNvSpPr>
          <p:nvPr/>
        </p:nvSpPr>
        <p:spPr bwMode="auto">
          <a:xfrm>
            <a:off x="8077201" y="3429000"/>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71" name="Oval 60"/>
          <p:cNvSpPr>
            <a:spLocks noChangeArrowheads="1"/>
          </p:cNvSpPr>
          <p:nvPr/>
        </p:nvSpPr>
        <p:spPr bwMode="auto">
          <a:xfrm>
            <a:off x="8001001" y="4800600"/>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72" name="Oval 60"/>
          <p:cNvSpPr>
            <a:spLocks noChangeArrowheads="1"/>
          </p:cNvSpPr>
          <p:nvPr/>
        </p:nvSpPr>
        <p:spPr bwMode="auto">
          <a:xfrm>
            <a:off x="9601201" y="3429000"/>
            <a:ext cx="544513" cy="598488"/>
          </a:xfrm>
          <a:prstGeom prst="ellipse">
            <a:avLst/>
          </a:prstGeom>
          <a:noFill/>
          <a:ln w="38100">
            <a:solidFill>
              <a:schemeClr val="tx2"/>
            </a:solidFill>
            <a:round/>
            <a:headEnd type="none" w="sm" len="sm"/>
            <a:tailEnd type="none" w="sm" len="sm"/>
          </a:ln>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87403644-4D52-41F6-89B9-DF8667E14DBC}" type="slidenum">
              <a:rPr lang="en-US" smtClean="0"/>
              <a:pPr>
                <a:defRPr/>
              </a:pPr>
              <a:t>25</a:t>
            </a:fld>
            <a:endParaRPr lang="en-US"/>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499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99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995">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4995">
                                            <p:txEl>
                                              <p:pRg st="5" end="5"/>
                                            </p:txEl>
                                          </p:spTgt>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7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71"/>
                                        </p:tgtEl>
                                        <p:attrNameLst>
                                          <p:attrName>style.visibility</p:attrName>
                                        </p:attrNameLst>
                                      </p:cBhvr>
                                      <p:to>
                                        <p:strVal val="hidden"/>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06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4995">
                                            <p:txEl>
                                              <p:pRg st="6" end="6"/>
                                            </p:txEl>
                                          </p:spTgt>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66"/>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85060"/>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7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4995">
                                            <p:txEl>
                                              <p:pRg st="7" end="7"/>
                                            </p:txEl>
                                          </p:spTgt>
                                        </p:tgtEl>
                                        <p:attrNameLst>
                                          <p:attrName>style.visibility</p:attrName>
                                        </p:attrNameLst>
                                      </p:cBhvr>
                                      <p:to>
                                        <p:strVal val="visible"/>
                                      </p:to>
                                    </p:set>
                                  </p:childTnLst>
                                </p:cTn>
                              </p:par>
                              <p:par>
                                <p:cTn id="57" presetID="1" presetClass="entr" presetSubtype="0" fill="hold" grpId="2" nodeType="with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grpId="2" nodeType="withEffect">
                                  <p:stCondLst>
                                    <p:cond delay="0"/>
                                  </p:stCondLst>
                                  <p:childTnLst>
                                    <p:set>
                                      <p:cBhvr>
                                        <p:cTn id="60" dur="1" fill="hold">
                                          <p:stCondLst>
                                            <p:cond delay="0"/>
                                          </p:stCondLst>
                                        </p:cTn>
                                        <p:tgtEl>
                                          <p:spTgt spid="7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4995">
                                            <p:txEl>
                                              <p:pRg st="8" end="8"/>
                                            </p:txEl>
                                          </p:spTgt>
                                        </p:tgtEl>
                                        <p:attrNameLst>
                                          <p:attrName>style.visibility</p:attrName>
                                        </p:attrNameLst>
                                      </p:cBhvr>
                                      <p:to>
                                        <p:strVal val="visible"/>
                                      </p:to>
                                    </p:set>
                                  </p:childTnLst>
                                </p:cTn>
                              </p:par>
                              <p:par>
                                <p:cTn id="65" presetID="1" presetClass="exit" presetSubtype="0" fill="hold" grpId="3" nodeType="withEffect">
                                  <p:stCondLst>
                                    <p:cond delay="0"/>
                                  </p:stCondLst>
                                  <p:childTnLst>
                                    <p:set>
                                      <p:cBhvr>
                                        <p:cTn id="66" dur="1" fill="hold">
                                          <p:stCondLst>
                                            <p:cond delay="0"/>
                                          </p:stCondLst>
                                        </p:cTn>
                                        <p:tgtEl>
                                          <p:spTgt spid="70"/>
                                        </p:tgtEl>
                                        <p:attrNameLst>
                                          <p:attrName>style.visibility</p:attrName>
                                        </p:attrNameLst>
                                      </p:cBhvr>
                                      <p:to>
                                        <p:strVal val="hidden"/>
                                      </p:to>
                                    </p:set>
                                  </p:childTnLst>
                                </p:cTn>
                              </p:par>
                              <p:par>
                                <p:cTn id="67" presetID="1" presetClass="exit" presetSubtype="0" fill="hold" grpId="3" nodeType="withEffect">
                                  <p:stCondLst>
                                    <p:cond delay="0"/>
                                  </p:stCondLst>
                                  <p:childTnLst>
                                    <p:set>
                                      <p:cBhvr>
                                        <p:cTn id="68" dur="1" fill="hold">
                                          <p:stCondLst>
                                            <p:cond delay="0"/>
                                          </p:stCondLst>
                                        </p:cTn>
                                        <p:tgtEl>
                                          <p:spTgt spid="72"/>
                                        </p:tgtEl>
                                        <p:attrNameLst>
                                          <p:attrName>style.visibility</p:attrName>
                                        </p:attrNameLst>
                                      </p:cBhvr>
                                      <p:to>
                                        <p:strVal val="hidden"/>
                                      </p:to>
                                    </p:set>
                                  </p:childTnLst>
                                </p:cTn>
                              </p:par>
                              <p:par>
                                <p:cTn id="69" presetID="1" presetClass="entr" presetSubtype="0" fill="hold" grpId="2" nodeType="with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par>
                                <p:cTn id="71" presetID="1" presetClass="entr" presetSubtype="0" fill="hold" grpId="2" nodeType="withEffect">
                                  <p:stCondLst>
                                    <p:cond delay="0"/>
                                  </p:stCondLst>
                                  <p:childTnLst>
                                    <p:set>
                                      <p:cBhvr>
                                        <p:cTn id="72" dur="1" fill="hold">
                                          <p:stCondLst>
                                            <p:cond delay="0"/>
                                          </p:stCondLst>
                                        </p:cTn>
                                        <p:tgtEl>
                                          <p:spTgt spid="8506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4995">
                                            <p:txEl>
                                              <p:pRg st="9" end="9"/>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4995">
                                            <p:txEl>
                                              <p:pRg st="10" end="10"/>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84995">
                                            <p:txEl>
                                              <p:pRg st="10" end="10"/>
                                            </p:txEl>
                                          </p:spTgt>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67"/>
                                        </p:tgtEl>
                                        <p:attrNameLst>
                                          <p:attrName>style.visibility</p:attrName>
                                        </p:attrNameLst>
                                      </p:cBhvr>
                                      <p:to>
                                        <p:strVal val="hidden"/>
                                      </p:to>
                                    </p:set>
                                  </p:childTnLst>
                                </p:cTn>
                              </p:par>
                              <p:par>
                                <p:cTn id="83" presetID="1" presetClass="entr" presetSubtype="0" fill="hold" grpId="4" nodeType="withEffect">
                                  <p:stCondLst>
                                    <p:cond delay="0"/>
                                  </p:stCondLst>
                                  <p:childTnLst>
                                    <p:set>
                                      <p:cBhvr>
                                        <p:cTn id="84" dur="1" fill="hold">
                                          <p:stCondLst>
                                            <p:cond delay="0"/>
                                          </p:stCondLst>
                                        </p:cTn>
                                        <p:tgtEl>
                                          <p:spTgt spid="70"/>
                                        </p:tgtEl>
                                        <p:attrNameLst>
                                          <p:attrName>style.visibility</p:attrName>
                                        </p:attrNameLst>
                                      </p:cBhvr>
                                      <p:to>
                                        <p:strVal val="visible"/>
                                      </p:to>
                                    </p:set>
                                  </p:childTnLst>
                                </p:cTn>
                              </p:par>
                              <p:par>
                                <p:cTn id="85" presetID="1" presetClass="entr" presetSubtype="0" fill="hold" grpId="4" nodeType="withEffect">
                                  <p:stCondLst>
                                    <p:cond delay="0"/>
                                  </p:stCondLst>
                                  <p:childTnLst>
                                    <p:set>
                                      <p:cBhvr>
                                        <p:cTn id="86" dur="1" fill="hold">
                                          <p:stCondLst>
                                            <p:cond delay="0"/>
                                          </p:stCondLst>
                                        </p:cTn>
                                        <p:tgtEl>
                                          <p:spTgt spid="7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49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60" grpId="0" animBg="1"/>
      <p:bldP spid="85060" grpId="1" animBg="1"/>
      <p:bldP spid="85060" grpId="2" animBg="1"/>
      <p:bldP spid="66" grpId="0" animBg="1"/>
      <p:bldP spid="66" grpId="1" animBg="1"/>
      <p:bldP spid="67" grpId="0" animBg="1"/>
      <p:bldP spid="67" grpId="1" animBg="1"/>
      <p:bldP spid="70" grpId="0" animBg="1"/>
      <p:bldP spid="70" grpId="1" animBg="1"/>
      <p:bldP spid="70" grpId="2" animBg="1"/>
      <p:bldP spid="70" grpId="3" animBg="1"/>
      <p:bldP spid="70" grpId="4" animBg="1"/>
      <p:bldP spid="71" grpId="0" animBg="1"/>
      <p:bldP spid="71" grpId="1" animBg="1"/>
      <p:bldP spid="71" grpId="2" animBg="1"/>
      <p:bldP spid="72" grpId="0" animBg="1"/>
      <p:bldP spid="72" grpId="1" animBg="1"/>
      <p:bldP spid="72" grpId="2" animBg="1"/>
      <p:bldP spid="72" grpId="3" animBg="1"/>
      <p:bldP spid="72" grpId="4"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p:spPr>
        <p:txBody>
          <a:bodyPr/>
          <a:lstStyle/>
          <a:p>
            <a:fld id="{0E36EE1C-1E89-43D9-89AF-FE3447C2B42B}" type="slidenum">
              <a:rPr lang="en-US"/>
              <a:pPr/>
              <a:t>26</a:t>
            </a:fld>
            <a:endParaRPr lang="en-US"/>
          </a:p>
        </p:txBody>
      </p:sp>
      <p:sp>
        <p:nvSpPr>
          <p:cNvPr id="12291" name="Rectangle 2"/>
          <p:cNvSpPr>
            <a:spLocks noGrp="1" noChangeArrowheads="1"/>
          </p:cNvSpPr>
          <p:nvPr>
            <p:ph type="title"/>
          </p:nvPr>
        </p:nvSpPr>
        <p:spPr>
          <a:xfrm>
            <a:off x="1612900" y="96838"/>
            <a:ext cx="8966200" cy="1298825"/>
          </a:xfrm>
        </p:spPr>
        <p:txBody>
          <a:bodyPr/>
          <a:lstStyle/>
          <a:p>
            <a:pPr eaLnBrk="1" hangingPunct="1"/>
            <a:r>
              <a:rPr lang="en-US" dirty="0"/>
              <a:t>Minimal-MUMCUT Criterion</a:t>
            </a:r>
            <a:br>
              <a:rPr lang="en-US" dirty="0"/>
            </a:br>
            <a:r>
              <a:rPr lang="en-US" dirty="0"/>
              <a:t>Kaminski/Ammann (ICST 2009)</a:t>
            </a:r>
          </a:p>
        </p:txBody>
      </p:sp>
      <p:sp>
        <p:nvSpPr>
          <p:cNvPr id="12292" name="Rectangle 3"/>
          <p:cNvSpPr>
            <a:spLocks noGrp="1" noChangeArrowheads="1"/>
          </p:cNvSpPr>
          <p:nvPr>
            <p:ph type="body" idx="1"/>
          </p:nvPr>
        </p:nvSpPr>
        <p:spPr>
          <a:xfrm>
            <a:off x="1752600" y="1371600"/>
            <a:ext cx="8686800" cy="5257800"/>
          </a:xfrm>
        </p:spPr>
        <p:txBody>
          <a:bodyPr/>
          <a:lstStyle/>
          <a:p>
            <a:pPr eaLnBrk="1" hangingPunct="1"/>
            <a:r>
              <a:rPr lang="en-US" dirty="0"/>
              <a:t>Minimal-MUMCUT uses low level </a:t>
            </a:r>
            <a:r>
              <a:rPr lang="en-US" dirty="0">
                <a:solidFill>
                  <a:schemeClr val="tx2"/>
                </a:solidFill>
              </a:rPr>
              <a:t>criterion feasibility analysis</a:t>
            </a:r>
          </a:p>
          <a:p>
            <a:pPr lvl="1" eaLnBrk="1" hangingPunct="1"/>
            <a:r>
              <a:rPr lang="en-US" dirty="0"/>
              <a:t>Adds CUTPNFP and MNFP only when necessary</a:t>
            </a:r>
          </a:p>
          <a:p>
            <a:pPr eaLnBrk="1" hangingPunct="1"/>
            <a:r>
              <a:rPr lang="en-US" dirty="0"/>
              <a:t>Minimal-MUMCUT guarantees detecting LIF, LRF, LOF</a:t>
            </a:r>
          </a:p>
          <a:p>
            <a:pPr lvl="1" eaLnBrk="1" hangingPunct="1"/>
            <a:r>
              <a:rPr lang="en-US" dirty="0"/>
              <a:t>And thus all 9 faults in the hierarchy</a:t>
            </a:r>
          </a:p>
          <a:p>
            <a:pPr eaLnBrk="1" hangingPunct="1">
              <a:buNone/>
            </a:pPr>
            <a:endParaRPr lang="en-US" sz="2000" dirty="0"/>
          </a:p>
          <a:p>
            <a:pPr eaLnBrk="1" hangingPunct="1"/>
            <a:endParaRPr lang="en-US" sz="1800" dirty="0"/>
          </a:p>
          <a:p>
            <a:pPr eaLnBrk="1" hangingPunct="1"/>
            <a:endParaRPr lang="en-US" dirty="0"/>
          </a:p>
        </p:txBody>
      </p:sp>
      <p:grpSp>
        <p:nvGrpSpPr>
          <p:cNvPr id="2" name="Group 41"/>
          <p:cNvGrpSpPr>
            <a:grpSpLocks noChangeAspect="1"/>
          </p:cNvGrpSpPr>
          <p:nvPr/>
        </p:nvGrpSpPr>
        <p:grpSpPr bwMode="auto">
          <a:xfrm>
            <a:off x="2057400" y="3581400"/>
            <a:ext cx="8405916" cy="2743200"/>
            <a:chOff x="-493" y="3180"/>
            <a:chExt cx="11107" cy="3394"/>
          </a:xfrm>
        </p:grpSpPr>
        <p:sp>
          <p:nvSpPr>
            <p:cNvPr id="12294" name="AutoShape 42"/>
            <p:cNvSpPr>
              <a:spLocks noChangeAspect="1" noChangeArrowheads="1"/>
            </p:cNvSpPr>
            <p:nvPr/>
          </p:nvSpPr>
          <p:spPr bwMode="auto">
            <a:xfrm>
              <a:off x="-493" y="3180"/>
              <a:ext cx="10723" cy="3394"/>
            </a:xfrm>
            <a:prstGeom prst="rect">
              <a:avLst/>
            </a:prstGeom>
            <a:noFill/>
            <a:ln w="9525">
              <a:noFill/>
              <a:miter lim="800000"/>
              <a:headEnd/>
              <a:tailEnd/>
            </a:ln>
          </p:spPr>
          <p:txBody>
            <a:bodyPr/>
            <a:lstStyle/>
            <a:p>
              <a:endParaRPr lang="en-US" dirty="0"/>
            </a:p>
          </p:txBody>
        </p:sp>
        <p:sp>
          <p:nvSpPr>
            <p:cNvPr id="12295" name="Line 48"/>
            <p:cNvSpPr>
              <a:spLocks noChangeShapeType="1"/>
            </p:cNvSpPr>
            <p:nvPr/>
          </p:nvSpPr>
          <p:spPr bwMode="auto">
            <a:xfrm flipV="1">
              <a:off x="3903" y="4568"/>
              <a:ext cx="516" cy="1"/>
            </a:xfrm>
            <a:prstGeom prst="line">
              <a:avLst/>
            </a:prstGeom>
            <a:noFill/>
            <a:ln w="50800">
              <a:solidFill>
                <a:srgbClr val="FFFFFF"/>
              </a:solidFill>
              <a:round/>
              <a:headEnd/>
              <a:tailEnd type="triangle" w="med" len="med"/>
            </a:ln>
          </p:spPr>
          <p:txBody>
            <a:bodyPr/>
            <a:lstStyle/>
            <a:p>
              <a:endParaRPr lang="en-US" dirty="0"/>
            </a:p>
          </p:txBody>
        </p:sp>
        <p:sp>
          <p:nvSpPr>
            <p:cNvPr id="12296" name="Line 50"/>
            <p:cNvSpPr>
              <a:spLocks noChangeShapeType="1"/>
            </p:cNvSpPr>
            <p:nvPr/>
          </p:nvSpPr>
          <p:spPr bwMode="auto">
            <a:xfrm>
              <a:off x="5966" y="4568"/>
              <a:ext cx="688" cy="1"/>
            </a:xfrm>
            <a:prstGeom prst="line">
              <a:avLst/>
            </a:prstGeom>
            <a:noFill/>
            <a:ln w="50800">
              <a:solidFill>
                <a:srgbClr val="FF0000"/>
              </a:solidFill>
              <a:round/>
              <a:headEnd/>
              <a:tailEnd type="triangle" w="med" len="med"/>
            </a:ln>
          </p:spPr>
          <p:txBody>
            <a:bodyPr/>
            <a:lstStyle/>
            <a:p>
              <a:endParaRPr lang="en-US" dirty="0"/>
            </a:p>
          </p:txBody>
        </p:sp>
        <p:sp>
          <p:nvSpPr>
            <p:cNvPr id="12297" name="Oval 53"/>
            <p:cNvSpPr>
              <a:spLocks noChangeArrowheads="1"/>
            </p:cNvSpPr>
            <p:nvPr/>
          </p:nvSpPr>
          <p:spPr bwMode="auto">
            <a:xfrm>
              <a:off x="4419" y="3643"/>
              <a:ext cx="1891" cy="1851"/>
            </a:xfrm>
            <a:prstGeom prst="ellipse">
              <a:avLst/>
            </a:prstGeom>
            <a:solidFill>
              <a:srgbClr val="FFFFFF"/>
            </a:solidFill>
            <a:ln w="9525">
              <a:solidFill>
                <a:srgbClr val="000000"/>
              </a:solidFill>
              <a:round/>
              <a:headEnd/>
              <a:tailEnd/>
            </a:ln>
          </p:spPr>
          <p:txBody>
            <a:bodyPr/>
            <a:lstStyle/>
            <a:p>
              <a:pPr algn="ctr"/>
              <a:endParaRPr lang="en-US" sz="1200" dirty="0">
                <a:solidFill>
                  <a:srgbClr val="000000"/>
                </a:solidFill>
              </a:endParaRPr>
            </a:p>
            <a:p>
              <a:pPr algn="ctr"/>
              <a:r>
                <a:rPr lang="en-US" sz="1400" dirty="0">
                  <a:solidFill>
                    <a:srgbClr val="000000"/>
                  </a:solidFill>
                </a:rPr>
                <a:t>CUTPNFP</a:t>
              </a:r>
            </a:p>
            <a:p>
              <a:pPr algn="ctr"/>
              <a:r>
                <a:rPr lang="en-US" sz="1400" dirty="0">
                  <a:solidFill>
                    <a:srgbClr val="000000"/>
                  </a:solidFill>
                </a:rPr>
                <a:t>feasible?</a:t>
              </a:r>
              <a:endParaRPr lang="en-US" sz="1400" dirty="0"/>
            </a:p>
          </p:txBody>
        </p:sp>
        <p:sp>
          <p:nvSpPr>
            <p:cNvPr id="12298" name="Oval 54"/>
            <p:cNvSpPr>
              <a:spLocks noChangeArrowheads="1"/>
            </p:cNvSpPr>
            <p:nvPr/>
          </p:nvSpPr>
          <p:spPr bwMode="auto">
            <a:xfrm>
              <a:off x="6655" y="3180"/>
              <a:ext cx="1546" cy="2777"/>
            </a:xfrm>
            <a:prstGeom prst="ellipse">
              <a:avLst/>
            </a:prstGeom>
            <a:solidFill>
              <a:srgbClr val="FFFFFF"/>
            </a:solidFill>
            <a:ln w="9525">
              <a:solidFill>
                <a:srgbClr val="000000"/>
              </a:solidFill>
              <a:round/>
              <a:headEnd/>
              <a:tailEnd/>
            </a:ln>
          </p:spPr>
          <p:txBody>
            <a:bodyPr/>
            <a:lstStyle/>
            <a:p>
              <a:pPr algn="ctr"/>
              <a:endParaRPr lang="en-US" sz="1600" dirty="0">
                <a:solidFill>
                  <a:srgbClr val="000000"/>
                </a:solidFill>
              </a:endParaRPr>
            </a:p>
            <a:p>
              <a:pPr algn="ctr"/>
              <a:endParaRPr lang="en-US" sz="1600" dirty="0">
                <a:solidFill>
                  <a:srgbClr val="000000"/>
                </a:solidFill>
              </a:endParaRPr>
            </a:p>
            <a:p>
              <a:pPr algn="ctr"/>
              <a:endParaRPr lang="en-US" sz="1600" dirty="0">
                <a:solidFill>
                  <a:srgbClr val="000000"/>
                </a:solidFill>
              </a:endParaRPr>
            </a:p>
            <a:p>
              <a:pPr algn="ctr"/>
              <a:r>
                <a:rPr lang="en-US" sz="1400" dirty="0">
                  <a:solidFill>
                    <a:srgbClr val="000000"/>
                  </a:solidFill>
                </a:rPr>
                <a:t>MNFP</a:t>
              </a:r>
              <a:endParaRPr lang="en-US" sz="2800" dirty="0"/>
            </a:p>
          </p:txBody>
        </p:sp>
        <p:sp>
          <p:nvSpPr>
            <p:cNvPr id="12299" name="Line 55"/>
            <p:cNvSpPr>
              <a:spLocks noChangeShapeType="1"/>
            </p:cNvSpPr>
            <p:nvPr/>
          </p:nvSpPr>
          <p:spPr bwMode="auto">
            <a:xfrm>
              <a:off x="8201" y="4568"/>
              <a:ext cx="516" cy="1"/>
            </a:xfrm>
            <a:prstGeom prst="line">
              <a:avLst/>
            </a:prstGeom>
            <a:noFill/>
            <a:ln w="50800">
              <a:solidFill>
                <a:srgbClr val="FFFFFF"/>
              </a:solidFill>
              <a:round/>
              <a:headEnd/>
              <a:tailEnd type="triangle" w="med" len="med"/>
            </a:ln>
          </p:spPr>
          <p:txBody>
            <a:bodyPr/>
            <a:lstStyle/>
            <a:p>
              <a:endParaRPr lang="en-US" dirty="0"/>
            </a:p>
          </p:txBody>
        </p:sp>
        <p:sp>
          <p:nvSpPr>
            <p:cNvPr id="12300" name="Rectangle 56"/>
            <p:cNvSpPr>
              <a:spLocks noChangeArrowheads="1"/>
            </p:cNvSpPr>
            <p:nvPr/>
          </p:nvSpPr>
          <p:spPr bwMode="auto">
            <a:xfrm>
              <a:off x="8717" y="4112"/>
              <a:ext cx="1897" cy="777"/>
            </a:xfrm>
            <a:prstGeom prst="rect">
              <a:avLst/>
            </a:prstGeom>
            <a:solidFill>
              <a:srgbClr val="FFFFFF"/>
            </a:solidFill>
            <a:ln w="9525">
              <a:solidFill>
                <a:srgbClr val="000000"/>
              </a:solidFill>
              <a:miter lim="800000"/>
              <a:headEnd/>
              <a:tailEnd/>
            </a:ln>
          </p:spPr>
          <p:txBody>
            <a:bodyPr/>
            <a:lstStyle/>
            <a:p>
              <a:pPr algn="ctr"/>
              <a:r>
                <a:rPr lang="en-US" sz="1400" dirty="0">
                  <a:solidFill>
                    <a:srgbClr val="000000"/>
                  </a:solidFill>
                </a:rPr>
                <a:t>Test Set =</a:t>
              </a:r>
            </a:p>
            <a:p>
              <a:pPr algn="ctr"/>
              <a:r>
                <a:rPr lang="en-US" sz="1400" dirty="0">
                  <a:solidFill>
                    <a:srgbClr val="000000"/>
                  </a:solidFill>
                </a:rPr>
                <a:t>MUTP + MNFP</a:t>
              </a:r>
              <a:endParaRPr lang="en-US" sz="1400" dirty="0"/>
            </a:p>
          </p:txBody>
        </p:sp>
        <p:sp>
          <p:nvSpPr>
            <p:cNvPr id="12301" name="Line 59"/>
            <p:cNvSpPr>
              <a:spLocks noChangeShapeType="1"/>
            </p:cNvSpPr>
            <p:nvPr/>
          </p:nvSpPr>
          <p:spPr bwMode="auto">
            <a:xfrm>
              <a:off x="2527" y="4568"/>
              <a:ext cx="516" cy="1"/>
            </a:xfrm>
            <a:prstGeom prst="line">
              <a:avLst/>
            </a:prstGeom>
            <a:noFill/>
            <a:ln w="50800">
              <a:solidFill>
                <a:srgbClr val="FF0000"/>
              </a:solidFill>
              <a:round/>
              <a:headEnd/>
              <a:tailEnd type="triangle" w="med" len="med"/>
            </a:ln>
          </p:spPr>
          <p:txBody>
            <a:bodyPr/>
            <a:lstStyle/>
            <a:p>
              <a:endParaRPr lang="en-US" dirty="0"/>
            </a:p>
          </p:txBody>
        </p:sp>
        <p:sp>
          <p:nvSpPr>
            <p:cNvPr id="12302" name="Rectangle 60"/>
            <p:cNvSpPr>
              <a:spLocks noChangeArrowheads="1"/>
            </p:cNvSpPr>
            <p:nvPr/>
          </p:nvSpPr>
          <p:spPr bwMode="auto">
            <a:xfrm>
              <a:off x="3043" y="3951"/>
              <a:ext cx="990" cy="1422"/>
            </a:xfrm>
            <a:prstGeom prst="rect">
              <a:avLst/>
            </a:prstGeom>
            <a:solidFill>
              <a:srgbClr val="FFFFFF"/>
            </a:solidFill>
            <a:ln w="9525">
              <a:solidFill>
                <a:srgbClr val="000000"/>
              </a:solidFill>
              <a:miter lim="800000"/>
              <a:headEnd/>
              <a:tailEnd/>
            </a:ln>
          </p:spPr>
          <p:txBody>
            <a:bodyPr/>
            <a:lstStyle/>
            <a:p>
              <a:pPr algn="ctr"/>
              <a:r>
                <a:rPr lang="en-US" sz="1400" dirty="0">
                  <a:solidFill>
                    <a:srgbClr val="000000"/>
                  </a:solidFill>
                </a:rPr>
                <a:t>For Each Literal In Term</a:t>
              </a:r>
              <a:endParaRPr lang="en-US" sz="2800" dirty="0"/>
            </a:p>
          </p:txBody>
        </p:sp>
        <p:sp>
          <p:nvSpPr>
            <p:cNvPr id="12303" name="Line 64"/>
            <p:cNvSpPr>
              <a:spLocks noChangeShapeType="1"/>
            </p:cNvSpPr>
            <p:nvPr/>
          </p:nvSpPr>
          <p:spPr bwMode="auto">
            <a:xfrm>
              <a:off x="5106" y="5494"/>
              <a:ext cx="1" cy="463"/>
            </a:xfrm>
            <a:prstGeom prst="line">
              <a:avLst/>
            </a:prstGeom>
            <a:noFill/>
            <a:ln w="50800">
              <a:solidFill>
                <a:srgbClr val="008000"/>
              </a:solidFill>
              <a:round/>
              <a:headEnd/>
              <a:tailEnd type="triangle" w="med" len="med"/>
            </a:ln>
          </p:spPr>
          <p:txBody>
            <a:bodyPr/>
            <a:lstStyle/>
            <a:p>
              <a:endParaRPr lang="en-US" dirty="0"/>
            </a:p>
          </p:txBody>
        </p:sp>
        <p:sp>
          <p:nvSpPr>
            <p:cNvPr id="12304" name="Rectangle 65"/>
            <p:cNvSpPr>
              <a:spLocks noChangeArrowheads="1"/>
            </p:cNvSpPr>
            <p:nvPr/>
          </p:nvSpPr>
          <p:spPr bwMode="auto">
            <a:xfrm>
              <a:off x="4349" y="5957"/>
              <a:ext cx="2399" cy="617"/>
            </a:xfrm>
            <a:prstGeom prst="rect">
              <a:avLst/>
            </a:prstGeom>
            <a:solidFill>
              <a:srgbClr val="FFFFFF"/>
            </a:solidFill>
            <a:ln w="9525">
              <a:solidFill>
                <a:srgbClr val="000000"/>
              </a:solidFill>
              <a:miter lim="800000"/>
              <a:headEnd/>
              <a:tailEnd/>
            </a:ln>
          </p:spPr>
          <p:txBody>
            <a:bodyPr/>
            <a:lstStyle/>
            <a:p>
              <a:pPr algn="ctr"/>
              <a:r>
                <a:rPr lang="en-US" sz="1400" dirty="0">
                  <a:solidFill>
                    <a:srgbClr val="000000"/>
                  </a:solidFill>
                </a:rPr>
                <a:t>Test Set =</a:t>
              </a:r>
            </a:p>
            <a:p>
              <a:pPr algn="ctr"/>
              <a:r>
                <a:rPr lang="en-US" sz="1400" dirty="0">
                  <a:solidFill>
                    <a:srgbClr val="000000"/>
                  </a:solidFill>
                </a:rPr>
                <a:t>MUTP + CUTPNFP</a:t>
              </a:r>
              <a:endParaRPr lang="en-US" sz="1400" dirty="0"/>
            </a:p>
          </p:txBody>
        </p:sp>
        <p:sp>
          <p:nvSpPr>
            <p:cNvPr id="12305" name="Oval 51"/>
            <p:cNvSpPr>
              <a:spLocks noChangeArrowheads="1"/>
            </p:cNvSpPr>
            <p:nvPr/>
          </p:nvSpPr>
          <p:spPr bwMode="auto">
            <a:xfrm>
              <a:off x="866" y="3957"/>
              <a:ext cx="1885" cy="1087"/>
            </a:xfrm>
            <a:prstGeom prst="ellipse">
              <a:avLst/>
            </a:prstGeom>
            <a:solidFill>
              <a:srgbClr val="FFFFFF"/>
            </a:solidFill>
            <a:ln w="9525">
              <a:solidFill>
                <a:srgbClr val="000000"/>
              </a:solidFill>
              <a:round/>
              <a:headEnd/>
              <a:tailEnd/>
            </a:ln>
          </p:spPr>
          <p:txBody>
            <a:bodyPr anchor="ctr"/>
            <a:lstStyle/>
            <a:p>
              <a:pPr algn="ctr"/>
              <a:r>
                <a:rPr lang="en-US" sz="1600" dirty="0">
                  <a:solidFill>
                    <a:srgbClr val="000000"/>
                  </a:solidFill>
                </a:rPr>
                <a:t>MUTP feasible?</a:t>
              </a:r>
              <a:endParaRPr lang="en-US" sz="2800" dirty="0"/>
            </a:p>
          </p:txBody>
        </p:sp>
        <p:sp>
          <p:nvSpPr>
            <p:cNvPr id="12306" name="Line 57"/>
            <p:cNvSpPr>
              <a:spLocks noChangeShapeType="1"/>
            </p:cNvSpPr>
            <p:nvPr/>
          </p:nvSpPr>
          <p:spPr bwMode="auto">
            <a:xfrm>
              <a:off x="1621" y="5032"/>
              <a:ext cx="2" cy="467"/>
            </a:xfrm>
            <a:prstGeom prst="line">
              <a:avLst/>
            </a:prstGeom>
            <a:noFill/>
            <a:ln w="50800">
              <a:solidFill>
                <a:srgbClr val="008000"/>
              </a:solidFill>
              <a:round/>
              <a:headEnd/>
              <a:tailEnd type="triangle" w="med" len="med"/>
            </a:ln>
          </p:spPr>
          <p:txBody>
            <a:bodyPr/>
            <a:lstStyle/>
            <a:p>
              <a:endParaRPr lang="en-US" dirty="0"/>
            </a:p>
          </p:txBody>
        </p:sp>
        <p:sp>
          <p:nvSpPr>
            <p:cNvPr id="12307" name="Rectangle 66"/>
            <p:cNvSpPr>
              <a:spLocks noChangeArrowheads="1"/>
            </p:cNvSpPr>
            <p:nvPr/>
          </p:nvSpPr>
          <p:spPr bwMode="auto">
            <a:xfrm>
              <a:off x="866" y="5498"/>
              <a:ext cx="1885" cy="621"/>
            </a:xfrm>
            <a:prstGeom prst="rect">
              <a:avLst/>
            </a:prstGeom>
            <a:solidFill>
              <a:srgbClr val="FFFFFF"/>
            </a:solidFill>
            <a:ln w="9525">
              <a:solidFill>
                <a:srgbClr val="000000"/>
              </a:solidFill>
              <a:miter lim="800000"/>
              <a:headEnd/>
              <a:tailEnd/>
            </a:ln>
          </p:spPr>
          <p:txBody>
            <a:bodyPr/>
            <a:lstStyle/>
            <a:p>
              <a:pPr algn="ctr"/>
              <a:r>
                <a:rPr lang="en-US" sz="1400" dirty="0">
                  <a:solidFill>
                    <a:srgbClr val="000000"/>
                  </a:solidFill>
                </a:rPr>
                <a:t>Test Set =</a:t>
              </a:r>
            </a:p>
            <a:p>
              <a:pPr algn="ctr"/>
              <a:r>
                <a:rPr lang="en-US" sz="1400" dirty="0">
                  <a:solidFill>
                    <a:srgbClr val="000000"/>
                  </a:solidFill>
                </a:rPr>
                <a:t>MUTP  +  NFP</a:t>
              </a:r>
              <a:endParaRPr lang="en-US" sz="1400" dirty="0"/>
            </a:p>
          </p:txBody>
        </p:sp>
        <p:sp>
          <p:nvSpPr>
            <p:cNvPr id="12308" name="Line 52"/>
            <p:cNvSpPr>
              <a:spLocks noChangeShapeType="1"/>
            </p:cNvSpPr>
            <p:nvPr/>
          </p:nvSpPr>
          <p:spPr bwMode="auto">
            <a:xfrm>
              <a:off x="413" y="4578"/>
              <a:ext cx="516" cy="1"/>
            </a:xfrm>
            <a:prstGeom prst="line">
              <a:avLst/>
            </a:prstGeom>
            <a:noFill/>
            <a:ln w="50800">
              <a:solidFill>
                <a:srgbClr val="FFFFFF"/>
              </a:solidFill>
              <a:round/>
              <a:headEnd/>
              <a:tailEnd type="triangle" w="med" len="med"/>
            </a:ln>
          </p:spPr>
          <p:txBody>
            <a:bodyPr/>
            <a:lstStyle/>
            <a:p>
              <a:endParaRPr lang="en-US" dirty="0"/>
            </a:p>
          </p:txBody>
        </p:sp>
        <p:sp>
          <p:nvSpPr>
            <p:cNvPr id="12309" name="Rectangle 49"/>
            <p:cNvSpPr>
              <a:spLocks noChangeArrowheads="1"/>
            </p:cNvSpPr>
            <p:nvPr/>
          </p:nvSpPr>
          <p:spPr bwMode="auto">
            <a:xfrm>
              <a:off x="-493" y="4267"/>
              <a:ext cx="860" cy="998"/>
            </a:xfrm>
            <a:prstGeom prst="rect">
              <a:avLst/>
            </a:prstGeom>
            <a:solidFill>
              <a:srgbClr val="FFFFFF"/>
            </a:solidFill>
            <a:ln w="9525">
              <a:solidFill>
                <a:srgbClr val="000000"/>
              </a:solidFill>
              <a:miter lim="800000"/>
              <a:headEnd/>
              <a:tailEnd/>
            </a:ln>
          </p:spPr>
          <p:txBody>
            <a:bodyPr/>
            <a:lstStyle/>
            <a:p>
              <a:pPr algn="ctr"/>
              <a:r>
                <a:rPr lang="en-US" sz="1400" dirty="0">
                  <a:solidFill>
                    <a:srgbClr val="000000"/>
                  </a:solidFill>
                </a:rPr>
                <a:t>For Each Term</a:t>
              </a:r>
              <a:endParaRPr lang="en-US" sz="2800" dirty="0"/>
            </a:p>
          </p:txBody>
        </p:sp>
      </p:grpSp>
    </p:spTree>
  </p:cSld>
  <p:clrMapOvr>
    <a:masterClrMapping/>
  </p:clrMapOvr>
  <p:transition spd="med"/>
</p:sld>
</file>

<file path=ppt/theme/theme1.xml><?xml version="1.0" encoding="utf-8"?>
<a:theme xmlns:a="http://schemas.openxmlformats.org/drawingml/2006/main" name="intro">
  <a:themeElements>
    <a:clrScheme name="Custom 15">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FF00"/>
      </a:hlink>
      <a:folHlink>
        <a:srgbClr val="FFC000"/>
      </a:folHlink>
    </a:clrScheme>
    <a:fontScheme name="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lnDef>
  </a:objectDefaults>
  <a:extraClrSchemeLst>
    <a:extraClrScheme>
      <a:clrScheme name="intr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ro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r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a:\intro.ppt</Template>
  <TotalTime>3612</TotalTime>
  <Pages>49</Pages>
  <Words>2877</Words>
  <Application>Microsoft Office PowerPoint</Application>
  <PresentationFormat>宽屏</PresentationFormat>
  <Paragraphs>430</Paragraphs>
  <Slides>26</Slides>
  <Notes>10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26</vt:i4>
      </vt:variant>
    </vt:vector>
  </HeadingPairs>
  <TitlesOfParts>
    <vt:vector size="32" baseType="lpstr">
      <vt:lpstr>Gill Sans MT</vt:lpstr>
      <vt:lpstr>Arial</vt:lpstr>
      <vt:lpstr>Times New Roman</vt:lpstr>
      <vt:lpstr>Verdana</vt:lpstr>
      <vt:lpstr>Wingdings</vt:lpstr>
      <vt:lpstr>intro</vt:lpstr>
      <vt:lpstr>Chapter 4 Logic Coverage</vt:lpstr>
      <vt:lpstr>本节课程目标</vt:lpstr>
      <vt:lpstr>Disjunctive Normal Form</vt:lpstr>
      <vt:lpstr>Implicant Coverage (8.2.1)</vt:lpstr>
      <vt:lpstr>Improving on Implicant Coverage</vt:lpstr>
      <vt:lpstr>Unique True Points</vt:lpstr>
      <vt:lpstr>Unique True Point Example</vt:lpstr>
      <vt:lpstr>Near False Points</vt:lpstr>
      <vt:lpstr>CUTPNFP Example</vt:lpstr>
      <vt:lpstr>The MNFP and MUMCUT Criteria</vt:lpstr>
      <vt:lpstr>MNFP Example</vt:lpstr>
      <vt:lpstr>DNF Fault Classes</vt:lpstr>
      <vt:lpstr>Fault Detection Relationships</vt:lpstr>
      <vt:lpstr>MUTP可以检测所有的LIF</vt:lpstr>
      <vt:lpstr>CUTPNFP可以检测所有的LOF</vt:lpstr>
      <vt:lpstr>Comparison between Syntactic  and Semantic Coverage Criterion</vt:lpstr>
      <vt:lpstr>Karnaugh Maps for Testing Logic Expressions</vt:lpstr>
      <vt:lpstr>K-Map:  A Clause Determines a Predicate</vt:lpstr>
      <vt:lpstr>K-Map:  Negation of a predicate</vt:lpstr>
      <vt:lpstr>K-Map:  Prime and Redundant Implicants</vt:lpstr>
      <vt:lpstr>K-Map:  Unique True Points</vt:lpstr>
      <vt:lpstr>MUTP: Multiple Unique True Points</vt:lpstr>
      <vt:lpstr>PowerPoint 演示文稿</vt:lpstr>
      <vt:lpstr>CUTPNFP: Corresponding Unique True Point Near False Point Pairs</vt:lpstr>
      <vt:lpstr>MNFP : Multiple Near False Points</vt:lpstr>
      <vt:lpstr>Minimal-MUMCUT Criterion Kaminski/Ammann (ICST 2009)</vt:lpstr>
    </vt:vector>
  </TitlesOfParts>
  <Company>George Mason Unviersity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SWE 637: Logic Coverage</dc:title>
  <dc:creator>Jeff Offutt</dc:creator>
  <cp:lastModifiedBy>Yue Zhang</cp:lastModifiedBy>
  <cp:revision>330</cp:revision>
  <cp:lastPrinted>1996-04-04T10:27:56Z</cp:lastPrinted>
  <dcterms:created xsi:type="dcterms:W3CDTF">1996-06-15T03:21:08Z</dcterms:created>
  <dcterms:modified xsi:type="dcterms:W3CDTF">2026-04-21T01:23:13Z</dcterms:modified>
</cp:coreProperties>
</file>