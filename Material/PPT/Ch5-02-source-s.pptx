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36" r:id="rId2"/>
    <p:sldId id="466" r:id="rId3"/>
    <p:sldId id="428" r:id="rId4"/>
    <p:sldId id="445" r:id="rId5"/>
    <p:sldId id="427" r:id="rId6"/>
    <p:sldId id="446" r:id="rId7"/>
    <p:sldId id="447" r:id="rId8"/>
    <p:sldId id="431" r:id="rId9"/>
    <p:sldId id="421" r:id="rId10"/>
    <p:sldId id="433" r:id="rId11"/>
    <p:sldId id="426" r:id="rId12"/>
    <p:sldId id="464" r:id="rId13"/>
    <p:sldId id="461" r:id="rId14"/>
    <p:sldId id="462" r:id="rId15"/>
    <p:sldId id="463" r:id="rId16"/>
    <p:sldId id="422" r:id="rId17"/>
    <p:sldId id="437" r:id="rId18"/>
    <p:sldId id="438" r:id="rId19"/>
    <p:sldId id="439" r:id="rId20"/>
    <p:sldId id="465" r:id="rId21"/>
    <p:sldId id="455" r:id="rId22"/>
    <p:sldId id="449" r:id="rId23"/>
    <p:sldId id="450" r:id="rId24"/>
    <p:sldId id="451" r:id="rId25"/>
    <p:sldId id="452" r:id="rId26"/>
    <p:sldId id="454" r:id="rId27"/>
    <p:sldId id="453" r:id="rId28"/>
    <p:sldId id="444" r:id="rId29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33FF"/>
    <a:srgbClr val="000099"/>
    <a:srgbClr val="0033CC"/>
    <a:srgbClr val="3333CC"/>
    <a:srgbClr val="0000CC"/>
    <a:srgbClr val="0033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2" autoAdjust="0"/>
    <p:restoredTop sz="91473" autoAdjust="0"/>
  </p:normalViewPr>
  <p:slideViewPr>
    <p:cSldViewPr snapToGrid="0">
      <p:cViewPr varScale="1">
        <p:scale>
          <a:sx n="90" d="100"/>
          <a:sy n="90" d="100"/>
        </p:scale>
        <p:origin x="1104" y="52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30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fld id="{45B39647-172F-4E3B-99A9-41AF61F1DB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357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BCBA0A8-DAA2-486B-A20A-CB02E27C65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1" tIns="48657" rIns="97311" bIns="486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560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70250" y="9144000"/>
            <a:ext cx="773113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79" tIns="46978" rIns="92279" bIns="46978">
            <a:spAutoFit/>
          </a:bodyPr>
          <a:lstStyle/>
          <a:p>
            <a:pPr algn="ctr" defTabSz="917441">
              <a:lnSpc>
                <a:spcPct val="90000"/>
              </a:lnSpc>
              <a:defRPr/>
            </a:pPr>
            <a:r>
              <a:rPr lang="en-US" altLang="zh-CN" sz="1300" b="0" dirty="0">
                <a:solidFill>
                  <a:schemeClr val="tx1"/>
                </a:solidFill>
              </a:rPr>
              <a:t>Page </a:t>
            </a:r>
            <a:fld id="{6CED7649-0BF5-45BA-9356-C0054485898F}" type="slidenum">
              <a:rPr lang="en-US" altLang="zh-CN" sz="1300" b="0">
                <a:solidFill>
                  <a:schemeClr val="tx1"/>
                </a:solidFill>
              </a:rPr>
              <a:pPr algn="ctr" defTabSz="917441">
                <a:lnSpc>
                  <a:spcPct val="90000"/>
                </a:lnSpc>
                <a:defRPr/>
              </a:pPr>
              <a:t>‹#›</a:t>
            </a:fld>
            <a:endParaRPr lang="en-US" altLang="zh-CN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831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This is</a:t>
            </a:r>
            <a:r>
              <a:rPr lang="en-US" altLang="en-US" baseline="0" dirty="0"/>
              <a:t> an “active version.” The idea is to start examples, then let students attempt to complete them. Several slides have such interruptions.</a:t>
            </a:r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8562E70-307C-478B-93EE-DF90A4E11442}" type="slidenum">
              <a:rPr lang="zh-CN" alt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976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AD55CB6-A570-4945-ABC7-D7B7F13B7F5B}" type="slidenum">
              <a:rPr lang="zh-CN" altLang="en-US" sz="1100" b="0" smtClean="0">
                <a:solidFill>
                  <a:schemeClr val="tx1"/>
                </a:solidFill>
              </a:rPr>
              <a:pPr/>
              <a:t>3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49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3B4BC3B-65EE-4FA9-A2C8-D49600D8E213}" type="slidenum">
              <a:rPr lang="zh-CN" altLang="en-US" sz="1100" b="0" smtClean="0">
                <a:solidFill>
                  <a:schemeClr val="tx1"/>
                </a:solidFill>
              </a:rPr>
              <a:pPr/>
              <a:t>5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701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919C077-A6E0-4E37-B826-CD968FD0E8C8}" type="slidenum">
              <a:rPr lang="zh-CN" altLang="en-US" sz="1100" b="0" smtClean="0">
                <a:solidFill>
                  <a:schemeClr val="tx1"/>
                </a:solidFill>
              </a:rPr>
              <a:pPr/>
              <a:t>9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762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6B885D2-7A7C-4957-8A6B-6FBF69F00A63}" type="slidenum">
              <a:rPr lang="zh-CN" altLang="en-US" sz="1100" b="0" smtClean="0">
                <a:solidFill>
                  <a:schemeClr val="tx1"/>
                </a:solidFill>
              </a:rPr>
              <a:pPr/>
              <a:t>10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06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E0FBB21-061A-4CCB-9E98-4D86871D2C5C}" type="slidenum">
              <a:rPr lang="zh-CN" altLang="en-US" sz="1100" b="0" smtClean="0">
                <a:solidFill>
                  <a:schemeClr val="tx1"/>
                </a:solidFill>
              </a:rPr>
              <a:pPr/>
              <a:t>11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15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FDF7131-B1D9-4474-9E54-845C0362CBD7}" type="slidenum">
              <a:rPr lang="zh-CN" altLang="en-US" sz="1100" b="0" smtClean="0">
                <a:solidFill>
                  <a:schemeClr val="tx1"/>
                </a:solidFill>
              </a:rPr>
              <a:pPr/>
              <a:t>13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18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This is intended to be an “active example.”</a:t>
            </a:r>
          </a:p>
          <a:p>
            <a:r>
              <a:rPr lang="en-US" altLang="en-US" dirty="0"/>
              <a:t>Let</a:t>
            </a:r>
            <a:r>
              <a:rPr lang="en-US" altLang="en-US" baseline="0" dirty="0"/>
              <a:t> students try to solve it, then go over the solution as a class.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D8750FC-AF70-489A-8CC0-71F3923E8CBE}" type="slidenum">
              <a:rPr lang="zh-CN" altLang="en-US" sz="1100" b="0" smtClean="0">
                <a:solidFill>
                  <a:schemeClr val="tx1"/>
                </a:solidFill>
              </a:rPr>
              <a:pPr/>
              <a:t>14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72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D8750FC-AF70-489A-8CC0-71F3923E8CBE}" type="slidenum">
              <a:rPr lang="zh-CN" altLang="en-US" sz="1100" b="0" smtClean="0">
                <a:solidFill>
                  <a:schemeClr val="tx1"/>
                </a:solidFill>
              </a:rPr>
              <a:pPr/>
              <a:t>15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286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EB1EF09-3EAE-4C24-B1E4-916620CC968A}" type="slidenum">
              <a:rPr lang="zh-CN" altLang="en-US" sz="1100" b="0" smtClean="0">
                <a:solidFill>
                  <a:schemeClr val="tx1"/>
                </a:solidFill>
              </a:rPr>
              <a:pPr/>
              <a:t>18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19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F91FC70-EBB2-45AD-9984-5B48356F2927}" type="slidenum">
              <a:rPr lang="zh-CN" altLang="en-US" sz="1100" b="0" smtClean="0">
                <a:solidFill>
                  <a:schemeClr val="tx1"/>
                </a:solidFill>
              </a:rPr>
              <a:pPr/>
              <a:t>19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546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1092ADB-279B-44E0-BFD9-34377347CE67}" type="slidenum">
              <a:rPr lang="zh-CN" altLang="en-US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25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1E0280-79CD-42B8-922A-E998BA9DB97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406003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084A8-7C81-403E-A485-F8CC0748AFA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51029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58362-896F-4879-9A55-93F2ADA1AA9D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426306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990601"/>
            <a:ext cx="5810249" cy="554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90601"/>
            <a:ext cx="5810251" cy="554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2CEF3-7C14-4015-AF1C-1024B202AA2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449896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2FDD-4756-420B-8B0E-850233EE7EC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279541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B9BA7-BCC0-464B-A993-E02B257A136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79530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211B4-4E9E-4063-8192-ED9ED8EF0A6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01015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F43FC-2D93-412B-9868-EE099353993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366218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AB034-6689-4D64-AE73-61318599758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806119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9CB08-2C36-4220-A956-16C85117C740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45419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9"/>
            <a:ext cx="2954867" cy="64404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9"/>
            <a:ext cx="8665633" cy="64404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FD514-ECEA-4850-B755-D5985FB90C4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31457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7218" y="6565900"/>
            <a:ext cx="5192183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+mj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9)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32967" y="6557964"/>
            <a:ext cx="38608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+mj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7551" y="6556376"/>
            <a:ext cx="2427816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+mj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fld id="{360B6C1C-EC1B-47E6-A3F8-1F6732CB8817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181" y="96838"/>
            <a:ext cx="12108649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67" y="729143"/>
            <a:ext cx="12149975" cy="583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 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 </a:t>
            </a:r>
          </a:p>
          <a:p>
            <a:pPr lvl="4"/>
            <a:r>
              <a:rPr lang="en-US" altLang="zh-CN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Chapter 5</a:t>
            </a:r>
            <a:br>
              <a:rPr lang="en-US" altLang="en-US" dirty="0"/>
            </a:br>
            <a:r>
              <a:rPr lang="en-US" altLang="zh-CN" dirty="0">
                <a:ea typeface="宋体" pitchFamily="2" charset="-122"/>
              </a:rPr>
              <a:t>Syntax-based Testing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>
                <a:ea typeface="宋体" pitchFamily="2" charset="-122"/>
              </a:rPr>
              <a:t>5.2 Program-based Grammars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B338D-1A14-4A16-AA0C-D23997B3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F1E36-2EAC-4A79-896F-05D5BDBB2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明确在程序中应用变异测试的过程；能说出变异测试的特点；</a:t>
            </a:r>
          </a:p>
          <a:p>
            <a:r>
              <a:rPr lang="zh-CN" altLang="en-US" dirty="0"/>
              <a:t>明确被测程序（基本串）、变体和测试之间的关系；</a:t>
            </a:r>
          </a:p>
          <a:p>
            <a:r>
              <a:rPr lang="zh-CN" altLang="en-US" dirty="0"/>
              <a:t>明确变体的种类和基本的变异运算符；</a:t>
            </a:r>
          </a:p>
          <a:p>
            <a:r>
              <a:rPr lang="zh-CN" altLang="en-US" dirty="0"/>
              <a:t>明确强杀死变体、弱杀死变体的含义及它们与</a:t>
            </a:r>
            <a:r>
              <a:rPr lang="en-US" altLang="zh-CN" dirty="0"/>
              <a:t>RIPR</a:t>
            </a:r>
            <a:r>
              <a:rPr lang="zh-CN" altLang="en-US" dirty="0"/>
              <a:t>模型间的关联；</a:t>
            </a:r>
          </a:p>
          <a:p>
            <a:r>
              <a:rPr lang="zh-CN" altLang="en-US" dirty="0"/>
              <a:t>能针对变体分析到达、感染、传播条件；</a:t>
            </a:r>
            <a:endParaRPr lang="en-US" altLang="zh-CN" dirty="0"/>
          </a:p>
          <a:p>
            <a:r>
              <a:rPr lang="zh-CN" altLang="en-US" dirty="0"/>
              <a:t>能针对程序分析满足强杀死变体或弱杀死变体的测试用例。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6EA12F-19FB-433A-93EE-C72E19F2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084A8-7C81-403E-A485-F8CC0748AFA1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96201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83C175A-8700-4A66-8ACF-B3217317975C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3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96837"/>
            <a:ext cx="9144000" cy="1346952"/>
          </a:xfrm>
        </p:spPr>
        <p:txBody>
          <a:bodyPr/>
          <a:lstStyle/>
          <a:p>
            <a:r>
              <a:rPr lang="en-US" altLang="en-US" sz="3200" dirty="0"/>
              <a:t>Applying Syntax-based Testing to Programs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600201"/>
            <a:ext cx="8867775" cy="4937125"/>
          </a:xfrm>
        </p:spPr>
        <p:txBody>
          <a:bodyPr/>
          <a:lstStyle/>
          <a:p>
            <a:r>
              <a:rPr lang="en-US" altLang="en-US" dirty="0"/>
              <a:t>Syntax-based criteria </a:t>
            </a:r>
            <a:r>
              <a:rPr lang="en-US" altLang="en-US" dirty="0">
                <a:solidFill>
                  <a:schemeClr val="tx2"/>
                </a:solidFill>
              </a:rPr>
              <a:t>originated</a:t>
            </a:r>
            <a:r>
              <a:rPr lang="en-US" altLang="en-US" dirty="0"/>
              <a:t> with programs and have been used mostly with programs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2"/>
                </a:solidFill>
              </a:rPr>
              <a:t>BNF criteria</a:t>
            </a:r>
            <a:r>
              <a:rPr lang="en-US" altLang="en-US" dirty="0"/>
              <a:t> are most commonly used to test compilers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2"/>
                </a:solidFill>
              </a:rPr>
              <a:t>Mutation testing</a:t>
            </a:r>
            <a:r>
              <a:rPr lang="en-US" altLang="en-US" dirty="0"/>
              <a:t> criteria are most commonly used for unit testing and integration testing of classes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92C0D7B-4803-4A17-9663-EC4461364C91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4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32386" y="96837"/>
            <a:ext cx="9081487" cy="1298826"/>
          </a:xfrm>
        </p:spPr>
        <p:txBody>
          <a:bodyPr/>
          <a:lstStyle/>
          <a:p>
            <a:r>
              <a:rPr lang="en-US" altLang="en-US" dirty="0"/>
              <a:t>Instantiating Grammar-Based Testing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4057650" y="1271345"/>
            <a:ext cx="4076700" cy="461665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Grammar-Based Testing</a:t>
            </a:r>
            <a:endParaRPr lang="en-US" altLang="en-US" sz="2400" b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1733553"/>
            <a:ext cx="8686800" cy="938213"/>
            <a:chOff x="144" y="1092"/>
            <a:chExt cx="5472" cy="591"/>
          </a:xfrm>
        </p:grpSpPr>
        <p:sp>
          <p:nvSpPr>
            <p:cNvPr id="4135" name="Text Box 5"/>
            <p:cNvSpPr txBox="1">
              <a:spLocks noChangeArrowheads="1"/>
            </p:cNvSpPr>
            <p:nvPr/>
          </p:nvSpPr>
          <p:spPr bwMode="auto">
            <a:xfrm>
              <a:off x="144" y="1392"/>
              <a:ext cx="1488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Program-based</a:t>
              </a:r>
              <a:endPara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4136" name="Text Box 6"/>
            <p:cNvSpPr txBox="1">
              <a:spLocks noChangeArrowheads="1"/>
            </p:cNvSpPr>
            <p:nvPr/>
          </p:nvSpPr>
          <p:spPr bwMode="auto">
            <a:xfrm>
              <a:off x="1776" y="1392"/>
              <a:ext cx="1104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Integration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4137" name="Text Box 7"/>
            <p:cNvSpPr txBox="1">
              <a:spLocks noChangeArrowheads="1"/>
            </p:cNvSpPr>
            <p:nvPr/>
          </p:nvSpPr>
          <p:spPr bwMode="auto">
            <a:xfrm>
              <a:off x="3024" y="1392"/>
              <a:ext cx="1248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Model-Based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4138" name="Text Box 8"/>
            <p:cNvSpPr txBox="1">
              <a:spLocks noChangeArrowheads="1"/>
            </p:cNvSpPr>
            <p:nvPr/>
          </p:nvSpPr>
          <p:spPr bwMode="auto">
            <a:xfrm>
              <a:off x="4416" y="1392"/>
              <a:ext cx="1200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Input-Based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39" name="AutoShape 9"/>
            <p:cNvCxnSpPr>
              <a:cxnSpLocks noChangeShapeType="1"/>
              <a:stCxn id="4102" idx="2"/>
              <a:endCxn id="4135" idx="0"/>
            </p:cNvCxnSpPr>
            <p:nvPr/>
          </p:nvCxnSpPr>
          <p:spPr bwMode="auto">
            <a:xfrm rot="5400000">
              <a:off x="1734" y="246"/>
              <a:ext cx="300" cy="1992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40" name="AutoShape 10"/>
            <p:cNvCxnSpPr>
              <a:cxnSpLocks noChangeShapeType="1"/>
              <a:stCxn id="4102" idx="2"/>
              <a:endCxn id="4138" idx="0"/>
            </p:cNvCxnSpPr>
            <p:nvPr/>
          </p:nvCxnSpPr>
          <p:spPr bwMode="auto">
            <a:xfrm rot="16200000" flipH="1">
              <a:off x="3798" y="174"/>
              <a:ext cx="300" cy="2136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41" name="AutoShape 11"/>
            <p:cNvCxnSpPr>
              <a:cxnSpLocks noChangeShapeType="1"/>
              <a:stCxn id="4102" idx="2"/>
              <a:endCxn id="4137" idx="0"/>
            </p:cNvCxnSpPr>
            <p:nvPr/>
          </p:nvCxnSpPr>
          <p:spPr bwMode="auto">
            <a:xfrm rot="16200000" flipH="1">
              <a:off x="3114" y="858"/>
              <a:ext cx="300" cy="76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42" name="AutoShape 12"/>
            <p:cNvCxnSpPr>
              <a:cxnSpLocks noChangeShapeType="1"/>
              <a:stCxn id="4102" idx="2"/>
              <a:endCxn id="4136" idx="0"/>
            </p:cNvCxnSpPr>
            <p:nvPr/>
          </p:nvCxnSpPr>
          <p:spPr bwMode="auto">
            <a:xfrm rot="5400000">
              <a:off x="2454" y="966"/>
              <a:ext cx="300" cy="552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587500" y="2671763"/>
            <a:ext cx="2514600" cy="2671762"/>
            <a:chOff x="40" y="1683"/>
            <a:chExt cx="1584" cy="1683"/>
          </a:xfrm>
        </p:grpSpPr>
        <p:sp>
          <p:nvSpPr>
            <p:cNvPr id="4132" name="Text Box 14"/>
            <p:cNvSpPr txBox="1">
              <a:spLocks noChangeArrowheads="1"/>
            </p:cNvSpPr>
            <p:nvPr/>
          </p:nvSpPr>
          <p:spPr bwMode="auto">
            <a:xfrm>
              <a:off x="40" y="2951"/>
              <a:ext cx="1584" cy="415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Compiler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and invalid strings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33" name="AutoShape 15"/>
            <p:cNvCxnSpPr>
              <a:cxnSpLocks noChangeShapeType="1"/>
              <a:stCxn id="4135" idx="2"/>
              <a:endCxn id="4132" idx="0"/>
            </p:cNvCxnSpPr>
            <p:nvPr/>
          </p:nvCxnSpPr>
          <p:spPr bwMode="auto">
            <a:xfrm rot="5400000">
              <a:off x="226" y="2289"/>
              <a:ext cx="1268" cy="5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34" name="Text Box 16"/>
            <p:cNvSpPr txBox="1">
              <a:spLocks noChangeArrowheads="1"/>
            </p:cNvSpPr>
            <p:nvPr/>
          </p:nvSpPr>
          <p:spPr bwMode="auto">
            <a:xfrm>
              <a:off x="240" y="2256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Grammar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933700" y="2635252"/>
            <a:ext cx="2552700" cy="1827213"/>
            <a:chOff x="888" y="1660"/>
            <a:chExt cx="1608" cy="1151"/>
          </a:xfrm>
        </p:grpSpPr>
        <p:sp>
          <p:nvSpPr>
            <p:cNvPr id="4129" name="Text Box 18"/>
            <p:cNvSpPr txBox="1">
              <a:spLocks noChangeArrowheads="1"/>
            </p:cNvSpPr>
            <p:nvPr/>
          </p:nvSpPr>
          <p:spPr bwMode="auto">
            <a:xfrm>
              <a:off x="960" y="166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  <p:sp>
          <p:nvSpPr>
            <p:cNvPr id="4130" name="Text Box 19"/>
            <p:cNvSpPr txBox="1">
              <a:spLocks noChangeArrowheads="1"/>
            </p:cNvSpPr>
            <p:nvPr/>
          </p:nvSpPr>
          <p:spPr bwMode="auto">
            <a:xfrm>
              <a:off x="1104" y="2039"/>
              <a:ext cx="1392" cy="772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Program mutation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not tests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Must kill mutants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31" name="AutoShape 20"/>
            <p:cNvCxnSpPr>
              <a:cxnSpLocks noChangeShapeType="1"/>
              <a:stCxn id="4135" idx="2"/>
              <a:endCxn id="4130" idx="0"/>
            </p:cNvCxnSpPr>
            <p:nvPr/>
          </p:nvCxnSpPr>
          <p:spPr bwMode="auto">
            <a:xfrm rot="16200000" flipH="1">
              <a:off x="1166" y="1405"/>
              <a:ext cx="356" cy="91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086600" y="2671763"/>
            <a:ext cx="2438400" cy="3821112"/>
            <a:chOff x="3504" y="1683"/>
            <a:chExt cx="1536" cy="2407"/>
          </a:xfrm>
        </p:grpSpPr>
        <p:sp>
          <p:nvSpPr>
            <p:cNvPr id="4126" name="Text Box 22"/>
            <p:cNvSpPr txBox="1">
              <a:spLocks noChangeArrowheads="1"/>
            </p:cNvSpPr>
            <p:nvPr/>
          </p:nvSpPr>
          <p:spPr bwMode="auto">
            <a:xfrm>
              <a:off x="3504" y="3504"/>
              <a:ext cx="1536" cy="58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Input validation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XML and others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27" name="AutoShape 23"/>
            <p:cNvCxnSpPr>
              <a:cxnSpLocks noChangeShapeType="1"/>
              <a:stCxn id="4138" idx="2"/>
              <a:endCxn id="4126" idx="0"/>
            </p:cNvCxnSpPr>
            <p:nvPr/>
          </p:nvCxnSpPr>
          <p:spPr bwMode="auto">
            <a:xfrm rot="5400000">
              <a:off x="3734" y="2222"/>
              <a:ext cx="1821" cy="74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28" name="Text Box 24"/>
            <p:cNvSpPr txBox="1">
              <a:spLocks noChangeArrowheads="1"/>
            </p:cNvSpPr>
            <p:nvPr/>
          </p:nvSpPr>
          <p:spPr bwMode="auto">
            <a:xfrm>
              <a:off x="3648" y="3129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Grammar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4495800" y="2667001"/>
            <a:ext cx="2514600" cy="3730625"/>
            <a:chOff x="1872" y="1680"/>
            <a:chExt cx="1584" cy="2350"/>
          </a:xfrm>
        </p:grpSpPr>
        <p:sp>
          <p:nvSpPr>
            <p:cNvPr id="4123" name="Text Box 26"/>
            <p:cNvSpPr txBox="1">
              <a:spLocks noChangeArrowheads="1"/>
            </p:cNvSpPr>
            <p:nvPr/>
          </p:nvSpPr>
          <p:spPr bwMode="auto">
            <a:xfrm>
              <a:off x="1872" y="3072"/>
              <a:ext cx="1584" cy="958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Test how classes interact 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not tests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Must kill mutants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Includes OO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24" name="AutoShape 27"/>
            <p:cNvCxnSpPr>
              <a:cxnSpLocks noChangeShapeType="1"/>
              <a:stCxn id="4136" idx="2"/>
              <a:endCxn id="4123" idx="0"/>
            </p:cNvCxnSpPr>
            <p:nvPr/>
          </p:nvCxnSpPr>
          <p:spPr bwMode="auto">
            <a:xfrm rot="16200000" flipH="1">
              <a:off x="1802" y="2210"/>
              <a:ext cx="1389" cy="33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25" name="Text Box 28"/>
            <p:cNvSpPr txBox="1">
              <a:spLocks noChangeArrowheads="1"/>
            </p:cNvSpPr>
            <p:nvPr/>
          </p:nvSpPr>
          <p:spPr bwMode="auto">
            <a:xfrm>
              <a:off x="2304" y="168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6096000" y="2671764"/>
            <a:ext cx="1905000" cy="1976438"/>
            <a:chOff x="2880" y="1683"/>
            <a:chExt cx="1200" cy="1245"/>
          </a:xfrm>
        </p:grpSpPr>
        <p:sp>
          <p:nvSpPr>
            <p:cNvPr id="4120" name="Text Box 30"/>
            <p:cNvSpPr txBox="1">
              <a:spLocks noChangeArrowheads="1"/>
            </p:cNvSpPr>
            <p:nvPr/>
          </p:nvSpPr>
          <p:spPr bwMode="auto">
            <a:xfrm>
              <a:off x="2880" y="2143"/>
              <a:ext cx="1200" cy="785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FSMs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Model checking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Traces are tests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21" name="AutoShape 31"/>
            <p:cNvCxnSpPr>
              <a:cxnSpLocks noChangeShapeType="1"/>
              <a:stCxn id="4137" idx="2"/>
              <a:endCxn id="4120" idx="0"/>
            </p:cNvCxnSpPr>
            <p:nvPr/>
          </p:nvCxnSpPr>
          <p:spPr bwMode="auto">
            <a:xfrm rot="5400000">
              <a:off x="3334" y="1829"/>
              <a:ext cx="460" cy="16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22" name="Text Box 32"/>
            <p:cNvSpPr txBox="1">
              <a:spLocks noChangeArrowheads="1"/>
            </p:cNvSpPr>
            <p:nvPr/>
          </p:nvSpPr>
          <p:spPr bwMode="auto">
            <a:xfrm>
              <a:off x="3120" y="1728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8763000" y="2671763"/>
            <a:ext cx="1905000" cy="2725738"/>
            <a:chOff x="4560" y="1683"/>
            <a:chExt cx="1200" cy="1717"/>
          </a:xfrm>
        </p:grpSpPr>
        <p:sp>
          <p:nvSpPr>
            <p:cNvPr id="4117" name="Text Box 34"/>
            <p:cNvSpPr txBox="1">
              <a:spLocks noChangeArrowheads="1"/>
            </p:cNvSpPr>
            <p:nvPr/>
          </p:nvSpPr>
          <p:spPr bwMode="auto">
            <a:xfrm>
              <a:off x="4560" y="2256"/>
              <a:ext cx="1200" cy="1144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Input validation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 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XML and others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No ground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tests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4118" name="AutoShape 35"/>
            <p:cNvCxnSpPr>
              <a:cxnSpLocks noChangeShapeType="1"/>
              <a:stCxn id="4138" idx="2"/>
              <a:endCxn id="4117" idx="0"/>
            </p:cNvCxnSpPr>
            <p:nvPr/>
          </p:nvCxnSpPr>
          <p:spPr bwMode="auto">
            <a:xfrm rot="16200000" flipH="1">
              <a:off x="4802" y="1898"/>
              <a:ext cx="573" cy="14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Text Box 36"/>
            <p:cNvSpPr txBox="1">
              <a:spLocks noChangeArrowheads="1"/>
            </p:cNvSpPr>
            <p:nvPr/>
          </p:nvSpPr>
          <p:spPr bwMode="auto">
            <a:xfrm>
              <a:off x="4944" y="1824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  <p:sp>
        <p:nvSpPr>
          <p:cNvPr id="288805" name="Rectangle 37"/>
          <p:cNvSpPr>
            <a:spLocks noChangeArrowheads="1"/>
          </p:cNvSpPr>
          <p:nvPr/>
        </p:nvSpPr>
        <p:spPr bwMode="auto">
          <a:xfrm>
            <a:off x="4244976" y="1795464"/>
            <a:ext cx="6372225" cy="1100137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b="0">
              <a:latin typeface="Gill Sans MT" panose="020B0502020104020203" pitchFamily="34" charset="0"/>
            </a:endParaRPr>
          </a:p>
        </p:txBody>
      </p:sp>
      <p:sp>
        <p:nvSpPr>
          <p:cNvPr id="288806" name="Rectangle 38"/>
          <p:cNvSpPr>
            <a:spLocks noChangeArrowheads="1"/>
          </p:cNvSpPr>
          <p:nvPr/>
        </p:nvSpPr>
        <p:spPr bwMode="auto">
          <a:xfrm>
            <a:off x="5611814" y="2890838"/>
            <a:ext cx="5005387" cy="3752850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b="0">
              <a:latin typeface="Gill Sans MT" panose="020B0502020104020203" pitchFamily="34" charset="0"/>
            </a:endParaRPr>
          </a:p>
        </p:txBody>
      </p:sp>
      <p:sp>
        <p:nvSpPr>
          <p:cNvPr id="288813" name="Rectangle 45"/>
          <p:cNvSpPr>
            <a:spLocks noChangeArrowheads="1"/>
          </p:cNvSpPr>
          <p:nvPr/>
        </p:nvSpPr>
        <p:spPr bwMode="auto">
          <a:xfrm>
            <a:off x="4570414" y="2890838"/>
            <a:ext cx="1042987" cy="254000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b="0">
              <a:latin typeface="Gill Sans MT" panose="020B0502020104020203" pitchFamily="34" charset="0"/>
            </a:endParaRPr>
          </a:p>
        </p:txBody>
      </p:sp>
      <p:sp>
        <p:nvSpPr>
          <p:cNvPr id="288814" name="Rectangle 46"/>
          <p:cNvSpPr>
            <a:spLocks noChangeArrowheads="1"/>
          </p:cNvSpPr>
          <p:nvPr/>
        </p:nvSpPr>
        <p:spPr bwMode="auto">
          <a:xfrm>
            <a:off x="4270376" y="4649788"/>
            <a:ext cx="1344613" cy="1993900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b="0">
              <a:latin typeface="Gill Sans MT" panose="020B0502020104020203" pitchFamily="34" charset="0"/>
            </a:endParaRPr>
          </a:p>
        </p:txBody>
      </p: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1922464" y="2941639"/>
            <a:ext cx="604837" cy="515937"/>
            <a:chOff x="511" y="3486"/>
            <a:chExt cx="381" cy="325"/>
          </a:xfrm>
        </p:grpSpPr>
        <p:sp>
          <p:nvSpPr>
            <p:cNvPr id="4115" name="Oval 48"/>
            <p:cNvSpPr>
              <a:spLocks noChangeArrowheads="1"/>
            </p:cNvSpPr>
            <p:nvPr/>
          </p:nvSpPr>
          <p:spPr bwMode="auto">
            <a:xfrm>
              <a:off x="511" y="3486"/>
              <a:ext cx="381" cy="325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endParaRPr lang="en-US" altLang="en-US" b="0">
                <a:solidFill>
                  <a:schemeClr val="hlink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4116" name="Text Box 47"/>
            <p:cNvSpPr txBox="1">
              <a:spLocks noChangeArrowheads="1"/>
            </p:cNvSpPr>
            <p:nvPr/>
          </p:nvSpPr>
          <p:spPr bwMode="auto">
            <a:xfrm>
              <a:off x="543" y="3523"/>
              <a:ext cx="32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en-US" b="0" dirty="0">
                  <a:latin typeface="Gill Sans MT" panose="020B0502020104020203" pitchFamily="34" charset="0"/>
                </a:rPr>
                <a:t>5.2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8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5" grpId="0" animBg="1"/>
      <p:bldP spid="288806" grpId="0" animBg="1"/>
      <p:bldP spid="288813" grpId="0" animBg="1"/>
      <p:bldP spid="2888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08D986D-3D14-4983-B008-4F2C15AC0910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5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BNF Testing for Compilers</a:t>
            </a:r>
            <a:r>
              <a:rPr lang="en-US" altLang="en-US" sz="2400" dirty="0"/>
              <a:t> </a:t>
            </a:r>
            <a:r>
              <a:rPr lang="en-US" altLang="zh-CN" sz="2400" dirty="0">
                <a:ea typeface="宋体" pitchFamily="2" charset="-122"/>
              </a:rPr>
              <a:t>(5.2.1)</a:t>
            </a:r>
            <a:endParaRPr lang="en-US" altLang="en-US" sz="2400" dirty="0">
              <a:ea typeface="宋体" pitchFamily="2" charset="-122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266825"/>
            <a:ext cx="8867775" cy="5270500"/>
          </a:xfrm>
        </p:spPr>
        <p:txBody>
          <a:bodyPr/>
          <a:lstStyle/>
          <a:p>
            <a:r>
              <a:rPr lang="en-US" altLang="en-US"/>
              <a:t>Testing </a:t>
            </a:r>
            <a:r>
              <a:rPr lang="en-US" altLang="en-US">
                <a:solidFill>
                  <a:schemeClr val="tx2"/>
                </a:solidFill>
              </a:rPr>
              <a:t>compilers</a:t>
            </a:r>
            <a:r>
              <a:rPr lang="en-US" altLang="en-US"/>
              <a:t> is very complicated </a:t>
            </a:r>
          </a:p>
          <a:p>
            <a:pPr lvl="1"/>
            <a:r>
              <a:rPr lang="en-US" altLang="en-US"/>
              <a:t>Millions of </a:t>
            </a:r>
            <a:r>
              <a:rPr lang="en-US" altLang="en-US">
                <a:solidFill>
                  <a:schemeClr val="tx2"/>
                </a:solidFill>
              </a:rPr>
              <a:t>correct</a:t>
            </a:r>
            <a:r>
              <a:rPr lang="en-US" altLang="en-US"/>
              <a:t> programs !</a:t>
            </a:r>
          </a:p>
          <a:p>
            <a:pPr lvl="1"/>
            <a:r>
              <a:rPr lang="en-US" altLang="en-US"/>
              <a:t>Compilers must recognize and reject </a:t>
            </a:r>
            <a:r>
              <a:rPr lang="en-US" altLang="en-US">
                <a:solidFill>
                  <a:schemeClr val="tx2"/>
                </a:solidFill>
              </a:rPr>
              <a:t>incorrect</a:t>
            </a:r>
            <a:r>
              <a:rPr lang="en-US" altLang="en-US"/>
              <a:t> programs</a:t>
            </a:r>
          </a:p>
          <a:p>
            <a:pPr lvl="1"/>
            <a:endParaRPr lang="en-US" altLang="en-US"/>
          </a:p>
          <a:p>
            <a:r>
              <a:rPr lang="en-US" altLang="en-US">
                <a:solidFill>
                  <a:schemeClr val="tx2"/>
                </a:solidFill>
              </a:rPr>
              <a:t>BNF criteria</a:t>
            </a:r>
            <a:r>
              <a:rPr lang="en-US" altLang="en-US"/>
              <a:t> can be used to generate programs to test all language features that compilers must process</a:t>
            </a:r>
          </a:p>
          <a:p>
            <a:pPr lvl="1"/>
            <a:endParaRPr lang="en-US" altLang="en-US"/>
          </a:p>
          <a:p>
            <a:r>
              <a:rPr lang="en-US" altLang="en-US"/>
              <a:t>This is a very </a:t>
            </a:r>
            <a:r>
              <a:rPr lang="en-US" altLang="en-US">
                <a:solidFill>
                  <a:schemeClr val="tx2"/>
                </a:solidFill>
              </a:rPr>
              <a:t>specialized</a:t>
            </a:r>
            <a:r>
              <a:rPr lang="en-US" altLang="en-US"/>
              <a:t> application and not discussed in detail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Program-based Grammars</a:t>
            </a:r>
            <a:r>
              <a:rPr lang="en-US" altLang="zh-CN" sz="2400" dirty="0">
                <a:ea typeface="宋体" pitchFamily="2" charset="-122"/>
              </a:rPr>
              <a:t> (5.2.2)</a:t>
            </a:r>
            <a:endParaRPr lang="en-US" altLang="en-US" sz="24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530351" y="1094874"/>
            <a:ext cx="9112481" cy="5474201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The original and most widely known application of syntax-based testing is to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modify programs</a:t>
            </a:r>
          </a:p>
          <a:p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Operators</a:t>
            </a:r>
            <a:r>
              <a:rPr lang="en-US" altLang="zh-CN" dirty="0">
                <a:ea typeface="宋体" pitchFamily="2" charset="-122"/>
              </a:rPr>
              <a:t> modify a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ground string</a:t>
            </a:r>
            <a:r>
              <a:rPr lang="en-US" altLang="zh-CN" dirty="0">
                <a:ea typeface="宋体" pitchFamily="2" charset="-122"/>
              </a:rPr>
              <a:t> (program under test) to create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mutant programs</a:t>
            </a:r>
          </a:p>
          <a:p>
            <a:r>
              <a:rPr lang="en-US" altLang="zh-CN" dirty="0">
                <a:ea typeface="宋体" pitchFamily="2" charset="-122"/>
              </a:rPr>
              <a:t>Mutant programs must compile correctly (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valid strings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r>
              <a:rPr lang="en-US" altLang="zh-CN" dirty="0">
                <a:ea typeface="宋体" pitchFamily="2" charset="-122"/>
              </a:rPr>
              <a:t>Mutants are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not tests</a:t>
            </a:r>
            <a:r>
              <a:rPr lang="en-US" altLang="zh-CN" dirty="0">
                <a:ea typeface="宋体" pitchFamily="2" charset="-122"/>
              </a:rPr>
              <a:t>, but used to find tests</a:t>
            </a:r>
          </a:p>
          <a:p>
            <a:r>
              <a:rPr lang="en-US" altLang="zh-CN" dirty="0">
                <a:ea typeface="宋体" pitchFamily="2" charset="-122"/>
              </a:rPr>
              <a:t>Once mutants are defined,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tests</a:t>
            </a:r>
            <a:r>
              <a:rPr lang="en-US" altLang="zh-CN" dirty="0">
                <a:ea typeface="宋体" pitchFamily="2" charset="-122"/>
              </a:rPr>
              <a:t> must be found to cause mutants to fail when executed</a:t>
            </a:r>
          </a:p>
          <a:p>
            <a:r>
              <a:rPr lang="en-US" altLang="zh-CN" dirty="0">
                <a:ea typeface="宋体" pitchFamily="2" charset="-122"/>
              </a:rPr>
              <a:t>This is called “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killing mutants</a:t>
            </a:r>
            <a:r>
              <a:rPr lang="en-US" altLang="zh-CN" dirty="0">
                <a:ea typeface="宋体" pitchFamily="2" charset="-122"/>
              </a:rPr>
              <a:t>”</a:t>
            </a: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CBD2A75-F83B-4AE3-98E3-5AE431F996B9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6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Killing Mutants</a:t>
            </a:r>
            <a:endParaRPr lang="en-US" altLang="en-US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662114" y="1938166"/>
            <a:ext cx="8867775" cy="463091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If mutation operators are designed well, the resulting tests will be very powerful</a:t>
            </a:r>
          </a:p>
          <a:p>
            <a:r>
              <a:rPr lang="en-US" altLang="zh-CN" dirty="0">
                <a:ea typeface="宋体" pitchFamily="2" charset="-122"/>
              </a:rPr>
              <a:t>Different operators must be defined for different programming languages </a:t>
            </a:r>
            <a:r>
              <a:rPr lang="en-US" altLang="zh-CN">
                <a:ea typeface="宋体" pitchFamily="2" charset="-122"/>
              </a:rPr>
              <a:t>and different goals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Testers can keep adding tests until all mutants have been killed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  <a:ea typeface="宋体" pitchFamily="2" charset="-122"/>
              </a:rPr>
              <a:t>Dead mutant</a:t>
            </a:r>
            <a:r>
              <a:rPr lang="en-US" altLang="zh-CN" dirty="0">
                <a:ea typeface="宋体" pitchFamily="2" charset="-122"/>
              </a:rPr>
              <a:t> : A test case has killed it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  <a:ea typeface="宋体" pitchFamily="2" charset="-122"/>
              </a:rPr>
              <a:t>Stillborn mutant</a:t>
            </a:r>
            <a:r>
              <a:rPr lang="en-US" altLang="zh-CN" dirty="0">
                <a:ea typeface="宋体" pitchFamily="2" charset="-122"/>
              </a:rPr>
              <a:t> : Syntactically illegal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  <a:ea typeface="宋体" pitchFamily="2" charset="-122"/>
              </a:rPr>
              <a:t>Trivial mutant</a:t>
            </a:r>
            <a:r>
              <a:rPr lang="en-US" altLang="zh-CN" dirty="0">
                <a:ea typeface="宋体" pitchFamily="2" charset="-122"/>
              </a:rPr>
              <a:t> : Almost every test can kill it</a:t>
            </a:r>
          </a:p>
          <a:p>
            <a:pPr lvl="1"/>
            <a:r>
              <a:rPr lang="en-US" altLang="zh-CN" i="1" dirty="0">
                <a:solidFill>
                  <a:schemeClr val="tx2"/>
                </a:solidFill>
                <a:ea typeface="宋体" pitchFamily="2" charset="-122"/>
              </a:rPr>
              <a:t>Equivalent mutant</a:t>
            </a:r>
            <a:r>
              <a:rPr lang="en-US" altLang="zh-CN" dirty="0">
                <a:ea typeface="宋体" pitchFamily="2" charset="-122"/>
              </a:rPr>
              <a:t> : No test can kill it (same behavior as original)</a:t>
            </a:r>
          </a:p>
          <a:p>
            <a:endParaRPr lang="en-US" altLang="en-US" dirty="0"/>
          </a:p>
        </p:txBody>
      </p:sp>
      <p:sp>
        <p:nvSpPr>
          <p:cNvPr id="71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30C07AB-06E7-43E2-B289-2BE1167E0614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7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7175" name="Text Box 4"/>
          <p:cNvSpPr txBox="1">
            <a:spLocks noChangeArrowheads="1"/>
          </p:cNvSpPr>
          <p:nvPr/>
        </p:nvSpPr>
        <p:spPr bwMode="auto">
          <a:xfrm>
            <a:off x="2143295" y="860253"/>
            <a:ext cx="7877344" cy="1086451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5000"/>
              </a:lnSpc>
              <a:spcBef>
                <a:spcPct val="30000"/>
              </a:spcBef>
              <a:buSzPct val="85000"/>
            </a:pP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Given a mutant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 </a:t>
            </a:r>
            <a:r>
              <a:rPr lang="en-US" altLang="zh-CN" sz="28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i="1" dirty="0">
                <a:latin typeface="Gill Sans MT" panose="020B0502020104020203" pitchFamily="34" charset="0"/>
                <a:ea typeface="宋体" pitchFamily="2" charset="-122"/>
              </a:rPr>
              <a:t>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for a ground string program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and a test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said to </a:t>
            </a:r>
            <a:r>
              <a:rPr lang="en-US" altLang="zh-CN" sz="2400" u="sng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kill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if and only if the output of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on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different from the output of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on </a:t>
            </a:r>
            <a:r>
              <a:rPr lang="en-US" altLang="zh-CN" sz="240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0D3C5B9-0D5F-41BE-BDE3-EB7892490AE6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8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3701" y="96839"/>
            <a:ext cx="8837613" cy="796925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Program-based Grammars</a:t>
            </a:r>
            <a:endParaRPr lang="en-US" altLang="zh-CN" sz="2000">
              <a:ea typeface="宋体" pitchFamily="2" charset="-122"/>
            </a:endParaRPr>
          </a:p>
        </p:txBody>
      </p:sp>
      <p:sp>
        <p:nvSpPr>
          <p:cNvPr id="8198" name="Rectangle 3"/>
          <p:cNvSpPr>
            <a:spLocks noChangeArrowheads="1"/>
          </p:cNvSpPr>
          <p:nvPr/>
        </p:nvSpPr>
        <p:spPr bwMode="auto">
          <a:xfrm>
            <a:off x="2170114" y="946150"/>
            <a:ext cx="2744787" cy="3822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Original Method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Min (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A,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B)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{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;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if (B &lt; A)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{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   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B; 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}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return (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);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} // end Min</a:t>
            </a:r>
          </a:p>
        </p:txBody>
      </p:sp>
      <p:sp>
        <p:nvSpPr>
          <p:cNvPr id="273412" name="Rectangle 4"/>
          <p:cNvSpPr>
            <a:spLocks noChangeArrowheads="1"/>
          </p:cNvSpPr>
          <p:nvPr/>
        </p:nvSpPr>
        <p:spPr bwMode="auto">
          <a:xfrm>
            <a:off x="5562600" y="946151"/>
            <a:ext cx="4459288" cy="5349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With Embedded Mutants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Min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A,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B)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1 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= B;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if (B &lt; A)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2  if (B </a:t>
            </a:r>
            <a:r>
              <a:rPr lang="en-US" altLang="zh-CN" sz="1800" i="1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&gt; 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A)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3  if (B &lt;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B;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4          Bomb ();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5         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6         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=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failOnZero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(B);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}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return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);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} // end Min</a:t>
            </a:r>
            <a:endParaRPr lang="en-US" altLang="zh-CN" dirty="0">
              <a:solidFill>
                <a:schemeClr val="tx1"/>
              </a:solidFill>
              <a:latin typeface="Helvetica" charset="0"/>
              <a:ea typeface="宋体" pitchFamily="2" charset="-12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251201" y="3989390"/>
            <a:ext cx="2182813" cy="2335213"/>
            <a:chOff x="1088" y="2513"/>
            <a:chExt cx="1375" cy="1471"/>
          </a:xfrm>
        </p:grpSpPr>
        <p:sp>
          <p:nvSpPr>
            <p:cNvPr id="8215" name="Text Box 5"/>
            <p:cNvSpPr txBox="1">
              <a:spLocks noChangeArrowheads="1"/>
            </p:cNvSpPr>
            <p:nvPr/>
          </p:nvSpPr>
          <p:spPr bwMode="auto">
            <a:xfrm>
              <a:off x="1088" y="3247"/>
              <a:ext cx="1375" cy="7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b="0">
                  <a:latin typeface="Gill Sans MT" panose="020B0502020104020203" pitchFamily="34" charset="0"/>
                </a:rPr>
                <a:t>6 mutants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latin typeface="Gill Sans MT" panose="020B0502020104020203" pitchFamily="34" charset="0"/>
                </a:rPr>
                <a:t>Each represents a separate program</a:t>
              </a:r>
            </a:p>
          </p:txBody>
        </p:sp>
        <p:sp>
          <p:nvSpPr>
            <p:cNvPr id="8216" name="Line 6"/>
            <p:cNvSpPr>
              <a:spLocks noChangeShapeType="1"/>
            </p:cNvSpPr>
            <p:nvPr/>
          </p:nvSpPr>
          <p:spPr bwMode="auto">
            <a:xfrm flipV="1">
              <a:off x="1822" y="2513"/>
              <a:ext cx="619" cy="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964364" y="1714500"/>
            <a:ext cx="3394075" cy="3086100"/>
            <a:chOff x="3427" y="1080"/>
            <a:chExt cx="2138" cy="1944"/>
          </a:xfrm>
        </p:grpSpPr>
        <p:sp>
          <p:nvSpPr>
            <p:cNvPr id="273417" name="Text Box 9"/>
            <p:cNvSpPr txBox="1">
              <a:spLocks noChangeArrowheads="1"/>
            </p:cNvSpPr>
            <p:nvPr/>
          </p:nvSpPr>
          <p:spPr bwMode="auto">
            <a:xfrm>
              <a:off x="4154" y="1080"/>
              <a:ext cx="1411" cy="407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 b="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Replace one variable with another</a:t>
              </a:r>
            </a:p>
          </p:txBody>
        </p:sp>
        <p:sp>
          <p:nvSpPr>
            <p:cNvPr id="8212" name="Line 13"/>
            <p:cNvSpPr>
              <a:spLocks noChangeShapeType="1"/>
            </p:cNvSpPr>
            <p:nvPr/>
          </p:nvSpPr>
          <p:spPr bwMode="auto">
            <a:xfrm flipH="1">
              <a:off x="3427" y="1217"/>
              <a:ext cx="727" cy="5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8213" name="Line 14"/>
            <p:cNvSpPr>
              <a:spLocks noChangeShapeType="1"/>
            </p:cNvSpPr>
            <p:nvPr/>
          </p:nvSpPr>
          <p:spPr bwMode="auto">
            <a:xfrm flipH="1">
              <a:off x="3622" y="1332"/>
              <a:ext cx="525" cy="9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8214" name="Line 15"/>
            <p:cNvSpPr>
              <a:spLocks noChangeShapeType="1"/>
            </p:cNvSpPr>
            <p:nvPr/>
          </p:nvSpPr>
          <p:spPr bwMode="auto">
            <a:xfrm flipH="1">
              <a:off x="3895" y="1426"/>
              <a:ext cx="259" cy="15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759576" y="2609850"/>
            <a:ext cx="3698875" cy="819150"/>
            <a:chOff x="3298" y="1644"/>
            <a:chExt cx="2330" cy="516"/>
          </a:xfrm>
        </p:grpSpPr>
        <p:sp>
          <p:nvSpPr>
            <p:cNvPr id="273418" name="Text Box 10"/>
            <p:cNvSpPr txBox="1">
              <a:spLocks noChangeArrowheads="1"/>
            </p:cNvSpPr>
            <p:nvPr/>
          </p:nvSpPr>
          <p:spPr bwMode="auto">
            <a:xfrm>
              <a:off x="4217" y="1644"/>
              <a:ext cx="1411" cy="239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 b="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Replaces operator</a:t>
              </a:r>
            </a:p>
          </p:txBody>
        </p:sp>
        <p:sp>
          <p:nvSpPr>
            <p:cNvPr id="8210" name="Line 16"/>
            <p:cNvSpPr>
              <a:spLocks noChangeShapeType="1"/>
            </p:cNvSpPr>
            <p:nvPr/>
          </p:nvSpPr>
          <p:spPr bwMode="auto">
            <a:xfrm flipH="1">
              <a:off x="3298" y="1757"/>
              <a:ext cx="914" cy="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307263" y="3230563"/>
            <a:ext cx="3262312" cy="1319212"/>
            <a:chOff x="3643" y="2035"/>
            <a:chExt cx="2055" cy="831"/>
          </a:xfrm>
        </p:grpSpPr>
        <p:sp>
          <p:nvSpPr>
            <p:cNvPr id="273419" name="Text Box 11"/>
            <p:cNvSpPr txBox="1">
              <a:spLocks noChangeArrowheads="1"/>
            </p:cNvSpPr>
            <p:nvPr/>
          </p:nvSpPr>
          <p:spPr bwMode="auto">
            <a:xfrm>
              <a:off x="4287" y="2035"/>
              <a:ext cx="1411" cy="412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 b="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Immediate runtime failure … if reached</a:t>
              </a:r>
            </a:p>
          </p:txBody>
        </p:sp>
        <p:sp>
          <p:nvSpPr>
            <p:cNvPr id="8208" name="Line 17"/>
            <p:cNvSpPr>
              <a:spLocks noChangeShapeType="1"/>
            </p:cNvSpPr>
            <p:nvPr/>
          </p:nvSpPr>
          <p:spPr bwMode="auto">
            <a:xfrm flipH="1">
              <a:off x="3643" y="2232"/>
              <a:ext cx="648" cy="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7891464" y="4127500"/>
            <a:ext cx="2466975" cy="1016000"/>
            <a:chOff x="4011" y="2600"/>
            <a:chExt cx="1554" cy="640"/>
          </a:xfrm>
        </p:grpSpPr>
        <p:sp>
          <p:nvSpPr>
            <p:cNvPr id="273420" name="Text Box 12"/>
            <p:cNvSpPr txBox="1">
              <a:spLocks noChangeArrowheads="1"/>
            </p:cNvSpPr>
            <p:nvPr/>
          </p:nvSpPr>
          <p:spPr bwMode="auto">
            <a:xfrm>
              <a:off x="4322" y="2600"/>
              <a:ext cx="1243" cy="585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 b="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Immediate runtime failure if B==0, else does nothing</a:t>
              </a:r>
            </a:p>
          </p:txBody>
        </p:sp>
        <p:sp>
          <p:nvSpPr>
            <p:cNvPr id="8206" name="Line 18"/>
            <p:cNvSpPr>
              <a:spLocks noChangeShapeType="1"/>
            </p:cNvSpPr>
            <p:nvPr/>
          </p:nvSpPr>
          <p:spPr bwMode="auto">
            <a:xfrm flipH="1">
              <a:off x="4011" y="2816"/>
              <a:ext cx="316" cy="4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656EF05-B19C-472C-B961-D432542F03C3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9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350" y="90488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Syntax-Based Coverage Criteria</a:t>
            </a:r>
          </a:p>
        </p:txBody>
      </p:sp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1997075" y="1066801"/>
            <a:ext cx="8262938" cy="8413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Mutation Coverage (MC)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For each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  <a:ea typeface="SimSun" pitchFamily="2" charset="-122"/>
                <a:sym typeface="Symbol" pitchFamily="18" charset="2"/>
              </a:rPr>
              <a:t>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, TR contains exactly one requirement, to kill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59081" name="Text Box 9"/>
          <p:cNvSpPr txBox="1">
            <a:spLocks noChangeArrowheads="1"/>
          </p:cNvSpPr>
          <p:nvPr/>
        </p:nvSpPr>
        <p:spPr bwMode="auto">
          <a:xfrm>
            <a:off x="1731964" y="2179638"/>
            <a:ext cx="877728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6858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The RIPR model from chapter 2: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Reachability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: The test causes the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faulty statement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to be reached (in mutation – the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mutated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statement)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Infection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: The test causes the faulty statement to result in an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incorrect state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Propagation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: The incorrect state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propagates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to incorrect output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i="1" dirty="0" err="1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Revealability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: The tester must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observe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part of the incorrect output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The RIPR model leads to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two variants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of mutation coverage …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animBg="1"/>
      <p:bldP spid="259081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5218C3B-0B92-4662-99F6-5593330F952E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10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350" y="90488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Syntax-Based Coverage Criteria</a:t>
            </a:r>
          </a:p>
        </p:txBody>
      </p:sp>
      <p:sp>
        <p:nvSpPr>
          <p:cNvPr id="10246" name="Text Box 4"/>
          <p:cNvSpPr txBox="1">
            <a:spLocks noChangeArrowheads="1"/>
          </p:cNvSpPr>
          <p:nvPr/>
        </p:nvSpPr>
        <p:spPr bwMode="auto">
          <a:xfrm>
            <a:off x="1731964" y="1300164"/>
            <a:ext cx="8777287" cy="476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6858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1) Strongly Killing Mutants: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  Given a mutant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 </a:t>
            </a:r>
            <a:r>
              <a:rPr lang="en-US" altLang="zh-CN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M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for a program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and a test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,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said to 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strongly kill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if and only if the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output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of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on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different from the output of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on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endParaRPr lang="en-US" altLang="zh-CN" sz="2400" b="0" i="1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2) Weakly Killing Mutants: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  Given a mutant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 </a:t>
            </a:r>
            <a:r>
              <a:rPr lang="en-US" altLang="zh-CN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M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that modifies a location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l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in a program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,  and a test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,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said to 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weakly kill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if and only if the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state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of the execution of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on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is different from the state of the execution of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m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  on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immediately after </a:t>
            </a:r>
            <a:r>
              <a:rPr lang="en-US" altLang="zh-CN" sz="2400" b="0" i="1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l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Weakly killing satisfies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reachability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and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infection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, but not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propagation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42A978F-D966-4D3A-B56A-1216A1130108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11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350" y="90488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Weak Mutation</a:t>
            </a:r>
          </a:p>
        </p:txBody>
      </p:sp>
      <p:sp>
        <p:nvSpPr>
          <p:cNvPr id="267267" name="Text Box 3"/>
          <p:cNvSpPr txBox="1">
            <a:spLocks noChangeArrowheads="1"/>
          </p:cNvSpPr>
          <p:nvPr/>
        </p:nvSpPr>
        <p:spPr bwMode="auto">
          <a:xfrm>
            <a:off x="1997075" y="1066801"/>
            <a:ext cx="8262938" cy="8413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Weak Mutation Coverage (WMC)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For each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i="1">
                <a:solidFill>
                  <a:schemeClr val="tx2"/>
                </a:solidFill>
                <a:latin typeface="Gill Sans MT" panose="020B0502020104020203" pitchFamily="34" charset="0"/>
                <a:ea typeface="SimSun" pitchFamily="2" charset="-122"/>
                <a:sym typeface="Symbol" pitchFamily="18" charset="2"/>
              </a:rPr>
              <a:t>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, TR contains exactly one requirement, to weakly kill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67268" name="Text Box 4"/>
          <p:cNvSpPr txBox="1">
            <a:spLocks noChangeArrowheads="1"/>
          </p:cNvSpPr>
          <p:nvPr/>
        </p:nvSpPr>
        <p:spPr bwMode="auto">
          <a:xfrm>
            <a:off x="1731964" y="2179638"/>
            <a:ext cx="877728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6858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“Weak mutation” is so named because it is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easier to kill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mutants under this assumption</a:t>
            </a:r>
          </a:p>
          <a:p>
            <a:pPr lvl="1">
              <a:buFontTx/>
              <a:buChar char="•"/>
            </a:pPr>
            <a:endParaRPr lang="en-US" alt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Weak mutation also requires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less analysis</a:t>
            </a:r>
          </a:p>
          <a:p>
            <a:pPr lvl="1">
              <a:buFontTx/>
              <a:buChar char="•"/>
            </a:pPr>
            <a:endParaRPr lang="en-US" altLang="zh-CN" sz="2400" b="0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  <a:p>
            <a:pPr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A few mutants can be killed under weak mutation but not under strong mutation (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no propagation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)</a:t>
            </a:r>
          </a:p>
          <a:p>
            <a:pPr lvl="1">
              <a:buFontTx/>
              <a:buChar char="•"/>
            </a:pPr>
            <a:endParaRPr lang="en-US" altLang="zh-CN" sz="2400" b="0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  <a:p>
            <a:pPr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Studies have found that test sets that weakly kill all mutants also strongly kill most mutants</a:t>
            </a:r>
            <a:endParaRPr lang="en-US" altLang="zh-CN" sz="2400" b="0" dirty="0">
              <a:solidFill>
                <a:schemeClr val="tx2"/>
              </a:solidFill>
              <a:latin typeface="Gill Sans MT" panose="020B0502020104020203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67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67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nimBg="1" autoUpdateAnimBg="0"/>
      <p:bldP spid="26726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Weak Mutation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351" y="729143"/>
            <a:ext cx="9112481" cy="5930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Mutant </a:t>
            </a:r>
            <a:r>
              <a:rPr lang="en-US" altLang="en-US" dirty="0">
                <a:latin typeface="+mj-lt"/>
              </a:rPr>
              <a:t>1</a:t>
            </a:r>
            <a:r>
              <a:rPr lang="en-US" altLang="en-US" dirty="0"/>
              <a:t> in the Min( ) example is: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084A8-7C81-403E-A485-F8CC0748AFA1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61195" y="1890585"/>
            <a:ext cx="2744787" cy="31700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Min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A,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B)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1 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= B;</a:t>
            </a:r>
            <a:endParaRPr lang="en-US" altLang="zh-CN" sz="1800" dirty="0">
              <a:solidFill>
                <a:schemeClr val="tx1"/>
              </a:solidFill>
              <a:latin typeface="Helvetica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if (B &lt; A)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B; 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}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return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);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} // end Min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809828" y="1606378"/>
            <a:ext cx="5598681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0" indent="0"/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With one or two partners 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Find a test that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weakly kills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the mutant, but not strongly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Generalize : What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must be true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to weakly kill the mutant,  but not strongly?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Try to write down the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conditions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needed to (</a:t>
            </a:r>
            <a:r>
              <a:rPr lang="en-US" altLang="zh-CN" sz="2800" b="0" dirty="0" err="1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i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)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reach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the mutated statement, (ii)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infect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the program state, and (iii)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propagate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to output</a:t>
            </a:r>
          </a:p>
        </p:txBody>
      </p:sp>
    </p:spTree>
    <p:extLst>
      <p:ext uri="{BB962C8B-B14F-4D97-AF65-F5344CB8AC3E}">
        <p14:creationId xmlns:p14="http://schemas.microsoft.com/office/powerpoint/2010/main" val="38720396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CF49129-BF14-4759-B64F-C8914E8D7895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13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350" y="90488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Weak Mutation Example</a:t>
            </a:r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1824542" y="777292"/>
            <a:ext cx="2357437" cy="1263650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1 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= B;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if (B &lt; A)</a:t>
            </a:r>
          </a:p>
          <a:p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  </a:t>
            </a:r>
            <a:r>
              <a:rPr lang="en-US" altLang="zh-CN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B;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731962" y="2150995"/>
            <a:ext cx="87772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Generalize : What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must be true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to weakly kill the mutant,  but not strongly?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008273" y="4331461"/>
            <a:ext cx="5547559" cy="512930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Reachability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true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// we always reach 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2008273" y="5007183"/>
            <a:ext cx="6709481" cy="512930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Infection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</a:t>
            </a:r>
            <a:r>
              <a:rPr lang="en-US" altLang="en-US" sz="28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 ≠ B  // </a:t>
            </a:r>
            <a:r>
              <a:rPr lang="en-US" altLang="en-US" sz="28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minVal</a:t>
            </a:r>
            <a:r>
              <a:rPr lang="en-US" altLang="en-US" sz="28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has a different value</a:t>
            </a:r>
            <a:endParaRPr lang="en-US" sz="2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008272" y="5682904"/>
            <a:ext cx="7637044" cy="512930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Propagation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(</a:t>
            </a:r>
            <a:r>
              <a:rPr lang="en-US" altLang="en-US" sz="28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B &lt; A) = false // Take a different branch</a:t>
            </a:r>
            <a:endParaRPr lang="en-US" sz="2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4290679" y="805832"/>
            <a:ext cx="621857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Find a test that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weakly kills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the mutant, but not strongly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731962" y="3733368"/>
            <a:ext cx="87772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RIP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conditions</a:t>
            </a:r>
            <a:endParaRPr lang="en-US" altLang="zh-CN" sz="2800" b="0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5644817" y="1759938"/>
            <a:ext cx="2026318" cy="512930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A = 5, B = 3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2799849" y="3099990"/>
            <a:ext cx="5917905" cy="512930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B &lt; A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// </a:t>
            </a:r>
            <a:r>
              <a:rPr lang="en-US" sz="2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minVal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is set to B on for both</a:t>
            </a:r>
          </a:p>
        </p:txBody>
      </p:sp>
    </p:spTree>
    <p:extLst>
      <p:ext uri="{BB962C8B-B14F-4D97-AF65-F5344CB8AC3E}">
        <p14:creationId xmlns:p14="http://schemas.microsoft.com/office/powerpoint/2010/main" val="564759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DFE839A-B23F-4370-8C3A-76EC865F818E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14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ea typeface="宋体" pitchFamily="2" charset="-122"/>
              </a:rPr>
              <a:t>Equivalent Mutation Example</a:t>
            </a:r>
            <a:endParaRPr lang="en-US" altLang="en-US" sz="3200">
              <a:ea typeface="宋体" pitchFamily="2" charset="-122"/>
            </a:endParaRP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90600"/>
            <a:ext cx="8867775" cy="6429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Mutant 3 in the Min() example is equivalent: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056146" y="1849952"/>
            <a:ext cx="561185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0" indent="0"/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With one or two partners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Convince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yourselves that this mutant is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equivalent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Briefly explain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why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Try to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prove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the equivalence</a:t>
            </a:r>
          </a:p>
          <a:p>
            <a:pPr marL="0" indent="0"/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     Hint : Think about what must be true to kill the mutant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959673" y="2039421"/>
            <a:ext cx="2744787" cy="31393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Min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A,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B)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if (B &lt; A)</a:t>
            </a:r>
          </a:p>
          <a:p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 3   if (B &lt;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)</a:t>
            </a:r>
            <a:endParaRPr lang="en-US" altLang="zh-CN" sz="1800" dirty="0">
              <a:solidFill>
                <a:schemeClr val="tx1"/>
              </a:solidFill>
              <a:latin typeface="Helvetica" charset="0"/>
              <a:ea typeface="宋体" pitchFamily="2" charset="-122"/>
            </a:endParaRP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B; 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}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  return (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);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} // end Min</a:t>
            </a:r>
          </a:p>
        </p:txBody>
      </p:sp>
    </p:spTree>
    <p:extLst>
      <p:ext uri="{BB962C8B-B14F-4D97-AF65-F5344CB8AC3E}">
        <p14:creationId xmlns:p14="http://schemas.microsoft.com/office/powerpoint/2010/main" val="41328870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DFE839A-B23F-4370-8C3A-76EC865F818E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15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ea typeface="宋体" pitchFamily="2" charset="-122"/>
              </a:rPr>
              <a:t>Equivalent Mutation Example</a:t>
            </a:r>
            <a:endParaRPr lang="en-US" altLang="en-US" sz="3200">
              <a:ea typeface="宋体" pitchFamily="2" charset="-122"/>
            </a:endParaRPr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1816188" y="855768"/>
            <a:ext cx="2357437" cy="958850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</a:t>
            </a:r>
            <a:r>
              <a:rPr lang="en-US" altLang="zh-CN" sz="1800" dirty="0" err="1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= A;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Helvetica" charset="0"/>
                <a:ea typeface="宋体" pitchFamily="2" charset="-122"/>
              </a:rPr>
              <a:t>       if (B &lt; A)</a:t>
            </a:r>
          </a:p>
          <a:p>
            <a:r>
              <a:rPr lang="en-US" altLang="zh-CN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 3  if (B &lt; </a:t>
            </a:r>
            <a:r>
              <a:rPr lang="en-US" altLang="zh-CN" sz="1800" dirty="0" err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minVal</a:t>
            </a:r>
            <a:r>
              <a:rPr lang="en-US" altLang="zh-CN" sz="18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)</a:t>
            </a:r>
            <a:endParaRPr lang="en-US" altLang="zh-CN" dirty="0">
              <a:solidFill>
                <a:schemeClr val="tx1"/>
              </a:solidFill>
              <a:latin typeface="Helvetica" charset="0"/>
              <a:ea typeface="宋体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731963" y="1823982"/>
            <a:ext cx="87772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Convince</a:t>
            </a:r>
            <a:r>
              <a:rPr lang="en-US" alt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yourselves that this mutant is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equivalent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Briefly explain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why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731963" y="3662228"/>
            <a:ext cx="87772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Try to </a:t>
            </a:r>
            <a:r>
              <a:rPr lang="en-US" altLang="zh-CN" sz="28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prove</a:t>
            </a:r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the equivalence</a:t>
            </a:r>
          </a:p>
          <a:p>
            <a:pPr marL="0" indent="0"/>
            <a:r>
              <a:rPr lang="en-US" altLang="zh-CN" sz="28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      Hint : Think about what must be true to kill the mutant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2417766" y="2783838"/>
            <a:ext cx="6580772" cy="902454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A 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and </a:t>
            </a:r>
            <a:r>
              <a:rPr lang="en-US" sz="2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minVal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have the same value at the mutated statement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2417766" y="4588176"/>
            <a:ext cx="6580772" cy="1920908"/>
          </a:xfrm>
          <a:prstGeom prst="roundRect">
            <a:avLst/>
          </a:prstGeom>
          <a:solidFill>
            <a:srgbClr val="0066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Infection : </a:t>
            </a:r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(B &lt; A) != (B &lt; </a:t>
            </a:r>
            <a:r>
              <a:rPr lang="en-US" sz="2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minVal</a:t>
            </a:r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)</a:t>
            </a:r>
          </a:p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Previous statement : </a:t>
            </a:r>
            <a:r>
              <a:rPr lang="en-US" sz="2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minVal</a:t>
            </a:r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 = A</a:t>
            </a:r>
          </a:p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Substitute : </a:t>
            </a:r>
            <a:r>
              <a:rPr lang="en-US" sz="2800" b="0" dirty="0">
                <a:solidFill>
                  <a:schemeClr val="tx2"/>
                </a:solidFill>
                <a:latin typeface="Gill Sans MT" panose="020B0502020104020203" pitchFamily="34" charset="0"/>
              </a:rPr>
              <a:t>(B &lt; A) != (B &lt; A)</a:t>
            </a:r>
          </a:p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Contradiction … therefore, </a:t>
            </a:r>
            <a:r>
              <a:rPr lang="en-US" sz="3200" dirty="0">
                <a:solidFill>
                  <a:schemeClr val="tx2"/>
                </a:solidFill>
                <a:latin typeface="Gill Sans MT" panose="020B0502020104020203" pitchFamily="34" charset="0"/>
              </a:rPr>
              <a:t>equivalent</a:t>
            </a:r>
            <a:endParaRPr lang="en-US" sz="2800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766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1BBCDE2-2F06-438E-9CE2-A728AF223D07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16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8150" y="1149351"/>
            <a:ext cx="5632450" cy="3884613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1     </a:t>
            </a:r>
            <a:r>
              <a:rPr lang="en-US" altLang="zh-CN" sz="2000" dirty="0" err="1">
                <a:latin typeface="Helvetica" charset="0"/>
                <a:ea typeface="宋体" pitchFamily="2" charset="-122"/>
              </a:rPr>
              <a:t>boolean</a:t>
            </a:r>
            <a:r>
              <a:rPr lang="en-US" altLang="zh-CN" sz="2000" dirty="0">
                <a:latin typeface="Helvetica" charset="0"/>
                <a:ea typeface="宋体" pitchFamily="2" charset="-122"/>
              </a:rPr>
              <a:t> </a:t>
            </a:r>
            <a:r>
              <a:rPr lang="en-US" altLang="zh-CN" sz="2000" dirty="0" err="1">
                <a:latin typeface="Helvetica" charset="0"/>
                <a:ea typeface="宋体" pitchFamily="2" charset="-122"/>
              </a:rPr>
              <a:t>isEven</a:t>
            </a:r>
            <a:r>
              <a:rPr lang="en-US" altLang="zh-CN" sz="2000" dirty="0">
                <a:latin typeface="Helvetica" charset="0"/>
                <a:ea typeface="宋体" pitchFamily="2" charset="-122"/>
              </a:rPr>
              <a:t> (</a:t>
            </a:r>
            <a:r>
              <a:rPr lang="en-US" altLang="zh-CN" sz="2000" dirty="0" err="1">
                <a:latin typeface="Helvetica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Helvetica" charset="0"/>
                <a:ea typeface="宋体" pitchFamily="2" charset="-122"/>
              </a:rPr>
              <a:t> X)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2     {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3          if (X &lt; 0)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4               X = 0 - X;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∆</a:t>
            </a:r>
            <a:r>
              <a:rPr lang="en-US" altLang="zh-CN" sz="2000" dirty="0">
                <a:latin typeface="Helvetica" charset="0"/>
                <a:ea typeface="宋体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4            X = 0;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5           if (double) (X/2) == ((double) X) / 2.0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6               return (true);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7           else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8               return (false);</a:t>
            </a:r>
          </a:p>
          <a:p>
            <a:pPr>
              <a:buFontTx/>
              <a:buNone/>
            </a:pPr>
            <a:r>
              <a:rPr lang="en-US" altLang="zh-CN" sz="2000" dirty="0">
                <a:latin typeface="Helvetica" charset="0"/>
                <a:ea typeface="宋体" pitchFamily="2" charset="-122"/>
              </a:rPr>
              <a:t>9     }</a:t>
            </a:r>
            <a:endParaRPr lang="zh-CN" altLang="en-US" sz="2000" dirty="0">
              <a:latin typeface="Helvetica" charset="0"/>
              <a:ea typeface="宋体" pitchFamily="2" charset="-122"/>
            </a:endParaRPr>
          </a:p>
        </p:txBody>
      </p:sp>
      <p:sp>
        <p:nvSpPr>
          <p:cNvPr id="1434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Strong Versus Weak Mutation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841750" y="1577975"/>
            <a:ext cx="6343650" cy="1239838"/>
            <a:chOff x="784" y="1001"/>
            <a:chExt cx="3996" cy="781"/>
          </a:xfrm>
        </p:grpSpPr>
        <p:sp>
          <p:nvSpPr>
            <p:cNvPr id="264199" name="Text Box 7"/>
            <p:cNvSpPr txBox="1">
              <a:spLocks noChangeArrowheads="1"/>
            </p:cNvSpPr>
            <p:nvPr/>
          </p:nvSpPr>
          <p:spPr bwMode="auto">
            <a:xfrm>
              <a:off x="3218" y="1001"/>
              <a:ext cx="1562" cy="258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0" u="sng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Reachability</a:t>
              </a:r>
              <a:r>
                <a:rPr lang="en-US" b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 : X &lt; 0</a:t>
              </a:r>
            </a:p>
          </p:txBody>
        </p:sp>
        <p:sp>
          <p:nvSpPr>
            <p:cNvPr id="14352" name="Line 8"/>
            <p:cNvSpPr>
              <a:spLocks noChangeShapeType="1"/>
            </p:cNvSpPr>
            <p:nvPr/>
          </p:nvSpPr>
          <p:spPr bwMode="auto">
            <a:xfrm flipH="1">
              <a:off x="784" y="1044"/>
              <a:ext cx="2426" cy="7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895726" y="2262189"/>
            <a:ext cx="6194425" cy="523875"/>
            <a:chOff x="1025" y="1425"/>
            <a:chExt cx="3902" cy="330"/>
          </a:xfrm>
        </p:grpSpPr>
        <p:sp>
          <p:nvSpPr>
            <p:cNvPr id="14349" name="Line 10"/>
            <p:cNvSpPr>
              <a:spLocks noChangeShapeType="1"/>
            </p:cNvSpPr>
            <p:nvPr/>
          </p:nvSpPr>
          <p:spPr bwMode="auto">
            <a:xfrm flipH="1">
              <a:off x="1025" y="1491"/>
              <a:ext cx="2337" cy="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264203" name="Text Box 11"/>
            <p:cNvSpPr txBox="1">
              <a:spLocks noChangeArrowheads="1"/>
            </p:cNvSpPr>
            <p:nvPr/>
          </p:nvSpPr>
          <p:spPr bwMode="auto">
            <a:xfrm>
              <a:off x="3365" y="1425"/>
              <a:ext cx="1562" cy="258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0" u="sng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Infection</a:t>
              </a:r>
              <a:r>
                <a:rPr lang="en-US" b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 : X != 0</a:t>
              </a:r>
            </a:p>
          </p:txBody>
        </p:sp>
      </p:grpSp>
      <p:sp>
        <p:nvSpPr>
          <p:cNvPr id="264204" name="Text Box 12"/>
          <p:cNvSpPr txBox="1">
            <a:spLocks noChangeArrowheads="1"/>
          </p:cNvSpPr>
          <p:nvPr/>
        </p:nvSpPr>
        <p:spPr bwMode="auto">
          <a:xfrm>
            <a:off x="7604126" y="2936875"/>
            <a:ext cx="2811463" cy="707886"/>
          </a:xfrm>
          <a:prstGeom prst="rect">
            <a:avLst/>
          </a:prstGeom>
          <a:solidFill>
            <a:srgbClr val="0033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(X = -6) will kill mutant 4 under </a:t>
            </a:r>
            <a:r>
              <a:rPr lang="en-US" b="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weak mutation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4838701" y="3519488"/>
            <a:ext cx="5573713" cy="2940050"/>
            <a:chOff x="2088" y="2217"/>
            <a:chExt cx="3511" cy="1852"/>
          </a:xfrm>
        </p:grpSpPr>
        <p:sp>
          <p:nvSpPr>
            <p:cNvPr id="14347" name="Line 9"/>
            <p:cNvSpPr>
              <a:spLocks noChangeShapeType="1"/>
            </p:cNvSpPr>
            <p:nvPr/>
          </p:nvSpPr>
          <p:spPr bwMode="auto">
            <a:xfrm flipH="1" flipV="1">
              <a:off x="2088" y="2217"/>
              <a:ext cx="835" cy="5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264205" name="Text Box 13"/>
            <p:cNvSpPr txBox="1">
              <a:spLocks noChangeArrowheads="1"/>
            </p:cNvSpPr>
            <p:nvPr/>
          </p:nvSpPr>
          <p:spPr bwMode="auto">
            <a:xfrm>
              <a:off x="2277" y="2467"/>
              <a:ext cx="3322" cy="1602"/>
            </a:xfrm>
            <a:prstGeom prst="rect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b="0" u="sng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Propagation</a:t>
              </a:r>
              <a:r>
                <a:rPr lang="en-US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 :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((double) ((0-X)/2) == ((double) 0-X) / 2.0)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!=   ((double) (0/2) == ((double) 0) / 2.0)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That is, X is </a:t>
              </a:r>
              <a:r>
                <a:rPr lang="en-US" altLang="zh-CN" b="0" u="sng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not</a:t>
              </a: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 even …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Thus (X = -6) does </a:t>
              </a:r>
              <a:r>
                <a:rPr lang="en-US" altLang="zh-CN" b="0" i="1" u="sng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not</a:t>
              </a:r>
              <a:r>
                <a:rPr lang="en-US" altLang="zh-CN" b="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  <a:ea typeface="SimSun" pitchFamily="2" charset="-122"/>
                </a:rPr>
                <a:t> kill the mutant under strong mutation</a:t>
              </a:r>
              <a:endPara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C863F93-73EE-4BE0-BB20-060030C15AD2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17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4300539" y="995363"/>
            <a:ext cx="6264275" cy="4857750"/>
            <a:chOff x="1749" y="627"/>
            <a:chExt cx="3946" cy="3060"/>
          </a:xfrm>
        </p:grpSpPr>
        <p:sp>
          <p:nvSpPr>
            <p:cNvPr id="15416" name="AutoShape 42"/>
            <p:cNvSpPr>
              <a:spLocks noChangeArrowheads="1"/>
            </p:cNvSpPr>
            <p:nvPr/>
          </p:nvSpPr>
          <p:spPr bwMode="auto">
            <a:xfrm flipV="1">
              <a:off x="1749" y="627"/>
              <a:ext cx="3946" cy="3060"/>
            </a:xfrm>
            <a:prstGeom prst="flowChartPunchedCard">
              <a:avLst/>
            </a:prstGeom>
            <a:solidFill>
              <a:srgbClr val="0033CC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 b="0">
                <a:latin typeface="Gill Sans MT" panose="020B0502020104020203" pitchFamily="34" charset="0"/>
              </a:endParaRPr>
            </a:p>
          </p:txBody>
        </p:sp>
        <p:sp>
          <p:nvSpPr>
            <p:cNvPr id="279595" name="Text Box 43"/>
            <p:cNvSpPr txBox="1">
              <a:spLocks noChangeArrowheads="1"/>
            </p:cNvSpPr>
            <p:nvPr/>
          </p:nvSpPr>
          <p:spPr bwMode="auto">
            <a:xfrm>
              <a:off x="2009" y="1829"/>
              <a:ext cx="908" cy="45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b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 MT" panose="020B0502020104020203" pitchFamily="34" charset="0"/>
                </a:rPr>
                <a:t>Automated steps</a:t>
              </a:r>
            </a:p>
          </p:txBody>
        </p:sp>
      </p:grpSp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Programs with Mutation</a:t>
            </a:r>
          </a:p>
        </p:txBody>
      </p:sp>
      <p:sp>
        <p:nvSpPr>
          <p:cNvPr id="15367" name="Text Box 4"/>
          <p:cNvSpPr txBox="1">
            <a:spLocks noChangeArrowheads="1"/>
          </p:cNvSpPr>
          <p:nvPr/>
        </p:nvSpPr>
        <p:spPr bwMode="auto">
          <a:xfrm>
            <a:off x="2852739" y="1222375"/>
            <a:ext cx="1279525" cy="707886"/>
          </a:xfrm>
          <a:prstGeom prst="rect">
            <a:avLst/>
          </a:prstGeom>
          <a:solidFill>
            <a:srgbClr val="0000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Input test method</a:t>
            </a:r>
          </a:p>
        </p:txBody>
      </p:sp>
      <p:sp>
        <p:nvSpPr>
          <p:cNvPr id="15368" name="Text Box 5"/>
          <p:cNvSpPr txBox="1">
            <a:spLocks noChangeArrowheads="1"/>
          </p:cNvSpPr>
          <p:nvPr/>
        </p:nvSpPr>
        <p:spPr bwMode="auto">
          <a:xfrm>
            <a:off x="1668464" y="1222376"/>
            <a:ext cx="833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0">
                <a:solidFill>
                  <a:schemeClr val="tx1"/>
                </a:solidFill>
                <a:latin typeface="Gill Sans MT" panose="020B0502020104020203" pitchFamily="34" charset="0"/>
              </a:rPr>
              <a:t>Prog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4132263" y="1222376"/>
            <a:ext cx="1473200" cy="708025"/>
            <a:chOff x="1643" y="770"/>
            <a:chExt cx="928" cy="446"/>
          </a:xfrm>
        </p:grpSpPr>
        <p:sp>
          <p:nvSpPr>
            <p:cNvPr id="15414" name="Text Box 6"/>
            <p:cNvSpPr txBox="1">
              <a:spLocks noChangeArrowheads="1"/>
            </p:cNvSpPr>
            <p:nvPr/>
          </p:nvSpPr>
          <p:spPr bwMode="auto">
            <a:xfrm>
              <a:off x="1866" y="770"/>
              <a:ext cx="705" cy="446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Create mutants</a:t>
              </a:r>
            </a:p>
          </p:txBody>
        </p:sp>
        <p:sp>
          <p:nvSpPr>
            <p:cNvPr id="15415" name="Line 26"/>
            <p:cNvSpPr>
              <a:spLocks noChangeShapeType="1"/>
            </p:cNvSpPr>
            <p:nvPr/>
          </p:nvSpPr>
          <p:spPr bwMode="auto">
            <a:xfrm>
              <a:off x="1643" y="1000"/>
              <a:ext cx="2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9123363" y="1222375"/>
            <a:ext cx="1358900" cy="730250"/>
            <a:chOff x="4787" y="770"/>
            <a:chExt cx="856" cy="460"/>
          </a:xfrm>
        </p:grpSpPr>
        <p:sp>
          <p:nvSpPr>
            <p:cNvPr id="15412" name="Text Box 9"/>
            <p:cNvSpPr txBox="1">
              <a:spLocks noChangeArrowheads="1"/>
            </p:cNvSpPr>
            <p:nvPr/>
          </p:nvSpPr>
          <p:spPr bwMode="auto">
            <a:xfrm>
              <a:off x="5010" y="770"/>
              <a:ext cx="633" cy="460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Run T on P</a:t>
              </a:r>
            </a:p>
          </p:txBody>
        </p:sp>
        <p:sp>
          <p:nvSpPr>
            <p:cNvPr id="15413" name="Line 27"/>
            <p:cNvSpPr>
              <a:spLocks noChangeShapeType="1"/>
            </p:cNvSpPr>
            <p:nvPr/>
          </p:nvSpPr>
          <p:spPr bwMode="auto">
            <a:xfrm>
              <a:off x="4787" y="1000"/>
              <a:ext cx="22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8609013" y="1943101"/>
            <a:ext cx="1873250" cy="1933575"/>
            <a:chOff x="4463" y="1224"/>
            <a:chExt cx="1180" cy="1218"/>
          </a:xfrm>
        </p:grpSpPr>
        <p:sp>
          <p:nvSpPr>
            <p:cNvPr id="15410" name="Text Box 10"/>
            <p:cNvSpPr txBox="1">
              <a:spLocks noChangeArrowheads="1"/>
            </p:cNvSpPr>
            <p:nvPr/>
          </p:nvSpPr>
          <p:spPr bwMode="auto">
            <a:xfrm>
              <a:off x="4463" y="1550"/>
              <a:ext cx="1180" cy="892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Run mutants: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  <a:buFontTx/>
                <a:buChar char="•"/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 schema-based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  <a:buFontTx/>
                <a:buChar char="•"/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 weak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  <a:buFontTx/>
                <a:buChar char="•"/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 selective</a:t>
              </a:r>
            </a:p>
          </p:txBody>
        </p:sp>
        <p:sp>
          <p:nvSpPr>
            <p:cNvPr id="15411" name="Line 30"/>
            <p:cNvSpPr>
              <a:spLocks noChangeShapeType="1"/>
            </p:cNvSpPr>
            <p:nvPr/>
          </p:nvSpPr>
          <p:spPr bwMode="auto">
            <a:xfrm flipH="1">
              <a:off x="5054" y="1224"/>
              <a:ext cx="231" cy="3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8872538" y="3897314"/>
            <a:ext cx="1382712" cy="1423987"/>
            <a:chOff x="4629" y="2455"/>
            <a:chExt cx="871" cy="897"/>
          </a:xfrm>
        </p:grpSpPr>
        <p:sp>
          <p:nvSpPr>
            <p:cNvPr id="15408" name="Text Box 11"/>
            <p:cNvSpPr txBox="1">
              <a:spLocks noChangeArrowheads="1"/>
            </p:cNvSpPr>
            <p:nvPr/>
          </p:nvSpPr>
          <p:spPr bwMode="auto">
            <a:xfrm>
              <a:off x="4629" y="2700"/>
              <a:ext cx="871" cy="652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Eliminate ineffective TCs</a:t>
              </a:r>
            </a:p>
          </p:txBody>
        </p:sp>
        <p:sp>
          <p:nvSpPr>
            <p:cNvPr id="15409" name="Line 31"/>
            <p:cNvSpPr>
              <a:spLocks noChangeShapeType="1"/>
            </p:cNvSpPr>
            <p:nvPr/>
          </p:nvSpPr>
          <p:spPr bwMode="auto">
            <a:xfrm>
              <a:off x="5069" y="2455"/>
              <a:ext cx="0" cy="24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7524751" y="1222376"/>
            <a:ext cx="1598613" cy="708025"/>
            <a:chOff x="3780" y="770"/>
            <a:chExt cx="1007" cy="446"/>
          </a:xfrm>
        </p:grpSpPr>
        <p:sp>
          <p:nvSpPr>
            <p:cNvPr id="15406" name="Text Box 8"/>
            <p:cNvSpPr txBox="1">
              <a:spLocks noChangeArrowheads="1"/>
            </p:cNvSpPr>
            <p:nvPr/>
          </p:nvSpPr>
          <p:spPr bwMode="auto">
            <a:xfrm>
              <a:off x="4002" y="770"/>
              <a:ext cx="785" cy="446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Generate test cases</a:t>
              </a:r>
            </a:p>
          </p:txBody>
        </p:sp>
        <p:sp>
          <p:nvSpPr>
            <p:cNvPr id="15407" name="Line 28"/>
            <p:cNvSpPr>
              <a:spLocks noChangeShapeType="1"/>
            </p:cNvSpPr>
            <p:nvPr/>
          </p:nvSpPr>
          <p:spPr bwMode="auto">
            <a:xfrm>
              <a:off x="3780" y="1000"/>
              <a:ext cx="22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5605464" y="1222375"/>
            <a:ext cx="1920875" cy="1035050"/>
            <a:chOff x="2571" y="770"/>
            <a:chExt cx="1210" cy="652"/>
          </a:xfrm>
        </p:grpSpPr>
        <p:sp>
          <p:nvSpPr>
            <p:cNvPr id="15404" name="Line 29"/>
            <p:cNvSpPr>
              <a:spLocks noChangeShapeType="1"/>
            </p:cNvSpPr>
            <p:nvPr/>
          </p:nvSpPr>
          <p:spPr bwMode="auto">
            <a:xfrm>
              <a:off x="2571" y="1000"/>
              <a:ext cx="223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15405" name="Text Box 7"/>
            <p:cNvSpPr txBox="1">
              <a:spLocks noChangeArrowheads="1"/>
            </p:cNvSpPr>
            <p:nvPr/>
          </p:nvSpPr>
          <p:spPr bwMode="auto">
            <a:xfrm>
              <a:off x="2795" y="770"/>
              <a:ext cx="986" cy="652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Run equivalence detector</a:t>
              </a:r>
            </a:p>
          </p:txBody>
        </p:sp>
      </p:grpSp>
      <p:grpSp>
        <p:nvGrpSpPr>
          <p:cNvPr id="9" name="Group 52"/>
          <p:cNvGrpSpPr>
            <a:grpSpLocks/>
          </p:cNvGrpSpPr>
          <p:nvPr/>
        </p:nvGrpSpPr>
        <p:grpSpPr bwMode="auto">
          <a:xfrm>
            <a:off x="5921376" y="3946525"/>
            <a:ext cx="2936875" cy="1714500"/>
            <a:chOff x="2770" y="2486"/>
            <a:chExt cx="1850" cy="1080"/>
          </a:xfrm>
        </p:grpSpPr>
        <p:sp>
          <p:nvSpPr>
            <p:cNvPr id="15400" name="Line 32"/>
            <p:cNvSpPr>
              <a:spLocks noChangeShapeType="1"/>
            </p:cNvSpPr>
            <p:nvPr/>
          </p:nvSpPr>
          <p:spPr bwMode="auto">
            <a:xfrm>
              <a:off x="3815" y="3026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grpSp>
          <p:nvGrpSpPr>
            <p:cNvPr id="15401" name="Group 25"/>
            <p:cNvGrpSpPr>
              <a:grpSpLocks/>
            </p:cNvGrpSpPr>
            <p:nvPr/>
          </p:nvGrpSpPr>
          <p:grpSpPr bwMode="auto">
            <a:xfrm>
              <a:off x="2770" y="2486"/>
              <a:ext cx="1037" cy="1080"/>
              <a:chOff x="3110" y="2486"/>
              <a:chExt cx="1037" cy="1080"/>
            </a:xfrm>
          </p:grpSpPr>
          <p:sp>
            <p:nvSpPr>
              <p:cNvPr id="15402" name="AutoShape 19"/>
              <p:cNvSpPr>
                <a:spLocks noChangeArrowheads="1"/>
              </p:cNvSpPr>
              <p:nvPr/>
            </p:nvSpPr>
            <p:spPr bwMode="auto">
              <a:xfrm>
                <a:off x="3110" y="2486"/>
                <a:ext cx="1037" cy="1080"/>
              </a:xfrm>
              <a:prstGeom prst="diamond">
                <a:avLst/>
              </a:prstGeom>
              <a:solidFill>
                <a:srgbClr val="0000FF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endParaRPr lang="en-US" altLang="en-US" b="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403" name="Text Box 16"/>
              <p:cNvSpPr txBox="1">
                <a:spLocks noChangeArrowheads="1"/>
              </p:cNvSpPr>
              <p:nvPr/>
            </p:nvSpPr>
            <p:spPr bwMode="auto">
              <a:xfrm>
                <a:off x="3212" y="2793"/>
                <a:ext cx="83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b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Threshold   reached   ?</a:t>
                </a:r>
              </a:p>
            </p:txBody>
          </p:sp>
        </p:grpSp>
      </p:grpSp>
      <p:grpSp>
        <p:nvGrpSpPr>
          <p:cNvPr id="11" name="Group 55"/>
          <p:cNvGrpSpPr>
            <a:grpSpLocks/>
          </p:cNvGrpSpPr>
          <p:nvPr/>
        </p:nvGrpSpPr>
        <p:grpSpPr bwMode="auto">
          <a:xfrm>
            <a:off x="2381251" y="1703389"/>
            <a:ext cx="468313" cy="3875087"/>
            <a:chOff x="540" y="1073"/>
            <a:chExt cx="295" cy="2441"/>
          </a:xfrm>
        </p:grpSpPr>
        <p:sp>
          <p:nvSpPr>
            <p:cNvPr id="15398" name="Line 37"/>
            <p:cNvSpPr>
              <a:spLocks noChangeShapeType="1"/>
            </p:cNvSpPr>
            <p:nvPr/>
          </p:nvSpPr>
          <p:spPr bwMode="auto">
            <a:xfrm>
              <a:off x="545" y="1073"/>
              <a:ext cx="0" cy="24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15399" name="Line 38"/>
            <p:cNvSpPr>
              <a:spLocks noChangeShapeType="1"/>
            </p:cNvSpPr>
            <p:nvPr/>
          </p:nvSpPr>
          <p:spPr bwMode="auto">
            <a:xfrm>
              <a:off x="540" y="107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sp>
        <p:nvSpPr>
          <p:cNvPr id="15377" name="Line 39"/>
          <p:cNvSpPr>
            <a:spLocks noChangeShapeType="1"/>
          </p:cNvSpPr>
          <p:nvPr/>
        </p:nvSpPr>
        <p:spPr bwMode="auto">
          <a:xfrm>
            <a:off x="2381251" y="1455738"/>
            <a:ext cx="4683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 MT" panose="020B0502020104020203" pitchFamily="34" charset="0"/>
            </a:endParaRPr>
          </a:p>
        </p:txBody>
      </p:sp>
      <p:grpSp>
        <p:nvGrpSpPr>
          <p:cNvPr id="12" name="Group 56"/>
          <p:cNvGrpSpPr>
            <a:grpSpLocks/>
          </p:cNvGrpSpPr>
          <p:nvPr/>
        </p:nvGrpSpPr>
        <p:grpSpPr bwMode="auto">
          <a:xfrm>
            <a:off x="2851150" y="2516189"/>
            <a:ext cx="3049588" cy="2287587"/>
            <a:chOff x="836" y="1585"/>
            <a:chExt cx="1921" cy="1441"/>
          </a:xfrm>
        </p:grpSpPr>
        <p:sp>
          <p:nvSpPr>
            <p:cNvPr id="15395" name="Text Box 12"/>
            <p:cNvSpPr txBox="1">
              <a:spLocks noChangeArrowheads="1"/>
            </p:cNvSpPr>
            <p:nvPr/>
          </p:nvSpPr>
          <p:spPr bwMode="auto">
            <a:xfrm>
              <a:off x="836" y="1585"/>
              <a:ext cx="806" cy="446"/>
            </a:xfrm>
            <a:prstGeom prst="rect">
              <a:avLst/>
            </a:prstGeom>
            <a:solidFill>
              <a:srgbClr val="0000FF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Define threshold</a:t>
              </a:r>
            </a:p>
          </p:txBody>
        </p:sp>
        <p:sp>
          <p:nvSpPr>
            <p:cNvPr id="15396" name="Line 44"/>
            <p:cNvSpPr>
              <a:spLocks noChangeShapeType="1"/>
            </p:cNvSpPr>
            <p:nvPr/>
          </p:nvSpPr>
          <p:spPr bwMode="auto">
            <a:xfrm flipH="1">
              <a:off x="1238" y="3026"/>
              <a:ext cx="1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15397" name="Line 45"/>
            <p:cNvSpPr>
              <a:spLocks noChangeShapeType="1"/>
            </p:cNvSpPr>
            <p:nvPr/>
          </p:nvSpPr>
          <p:spPr bwMode="auto">
            <a:xfrm flipV="1">
              <a:off x="1239" y="2040"/>
              <a:ext cx="0" cy="9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</p:grpSp>
      <p:grpSp>
        <p:nvGrpSpPr>
          <p:cNvPr id="13" name="Group 66"/>
          <p:cNvGrpSpPr>
            <a:grpSpLocks/>
          </p:cNvGrpSpPr>
          <p:nvPr/>
        </p:nvGrpSpPr>
        <p:grpSpPr bwMode="auto">
          <a:xfrm>
            <a:off x="6745289" y="1982789"/>
            <a:ext cx="1481137" cy="1958975"/>
            <a:chOff x="3289" y="1249"/>
            <a:chExt cx="933" cy="1234"/>
          </a:xfrm>
        </p:grpSpPr>
        <p:sp>
          <p:nvSpPr>
            <p:cNvPr id="15393" name="Line 33"/>
            <p:cNvSpPr>
              <a:spLocks noChangeShapeType="1"/>
            </p:cNvSpPr>
            <p:nvPr/>
          </p:nvSpPr>
          <p:spPr bwMode="auto">
            <a:xfrm flipV="1">
              <a:off x="3289" y="1249"/>
              <a:ext cx="933" cy="123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 MT" panose="020B0502020104020203" pitchFamily="34" charset="0"/>
              </a:endParaRPr>
            </a:p>
          </p:txBody>
        </p:sp>
        <p:sp>
          <p:nvSpPr>
            <p:cNvPr id="15394" name="Text Box 60"/>
            <p:cNvSpPr txBox="1">
              <a:spLocks noChangeArrowheads="1"/>
            </p:cNvSpPr>
            <p:nvPr/>
          </p:nvSpPr>
          <p:spPr bwMode="auto">
            <a:xfrm>
              <a:off x="3325" y="2218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i="1">
                  <a:latin typeface="Gill Sans MT" panose="020B0502020104020203" pitchFamily="34" charset="0"/>
                </a:rPr>
                <a:t>no</a:t>
              </a:r>
            </a:p>
          </p:txBody>
        </p:sp>
      </p:grpSp>
      <p:grpSp>
        <p:nvGrpSpPr>
          <p:cNvPr id="14" name="Group 64"/>
          <p:cNvGrpSpPr>
            <a:grpSpLocks/>
          </p:cNvGrpSpPr>
          <p:nvPr/>
        </p:nvGrpSpPr>
        <p:grpSpPr bwMode="auto">
          <a:xfrm>
            <a:off x="3914776" y="5218113"/>
            <a:ext cx="3387725" cy="1485900"/>
            <a:chOff x="1506" y="3287"/>
            <a:chExt cx="2134" cy="936"/>
          </a:xfrm>
        </p:grpSpPr>
        <p:grpSp>
          <p:nvGrpSpPr>
            <p:cNvPr id="15386" name="Group 53"/>
            <p:cNvGrpSpPr>
              <a:grpSpLocks/>
            </p:cNvGrpSpPr>
            <p:nvPr/>
          </p:nvGrpSpPr>
          <p:grpSpPr bwMode="auto">
            <a:xfrm>
              <a:off x="1506" y="3287"/>
              <a:ext cx="1785" cy="936"/>
              <a:chOff x="1506" y="3287"/>
              <a:chExt cx="1785" cy="936"/>
            </a:xfrm>
          </p:grpSpPr>
          <p:grpSp>
            <p:nvGrpSpPr>
              <p:cNvPr id="15388" name="Group 23"/>
              <p:cNvGrpSpPr>
                <a:grpSpLocks/>
              </p:cNvGrpSpPr>
              <p:nvPr/>
            </p:nvGrpSpPr>
            <p:grpSpPr bwMode="auto">
              <a:xfrm>
                <a:off x="1506" y="3287"/>
                <a:ext cx="878" cy="936"/>
                <a:chOff x="2520" y="2681"/>
                <a:chExt cx="878" cy="936"/>
              </a:xfrm>
            </p:grpSpPr>
            <p:sp>
              <p:nvSpPr>
                <p:cNvPr id="15391" name="AutoShape 20"/>
                <p:cNvSpPr>
                  <a:spLocks noChangeArrowheads="1"/>
                </p:cNvSpPr>
                <p:nvPr/>
              </p:nvSpPr>
              <p:spPr bwMode="auto">
                <a:xfrm>
                  <a:off x="2520" y="2681"/>
                  <a:ext cx="878" cy="936"/>
                </a:xfrm>
                <a:prstGeom prst="diamond">
                  <a:avLst/>
                </a:prstGeom>
                <a:solidFill>
                  <a:srgbClr val="0000FF"/>
                </a:solidFill>
                <a:ln w="2857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endParaRPr lang="en-US" altLang="en-US" b="0">
                    <a:latin typeface="Gill Sans MT" panose="020B0502020104020203" pitchFamily="34" charset="0"/>
                  </a:endParaRPr>
                </a:p>
              </p:txBody>
            </p:sp>
            <p:sp>
              <p:nvSpPr>
                <p:cNvPr id="1539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650" y="2825"/>
                  <a:ext cx="618" cy="6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b="0">
                      <a:solidFill>
                        <a:schemeClr val="tx1"/>
                      </a:solidFill>
                      <a:latin typeface="Gill Sans MT" panose="020B0502020104020203" pitchFamily="34" charset="0"/>
                    </a:rPr>
                    <a:t>P (T) correct ?</a:t>
                  </a:r>
                </a:p>
              </p:txBody>
            </p:sp>
          </p:grpSp>
          <p:sp>
            <p:nvSpPr>
              <p:cNvPr id="15389" name="Line 34"/>
              <p:cNvSpPr>
                <a:spLocks noChangeShapeType="1"/>
              </p:cNvSpPr>
              <p:nvPr/>
            </p:nvSpPr>
            <p:spPr bwMode="auto">
              <a:xfrm>
                <a:off x="2391" y="3755"/>
                <a:ext cx="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 MT" panose="020B0502020104020203" pitchFamily="34" charset="0"/>
                </a:endParaRPr>
              </a:p>
            </p:txBody>
          </p:sp>
          <p:sp>
            <p:nvSpPr>
              <p:cNvPr id="15390" name="Line 35"/>
              <p:cNvSpPr>
                <a:spLocks noChangeShapeType="1"/>
              </p:cNvSpPr>
              <p:nvPr/>
            </p:nvSpPr>
            <p:spPr bwMode="auto">
              <a:xfrm flipV="1">
                <a:off x="3291" y="3564"/>
                <a:ext cx="0" cy="1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15387" name="Text Box 61"/>
            <p:cNvSpPr txBox="1">
              <a:spLocks noChangeArrowheads="1"/>
            </p:cNvSpPr>
            <p:nvPr/>
          </p:nvSpPr>
          <p:spPr bwMode="auto">
            <a:xfrm>
              <a:off x="3266" y="3593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i="1">
                  <a:latin typeface="Gill Sans MT" panose="020B0502020104020203" pitchFamily="34" charset="0"/>
                </a:rPr>
                <a:t>yes</a:t>
              </a:r>
            </a:p>
          </p:txBody>
        </p:sp>
      </p:grpSp>
      <p:grpSp>
        <p:nvGrpSpPr>
          <p:cNvPr id="17" name="Group 65"/>
          <p:cNvGrpSpPr>
            <a:grpSpLocks/>
          </p:cNvGrpSpPr>
          <p:nvPr/>
        </p:nvGrpSpPr>
        <p:grpSpPr bwMode="auto">
          <a:xfrm>
            <a:off x="2074863" y="5595938"/>
            <a:ext cx="1955800" cy="730250"/>
            <a:chOff x="347" y="3525"/>
            <a:chExt cx="1232" cy="460"/>
          </a:xfrm>
        </p:grpSpPr>
        <p:grpSp>
          <p:nvGrpSpPr>
            <p:cNvPr id="15382" name="Group 54"/>
            <p:cNvGrpSpPr>
              <a:grpSpLocks/>
            </p:cNvGrpSpPr>
            <p:nvPr/>
          </p:nvGrpSpPr>
          <p:grpSpPr bwMode="auto">
            <a:xfrm>
              <a:off x="347" y="3525"/>
              <a:ext cx="1152" cy="460"/>
              <a:chOff x="347" y="3525"/>
              <a:chExt cx="1152" cy="460"/>
            </a:xfrm>
          </p:grpSpPr>
          <p:sp>
            <p:nvSpPr>
              <p:cNvPr id="15384" name="Text Box 13"/>
              <p:cNvSpPr txBox="1">
                <a:spLocks noChangeArrowheads="1"/>
              </p:cNvSpPr>
              <p:nvPr/>
            </p:nvSpPr>
            <p:spPr bwMode="auto">
              <a:xfrm>
                <a:off x="347" y="3525"/>
                <a:ext cx="396" cy="460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b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Fix P</a:t>
                </a:r>
              </a:p>
            </p:txBody>
          </p:sp>
          <p:sp>
            <p:nvSpPr>
              <p:cNvPr id="15385" name="Line 36"/>
              <p:cNvSpPr>
                <a:spLocks noChangeShapeType="1"/>
              </p:cNvSpPr>
              <p:nvPr/>
            </p:nvSpPr>
            <p:spPr bwMode="auto">
              <a:xfrm>
                <a:off x="750" y="3755"/>
                <a:ext cx="7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15383" name="Text Box 62"/>
            <p:cNvSpPr txBox="1">
              <a:spLocks noChangeArrowheads="1"/>
            </p:cNvSpPr>
            <p:nvPr/>
          </p:nvSpPr>
          <p:spPr bwMode="auto">
            <a:xfrm>
              <a:off x="1205" y="353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i="1">
                  <a:latin typeface="Gill Sans MT" panose="020B0502020104020203" pitchFamily="34" charset="0"/>
                </a:rPr>
                <a:t>no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CA9DD47-65C7-470D-AABE-CA3FEC6138B1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18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Mutation Works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3152274"/>
            <a:ext cx="8867775" cy="3385051"/>
          </a:xfrm>
        </p:spPr>
        <p:txBody>
          <a:bodyPr/>
          <a:lstStyle/>
          <a:p>
            <a:r>
              <a:rPr lang="en-US" altLang="en-US" dirty="0"/>
              <a:t>This is not an absolute !</a:t>
            </a:r>
          </a:p>
          <a:p>
            <a:r>
              <a:rPr lang="en-US" altLang="en-US" dirty="0"/>
              <a:t>The mutants guide the tester to an effective set of tests</a:t>
            </a:r>
          </a:p>
          <a:p>
            <a:r>
              <a:rPr lang="en-US" altLang="en-US" dirty="0"/>
              <a:t>A very challenging problem : </a:t>
            </a:r>
          </a:p>
          <a:p>
            <a:pPr lvl="1"/>
            <a:r>
              <a:rPr lang="en-US" altLang="en-US" dirty="0"/>
              <a:t>Find a </a:t>
            </a:r>
            <a:r>
              <a:rPr lang="en-US" altLang="en-US" dirty="0">
                <a:solidFill>
                  <a:schemeClr val="tx2"/>
                </a:solidFill>
              </a:rPr>
              <a:t>fault</a:t>
            </a:r>
            <a:r>
              <a:rPr lang="en-US" altLang="en-US" dirty="0"/>
              <a:t> and a set of </a:t>
            </a:r>
            <a:r>
              <a:rPr lang="en-US" altLang="en-US" dirty="0">
                <a:solidFill>
                  <a:schemeClr val="tx2"/>
                </a:solidFill>
              </a:rPr>
              <a:t>mutation-adequate tests</a:t>
            </a:r>
            <a:r>
              <a:rPr lang="en-US" altLang="en-US" dirty="0"/>
              <a:t> that do </a:t>
            </a:r>
            <a:r>
              <a:rPr lang="en-US" altLang="en-US" dirty="0">
                <a:solidFill>
                  <a:schemeClr val="tx2"/>
                </a:solidFill>
              </a:rPr>
              <a:t>not</a:t>
            </a:r>
            <a:r>
              <a:rPr lang="en-US" altLang="en-US" dirty="0"/>
              <a:t> find the fault</a:t>
            </a:r>
          </a:p>
          <a:p>
            <a:r>
              <a:rPr lang="en-US" altLang="en-US" dirty="0"/>
              <a:t>Of course, this depends on the mutation operators … </a:t>
            </a:r>
          </a:p>
        </p:txBody>
      </p:sp>
      <p:sp>
        <p:nvSpPr>
          <p:cNvPr id="280581" name="Text Box 5"/>
          <p:cNvSpPr txBox="1">
            <a:spLocks noChangeArrowheads="1"/>
          </p:cNvSpPr>
          <p:nvPr/>
        </p:nvSpPr>
        <p:spPr bwMode="auto">
          <a:xfrm>
            <a:off x="1884944" y="911973"/>
            <a:ext cx="8446168" cy="2031325"/>
          </a:xfrm>
          <a:prstGeom prst="rect">
            <a:avLst/>
          </a:prstGeom>
          <a:solidFill>
            <a:srgbClr val="0033CC"/>
          </a:solidFill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u="sng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Fundamental Premise of Mutation Testing</a:t>
            </a:r>
            <a:endParaRPr lang="en-US" sz="2800"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</a:endParaRPr>
          </a:p>
          <a:p>
            <a:pPr algn="just"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If the software contains a fault, there will usually be a set of mutants that can only be killed by a test case that also detects that fault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/>
      <p:bldP spid="2805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670B5AE-9EA0-42ED-A02B-DEF4A326C0E4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19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Designing Mutation Operators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90601"/>
            <a:ext cx="8867775" cy="2917825"/>
          </a:xfrm>
        </p:spPr>
        <p:txBody>
          <a:bodyPr/>
          <a:lstStyle/>
          <a:p>
            <a:r>
              <a:rPr lang="en-US" altLang="en-US" dirty="0"/>
              <a:t>At the </a:t>
            </a:r>
            <a:r>
              <a:rPr lang="en-US" altLang="en-US" dirty="0">
                <a:solidFill>
                  <a:schemeClr val="tx2"/>
                </a:solidFill>
              </a:rPr>
              <a:t>method level</a:t>
            </a:r>
            <a:r>
              <a:rPr lang="en-US" altLang="en-US" dirty="0"/>
              <a:t>, mutation operators for different programming languages are similar</a:t>
            </a:r>
          </a:p>
          <a:p>
            <a:r>
              <a:rPr lang="en-US" altLang="en-US" dirty="0"/>
              <a:t>Mutation operators do one of </a:t>
            </a:r>
            <a:r>
              <a:rPr lang="en-US" altLang="en-US" dirty="0">
                <a:solidFill>
                  <a:schemeClr val="tx2"/>
                </a:solidFill>
              </a:rPr>
              <a:t>two things 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Mimic typical programmer </a:t>
            </a:r>
            <a:r>
              <a:rPr lang="en-US" altLang="en-US" dirty="0">
                <a:solidFill>
                  <a:schemeClr val="tx2"/>
                </a:solidFill>
              </a:rPr>
              <a:t>mistakes</a:t>
            </a:r>
            <a:r>
              <a:rPr lang="en-US" altLang="en-US" dirty="0"/>
              <a:t> ( incorrect variable name )</a:t>
            </a:r>
          </a:p>
          <a:p>
            <a:pPr lvl="1"/>
            <a:r>
              <a:rPr lang="en-US" altLang="en-US" dirty="0"/>
              <a:t>Encourage common test </a:t>
            </a:r>
            <a:r>
              <a:rPr lang="en-US" altLang="en-US" dirty="0">
                <a:solidFill>
                  <a:schemeClr val="tx2"/>
                </a:solidFill>
              </a:rPr>
              <a:t>heuristics</a:t>
            </a:r>
            <a:r>
              <a:rPr lang="en-US" altLang="en-US" dirty="0"/>
              <a:t> ( cause expressions to be 0 )</a:t>
            </a:r>
          </a:p>
          <a:p>
            <a:r>
              <a:rPr lang="en-US" altLang="en-US" dirty="0"/>
              <a:t>Researchers design lots of operators, then experimentally </a:t>
            </a:r>
            <a:r>
              <a:rPr lang="en-US" altLang="en-US" i="1" dirty="0">
                <a:solidFill>
                  <a:schemeClr val="tx2"/>
                </a:solidFill>
              </a:rPr>
              <a:t>select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the most useful</a:t>
            </a:r>
          </a:p>
        </p:txBody>
      </p:sp>
      <p:sp>
        <p:nvSpPr>
          <p:cNvPr id="281604" name="Text Box 4"/>
          <p:cNvSpPr txBox="1">
            <a:spLocks noChangeArrowheads="1"/>
          </p:cNvSpPr>
          <p:nvPr/>
        </p:nvSpPr>
        <p:spPr bwMode="auto">
          <a:xfrm>
            <a:off x="2057400" y="4237636"/>
            <a:ext cx="8078788" cy="2301875"/>
          </a:xfrm>
          <a:prstGeom prst="rect">
            <a:avLst/>
          </a:prstGeom>
          <a:solidFill>
            <a:srgbClr val="0033CC"/>
          </a:solidFill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Effective Mutation Operators</a:t>
            </a:r>
            <a:endParaRPr lang="en-US" sz="2400" u="sng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</a:endParaRPr>
          </a:p>
          <a:p>
            <a:pPr algn="just"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If tests that are created specifically to kill mutants created by a collection of mutation operators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O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= {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o1, o2,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…}  also kill mutants created by all remaining mutation operators with very high probability, then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O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defines an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effective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set of mutation operators</a:t>
            </a:r>
            <a:endParaRPr lang="en-US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Mutation Operator for C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8328" y="982761"/>
            <a:ext cx="8229600" cy="4525963"/>
          </a:xfrm>
        </p:spPr>
        <p:txBody>
          <a:bodyPr/>
          <a:lstStyle/>
          <a:p>
            <a:r>
              <a:rPr lang="en-US" altLang="zh-CN" dirty="0"/>
              <a:t>Statement Mutations</a:t>
            </a:r>
          </a:p>
          <a:p>
            <a:r>
              <a:rPr lang="en-US" altLang="zh-CN" dirty="0"/>
              <a:t>Operator Mutations</a:t>
            </a:r>
          </a:p>
          <a:p>
            <a:r>
              <a:rPr lang="en-US" altLang="zh-CN" dirty="0"/>
              <a:t>Variable Mutations</a:t>
            </a:r>
          </a:p>
          <a:p>
            <a:r>
              <a:rPr lang="en-US" altLang="zh-CN" dirty="0"/>
              <a:t>Constant Mutations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879" y="3125645"/>
            <a:ext cx="6149063" cy="351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89073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Mutation Operators for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ABS</a:t>
            </a:r>
            <a:r>
              <a:rPr lang="en-US" altLang="zh-CN" dirty="0">
                <a:ea typeface="宋体" pitchFamily="2" charset="-122"/>
              </a:rPr>
              <a:t> –– Absolute Value Insertion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AOR</a:t>
            </a:r>
            <a:r>
              <a:rPr lang="en-US" altLang="zh-CN" dirty="0">
                <a:ea typeface="宋体" pitchFamily="2" charset="-122"/>
              </a:rPr>
              <a:t> –– Arithmetic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chemeClr val="tx2"/>
                </a:solidFill>
              </a:rPr>
              <a:t>ROR</a:t>
            </a:r>
            <a:r>
              <a:rPr lang="en-US" altLang="zh-CN" dirty="0">
                <a:ea typeface="宋体" pitchFamily="2" charset="-122"/>
              </a:rPr>
              <a:t> –– </a:t>
            </a:r>
            <a:r>
              <a:rPr lang="en-US" altLang="en-US" dirty="0"/>
              <a:t>Relational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COR</a:t>
            </a:r>
            <a:r>
              <a:rPr lang="en-US" altLang="zh-CN" dirty="0">
                <a:ea typeface="宋体" pitchFamily="2" charset="-122"/>
              </a:rPr>
              <a:t> –– Conditional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SOR </a:t>
            </a:r>
            <a:r>
              <a:rPr lang="en-US" altLang="zh-CN" dirty="0">
                <a:ea typeface="宋体" pitchFamily="2" charset="-122"/>
              </a:rPr>
              <a:t>–– Shift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chemeClr val="tx2"/>
                </a:solidFill>
              </a:rPr>
              <a:t>LOR</a:t>
            </a:r>
            <a:r>
              <a:rPr lang="en-US" altLang="zh-CN" dirty="0">
                <a:ea typeface="宋体" pitchFamily="2" charset="-122"/>
              </a:rPr>
              <a:t> –– </a:t>
            </a:r>
            <a:r>
              <a:rPr lang="en-US" altLang="en-US" dirty="0"/>
              <a:t>Logical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ASR</a:t>
            </a:r>
            <a:r>
              <a:rPr lang="en-US" altLang="zh-CN" dirty="0">
                <a:ea typeface="宋体" pitchFamily="2" charset="-122"/>
              </a:rPr>
              <a:t> –– Assignment Operator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UOI</a:t>
            </a:r>
            <a:r>
              <a:rPr lang="en-US" altLang="zh-CN" dirty="0">
                <a:ea typeface="宋体" pitchFamily="2" charset="-122"/>
              </a:rPr>
              <a:t> –– Unary Operator Insertion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UOD</a:t>
            </a:r>
            <a:r>
              <a:rPr lang="en-US" altLang="zh-CN" dirty="0">
                <a:ea typeface="宋体" pitchFamily="2" charset="-122"/>
              </a:rPr>
              <a:t> –– Unary Operator Deletion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SVR</a:t>
            </a:r>
            <a:r>
              <a:rPr lang="en-US" altLang="zh-CN" dirty="0">
                <a:ea typeface="宋体" pitchFamily="2" charset="-122"/>
              </a:rPr>
              <a:t> –– Scalar Variable Replacement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BSR</a:t>
            </a:r>
            <a:r>
              <a:rPr lang="en-US" altLang="zh-CN" dirty="0">
                <a:ea typeface="宋体" pitchFamily="2" charset="-122"/>
              </a:rPr>
              <a:t> –– Bomb Statement Replacement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084A8-7C81-403E-A485-F8CC0748AFA1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8297032" y="4830945"/>
            <a:ext cx="1974458" cy="914400"/>
          </a:xfrm>
          <a:prstGeom prst="roundRect">
            <a:avLst/>
          </a:prstGeom>
          <a:solidFill>
            <a:schemeClr val="accent2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Full definitions …</a:t>
            </a:r>
          </a:p>
        </p:txBody>
      </p:sp>
    </p:spTree>
    <p:extLst>
      <p:ext uri="{BB962C8B-B14F-4D97-AF65-F5344CB8AC3E}">
        <p14:creationId xmlns:p14="http://schemas.microsoft.com/office/powerpoint/2010/main" val="17237599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4C204A2-587B-4D61-BE12-01ED0DF252BA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22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Mutation Operators for Java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800225" y="3509963"/>
            <a:ext cx="8650288" cy="1479550"/>
            <a:chOff x="174" y="1665"/>
            <a:chExt cx="5449" cy="932"/>
          </a:xfrm>
        </p:grpSpPr>
        <p:sp>
          <p:nvSpPr>
            <p:cNvPr id="18444" name="Text Box 5"/>
            <p:cNvSpPr txBox="1">
              <a:spLocks noChangeArrowheads="1"/>
            </p:cNvSpPr>
            <p:nvPr/>
          </p:nvSpPr>
          <p:spPr bwMode="auto">
            <a:xfrm>
              <a:off x="174" y="1951"/>
              <a:ext cx="5205" cy="646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arithmetic operators +</a:t>
              </a:r>
              <a:r>
                <a:rPr lang="en-US" altLang="zh-CN" b="0" i="1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,</a:t>
              </a:r>
              <a:r>
                <a:rPr lang="zh-CN" altLang="en-US" b="0" i="1" dirty="0">
                  <a:solidFill>
                    <a:schemeClr val="tx1"/>
                  </a:solidFill>
                  <a:ea typeface="宋体" pitchFamily="2" charset="-122"/>
                </a:rPr>
                <a:t>－</a:t>
              </a:r>
              <a:r>
                <a:rPr lang="en-US" altLang="zh-CN" b="0" i="1" dirty="0">
                  <a:solidFill>
                    <a:schemeClr val="tx1"/>
                  </a:solidFill>
                  <a:ea typeface="宋体" pitchFamily="2" charset="-122"/>
                </a:rPr>
                <a:t>,*,</a:t>
              </a:r>
              <a:r>
                <a:rPr lang="zh-CN" altLang="en-US" b="0" i="1" dirty="0">
                  <a:solidFill>
                    <a:schemeClr val="tx1"/>
                  </a:solidFill>
                  <a:ea typeface="宋体" pitchFamily="2" charset="-122"/>
                </a:rPr>
                <a:t>／</a:t>
              </a:r>
              <a:r>
                <a:rPr lang="en-US" altLang="zh-CN" b="0" i="1" dirty="0">
                  <a:solidFill>
                    <a:schemeClr val="tx1"/>
                  </a:solidFill>
                  <a:ea typeface="宋体" pitchFamily="2" charset="-122"/>
                </a:rPr>
                <a:t>,</a:t>
              </a:r>
              <a:r>
                <a:rPr lang="en-US" altLang="zh-CN" b="0" dirty="0">
                  <a:solidFill>
                    <a:schemeClr val="tx1"/>
                  </a:solidFill>
                  <a:ea typeface="宋体" pitchFamily="2" charset="-122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and % is replaced by each of the other operators. In addition, each is replaced by the special mutation operators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leftOp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, and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rightOp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.</a:t>
              </a:r>
            </a:p>
          </p:txBody>
        </p:sp>
        <p:sp>
          <p:nvSpPr>
            <p:cNvPr id="18445" name="Rectangle 6"/>
            <p:cNvSpPr>
              <a:spLocks noChangeArrowheads="1"/>
            </p:cNvSpPr>
            <p:nvPr/>
          </p:nvSpPr>
          <p:spPr bwMode="auto">
            <a:xfrm>
              <a:off x="174" y="1665"/>
              <a:ext cx="544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2. AOR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Arithmetic Operator Replacement</a:t>
              </a:r>
              <a:r>
                <a:rPr lang="en-US" altLang="zh-CN" sz="2400" b="0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:</a:t>
              </a:r>
            </a:p>
          </p:txBody>
        </p:sp>
      </p:grpSp>
      <p:grpSp>
        <p:nvGrpSpPr>
          <p:cNvPr id="18439" name="Group 12"/>
          <p:cNvGrpSpPr>
            <a:grpSpLocks/>
          </p:cNvGrpSpPr>
          <p:nvPr/>
        </p:nvGrpSpPr>
        <p:grpSpPr bwMode="auto">
          <a:xfrm>
            <a:off x="1800225" y="696913"/>
            <a:ext cx="8262938" cy="1128712"/>
            <a:chOff x="174" y="705"/>
            <a:chExt cx="5205" cy="711"/>
          </a:xfrm>
        </p:grpSpPr>
        <p:sp>
          <p:nvSpPr>
            <p:cNvPr id="282628" name="Text Box 4"/>
            <p:cNvSpPr txBox="1">
              <a:spLocks noChangeArrowheads="1"/>
            </p:cNvSpPr>
            <p:nvPr/>
          </p:nvSpPr>
          <p:spPr bwMode="auto">
            <a:xfrm>
              <a:off x="174" y="962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Each arithmetic expression (and </a:t>
              </a:r>
              <a:r>
                <a:rPr lang="en-US" altLang="zh-CN" b="0" dirty="0" err="1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subexpression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) is modified by the functions </a:t>
              </a:r>
              <a:r>
                <a:rPr lang="en-US" altLang="zh-CN" b="0" i="1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abs()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,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negAbs</a:t>
              </a:r>
              <a:r>
                <a:rPr lang="en-US" altLang="zh-CN" b="0" i="1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()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, and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failOnZero</a:t>
              </a:r>
              <a:r>
                <a:rPr lang="en-US" altLang="zh-CN" b="0" i="1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()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SimSun" pitchFamily="2" charset="-122"/>
                </a:rPr>
                <a:t>.</a:t>
              </a:r>
              <a:endPara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endParaRPr>
            </a:p>
          </p:txBody>
        </p:sp>
        <p:sp>
          <p:nvSpPr>
            <p:cNvPr id="18443" name="Text Box 7"/>
            <p:cNvSpPr txBox="1">
              <a:spLocks noChangeArrowheads="1"/>
            </p:cNvSpPr>
            <p:nvPr/>
          </p:nvSpPr>
          <p:spPr bwMode="auto">
            <a:xfrm>
              <a:off x="174" y="705"/>
              <a:ext cx="36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1. ABS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 –– A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bsolute Value Insertion:</a:t>
              </a:r>
              <a:endParaRPr lang="zh-CN" altLang="en-US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792288" y="1827214"/>
            <a:ext cx="4292600" cy="1539875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a = abs (m * (o + p));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a = m * abs ((o + p));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∆3   a = </a:t>
            </a:r>
            <a:r>
              <a:rPr lang="en-US" altLang="zh-CN" sz="1800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failOnZero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(m * (o + p));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797051" y="4987925"/>
            <a:ext cx="4291013" cy="1538288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a = m +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a = m * (o *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∆3   a = m </a:t>
            </a:r>
            <a:r>
              <a:rPr lang="en-US" altLang="zh-CN" sz="1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leftOp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(o + p);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2040CAA-5F51-4B21-9804-80CF43A21A5F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23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Mutation Operators for Java (2)</a:t>
            </a:r>
          </a:p>
        </p:txBody>
      </p:sp>
      <p:grpSp>
        <p:nvGrpSpPr>
          <p:cNvPr id="19462" name="Group 14"/>
          <p:cNvGrpSpPr>
            <a:grpSpLocks/>
          </p:cNvGrpSpPr>
          <p:nvPr/>
        </p:nvGrpSpPr>
        <p:grpSpPr bwMode="auto">
          <a:xfrm>
            <a:off x="1800225" y="685801"/>
            <a:ext cx="8262938" cy="1196975"/>
            <a:chOff x="174" y="2873"/>
            <a:chExt cx="5205" cy="754"/>
          </a:xfrm>
        </p:grpSpPr>
        <p:sp>
          <p:nvSpPr>
            <p:cNvPr id="19468" name="Text Box 10"/>
            <p:cNvSpPr txBox="1">
              <a:spLocks noChangeArrowheads="1"/>
            </p:cNvSpPr>
            <p:nvPr/>
          </p:nvSpPr>
          <p:spPr bwMode="auto">
            <a:xfrm>
              <a:off x="174" y="3173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relational operators (&lt;, ≤, &gt;, ≥, =, ≠) is replaced by each of the other operators and by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falseOp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and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trueOp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.</a:t>
              </a:r>
            </a:p>
          </p:txBody>
        </p:sp>
        <p:sp>
          <p:nvSpPr>
            <p:cNvPr id="19469" name="Text Box 11"/>
            <p:cNvSpPr txBox="1">
              <a:spLocks noChangeArrowheads="1"/>
            </p:cNvSpPr>
            <p:nvPr/>
          </p:nvSpPr>
          <p:spPr bwMode="auto">
            <a:xfrm>
              <a:off x="174" y="2873"/>
              <a:ext cx="36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3. </a:t>
              </a:r>
              <a:r>
                <a:rPr lang="en-US" altLang="en-US" sz="2400" b="0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ROR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zh-CN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en-US" sz="2400" b="0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Relational Operator Replacement:</a:t>
              </a:r>
            </a:p>
          </p:txBody>
        </p: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792289" y="1873251"/>
            <a:ext cx="4668837" cy="1508125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if (X &lt;= Y)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if (X &gt; Y)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if (X &lt; Y)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∆3   if (X </a:t>
            </a:r>
            <a:r>
              <a:rPr lang="en-US" altLang="zh-CN" sz="1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falseOp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Y)  // always returns false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811339" y="3497264"/>
            <a:ext cx="8650287" cy="1749425"/>
            <a:chOff x="181" y="1325"/>
            <a:chExt cx="5449" cy="1102"/>
          </a:xfrm>
        </p:grpSpPr>
        <p:sp>
          <p:nvSpPr>
            <p:cNvPr id="19466" name="Text Box 4"/>
            <p:cNvSpPr txBox="1">
              <a:spLocks noChangeArrowheads="1"/>
            </p:cNvSpPr>
            <p:nvPr/>
          </p:nvSpPr>
          <p:spPr bwMode="auto">
            <a:xfrm>
              <a:off x="181" y="1589"/>
              <a:ext cx="5205" cy="838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logical operators (and - &amp;&amp;, or - || , and with no conditional evaluation - &amp;, or with no conditional evaluation - |, not equivalent - ^) is replaced by each of the other operators; in addition, each is replaced by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falseOp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,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trueOp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,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leftOp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, and </a:t>
              </a:r>
              <a:r>
                <a:rPr lang="en-US" altLang="zh-CN" b="0" i="1" dirty="0" err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rightOp</a:t>
              </a:r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.</a:t>
              </a:r>
            </a:p>
          </p:txBody>
        </p:sp>
        <p:sp>
          <p:nvSpPr>
            <p:cNvPr id="19467" name="Rectangle 5"/>
            <p:cNvSpPr>
              <a:spLocks noChangeArrowheads="1"/>
            </p:cNvSpPr>
            <p:nvPr/>
          </p:nvSpPr>
          <p:spPr bwMode="auto">
            <a:xfrm>
              <a:off x="181" y="1325"/>
              <a:ext cx="544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4. COR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Conditional Operator Replacement:</a:t>
              </a:r>
            </a:p>
          </p:txBody>
        </p:sp>
      </p:grp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808164" y="5248275"/>
            <a:ext cx="6105525" cy="1231900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if (X &lt;= Y &amp;&amp; a &gt; 0)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if (X &lt;= Y || a &gt; 0)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if (X &lt;= Y </a:t>
            </a:r>
            <a:r>
              <a:rPr lang="en-US" altLang="zh-CN" sz="1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leftOp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a &gt; 0) // returns result of left clause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3F3DE85-3B28-4D46-881C-E68AD1EEBADC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24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Mutation Operators for Java (4)</a:t>
            </a:r>
          </a:p>
        </p:txBody>
      </p:sp>
      <p:grpSp>
        <p:nvGrpSpPr>
          <p:cNvPr id="20486" name="Group 6"/>
          <p:cNvGrpSpPr>
            <a:grpSpLocks/>
          </p:cNvGrpSpPr>
          <p:nvPr/>
        </p:nvGrpSpPr>
        <p:grpSpPr bwMode="auto">
          <a:xfrm>
            <a:off x="1765300" y="682626"/>
            <a:ext cx="8262938" cy="1476375"/>
            <a:chOff x="181" y="2881"/>
            <a:chExt cx="5205" cy="930"/>
          </a:xfrm>
        </p:grpSpPr>
        <p:sp>
          <p:nvSpPr>
            <p:cNvPr id="20492" name="Rectangle 7"/>
            <p:cNvSpPr>
              <a:spLocks noChangeArrowheads="1"/>
            </p:cNvSpPr>
            <p:nvPr/>
          </p:nvSpPr>
          <p:spPr bwMode="auto">
            <a:xfrm>
              <a:off x="181" y="2881"/>
              <a:ext cx="4981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5. SOR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Shift Operator Replacement:</a:t>
              </a:r>
            </a:p>
          </p:txBody>
        </p:sp>
        <p:sp>
          <p:nvSpPr>
            <p:cNvPr id="20493" name="Text Box 8"/>
            <p:cNvSpPr txBox="1">
              <a:spLocks noChangeArrowheads="1"/>
            </p:cNvSpPr>
            <p:nvPr/>
          </p:nvSpPr>
          <p:spPr bwMode="auto">
            <a:xfrm>
              <a:off x="181" y="3165"/>
              <a:ext cx="5205" cy="646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shift operators &lt;&lt;, &gt;&gt;, and &gt;&gt;&gt; is replaced by each of the other operators. In addition, each is replaced by the special mutation operator </a:t>
              </a:r>
              <a:r>
                <a:rPr lang="en-US" altLang="zh-CN" b="0" i="1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leftOp</a:t>
              </a:r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.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11339" y="3678239"/>
            <a:ext cx="8262937" cy="1455737"/>
            <a:chOff x="203" y="480"/>
            <a:chExt cx="5205" cy="917"/>
          </a:xfrm>
        </p:grpSpPr>
        <p:sp>
          <p:nvSpPr>
            <p:cNvPr id="20490" name="Text Box 10"/>
            <p:cNvSpPr txBox="1">
              <a:spLocks noChangeArrowheads="1"/>
            </p:cNvSpPr>
            <p:nvPr/>
          </p:nvSpPr>
          <p:spPr bwMode="auto">
            <a:xfrm>
              <a:off x="203" y="751"/>
              <a:ext cx="5205" cy="646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logical operators (bitwise and - &amp;, bitwise or</a:t>
              </a:r>
            </a:p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- |, exclusive or - ^) is replaced by each of the other operators; in addition, each is replaced by leftOp and rightOp.</a:t>
              </a:r>
            </a:p>
          </p:txBody>
        </p:sp>
        <p:sp>
          <p:nvSpPr>
            <p:cNvPr id="20491" name="Text Box 11"/>
            <p:cNvSpPr txBox="1">
              <a:spLocks noChangeArrowheads="1"/>
            </p:cNvSpPr>
            <p:nvPr/>
          </p:nvSpPr>
          <p:spPr bwMode="auto">
            <a:xfrm>
              <a:off x="203" y="480"/>
              <a:ext cx="4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6. </a:t>
              </a:r>
              <a:r>
                <a:rPr lang="en-US" altLang="en-US" sz="2400" b="0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LOR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zh-CN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en-US" sz="2400" b="0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Logical Operator Replacement:</a:t>
              </a:r>
            </a:p>
          </p:txBody>
        </p: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762126" y="2162176"/>
            <a:ext cx="3419475" cy="1508125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byte b = (byte) 16;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b = b &gt;&gt; 2;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b = b &lt;&lt; 2;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b = b </a:t>
            </a:r>
            <a:r>
              <a:rPr lang="en-US" altLang="zh-CN" sz="1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leftOp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2; // result is b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811339" y="5127626"/>
            <a:ext cx="3781425" cy="1508125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int</a:t>
            </a: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a = 60;    </a:t>
            </a:r>
            <a:r>
              <a:rPr lang="en-US" altLang="zh-CN" sz="18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int</a:t>
            </a: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b = 13;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</a:t>
            </a:r>
            <a:r>
              <a:rPr lang="en-US" altLang="zh-CN" sz="18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int</a:t>
            </a: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c = a &amp; b;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</a:t>
            </a:r>
            <a:r>
              <a:rPr lang="en-US" altLang="zh-CN" sz="1800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int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c = a | b;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</a:t>
            </a:r>
            <a:r>
              <a:rPr lang="en-US" altLang="zh-CN" sz="1800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int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c = a </a:t>
            </a:r>
            <a:r>
              <a:rPr lang="en-US" altLang="zh-CN" sz="1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rightOp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 b; // result is 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024DBF9-182E-4F28-8811-32029EB28FF5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25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Mutation Operators for Java (5)</a:t>
            </a:r>
          </a:p>
        </p:txBody>
      </p:sp>
      <p:grpSp>
        <p:nvGrpSpPr>
          <p:cNvPr id="21510" name="Group 3"/>
          <p:cNvGrpSpPr>
            <a:grpSpLocks/>
          </p:cNvGrpSpPr>
          <p:nvPr/>
        </p:nvGrpSpPr>
        <p:grpSpPr bwMode="auto">
          <a:xfrm>
            <a:off x="1846264" y="671513"/>
            <a:ext cx="8650287" cy="1147762"/>
            <a:chOff x="203" y="1639"/>
            <a:chExt cx="5449" cy="723"/>
          </a:xfrm>
        </p:grpSpPr>
        <p:sp>
          <p:nvSpPr>
            <p:cNvPr id="21516" name="Text Box 4"/>
            <p:cNvSpPr txBox="1">
              <a:spLocks noChangeArrowheads="1"/>
            </p:cNvSpPr>
            <p:nvPr/>
          </p:nvSpPr>
          <p:spPr bwMode="auto">
            <a:xfrm>
              <a:off x="203" y="1908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occurrence of one of the assignment operators (+=, -=, *=, /=, %=, &amp;=, |=, ^=, &lt;&lt;=, &gt;&gt;=, &gt;&gt;&gt;=) is replaced by each of the other operators.</a:t>
              </a:r>
            </a:p>
          </p:txBody>
        </p:sp>
        <p:sp>
          <p:nvSpPr>
            <p:cNvPr id="21517" name="Rectangle 5"/>
            <p:cNvSpPr>
              <a:spLocks noChangeArrowheads="1"/>
            </p:cNvSpPr>
            <p:nvPr/>
          </p:nvSpPr>
          <p:spPr bwMode="auto">
            <a:xfrm>
              <a:off x="203" y="1639"/>
              <a:ext cx="544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7. ASR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Assignment Operator Replacement: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846264" y="3497264"/>
            <a:ext cx="8262937" cy="1184275"/>
            <a:chOff x="203" y="2663"/>
            <a:chExt cx="5205" cy="746"/>
          </a:xfrm>
        </p:grpSpPr>
        <p:sp>
          <p:nvSpPr>
            <p:cNvPr id="21514" name="Rectangle 7"/>
            <p:cNvSpPr>
              <a:spLocks noChangeArrowheads="1"/>
            </p:cNvSpPr>
            <p:nvPr/>
          </p:nvSpPr>
          <p:spPr bwMode="auto">
            <a:xfrm>
              <a:off x="203" y="2663"/>
              <a:ext cx="4981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8. UOI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i="1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Unary Operator Insertion:</a:t>
              </a:r>
            </a:p>
          </p:txBody>
        </p:sp>
        <p:sp>
          <p:nvSpPr>
            <p:cNvPr id="21515" name="Text Box 8"/>
            <p:cNvSpPr txBox="1">
              <a:spLocks noChangeArrowheads="1"/>
            </p:cNvSpPr>
            <p:nvPr/>
          </p:nvSpPr>
          <p:spPr bwMode="auto">
            <a:xfrm>
              <a:off x="203" y="2955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unary operator (arithmetic +, arithmetic -, conditional !, logical ~) is inserted in front of each expression of the correct type.</a:t>
              </a:r>
            </a:p>
          </p:txBody>
        </p:sp>
      </p:grp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849438" y="1816101"/>
            <a:ext cx="4292600" cy="1230313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a +=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a *= m * (o + p);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841500" y="4689476"/>
            <a:ext cx="4292600" cy="1230313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a = m * -(o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a = -(m * (o + p));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37342AB-C14D-4E39-8C06-7DEC7A9AC189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26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Mutation Operators for Java (6)</a:t>
            </a:r>
          </a:p>
        </p:txBody>
      </p:sp>
      <p:grpSp>
        <p:nvGrpSpPr>
          <p:cNvPr id="22534" name="Group 9"/>
          <p:cNvGrpSpPr>
            <a:grpSpLocks/>
          </p:cNvGrpSpPr>
          <p:nvPr/>
        </p:nvGrpSpPr>
        <p:grpSpPr bwMode="auto">
          <a:xfrm>
            <a:off x="1801814" y="703263"/>
            <a:ext cx="8262937" cy="1141412"/>
            <a:chOff x="182" y="486"/>
            <a:chExt cx="5205" cy="719"/>
          </a:xfrm>
        </p:grpSpPr>
        <p:sp>
          <p:nvSpPr>
            <p:cNvPr id="22540" name="Text Box 10"/>
            <p:cNvSpPr txBox="1">
              <a:spLocks noChangeArrowheads="1"/>
            </p:cNvSpPr>
            <p:nvPr/>
          </p:nvSpPr>
          <p:spPr bwMode="auto">
            <a:xfrm>
              <a:off x="182" y="751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unary operator (arithmetic +, arithmetic -, conditional !, logical~) is deleted.</a:t>
              </a:r>
            </a:p>
          </p:txBody>
        </p: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182" y="486"/>
              <a:ext cx="4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9. UOD </a:t>
              </a:r>
              <a:r>
                <a:rPr lang="en-US" altLang="zh-CN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 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Unary Operator Deletion:</a:t>
              </a:r>
            </a:p>
          </p:txBody>
        </p: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801814" y="1838325"/>
            <a:ext cx="4668837" cy="1231900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if !(X &lt;= Y &amp;&amp; !Z)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if (X &gt; Y &amp;&amp; !Z)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∆2   if !(X &lt; Y &amp;&amp; Z)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801814" y="3446464"/>
            <a:ext cx="8650287" cy="1157287"/>
            <a:chOff x="175" y="1566"/>
            <a:chExt cx="5449" cy="729"/>
          </a:xfrm>
        </p:grpSpPr>
        <p:sp>
          <p:nvSpPr>
            <p:cNvPr id="22538" name="Text Box 5"/>
            <p:cNvSpPr txBox="1">
              <a:spLocks noChangeArrowheads="1"/>
            </p:cNvSpPr>
            <p:nvPr/>
          </p:nvSpPr>
          <p:spPr bwMode="auto">
            <a:xfrm>
              <a:off x="182" y="1841"/>
              <a:ext cx="5205" cy="454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variable reference is replaced by every other variable of the appropriate type that is declared in the current scope.</a:t>
              </a:r>
            </a:p>
          </p:txBody>
        </p:sp>
        <p:sp>
          <p:nvSpPr>
            <p:cNvPr id="22539" name="Rectangle 6"/>
            <p:cNvSpPr>
              <a:spLocks noChangeArrowheads="1"/>
            </p:cNvSpPr>
            <p:nvPr/>
          </p:nvSpPr>
          <p:spPr bwMode="auto">
            <a:xfrm>
              <a:off x="175" y="1566"/>
              <a:ext cx="544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10. SVR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Scalar Variable Replacement:</a:t>
              </a:r>
            </a:p>
          </p:txBody>
        </p:sp>
      </p:grp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801813" y="4605338"/>
            <a:ext cx="4292600" cy="1784350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Examples: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 1   a = o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 2   a = m * (m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 3   a = m * (o + o);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 4   p = m * (o + p);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7DE2E98-3AFC-4D19-AD87-771FD4B72643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27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Mutation Operators for Java (7)</a:t>
            </a:r>
          </a:p>
        </p:txBody>
      </p:sp>
      <p:grpSp>
        <p:nvGrpSpPr>
          <p:cNvPr id="23558" name="Group 7"/>
          <p:cNvGrpSpPr>
            <a:grpSpLocks/>
          </p:cNvGrpSpPr>
          <p:nvPr/>
        </p:nvGrpSpPr>
        <p:grpSpPr bwMode="auto">
          <a:xfrm>
            <a:off x="1812925" y="695326"/>
            <a:ext cx="8262938" cy="925513"/>
            <a:chOff x="182" y="2634"/>
            <a:chExt cx="5205" cy="583"/>
          </a:xfrm>
        </p:grpSpPr>
        <p:sp>
          <p:nvSpPr>
            <p:cNvPr id="23560" name="Rectangle 8"/>
            <p:cNvSpPr>
              <a:spLocks noChangeArrowheads="1"/>
            </p:cNvSpPr>
            <p:nvPr/>
          </p:nvSpPr>
          <p:spPr bwMode="auto">
            <a:xfrm>
              <a:off x="182" y="2634"/>
              <a:ext cx="4981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2857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buSzPct val="85000"/>
              </a:pP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11. BSR </a:t>
              </a:r>
              <a:r>
                <a:rPr lang="en-US" altLang="zh-CN" sz="2400" b="0" i="1" dirty="0">
                  <a:latin typeface="Gill Sans MT" panose="020B0502020104020203" pitchFamily="34" charset="0"/>
                  <a:ea typeface="宋体" pitchFamily="2" charset="-122"/>
                </a:rPr>
                <a:t>––</a:t>
              </a:r>
              <a:r>
                <a:rPr lang="en-US" altLang="zh-CN" sz="2400" b="0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 Bomb Statement Replacement:</a:t>
              </a:r>
            </a:p>
          </p:txBody>
        </p:sp>
        <p:sp>
          <p:nvSpPr>
            <p:cNvPr id="23561" name="Text Box 9"/>
            <p:cNvSpPr txBox="1">
              <a:spLocks noChangeArrowheads="1"/>
            </p:cNvSpPr>
            <p:nvPr/>
          </p:nvSpPr>
          <p:spPr bwMode="auto">
            <a:xfrm>
              <a:off x="182" y="2955"/>
              <a:ext cx="5205" cy="262"/>
            </a:xfrm>
            <a:prstGeom prst="rect">
              <a:avLst/>
            </a:prstGeom>
            <a:solidFill>
              <a:srgbClr val="3333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Each statement is replaced by a special Bomb() function.</a:t>
              </a: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812925" y="1622425"/>
            <a:ext cx="4946650" cy="954088"/>
          </a:xfrm>
          <a:prstGeom prst="rect">
            <a:avLst/>
          </a:prstGeom>
          <a:solidFill>
            <a:srgbClr val="3333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SimSun" pitchFamily="2" charset="-122"/>
              </a:rPr>
              <a:t>Example: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SimSun" pitchFamily="2" charset="-122"/>
                <a:cs typeface="Helvetica" pitchFamily="34" charset="0"/>
              </a:rPr>
              <a:t>       a = m * (o + p);</a:t>
            </a:r>
          </a:p>
          <a:p>
            <a:pPr>
              <a:defRPr/>
            </a:pP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∆1   </a:t>
            </a:r>
            <a:r>
              <a:rPr lang="en-US" altLang="zh-CN" sz="1800" b="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Bomb</a:t>
            </a:r>
            <a:r>
              <a:rPr lang="en-US" altLang="zh-CN" sz="1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  <a:ea typeface="宋体" charset="-122"/>
              </a:rPr>
              <a:t>() // Raises exception when reached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E48DE3D-7352-4515-804F-39245C7E5A57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28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1532386" y="96838"/>
            <a:ext cx="9081487" cy="1322888"/>
          </a:xfrm>
        </p:spPr>
        <p:txBody>
          <a:bodyPr/>
          <a:lstStyle/>
          <a:p>
            <a:r>
              <a:rPr lang="en-US" altLang="en-US" dirty="0"/>
              <a:t>Summary : Subsuming Other Criteria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0351" y="1215189"/>
            <a:ext cx="9112481" cy="5353886"/>
          </a:xfrm>
        </p:spPr>
        <p:txBody>
          <a:bodyPr/>
          <a:lstStyle/>
          <a:p>
            <a:r>
              <a:rPr lang="en-US" altLang="en-US" dirty="0"/>
              <a:t>Mutation is widely considered the </a:t>
            </a:r>
            <a:r>
              <a:rPr lang="en-US" altLang="en-US" dirty="0">
                <a:solidFill>
                  <a:schemeClr val="tx2"/>
                </a:solidFill>
              </a:rPr>
              <a:t>strongest</a:t>
            </a:r>
            <a:r>
              <a:rPr lang="en-US" altLang="en-US" dirty="0"/>
              <a:t> test criterion</a:t>
            </a:r>
          </a:p>
          <a:p>
            <a:pPr lvl="1"/>
            <a:r>
              <a:rPr lang="en-US" altLang="en-US" dirty="0"/>
              <a:t>And most </a:t>
            </a:r>
            <a:r>
              <a:rPr lang="en-US" altLang="en-US" dirty="0">
                <a:solidFill>
                  <a:schemeClr val="tx2"/>
                </a:solidFill>
              </a:rPr>
              <a:t>expensive</a:t>
            </a:r>
            <a:r>
              <a:rPr lang="en-US" altLang="en-US" dirty="0"/>
              <a:t> !</a:t>
            </a:r>
          </a:p>
          <a:p>
            <a:pPr lvl="1"/>
            <a:r>
              <a:rPr lang="en-US" altLang="en-US" dirty="0"/>
              <a:t>By far the most test requirements (each mutant)</a:t>
            </a:r>
          </a:p>
          <a:p>
            <a:pPr lvl="1"/>
            <a:r>
              <a:rPr lang="en-US" altLang="en-US"/>
              <a:t>Usually the </a:t>
            </a:r>
            <a:r>
              <a:rPr lang="en-US" altLang="en-US" dirty="0"/>
              <a:t>most tests</a:t>
            </a:r>
          </a:p>
          <a:p>
            <a:r>
              <a:rPr lang="en-US" altLang="en-US" dirty="0"/>
              <a:t>Mutation </a:t>
            </a:r>
            <a:r>
              <a:rPr lang="en-US" altLang="en-US" dirty="0">
                <a:solidFill>
                  <a:schemeClr val="tx2"/>
                </a:solidFill>
              </a:rPr>
              <a:t>subsumes</a:t>
            </a:r>
            <a:r>
              <a:rPr lang="en-US" altLang="en-US" dirty="0"/>
              <a:t> other criteria by including specific mutation operators</a:t>
            </a:r>
          </a:p>
          <a:p>
            <a:r>
              <a:rPr lang="en-US" altLang="en-US" dirty="0" err="1"/>
              <a:t>Subsumption</a:t>
            </a:r>
            <a:r>
              <a:rPr lang="en-US" altLang="en-US" dirty="0"/>
              <a:t> can only be defined for </a:t>
            </a:r>
            <a:r>
              <a:rPr lang="en-US" altLang="en-US" dirty="0">
                <a:solidFill>
                  <a:schemeClr val="tx2"/>
                </a:solidFill>
              </a:rPr>
              <a:t>weak mutation</a:t>
            </a:r>
            <a:r>
              <a:rPr lang="en-US" altLang="en-US" dirty="0"/>
              <a:t> – other criteria only impose local requirements</a:t>
            </a:r>
          </a:p>
          <a:p>
            <a:pPr lvl="1"/>
            <a:r>
              <a:rPr lang="en-US" altLang="en-US" dirty="0"/>
              <a:t>Node coverage, Edge coverage, Clause coverage</a:t>
            </a:r>
          </a:p>
          <a:p>
            <a:pPr lvl="1"/>
            <a:r>
              <a:rPr lang="en-US" altLang="en-US" dirty="0"/>
              <a:t>General active clause coverage:  </a:t>
            </a:r>
            <a:r>
              <a:rPr lang="en-US" altLang="en-US" dirty="0">
                <a:solidFill>
                  <a:schemeClr val="tx2"/>
                </a:solidFill>
              </a:rPr>
              <a:t>Yes–Requirement on single tests</a:t>
            </a:r>
            <a:endParaRPr lang="en-US" altLang="en-US" dirty="0"/>
          </a:p>
          <a:p>
            <a:pPr lvl="1"/>
            <a:r>
              <a:rPr lang="en-US" altLang="en-US" dirty="0"/>
              <a:t>Correlated active clause coverage: </a:t>
            </a:r>
            <a:r>
              <a:rPr lang="en-US" altLang="en-US" dirty="0">
                <a:solidFill>
                  <a:schemeClr val="tx2"/>
                </a:solidFill>
              </a:rPr>
              <a:t> No–Requirement on test </a:t>
            </a:r>
            <a:r>
              <a:rPr lang="en-US" altLang="en-US" i="1" dirty="0">
                <a:solidFill>
                  <a:schemeClr val="tx2"/>
                </a:solidFill>
              </a:rPr>
              <a:t>pairs</a:t>
            </a:r>
            <a:endParaRPr lang="en-US" altLang="en-US" dirty="0"/>
          </a:p>
          <a:p>
            <a:pPr lvl="1"/>
            <a:r>
              <a:rPr lang="en-US" altLang="en-US" dirty="0"/>
              <a:t>All-</a:t>
            </a:r>
            <a:r>
              <a:rPr lang="en-US" altLang="en-US" dirty="0" err="1"/>
              <a:t>defs</a:t>
            </a:r>
            <a:r>
              <a:rPr lang="en-US" altLang="en-US" dirty="0"/>
              <a:t> data flow coverage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5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25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 bldLvl="2"/>
    </p:bldLst>
  </p:timing>
</p:sld>
</file>

<file path=ppt/theme/theme1.xml><?xml version="1.0" encoding="utf-8"?>
<a:theme xmlns:a="http://schemas.openxmlformats.org/drawingml/2006/main" name="intro">
  <a:themeElements>
    <a:clrScheme name="Custom 2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20031</TotalTime>
  <Pages>49</Pages>
  <Words>2923</Words>
  <Application>Microsoft Office PowerPoint</Application>
  <PresentationFormat>宽屏</PresentationFormat>
  <Paragraphs>402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Gill Sans MT</vt:lpstr>
      <vt:lpstr>Arial</vt:lpstr>
      <vt:lpstr>Helvetica</vt:lpstr>
      <vt:lpstr>Times New Roman</vt:lpstr>
      <vt:lpstr>Verdana</vt:lpstr>
      <vt:lpstr>Wingdings</vt:lpstr>
      <vt:lpstr>intro</vt:lpstr>
      <vt:lpstr>Chapter 5 Syntax-based Testing</vt:lpstr>
      <vt:lpstr>本节课程目标</vt:lpstr>
      <vt:lpstr>Applying Syntax-based Testing to Programs</vt:lpstr>
      <vt:lpstr>Instantiating Grammar-Based Testing</vt:lpstr>
      <vt:lpstr>BNF Testing for Compilers (5.2.1)</vt:lpstr>
      <vt:lpstr>Program-based Grammars (5.2.2)</vt:lpstr>
      <vt:lpstr>Killing Mutants</vt:lpstr>
      <vt:lpstr>Program-based Grammars</vt:lpstr>
      <vt:lpstr>Syntax-Based Coverage Criteria</vt:lpstr>
      <vt:lpstr>Syntax-Based Coverage Criteria</vt:lpstr>
      <vt:lpstr>Weak Mutation</vt:lpstr>
      <vt:lpstr>Weak Mutation Example</vt:lpstr>
      <vt:lpstr>Weak Mutation Example</vt:lpstr>
      <vt:lpstr>Equivalent Mutation Example</vt:lpstr>
      <vt:lpstr>Equivalent Mutation Example</vt:lpstr>
      <vt:lpstr>Strong Versus Weak Mutation</vt:lpstr>
      <vt:lpstr>Testing Programs with Mutation</vt:lpstr>
      <vt:lpstr>Why Mutation Works</vt:lpstr>
      <vt:lpstr>Designing Mutation Operators</vt:lpstr>
      <vt:lpstr>Mutation Operator for C</vt:lpstr>
      <vt:lpstr>Mutation Operators for Java</vt:lpstr>
      <vt:lpstr>Mutation Operators for Java</vt:lpstr>
      <vt:lpstr>Mutation Operators for Java (2)</vt:lpstr>
      <vt:lpstr>Mutation Operators for Java (4)</vt:lpstr>
      <vt:lpstr>Mutation Operators for Java (5)</vt:lpstr>
      <vt:lpstr>Mutation Operators for Java (6)</vt:lpstr>
      <vt:lpstr>Mutation Operators for Java (7)</vt:lpstr>
      <vt:lpstr>Summary : Subsuming Other Criteria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Syntax-based Testing</dc:title>
  <dc:creator>Jeff Offutt</dc:creator>
  <cp:lastModifiedBy>Yue Zhang</cp:lastModifiedBy>
  <cp:revision>388</cp:revision>
  <cp:lastPrinted>1996-04-04T10:27:56Z</cp:lastPrinted>
  <dcterms:created xsi:type="dcterms:W3CDTF">1996-06-15T03:21:08Z</dcterms:created>
  <dcterms:modified xsi:type="dcterms:W3CDTF">2026-05-18T07:02:34Z</dcterms:modified>
</cp:coreProperties>
</file>