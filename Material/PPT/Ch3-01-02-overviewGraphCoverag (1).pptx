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0"/>
  </p:notesMasterIdLst>
  <p:handoutMasterIdLst>
    <p:handoutMasterId r:id="rId51"/>
  </p:handoutMasterIdLst>
  <p:sldIdLst>
    <p:sldId id="336" r:id="rId2"/>
    <p:sldId id="410" r:id="rId3"/>
    <p:sldId id="385" r:id="rId4"/>
    <p:sldId id="384" r:id="rId5"/>
    <p:sldId id="338" r:id="rId6"/>
    <p:sldId id="387" r:id="rId7"/>
    <p:sldId id="340" r:id="rId8"/>
    <p:sldId id="396" r:id="rId9"/>
    <p:sldId id="400" r:id="rId10"/>
    <p:sldId id="341" r:id="rId11"/>
    <p:sldId id="388" r:id="rId12"/>
    <p:sldId id="343" r:id="rId13"/>
    <p:sldId id="355" r:id="rId14"/>
    <p:sldId id="409" r:id="rId15"/>
    <p:sldId id="399" r:id="rId16"/>
    <p:sldId id="401" r:id="rId17"/>
    <p:sldId id="354" r:id="rId18"/>
    <p:sldId id="389" r:id="rId19"/>
    <p:sldId id="377" r:id="rId20"/>
    <p:sldId id="394" r:id="rId21"/>
    <p:sldId id="349" r:id="rId22"/>
    <p:sldId id="390" r:id="rId23"/>
    <p:sldId id="350" r:id="rId24"/>
    <p:sldId id="391" r:id="rId25"/>
    <p:sldId id="351" r:id="rId26"/>
    <p:sldId id="395" r:id="rId27"/>
    <p:sldId id="392" r:id="rId28"/>
    <p:sldId id="404" r:id="rId29"/>
    <p:sldId id="347" r:id="rId30"/>
    <p:sldId id="357" r:id="rId31"/>
    <p:sldId id="359" r:id="rId32"/>
    <p:sldId id="405" r:id="rId33"/>
    <p:sldId id="381" r:id="rId34"/>
    <p:sldId id="411" r:id="rId35"/>
    <p:sldId id="412" r:id="rId36"/>
    <p:sldId id="413" r:id="rId37"/>
    <p:sldId id="414" r:id="rId38"/>
    <p:sldId id="415" r:id="rId39"/>
    <p:sldId id="361" r:id="rId40"/>
    <p:sldId id="407" r:id="rId41"/>
    <p:sldId id="383" r:id="rId42"/>
    <p:sldId id="408" r:id="rId43"/>
    <p:sldId id="416" r:id="rId44"/>
    <p:sldId id="362" r:id="rId45"/>
    <p:sldId id="376" r:id="rId46"/>
    <p:sldId id="369" r:id="rId47"/>
    <p:sldId id="370" r:id="rId48"/>
    <p:sldId id="393" r:id="rId49"/>
  </p:sldIdLst>
  <p:sldSz cx="12192000" cy="6858000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0" userDrawn="1">
          <p15:clr>
            <a:srgbClr val="A4A3A4"/>
          </p15:clr>
        </p15:guide>
        <p15:guide id="2" pos="36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6600"/>
    <a:srgbClr val="00145A"/>
    <a:srgbClr val="001E5A"/>
    <a:srgbClr val="5F5F5F"/>
    <a:srgbClr val="6699FF"/>
    <a:srgbClr val="3399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07" autoAdjust="0"/>
    <p:restoredTop sz="88714" autoAdjust="0"/>
  </p:normalViewPr>
  <p:slideViewPr>
    <p:cSldViewPr snapToGrid="0">
      <p:cViewPr varScale="1">
        <p:scale>
          <a:sx n="87" d="100"/>
          <a:sy n="87" d="100"/>
        </p:scale>
        <p:origin x="1252" y="52"/>
      </p:cViewPr>
      <p:guideLst>
        <p:guide orient="horz" pos="2280"/>
        <p:guide pos="3697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45.xml"/><Relationship Id="rId3" Type="http://schemas.openxmlformats.org/officeDocument/2006/relationships/slide" Target="slides/slide21.xml"/><Relationship Id="rId7" Type="http://schemas.openxmlformats.org/officeDocument/2006/relationships/slide" Target="slides/slide31.xml"/><Relationship Id="rId2" Type="http://schemas.openxmlformats.org/officeDocument/2006/relationships/slide" Target="slides/slide20.xml"/><Relationship Id="rId1" Type="http://schemas.openxmlformats.org/officeDocument/2006/relationships/slide" Target="slides/slide13.xml"/><Relationship Id="rId6" Type="http://schemas.openxmlformats.org/officeDocument/2006/relationships/slide" Target="slides/slide30.xml"/><Relationship Id="rId5" Type="http://schemas.openxmlformats.org/officeDocument/2006/relationships/slide" Target="slides/slide29.xml"/><Relationship Id="rId4" Type="http://schemas.openxmlformats.org/officeDocument/2006/relationships/slide" Target="slides/slide2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6" tIns="0" rIns="20136" bIns="0" numCol="1" anchor="t" anchorCtr="0" compatLnSpc="1">
            <a:prstTxWarp prst="textNoShape">
              <a:avLst/>
            </a:prstTxWarp>
          </a:bodyPr>
          <a:lstStyle>
            <a:lvl1pPr defTabSz="965840">
              <a:defRPr sz="11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6" tIns="0" rIns="20136" bIns="0" numCol="1" anchor="t" anchorCtr="0" compatLnSpc="1">
            <a:prstTxWarp prst="textNoShape">
              <a:avLst/>
            </a:prstTxWarp>
          </a:bodyPr>
          <a:lstStyle>
            <a:lvl1pPr algn="r" defTabSz="965840">
              <a:defRPr sz="11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6" tIns="0" rIns="20136" bIns="0" numCol="1" anchor="b" anchorCtr="0" compatLnSpc="1">
            <a:prstTxWarp prst="textNoShape">
              <a:avLst/>
            </a:prstTxWarp>
          </a:bodyPr>
          <a:lstStyle>
            <a:lvl1pPr defTabSz="965840">
              <a:defRPr sz="11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6" tIns="0" rIns="20136" bIns="0" numCol="1" anchor="b" anchorCtr="0" compatLnSpc="1">
            <a:prstTxWarp prst="textNoShape">
              <a:avLst/>
            </a:prstTxWarp>
          </a:bodyPr>
          <a:lstStyle>
            <a:lvl1pPr algn="r" defTabSz="965840">
              <a:defRPr sz="1100" b="0" i="1"/>
            </a:lvl1pPr>
          </a:lstStyle>
          <a:p>
            <a:pPr>
              <a:defRPr/>
            </a:pPr>
            <a:fld id="{C7BB6B9F-6BEE-4492-97B2-C6D213633B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6219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6" tIns="0" rIns="20136" bIns="0" numCol="1" anchor="t" anchorCtr="0" compatLnSpc="1">
            <a:prstTxWarp prst="textNoShape">
              <a:avLst/>
            </a:prstTxWarp>
          </a:bodyPr>
          <a:lstStyle>
            <a:lvl1pPr defTabSz="965840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6" tIns="0" rIns="20136" bIns="0" numCol="1" anchor="t" anchorCtr="0" compatLnSpc="1">
            <a:prstTxWarp prst="textNoShape">
              <a:avLst/>
            </a:prstTxWarp>
          </a:bodyPr>
          <a:lstStyle>
            <a:lvl1pPr algn="r" defTabSz="965840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6" tIns="0" rIns="20136" bIns="0" numCol="1" anchor="b" anchorCtr="0" compatLnSpc="1">
            <a:prstTxWarp prst="textNoShape">
              <a:avLst/>
            </a:prstTxWarp>
          </a:bodyPr>
          <a:lstStyle>
            <a:lvl1pPr defTabSz="965840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6" tIns="0" rIns="20136" bIns="0" numCol="1" anchor="b" anchorCtr="0" compatLnSpc="1">
            <a:prstTxWarp prst="textNoShape">
              <a:avLst/>
            </a:prstTxWarp>
          </a:bodyPr>
          <a:lstStyle>
            <a:lvl1pPr algn="r" defTabSz="965840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29F24B5-91E7-4C92-93FC-7BD65A23A0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59300"/>
            <a:ext cx="5365750" cy="431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323" tIns="48662" rIns="97323" bIns="4866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3799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61963" y="720725"/>
            <a:ext cx="6391275" cy="35956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3290888" y="9144000"/>
            <a:ext cx="747712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291" tIns="46984" rIns="92291" bIns="46984">
            <a:spAutoFit/>
          </a:bodyPr>
          <a:lstStyle/>
          <a:p>
            <a:pPr algn="ctr" defTabSz="917305">
              <a:lnSpc>
                <a:spcPct val="90000"/>
              </a:lnSpc>
              <a:defRPr/>
            </a:pPr>
            <a:r>
              <a:rPr lang="en-US" sz="1300" b="0" dirty="0">
                <a:solidFill>
                  <a:schemeClr val="tx1"/>
                </a:solidFill>
              </a:rPr>
              <a:t>Page </a:t>
            </a:r>
            <a:fld id="{39F12C26-DA6D-4D70-A323-9F928896A7D4}" type="slidenum">
              <a:rPr lang="en-US" sz="1300" b="0">
                <a:solidFill>
                  <a:schemeClr val="tx1"/>
                </a:solidFill>
              </a:rPr>
              <a:pPr algn="ctr" defTabSz="917305">
                <a:lnSpc>
                  <a:spcPct val="90000"/>
                </a:lnSpc>
                <a:defRPr/>
              </a:pPr>
              <a:t>‹#›</a:t>
            </a:fld>
            <a:endParaRPr lang="en-US" sz="13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29248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5200"/>
            <a:fld id="{876A6524-F329-4F2E-812B-2CFA2BB8E015}" type="slidenum">
              <a:rPr lang="en-US" smtClean="0"/>
              <a:pPr defTabSz="96520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752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1963" y="720725"/>
            <a:ext cx="6391275" cy="35956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9F24B5-91E7-4C92-93FC-7BD65A23A044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6843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1963" y="720725"/>
            <a:ext cx="6391275" cy="35956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设计结构：调用关系、继承、多态等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9F24B5-91E7-4C92-93FC-7BD65A23A044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797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Pause</a:t>
            </a:r>
            <a:r>
              <a:rPr lang="en-US" baseline="0" dirty="0"/>
              <a:t> and let the students decide before revealing the answer.</a:t>
            </a:r>
            <a:endParaRPr lang="en-US" dirty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5200"/>
            <a:fld id="{1D117C3E-0DEA-4F66-84C7-A5E73904F6F3}" type="slidenum">
              <a:rPr lang="en-US" smtClean="0"/>
              <a:pPr defTabSz="96520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9290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1963" y="720725"/>
            <a:ext cx="6391275" cy="35956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this slide, I pause after</a:t>
            </a:r>
            <a:r>
              <a:rPr lang="en-US" baseline="0" dirty="0"/>
              <a:t> each graph appears to let students write down the nodes and edges for the graphs.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9F24B5-91E7-4C92-93FC-7BD65A23A044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9992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1963" y="720725"/>
            <a:ext cx="6391275" cy="35956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Again, the questions are posed, and we</a:t>
            </a:r>
            <a:r>
              <a:rPr lang="en-US" baseline="0" dirty="0"/>
              <a:t> then wait for the students to try it. This is practice with immediate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9F24B5-91E7-4C92-93FC-7BD65A23A044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9490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1963" y="720725"/>
            <a:ext cx="6391275" cy="35956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语法仅是从图上而言，语义存在一条执行通路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9F24B5-91E7-4C92-93FC-7BD65A23A044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0706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1963" y="720725"/>
            <a:ext cx="6391275" cy="35956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9F24B5-91E7-4C92-93FC-7BD65A23A044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6738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1963" y="720725"/>
            <a:ext cx="6391275" cy="35956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</a:t>
            </a:r>
            <a:r>
              <a:rPr lang="en-US" baseline="0" dirty="0"/>
              <a:t> after the question appears, then click to reveal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9F24B5-91E7-4C92-93FC-7BD65A23A044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6844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The box appears with just the prompts.</a:t>
            </a:r>
            <a:r>
              <a:rPr lang="en-US" baseline="0" dirty="0"/>
              <a:t> Click to reveal the answers to each question.</a:t>
            </a:r>
            <a:endParaRPr lang="en-US" dirty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5200"/>
            <a:fld id="{24F156E4-F728-4ADA-BF36-E3D098AAB297}" type="slidenum">
              <a:rPr lang="en-US" smtClean="0"/>
              <a:pPr defTabSz="96520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2024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5200"/>
            <a:fld id="{0FC2353F-9C0B-41F8-B780-EE68B6466865}" type="slidenum">
              <a:rPr lang="en-US" smtClean="0"/>
              <a:pPr defTabSz="96520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3343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1963" y="720725"/>
            <a:ext cx="6391275" cy="35956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9F24B5-91E7-4C92-93FC-7BD65A23A044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7953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1963" y="720725"/>
            <a:ext cx="6391275" cy="35956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给定与覆盖准则</a:t>
            </a:r>
            <a:r>
              <a:rPr lang="en-US" altLang="zh-CN" dirty="0"/>
              <a:t>C</a:t>
            </a:r>
            <a:r>
              <a:rPr lang="zh-CN" altLang="en-US" dirty="0"/>
              <a:t>相关的测试需求集合</a:t>
            </a:r>
            <a:r>
              <a:rPr lang="en-US" altLang="zh-CN" dirty="0"/>
              <a:t>TR</a:t>
            </a:r>
            <a:r>
              <a:rPr lang="zh-CN" altLang="en-US" dirty="0"/>
              <a:t>，对于图而言说测试集合</a:t>
            </a:r>
            <a:r>
              <a:rPr lang="en-US" altLang="zh-CN" dirty="0"/>
              <a:t>T</a:t>
            </a:r>
            <a:r>
              <a:rPr lang="zh-CN" altLang="en-US" dirty="0"/>
              <a:t>满足覆盖准则</a:t>
            </a:r>
            <a:r>
              <a:rPr lang="en-US" altLang="zh-CN" dirty="0"/>
              <a:t>C</a:t>
            </a:r>
            <a:r>
              <a:rPr lang="zh-CN" altLang="en-US" dirty="0"/>
              <a:t>当且仅当对于测试需求集合</a:t>
            </a:r>
            <a:r>
              <a:rPr lang="en-US" altLang="zh-CN" dirty="0"/>
              <a:t>TR</a:t>
            </a:r>
            <a:r>
              <a:rPr lang="zh-CN" altLang="en-US" dirty="0"/>
              <a:t>中的每个测试需求</a:t>
            </a:r>
            <a:r>
              <a:rPr lang="en-US" altLang="zh-CN" dirty="0" err="1"/>
              <a:t>tr</a:t>
            </a:r>
            <a:r>
              <a:rPr lang="zh-CN" altLang="en-US" dirty="0"/>
              <a:t>而言，测试集合</a:t>
            </a:r>
            <a:r>
              <a:rPr lang="en-US" altLang="zh-CN" dirty="0"/>
              <a:t>T</a:t>
            </a:r>
            <a:r>
              <a:rPr lang="zh-CN" altLang="en-US" dirty="0"/>
              <a:t>中至少有一个测试用例的测试路径满足</a:t>
            </a:r>
            <a:r>
              <a:rPr lang="en-US" altLang="zh-CN" dirty="0" err="1"/>
              <a:t>tr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9F24B5-91E7-4C92-93FC-7BD65A23A044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965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5200"/>
            <a:fld id="{C8933F4B-5D60-44F2-B3E7-CD9806D31F7D}" type="slidenum">
              <a:rPr lang="en-US" smtClean="0"/>
              <a:pPr defTabSz="96520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7926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1963" y="720725"/>
            <a:ext cx="6391275" cy="35956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box appears with just the prompts.</a:t>
            </a:r>
            <a:r>
              <a:rPr lang="en-US" baseline="0" dirty="0"/>
              <a:t> Click to reveal the answers to each question.</a:t>
            </a:r>
            <a:br>
              <a:rPr lang="en-US" baseline="0" dirty="0"/>
            </a:br>
            <a:r>
              <a:rPr lang="en-US" baseline="0" dirty="0"/>
              <a:t>This emphasizes the difference between NC and EC.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9F24B5-91E7-4C92-93FC-7BD65A23A044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5984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5200"/>
            <a:fld id="{BCE2ADE5-FE9A-495F-9564-0DC5298FE2C4}" type="slidenum">
              <a:rPr lang="en-US" smtClean="0"/>
              <a:pPr defTabSz="96520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7286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5200"/>
            <a:fld id="{BCE2ADE5-FE9A-495F-9564-0DC5298FE2C4}" type="slidenum">
              <a:rPr lang="en-US" smtClean="0"/>
              <a:pPr defTabSz="96520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283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1963" y="720725"/>
            <a:ext cx="6391275" cy="35956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may take awhile. EPC is a little confusing at</a:t>
            </a:r>
            <a:r>
              <a:rPr lang="en-US" baseline="0" dirty="0"/>
              <a:t> first.</a:t>
            </a:r>
          </a:p>
          <a:p>
            <a:r>
              <a:rPr lang="en-US" baseline="0" dirty="0"/>
              <a:t>And don’t let them worry about CPC too long … if they don’t realize right away that it’s infeasible this turns into a “trick”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9F24B5-91E7-4C92-93FC-7BD65A23A044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2293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5200"/>
            <a:fld id="{5C2118C7-8CCE-41B8-92C4-04702193C8EF}" type="slidenum">
              <a:rPr lang="en-US" smtClean="0"/>
              <a:pPr defTabSz="96520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9844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1963" y="720725"/>
            <a:ext cx="6391275" cy="35956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Nobody</a:t>
            </a:r>
            <a:r>
              <a:rPr lang="en-US" baseline="0" dirty="0"/>
              <a:t> will get all of these right the first time. This may be a good time to turn to the online tool:</a:t>
            </a:r>
            <a:br>
              <a:rPr lang="en-US" baseline="0" dirty="0"/>
            </a:br>
            <a:r>
              <a:rPr lang="en-US" baseline="0" dirty="0"/>
              <a:t>http://cs.gmu.edu:8080/offutt/coverage/GraphCoverage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9F24B5-91E7-4C92-93FC-7BD65A23A044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1643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If a node n has an edge to itself, EPC will require [n, n, m]</a:t>
            </a:r>
          </a:p>
          <a:p>
            <a:r>
              <a:rPr lang="en-US" dirty="0"/>
              <a:t>[n, n, m] is not prime</a:t>
            </a:r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5200"/>
            <a:fld id="{3A385A7E-3F01-428A-A1D6-941DB4E346FC}" type="slidenum">
              <a:rPr lang="en-US" smtClean="0"/>
              <a:pPr defTabSz="96520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7499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1963" y="720725"/>
            <a:ext cx="6391275" cy="35956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has</a:t>
            </a:r>
            <a:r>
              <a:rPr lang="en-US" baseline="0" dirty="0"/>
              <a:t> a lot of animation … allowing the students to calculate the paths of length x, from 0 through 4, then decide which paths are prime.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9F24B5-91E7-4C92-93FC-7BD65A23A044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8483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1963" y="720725"/>
            <a:ext cx="6391275" cy="35956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pretty</a:t>
            </a:r>
            <a:r>
              <a:rPr lang="en-US" baseline="0" dirty="0"/>
              <a:t> hard for students to do at this point. A process is revealed in a few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9F24B5-91E7-4C92-93FC-7BD65A23A044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2843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altLang="zh-CN" u="sng" dirty="0" err="1">
                <a:solidFill>
                  <a:srgbClr val="FF0000"/>
                </a:solidFill>
              </a:rPr>
              <a:t>Sidetrips</a:t>
            </a:r>
            <a:r>
              <a:rPr lang="en-US" altLang="zh-CN" sz="1100" u="sng" dirty="0">
                <a:solidFill>
                  <a:srgbClr val="FF0000"/>
                </a:solidFill>
              </a:rPr>
              <a:t>(</a:t>
            </a:r>
            <a:r>
              <a:rPr lang="zh-CN" altLang="en-US" sz="1100" u="sng" dirty="0">
                <a:solidFill>
                  <a:srgbClr val="FF0000"/>
                </a:solidFill>
              </a:rPr>
              <a:t>经旁游历</a:t>
            </a:r>
            <a:r>
              <a:rPr lang="en-US" altLang="zh-CN" sz="1100" u="sng" dirty="0">
                <a:solidFill>
                  <a:srgbClr val="FF0000"/>
                </a:solidFill>
              </a:rPr>
              <a:t>) </a:t>
            </a:r>
          </a:p>
          <a:p>
            <a:r>
              <a:rPr lang="en-US" altLang="zh-CN" u="sng" dirty="0">
                <a:solidFill>
                  <a:srgbClr val="FF0000"/>
                </a:solidFill>
              </a:rPr>
              <a:t>Detours </a:t>
            </a:r>
            <a:r>
              <a:rPr lang="en-US" altLang="zh-CN" sz="1100" u="sng" dirty="0">
                <a:solidFill>
                  <a:srgbClr val="FF0000"/>
                </a:solidFill>
              </a:rPr>
              <a:t>(</a:t>
            </a:r>
            <a:r>
              <a:rPr lang="zh-CN" altLang="en-US" sz="1100" u="sng" dirty="0">
                <a:solidFill>
                  <a:srgbClr val="FF0000"/>
                </a:solidFill>
              </a:rPr>
              <a:t>绕道游历</a:t>
            </a:r>
            <a:r>
              <a:rPr lang="en-US" altLang="zh-CN" sz="1100" u="sng" dirty="0">
                <a:solidFill>
                  <a:srgbClr val="FF0000"/>
                </a:solidFill>
              </a:rPr>
              <a:t>)</a:t>
            </a:r>
            <a:endParaRPr lang="en-US" dirty="0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5200"/>
            <a:fld id="{44EA8C7D-BC1F-4701-9DB1-9870CE769DD3}" type="slidenum">
              <a:rPr lang="en-US" smtClean="0"/>
              <a:pPr defTabSz="96520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3689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5200"/>
            <a:fld id="{A5AC06A2-481B-4ED0-AE8E-46DA5F5194D4}" type="slidenum">
              <a:rPr lang="en-US" smtClean="0"/>
              <a:pPr defTabSz="96520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213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5200"/>
            <a:fld id="{E8C470B0-47AA-46E6-A1F8-837DCEFE716D}" type="slidenum">
              <a:rPr lang="en-US" smtClean="0"/>
              <a:pPr defTabSz="96520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608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1963" y="720725"/>
            <a:ext cx="6391275" cy="35956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29F24B5-91E7-4C92-93FC-7BD65A23A044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058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1963" y="720725"/>
            <a:ext cx="6391275" cy="35956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29F24B5-91E7-4C92-93FC-7BD65A23A044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1469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1963" y="720725"/>
            <a:ext cx="6391275" cy="35956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9F24B5-91E7-4C92-93FC-7BD65A23A044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2517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1963" y="720725"/>
            <a:ext cx="6391275" cy="35956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This should be easy to answer,</a:t>
            </a:r>
            <a:r>
              <a:rPr lang="en-US" altLang="zh-CN" baseline="0" dirty="0"/>
              <a:t> although the concept of </a:t>
            </a:r>
            <a:r>
              <a:rPr lang="en-US" altLang="zh-CN" baseline="0" dirty="0" err="1"/>
              <a:t>defs</a:t>
            </a:r>
            <a:r>
              <a:rPr lang="en-US" altLang="zh-CN" baseline="0" dirty="0"/>
              <a:t> and uses is a bit weird for some students.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9F24B5-91E7-4C92-93FC-7BD65A23A044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77497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1963" y="720725"/>
            <a:ext cx="6391275" cy="35956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9F24B5-91E7-4C92-93FC-7BD65A23A044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7339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5200"/>
            <a:fld id="{2A444456-0E23-471E-B483-6FFC555A14F0}" type="slidenum">
              <a:rPr lang="en-US" smtClean="0"/>
              <a:pPr defTabSz="96520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05728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5200"/>
            <a:fld id="{03B17957-1FFF-4AE8-B9A5-E511377C7618}" type="slidenum">
              <a:rPr lang="en-US" smtClean="0"/>
              <a:pPr defTabSz="96520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25949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1963" y="720725"/>
            <a:ext cx="6391275" cy="35956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start by</a:t>
            </a:r>
            <a:r>
              <a:rPr lang="en-US" baseline="0" dirty="0"/>
              <a:t> pointing out that X has one </a:t>
            </a:r>
            <a:r>
              <a:rPr lang="en-US" baseline="0" dirty="0" err="1"/>
              <a:t>def</a:t>
            </a:r>
            <a:r>
              <a:rPr lang="en-US" baseline="0" dirty="0"/>
              <a:t>, at node 1, and two uses at nodes 5 and 6. They also might remember from before that this graph has 4 total paths.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9F24B5-91E7-4C92-93FC-7BD65A23A044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805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4E05D-11E3-431E-87DD-475E56A3CF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1E34D2-BFAA-43E6-B117-0A7C9FC99B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00622C-CA54-4228-8014-86B52390B5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4152" y="1085850"/>
            <a:ext cx="5810249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085850"/>
            <a:ext cx="5810251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2D21EC-7ADB-4801-83F4-32E205B32F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D83153-14FF-4BE6-B48A-3786E0D7B8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6A7B84-9F6B-4375-98C9-19E41DF1CA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228736-AB71-4EFF-866C-FA1AAB8323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755514-60E9-460E-88D9-704B30AAD2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9496F0-B41E-432D-8254-675F0330BD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D053D6-ED5B-417A-8106-29D1AEFAA1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52984" y="96838"/>
            <a:ext cx="2954867" cy="62468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4152" y="96838"/>
            <a:ext cx="8665633" cy="62468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BAAE57-6A86-423C-BD8C-EF5BE5360C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4301" y="6507163"/>
            <a:ext cx="5027084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>
              <a:defRPr sz="9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84800" y="6497639"/>
            <a:ext cx="3860800" cy="28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ctr">
              <a:defRPr sz="9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622367" y="6489701"/>
            <a:ext cx="2540000" cy="290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9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CF908E1-C45A-4455-890F-ACADC7D039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3453" y="96839"/>
            <a:ext cx="11948160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" y="1085850"/>
            <a:ext cx="12007851" cy="539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</p:txBody>
      </p:sp>
      <p:sp>
        <p:nvSpPr>
          <p:cNvPr id="8" name="Line 10"/>
          <p:cNvSpPr>
            <a:spLocks noChangeShapeType="1"/>
          </p:cNvSpPr>
          <p:nvPr userDrawn="1"/>
        </p:nvSpPr>
        <p:spPr bwMode="auto">
          <a:xfrm>
            <a:off x="-1" y="729143"/>
            <a:ext cx="12158444" cy="0"/>
          </a:xfrm>
          <a:prstGeom prst="line">
            <a:avLst/>
          </a:prstGeom>
          <a:noFill/>
          <a:ln w="5715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sz="200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hf hdr="0" ft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Verdana" pitchFamily="34" charset="0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85000"/>
        <a:buChar char="•"/>
        <a:defRPr sz="2800" b="0">
          <a:solidFill>
            <a:schemeClr val="tx1"/>
          </a:solidFill>
          <a:latin typeface="Gill Sans MT" pitchFamily="34" charset="0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400" b="0">
          <a:solidFill>
            <a:schemeClr val="tx1"/>
          </a:solidFill>
          <a:latin typeface="Gill Sans MT" pitchFamily="34" charset="0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000" b="0">
          <a:solidFill>
            <a:schemeClr val="tx1"/>
          </a:solidFill>
          <a:latin typeface="Gill Sans MT" pitchFamily="34" charset="0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0">
          <a:solidFill>
            <a:schemeClr val="tx1"/>
          </a:solidFill>
          <a:latin typeface="Gill Sans MT" pitchFamily="34" charset="0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sz="2000" b="0">
          <a:solidFill>
            <a:schemeClr val="tx1"/>
          </a:solidFill>
          <a:latin typeface="Gill Sans MT" pitchFamily="34" charset="0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br>
              <a:rPr lang="en-US" sz="2800" i="1" dirty="0"/>
            </a:br>
            <a:r>
              <a:rPr lang="en-US" dirty="0"/>
              <a:t>Chapter 3 Graph Coverage</a:t>
            </a:r>
            <a:br>
              <a:rPr lang="en-US" dirty="0"/>
            </a:br>
            <a:endParaRPr lang="en-US" sz="20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3.1 Overview &amp; </a:t>
            </a:r>
          </a:p>
          <a:p>
            <a:r>
              <a:rPr lang="en-US" altLang="zh-CN" dirty="0"/>
              <a:t>3.2 Graph Coverage Criteria</a:t>
            </a:r>
            <a:br>
              <a:rPr lang="en-US" altLang="zh-CN" dirty="0"/>
            </a:br>
            <a:endParaRPr lang="zh-CN" altLang="en-US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C54D44-DD41-40F5-B58B-7071F3288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本节课程目标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F4CC09-FE31-47CF-A838-D055F1BDA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sz="2400" dirty="0"/>
              <a:t>描述图的形式化定义；</a:t>
            </a:r>
          </a:p>
          <a:p>
            <a:r>
              <a:rPr lang="zh-CN" altLang="zh-CN" sz="2400" dirty="0"/>
              <a:t>明确与图相关的主要术语的含义；</a:t>
            </a:r>
          </a:p>
          <a:p>
            <a:r>
              <a:rPr lang="zh-CN" altLang="zh-CN" sz="2400" dirty="0"/>
              <a:t>明确结构化覆盖图的思路及主要覆盖标准之间的包含关系；</a:t>
            </a:r>
          </a:p>
          <a:p>
            <a:r>
              <a:rPr lang="zh-CN" altLang="zh-CN" sz="2400" dirty="0"/>
              <a:t>写出点覆盖、边覆盖、边对覆盖、主路径覆盖的测试需求及满足上述测试需求的测试路径（包括</a:t>
            </a:r>
            <a:r>
              <a:rPr lang="en-US" altLang="zh-CN" sz="2400" dirty="0" err="1"/>
              <a:t>sidetrip</a:t>
            </a:r>
            <a:r>
              <a:rPr lang="zh-CN" altLang="zh-CN" sz="2400" dirty="0"/>
              <a:t>和</a:t>
            </a:r>
            <a:r>
              <a:rPr lang="en-US" altLang="zh-CN" sz="2400" dirty="0"/>
              <a:t>detour</a:t>
            </a:r>
            <a:r>
              <a:rPr lang="zh-CN" altLang="zh-CN" sz="2400" dirty="0"/>
              <a:t>游历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r>
              <a:rPr lang="zh-CN" altLang="zh-CN" sz="2400" dirty="0"/>
              <a:t>明确</a:t>
            </a:r>
            <a:r>
              <a:rPr lang="en-US" altLang="zh-CN" sz="2400" dirty="0"/>
              <a:t>definition</a:t>
            </a:r>
            <a:r>
              <a:rPr lang="zh-CN" altLang="zh-CN" sz="2400" dirty="0"/>
              <a:t>集合、</a:t>
            </a:r>
            <a:r>
              <a:rPr lang="en-US" altLang="zh-CN" sz="2400" dirty="0"/>
              <a:t>use</a:t>
            </a:r>
            <a:r>
              <a:rPr lang="zh-CN" altLang="zh-CN" sz="2400" dirty="0"/>
              <a:t>集合、</a:t>
            </a:r>
            <a:r>
              <a:rPr lang="en-US" altLang="zh-CN" sz="2400" dirty="0"/>
              <a:t>DU-pair</a:t>
            </a:r>
            <a:r>
              <a:rPr lang="zh-CN" altLang="zh-CN" sz="2400" dirty="0"/>
              <a:t>、</a:t>
            </a:r>
            <a:r>
              <a:rPr lang="en-US" altLang="zh-CN" sz="2400" dirty="0"/>
              <a:t>DU-path</a:t>
            </a:r>
            <a:r>
              <a:rPr lang="zh-CN" altLang="zh-CN" sz="2400" dirty="0"/>
              <a:t>的含义，写出</a:t>
            </a:r>
            <a:r>
              <a:rPr lang="en-US" altLang="zh-CN" sz="2400" dirty="0"/>
              <a:t>definition</a:t>
            </a:r>
            <a:r>
              <a:rPr lang="zh-CN" altLang="zh-CN" sz="2400" dirty="0"/>
              <a:t>集合、</a:t>
            </a:r>
            <a:r>
              <a:rPr lang="en-US" altLang="zh-CN" sz="2400" dirty="0"/>
              <a:t>use</a:t>
            </a:r>
            <a:r>
              <a:rPr lang="zh-CN" altLang="zh-CN" sz="2400" dirty="0"/>
              <a:t>集合中的元素，写出</a:t>
            </a:r>
            <a:r>
              <a:rPr lang="en-US" altLang="zh-CN" sz="2400" dirty="0"/>
              <a:t>DU-pair</a:t>
            </a:r>
            <a:r>
              <a:rPr lang="zh-CN" altLang="zh-CN" sz="2400" dirty="0"/>
              <a:t>、</a:t>
            </a:r>
            <a:r>
              <a:rPr lang="en-US" altLang="zh-CN" sz="2400" dirty="0"/>
              <a:t>DU-path</a:t>
            </a:r>
            <a:r>
              <a:rPr lang="zh-CN" altLang="zh-CN" sz="2400" dirty="0"/>
              <a:t>；</a:t>
            </a:r>
          </a:p>
          <a:p>
            <a:r>
              <a:rPr lang="zh-CN" altLang="zh-CN" sz="2400" dirty="0"/>
              <a:t>明确覆盖标准</a:t>
            </a:r>
            <a:r>
              <a:rPr lang="en-US" altLang="zh-CN" sz="2400" dirty="0"/>
              <a:t>ADC</a:t>
            </a:r>
            <a:r>
              <a:rPr lang="zh-CN" altLang="zh-CN" sz="2400" dirty="0"/>
              <a:t>、</a:t>
            </a:r>
            <a:r>
              <a:rPr lang="en-US" altLang="zh-CN" sz="2400" dirty="0"/>
              <a:t>AUC</a:t>
            </a:r>
            <a:r>
              <a:rPr lang="zh-CN" altLang="zh-CN" sz="2400" dirty="0"/>
              <a:t>、</a:t>
            </a:r>
            <a:r>
              <a:rPr lang="en-US" altLang="zh-CN" sz="2400" dirty="0"/>
              <a:t>ADUPC</a:t>
            </a:r>
            <a:r>
              <a:rPr lang="zh-CN" altLang="zh-CN" sz="2400" dirty="0"/>
              <a:t>的含义，写出上述覆盖标准的测试需求及满足对应测试需求的测试路径（包括</a:t>
            </a:r>
            <a:r>
              <a:rPr lang="en-US" altLang="zh-CN" sz="2400" dirty="0" err="1"/>
              <a:t>sidetrip</a:t>
            </a:r>
            <a:r>
              <a:rPr lang="zh-CN" altLang="zh-CN" sz="2400" dirty="0"/>
              <a:t>和</a:t>
            </a:r>
            <a:r>
              <a:rPr lang="en-US" altLang="zh-CN" sz="2400" dirty="0"/>
              <a:t>detour</a:t>
            </a:r>
            <a:r>
              <a:rPr lang="zh-CN" altLang="zh-CN" sz="2400" dirty="0"/>
              <a:t>游历）；</a:t>
            </a:r>
          </a:p>
          <a:p>
            <a:r>
              <a:rPr lang="zh-CN" altLang="zh-CN" sz="2400" dirty="0"/>
              <a:t>明确主要的图覆盖标准（包括结构化覆盖和数据流覆盖）之间的包含关系。</a:t>
            </a:r>
          </a:p>
          <a:p>
            <a:pPr marL="0" indent="0">
              <a:buNone/>
            </a:pPr>
            <a:endParaRPr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DB1FC9-987B-4F46-8A7A-0A347DBDD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1E34D2-BFAA-43E6-B117-0A7C9FC99B38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007910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Ch. 3 : Graph Coverage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A1E189-A5E4-460C-B525-E80730F3D25C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4038600" y="914401"/>
            <a:ext cx="4114800" cy="974725"/>
          </a:xfrm>
          <a:prstGeom prst="rect">
            <a:avLst/>
          </a:prstGeom>
          <a:gradFill rotWithShape="1">
            <a:gsLst>
              <a:gs pos="0">
                <a:srgbClr val="FAF400"/>
              </a:gs>
              <a:gs pos="100000">
                <a:srgbClr val="FAF400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itchFamily="66" charset="0"/>
                <a:cs typeface="Arial" pitchFamily="34" charset="0"/>
              </a:rPr>
              <a:t>Four Structures for Modeling Software</a:t>
            </a:r>
          </a:p>
        </p:txBody>
      </p:sp>
      <p:grpSp>
        <p:nvGrpSpPr>
          <p:cNvPr id="60" name="Group 59"/>
          <p:cNvGrpSpPr/>
          <p:nvPr/>
        </p:nvGrpSpPr>
        <p:grpSpPr>
          <a:xfrm>
            <a:off x="1728789" y="1905001"/>
            <a:ext cx="8682037" cy="1102287"/>
            <a:chOff x="204788" y="1905000"/>
            <a:chExt cx="8682037" cy="1102287"/>
          </a:xfrm>
        </p:grpSpPr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3139017" y="2484067"/>
              <a:ext cx="1498600" cy="52322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sz="280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Graphs</a:t>
              </a:r>
            </a:p>
          </p:txBody>
        </p:sp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5262034" y="2484067"/>
              <a:ext cx="1500187" cy="52322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sz="280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Logic</a:t>
              </a:r>
            </a:p>
          </p:txBody>
        </p:sp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204788" y="2484067"/>
              <a:ext cx="2309812" cy="52322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sz="28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Input Space</a:t>
              </a:r>
            </a:p>
          </p:txBody>
        </p:sp>
        <p:sp>
          <p:nvSpPr>
            <p:cNvPr id="11" name="Text Box 8"/>
            <p:cNvSpPr txBox="1">
              <a:spLocks noChangeArrowheads="1"/>
            </p:cNvSpPr>
            <p:nvPr/>
          </p:nvSpPr>
          <p:spPr bwMode="auto">
            <a:xfrm>
              <a:off x="7386638" y="2484067"/>
              <a:ext cx="1500187" cy="52322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sz="280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Syntax</a:t>
              </a:r>
            </a:p>
          </p:txBody>
        </p:sp>
        <p:sp>
          <p:nvSpPr>
            <p:cNvPr id="12" name="Line 9"/>
            <p:cNvSpPr>
              <a:spLocks noChangeShapeType="1"/>
            </p:cNvSpPr>
            <p:nvPr/>
          </p:nvSpPr>
          <p:spPr bwMode="auto">
            <a:xfrm flipV="1">
              <a:off x="1359694" y="2184400"/>
              <a:ext cx="6787356" cy="1111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>
              <a:off x="1357535" y="2184400"/>
              <a:ext cx="0" cy="2841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11"/>
            <p:cNvSpPr>
              <a:spLocks noChangeShapeType="1"/>
            </p:cNvSpPr>
            <p:nvPr/>
          </p:nvSpPr>
          <p:spPr bwMode="auto">
            <a:xfrm>
              <a:off x="6007105" y="2195514"/>
              <a:ext cx="0" cy="2841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4551363" y="1905000"/>
              <a:ext cx="0" cy="2841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>
              <a:off x="8137525" y="2171700"/>
              <a:ext cx="0" cy="2841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0"/>
            <p:cNvSpPr>
              <a:spLocks noChangeShapeType="1"/>
            </p:cNvSpPr>
            <p:nvPr/>
          </p:nvSpPr>
          <p:spPr bwMode="auto">
            <a:xfrm>
              <a:off x="3889110" y="2194718"/>
              <a:ext cx="0" cy="2841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7340766" y="3024702"/>
            <a:ext cx="3201988" cy="3611563"/>
            <a:chOff x="5816766" y="3024701"/>
            <a:chExt cx="3201988" cy="3611563"/>
          </a:xfrm>
        </p:grpSpPr>
        <p:sp>
          <p:nvSpPr>
            <p:cNvPr id="22" name="AutoShape 42"/>
            <p:cNvSpPr>
              <a:spLocks noChangeArrowheads="1"/>
            </p:cNvSpPr>
            <p:nvPr/>
          </p:nvSpPr>
          <p:spPr bwMode="auto">
            <a:xfrm>
              <a:off x="5816766" y="5296414"/>
              <a:ext cx="3201988" cy="1339850"/>
            </a:xfrm>
            <a:prstGeom prst="roundRect">
              <a:avLst>
                <a:gd name="adj" fmla="val 16667"/>
              </a:avLst>
            </a:prstGeom>
            <a:solidFill>
              <a:srgbClr val="333399"/>
            </a:solidFill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Text Box 43"/>
            <p:cNvSpPr txBox="1">
              <a:spLocks noChangeArrowheads="1"/>
            </p:cNvSpPr>
            <p:nvPr/>
          </p:nvSpPr>
          <p:spPr bwMode="auto">
            <a:xfrm>
              <a:off x="7867816" y="6079051"/>
              <a:ext cx="1063625" cy="40011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Input</a:t>
              </a:r>
            </a:p>
          </p:txBody>
        </p:sp>
        <p:sp>
          <p:nvSpPr>
            <p:cNvPr id="24" name="Text Box 44"/>
            <p:cNvSpPr txBox="1">
              <a:spLocks noChangeArrowheads="1"/>
            </p:cNvSpPr>
            <p:nvPr/>
          </p:nvSpPr>
          <p:spPr bwMode="auto">
            <a:xfrm>
              <a:off x="7205829" y="5428176"/>
              <a:ext cx="1063625" cy="40011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Models</a:t>
              </a:r>
            </a:p>
          </p:txBody>
        </p:sp>
        <p:sp>
          <p:nvSpPr>
            <p:cNvPr id="25" name="Text Box 45"/>
            <p:cNvSpPr txBox="1">
              <a:spLocks noChangeArrowheads="1"/>
            </p:cNvSpPr>
            <p:nvPr/>
          </p:nvSpPr>
          <p:spPr bwMode="auto">
            <a:xfrm>
              <a:off x="6545429" y="6079051"/>
              <a:ext cx="1063625" cy="40011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Integ</a:t>
              </a:r>
            </a:p>
          </p:txBody>
        </p:sp>
        <p:sp>
          <p:nvSpPr>
            <p:cNvPr id="26" name="Text Box 46"/>
            <p:cNvSpPr txBox="1">
              <a:spLocks noChangeArrowheads="1"/>
            </p:cNvSpPr>
            <p:nvPr/>
          </p:nvSpPr>
          <p:spPr bwMode="auto">
            <a:xfrm>
              <a:off x="5904079" y="5426589"/>
              <a:ext cx="1063625" cy="40011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Source</a:t>
              </a:r>
            </a:p>
          </p:txBody>
        </p:sp>
        <p:sp>
          <p:nvSpPr>
            <p:cNvPr id="27" name="Line 47"/>
            <p:cNvSpPr>
              <a:spLocks noChangeShapeType="1"/>
            </p:cNvSpPr>
            <p:nvPr/>
          </p:nvSpPr>
          <p:spPr bwMode="auto">
            <a:xfrm>
              <a:off x="6421604" y="5026539"/>
              <a:ext cx="199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48"/>
            <p:cNvSpPr>
              <a:spLocks noChangeShapeType="1"/>
            </p:cNvSpPr>
            <p:nvPr/>
          </p:nvSpPr>
          <p:spPr bwMode="auto">
            <a:xfrm flipV="1">
              <a:off x="6435891" y="5026539"/>
              <a:ext cx="0" cy="3921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49"/>
            <p:cNvSpPr>
              <a:spLocks noChangeShapeType="1"/>
            </p:cNvSpPr>
            <p:nvPr/>
          </p:nvSpPr>
          <p:spPr bwMode="auto">
            <a:xfrm flipV="1">
              <a:off x="7737641" y="5026539"/>
              <a:ext cx="0" cy="3984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50"/>
            <p:cNvSpPr>
              <a:spLocks noChangeShapeType="1"/>
            </p:cNvSpPr>
            <p:nvPr/>
          </p:nvSpPr>
          <p:spPr bwMode="auto">
            <a:xfrm flipV="1">
              <a:off x="7077241" y="5036064"/>
              <a:ext cx="0" cy="10461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51"/>
            <p:cNvSpPr>
              <a:spLocks noChangeShapeType="1"/>
            </p:cNvSpPr>
            <p:nvPr/>
          </p:nvSpPr>
          <p:spPr bwMode="auto">
            <a:xfrm flipV="1">
              <a:off x="8399629" y="5026539"/>
              <a:ext cx="0" cy="10398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52"/>
            <p:cNvSpPr>
              <a:spLocks noChangeShapeType="1"/>
            </p:cNvSpPr>
            <p:nvPr/>
          </p:nvSpPr>
          <p:spPr bwMode="auto">
            <a:xfrm>
              <a:off x="8150391" y="3024701"/>
              <a:ext cx="0" cy="19907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Box 53"/>
            <p:cNvSpPr txBox="1">
              <a:spLocks noChangeArrowheads="1"/>
            </p:cNvSpPr>
            <p:nvPr/>
          </p:nvSpPr>
          <p:spPr bwMode="auto">
            <a:xfrm>
              <a:off x="7415379" y="3575564"/>
              <a:ext cx="1120775" cy="701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dirty="0">
                  <a:latin typeface="Comic Sans MS" pitchFamily="66" charset="0"/>
                  <a:cs typeface="Arial" pitchFamily="34" charset="0"/>
                </a:rPr>
                <a:t>Applied to</a:t>
              </a: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5129063" y="2989264"/>
            <a:ext cx="3305175" cy="1971675"/>
            <a:chOff x="3605062" y="2989263"/>
            <a:chExt cx="3305175" cy="1971675"/>
          </a:xfrm>
        </p:grpSpPr>
        <p:sp>
          <p:nvSpPr>
            <p:cNvPr id="35" name="AutoShape 29"/>
            <p:cNvSpPr>
              <a:spLocks noChangeArrowheads="1"/>
            </p:cNvSpPr>
            <p:nvPr/>
          </p:nvSpPr>
          <p:spPr bwMode="auto">
            <a:xfrm>
              <a:off x="3605062" y="3621088"/>
              <a:ext cx="3305175" cy="1339850"/>
            </a:xfrm>
            <a:prstGeom prst="roundRect">
              <a:avLst>
                <a:gd name="adj" fmla="val 16667"/>
              </a:avLst>
            </a:prstGeom>
            <a:solidFill>
              <a:srgbClr val="333399"/>
            </a:solidFill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Text Box 30"/>
            <p:cNvSpPr txBox="1">
              <a:spLocks noChangeArrowheads="1"/>
            </p:cNvSpPr>
            <p:nvPr/>
          </p:nvSpPr>
          <p:spPr bwMode="auto">
            <a:xfrm>
              <a:off x="5727550" y="4383088"/>
              <a:ext cx="1087438" cy="40011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DNF</a:t>
              </a:r>
            </a:p>
          </p:txBody>
        </p:sp>
        <p:sp>
          <p:nvSpPr>
            <p:cNvPr id="37" name="Text Box 31"/>
            <p:cNvSpPr txBox="1">
              <a:spLocks noChangeArrowheads="1"/>
            </p:cNvSpPr>
            <p:nvPr/>
          </p:nvSpPr>
          <p:spPr bwMode="auto">
            <a:xfrm>
              <a:off x="4387700" y="4402138"/>
              <a:ext cx="1087438" cy="40011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Specs</a:t>
              </a:r>
            </a:p>
          </p:txBody>
        </p:sp>
        <p:sp>
          <p:nvSpPr>
            <p:cNvPr id="38" name="Text Box 32"/>
            <p:cNvSpPr txBox="1">
              <a:spLocks noChangeArrowheads="1"/>
            </p:cNvSpPr>
            <p:nvPr/>
          </p:nvSpPr>
          <p:spPr bwMode="auto">
            <a:xfrm>
              <a:off x="5089375" y="3706813"/>
              <a:ext cx="1087438" cy="40011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FSMs</a:t>
              </a:r>
            </a:p>
          </p:txBody>
        </p:sp>
        <p:sp>
          <p:nvSpPr>
            <p:cNvPr id="39" name="Text Box 33"/>
            <p:cNvSpPr txBox="1">
              <a:spLocks noChangeArrowheads="1"/>
            </p:cNvSpPr>
            <p:nvPr/>
          </p:nvSpPr>
          <p:spPr bwMode="auto">
            <a:xfrm>
              <a:off x="3749525" y="3727451"/>
              <a:ext cx="1087438" cy="40011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Source</a:t>
              </a:r>
            </a:p>
          </p:txBody>
        </p:sp>
        <p:sp>
          <p:nvSpPr>
            <p:cNvPr id="41" name="Line 35"/>
            <p:cNvSpPr>
              <a:spLocks noChangeShapeType="1"/>
            </p:cNvSpPr>
            <p:nvPr/>
          </p:nvSpPr>
          <p:spPr bwMode="auto">
            <a:xfrm>
              <a:off x="4292450" y="3336926"/>
              <a:ext cx="199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Line 36"/>
            <p:cNvSpPr>
              <a:spLocks noChangeShapeType="1"/>
            </p:cNvSpPr>
            <p:nvPr/>
          </p:nvSpPr>
          <p:spPr bwMode="auto">
            <a:xfrm flipV="1">
              <a:off x="4294037" y="3336926"/>
              <a:ext cx="0" cy="3730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Line 37"/>
            <p:cNvSpPr>
              <a:spLocks noChangeShapeType="1"/>
            </p:cNvSpPr>
            <p:nvPr/>
          </p:nvSpPr>
          <p:spPr bwMode="auto">
            <a:xfrm flipV="1">
              <a:off x="5633887" y="3336926"/>
              <a:ext cx="0" cy="3794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Line 38"/>
            <p:cNvSpPr>
              <a:spLocks noChangeShapeType="1"/>
            </p:cNvSpPr>
            <p:nvPr/>
          </p:nvSpPr>
          <p:spPr bwMode="auto">
            <a:xfrm flipV="1">
              <a:off x="4932212" y="3346451"/>
              <a:ext cx="0" cy="10461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Line 39"/>
            <p:cNvSpPr>
              <a:spLocks noChangeShapeType="1"/>
            </p:cNvSpPr>
            <p:nvPr/>
          </p:nvSpPr>
          <p:spPr bwMode="auto">
            <a:xfrm flipV="1">
              <a:off x="6272062" y="3336926"/>
              <a:ext cx="0" cy="10398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 Box 40"/>
            <p:cNvSpPr txBox="1">
              <a:spLocks noChangeArrowheads="1"/>
            </p:cNvSpPr>
            <p:nvPr/>
          </p:nvSpPr>
          <p:spPr bwMode="auto">
            <a:xfrm>
              <a:off x="4871887" y="2989263"/>
              <a:ext cx="1589088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dirty="0">
                  <a:latin typeface="Comic Sans MS" pitchFamily="66" charset="0"/>
                  <a:cs typeface="Arial" pitchFamily="34" charset="0"/>
                </a:rPr>
                <a:t>Applied to</a:t>
              </a:r>
            </a:p>
          </p:txBody>
        </p:sp>
        <p:sp>
          <p:nvSpPr>
            <p:cNvPr id="54" name="Line 22"/>
            <p:cNvSpPr>
              <a:spLocks noChangeShapeType="1"/>
            </p:cNvSpPr>
            <p:nvPr/>
          </p:nvSpPr>
          <p:spPr bwMode="auto">
            <a:xfrm>
              <a:off x="6008312" y="3024188"/>
              <a:ext cx="0" cy="3206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1699838" y="3005139"/>
            <a:ext cx="4138612" cy="3598863"/>
            <a:chOff x="175838" y="3005138"/>
            <a:chExt cx="4138612" cy="3598863"/>
          </a:xfrm>
        </p:grpSpPr>
        <p:sp>
          <p:nvSpPr>
            <p:cNvPr id="40" name="Line 34"/>
            <p:cNvSpPr>
              <a:spLocks noChangeShapeType="1"/>
            </p:cNvSpPr>
            <p:nvPr/>
          </p:nvSpPr>
          <p:spPr bwMode="auto">
            <a:xfrm>
              <a:off x="4030512" y="3035301"/>
              <a:ext cx="0" cy="3095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AutoShape 16"/>
            <p:cNvSpPr>
              <a:spLocks noChangeArrowheads="1"/>
            </p:cNvSpPr>
            <p:nvPr/>
          </p:nvSpPr>
          <p:spPr bwMode="auto">
            <a:xfrm>
              <a:off x="175838" y="5264151"/>
              <a:ext cx="4138612" cy="1339850"/>
            </a:xfrm>
            <a:prstGeom prst="roundRect">
              <a:avLst>
                <a:gd name="adj" fmla="val 16667"/>
              </a:avLst>
            </a:prstGeom>
            <a:solidFill>
              <a:srgbClr val="333399"/>
            </a:solidFill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Text Box 17"/>
            <p:cNvSpPr txBox="1">
              <a:spLocks noChangeArrowheads="1"/>
            </p:cNvSpPr>
            <p:nvPr/>
          </p:nvSpPr>
          <p:spPr bwMode="auto">
            <a:xfrm>
              <a:off x="2798388" y="6054726"/>
              <a:ext cx="1441450" cy="40011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Use cases</a:t>
              </a:r>
            </a:p>
          </p:txBody>
        </p:sp>
        <p:sp>
          <p:nvSpPr>
            <p:cNvPr id="50" name="Text Box 18"/>
            <p:cNvSpPr txBox="1">
              <a:spLocks noChangeArrowheads="1"/>
            </p:cNvSpPr>
            <p:nvPr/>
          </p:nvSpPr>
          <p:spPr bwMode="auto">
            <a:xfrm>
              <a:off x="1968125" y="5381626"/>
              <a:ext cx="1441450" cy="40011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Specs</a:t>
              </a:r>
            </a:p>
          </p:txBody>
        </p:sp>
        <p:sp>
          <p:nvSpPr>
            <p:cNvPr id="51" name="Text Box 19"/>
            <p:cNvSpPr txBox="1">
              <a:spLocks noChangeArrowheads="1"/>
            </p:cNvSpPr>
            <p:nvPr/>
          </p:nvSpPr>
          <p:spPr bwMode="auto">
            <a:xfrm>
              <a:off x="1109288" y="6054726"/>
              <a:ext cx="1441450" cy="40011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Design</a:t>
              </a:r>
            </a:p>
          </p:txBody>
        </p:sp>
        <p:sp>
          <p:nvSpPr>
            <p:cNvPr id="52" name="Text Box 20"/>
            <p:cNvSpPr txBox="1">
              <a:spLocks noChangeArrowheads="1"/>
            </p:cNvSpPr>
            <p:nvPr/>
          </p:nvSpPr>
          <p:spPr bwMode="auto">
            <a:xfrm>
              <a:off x="272675" y="5381626"/>
              <a:ext cx="1441450" cy="40011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Source</a:t>
              </a:r>
            </a:p>
          </p:txBody>
        </p:sp>
        <p:sp>
          <p:nvSpPr>
            <p:cNvPr id="53" name="Line 21"/>
            <p:cNvSpPr>
              <a:spLocks noChangeShapeType="1"/>
            </p:cNvSpPr>
            <p:nvPr/>
          </p:nvSpPr>
          <p:spPr bwMode="auto">
            <a:xfrm>
              <a:off x="972763" y="3355976"/>
              <a:ext cx="30686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Line 23"/>
            <p:cNvSpPr>
              <a:spLocks noChangeShapeType="1"/>
            </p:cNvSpPr>
            <p:nvPr/>
          </p:nvSpPr>
          <p:spPr bwMode="auto">
            <a:xfrm flipV="1">
              <a:off x="988638" y="3336926"/>
              <a:ext cx="0" cy="20399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Line 24"/>
            <p:cNvSpPr>
              <a:spLocks noChangeShapeType="1"/>
            </p:cNvSpPr>
            <p:nvPr/>
          </p:nvSpPr>
          <p:spPr bwMode="auto">
            <a:xfrm flipV="1">
              <a:off x="2690438" y="3346451"/>
              <a:ext cx="0" cy="20367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Line 25"/>
            <p:cNvSpPr>
              <a:spLocks noChangeShapeType="1"/>
            </p:cNvSpPr>
            <p:nvPr/>
          </p:nvSpPr>
          <p:spPr bwMode="auto">
            <a:xfrm flipV="1">
              <a:off x="1833188" y="3346451"/>
              <a:ext cx="0" cy="26908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Line 26"/>
            <p:cNvSpPr>
              <a:spLocks noChangeShapeType="1"/>
            </p:cNvSpPr>
            <p:nvPr/>
          </p:nvSpPr>
          <p:spPr bwMode="auto">
            <a:xfrm flipV="1">
              <a:off x="3522287" y="3355976"/>
              <a:ext cx="0" cy="26876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 Box 27"/>
            <p:cNvSpPr txBox="1">
              <a:spLocks noChangeArrowheads="1"/>
            </p:cNvSpPr>
            <p:nvPr/>
          </p:nvSpPr>
          <p:spPr bwMode="auto">
            <a:xfrm>
              <a:off x="2638978" y="3005138"/>
              <a:ext cx="1120775" cy="701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dirty="0">
                  <a:latin typeface="Comic Sans MS" pitchFamily="66" charset="0"/>
                  <a:cs typeface="Arial" pitchFamily="34" charset="0"/>
                </a:rPr>
                <a:t>Applied to</a:t>
              </a:r>
            </a:p>
          </p:txBody>
        </p:sp>
      </p:grpSp>
      <p:sp>
        <p:nvSpPr>
          <p:cNvPr id="61" name="Rectangle 55"/>
          <p:cNvSpPr>
            <a:spLocks noChangeArrowheads="1"/>
          </p:cNvSpPr>
          <p:nvPr/>
        </p:nvSpPr>
        <p:spPr bwMode="auto">
          <a:xfrm>
            <a:off x="6360964" y="2020889"/>
            <a:ext cx="4307037" cy="4664075"/>
          </a:xfrm>
          <a:prstGeom prst="rect">
            <a:avLst/>
          </a:prstGeom>
          <a:solidFill>
            <a:srgbClr val="C0C0C0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62" name="Rectangle 56"/>
          <p:cNvSpPr>
            <a:spLocks noChangeArrowheads="1"/>
          </p:cNvSpPr>
          <p:nvPr/>
        </p:nvSpPr>
        <p:spPr bwMode="auto">
          <a:xfrm>
            <a:off x="5129062" y="3526632"/>
            <a:ext cx="4637238" cy="1509432"/>
          </a:xfrm>
          <a:prstGeom prst="rect">
            <a:avLst/>
          </a:prstGeom>
          <a:solidFill>
            <a:srgbClr val="C0C0C0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66" name="Rectangle 56"/>
          <p:cNvSpPr>
            <a:spLocks noChangeArrowheads="1"/>
          </p:cNvSpPr>
          <p:nvPr/>
        </p:nvSpPr>
        <p:spPr bwMode="auto">
          <a:xfrm>
            <a:off x="1568450" y="2020889"/>
            <a:ext cx="2644400" cy="1166812"/>
          </a:xfrm>
          <a:prstGeom prst="rect">
            <a:avLst/>
          </a:prstGeom>
          <a:solidFill>
            <a:srgbClr val="C0C0C0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083354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2" grpId="0" animBg="1"/>
      <p:bldP spid="6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Covering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Graphs are the most </a:t>
            </a:r>
            <a:r>
              <a:rPr lang="en-US" dirty="0">
                <a:solidFill>
                  <a:schemeClr val="tx2"/>
                </a:solidFill>
              </a:rPr>
              <a:t>commonly</a:t>
            </a:r>
            <a:r>
              <a:rPr lang="en-US" dirty="0"/>
              <a:t> used structure for testing</a:t>
            </a:r>
          </a:p>
          <a:p>
            <a:r>
              <a:rPr lang="en-US" dirty="0"/>
              <a:t>Graphs can come from </a:t>
            </a:r>
            <a:r>
              <a:rPr lang="en-US" dirty="0">
                <a:solidFill>
                  <a:schemeClr val="tx2"/>
                </a:solidFill>
              </a:rPr>
              <a:t>many sources</a:t>
            </a:r>
          </a:p>
          <a:p>
            <a:pPr lvl="1"/>
            <a:r>
              <a:rPr lang="en-US" dirty="0"/>
              <a:t>Control flow graphs</a:t>
            </a:r>
          </a:p>
          <a:p>
            <a:pPr lvl="1"/>
            <a:r>
              <a:rPr lang="en-US" dirty="0"/>
              <a:t>Design structure</a:t>
            </a:r>
          </a:p>
          <a:p>
            <a:pPr lvl="1"/>
            <a:r>
              <a:rPr lang="en-US" dirty="0"/>
              <a:t>FSMs and </a:t>
            </a:r>
            <a:r>
              <a:rPr lang="en-US" dirty="0" err="1"/>
              <a:t>statecharts</a:t>
            </a:r>
            <a:endParaRPr lang="en-US" dirty="0"/>
          </a:p>
          <a:p>
            <a:pPr lvl="1"/>
            <a:r>
              <a:rPr lang="en-US" dirty="0"/>
              <a:t>Use cases</a:t>
            </a:r>
          </a:p>
          <a:p>
            <a:r>
              <a:rPr lang="en-US" dirty="0"/>
              <a:t>Tests usually are intended to “</a:t>
            </a:r>
            <a:r>
              <a:rPr lang="en-US" dirty="0">
                <a:solidFill>
                  <a:schemeClr val="tx2"/>
                </a:solidFill>
              </a:rPr>
              <a:t>cover</a:t>
            </a:r>
            <a:r>
              <a:rPr lang="en-US" dirty="0"/>
              <a:t>” the graph in some way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1E34D2-BFAA-43E6-B117-0A7C9FC99B38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3CB583-FD6B-4493-B6FA-E739FBE13C86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 of a Graph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6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A set </a:t>
                </a:r>
                <a:r>
                  <a:rPr lang="en-US" i="1" dirty="0"/>
                  <a:t>N</a:t>
                </a:r>
                <a:r>
                  <a:rPr lang="en-US" dirty="0"/>
                  <a:t> of </a:t>
                </a:r>
                <a:r>
                  <a:rPr lang="en-US" dirty="0">
                    <a:solidFill>
                      <a:schemeClr val="tx2"/>
                    </a:solidFill>
                  </a:rPr>
                  <a:t>nodes</a:t>
                </a:r>
                <a:r>
                  <a:rPr lang="en-US" dirty="0"/>
                  <a:t>, </a:t>
                </a:r>
                <a:r>
                  <a:rPr lang="en-US" i="1" dirty="0"/>
                  <a:t>N</a:t>
                </a:r>
                <a:r>
                  <a:rPr lang="en-US" dirty="0"/>
                  <a:t> is not empty</a:t>
                </a:r>
              </a:p>
              <a:p>
                <a:pPr lvl="1"/>
                <a:endParaRPr lang="en-US" sz="1800" dirty="0"/>
              </a:p>
              <a:p>
                <a:r>
                  <a:rPr lang="en-US" dirty="0"/>
                  <a:t>A set </a:t>
                </a:r>
                <a:r>
                  <a:rPr lang="en-US" i="1" dirty="0"/>
                  <a:t>N</a:t>
                </a:r>
                <a:r>
                  <a:rPr lang="en-US" i="1" baseline="-25000" dirty="0"/>
                  <a:t>0</a:t>
                </a:r>
                <a:r>
                  <a:rPr lang="en-US" dirty="0"/>
                  <a:t> of </a:t>
                </a:r>
                <a:r>
                  <a:rPr lang="en-US" dirty="0">
                    <a:solidFill>
                      <a:schemeClr val="tx2"/>
                    </a:solidFill>
                  </a:rPr>
                  <a:t>initial nodes</a:t>
                </a:r>
                <a:r>
                  <a:rPr lang="en-US" dirty="0"/>
                  <a:t>, </a:t>
                </a:r>
                <a:r>
                  <a:rPr lang="en-US" i="1" dirty="0"/>
                  <a:t>N</a:t>
                </a:r>
                <a:r>
                  <a:rPr lang="en-US" i="1" baseline="-25000" dirty="0"/>
                  <a:t>0</a:t>
                </a:r>
                <a:r>
                  <a:rPr lang="en-US" dirty="0"/>
                  <a:t> is not empty,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𝑁</m:t>
                    </m:r>
                    <m:r>
                      <a:rPr lang="en-US" altLang="zh-CN" i="1" baseline="-25000">
                        <a:latin typeface="Cambria Math"/>
                      </a:rPr>
                      <m:t>𝑜</m:t>
                    </m:r>
                    <m:r>
                      <a:rPr lang="en-US" altLang="zh-CN" i="1">
                        <a:latin typeface="Cambria Math"/>
                      </a:rPr>
                      <m:t>⊆</m:t>
                    </m:r>
                    <m:r>
                      <a:rPr lang="en-US" altLang="zh-CN" i="1">
                        <a:latin typeface="Cambria Math"/>
                      </a:rPr>
                      <m:t>𝑁</m:t>
                    </m:r>
                  </m:oMath>
                </a14:m>
                <a:endParaRPr lang="en-US" altLang="zh-CN" dirty="0"/>
              </a:p>
              <a:p>
                <a:pPr lvl="1"/>
                <a:endParaRPr lang="en-US" sz="1800" dirty="0"/>
              </a:p>
              <a:p>
                <a:r>
                  <a:rPr lang="en-US" dirty="0"/>
                  <a:t>A set </a:t>
                </a:r>
                <a:r>
                  <a:rPr lang="en-US" i="1" dirty="0" err="1"/>
                  <a:t>N</a:t>
                </a:r>
                <a:r>
                  <a:rPr lang="en-US" i="1" baseline="-25000" dirty="0" err="1"/>
                  <a:t>f</a:t>
                </a:r>
                <a:r>
                  <a:rPr lang="en-US" dirty="0"/>
                  <a:t> of </a:t>
                </a:r>
                <a:r>
                  <a:rPr lang="en-US" dirty="0">
                    <a:solidFill>
                      <a:schemeClr val="tx2"/>
                    </a:solidFill>
                  </a:rPr>
                  <a:t>final nodes</a:t>
                </a:r>
                <a:r>
                  <a:rPr lang="en-US" dirty="0"/>
                  <a:t>, </a:t>
                </a:r>
                <a:r>
                  <a:rPr lang="en-US" i="1" dirty="0" err="1"/>
                  <a:t>N</a:t>
                </a:r>
                <a:r>
                  <a:rPr lang="en-US" i="1" baseline="-25000" dirty="0" err="1"/>
                  <a:t>f</a:t>
                </a:r>
                <a:r>
                  <a:rPr lang="en-US" dirty="0"/>
                  <a:t> is not empty,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𝑁</m:t>
                    </m:r>
                    <m:r>
                      <a:rPr lang="en-US" altLang="zh-CN" i="1" baseline="-25000">
                        <a:latin typeface="Cambria Math"/>
                      </a:rPr>
                      <m:t>𝑓</m:t>
                    </m:r>
                    <m:r>
                      <a:rPr lang="en-US" altLang="zh-CN" i="1">
                        <a:latin typeface="Cambria Math"/>
                      </a:rPr>
                      <m:t>⊆</m:t>
                    </m:r>
                    <m:r>
                      <a:rPr lang="en-US" altLang="zh-CN" i="1">
                        <a:latin typeface="Cambria Math"/>
                      </a:rPr>
                      <m:t>𝑁</m:t>
                    </m:r>
                  </m:oMath>
                </a14:m>
                <a:endParaRPr lang="en-US" dirty="0"/>
              </a:p>
              <a:p>
                <a:pPr lvl="1"/>
                <a:endParaRPr lang="en-US" sz="1800" dirty="0"/>
              </a:p>
              <a:p>
                <a:r>
                  <a:rPr lang="en-US" dirty="0"/>
                  <a:t>A set </a:t>
                </a:r>
                <a:r>
                  <a:rPr lang="en-US" i="1" dirty="0"/>
                  <a:t>E</a:t>
                </a:r>
                <a:r>
                  <a:rPr lang="en-US" dirty="0"/>
                  <a:t> of </a:t>
                </a:r>
                <a:r>
                  <a:rPr lang="en-US" dirty="0">
                    <a:solidFill>
                      <a:schemeClr val="tx2"/>
                    </a:solidFill>
                  </a:rPr>
                  <a:t>edges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𝐸</m:t>
                    </m:r>
                    <m:r>
                      <a:rPr lang="en-US" altLang="zh-CN" i="1">
                        <a:latin typeface="Cambria Math"/>
                      </a:rPr>
                      <m:t>⊆</m:t>
                    </m:r>
                    <m:r>
                      <a:rPr lang="en-US" altLang="zh-CN" i="1">
                        <a:latin typeface="Cambria Math"/>
                      </a:rPr>
                      <m:t>𝑁</m:t>
                    </m:r>
                    <m:r>
                      <a:rPr lang="en-US" altLang="zh-CN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US" altLang="zh-CN" i="1">
                        <a:latin typeface="Cambria Math"/>
                      </a:rPr>
                      <m:t>𝑁</m:t>
                    </m:r>
                    <m:r>
                      <a:rPr lang="en-US" altLang="zh-CN" i="1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, each edge from one node to another</a:t>
                </a:r>
              </a:p>
              <a:p>
                <a:pPr lvl="1"/>
                <a:r>
                  <a:rPr lang="en-US" sz="1800" dirty="0"/>
                  <a:t>( </a:t>
                </a:r>
                <a:r>
                  <a:rPr lang="en-US" i="1" dirty="0" err="1"/>
                  <a:t>n</a:t>
                </a:r>
                <a:r>
                  <a:rPr lang="en-US" i="1" baseline="-25000" dirty="0" err="1"/>
                  <a:t>i</a:t>
                </a:r>
                <a:r>
                  <a:rPr lang="en-US" dirty="0"/>
                  <a:t> , </a:t>
                </a:r>
                <a:r>
                  <a:rPr lang="en-US" i="1" dirty="0" err="1"/>
                  <a:t>n</a:t>
                </a:r>
                <a:r>
                  <a:rPr lang="en-US" i="1" baseline="-25000" dirty="0" err="1"/>
                  <a:t>j</a:t>
                </a:r>
                <a:r>
                  <a:rPr lang="en-US" dirty="0"/>
                  <a:t> ), </a:t>
                </a:r>
                <a:r>
                  <a:rPr lang="en-US" i="1" dirty="0" err="1"/>
                  <a:t>i</a:t>
                </a:r>
                <a:r>
                  <a:rPr lang="en-US" dirty="0"/>
                  <a:t> is </a:t>
                </a:r>
                <a:r>
                  <a:rPr lang="en-US" dirty="0">
                    <a:solidFill>
                      <a:schemeClr val="tx2"/>
                    </a:solidFill>
                  </a:rPr>
                  <a:t>predecessor</a:t>
                </a:r>
                <a:r>
                  <a:rPr lang="en-US" dirty="0"/>
                  <a:t>, </a:t>
                </a:r>
                <a:r>
                  <a:rPr lang="en-US" i="1" dirty="0"/>
                  <a:t>j</a:t>
                </a:r>
                <a:r>
                  <a:rPr lang="en-US" dirty="0"/>
                  <a:t> is </a:t>
                </a:r>
                <a:r>
                  <a:rPr lang="en-US" dirty="0">
                    <a:solidFill>
                      <a:schemeClr val="tx2"/>
                    </a:solidFill>
                  </a:rPr>
                  <a:t>successor</a:t>
                </a:r>
                <a:endParaRPr lang="en-US" sz="18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126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0">
                <a:blip r:embed="rId3"/>
                <a:stretch>
                  <a:fillRect l="-948" t="-1921" r="-23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/>
          <p:cNvGrpSpPr/>
          <p:nvPr/>
        </p:nvGrpSpPr>
        <p:grpSpPr>
          <a:xfrm>
            <a:off x="3763964" y="5213229"/>
            <a:ext cx="555625" cy="815975"/>
            <a:chOff x="638706" y="4810655"/>
            <a:chExt cx="555625" cy="815975"/>
          </a:xfrm>
        </p:grpSpPr>
        <p:sp>
          <p:nvSpPr>
            <p:cNvPr id="7" name="Oval 5"/>
            <p:cNvSpPr>
              <a:spLocks noChangeArrowheads="1"/>
            </p:cNvSpPr>
            <p:nvPr/>
          </p:nvSpPr>
          <p:spPr bwMode="auto">
            <a:xfrm>
              <a:off x="638706" y="5156730"/>
              <a:ext cx="555625" cy="469900"/>
            </a:xfrm>
            <a:prstGeom prst="ellipse">
              <a:avLst/>
            </a:prstGeom>
            <a:solidFill>
              <a:srgbClr val="0066FF"/>
            </a:solidFill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Line 29"/>
            <p:cNvSpPr>
              <a:spLocks noChangeShapeType="1"/>
            </p:cNvSpPr>
            <p:nvPr/>
          </p:nvSpPr>
          <p:spPr bwMode="auto">
            <a:xfrm>
              <a:off x="916519" y="4810655"/>
              <a:ext cx="0" cy="3206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 Box 109"/>
          <p:cNvSpPr txBox="1">
            <a:spLocks noChangeArrowheads="1"/>
          </p:cNvSpPr>
          <p:nvPr/>
        </p:nvSpPr>
        <p:spPr bwMode="auto">
          <a:xfrm>
            <a:off x="4463521" y="4959497"/>
            <a:ext cx="1457325" cy="132343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N</a:t>
            </a:r>
            <a:r>
              <a:rPr lang="en-US" baseline="-25000" dirty="0">
                <a:solidFill>
                  <a:schemeClr val="tx1"/>
                </a:solidFill>
                <a:latin typeface="Gill Sans MT" pitchFamily="34" charset="0"/>
              </a:rPr>
              <a:t>0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= { 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1 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}</a:t>
            </a:r>
          </a:p>
          <a:p>
            <a:pPr algn="ctr">
              <a:spcBef>
                <a:spcPct val="50000"/>
              </a:spcBef>
            </a:pPr>
            <a:r>
              <a:rPr lang="en-US" dirty="0" err="1">
                <a:solidFill>
                  <a:schemeClr val="tx1"/>
                </a:solidFill>
                <a:latin typeface="Gill Sans MT" pitchFamily="34" charset="0"/>
              </a:rPr>
              <a:t>N</a:t>
            </a:r>
            <a:r>
              <a:rPr lang="en-US" baseline="-25000" dirty="0" err="1">
                <a:solidFill>
                  <a:schemeClr val="tx1"/>
                </a:solidFill>
                <a:latin typeface="Gill Sans MT" pitchFamily="34" charset="0"/>
              </a:rPr>
              <a:t>f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= { </a:t>
            </a:r>
            <a:r>
              <a:rPr lang="en-US" dirty="0">
                <a:solidFill>
                  <a:schemeClr val="tx1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}</a:t>
            </a:r>
          </a:p>
          <a:p>
            <a:pPr algn="ctr"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E = { }</a:t>
            </a:r>
          </a:p>
        </p:txBody>
      </p:sp>
      <p:sp>
        <p:nvSpPr>
          <p:cNvPr id="11" name="Text Box 109"/>
          <p:cNvSpPr txBox="1">
            <a:spLocks noChangeArrowheads="1"/>
          </p:cNvSpPr>
          <p:nvPr/>
        </p:nvSpPr>
        <p:spPr bwMode="auto">
          <a:xfrm>
            <a:off x="1940454" y="5205718"/>
            <a:ext cx="1457325" cy="83099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Is this a graph?</a:t>
            </a:r>
          </a:p>
        </p:txBody>
      </p:sp>
      <p:sp>
        <p:nvSpPr>
          <p:cNvPr id="13" name="AutoShape 73"/>
          <p:cNvSpPr>
            <a:spLocks noChangeArrowheads="1"/>
          </p:cNvSpPr>
          <p:nvPr/>
        </p:nvSpPr>
        <p:spPr bwMode="auto">
          <a:xfrm>
            <a:off x="6307666" y="4930135"/>
            <a:ext cx="1354667" cy="1258337"/>
          </a:xfrm>
          <a:prstGeom prst="irregularSeal2">
            <a:avLst/>
          </a:prstGeom>
          <a:solidFill>
            <a:schemeClr val="tx1">
              <a:lumMod val="65000"/>
            </a:schemeClr>
          </a:solidFill>
          <a:ln w="28575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Yes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72"/>
          <p:cNvSpPr txBox="1"/>
          <p:nvPr/>
        </p:nvSpPr>
        <p:spPr>
          <a:xfrm>
            <a:off x="8449735" y="5046124"/>
            <a:ext cx="2066395" cy="1323439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Write down the initial and final nodes, and the edges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82122" y="5046124"/>
            <a:ext cx="2066395" cy="1323439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Write down the initial and final nodes, and the edges</a:t>
            </a:r>
          </a:p>
        </p:txBody>
      </p:sp>
      <p:sp>
        <p:nvSpPr>
          <p:cNvPr id="614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235AFF7-E3DE-47C9-9E1F-BFE4AC90438E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Graphs</a:t>
            </a:r>
          </a:p>
        </p:txBody>
      </p:sp>
      <p:grpSp>
        <p:nvGrpSpPr>
          <p:cNvPr id="6150" name="Group 114"/>
          <p:cNvGrpSpPr>
            <a:grpSpLocks/>
          </p:cNvGrpSpPr>
          <p:nvPr/>
        </p:nvGrpSpPr>
        <p:grpSpPr bwMode="auto">
          <a:xfrm>
            <a:off x="1684339" y="873640"/>
            <a:ext cx="1984375" cy="3794125"/>
            <a:chOff x="101" y="801"/>
            <a:chExt cx="1250" cy="2390"/>
          </a:xfrm>
        </p:grpSpPr>
        <p:sp>
          <p:nvSpPr>
            <p:cNvPr id="6204" name="Oval 5"/>
            <p:cNvSpPr>
              <a:spLocks noChangeArrowheads="1"/>
            </p:cNvSpPr>
            <p:nvPr/>
          </p:nvSpPr>
          <p:spPr bwMode="auto">
            <a:xfrm>
              <a:off x="551" y="1019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05" name="Text Box 4"/>
            <p:cNvSpPr txBox="1">
              <a:spLocks noChangeArrowheads="1"/>
            </p:cNvSpPr>
            <p:nvPr/>
          </p:nvSpPr>
          <p:spPr bwMode="auto">
            <a:xfrm>
              <a:off x="628" y="1042"/>
              <a:ext cx="196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206" name="Oval 8"/>
            <p:cNvSpPr>
              <a:spLocks noChangeArrowheads="1"/>
            </p:cNvSpPr>
            <p:nvPr/>
          </p:nvSpPr>
          <p:spPr bwMode="auto">
            <a:xfrm>
              <a:off x="1001" y="1957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07" name="Text Box 9"/>
            <p:cNvSpPr txBox="1">
              <a:spLocks noChangeArrowheads="1"/>
            </p:cNvSpPr>
            <p:nvPr/>
          </p:nvSpPr>
          <p:spPr bwMode="auto">
            <a:xfrm>
              <a:off x="1078" y="1980"/>
              <a:ext cx="196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6208" name="Oval 11"/>
            <p:cNvSpPr>
              <a:spLocks noChangeArrowheads="1"/>
            </p:cNvSpPr>
            <p:nvPr/>
          </p:nvSpPr>
          <p:spPr bwMode="auto">
            <a:xfrm>
              <a:off x="101" y="1957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09" name="Text Box 12"/>
            <p:cNvSpPr txBox="1">
              <a:spLocks noChangeArrowheads="1"/>
            </p:cNvSpPr>
            <p:nvPr/>
          </p:nvSpPr>
          <p:spPr bwMode="auto">
            <a:xfrm>
              <a:off x="178" y="1980"/>
              <a:ext cx="196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210" name="Oval 14"/>
            <p:cNvSpPr>
              <a:spLocks noChangeArrowheads="1"/>
            </p:cNvSpPr>
            <p:nvPr/>
          </p:nvSpPr>
          <p:spPr bwMode="auto">
            <a:xfrm>
              <a:off x="551" y="2895"/>
              <a:ext cx="350" cy="296"/>
            </a:xfrm>
            <a:prstGeom prst="ellipse">
              <a:avLst/>
            </a:prstGeom>
            <a:solidFill>
              <a:srgbClr val="0066FF"/>
            </a:solidFill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11" name="Text Box 15"/>
            <p:cNvSpPr txBox="1">
              <a:spLocks noChangeArrowheads="1"/>
            </p:cNvSpPr>
            <p:nvPr/>
          </p:nvSpPr>
          <p:spPr bwMode="auto">
            <a:xfrm>
              <a:off x="628" y="2918"/>
              <a:ext cx="196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212" name="Line 19"/>
            <p:cNvSpPr>
              <a:spLocks noChangeShapeType="1"/>
            </p:cNvSpPr>
            <p:nvPr/>
          </p:nvSpPr>
          <p:spPr bwMode="auto">
            <a:xfrm flipH="1">
              <a:off x="360" y="1312"/>
              <a:ext cx="327" cy="6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13" name="Line 22"/>
            <p:cNvSpPr>
              <a:spLocks noChangeShapeType="1"/>
            </p:cNvSpPr>
            <p:nvPr/>
          </p:nvSpPr>
          <p:spPr bwMode="auto">
            <a:xfrm>
              <a:off x="384" y="2239"/>
              <a:ext cx="280" cy="6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14" name="Line 27"/>
            <p:cNvSpPr>
              <a:spLocks noChangeShapeType="1"/>
            </p:cNvSpPr>
            <p:nvPr/>
          </p:nvSpPr>
          <p:spPr bwMode="auto">
            <a:xfrm flipH="1">
              <a:off x="780" y="2235"/>
              <a:ext cx="303" cy="6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15" name="Line 28"/>
            <p:cNvSpPr>
              <a:spLocks noChangeShapeType="1"/>
            </p:cNvSpPr>
            <p:nvPr/>
          </p:nvSpPr>
          <p:spPr bwMode="auto">
            <a:xfrm>
              <a:off x="780" y="1317"/>
              <a:ext cx="303" cy="65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16" name="Line 29"/>
            <p:cNvSpPr>
              <a:spLocks noChangeShapeType="1"/>
            </p:cNvSpPr>
            <p:nvPr/>
          </p:nvSpPr>
          <p:spPr bwMode="auto">
            <a:xfrm>
              <a:off x="726" y="801"/>
              <a:ext cx="0" cy="2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152" name="Group 116"/>
          <p:cNvGrpSpPr>
            <a:grpSpLocks/>
          </p:cNvGrpSpPr>
          <p:nvPr/>
        </p:nvGrpSpPr>
        <p:grpSpPr bwMode="auto">
          <a:xfrm>
            <a:off x="8582026" y="1219714"/>
            <a:ext cx="1984375" cy="3448050"/>
            <a:chOff x="4446" y="1019"/>
            <a:chExt cx="1250" cy="2172"/>
          </a:xfrm>
        </p:grpSpPr>
        <p:sp>
          <p:nvSpPr>
            <p:cNvPr id="6192" name="Oval 90"/>
            <p:cNvSpPr>
              <a:spLocks noChangeArrowheads="1"/>
            </p:cNvSpPr>
            <p:nvPr/>
          </p:nvSpPr>
          <p:spPr bwMode="auto">
            <a:xfrm>
              <a:off x="4896" y="1019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93" name="Text Box 91"/>
            <p:cNvSpPr txBox="1">
              <a:spLocks noChangeArrowheads="1"/>
            </p:cNvSpPr>
            <p:nvPr/>
          </p:nvSpPr>
          <p:spPr bwMode="auto">
            <a:xfrm>
              <a:off x="4973" y="1042"/>
              <a:ext cx="197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194" name="Oval 93"/>
            <p:cNvSpPr>
              <a:spLocks noChangeArrowheads="1"/>
            </p:cNvSpPr>
            <p:nvPr/>
          </p:nvSpPr>
          <p:spPr bwMode="auto">
            <a:xfrm>
              <a:off x="5346" y="1957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95" name="Text Box 94"/>
            <p:cNvSpPr txBox="1">
              <a:spLocks noChangeArrowheads="1"/>
            </p:cNvSpPr>
            <p:nvPr/>
          </p:nvSpPr>
          <p:spPr bwMode="auto">
            <a:xfrm>
              <a:off x="5423" y="1980"/>
              <a:ext cx="196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6196" name="Oval 96"/>
            <p:cNvSpPr>
              <a:spLocks noChangeArrowheads="1"/>
            </p:cNvSpPr>
            <p:nvPr/>
          </p:nvSpPr>
          <p:spPr bwMode="auto">
            <a:xfrm>
              <a:off x="4446" y="1957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198" name="Oval 99"/>
            <p:cNvSpPr>
              <a:spLocks noChangeArrowheads="1"/>
            </p:cNvSpPr>
            <p:nvPr/>
          </p:nvSpPr>
          <p:spPr bwMode="auto">
            <a:xfrm>
              <a:off x="4896" y="2895"/>
              <a:ext cx="350" cy="296"/>
            </a:xfrm>
            <a:prstGeom prst="ellipse">
              <a:avLst/>
            </a:prstGeom>
            <a:solidFill>
              <a:srgbClr val="0066FF"/>
            </a:solidFill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99" name="Text Box 100"/>
            <p:cNvSpPr txBox="1">
              <a:spLocks noChangeArrowheads="1"/>
            </p:cNvSpPr>
            <p:nvPr/>
          </p:nvSpPr>
          <p:spPr bwMode="auto">
            <a:xfrm>
              <a:off x="4973" y="2918"/>
              <a:ext cx="197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200" name="Line 101"/>
            <p:cNvSpPr>
              <a:spLocks noChangeShapeType="1"/>
            </p:cNvSpPr>
            <p:nvPr/>
          </p:nvSpPr>
          <p:spPr bwMode="auto">
            <a:xfrm flipH="1">
              <a:off x="4705" y="1312"/>
              <a:ext cx="327" cy="67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01" name="Line 102"/>
            <p:cNvSpPr>
              <a:spLocks noChangeShapeType="1"/>
            </p:cNvSpPr>
            <p:nvPr/>
          </p:nvSpPr>
          <p:spPr bwMode="auto">
            <a:xfrm>
              <a:off x="4729" y="2239"/>
              <a:ext cx="244" cy="6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02" name="Line 103"/>
            <p:cNvSpPr>
              <a:spLocks noChangeShapeType="1"/>
            </p:cNvSpPr>
            <p:nvPr/>
          </p:nvSpPr>
          <p:spPr bwMode="auto">
            <a:xfrm flipH="1">
              <a:off x="5129" y="2235"/>
              <a:ext cx="299" cy="6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03" name="Line 104"/>
            <p:cNvSpPr>
              <a:spLocks noChangeShapeType="1"/>
            </p:cNvSpPr>
            <p:nvPr/>
          </p:nvSpPr>
          <p:spPr bwMode="auto">
            <a:xfrm>
              <a:off x="5125" y="1317"/>
              <a:ext cx="280" cy="6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153" name="Text Box 110"/>
          <p:cNvSpPr txBox="1">
            <a:spLocks noChangeArrowheads="1"/>
          </p:cNvSpPr>
          <p:nvPr/>
        </p:nvSpPr>
        <p:spPr bwMode="auto">
          <a:xfrm>
            <a:off x="8432800" y="4802187"/>
            <a:ext cx="2133600" cy="193899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N</a:t>
            </a:r>
            <a:r>
              <a:rPr lang="en-US" baseline="-25000" dirty="0">
                <a:solidFill>
                  <a:schemeClr val="tx1"/>
                </a:solidFill>
                <a:latin typeface="Gill Sans MT" pitchFamily="34" charset="0"/>
              </a:rPr>
              <a:t>0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= { }</a:t>
            </a:r>
          </a:p>
          <a:p>
            <a:pPr algn="ctr">
              <a:spcBef>
                <a:spcPct val="50000"/>
              </a:spcBef>
            </a:pPr>
            <a:r>
              <a:rPr lang="en-US" dirty="0" err="1">
                <a:solidFill>
                  <a:schemeClr val="tx1"/>
                </a:solidFill>
                <a:latin typeface="Gill Sans MT" pitchFamily="34" charset="0"/>
              </a:rPr>
              <a:t>N</a:t>
            </a:r>
            <a:r>
              <a:rPr lang="en-US" baseline="-25000" dirty="0" err="1">
                <a:solidFill>
                  <a:schemeClr val="tx1"/>
                </a:solidFill>
                <a:latin typeface="Gill Sans MT" pitchFamily="34" charset="0"/>
              </a:rPr>
              <a:t>f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= { </a:t>
            </a:r>
            <a:r>
              <a:rPr lang="en-US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4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}</a:t>
            </a:r>
          </a:p>
          <a:p>
            <a:pPr algn="ctr"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E = { </a:t>
            </a:r>
            <a:r>
              <a:rPr lang="en-US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(1,2), (1,3), (2,4), (3,4)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}</a:t>
            </a:r>
          </a:p>
        </p:txBody>
      </p:sp>
      <p:grpSp>
        <p:nvGrpSpPr>
          <p:cNvPr id="6154" name="Group 115"/>
          <p:cNvGrpSpPr>
            <a:grpSpLocks/>
          </p:cNvGrpSpPr>
          <p:nvPr/>
        </p:nvGrpSpPr>
        <p:grpSpPr bwMode="auto">
          <a:xfrm>
            <a:off x="3887788" y="868876"/>
            <a:ext cx="4475162" cy="3798888"/>
            <a:chOff x="1489" y="798"/>
            <a:chExt cx="2819" cy="2393"/>
          </a:xfrm>
        </p:grpSpPr>
        <p:sp>
          <p:nvSpPr>
            <p:cNvPr id="6157" name="Oval 78"/>
            <p:cNvSpPr>
              <a:spLocks noChangeArrowheads="1"/>
            </p:cNvSpPr>
            <p:nvPr/>
          </p:nvSpPr>
          <p:spPr bwMode="auto">
            <a:xfrm>
              <a:off x="3548" y="2895"/>
              <a:ext cx="350" cy="296"/>
            </a:xfrm>
            <a:prstGeom prst="ellipse">
              <a:avLst/>
            </a:prstGeom>
            <a:solidFill>
              <a:srgbClr val="0066FF"/>
            </a:solidFill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8" name="Text Box 79"/>
            <p:cNvSpPr txBox="1">
              <a:spLocks noChangeArrowheads="1"/>
            </p:cNvSpPr>
            <p:nvPr/>
          </p:nvSpPr>
          <p:spPr bwMode="auto">
            <a:xfrm>
              <a:off x="3598" y="2918"/>
              <a:ext cx="278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6159" name="Oval 31"/>
            <p:cNvSpPr>
              <a:spLocks noChangeArrowheads="1"/>
            </p:cNvSpPr>
            <p:nvPr/>
          </p:nvSpPr>
          <p:spPr bwMode="auto">
            <a:xfrm>
              <a:off x="1899" y="1016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0" name="Text Box 32"/>
            <p:cNvSpPr txBox="1">
              <a:spLocks noChangeArrowheads="1"/>
            </p:cNvSpPr>
            <p:nvPr/>
          </p:nvSpPr>
          <p:spPr bwMode="auto">
            <a:xfrm>
              <a:off x="1976" y="1039"/>
              <a:ext cx="196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161" name="Oval 34"/>
            <p:cNvSpPr>
              <a:spLocks noChangeArrowheads="1"/>
            </p:cNvSpPr>
            <p:nvPr/>
          </p:nvSpPr>
          <p:spPr bwMode="auto">
            <a:xfrm>
              <a:off x="2309" y="1954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2" name="Text Box 35"/>
            <p:cNvSpPr txBox="1">
              <a:spLocks noChangeArrowheads="1"/>
            </p:cNvSpPr>
            <p:nvPr/>
          </p:nvSpPr>
          <p:spPr bwMode="auto">
            <a:xfrm>
              <a:off x="2386" y="1977"/>
              <a:ext cx="197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6163" name="Oval 37"/>
            <p:cNvSpPr>
              <a:spLocks noChangeArrowheads="1"/>
            </p:cNvSpPr>
            <p:nvPr/>
          </p:nvSpPr>
          <p:spPr bwMode="auto">
            <a:xfrm>
              <a:off x="1489" y="1954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4" name="Text Box 38"/>
            <p:cNvSpPr txBox="1">
              <a:spLocks noChangeArrowheads="1"/>
            </p:cNvSpPr>
            <p:nvPr/>
          </p:nvSpPr>
          <p:spPr bwMode="auto">
            <a:xfrm>
              <a:off x="1566" y="1977"/>
              <a:ext cx="196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165" name="Oval 40"/>
            <p:cNvSpPr>
              <a:spLocks noChangeArrowheads="1"/>
            </p:cNvSpPr>
            <p:nvPr/>
          </p:nvSpPr>
          <p:spPr bwMode="auto">
            <a:xfrm>
              <a:off x="1899" y="2892"/>
              <a:ext cx="350" cy="296"/>
            </a:xfrm>
            <a:prstGeom prst="ellipse">
              <a:avLst/>
            </a:prstGeom>
            <a:solidFill>
              <a:srgbClr val="0066FF"/>
            </a:solidFill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6" name="Text Box 41"/>
            <p:cNvSpPr txBox="1">
              <a:spLocks noChangeArrowheads="1"/>
            </p:cNvSpPr>
            <p:nvPr/>
          </p:nvSpPr>
          <p:spPr bwMode="auto">
            <a:xfrm>
              <a:off x="1976" y="2915"/>
              <a:ext cx="197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6167" name="Line 42"/>
            <p:cNvSpPr>
              <a:spLocks noChangeShapeType="1"/>
            </p:cNvSpPr>
            <p:nvPr/>
          </p:nvSpPr>
          <p:spPr bwMode="auto">
            <a:xfrm flipH="1">
              <a:off x="1732" y="1309"/>
              <a:ext cx="303" cy="6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68" name="Line 43"/>
            <p:cNvSpPr>
              <a:spLocks noChangeShapeType="1"/>
            </p:cNvSpPr>
            <p:nvPr/>
          </p:nvSpPr>
          <p:spPr bwMode="auto">
            <a:xfrm>
              <a:off x="1732" y="2236"/>
              <a:ext cx="280" cy="6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69" name="Line 44"/>
            <p:cNvSpPr>
              <a:spLocks noChangeShapeType="1"/>
            </p:cNvSpPr>
            <p:nvPr/>
          </p:nvSpPr>
          <p:spPr bwMode="auto">
            <a:xfrm flipH="1">
              <a:off x="2128" y="2250"/>
              <a:ext cx="303" cy="6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70" name="Line 45"/>
            <p:cNvSpPr>
              <a:spLocks noChangeShapeType="1"/>
            </p:cNvSpPr>
            <p:nvPr/>
          </p:nvSpPr>
          <p:spPr bwMode="auto">
            <a:xfrm>
              <a:off x="2128" y="1314"/>
              <a:ext cx="280" cy="6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71" name="Line 46"/>
            <p:cNvSpPr>
              <a:spLocks noChangeShapeType="1"/>
            </p:cNvSpPr>
            <p:nvPr/>
          </p:nvSpPr>
          <p:spPr bwMode="auto">
            <a:xfrm>
              <a:off x="2074" y="798"/>
              <a:ext cx="0" cy="2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72" name="Oval 49"/>
            <p:cNvSpPr>
              <a:spLocks noChangeArrowheads="1"/>
            </p:cNvSpPr>
            <p:nvPr/>
          </p:nvSpPr>
          <p:spPr bwMode="auto">
            <a:xfrm>
              <a:off x="2725" y="1018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3" name="Text Box 50"/>
            <p:cNvSpPr txBox="1">
              <a:spLocks noChangeArrowheads="1"/>
            </p:cNvSpPr>
            <p:nvPr/>
          </p:nvSpPr>
          <p:spPr bwMode="auto">
            <a:xfrm>
              <a:off x="2802" y="1041"/>
              <a:ext cx="196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174" name="Oval 52"/>
            <p:cNvSpPr>
              <a:spLocks noChangeArrowheads="1"/>
            </p:cNvSpPr>
            <p:nvPr/>
          </p:nvSpPr>
          <p:spPr bwMode="auto">
            <a:xfrm>
              <a:off x="3135" y="1956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5" name="Text Box 53"/>
            <p:cNvSpPr txBox="1">
              <a:spLocks noChangeArrowheads="1"/>
            </p:cNvSpPr>
            <p:nvPr/>
          </p:nvSpPr>
          <p:spPr bwMode="auto">
            <a:xfrm>
              <a:off x="3212" y="1979"/>
              <a:ext cx="197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176" name="Oval 58"/>
            <p:cNvSpPr>
              <a:spLocks noChangeArrowheads="1"/>
            </p:cNvSpPr>
            <p:nvPr/>
          </p:nvSpPr>
          <p:spPr bwMode="auto">
            <a:xfrm>
              <a:off x="2725" y="2894"/>
              <a:ext cx="350" cy="296"/>
            </a:xfrm>
            <a:prstGeom prst="ellipse">
              <a:avLst/>
            </a:prstGeom>
            <a:solidFill>
              <a:srgbClr val="0066FF"/>
            </a:solidFill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7" name="Text Box 59"/>
            <p:cNvSpPr txBox="1">
              <a:spLocks noChangeArrowheads="1"/>
            </p:cNvSpPr>
            <p:nvPr/>
          </p:nvSpPr>
          <p:spPr bwMode="auto">
            <a:xfrm>
              <a:off x="2802" y="2917"/>
              <a:ext cx="197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6178" name="Line 61"/>
            <p:cNvSpPr>
              <a:spLocks noChangeShapeType="1"/>
            </p:cNvSpPr>
            <p:nvPr/>
          </p:nvSpPr>
          <p:spPr bwMode="auto">
            <a:xfrm>
              <a:off x="2592" y="2238"/>
              <a:ext cx="249" cy="65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79" name="Line 62"/>
            <p:cNvSpPr>
              <a:spLocks noChangeShapeType="1"/>
            </p:cNvSpPr>
            <p:nvPr/>
          </p:nvSpPr>
          <p:spPr bwMode="auto">
            <a:xfrm flipH="1">
              <a:off x="2972" y="2250"/>
              <a:ext cx="293" cy="6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80" name="Line 63"/>
            <p:cNvSpPr>
              <a:spLocks noChangeShapeType="1"/>
            </p:cNvSpPr>
            <p:nvPr/>
          </p:nvSpPr>
          <p:spPr bwMode="auto">
            <a:xfrm flipH="1" flipV="1">
              <a:off x="2967" y="1293"/>
              <a:ext cx="241" cy="68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81" name="Line 64"/>
            <p:cNvSpPr>
              <a:spLocks noChangeShapeType="1"/>
            </p:cNvSpPr>
            <p:nvPr/>
          </p:nvSpPr>
          <p:spPr bwMode="auto">
            <a:xfrm>
              <a:off x="2900" y="800"/>
              <a:ext cx="0" cy="2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82" name="Oval 69"/>
            <p:cNvSpPr>
              <a:spLocks noChangeArrowheads="1"/>
            </p:cNvSpPr>
            <p:nvPr/>
          </p:nvSpPr>
          <p:spPr bwMode="auto">
            <a:xfrm>
              <a:off x="3548" y="1019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3" name="Text Box 70"/>
            <p:cNvSpPr txBox="1">
              <a:spLocks noChangeArrowheads="1"/>
            </p:cNvSpPr>
            <p:nvPr/>
          </p:nvSpPr>
          <p:spPr bwMode="auto">
            <a:xfrm>
              <a:off x="3625" y="1042"/>
              <a:ext cx="197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6184" name="Oval 72"/>
            <p:cNvSpPr>
              <a:spLocks noChangeArrowheads="1"/>
            </p:cNvSpPr>
            <p:nvPr/>
          </p:nvSpPr>
          <p:spPr bwMode="auto">
            <a:xfrm>
              <a:off x="3958" y="1957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5" name="Text Box 73"/>
            <p:cNvSpPr txBox="1">
              <a:spLocks noChangeArrowheads="1"/>
            </p:cNvSpPr>
            <p:nvPr/>
          </p:nvSpPr>
          <p:spPr bwMode="auto">
            <a:xfrm>
              <a:off x="4035" y="1980"/>
              <a:ext cx="196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6186" name="Line 80"/>
            <p:cNvSpPr>
              <a:spLocks noChangeShapeType="1"/>
            </p:cNvSpPr>
            <p:nvPr/>
          </p:nvSpPr>
          <p:spPr bwMode="auto">
            <a:xfrm flipH="1">
              <a:off x="3368" y="1312"/>
              <a:ext cx="298" cy="6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87" name="Line 81"/>
            <p:cNvSpPr>
              <a:spLocks noChangeShapeType="1"/>
            </p:cNvSpPr>
            <p:nvPr/>
          </p:nvSpPr>
          <p:spPr bwMode="auto">
            <a:xfrm>
              <a:off x="3414" y="2231"/>
              <a:ext cx="252" cy="6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88" name="Line 82"/>
            <p:cNvSpPr>
              <a:spLocks noChangeShapeType="1"/>
            </p:cNvSpPr>
            <p:nvPr/>
          </p:nvSpPr>
          <p:spPr bwMode="auto">
            <a:xfrm flipH="1">
              <a:off x="3782" y="2262"/>
              <a:ext cx="319" cy="63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89" name="Line 83"/>
            <p:cNvSpPr>
              <a:spLocks noChangeShapeType="1"/>
            </p:cNvSpPr>
            <p:nvPr/>
          </p:nvSpPr>
          <p:spPr bwMode="auto">
            <a:xfrm>
              <a:off x="3782" y="1309"/>
              <a:ext cx="280" cy="6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90" name="Line 88"/>
            <p:cNvSpPr>
              <a:spLocks noChangeShapeType="1"/>
            </p:cNvSpPr>
            <p:nvPr/>
          </p:nvSpPr>
          <p:spPr bwMode="auto">
            <a:xfrm flipH="1">
              <a:off x="2545" y="1319"/>
              <a:ext cx="296" cy="6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91" name="Line 105"/>
            <p:cNvSpPr>
              <a:spLocks noChangeShapeType="1"/>
            </p:cNvSpPr>
            <p:nvPr/>
          </p:nvSpPr>
          <p:spPr bwMode="auto">
            <a:xfrm>
              <a:off x="3723" y="806"/>
              <a:ext cx="0" cy="2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155" name="Text Box 111"/>
          <p:cNvSpPr txBox="1">
            <a:spLocks noChangeArrowheads="1"/>
          </p:cNvSpPr>
          <p:nvPr/>
        </p:nvSpPr>
        <p:spPr bwMode="auto">
          <a:xfrm>
            <a:off x="3887788" y="4802187"/>
            <a:ext cx="4545012" cy="193899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N</a:t>
            </a:r>
            <a:r>
              <a:rPr lang="en-US" baseline="-25000" dirty="0">
                <a:solidFill>
                  <a:schemeClr val="tx1"/>
                </a:solidFill>
                <a:latin typeface="Gill Sans MT" pitchFamily="34" charset="0"/>
              </a:rPr>
              <a:t>0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= { </a:t>
            </a:r>
            <a:r>
              <a:rPr lang="en-US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1, 2, 3 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}</a:t>
            </a:r>
          </a:p>
          <a:p>
            <a:pPr algn="ctr">
              <a:spcBef>
                <a:spcPct val="50000"/>
              </a:spcBef>
            </a:pPr>
            <a:r>
              <a:rPr lang="en-US" dirty="0" err="1">
                <a:solidFill>
                  <a:schemeClr val="tx1"/>
                </a:solidFill>
                <a:latin typeface="Gill Sans MT" pitchFamily="34" charset="0"/>
              </a:rPr>
              <a:t>N</a:t>
            </a:r>
            <a:r>
              <a:rPr lang="en-US" baseline="-25000" dirty="0" err="1">
                <a:solidFill>
                  <a:schemeClr val="tx1"/>
                </a:solidFill>
                <a:latin typeface="Gill Sans MT" pitchFamily="34" charset="0"/>
              </a:rPr>
              <a:t>f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= { </a:t>
            </a:r>
            <a:r>
              <a:rPr lang="en-US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8, 9, 10 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}</a:t>
            </a:r>
          </a:p>
          <a:p>
            <a:pPr algn="ctr"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E = { </a:t>
            </a:r>
            <a:r>
              <a:rPr lang="en-US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(1,4), (1,5), (2,5), (3,6), (3, 7), (4, 8), (5,8), (5,9), (6,2), (6,10), (7,10) (9,6)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}</a:t>
            </a:r>
          </a:p>
        </p:txBody>
      </p:sp>
      <p:sp>
        <p:nvSpPr>
          <p:cNvPr id="17481" name="AutoShape 73"/>
          <p:cNvSpPr>
            <a:spLocks noChangeArrowheads="1"/>
          </p:cNvSpPr>
          <p:nvPr/>
        </p:nvSpPr>
        <p:spPr bwMode="auto">
          <a:xfrm>
            <a:off x="8767762" y="1628781"/>
            <a:ext cx="1798638" cy="1608138"/>
          </a:xfrm>
          <a:prstGeom prst="irregularSeal2">
            <a:avLst/>
          </a:prstGeom>
          <a:solidFill>
            <a:schemeClr val="tx1">
              <a:lumMod val="65000"/>
            </a:schemeClr>
          </a:solidFill>
          <a:ln w="28575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Not a</a:t>
            </a:r>
          </a:p>
          <a:p>
            <a:pPr algn="ctr">
              <a:defRPr/>
            </a:pP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valid</a:t>
            </a:r>
          </a:p>
          <a:p>
            <a:pPr algn="ctr">
              <a:defRPr/>
            </a:pP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graph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684339" y="5071529"/>
            <a:ext cx="2066395" cy="1323439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Write down the initial and final nodes, and the edges</a:t>
            </a:r>
          </a:p>
        </p:txBody>
      </p:sp>
      <p:sp>
        <p:nvSpPr>
          <p:cNvPr id="6151" name="Text Box 109"/>
          <p:cNvSpPr txBox="1">
            <a:spLocks noChangeArrowheads="1"/>
          </p:cNvSpPr>
          <p:nvPr/>
        </p:nvSpPr>
        <p:spPr bwMode="auto">
          <a:xfrm>
            <a:off x="1684339" y="4802187"/>
            <a:ext cx="2066395" cy="193899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N</a:t>
            </a:r>
            <a:r>
              <a:rPr lang="en-US" baseline="-25000" dirty="0">
                <a:solidFill>
                  <a:schemeClr val="tx1"/>
                </a:solidFill>
                <a:latin typeface="Gill Sans MT" pitchFamily="34" charset="0"/>
              </a:rPr>
              <a:t>0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= { </a:t>
            </a:r>
            <a:r>
              <a:rPr lang="en-US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 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}</a:t>
            </a:r>
          </a:p>
          <a:p>
            <a:pPr algn="ctr">
              <a:spcBef>
                <a:spcPct val="50000"/>
              </a:spcBef>
            </a:pPr>
            <a:r>
              <a:rPr lang="en-US" dirty="0" err="1">
                <a:solidFill>
                  <a:schemeClr val="tx1"/>
                </a:solidFill>
                <a:latin typeface="Gill Sans MT" pitchFamily="34" charset="0"/>
              </a:rPr>
              <a:t>N</a:t>
            </a:r>
            <a:r>
              <a:rPr lang="en-US" baseline="-25000" dirty="0" err="1">
                <a:solidFill>
                  <a:schemeClr val="tx1"/>
                </a:solidFill>
                <a:latin typeface="Gill Sans MT" pitchFamily="34" charset="0"/>
              </a:rPr>
              <a:t>f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= { </a:t>
            </a:r>
            <a:r>
              <a:rPr lang="en-US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4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}</a:t>
            </a:r>
          </a:p>
          <a:p>
            <a:pPr algn="ctr"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E = { </a:t>
            </a:r>
            <a:r>
              <a:rPr lang="en-US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(1,2), (1,3), (2,4), (3,4) 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08899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0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1000"/>
                                        <p:tgtEl>
                                          <p:spTgt spid="17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74" grpId="0" animBg="1"/>
      <p:bldP spid="6153" grpId="0" animBg="1"/>
      <p:bldP spid="6155" grpId="0" animBg="1"/>
      <p:bldP spid="17481" grpId="0" animBg="1"/>
      <p:bldP spid="2" grpId="0" animBg="1"/>
      <p:bldP spid="615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7"/>
          <p:cNvSpPr txBox="1"/>
          <p:nvPr/>
        </p:nvSpPr>
        <p:spPr>
          <a:xfrm>
            <a:off x="6827251" y="4702612"/>
            <a:ext cx="1558926" cy="101566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Write down three paths in this graph</a:t>
            </a:r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4558299-12A8-4EFB-9663-A283F29346C6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Paths in Graphs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74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662114" y="768859"/>
                <a:ext cx="8867775" cy="2524125"/>
              </a:xfrm>
            </p:spPr>
            <p:txBody>
              <a:bodyPr/>
              <a:lstStyle/>
              <a:p>
                <a:r>
                  <a:rPr lang="en-US" dirty="0">
                    <a:solidFill>
                      <a:schemeClr val="tx2"/>
                    </a:solidFill>
                  </a:rPr>
                  <a:t>Path</a:t>
                </a:r>
                <a:r>
                  <a:rPr lang="en-US" dirty="0"/>
                  <a:t> : A sequence of nodes – [n</a:t>
                </a:r>
                <a:r>
                  <a:rPr lang="en-US" baseline="-25000" dirty="0"/>
                  <a:t>1</a:t>
                </a:r>
                <a:r>
                  <a:rPr lang="en-US" dirty="0"/>
                  <a:t>, n</a:t>
                </a:r>
                <a:r>
                  <a:rPr lang="en-US" baseline="-25000" dirty="0"/>
                  <a:t>2</a:t>
                </a:r>
                <a:r>
                  <a:rPr lang="en-US" dirty="0"/>
                  <a:t>, …, </a:t>
                </a:r>
                <a:r>
                  <a:rPr lang="en-US" dirty="0" err="1"/>
                  <a:t>n</a:t>
                </a:r>
                <a:r>
                  <a:rPr lang="en-US" baseline="-25000" dirty="0" err="1"/>
                  <a:t>M</a:t>
                </a:r>
                <a:r>
                  <a:rPr lang="en-US" dirty="0"/>
                  <a:t>] </a:t>
                </a:r>
              </a:p>
              <a:p>
                <a:pPr lvl="1"/>
                <a:r>
                  <a:rPr lang="en-US" dirty="0"/>
                  <a:t>Each pair of nodes is an edge </a:t>
                </a:r>
                <a:r>
                  <a:rPr lang="en-US" altLang="zh-CN" dirty="0"/>
                  <a:t>where for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/>
                        <a:ea typeface="Cambria Math"/>
                      </a:rPr>
                      <m:t>1</m:t>
                    </m:r>
                    <m:r>
                      <a:rPr lang="en-US" altLang="zh-CN" i="1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CN" i="1">
                        <a:latin typeface="Cambria Math"/>
                      </a:rPr>
                      <m:t>𝑖</m:t>
                    </m:r>
                  </m:oMath>
                </a14:m>
                <a:r>
                  <a:rPr lang="en-US" altLang="zh-CN" dirty="0"/>
                  <a:t>&lt;m, (n</a:t>
                </a:r>
                <a:r>
                  <a:rPr lang="en-US" altLang="zh-CN" baseline="-25000" dirty="0"/>
                  <a:t>i</a:t>
                </a:r>
                <a:r>
                  <a:rPr lang="en-US" altLang="zh-CN" dirty="0"/>
                  <a:t>,n</a:t>
                </a:r>
                <a:r>
                  <a:rPr lang="en-US" altLang="zh-CN" baseline="-25000" dirty="0"/>
                  <a:t>i+1</a:t>
                </a:r>
                <a:r>
                  <a:rPr lang="en-US" altLang="zh-CN" dirty="0"/>
                  <a:t>)</a:t>
                </a:r>
                <a:r>
                  <a:rPr lang="el-GR" altLang="zh-CN" dirty="0"/>
                  <a:t>ϵ</a:t>
                </a:r>
                <a:r>
                  <a:rPr lang="en-US" altLang="zh-CN" dirty="0"/>
                  <a:t> E</a:t>
                </a:r>
                <a:endParaRPr lang="en-US" dirty="0"/>
              </a:p>
              <a:p>
                <a:r>
                  <a:rPr lang="en-US" dirty="0">
                    <a:solidFill>
                      <a:schemeClr val="tx2"/>
                    </a:solidFill>
                  </a:rPr>
                  <a:t>Length</a:t>
                </a:r>
                <a:r>
                  <a:rPr lang="en-US" dirty="0"/>
                  <a:t> : The number of edges</a:t>
                </a:r>
              </a:p>
              <a:p>
                <a:pPr lvl="1"/>
                <a:r>
                  <a:rPr lang="en-US" dirty="0"/>
                  <a:t>A single node is a path of length 0</a:t>
                </a:r>
              </a:p>
              <a:p>
                <a:r>
                  <a:rPr lang="en-US" dirty="0" err="1">
                    <a:solidFill>
                      <a:schemeClr val="tx2"/>
                    </a:solidFill>
                  </a:rPr>
                  <a:t>Subpath</a:t>
                </a:r>
                <a:r>
                  <a:rPr lang="en-US" dirty="0"/>
                  <a:t> : A subsequence of nodes in </a:t>
                </a:r>
                <a:r>
                  <a:rPr lang="en-US" i="1" dirty="0"/>
                  <a:t>p</a:t>
                </a:r>
                <a:r>
                  <a:rPr lang="en-US" dirty="0"/>
                  <a:t> is a </a:t>
                </a:r>
                <a:r>
                  <a:rPr lang="en-US" dirty="0" err="1"/>
                  <a:t>subpath</a:t>
                </a:r>
                <a:r>
                  <a:rPr lang="en-US" dirty="0"/>
                  <a:t> of </a:t>
                </a:r>
                <a:r>
                  <a:rPr lang="en-US" i="1" dirty="0"/>
                  <a:t>p</a:t>
                </a:r>
              </a:p>
            </p:txBody>
          </p:sp>
        </mc:Choice>
        <mc:Fallback>
          <p:sp>
            <p:nvSpPr>
              <p:cNvPr id="7174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662114" y="768859"/>
                <a:ext cx="8867775" cy="2524125"/>
              </a:xfrm>
              <a:blipFill>
                <a:blip r:embed="rId3"/>
                <a:stretch>
                  <a:fillRect l="-1100" t="-3865" b="-12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55"/>
          <p:cNvGrpSpPr>
            <a:grpSpLocks/>
          </p:cNvGrpSpPr>
          <p:nvPr/>
        </p:nvGrpSpPr>
        <p:grpSpPr bwMode="auto">
          <a:xfrm>
            <a:off x="1701801" y="3620091"/>
            <a:ext cx="4475163" cy="2892425"/>
            <a:chOff x="244" y="2197"/>
            <a:chExt cx="2819" cy="1822"/>
          </a:xfrm>
        </p:grpSpPr>
        <p:sp>
          <p:nvSpPr>
            <p:cNvPr id="7178" name="Line 15"/>
            <p:cNvSpPr>
              <a:spLocks noChangeShapeType="1"/>
            </p:cNvSpPr>
            <p:nvPr/>
          </p:nvSpPr>
          <p:spPr bwMode="auto">
            <a:xfrm flipH="1">
              <a:off x="463" y="2641"/>
              <a:ext cx="239" cy="40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7179" name="Line 16"/>
            <p:cNvSpPr>
              <a:spLocks noChangeShapeType="1"/>
            </p:cNvSpPr>
            <p:nvPr/>
          </p:nvSpPr>
          <p:spPr bwMode="auto">
            <a:xfrm>
              <a:off x="509" y="3338"/>
              <a:ext cx="222" cy="3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7180" name="Line 17"/>
            <p:cNvSpPr>
              <a:spLocks noChangeShapeType="1"/>
            </p:cNvSpPr>
            <p:nvPr/>
          </p:nvSpPr>
          <p:spPr bwMode="auto">
            <a:xfrm flipH="1">
              <a:off x="898" y="3318"/>
              <a:ext cx="229" cy="4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7181" name="Line 18"/>
            <p:cNvSpPr>
              <a:spLocks noChangeShapeType="1"/>
            </p:cNvSpPr>
            <p:nvPr/>
          </p:nvSpPr>
          <p:spPr bwMode="auto">
            <a:xfrm>
              <a:off x="939" y="2646"/>
              <a:ext cx="188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7182" name="Line 19"/>
            <p:cNvSpPr>
              <a:spLocks noChangeShapeType="1"/>
            </p:cNvSpPr>
            <p:nvPr/>
          </p:nvSpPr>
          <p:spPr bwMode="auto">
            <a:xfrm>
              <a:off x="829" y="2202"/>
              <a:ext cx="0" cy="1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grpSp>
          <p:nvGrpSpPr>
            <p:cNvPr id="7183" name="Group 50"/>
            <p:cNvGrpSpPr>
              <a:grpSpLocks/>
            </p:cNvGrpSpPr>
            <p:nvPr/>
          </p:nvGrpSpPr>
          <p:grpSpPr bwMode="auto">
            <a:xfrm>
              <a:off x="654" y="3720"/>
              <a:ext cx="2033" cy="299"/>
              <a:chOff x="654" y="3720"/>
              <a:chExt cx="2033" cy="299"/>
            </a:xfrm>
          </p:grpSpPr>
          <p:grpSp>
            <p:nvGrpSpPr>
              <p:cNvPr id="7217" name="Group 42"/>
              <p:cNvGrpSpPr>
                <a:grpSpLocks/>
              </p:cNvGrpSpPr>
              <p:nvPr/>
            </p:nvGrpSpPr>
            <p:grpSpPr bwMode="auto">
              <a:xfrm>
                <a:off x="2303" y="3723"/>
                <a:ext cx="384" cy="296"/>
                <a:chOff x="2303" y="3723"/>
                <a:chExt cx="384" cy="296"/>
              </a:xfrm>
            </p:grpSpPr>
            <p:sp>
              <p:nvSpPr>
                <p:cNvPr id="7224" name="Oval 5"/>
                <p:cNvSpPr>
                  <a:spLocks noChangeArrowheads="1"/>
                </p:cNvSpPr>
                <p:nvPr/>
              </p:nvSpPr>
              <p:spPr bwMode="auto">
                <a:xfrm>
                  <a:off x="2303" y="3723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571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  <p:sp>
              <p:nvSpPr>
                <p:cNvPr id="7225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2340" y="3746"/>
                  <a:ext cx="34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10</a:t>
                  </a:r>
                </a:p>
              </p:txBody>
            </p:sp>
          </p:grpSp>
          <p:grpSp>
            <p:nvGrpSpPr>
              <p:cNvPr id="7218" name="Group 40"/>
              <p:cNvGrpSpPr>
                <a:grpSpLocks/>
              </p:cNvGrpSpPr>
              <p:nvPr/>
            </p:nvGrpSpPr>
            <p:grpSpPr bwMode="auto">
              <a:xfrm>
                <a:off x="654" y="3720"/>
                <a:ext cx="350" cy="296"/>
                <a:chOff x="654" y="3720"/>
                <a:chExt cx="350" cy="296"/>
              </a:xfrm>
            </p:grpSpPr>
            <p:sp>
              <p:nvSpPr>
                <p:cNvPr id="7222" name="Oval 13"/>
                <p:cNvSpPr>
                  <a:spLocks noChangeArrowheads="1"/>
                </p:cNvSpPr>
                <p:nvPr/>
              </p:nvSpPr>
              <p:spPr bwMode="auto">
                <a:xfrm>
                  <a:off x="654" y="3720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571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  <p:sp>
              <p:nvSpPr>
                <p:cNvPr id="7223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731" y="3743"/>
                  <a:ext cx="231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8</a:t>
                  </a:r>
                </a:p>
              </p:txBody>
            </p:sp>
          </p:grpSp>
          <p:grpSp>
            <p:nvGrpSpPr>
              <p:cNvPr id="7219" name="Group 41"/>
              <p:cNvGrpSpPr>
                <a:grpSpLocks/>
              </p:cNvGrpSpPr>
              <p:nvPr/>
            </p:nvGrpSpPr>
            <p:grpSpPr bwMode="auto">
              <a:xfrm>
                <a:off x="1478" y="3722"/>
                <a:ext cx="350" cy="296"/>
                <a:chOff x="1480" y="3722"/>
                <a:chExt cx="350" cy="296"/>
              </a:xfrm>
            </p:grpSpPr>
            <p:sp>
              <p:nvSpPr>
                <p:cNvPr id="7220" name="Oval 24"/>
                <p:cNvSpPr>
                  <a:spLocks noChangeArrowheads="1"/>
                </p:cNvSpPr>
                <p:nvPr/>
              </p:nvSpPr>
              <p:spPr bwMode="auto">
                <a:xfrm>
                  <a:off x="1480" y="3722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571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  <p:sp>
              <p:nvSpPr>
                <p:cNvPr id="7221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1557" y="3745"/>
                  <a:ext cx="231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9</a:t>
                  </a:r>
                </a:p>
              </p:txBody>
            </p:sp>
          </p:grpSp>
        </p:grpSp>
        <p:sp>
          <p:nvSpPr>
            <p:cNvPr id="7184" name="Line 26"/>
            <p:cNvSpPr>
              <a:spLocks noChangeShapeType="1"/>
            </p:cNvSpPr>
            <p:nvPr/>
          </p:nvSpPr>
          <p:spPr bwMode="auto">
            <a:xfrm>
              <a:off x="1343" y="3318"/>
              <a:ext cx="236" cy="4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7185" name="Line 27"/>
            <p:cNvSpPr>
              <a:spLocks noChangeShapeType="1"/>
            </p:cNvSpPr>
            <p:nvPr/>
          </p:nvSpPr>
          <p:spPr bwMode="auto">
            <a:xfrm flipH="1">
              <a:off x="1734" y="3330"/>
              <a:ext cx="223" cy="4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endParaRPr lang="en-US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7186" name="Line 28"/>
            <p:cNvSpPr>
              <a:spLocks noChangeShapeType="1"/>
            </p:cNvSpPr>
            <p:nvPr/>
          </p:nvSpPr>
          <p:spPr bwMode="auto">
            <a:xfrm>
              <a:off x="1768" y="2640"/>
              <a:ext cx="212" cy="4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endParaRPr lang="en-US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7187" name="Line 29"/>
            <p:cNvSpPr>
              <a:spLocks noChangeShapeType="1"/>
            </p:cNvSpPr>
            <p:nvPr/>
          </p:nvSpPr>
          <p:spPr bwMode="auto">
            <a:xfrm>
              <a:off x="1655" y="2197"/>
              <a:ext cx="0" cy="1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grpSp>
          <p:nvGrpSpPr>
            <p:cNvPr id="7188" name="Group 52"/>
            <p:cNvGrpSpPr>
              <a:grpSpLocks/>
            </p:cNvGrpSpPr>
            <p:nvPr/>
          </p:nvGrpSpPr>
          <p:grpSpPr bwMode="auto">
            <a:xfrm>
              <a:off x="654" y="2376"/>
              <a:ext cx="1999" cy="299"/>
              <a:chOff x="654" y="2376"/>
              <a:chExt cx="1999" cy="299"/>
            </a:xfrm>
          </p:grpSpPr>
          <p:grpSp>
            <p:nvGrpSpPr>
              <p:cNvPr id="7208" name="Group 47"/>
              <p:cNvGrpSpPr>
                <a:grpSpLocks/>
              </p:cNvGrpSpPr>
              <p:nvPr/>
            </p:nvGrpSpPr>
            <p:grpSpPr bwMode="auto">
              <a:xfrm>
                <a:off x="654" y="2376"/>
                <a:ext cx="350" cy="296"/>
                <a:chOff x="654" y="1844"/>
                <a:chExt cx="350" cy="296"/>
              </a:xfrm>
            </p:grpSpPr>
            <p:sp>
              <p:nvSpPr>
                <p:cNvPr id="7215" name="Oval 7"/>
                <p:cNvSpPr>
                  <a:spLocks noChangeArrowheads="1"/>
                </p:cNvSpPr>
                <p:nvPr/>
              </p:nvSpPr>
              <p:spPr bwMode="auto">
                <a:xfrm>
                  <a:off x="654" y="184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  <p:sp>
              <p:nvSpPr>
                <p:cNvPr id="7216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731" y="1867"/>
                  <a:ext cx="231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1</a:t>
                  </a:r>
                </a:p>
              </p:txBody>
            </p:sp>
          </p:grpSp>
          <p:grpSp>
            <p:nvGrpSpPr>
              <p:cNvPr id="7209" name="Group 48"/>
              <p:cNvGrpSpPr>
                <a:grpSpLocks/>
              </p:cNvGrpSpPr>
              <p:nvPr/>
            </p:nvGrpSpPr>
            <p:grpSpPr bwMode="auto">
              <a:xfrm>
                <a:off x="1478" y="2378"/>
                <a:ext cx="350" cy="296"/>
                <a:chOff x="1480" y="1846"/>
                <a:chExt cx="350" cy="296"/>
              </a:xfrm>
            </p:grpSpPr>
            <p:sp>
              <p:nvSpPr>
                <p:cNvPr id="7213" name="Oval 20"/>
                <p:cNvSpPr>
                  <a:spLocks noChangeArrowheads="1"/>
                </p:cNvSpPr>
                <p:nvPr/>
              </p:nvSpPr>
              <p:spPr bwMode="auto">
                <a:xfrm>
                  <a:off x="1480" y="1846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  <p:sp>
              <p:nvSpPr>
                <p:cNvPr id="7214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1557" y="1869"/>
                  <a:ext cx="231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2</a:t>
                  </a:r>
                </a:p>
              </p:txBody>
            </p:sp>
          </p:grpSp>
          <p:grpSp>
            <p:nvGrpSpPr>
              <p:cNvPr id="7210" name="Group 49"/>
              <p:cNvGrpSpPr>
                <a:grpSpLocks/>
              </p:cNvGrpSpPr>
              <p:nvPr/>
            </p:nvGrpSpPr>
            <p:grpSpPr bwMode="auto">
              <a:xfrm>
                <a:off x="2303" y="2379"/>
                <a:ext cx="350" cy="296"/>
                <a:chOff x="2303" y="1847"/>
                <a:chExt cx="350" cy="296"/>
              </a:xfrm>
            </p:grpSpPr>
            <p:sp>
              <p:nvSpPr>
                <p:cNvPr id="7211" name="Oval 30"/>
                <p:cNvSpPr>
                  <a:spLocks noChangeArrowheads="1"/>
                </p:cNvSpPr>
                <p:nvPr/>
              </p:nvSpPr>
              <p:spPr bwMode="auto">
                <a:xfrm>
                  <a:off x="2303" y="1847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  <p:sp>
              <p:nvSpPr>
                <p:cNvPr id="7212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2380" y="1870"/>
                  <a:ext cx="231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3</a:t>
                  </a:r>
                </a:p>
              </p:txBody>
            </p:sp>
          </p:grpSp>
        </p:grpSp>
        <p:grpSp>
          <p:nvGrpSpPr>
            <p:cNvPr id="7189" name="Group 51"/>
            <p:cNvGrpSpPr>
              <a:grpSpLocks/>
            </p:cNvGrpSpPr>
            <p:nvPr/>
          </p:nvGrpSpPr>
          <p:grpSpPr bwMode="auto">
            <a:xfrm>
              <a:off x="244" y="3048"/>
              <a:ext cx="2819" cy="299"/>
              <a:chOff x="244" y="3153"/>
              <a:chExt cx="2819" cy="299"/>
            </a:xfrm>
          </p:grpSpPr>
          <p:grpSp>
            <p:nvGrpSpPr>
              <p:cNvPr id="7196" name="Group 45"/>
              <p:cNvGrpSpPr>
                <a:grpSpLocks/>
              </p:cNvGrpSpPr>
              <p:nvPr/>
            </p:nvGrpSpPr>
            <p:grpSpPr bwMode="auto">
              <a:xfrm>
                <a:off x="1067" y="3153"/>
                <a:ext cx="350" cy="296"/>
                <a:chOff x="1064" y="2782"/>
                <a:chExt cx="350" cy="296"/>
              </a:xfrm>
            </p:grpSpPr>
            <p:sp>
              <p:nvSpPr>
                <p:cNvPr id="7206" name="Oval 9"/>
                <p:cNvSpPr>
                  <a:spLocks noChangeArrowheads="1"/>
                </p:cNvSpPr>
                <p:nvPr/>
              </p:nvSpPr>
              <p:spPr bwMode="auto">
                <a:xfrm>
                  <a:off x="1064" y="2782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  <p:sp>
              <p:nvSpPr>
                <p:cNvPr id="7207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1141" y="2805"/>
                  <a:ext cx="231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5</a:t>
                  </a:r>
                </a:p>
              </p:txBody>
            </p:sp>
          </p:grpSp>
          <p:grpSp>
            <p:nvGrpSpPr>
              <p:cNvPr id="7197" name="Group 46"/>
              <p:cNvGrpSpPr>
                <a:grpSpLocks/>
              </p:cNvGrpSpPr>
              <p:nvPr/>
            </p:nvGrpSpPr>
            <p:grpSpPr bwMode="auto">
              <a:xfrm>
                <a:off x="244" y="3153"/>
                <a:ext cx="350" cy="296"/>
                <a:chOff x="244" y="2782"/>
                <a:chExt cx="350" cy="296"/>
              </a:xfrm>
            </p:grpSpPr>
            <p:sp>
              <p:nvSpPr>
                <p:cNvPr id="7204" name="Oval 11"/>
                <p:cNvSpPr>
                  <a:spLocks noChangeArrowheads="1"/>
                </p:cNvSpPr>
                <p:nvPr/>
              </p:nvSpPr>
              <p:spPr bwMode="auto">
                <a:xfrm>
                  <a:off x="244" y="2782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  <p:sp>
              <p:nvSpPr>
                <p:cNvPr id="7205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321" y="2805"/>
                  <a:ext cx="231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4</a:t>
                  </a:r>
                </a:p>
              </p:txBody>
            </p:sp>
          </p:grpSp>
          <p:grpSp>
            <p:nvGrpSpPr>
              <p:cNvPr id="7198" name="Group 44"/>
              <p:cNvGrpSpPr>
                <a:grpSpLocks/>
              </p:cNvGrpSpPr>
              <p:nvPr/>
            </p:nvGrpSpPr>
            <p:grpSpPr bwMode="auto">
              <a:xfrm>
                <a:off x="1890" y="3155"/>
                <a:ext cx="350" cy="296"/>
                <a:chOff x="1890" y="2784"/>
                <a:chExt cx="350" cy="296"/>
              </a:xfrm>
            </p:grpSpPr>
            <p:sp>
              <p:nvSpPr>
                <p:cNvPr id="7202" name="Oval 22"/>
                <p:cNvSpPr>
                  <a:spLocks noChangeArrowheads="1"/>
                </p:cNvSpPr>
                <p:nvPr/>
              </p:nvSpPr>
              <p:spPr bwMode="auto">
                <a:xfrm>
                  <a:off x="1890" y="27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  <p:sp>
              <p:nvSpPr>
                <p:cNvPr id="7203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1967" y="2807"/>
                  <a:ext cx="231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6</a:t>
                  </a:r>
                </a:p>
              </p:txBody>
            </p:sp>
          </p:grpSp>
          <p:grpSp>
            <p:nvGrpSpPr>
              <p:cNvPr id="7199" name="Group 43"/>
              <p:cNvGrpSpPr>
                <a:grpSpLocks/>
              </p:cNvGrpSpPr>
              <p:nvPr/>
            </p:nvGrpSpPr>
            <p:grpSpPr bwMode="auto">
              <a:xfrm>
                <a:off x="2713" y="3156"/>
                <a:ext cx="350" cy="296"/>
                <a:chOff x="2713" y="2785"/>
                <a:chExt cx="350" cy="296"/>
              </a:xfrm>
            </p:grpSpPr>
            <p:sp>
              <p:nvSpPr>
                <p:cNvPr id="7200" name="Oval 32"/>
                <p:cNvSpPr>
                  <a:spLocks noChangeArrowheads="1"/>
                </p:cNvSpPr>
                <p:nvPr/>
              </p:nvSpPr>
              <p:spPr bwMode="auto">
                <a:xfrm>
                  <a:off x="2713" y="2785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  <p:sp>
              <p:nvSpPr>
                <p:cNvPr id="7201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2790" y="2808"/>
                  <a:ext cx="231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7</a:t>
                  </a:r>
                </a:p>
              </p:txBody>
            </p:sp>
          </p:grpSp>
        </p:grpSp>
        <p:sp>
          <p:nvSpPr>
            <p:cNvPr id="7190" name="Line 34"/>
            <p:cNvSpPr>
              <a:spLocks noChangeShapeType="1"/>
            </p:cNvSpPr>
            <p:nvPr/>
          </p:nvSpPr>
          <p:spPr bwMode="auto">
            <a:xfrm flipH="1">
              <a:off x="2142" y="2640"/>
              <a:ext cx="219" cy="4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7191" name="Line 35"/>
            <p:cNvSpPr>
              <a:spLocks noChangeShapeType="1"/>
            </p:cNvSpPr>
            <p:nvPr/>
          </p:nvSpPr>
          <p:spPr bwMode="auto">
            <a:xfrm>
              <a:off x="2181" y="3335"/>
              <a:ext cx="212" cy="3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7192" name="Line 36"/>
            <p:cNvSpPr>
              <a:spLocks noChangeShapeType="1"/>
            </p:cNvSpPr>
            <p:nvPr/>
          </p:nvSpPr>
          <p:spPr bwMode="auto">
            <a:xfrm flipH="1">
              <a:off x="2533" y="3302"/>
              <a:ext cx="231" cy="4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7193" name="Line 37"/>
            <p:cNvSpPr>
              <a:spLocks noChangeShapeType="1"/>
            </p:cNvSpPr>
            <p:nvPr/>
          </p:nvSpPr>
          <p:spPr bwMode="auto">
            <a:xfrm>
              <a:off x="2589" y="2633"/>
              <a:ext cx="200" cy="4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7194" name="Line 38"/>
            <p:cNvSpPr>
              <a:spLocks noChangeShapeType="1"/>
            </p:cNvSpPr>
            <p:nvPr/>
          </p:nvSpPr>
          <p:spPr bwMode="auto">
            <a:xfrm flipH="1">
              <a:off x="1340" y="2655"/>
              <a:ext cx="208" cy="4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7195" name="Line 39"/>
            <p:cNvSpPr>
              <a:spLocks noChangeShapeType="1"/>
            </p:cNvSpPr>
            <p:nvPr/>
          </p:nvSpPr>
          <p:spPr bwMode="auto">
            <a:xfrm>
              <a:off x="2478" y="2232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sp>
        <p:nvSpPr>
          <p:cNvPr id="155701" name="Text Box 53"/>
          <p:cNvSpPr txBox="1">
            <a:spLocks noChangeArrowheads="1"/>
          </p:cNvSpPr>
          <p:nvPr/>
        </p:nvSpPr>
        <p:spPr bwMode="auto">
          <a:xfrm>
            <a:off x="6827252" y="4085229"/>
            <a:ext cx="1712913" cy="1781175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u="sng" dirty="0">
                <a:solidFill>
                  <a:schemeClr val="tx1"/>
                </a:solidFill>
                <a:latin typeface="Gill Sans MT" panose="020B0502020104020203" pitchFamily="34" charset="0"/>
              </a:rPr>
              <a:t>A Few Paths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</a:rPr>
              <a:t>[ 1, 4, 8 ]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</a:rPr>
              <a:t>[ 2, 5, 9, 6, 2 ]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</a:rPr>
              <a:t>[ 3, 7, 10 ]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55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15570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Paths in Graphs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2"/>
                </a:solidFill>
              </a:rPr>
              <a:t>Reach</a:t>
            </a:r>
            <a:r>
              <a:rPr lang="en-US" altLang="zh-CN" dirty="0"/>
              <a:t> (</a:t>
            </a:r>
            <a:r>
              <a:rPr lang="en-US" altLang="zh-CN" i="1" dirty="0"/>
              <a:t>n</a:t>
            </a:r>
            <a:r>
              <a:rPr lang="en-US" altLang="zh-CN" dirty="0"/>
              <a:t>) : Subgraph that can be reached from </a:t>
            </a:r>
            <a:r>
              <a:rPr lang="en-US" altLang="zh-CN" i="1" dirty="0"/>
              <a:t>n</a:t>
            </a:r>
          </a:p>
          <a:p>
            <a:r>
              <a:rPr lang="en-US" altLang="zh-CN" dirty="0"/>
              <a:t>A node n is </a:t>
            </a:r>
            <a:r>
              <a:rPr lang="en-US" altLang="zh-CN" dirty="0">
                <a:solidFill>
                  <a:schemeClr val="tx2"/>
                </a:solidFill>
              </a:rPr>
              <a:t>syntactically </a:t>
            </a:r>
            <a:r>
              <a:rPr lang="en-US" altLang="zh-CN" dirty="0"/>
              <a:t>reachable from node </a:t>
            </a:r>
            <a:r>
              <a:rPr lang="en-US" altLang="zh-CN" dirty="0" err="1"/>
              <a:t>n</a:t>
            </a:r>
            <a:r>
              <a:rPr lang="en-US" altLang="zh-CN" baseline="-25000" dirty="0" err="1"/>
              <a:t>i</a:t>
            </a:r>
            <a:r>
              <a:rPr lang="en-US" altLang="zh-CN" dirty="0"/>
              <a:t> if there exist a path from </a:t>
            </a:r>
            <a:r>
              <a:rPr lang="en-US" altLang="zh-CN" dirty="0" err="1"/>
              <a:t>n</a:t>
            </a:r>
            <a:r>
              <a:rPr lang="en-US" altLang="zh-CN" baseline="-25000" dirty="0" err="1"/>
              <a:t>i</a:t>
            </a:r>
            <a:r>
              <a:rPr lang="en-US" altLang="zh-CN" dirty="0"/>
              <a:t> to n.</a:t>
            </a:r>
          </a:p>
          <a:p>
            <a:r>
              <a:rPr lang="en-US" altLang="zh-CN" dirty="0"/>
              <a:t>A location in a graph (node or edge) can be </a:t>
            </a:r>
            <a:r>
              <a:rPr lang="en-US" altLang="zh-CN" dirty="0">
                <a:solidFill>
                  <a:schemeClr val="tx2"/>
                </a:solidFill>
              </a:rPr>
              <a:t>reached</a:t>
            </a:r>
            <a:r>
              <a:rPr lang="en-US" altLang="zh-CN" dirty="0"/>
              <a:t> from another location if there is a sequence of edges from the first location to the second</a:t>
            </a:r>
          </a:p>
          <a:p>
            <a:pPr lvl="1"/>
            <a:r>
              <a:rPr lang="en-US" altLang="zh-CN" i="1" dirty="0">
                <a:solidFill>
                  <a:schemeClr val="tx2"/>
                </a:solidFill>
              </a:rPr>
              <a:t>Syntactic</a:t>
            </a:r>
            <a:r>
              <a:rPr lang="en-US" altLang="zh-CN" i="1" dirty="0"/>
              <a:t> reach</a:t>
            </a:r>
            <a:r>
              <a:rPr lang="en-US" altLang="zh-CN" dirty="0"/>
              <a:t> : A </a:t>
            </a:r>
            <a:r>
              <a:rPr lang="en-US" altLang="zh-CN" dirty="0" err="1"/>
              <a:t>subpath</a:t>
            </a:r>
            <a:r>
              <a:rPr lang="en-US" altLang="zh-CN" dirty="0"/>
              <a:t> exists in the graph</a:t>
            </a:r>
          </a:p>
          <a:p>
            <a:pPr lvl="1"/>
            <a:r>
              <a:rPr lang="en-US" altLang="zh-CN" i="1" dirty="0">
                <a:solidFill>
                  <a:schemeClr val="tx2"/>
                </a:solidFill>
              </a:rPr>
              <a:t>Semantic</a:t>
            </a:r>
            <a:r>
              <a:rPr lang="en-US" altLang="zh-CN" i="1" dirty="0"/>
              <a:t> reach</a:t>
            </a:r>
            <a:r>
              <a:rPr lang="en-US" altLang="zh-CN" dirty="0"/>
              <a:t> : A test exists that can execute that </a:t>
            </a:r>
            <a:r>
              <a:rPr lang="en-US" altLang="zh-CN" dirty="0" err="1"/>
              <a:t>subpath</a:t>
            </a:r>
            <a:endParaRPr lang="en-US" altLang="zh-CN" dirty="0"/>
          </a:p>
          <a:p>
            <a:pPr lvl="1"/>
            <a:r>
              <a:rPr lang="en-US" altLang="zh-CN" dirty="0"/>
              <a:t>This distinction becomes important in </a:t>
            </a:r>
            <a:r>
              <a:rPr lang="en-US" altLang="zh-CN" dirty="0">
                <a:solidFill>
                  <a:schemeClr val="tx2"/>
                </a:solidFill>
              </a:rPr>
              <a:t>section 2.3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1E34D2-BFAA-43E6-B117-0A7C9FC99B38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73647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Paths in Graphs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Each coverage criterion are based on </a:t>
            </a:r>
            <a:r>
              <a:rPr lang="en-US" altLang="zh-CN" b="1" dirty="0" err="1">
                <a:solidFill>
                  <a:schemeClr val="tx2"/>
                </a:solidFill>
              </a:rPr>
              <a:t>reach</a:t>
            </a:r>
            <a:r>
              <a:rPr lang="en-US" altLang="zh-CN" b="1" baseline="-25000" dirty="0" err="1">
                <a:solidFill>
                  <a:schemeClr val="tx2"/>
                </a:solidFill>
              </a:rPr>
              <a:t>G</a:t>
            </a:r>
            <a:r>
              <a:rPr lang="en-US" altLang="zh-CN" b="1" dirty="0">
                <a:solidFill>
                  <a:schemeClr val="tx2"/>
                </a:solidFill>
              </a:rPr>
              <a:t>(N</a:t>
            </a:r>
            <a:r>
              <a:rPr lang="en-US" altLang="zh-CN" b="1" baseline="-25000" dirty="0">
                <a:solidFill>
                  <a:schemeClr val="tx2"/>
                </a:solidFill>
              </a:rPr>
              <a:t>0</a:t>
            </a:r>
            <a:r>
              <a:rPr lang="en-US" altLang="zh-CN" b="1" dirty="0">
                <a:solidFill>
                  <a:schemeClr val="tx2"/>
                </a:solidFill>
              </a:rPr>
              <a:t>)</a:t>
            </a:r>
          </a:p>
          <a:p>
            <a:pPr lvl="1"/>
            <a:r>
              <a:rPr lang="en-US" altLang="zh-CN" b="1" dirty="0"/>
              <a:t>syntactically</a:t>
            </a:r>
            <a:endParaRPr lang="zh-CN" altLang="en-US" b="1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1834" y="6536057"/>
            <a:ext cx="1905000" cy="290513"/>
          </a:xfrm>
        </p:spPr>
        <p:txBody>
          <a:bodyPr/>
          <a:lstStyle/>
          <a:p>
            <a:pPr>
              <a:defRPr/>
            </a:pPr>
            <a:fld id="{7A1E34D2-BFAA-43E6-B117-0A7C9FC99B38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grpSp>
        <p:nvGrpSpPr>
          <p:cNvPr id="5" name="Group 55"/>
          <p:cNvGrpSpPr>
            <a:grpSpLocks/>
          </p:cNvGrpSpPr>
          <p:nvPr/>
        </p:nvGrpSpPr>
        <p:grpSpPr bwMode="auto">
          <a:xfrm>
            <a:off x="1749655" y="2910139"/>
            <a:ext cx="4471729" cy="2792766"/>
            <a:chOff x="244" y="2197"/>
            <a:chExt cx="2819" cy="1822"/>
          </a:xfrm>
        </p:grpSpPr>
        <p:sp>
          <p:nvSpPr>
            <p:cNvPr id="6" name="Line 15"/>
            <p:cNvSpPr>
              <a:spLocks noChangeShapeType="1"/>
            </p:cNvSpPr>
            <p:nvPr/>
          </p:nvSpPr>
          <p:spPr bwMode="auto">
            <a:xfrm flipH="1">
              <a:off x="463" y="2641"/>
              <a:ext cx="239" cy="40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16"/>
            <p:cNvSpPr>
              <a:spLocks noChangeShapeType="1"/>
            </p:cNvSpPr>
            <p:nvPr/>
          </p:nvSpPr>
          <p:spPr bwMode="auto">
            <a:xfrm>
              <a:off x="509" y="3338"/>
              <a:ext cx="258" cy="39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17"/>
            <p:cNvSpPr>
              <a:spLocks noChangeShapeType="1"/>
            </p:cNvSpPr>
            <p:nvPr/>
          </p:nvSpPr>
          <p:spPr bwMode="auto">
            <a:xfrm flipH="1">
              <a:off x="859" y="3292"/>
              <a:ext cx="239" cy="4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18"/>
            <p:cNvSpPr>
              <a:spLocks noChangeShapeType="1"/>
            </p:cNvSpPr>
            <p:nvPr/>
          </p:nvSpPr>
          <p:spPr bwMode="auto">
            <a:xfrm>
              <a:off x="939" y="2646"/>
              <a:ext cx="188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9"/>
            <p:cNvSpPr>
              <a:spLocks noChangeShapeType="1"/>
            </p:cNvSpPr>
            <p:nvPr/>
          </p:nvSpPr>
          <p:spPr bwMode="auto">
            <a:xfrm>
              <a:off x="829" y="2202"/>
              <a:ext cx="0" cy="1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" name="Group 50"/>
            <p:cNvGrpSpPr>
              <a:grpSpLocks/>
            </p:cNvGrpSpPr>
            <p:nvPr/>
          </p:nvGrpSpPr>
          <p:grpSpPr bwMode="auto">
            <a:xfrm>
              <a:off x="654" y="3720"/>
              <a:ext cx="1999" cy="299"/>
              <a:chOff x="654" y="3720"/>
              <a:chExt cx="1999" cy="299"/>
            </a:xfrm>
          </p:grpSpPr>
          <p:grpSp>
            <p:nvGrpSpPr>
              <p:cNvPr id="45" name="Group 42"/>
              <p:cNvGrpSpPr>
                <a:grpSpLocks/>
              </p:cNvGrpSpPr>
              <p:nvPr/>
            </p:nvGrpSpPr>
            <p:grpSpPr bwMode="auto">
              <a:xfrm>
                <a:off x="2303" y="3723"/>
                <a:ext cx="350" cy="296"/>
                <a:chOff x="2303" y="3723"/>
                <a:chExt cx="350" cy="296"/>
              </a:xfrm>
            </p:grpSpPr>
            <p:sp>
              <p:nvSpPr>
                <p:cNvPr id="52" name="Oval 5"/>
                <p:cNvSpPr>
                  <a:spLocks noChangeArrowheads="1"/>
                </p:cNvSpPr>
                <p:nvPr/>
              </p:nvSpPr>
              <p:spPr bwMode="auto">
                <a:xfrm>
                  <a:off x="2303" y="3723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zh-CN" altLang="zh-CN"/>
                </a:p>
              </p:txBody>
            </p:sp>
            <p:sp>
              <p:nvSpPr>
                <p:cNvPr id="53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2380" y="3746"/>
                  <a:ext cx="197" cy="26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9pPr>
                </a:lstStyle>
                <a:p>
                  <a:r>
                    <a:rPr lang="en-US" altLang="zh-CN">
                      <a:solidFill>
                        <a:schemeClr val="tx1"/>
                      </a:solidFill>
                      <a:ea typeface="宋体" charset="-122"/>
                    </a:rPr>
                    <a:t>9</a:t>
                  </a:r>
                </a:p>
              </p:txBody>
            </p:sp>
          </p:grpSp>
          <p:grpSp>
            <p:nvGrpSpPr>
              <p:cNvPr id="46" name="Group 40"/>
              <p:cNvGrpSpPr>
                <a:grpSpLocks/>
              </p:cNvGrpSpPr>
              <p:nvPr/>
            </p:nvGrpSpPr>
            <p:grpSpPr bwMode="auto">
              <a:xfrm>
                <a:off x="654" y="3720"/>
                <a:ext cx="350" cy="296"/>
                <a:chOff x="654" y="3720"/>
                <a:chExt cx="350" cy="296"/>
              </a:xfrm>
            </p:grpSpPr>
            <p:sp>
              <p:nvSpPr>
                <p:cNvPr id="50" name="Oval 13"/>
                <p:cNvSpPr>
                  <a:spLocks noChangeArrowheads="1"/>
                </p:cNvSpPr>
                <p:nvPr/>
              </p:nvSpPr>
              <p:spPr bwMode="auto">
                <a:xfrm>
                  <a:off x="654" y="3720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zh-CN" altLang="zh-CN"/>
                </a:p>
              </p:txBody>
            </p:sp>
            <p:sp>
              <p:nvSpPr>
                <p:cNvPr id="51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731" y="3743"/>
                  <a:ext cx="197" cy="26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9pPr>
                </a:lstStyle>
                <a:p>
                  <a:r>
                    <a:rPr lang="en-US" altLang="zh-CN">
                      <a:solidFill>
                        <a:schemeClr val="tx1"/>
                      </a:solidFill>
                      <a:ea typeface="宋体" charset="-122"/>
                    </a:rPr>
                    <a:t>7</a:t>
                  </a:r>
                </a:p>
              </p:txBody>
            </p:sp>
          </p:grpSp>
          <p:grpSp>
            <p:nvGrpSpPr>
              <p:cNvPr id="47" name="Group 41"/>
              <p:cNvGrpSpPr>
                <a:grpSpLocks/>
              </p:cNvGrpSpPr>
              <p:nvPr/>
            </p:nvGrpSpPr>
            <p:grpSpPr bwMode="auto">
              <a:xfrm>
                <a:off x="1478" y="3722"/>
                <a:ext cx="350" cy="296"/>
                <a:chOff x="1480" y="3722"/>
                <a:chExt cx="350" cy="296"/>
              </a:xfrm>
            </p:grpSpPr>
            <p:sp>
              <p:nvSpPr>
                <p:cNvPr id="48" name="Oval 24"/>
                <p:cNvSpPr>
                  <a:spLocks noChangeArrowheads="1"/>
                </p:cNvSpPr>
                <p:nvPr/>
              </p:nvSpPr>
              <p:spPr bwMode="auto">
                <a:xfrm>
                  <a:off x="1480" y="3722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zh-CN" altLang="zh-CN"/>
                </a:p>
              </p:txBody>
            </p:sp>
            <p:sp>
              <p:nvSpPr>
                <p:cNvPr id="49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1557" y="3745"/>
                  <a:ext cx="197" cy="26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9pPr>
                </a:lstStyle>
                <a:p>
                  <a:r>
                    <a:rPr lang="en-US" altLang="zh-CN">
                      <a:solidFill>
                        <a:schemeClr val="tx1"/>
                      </a:solidFill>
                      <a:ea typeface="宋体" charset="-122"/>
                    </a:rPr>
                    <a:t>8</a:t>
                  </a:r>
                </a:p>
              </p:txBody>
            </p:sp>
          </p:grpSp>
        </p:grpSp>
        <p:sp>
          <p:nvSpPr>
            <p:cNvPr id="12" name="Line 26"/>
            <p:cNvSpPr>
              <a:spLocks noChangeShapeType="1"/>
            </p:cNvSpPr>
            <p:nvPr/>
          </p:nvSpPr>
          <p:spPr bwMode="auto">
            <a:xfrm>
              <a:off x="1343" y="3318"/>
              <a:ext cx="236" cy="4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27"/>
            <p:cNvSpPr>
              <a:spLocks noChangeShapeType="1"/>
            </p:cNvSpPr>
            <p:nvPr/>
          </p:nvSpPr>
          <p:spPr bwMode="auto">
            <a:xfrm flipH="1">
              <a:off x="1734" y="3330"/>
              <a:ext cx="223" cy="40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28"/>
            <p:cNvSpPr>
              <a:spLocks noChangeShapeType="1"/>
            </p:cNvSpPr>
            <p:nvPr/>
          </p:nvSpPr>
          <p:spPr bwMode="auto">
            <a:xfrm>
              <a:off x="1768" y="2640"/>
              <a:ext cx="212" cy="4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29"/>
            <p:cNvSpPr>
              <a:spLocks noChangeShapeType="1"/>
            </p:cNvSpPr>
            <p:nvPr/>
          </p:nvSpPr>
          <p:spPr bwMode="auto">
            <a:xfrm>
              <a:off x="1655" y="2197"/>
              <a:ext cx="0" cy="1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" name="Group 52"/>
            <p:cNvGrpSpPr>
              <a:grpSpLocks/>
            </p:cNvGrpSpPr>
            <p:nvPr/>
          </p:nvGrpSpPr>
          <p:grpSpPr bwMode="auto">
            <a:xfrm>
              <a:off x="654" y="2376"/>
              <a:ext cx="1999" cy="299"/>
              <a:chOff x="654" y="2376"/>
              <a:chExt cx="1999" cy="299"/>
            </a:xfrm>
          </p:grpSpPr>
          <p:grpSp>
            <p:nvGrpSpPr>
              <p:cNvPr id="36" name="Group 47"/>
              <p:cNvGrpSpPr>
                <a:grpSpLocks/>
              </p:cNvGrpSpPr>
              <p:nvPr/>
            </p:nvGrpSpPr>
            <p:grpSpPr bwMode="auto">
              <a:xfrm>
                <a:off x="654" y="2376"/>
                <a:ext cx="350" cy="296"/>
                <a:chOff x="654" y="1844"/>
                <a:chExt cx="350" cy="296"/>
              </a:xfrm>
            </p:grpSpPr>
            <p:sp>
              <p:nvSpPr>
                <p:cNvPr id="43" name="Oval 7"/>
                <p:cNvSpPr>
                  <a:spLocks noChangeArrowheads="1"/>
                </p:cNvSpPr>
                <p:nvPr/>
              </p:nvSpPr>
              <p:spPr bwMode="auto">
                <a:xfrm>
                  <a:off x="654" y="184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zh-CN" altLang="zh-CN"/>
                </a:p>
              </p:txBody>
            </p:sp>
            <p:sp>
              <p:nvSpPr>
                <p:cNvPr id="44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731" y="1867"/>
                  <a:ext cx="197" cy="26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9pPr>
                </a:lstStyle>
                <a:p>
                  <a:r>
                    <a:rPr lang="en-US" altLang="zh-CN">
                      <a:solidFill>
                        <a:schemeClr val="tx1"/>
                      </a:solidFill>
                      <a:ea typeface="宋体" charset="-122"/>
                    </a:rPr>
                    <a:t>0</a:t>
                  </a:r>
                </a:p>
              </p:txBody>
            </p:sp>
          </p:grpSp>
          <p:grpSp>
            <p:nvGrpSpPr>
              <p:cNvPr id="37" name="Group 48"/>
              <p:cNvGrpSpPr>
                <a:grpSpLocks/>
              </p:cNvGrpSpPr>
              <p:nvPr/>
            </p:nvGrpSpPr>
            <p:grpSpPr bwMode="auto">
              <a:xfrm>
                <a:off x="1478" y="2378"/>
                <a:ext cx="350" cy="296"/>
                <a:chOff x="1480" y="1846"/>
                <a:chExt cx="350" cy="296"/>
              </a:xfrm>
            </p:grpSpPr>
            <p:sp>
              <p:nvSpPr>
                <p:cNvPr id="41" name="Oval 20"/>
                <p:cNvSpPr>
                  <a:spLocks noChangeArrowheads="1"/>
                </p:cNvSpPr>
                <p:nvPr/>
              </p:nvSpPr>
              <p:spPr bwMode="auto">
                <a:xfrm>
                  <a:off x="1480" y="1846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zh-CN" altLang="zh-CN"/>
                </a:p>
              </p:txBody>
            </p:sp>
            <p:sp>
              <p:nvSpPr>
                <p:cNvPr id="42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1557" y="1869"/>
                  <a:ext cx="197" cy="26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9pPr>
                </a:lstStyle>
                <a:p>
                  <a:r>
                    <a:rPr lang="en-US" altLang="zh-CN">
                      <a:solidFill>
                        <a:schemeClr val="tx1"/>
                      </a:solidFill>
                      <a:ea typeface="宋体" charset="-122"/>
                    </a:rPr>
                    <a:t>1</a:t>
                  </a:r>
                </a:p>
              </p:txBody>
            </p:sp>
          </p:grpSp>
          <p:grpSp>
            <p:nvGrpSpPr>
              <p:cNvPr id="38" name="Group 49"/>
              <p:cNvGrpSpPr>
                <a:grpSpLocks/>
              </p:cNvGrpSpPr>
              <p:nvPr/>
            </p:nvGrpSpPr>
            <p:grpSpPr bwMode="auto">
              <a:xfrm>
                <a:off x="2303" y="2379"/>
                <a:ext cx="350" cy="296"/>
                <a:chOff x="2303" y="1847"/>
                <a:chExt cx="350" cy="296"/>
              </a:xfrm>
            </p:grpSpPr>
            <p:sp>
              <p:nvSpPr>
                <p:cNvPr id="39" name="Oval 30"/>
                <p:cNvSpPr>
                  <a:spLocks noChangeArrowheads="1"/>
                </p:cNvSpPr>
                <p:nvPr/>
              </p:nvSpPr>
              <p:spPr bwMode="auto">
                <a:xfrm>
                  <a:off x="2303" y="1847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zh-CN" altLang="zh-CN"/>
                </a:p>
              </p:txBody>
            </p:sp>
            <p:sp>
              <p:nvSpPr>
                <p:cNvPr id="40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2380" y="1870"/>
                  <a:ext cx="197" cy="26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9pPr>
                </a:lstStyle>
                <a:p>
                  <a:r>
                    <a:rPr lang="en-US" altLang="zh-CN">
                      <a:solidFill>
                        <a:schemeClr val="tx1"/>
                      </a:solidFill>
                      <a:ea typeface="宋体" charset="-122"/>
                    </a:rPr>
                    <a:t>2</a:t>
                  </a:r>
                </a:p>
              </p:txBody>
            </p:sp>
          </p:grpSp>
        </p:grpSp>
        <p:grpSp>
          <p:nvGrpSpPr>
            <p:cNvPr id="17" name="Group 51"/>
            <p:cNvGrpSpPr>
              <a:grpSpLocks/>
            </p:cNvGrpSpPr>
            <p:nvPr/>
          </p:nvGrpSpPr>
          <p:grpSpPr bwMode="auto">
            <a:xfrm>
              <a:off x="244" y="3048"/>
              <a:ext cx="2819" cy="299"/>
              <a:chOff x="244" y="3153"/>
              <a:chExt cx="2819" cy="299"/>
            </a:xfrm>
          </p:grpSpPr>
          <p:grpSp>
            <p:nvGrpSpPr>
              <p:cNvPr id="24" name="Group 45"/>
              <p:cNvGrpSpPr>
                <a:grpSpLocks/>
              </p:cNvGrpSpPr>
              <p:nvPr/>
            </p:nvGrpSpPr>
            <p:grpSpPr bwMode="auto">
              <a:xfrm>
                <a:off x="1067" y="3153"/>
                <a:ext cx="350" cy="296"/>
                <a:chOff x="1064" y="2782"/>
                <a:chExt cx="350" cy="296"/>
              </a:xfrm>
            </p:grpSpPr>
            <p:sp>
              <p:nvSpPr>
                <p:cNvPr id="34" name="Oval 9"/>
                <p:cNvSpPr>
                  <a:spLocks noChangeArrowheads="1"/>
                </p:cNvSpPr>
                <p:nvPr/>
              </p:nvSpPr>
              <p:spPr bwMode="auto">
                <a:xfrm>
                  <a:off x="1064" y="2782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zh-CN" altLang="zh-CN"/>
                </a:p>
              </p:txBody>
            </p:sp>
            <p:sp>
              <p:nvSpPr>
                <p:cNvPr id="35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1141" y="2805"/>
                  <a:ext cx="197" cy="26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9pPr>
                </a:lstStyle>
                <a:p>
                  <a:r>
                    <a:rPr lang="en-US" altLang="zh-CN">
                      <a:solidFill>
                        <a:schemeClr val="tx1"/>
                      </a:solidFill>
                      <a:ea typeface="宋体" charset="-122"/>
                    </a:rPr>
                    <a:t>4</a:t>
                  </a:r>
                </a:p>
              </p:txBody>
            </p:sp>
          </p:grpSp>
          <p:grpSp>
            <p:nvGrpSpPr>
              <p:cNvPr id="25" name="Group 46"/>
              <p:cNvGrpSpPr>
                <a:grpSpLocks/>
              </p:cNvGrpSpPr>
              <p:nvPr/>
            </p:nvGrpSpPr>
            <p:grpSpPr bwMode="auto">
              <a:xfrm>
                <a:off x="244" y="3153"/>
                <a:ext cx="350" cy="296"/>
                <a:chOff x="244" y="2782"/>
                <a:chExt cx="350" cy="296"/>
              </a:xfrm>
            </p:grpSpPr>
            <p:sp>
              <p:nvSpPr>
                <p:cNvPr id="32" name="Oval 11"/>
                <p:cNvSpPr>
                  <a:spLocks noChangeArrowheads="1"/>
                </p:cNvSpPr>
                <p:nvPr/>
              </p:nvSpPr>
              <p:spPr bwMode="auto">
                <a:xfrm>
                  <a:off x="244" y="2782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zh-CN" altLang="zh-CN"/>
                </a:p>
              </p:txBody>
            </p:sp>
            <p:sp>
              <p:nvSpPr>
                <p:cNvPr id="33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321" y="2805"/>
                  <a:ext cx="197" cy="26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9pPr>
                </a:lstStyle>
                <a:p>
                  <a:r>
                    <a:rPr lang="en-US" altLang="zh-CN">
                      <a:solidFill>
                        <a:schemeClr val="tx1"/>
                      </a:solidFill>
                      <a:ea typeface="宋体" charset="-122"/>
                    </a:rPr>
                    <a:t>3</a:t>
                  </a:r>
                </a:p>
              </p:txBody>
            </p:sp>
          </p:grpSp>
          <p:grpSp>
            <p:nvGrpSpPr>
              <p:cNvPr id="26" name="Group 44"/>
              <p:cNvGrpSpPr>
                <a:grpSpLocks/>
              </p:cNvGrpSpPr>
              <p:nvPr/>
            </p:nvGrpSpPr>
            <p:grpSpPr bwMode="auto">
              <a:xfrm>
                <a:off x="1890" y="3155"/>
                <a:ext cx="350" cy="296"/>
                <a:chOff x="1890" y="2784"/>
                <a:chExt cx="350" cy="296"/>
              </a:xfrm>
            </p:grpSpPr>
            <p:sp>
              <p:nvSpPr>
                <p:cNvPr id="30" name="Oval 22"/>
                <p:cNvSpPr>
                  <a:spLocks noChangeArrowheads="1"/>
                </p:cNvSpPr>
                <p:nvPr/>
              </p:nvSpPr>
              <p:spPr bwMode="auto">
                <a:xfrm>
                  <a:off x="1890" y="27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zh-CN" altLang="zh-CN"/>
                </a:p>
              </p:txBody>
            </p:sp>
            <p:sp>
              <p:nvSpPr>
                <p:cNvPr id="31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1967" y="2807"/>
                  <a:ext cx="197" cy="26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9pPr>
                </a:lstStyle>
                <a:p>
                  <a:r>
                    <a:rPr lang="en-US" altLang="zh-CN">
                      <a:solidFill>
                        <a:schemeClr val="tx1"/>
                      </a:solidFill>
                      <a:ea typeface="宋体" charset="-122"/>
                    </a:rPr>
                    <a:t>5</a:t>
                  </a:r>
                </a:p>
              </p:txBody>
            </p:sp>
          </p:grpSp>
          <p:grpSp>
            <p:nvGrpSpPr>
              <p:cNvPr id="27" name="Group 43"/>
              <p:cNvGrpSpPr>
                <a:grpSpLocks/>
              </p:cNvGrpSpPr>
              <p:nvPr/>
            </p:nvGrpSpPr>
            <p:grpSpPr bwMode="auto">
              <a:xfrm>
                <a:off x="2713" y="3156"/>
                <a:ext cx="350" cy="296"/>
                <a:chOff x="2713" y="2785"/>
                <a:chExt cx="350" cy="296"/>
              </a:xfrm>
            </p:grpSpPr>
            <p:sp>
              <p:nvSpPr>
                <p:cNvPr id="28" name="Oval 32"/>
                <p:cNvSpPr>
                  <a:spLocks noChangeArrowheads="1"/>
                </p:cNvSpPr>
                <p:nvPr/>
              </p:nvSpPr>
              <p:spPr bwMode="auto">
                <a:xfrm>
                  <a:off x="2713" y="2785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zh-CN" altLang="zh-CN"/>
                </a:p>
              </p:txBody>
            </p:sp>
            <p:sp>
              <p:nvSpPr>
                <p:cNvPr id="29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2790" y="2808"/>
                  <a:ext cx="197" cy="26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9pPr>
                </a:lstStyle>
                <a:p>
                  <a:r>
                    <a:rPr lang="en-US" altLang="zh-CN">
                      <a:solidFill>
                        <a:schemeClr val="tx1"/>
                      </a:solidFill>
                      <a:ea typeface="宋体" charset="-122"/>
                    </a:rPr>
                    <a:t>6</a:t>
                  </a:r>
                </a:p>
              </p:txBody>
            </p:sp>
          </p:grpSp>
        </p:grpSp>
        <p:sp>
          <p:nvSpPr>
            <p:cNvPr id="18" name="Line 34"/>
            <p:cNvSpPr>
              <a:spLocks noChangeShapeType="1"/>
            </p:cNvSpPr>
            <p:nvPr/>
          </p:nvSpPr>
          <p:spPr bwMode="auto">
            <a:xfrm flipH="1">
              <a:off x="2142" y="2640"/>
              <a:ext cx="219" cy="4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35"/>
            <p:cNvSpPr>
              <a:spLocks noChangeShapeType="1"/>
            </p:cNvSpPr>
            <p:nvPr/>
          </p:nvSpPr>
          <p:spPr bwMode="auto">
            <a:xfrm>
              <a:off x="2181" y="3335"/>
              <a:ext cx="212" cy="3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36"/>
            <p:cNvSpPr>
              <a:spLocks noChangeShapeType="1"/>
            </p:cNvSpPr>
            <p:nvPr/>
          </p:nvSpPr>
          <p:spPr bwMode="auto">
            <a:xfrm flipH="1">
              <a:off x="2533" y="3302"/>
              <a:ext cx="231" cy="4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37"/>
            <p:cNvSpPr>
              <a:spLocks noChangeShapeType="1"/>
            </p:cNvSpPr>
            <p:nvPr/>
          </p:nvSpPr>
          <p:spPr bwMode="auto">
            <a:xfrm>
              <a:off x="2589" y="2633"/>
              <a:ext cx="200" cy="4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38"/>
            <p:cNvSpPr>
              <a:spLocks noChangeShapeType="1"/>
            </p:cNvSpPr>
            <p:nvPr/>
          </p:nvSpPr>
          <p:spPr bwMode="auto">
            <a:xfrm flipH="1">
              <a:off x="1340" y="2655"/>
              <a:ext cx="208" cy="4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39"/>
            <p:cNvSpPr>
              <a:spLocks noChangeShapeType="1"/>
            </p:cNvSpPr>
            <p:nvPr/>
          </p:nvSpPr>
          <p:spPr bwMode="auto">
            <a:xfrm>
              <a:off x="2478" y="2232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4" name="Text Box 54"/>
          <p:cNvSpPr txBox="1">
            <a:spLocks noChangeArrowheads="1"/>
          </p:cNvSpPr>
          <p:nvPr/>
        </p:nvSpPr>
        <p:spPr bwMode="auto">
          <a:xfrm>
            <a:off x="6418082" y="3779689"/>
            <a:ext cx="3731072" cy="1323439"/>
          </a:xfrm>
          <a:prstGeom prst="rect">
            <a:avLst/>
          </a:prstGeom>
          <a:solidFill>
            <a:srgbClr val="0066FF">
              <a:alpha val="48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0" dirty="0">
                <a:solidFill>
                  <a:schemeClr val="tx1"/>
                </a:solidFill>
                <a:ea typeface="宋体" charset="-122"/>
              </a:rPr>
              <a:t>reach (0) = { 0, 3, 4, 7, 8, 5, 1, 9 }</a:t>
            </a:r>
          </a:p>
          <a:p>
            <a:pPr>
              <a:spcBef>
                <a:spcPct val="50000"/>
              </a:spcBef>
            </a:pPr>
            <a:r>
              <a:rPr lang="en-US" altLang="zh-CN" b="0" dirty="0">
                <a:solidFill>
                  <a:schemeClr val="tx1"/>
                </a:solidFill>
                <a:ea typeface="宋体" charset="-122"/>
              </a:rPr>
              <a:t>reach ({0, 2}) = N</a:t>
            </a:r>
          </a:p>
          <a:p>
            <a:pPr>
              <a:spcBef>
                <a:spcPct val="50000"/>
              </a:spcBef>
            </a:pPr>
            <a:r>
              <a:rPr lang="en-US" altLang="zh-CN" b="0" dirty="0">
                <a:solidFill>
                  <a:schemeClr val="tx1"/>
                </a:solidFill>
                <a:ea typeface="宋体" charset="-122"/>
              </a:rPr>
              <a:t>reach([2,6]) = {2, 6, 9}</a:t>
            </a:r>
          </a:p>
        </p:txBody>
      </p:sp>
    </p:spTree>
    <p:extLst>
      <p:ext uri="{BB962C8B-B14F-4D97-AF65-F5344CB8AC3E}">
        <p14:creationId xmlns:p14="http://schemas.microsoft.com/office/powerpoint/2010/main" val="91916790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/>
          <p:cNvSpPr txBox="1"/>
          <p:nvPr/>
        </p:nvSpPr>
        <p:spPr>
          <a:xfrm>
            <a:off x="7839074" y="5501183"/>
            <a:ext cx="1760541" cy="101566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Write down all the test paths in this graph</a:t>
            </a:r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97D8F11-1EA8-4375-9A1A-D6C90561F807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 Paths and SESEs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2114" y="971551"/>
            <a:ext cx="8867775" cy="5292725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Test Path</a:t>
            </a:r>
            <a:r>
              <a:rPr lang="en-US" dirty="0"/>
              <a:t> : A path that starts at an initial node and ends at a final node</a:t>
            </a:r>
          </a:p>
          <a:p>
            <a:r>
              <a:rPr lang="en-US" dirty="0"/>
              <a:t>Test paths represent execution of test cases</a:t>
            </a:r>
          </a:p>
          <a:p>
            <a:pPr lvl="1"/>
            <a:r>
              <a:rPr lang="en-US" sz="2000" dirty="0"/>
              <a:t>Some test paths can be executed by many tests</a:t>
            </a:r>
          </a:p>
          <a:p>
            <a:pPr lvl="1"/>
            <a:r>
              <a:rPr lang="en-US" sz="2000" dirty="0"/>
              <a:t>Some test paths cannot be executed by any tests</a:t>
            </a:r>
          </a:p>
          <a:p>
            <a:r>
              <a:rPr lang="en-US" dirty="0">
                <a:solidFill>
                  <a:schemeClr val="tx2"/>
                </a:solidFill>
              </a:rPr>
              <a:t>SESE graphs</a:t>
            </a:r>
            <a:r>
              <a:rPr lang="en-US" dirty="0"/>
              <a:t> : All  test paths start at a single node and end at another node</a:t>
            </a:r>
          </a:p>
          <a:p>
            <a:pPr lvl="1"/>
            <a:r>
              <a:rPr lang="en-US" sz="2000" dirty="0"/>
              <a:t>Single-entry, single-exit</a:t>
            </a:r>
          </a:p>
          <a:p>
            <a:pPr lvl="1"/>
            <a:r>
              <a:rPr lang="en-US" sz="2000" dirty="0"/>
              <a:t>N0 and </a:t>
            </a:r>
            <a:r>
              <a:rPr lang="en-US" sz="2000" dirty="0" err="1"/>
              <a:t>Nf</a:t>
            </a:r>
            <a:r>
              <a:rPr lang="en-US" sz="2000" dirty="0"/>
              <a:t> have exactly one node</a:t>
            </a:r>
          </a:p>
        </p:txBody>
      </p:sp>
      <p:grpSp>
        <p:nvGrpSpPr>
          <p:cNvPr id="2" name="Group 41"/>
          <p:cNvGrpSpPr>
            <a:grpSpLocks/>
          </p:cNvGrpSpPr>
          <p:nvPr/>
        </p:nvGrpSpPr>
        <p:grpSpPr bwMode="auto">
          <a:xfrm>
            <a:off x="2322514" y="4708525"/>
            <a:ext cx="4346575" cy="1443038"/>
            <a:chOff x="503" y="2966"/>
            <a:chExt cx="2738" cy="909"/>
          </a:xfrm>
        </p:grpSpPr>
        <p:grpSp>
          <p:nvGrpSpPr>
            <p:cNvPr id="8201" name="Group 18"/>
            <p:cNvGrpSpPr>
              <a:grpSpLocks/>
            </p:cNvGrpSpPr>
            <p:nvPr/>
          </p:nvGrpSpPr>
          <p:grpSpPr bwMode="auto">
            <a:xfrm>
              <a:off x="730" y="3273"/>
              <a:ext cx="350" cy="296"/>
              <a:chOff x="4288" y="1746"/>
              <a:chExt cx="350" cy="296"/>
            </a:xfrm>
          </p:grpSpPr>
          <p:sp>
            <p:nvSpPr>
              <p:cNvPr id="8231" name="Oval 5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32" name="Text Box 6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grpSp>
          <p:nvGrpSpPr>
            <p:cNvPr id="8202" name="Group 31"/>
            <p:cNvGrpSpPr>
              <a:grpSpLocks/>
            </p:cNvGrpSpPr>
            <p:nvPr/>
          </p:nvGrpSpPr>
          <p:grpSpPr bwMode="auto">
            <a:xfrm>
              <a:off x="1255" y="2966"/>
              <a:ext cx="380" cy="908"/>
              <a:chOff x="1346" y="2965"/>
              <a:chExt cx="380" cy="908"/>
            </a:xfrm>
          </p:grpSpPr>
          <p:grpSp>
            <p:nvGrpSpPr>
              <p:cNvPr id="8225" name="Group 19"/>
              <p:cNvGrpSpPr>
                <a:grpSpLocks/>
              </p:cNvGrpSpPr>
              <p:nvPr/>
            </p:nvGrpSpPr>
            <p:grpSpPr bwMode="auto">
              <a:xfrm>
                <a:off x="1346" y="3577"/>
                <a:ext cx="350" cy="296"/>
                <a:chOff x="4738" y="2684"/>
                <a:chExt cx="350" cy="296"/>
              </a:xfrm>
            </p:grpSpPr>
            <p:sp>
              <p:nvSpPr>
                <p:cNvPr id="8229" name="Oval 7"/>
                <p:cNvSpPr>
                  <a:spLocks noChangeArrowheads="1"/>
                </p:cNvSpPr>
                <p:nvPr/>
              </p:nvSpPr>
              <p:spPr bwMode="auto">
                <a:xfrm>
                  <a:off x="47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30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4815" y="2707"/>
                  <a:ext cx="19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</p:grpSp>
          <p:grpSp>
            <p:nvGrpSpPr>
              <p:cNvPr id="8226" name="Group 20"/>
              <p:cNvGrpSpPr>
                <a:grpSpLocks/>
              </p:cNvGrpSpPr>
              <p:nvPr/>
            </p:nvGrpSpPr>
            <p:grpSpPr bwMode="auto">
              <a:xfrm>
                <a:off x="1376" y="2965"/>
                <a:ext cx="350" cy="296"/>
                <a:chOff x="3838" y="2684"/>
                <a:chExt cx="350" cy="296"/>
              </a:xfrm>
            </p:grpSpPr>
            <p:sp>
              <p:nvSpPr>
                <p:cNvPr id="8227" name="Oval 9"/>
                <p:cNvSpPr>
                  <a:spLocks noChangeArrowheads="1"/>
                </p:cNvSpPr>
                <p:nvPr/>
              </p:nvSpPr>
              <p:spPr bwMode="auto">
                <a:xfrm>
                  <a:off x="38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28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3915" y="2707"/>
                  <a:ext cx="19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</p:grpSp>
        </p:grpSp>
        <p:grpSp>
          <p:nvGrpSpPr>
            <p:cNvPr id="8203" name="Group 21"/>
            <p:cNvGrpSpPr>
              <a:grpSpLocks/>
            </p:cNvGrpSpPr>
            <p:nvPr/>
          </p:nvGrpSpPr>
          <p:grpSpPr bwMode="auto">
            <a:xfrm>
              <a:off x="2891" y="3273"/>
              <a:ext cx="350" cy="296"/>
              <a:chOff x="4288" y="3622"/>
              <a:chExt cx="350" cy="296"/>
            </a:xfrm>
          </p:grpSpPr>
          <p:sp>
            <p:nvSpPr>
              <p:cNvPr id="8223" name="Oval 11"/>
              <p:cNvSpPr>
                <a:spLocks noChangeArrowheads="1"/>
              </p:cNvSpPr>
              <p:nvPr/>
            </p:nvSpPr>
            <p:spPr bwMode="auto">
              <a:xfrm>
                <a:off x="4288" y="3622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24" name="Text Box 12"/>
              <p:cNvSpPr txBox="1">
                <a:spLocks noChangeArrowheads="1"/>
              </p:cNvSpPr>
              <p:nvPr/>
            </p:nvSpPr>
            <p:spPr bwMode="auto">
              <a:xfrm>
                <a:off x="4365" y="3645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</p:grpSp>
        <p:sp>
          <p:nvSpPr>
            <p:cNvPr id="8204" name="Line 13"/>
            <p:cNvSpPr>
              <a:spLocks noChangeShapeType="1"/>
            </p:cNvSpPr>
            <p:nvPr/>
          </p:nvSpPr>
          <p:spPr bwMode="auto">
            <a:xfrm flipV="1">
              <a:off x="1075" y="3193"/>
              <a:ext cx="250" cy="16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05" name="Line 17"/>
            <p:cNvSpPr>
              <a:spLocks noChangeShapeType="1"/>
            </p:cNvSpPr>
            <p:nvPr/>
          </p:nvSpPr>
          <p:spPr bwMode="auto">
            <a:xfrm>
              <a:off x="503" y="3421"/>
              <a:ext cx="2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8206" name="Group 22"/>
            <p:cNvGrpSpPr>
              <a:grpSpLocks/>
            </p:cNvGrpSpPr>
            <p:nvPr/>
          </p:nvGrpSpPr>
          <p:grpSpPr bwMode="auto">
            <a:xfrm>
              <a:off x="1810" y="3273"/>
              <a:ext cx="350" cy="296"/>
              <a:chOff x="4288" y="1746"/>
              <a:chExt cx="350" cy="296"/>
            </a:xfrm>
          </p:grpSpPr>
          <p:sp>
            <p:nvSpPr>
              <p:cNvPr id="8221" name="Oval 23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22" name="Text Box 24"/>
              <p:cNvSpPr txBox="1">
                <a:spLocks noChangeArrowheads="1"/>
              </p:cNvSpPr>
              <p:nvPr/>
            </p:nvSpPr>
            <p:spPr bwMode="auto">
              <a:xfrm>
                <a:off x="4364" y="1769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</p:grpSp>
        <p:grpSp>
          <p:nvGrpSpPr>
            <p:cNvPr id="8207" name="Group 32"/>
            <p:cNvGrpSpPr>
              <a:grpSpLocks/>
            </p:cNvGrpSpPr>
            <p:nvPr/>
          </p:nvGrpSpPr>
          <p:grpSpPr bwMode="auto">
            <a:xfrm>
              <a:off x="2335" y="2967"/>
              <a:ext cx="380" cy="908"/>
              <a:chOff x="2450" y="2968"/>
              <a:chExt cx="380" cy="908"/>
            </a:xfrm>
          </p:grpSpPr>
          <p:grpSp>
            <p:nvGrpSpPr>
              <p:cNvPr id="8215" name="Group 25"/>
              <p:cNvGrpSpPr>
                <a:grpSpLocks/>
              </p:cNvGrpSpPr>
              <p:nvPr/>
            </p:nvGrpSpPr>
            <p:grpSpPr bwMode="auto">
              <a:xfrm>
                <a:off x="2450" y="3580"/>
                <a:ext cx="350" cy="296"/>
                <a:chOff x="4738" y="2684"/>
                <a:chExt cx="350" cy="296"/>
              </a:xfrm>
            </p:grpSpPr>
            <p:sp>
              <p:nvSpPr>
                <p:cNvPr id="8219" name="Oval 26"/>
                <p:cNvSpPr>
                  <a:spLocks noChangeArrowheads="1"/>
                </p:cNvSpPr>
                <p:nvPr/>
              </p:nvSpPr>
              <p:spPr bwMode="auto">
                <a:xfrm>
                  <a:off x="47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20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4815" y="2707"/>
                  <a:ext cx="19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</p:grpSp>
          <p:grpSp>
            <p:nvGrpSpPr>
              <p:cNvPr id="8216" name="Group 28"/>
              <p:cNvGrpSpPr>
                <a:grpSpLocks/>
              </p:cNvGrpSpPr>
              <p:nvPr/>
            </p:nvGrpSpPr>
            <p:grpSpPr bwMode="auto">
              <a:xfrm>
                <a:off x="2480" y="2968"/>
                <a:ext cx="350" cy="296"/>
                <a:chOff x="3838" y="2684"/>
                <a:chExt cx="350" cy="296"/>
              </a:xfrm>
            </p:grpSpPr>
            <p:sp>
              <p:nvSpPr>
                <p:cNvPr id="8217" name="Oval 29"/>
                <p:cNvSpPr>
                  <a:spLocks noChangeArrowheads="1"/>
                </p:cNvSpPr>
                <p:nvPr/>
              </p:nvSpPr>
              <p:spPr bwMode="auto">
                <a:xfrm>
                  <a:off x="38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18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3915" y="2707"/>
                  <a:ext cx="19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</p:grpSp>
        </p:grpSp>
        <p:sp>
          <p:nvSpPr>
            <p:cNvPr id="8208" name="Line 33"/>
            <p:cNvSpPr>
              <a:spLocks noChangeShapeType="1"/>
            </p:cNvSpPr>
            <p:nvPr/>
          </p:nvSpPr>
          <p:spPr bwMode="auto">
            <a:xfrm flipV="1">
              <a:off x="2679" y="3513"/>
              <a:ext cx="250" cy="16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09" name="Line 34"/>
            <p:cNvSpPr>
              <a:spLocks noChangeShapeType="1"/>
            </p:cNvSpPr>
            <p:nvPr/>
          </p:nvSpPr>
          <p:spPr bwMode="auto">
            <a:xfrm flipV="1">
              <a:off x="1595" y="3513"/>
              <a:ext cx="250" cy="16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10" name="Line 35"/>
            <p:cNvSpPr>
              <a:spLocks noChangeShapeType="1"/>
            </p:cNvSpPr>
            <p:nvPr/>
          </p:nvSpPr>
          <p:spPr bwMode="auto">
            <a:xfrm flipV="1">
              <a:off x="2147" y="3193"/>
              <a:ext cx="250" cy="16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11" name="Line 36"/>
            <p:cNvSpPr>
              <a:spLocks noChangeShapeType="1"/>
            </p:cNvSpPr>
            <p:nvPr/>
          </p:nvSpPr>
          <p:spPr bwMode="auto">
            <a:xfrm>
              <a:off x="1055" y="3517"/>
              <a:ext cx="218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12" name="Line 37"/>
            <p:cNvSpPr>
              <a:spLocks noChangeShapeType="1"/>
            </p:cNvSpPr>
            <p:nvPr/>
          </p:nvSpPr>
          <p:spPr bwMode="auto">
            <a:xfrm>
              <a:off x="1607" y="3198"/>
              <a:ext cx="218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13" name="Line 38"/>
            <p:cNvSpPr>
              <a:spLocks noChangeShapeType="1"/>
            </p:cNvSpPr>
            <p:nvPr/>
          </p:nvSpPr>
          <p:spPr bwMode="auto">
            <a:xfrm>
              <a:off x="2123" y="3518"/>
              <a:ext cx="218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14" name="Line 39"/>
            <p:cNvSpPr>
              <a:spLocks noChangeShapeType="1"/>
            </p:cNvSpPr>
            <p:nvPr/>
          </p:nvSpPr>
          <p:spPr bwMode="auto">
            <a:xfrm>
              <a:off x="2707" y="3197"/>
              <a:ext cx="218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6712" name="Text Box 40"/>
          <p:cNvSpPr txBox="1">
            <a:spLocks noChangeArrowheads="1"/>
          </p:cNvSpPr>
          <p:nvPr/>
        </p:nvSpPr>
        <p:spPr bwMode="auto">
          <a:xfrm>
            <a:off x="7067550" y="4464050"/>
            <a:ext cx="3303588" cy="1938992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/>
            <a:r>
              <a:rPr lang="en-US" u="sng" dirty="0">
                <a:solidFill>
                  <a:schemeClr val="tx1"/>
                </a:solidFill>
                <a:latin typeface="Gill Sans MT" pitchFamily="34" charset="0"/>
              </a:rPr>
              <a:t>Double-diamond graph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Four test paths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[1, 2, 4, 5, 7]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[1, 2, 4, 6, 7]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[1, 3, 4, 5, 7]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[1, 3, 4, 6, 7]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56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1567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BDF47E0-E672-4537-A0E9-7D71FC56AF9E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Visiting and Touring</a:t>
            </a:r>
          </a:p>
        </p:txBody>
      </p:sp>
      <p:sp>
        <p:nvSpPr>
          <p:cNvPr id="92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2114" y="1085851"/>
            <a:ext cx="8867775" cy="1579563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Visit</a:t>
            </a:r>
            <a:r>
              <a:rPr lang="en-US" dirty="0"/>
              <a:t> : A test path </a:t>
            </a:r>
            <a:r>
              <a:rPr lang="en-US" i="1" dirty="0"/>
              <a:t>p</a:t>
            </a:r>
            <a:r>
              <a:rPr lang="en-US" dirty="0"/>
              <a:t> </a:t>
            </a:r>
            <a:r>
              <a:rPr lang="en-US" i="1" dirty="0">
                <a:solidFill>
                  <a:schemeClr val="tx2"/>
                </a:solidFill>
              </a:rPr>
              <a:t>visits</a:t>
            </a:r>
            <a:r>
              <a:rPr lang="en-US" dirty="0"/>
              <a:t> node </a:t>
            </a:r>
            <a:r>
              <a:rPr lang="en-US" i="1" dirty="0"/>
              <a:t>n</a:t>
            </a:r>
            <a:r>
              <a:rPr lang="en-US" dirty="0"/>
              <a:t> if </a:t>
            </a:r>
            <a:r>
              <a:rPr lang="en-US" i="1" dirty="0"/>
              <a:t>n</a:t>
            </a:r>
            <a:r>
              <a:rPr lang="en-US" dirty="0"/>
              <a:t> is in </a:t>
            </a:r>
            <a:r>
              <a:rPr lang="en-US" i="1" dirty="0"/>
              <a:t>p</a:t>
            </a:r>
          </a:p>
          <a:p>
            <a:pPr>
              <a:buFontTx/>
              <a:buNone/>
            </a:pPr>
            <a:r>
              <a:rPr lang="en-US" dirty="0"/>
              <a:t>               A test path </a:t>
            </a:r>
            <a:r>
              <a:rPr lang="en-US" i="1" dirty="0"/>
              <a:t>p</a:t>
            </a:r>
            <a:r>
              <a:rPr lang="en-US" dirty="0"/>
              <a:t> </a:t>
            </a:r>
            <a:r>
              <a:rPr lang="en-US" i="1" dirty="0">
                <a:solidFill>
                  <a:schemeClr val="tx2"/>
                </a:solidFill>
              </a:rPr>
              <a:t>visits</a:t>
            </a:r>
            <a:r>
              <a:rPr lang="en-US" dirty="0"/>
              <a:t> edge </a:t>
            </a:r>
            <a:r>
              <a:rPr lang="en-US" i="1" dirty="0"/>
              <a:t>e</a:t>
            </a:r>
            <a:r>
              <a:rPr lang="en-US" dirty="0"/>
              <a:t> if </a:t>
            </a:r>
            <a:r>
              <a:rPr lang="en-US" i="1" dirty="0"/>
              <a:t>e</a:t>
            </a:r>
            <a:r>
              <a:rPr lang="en-US" dirty="0"/>
              <a:t> is in </a:t>
            </a:r>
            <a:r>
              <a:rPr lang="en-US" i="1" dirty="0"/>
              <a:t>p</a:t>
            </a:r>
          </a:p>
          <a:p>
            <a:r>
              <a:rPr lang="en-US" dirty="0">
                <a:solidFill>
                  <a:schemeClr val="tx2"/>
                </a:solidFill>
              </a:rPr>
              <a:t>Tour</a:t>
            </a:r>
            <a:r>
              <a:rPr lang="en-US" dirty="0"/>
              <a:t> : A test path </a:t>
            </a:r>
            <a:r>
              <a:rPr lang="en-US" i="1" dirty="0"/>
              <a:t>p</a:t>
            </a:r>
            <a:r>
              <a:rPr lang="en-US" dirty="0"/>
              <a:t> </a:t>
            </a:r>
            <a:r>
              <a:rPr lang="en-US" i="1" dirty="0">
                <a:solidFill>
                  <a:schemeClr val="tx2"/>
                </a:solidFill>
              </a:rPr>
              <a:t>tours</a:t>
            </a:r>
            <a:r>
              <a:rPr lang="en-US" dirty="0"/>
              <a:t> </a:t>
            </a:r>
            <a:r>
              <a:rPr lang="en-US" dirty="0" err="1"/>
              <a:t>subpath</a:t>
            </a:r>
            <a:r>
              <a:rPr lang="en-US" dirty="0"/>
              <a:t> </a:t>
            </a:r>
            <a:r>
              <a:rPr lang="en-US" i="1" dirty="0"/>
              <a:t>q</a:t>
            </a:r>
            <a:r>
              <a:rPr lang="en-US" dirty="0"/>
              <a:t> if </a:t>
            </a:r>
            <a:r>
              <a:rPr lang="en-US" i="1" dirty="0"/>
              <a:t>q</a:t>
            </a:r>
            <a:r>
              <a:rPr lang="en-US" dirty="0"/>
              <a:t> is a </a:t>
            </a:r>
            <a:r>
              <a:rPr lang="en-US" dirty="0" err="1"/>
              <a:t>subpath</a:t>
            </a:r>
            <a:r>
              <a:rPr lang="en-US" dirty="0"/>
              <a:t> of </a:t>
            </a:r>
            <a:r>
              <a:rPr lang="en-US" i="1" dirty="0"/>
              <a:t>p</a:t>
            </a:r>
          </a:p>
        </p:txBody>
      </p:sp>
      <p:sp>
        <p:nvSpPr>
          <p:cNvPr id="9223" name="Text Box 4"/>
          <p:cNvSpPr txBox="1">
            <a:spLocks noChangeArrowheads="1"/>
          </p:cNvSpPr>
          <p:nvPr/>
        </p:nvSpPr>
        <p:spPr bwMode="auto">
          <a:xfrm>
            <a:off x="2271714" y="3028950"/>
            <a:ext cx="7646987" cy="3231654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Test path [ </a:t>
            </a:r>
            <a:r>
              <a:rPr lang="en-US" sz="2400" dirty="0">
                <a:solidFill>
                  <a:schemeClr val="tx1"/>
                </a:solidFill>
                <a:latin typeface="+mj-lt"/>
              </a:rPr>
              <a:t>1, 2, 4, 5, 7 </a:t>
            </a: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]</a:t>
            </a:r>
          </a:p>
          <a:p>
            <a:pPr>
              <a:spcBef>
                <a:spcPct val="50000"/>
              </a:spcBef>
            </a:pP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Visits nodes ?</a:t>
            </a:r>
          </a:p>
          <a:p>
            <a:pPr>
              <a:spcBef>
                <a:spcPct val="50000"/>
              </a:spcBef>
            </a:pP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Visits edges ?</a:t>
            </a:r>
          </a:p>
          <a:p>
            <a:pPr>
              <a:spcBef>
                <a:spcPct val="50000"/>
              </a:spcBef>
            </a:pP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Tours </a:t>
            </a:r>
            <a:r>
              <a:rPr lang="en-US" sz="2400" dirty="0" err="1">
                <a:solidFill>
                  <a:schemeClr val="tx1"/>
                </a:solidFill>
                <a:latin typeface="Gill Sans MT" panose="020B0502020104020203" pitchFamily="34" charset="0"/>
              </a:rPr>
              <a:t>subpaths</a:t>
            </a: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?</a:t>
            </a:r>
          </a:p>
          <a:p>
            <a:pPr>
              <a:spcBef>
                <a:spcPct val="50000"/>
              </a:spcBef>
            </a:pPr>
            <a:endParaRPr lang="en-US" sz="24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>
              <a:spcBef>
                <a:spcPct val="50000"/>
              </a:spcBef>
            </a:pPr>
            <a:endParaRPr lang="en-US" sz="2400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282992" y="3567820"/>
            <a:ext cx="1584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+mj-lt"/>
              </a:rPr>
              <a:t>1, 2, 4, 5, 7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82993" y="4151160"/>
            <a:ext cx="31598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+mj-lt"/>
              </a:rPr>
              <a:t>(1,2), (2,4), (4, 5), (5, 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2730" y="4644778"/>
            <a:ext cx="46771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+mj-lt"/>
              </a:rPr>
              <a:t>[1,2,4], [2,4,5], [4,5,7], [1,2,4,5], [2,4,5,7], [1,2,4,5,7]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7799" y="5781688"/>
            <a:ext cx="53974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(</a:t>
            </a:r>
            <a:r>
              <a:rPr lang="en-US" sz="2400" i="1" dirty="0">
                <a:solidFill>
                  <a:schemeClr val="tx1"/>
                </a:solidFill>
                <a:latin typeface="Gill Sans MT" panose="020B0502020104020203" pitchFamily="34" charset="0"/>
              </a:rPr>
              <a:t>Also, each edge is technically a </a:t>
            </a:r>
            <a:r>
              <a:rPr lang="en-US" sz="2400" i="1" dirty="0" err="1">
                <a:solidFill>
                  <a:schemeClr val="tx1"/>
                </a:solidFill>
                <a:latin typeface="Gill Sans MT" panose="020B0502020104020203" pitchFamily="34" charset="0"/>
              </a:rPr>
              <a:t>subpath</a:t>
            </a: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9775777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0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8BED11B-2865-4676-956E-71C5326D5E0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Tests and Test Paths</a:t>
            </a:r>
          </a:p>
        </p:txBody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2114" y="1271588"/>
            <a:ext cx="8867775" cy="5072062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path (</a:t>
            </a:r>
            <a:r>
              <a:rPr lang="en-US" i="1" dirty="0">
                <a:solidFill>
                  <a:schemeClr val="tx2"/>
                </a:solidFill>
              </a:rPr>
              <a:t>t</a:t>
            </a:r>
            <a:r>
              <a:rPr lang="en-US" dirty="0">
                <a:solidFill>
                  <a:schemeClr val="tx2"/>
                </a:solidFill>
              </a:rPr>
              <a:t>)</a:t>
            </a:r>
            <a:r>
              <a:rPr lang="en-US" dirty="0"/>
              <a:t> : The test path executed by test </a:t>
            </a:r>
            <a:r>
              <a:rPr lang="en-US" i="1" dirty="0"/>
              <a:t>t</a:t>
            </a:r>
            <a:endParaRPr lang="en-US" sz="1800" dirty="0"/>
          </a:p>
          <a:p>
            <a:r>
              <a:rPr lang="en-US" dirty="0">
                <a:solidFill>
                  <a:schemeClr val="tx2"/>
                </a:solidFill>
              </a:rPr>
              <a:t>path (</a:t>
            </a:r>
            <a:r>
              <a:rPr lang="en-US" i="1" dirty="0">
                <a:solidFill>
                  <a:schemeClr val="tx2"/>
                </a:solidFill>
              </a:rPr>
              <a:t>T</a:t>
            </a:r>
            <a:r>
              <a:rPr lang="en-US" dirty="0">
                <a:solidFill>
                  <a:schemeClr val="tx2"/>
                </a:solidFill>
              </a:rPr>
              <a:t>)</a:t>
            </a:r>
            <a:r>
              <a:rPr lang="en-US" dirty="0"/>
              <a:t> : The set of test paths executed by the set of tests </a:t>
            </a:r>
            <a:r>
              <a:rPr lang="en-US" i="1" dirty="0"/>
              <a:t>T</a:t>
            </a:r>
            <a:endParaRPr lang="en-US" dirty="0"/>
          </a:p>
          <a:p>
            <a:r>
              <a:rPr lang="en-US" altLang="zh-CN" dirty="0">
                <a:ea typeface="宋体" charset="-122"/>
              </a:rPr>
              <a:t>For </a:t>
            </a:r>
            <a:r>
              <a:rPr lang="en-US" altLang="zh-CN" b="1" dirty="0" err="1">
                <a:solidFill>
                  <a:srgbClr val="FF0000"/>
                </a:solidFill>
                <a:ea typeface="宋体" charset="-122"/>
              </a:rPr>
              <a:t>determinstic</a:t>
            </a:r>
            <a:r>
              <a:rPr lang="en-US" altLang="zh-CN" dirty="0">
                <a:ea typeface="宋体" charset="-122"/>
              </a:rPr>
              <a:t> graph, </a:t>
            </a:r>
            <a:r>
              <a:rPr lang="en-US" altLang="zh-CN" dirty="0"/>
              <a:t>e</a:t>
            </a:r>
            <a:r>
              <a:rPr lang="en-US" dirty="0"/>
              <a:t>ach test executes </a:t>
            </a:r>
            <a:r>
              <a:rPr lang="en-US" dirty="0">
                <a:solidFill>
                  <a:schemeClr val="tx2"/>
                </a:solidFill>
              </a:rPr>
              <a:t>one and only one</a:t>
            </a:r>
            <a:r>
              <a:rPr lang="en-US" dirty="0"/>
              <a:t> test path</a:t>
            </a:r>
          </a:p>
          <a:p>
            <a:pPr lvl="1"/>
            <a:r>
              <a:rPr lang="en-US" dirty="0"/>
              <a:t>Complete execution from a start node to an final node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075BF2-F07B-4249-853E-5AE4406243F5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Tests and Test Paths</a:t>
            </a:r>
          </a:p>
        </p:txBody>
      </p:sp>
      <p:sp>
        <p:nvSpPr>
          <p:cNvPr id="11270" name="Text Box 4"/>
          <p:cNvSpPr txBox="1">
            <a:spLocks noChangeArrowheads="1"/>
          </p:cNvSpPr>
          <p:nvPr/>
        </p:nvSpPr>
        <p:spPr bwMode="auto">
          <a:xfrm>
            <a:off x="1995488" y="904334"/>
            <a:ext cx="1046162" cy="457200"/>
          </a:xfrm>
          <a:prstGeom prst="rect">
            <a:avLst/>
          </a:prstGeom>
          <a:solidFill>
            <a:srgbClr val="0099FF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>
                <a:solidFill>
                  <a:schemeClr val="tx1"/>
                </a:solidFill>
                <a:latin typeface="Gill Sans MT" pitchFamily="34" charset="0"/>
              </a:rPr>
              <a:t>test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</a:t>
            </a:r>
          </a:p>
        </p:txBody>
      </p:sp>
      <p:sp>
        <p:nvSpPr>
          <p:cNvPr id="11271" name="Text Box 10"/>
          <p:cNvSpPr txBox="1">
            <a:spLocks noChangeArrowheads="1"/>
          </p:cNvSpPr>
          <p:nvPr/>
        </p:nvSpPr>
        <p:spPr bwMode="auto">
          <a:xfrm>
            <a:off x="1995488" y="1648872"/>
            <a:ext cx="1046162" cy="457200"/>
          </a:xfrm>
          <a:prstGeom prst="rect">
            <a:avLst/>
          </a:prstGeom>
          <a:solidFill>
            <a:srgbClr val="0099FF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>
                <a:solidFill>
                  <a:schemeClr val="tx1"/>
                </a:solidFill>
                <a:latin typeface="Gill Sans MT" pitchFamily="34" charset="0"/>
              </a:rPr>
              <a:t>test 2</a:t>
            </a:r>
          </a:p>
        </p:txBody>
      </p:sp>
      <p:sp>
        <p:nvSpPr>
          <p:cNvPr id="11272" name="Text Box 11"/>
          <p:cNvSpPr txBox="1">
            <a:spLocks noChangeArrowheads="1"/>
          </p:cNvSpPr>
          <p:nvPr/>
        </p:nvSpPr>
        <p:spPr bwMode="auto">
          <a:xfrm>
            <a:off x="1995488" y="2374359"/>
            <a:ext cx="1046162" cy="457200"/>
          </a:xfrm>
          <a:prstGeom prst="rect">
            <a:avLst/>
          </a:prstGeom>
          <a:solidFill>
            <a:srgbClr val="0099FF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>
                <a:solidFill>
                  <a:schemeClr val="tx1"/>
                </a:solidFill>
                <a:latin typeface="Gill Sans MT" pitchFamily="34" charset="0"/>
              </a:rPr>
              <a:t>test 3</a:t>
            </a: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3209926" y="904335"/>
            <a:ext cx="5091113" cy="1704975"/>
            <a:chOff x="1062" y="904"/>
            <a:chExt cx="3207" cy="1074"/>
          </a:xfrm>
        </p:grpSpPr>
        <p:sp>
          <p:nvSpPr>
            <p:cNvPr id="11300" name="Text Box 13"/>
            <p:cNvSpPr txBox="1">
              <a:spLocks noChangeArrowheads="1"/>
            </p:cNvSpPr>
            <p:nvPr/>
          </p:nvSpPr>
          <p:spPr bwMode="auto">
            <a:xfrm>
              <a:off x="2032" y="904"/>
              <a:ext cx="1267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solidFill>
                    <a:schemeClr val="tx1"/>
                  </a:solidFill>
                  <a:latin typeface="Gill Sans MT" pitchFamily="34" charset="0"/>
                </a:rPr>
                <a:t>many-to-one</a:t>
              </a:r>
            </a:p>
          </p:txBody>
        </p:sp>
        <p:sp>
          <p:nvSpPr>
            <p:cNvPr id="11301" name="Line 14"/>
            <p:cNvSpPr>
              <a:spLocks noChangeShapeType="1"/>
            </p:cNvSpPr>
            <p:nvPr/>
          </p:nvSpPr>
          <p:spPr bwMode="auto">
            <a:xfrm>
              <a:off x="1069" y="1517"/>
              <a:ext cx="319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1302" name="Line 17"/>
            <p:cNvSpPr>
              <a:spLocks noChangeShapeType="1"/>
            </p:cNvSpPr>
            <p:nvPr/>
          </p:nvSpPr>
          <p:spPr bwMode="auto">
            <a:xfrm>
              <a:off x="1062" y="1056"/>
              <a:ext cx="3207" cy="30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1303" name="Line 19"/>
            <p:cNvSpPr>
              <a:spLocks noChangeShapeType="1"/>
            </p:cNvSpPr>
            <p:nvPr/>
          </p:nvSpPr>
          <p:spPr bwMode="auto">
            <a:xfrm flipV="1">
              <a:off x="1065" y="1670"/>
              <a:ext cx="3200" cy="3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</p:grpSp>
      <p:grpSp>
        <p:nvGrpSpPr>
          <p:cNvPr id="3" name="Group 43"/>
          <p:cNvGrpSpPr>
            <a:grpSpLocks/>
          </p:cNvGrpSpPr>
          <p:nvPr/>
        </p:nvGrpSpPr>
        <p:grpSpPr bwMode="auto">
          <a:xfrm>
            <a:off x="2085976" y="3722148"/>
            <a:ext cx="1046163" cy="1944687"/>
            <a:chOff x="354" y="2451"/>
            <a:chExt cx="659" cy="1225"/>
          </a:xfrm>
        </p:grpSpPr>
        <p:sp>
          <p:nvSpPr>
            <p:cNvPr id="11297" name="Text Box 22"/>
            <p:cNvSpPr txBox="1">
              <a:spLocks noChangeArrowheads="1"/>
            </p:cNvSpPr>
            <p:nvPr/>
          </p:nvSpPr>
          <p:spPr bwMode="auto">
            <a:xfrm>
              <a:off x="354" y="2451"/>
              <a:ext cx="659" cy="291"/>
            </a:xfrm>
            <a:prstGeom prst="rect">
              <a:avLst/>
            </a:prstGeom>
            <a:solidFill>
              <a:srgbClr val="0099FF"/>
            </a:solid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dirty="0">
                  <a:solidFill>
                    <a:schemeClr val="tx1"/>
                  </a:solidFill>
                  <a:latin typeface="Gill Sans MT" pitchFamily="34" charset="0"/>
                </a:rPr>
                <a:t>test </a:t>
              </a:r>
              <a:r>
                <a:rPr lang="en-US" sz="240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1</a:t>
              </a:r>
            </a:p>
          </p:txBody>
        </p:sp>
        <p:sp>
          <p:nvSpPr>
            <p:cNvPr id="11298" name="Text Box 23"/>
            <p:cNvSpPr txBox="1">
              <a:spLocks noChangeArrowheads="1"/>
            </p:cNvSpPr>
            <p:nvPr/>
          </p:nvSpPr>
          <p:spPr bwMode="auto">
            <a:xfrm>
              <a:off x="354" y="2920"/>
              <a:ext cx="659" cy="288"/>
            </a:xfrm>
            <a:prstGeom prst="rect">
              <a:avLst/>
            </a:prstGeom>
            <a:solidFill>
              <a:srgbClr val="0099FF"/>
            </a:solid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solidFill>
                    <a:schemeClr val="tx1"/>
                  </a:solidFill>
                  <a:latin typeface="Gill Sans MT" pitchFamily="34" charset="0"/>
                </a:rPr>
                <a:t>test 2</a:t>
              </a:r>
            </a:p>
          </p:txBody>
        </p:sp>
        <p:sp>
          <p:nvSpPr>
            <p:cNvPr id="11299" name="Text Box 24"/>
            <p:cNvSpPr txBox="1">
              <a:spLocks noChangeArrowheads="1"/>
            </p:cNvSpPr>
            <p:nvPr/>
          </p:nvSpPr>
          <p:spPr bwMode="auto">
            <a:xfrm>
              <a:off x="354" y="3388"/>
              <a:ext cx="659" cy="288"/>
            </a:xfrm>
            <a:prstGeom prst="rect">
              <a:avLst/>
            </a:prstGeom>
            <a:solidFill>
              <a:srgbClr val="0099FF"/>
            </a:solid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solidFill>
                    <a:schemeClr val="tx1"/>
                  </a:solidFill>
                  <a:latin typeface="Gill Sans MT" pitchFamily="34" charset="0"/>
                </a:rPr>
                <a:t>test 3</a:t>
              </a:r>
            </a:p>
          </p:txBody>
        </p:sp>
      </p:grpSp>
      <p:grpSp>
        <p:nvGrpSpPr>
          <p:cNvPr id="4" name="Group 44"/>
          <p:cNvGrpSpPr>
            <a:grpSpLocks/>
          </p:cNvGrpSpPr>
          <p:nvPr/>
        </p:nvGrpSpPr>
        <p:grpSpPr bwMode="auto">
          <a:xfrm>
            <a:off x="3309939" y="3550698"/>
            <a:ext cx="5076825" cy="1887537"/>
            <a:chOff x="1125" y="2343"/>
            <a:chExt cx="3198" cy="1189"/>
          </a:xfrm>
        </p:grpSpPr>
        <p:sp>
          <p:nvSpPr>
            <p:cNvPr id="11287" name="Text Box 27"/>
            <p:cNvSpPr txBox="1">
              <a:spLocks noChangeArrowheads="1"/>
            </p:cNvSpPr>
            <p:nvPr/>
          </p:nvSpPr>
          <p:spPr bwMode="auto">
            <a:xfrm>
              <a:off x="1719" y="2343"/>
              <a:ext cx="2322" cy="29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dirty="0">
                  <a:solidFill>
                    <a:schemeClr val="tx1"/>
                  </a:solidFill>
                  <a:latin typeface="Gill Sans MT" pitchFamily="34" charset="0"/>
                </a:rPr>
                <a:t>many-to-many</a:t>
              </a:r>
            </a:p>
          </p:txBody>
        </p:sp>
        <p:sp>
          <p:nvSpPr>
            <p:cNvPr id="11288" name="Line 28"/>
            <p:cNvSpPr>
              <a:spLocks noChangeShapeType="1"/>
            </p:cNvSpPr>
            <p:nvPr/>
          </p:nvSpPr>
          <p:spPr bwMode="auto">
            <a:xfrm>
              <a:off x="1128" y="3064"/>
              <a:ext cx="319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1289" name="Line 29"/>
            <p:cNvSpPr>
              <a:spLocks noChangeShapeType="1"/>
            </p:cNvSpPr>
            <p:nvPr/>
          </p:nvSpPr>
          <p:spPr bwMode="auto">
            <a:xfrm>
              <a:off x="1131" y="2622"/>
              <a:ext cx="3190" cy="33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1290" name="Line 30"/>
            <p:cNvSpPr>
              <a:spLocks noChangeShapeType="1"/>
            </p:cNvSpPr>
            <p:nvPr/>
          </p:nvSpPr>
          <p:spPr bwMode="auto">
            <a:xfrm flipV="1">
              <a:off x="1125" y="3166"/>
              <a:ext cx="3187" cy="3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1291" name="Line 33"/>
            <p:cNvSpPr>
              <a:spLocks noChangeShapeType="1"/>
            </p:cNvSpPr>
            <p:nvPr/>
          </p:nvSpPr>
          <p:spPr bwMode="auto">
            <a:xfrm>
              <a:off x="1128" y="3532"/>
              <a:ext cx="319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1292" name="Line 34"/>
            <p:cNvSpPr>
              <a:spLocks noChangeShapeType="1"/>
            </p:cNvSpPr>
            <p:nvPr/>
          </p:nvSpPr>
          <p:spPr bwMode="auto">
            <a:xfrm>
              <a:off x="1128" y="2595"/>
              <a:ext cx="319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1293" name="Line 38"/>
            <p:cNvSpPr>
              <a:spLocks noChangeShapeType="1"/>
            </p:cNvSpPr>
            <p:nvPr/>
          </p:nvSpPr>
          <p:spPr bwMode="auto">
            <a:xfrm flipV="1">
              <a:off x="1133" y="2686"/>
              <a:ext cx="3190" cy="3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1294" name="Line 39"/>
            <p:cNvSpPr>
              <a:spLocks noChangeShapeType="1"/>
            </p:cNvSpPr>
            <p:nvPr/>
          </p:nvSpPr>
          <p:spPr bwMode="auto">
            <a:xfrm>
              <a:off x="1133" y="3105"/>
              <a:ext cx="3184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1295" name="Line 40"/>
            <p:cNvSpPr>
              <a:spLocks noChangeShapeType="1"/>
            </p:cNvSpPr>
            <p:nvPr/>
          </p:nvSpPr>
          <p:spPr bwMode="auto">
            <a:xfrm flipV="1">
              <a:off x="1127" y="2776"/>
              <a:ext cx="3194" cy="70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1296" name="Line 41"/>
            <p:cNvSpPr>
              <a:spLocks noChangeShapeType="1"/>
            </p:cNvSpPr>
            <p:nvPr/>
          </p:nvSpPr>
          <p:spPr bwMode="auto">
            <a:xfrm>
              <a:off x="1126" y="2647"/>
              <a:ext cx="3191" cy="71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</p:grpSp>
      <p:grpSp>
        <p:nvGrpSpPr>
          <p:cNvPr id="5" name="Group 47"/>
          <p:cNvGrpSpPr>
            <a:grpSpLocks/>
          </p:cNvGrpSpPr>
          <p:nvPr/>
        </p:nvGrpSpPr>
        <p:grpSpPr bwMode="auto">
          <a:xfrm>
            <a:off x="1651000" y="3720569"/>
            <a:ext cx="8890000" cy="2924180"/>
            <a:chOff x="80" y="2450"/>
            <a:chExt cx="5600" cy="1842"/>
          </a:xfrm>
        </p:grpSpPr>
        <p:grpSp>
          <p:nvGrpSpPr>
            <p:cNvPr id="11282" name="Group 45"/>
            <p:cNvGrpSpPr>
              <a:grpSpLocks/>
            </p:cNvGrpSpPr>
            <p:nvPr/>
          </p:nvGrpSpPr>
          <p:grpSpPr bwMode="auto">
            <a:xfrm>
              <a:off x="4364" y="2450"/>
              <a:ext cx="1242" cy="1229"/>
              <a:chOff x="4364" y="2450"/>
              <a:chExt cx="1242" cy="1229"/>
            </a:xfrm>
          </p:grpSpPr>
          <p:sp>
            <p:nvSpPr>
              <p:cNvPr id="11284" name="Text Box 25"/>
              <p:cNvSpPr txBox="1">
                <a:spLocks noChangeArrowheads="1"/>
              </p:cNvSpPr>
              <p:nvPr/>
            </p:nvSpPr>
            <p:spPr bwMode="auto">
              <a:xfrm>
                <a:off x="4364" y="2450"/>
                <a:ext cx="1242" cy="291"/>
              </a:xfrm>
              <a:prstGeom prst="rect">
                <a:avLst/>
              </a:prstGeom>
              <a:solidFill>
                <a:srgbClr val="0099FF"/>
              </a:solidFill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dirty="0">
                    <a:solidFill>
                      <a:schemeClr val="tx1"/>
                    </a:solidFill>
                    <a:latin typeface="Gill Sans MT" pitchFamily="34" charset="0"/>
                  </a:rPr>
                  <a:t>Test Path </a:t>
                </a:r>
                <a:r>
                  <a:rPr 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1</a:t>
                </a:r>
              </a:p>
            </p:txBody>
          </p:sp>
          <p:sp>
            <p:nvSpPr>
              <p:cNvPr id="11285" name="Text Box 31"/>
              <p:cNvSpPr txBox="1">
                <a:spLocks noChangeArrowheads="1"/>
              </p:cNvSpPr>
              <p:nvPr/>
            </p:nvSpPr>
            <p:spPr bwMode="auto">
              <a:xfrm>
                <a:off x="4364" y="2925"/>
                <a:ext cx="1242" cy="291"/>
              </a:xfrm>
              <a:prstGeom prst="rect">
                <a:avLst/>
              </a:prstGeom>
              <a:solidFill>
                <a:srgbClr val="0099FF"/>
              </a:solidFill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>
                    <a:solidFill>
                      <a:schemeClr val="tx1"/>
                    </a:solidFill>
                    <a:latin typeface="Gill Sans MT" pitchFamily="34" charset="0"/>
                  </a:rPr>
                  <a:t>Test Path 2</a:t>
                </a:r>
              </a:p>
            </p:txBody>
          </p:sp>
          <p:sp>
            <p:nvSpPr>
              <p:cNvPr id="11286" name="Text Box 32"/>
              <p:cNvSpPr txBox="1">
                <a:spLocks noChangeArrowheads="1"/>
              </p:cNvSpPr>
              <p:nvPr/>
            </p:nvSpPr>
            <p:spPr bwMode="auto">
              <a:xfrm>
                <a:off x="4364" y="3388"/>
                <a:ext cx="1242" cy="291"/>
              </a:xfrm>
              <a:prstGeom prst="rect">
                <a:avLst/>
              </a:prstGeom>
              <a:solidFill>
                <a:srgbClr val="0099FF"/>
              </a:solidFill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>
                    <a:solidFill>
                      <a:schemeClr val="tx1"/>
                    </a:solidFill>
                    <a:latin typeface="Gill Sans MT" pitchFamily="34" charset="0"/>
                  </a:rPr>
                  <a:t>Test Path 3</a:t>
                </a:r>
              </a:p>
            </p:txBody>
          </p:sp>
        </p:grpSp>
        <p:sp>
          <p:nvSpPr>
            <p:cNvPr id="11283" name="Text Box 42"/>
            <p:cNvSpPr txBox="1">
              <a:spLocks noChangeArrowheads="1"/>
            </p:cNvSpPr>
            <p:nvPr/>
          </p:nvSpPr>
          <p:spPr bwMode="auto">
            <a:xfrm>
              <a:off x="80" y="3769"/>
              <a:ext cx="5600" cy="52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dirty="0">
                  <a:latin typeface="Gill Sans MT" pitchFamily="34" charset="0"/>
                </a:rPr>
                <a:t>Non-deterministic software–the same test can execute different test paths</a:t>
              </a:r>
            </a:p>
          </p:txBody>
        </p:sp>
      </p:grpSp>
      <p:grpSp>
        <p:nvGrpSpPr>
          <p:cNvPr id="7" name="Group 49"/>
          <p:cNvGrpSpPr>
            <a:grpSpLocks/>
          </p:cNvGrpSpPr>
          <p:nvPr/>
        </p:nvGrpSpPr>
        <p:grpSpPr bwMode="auto">
          <a:xfrm>
            <a:off x="1555751" y="1466309"/>
            <a:ext cx="9078913" cy="1876426"/>
            <a:chOff x="20" y="1030"/>
            <a:chExt cx="5719" cy="1182"/>
          </a:xfrm>
        </p:grpSpPr>
        <p:grpSp>
          <p:nvGrpSpPr>
            <p:cNvPr id="11278" name="Group 46"/>
            <p:cNvGrpSpPr>
              <a:grpSpLocks/>
            </p:cNvGrpSpPr>
            <p:nvPr/>
          </p:nvGrpSpPr>
          <p:grpSpPr bwMode="auto">
            <a:xfrm>
              <a:off x="20" y="1030"/>
              <a:ext cx="5719" cy="1182"/>
              <a:chOff x="20" y="1030"/>
              <a:chExt cx="5719" cy="1182"/>
            </a:xfrm>
          </p:grpSpPr>
          <p:sp>
            <p:nvSpPr>
              <p:cNvPr id="11280" name="Text Box 12"/>
              <p:cNvSpPr txBox="1">
                <a:spLocks noChangeArrowheads="1"/>
              </p:cNvSpPr>
              <p:nvPr/>
            </p:nvSpPr>
            <p:spPr bwMode="auto">
              <a:xfrm>
                <a:off x="4364" y="1030"/>
                <a:ext cx="659" cy="523"/>
              </a:xfrm>
              <a:prstGeom prst="rect">
                <a:avLst/>
              </a:prstGeom>
              <a:solidFill>
                <a:srgbClr val="0099FF"/>
              </a:solidFill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>
                    <a:solidFill>
                      <a:schemeClr val="tx1"/>
                    </a:solidFill>
                    <a:latin typeface="Gill Sans MT" pitchFamily="34" charset="0"/>
                  </a:rPr>
                  <a:t>Test Path</a:t>
                </a:r>
              </a:p>
            </p:txBody>
          </p:sp>
          <p:sp>
            <p:nvSpPr>
              <p:cNvPr id="11281" name="Text Box 21"/>
              <p:cNvSpPr txBox="1">
                <a:spLocks noChangeArrowheads="1"/>
              </p:cNvSpPr>
              <p:nvPr/>
            </p:nvSpPr>
            <p:spPr bwMode="auto">
              <a:xfrm>
                <a:off x="20" y="1921"/>
                <a:ext cx="5719" cy="291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dirty="0">
                    <a:latin typeface="Gill Sans MT" pitchFamily="34" charset="0"/>
                  </a:rPr>
                  <a:t>Deterministic</a:t>
                </a:r>
                <a:r>
                  <a:rPr lang="en-US" dirty="0">
                    <a:latin typeface="Gill Sans MT" pitchFamily="34" charset="0"/>
                  </a:rPr>
                  <a:t> software–test </a:t>
                </a:r>
                <a:r>
                  <a:rPr lang="en-US" sz="2400" dirty="0">
                    <a:latin typeface="Gill Sans MT" pitchFamily="34" charset="0"/>
                  </a:rPr>
                  <a:t>always executes the same test path</a:t>
                </a:r>
              </a:p>
            </p:txBody>
          </p:sp>
        </p:grpSp>
        <p:sp>
          <p:nvSpPr>
            <p:cNvPr id="11279" name="Line 48"/>
            <p:cNvSpPr>
              <a:spLocks noChangeShapeType="1"/>
            </p:cNvSpPr>
            <p:nvPr/>
          </p:nvSpPr>
          <p:spPr bwMode="auto">
            <a:xfrm>
              <a:off x="20" y="2208"/>
              <a:ext cx="571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Exercises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List all test paths in the graph</a:t>
            </a:r>
          </a:p>
          <a:p>
            <a:endParaRPr lang="zh-CN" altLang="en-US"/>
          </a:p>
        </p:txBody>
      </p:sp>
      <p:grpSp>
        <p:nvGrpSpPr>
          <p:cNvPr id="4" name="Group 115"/>
          <p:cNvGrpSpPr>
            <a:grpSpLocks/>
          </p:cNvGrpSpPr>
          <p:nvPr/>
        </p:nvGrpSpPr>
        <p:grpSpPr bwMode="auto">
          <a:xfrm>
            <a:off x="2057287" y="2470841"/>
            <a:ext cx="4475162" cy="3798888"/>
            <a:chOff x="1489" y="798"/>
            <a:chExt cx="2819" cy="2393"/>
          </a:xfrm>
        </p:grpSpPr>
        <p:sp>
          <p:nvSpPr>
            <p:cNvPr id="5" name="Oval 78"/>
            <p:cNvSpPr>
              <a:spLocks noChangeArrowheads="1"/>
            </p:cNvSpPr>
            <p:nvPr/>
          </p:nvSpPr>
          <p:spPr bwMode="auto">
            <a:xfrm>
              <a:off x="3548" y="2895"/>
              <a:ext cx="350" cy="296"/>
            </a:xfrm>
            <a:prstGeom prst="ellipse">
              <a:avLst/>
            </a:prstGeom>
            <a:solidFill>
              <a:srgbClr val="0066FF"/>
            </a:solidFill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6" name="Text Box 79"/>
            <p:cNvSpPr txBox="1">
              <a:spLocks noChangeArrowheads="1"/>
            </p:cNvSpPr>
            <p:nvPr/>
          </p:nvSpPr>
          <p:spPr bwMode="auto">
            <a:xfrm>
              <a:off x="3625" y="2918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CN">
                  <a:solidFill>
                    <a:schemeClr val="tx1"/>
                  </a:solidFill>
                  <a:ea typeface="宋体" charset="-122"/>
                </a:rPr>
                <a:t>9</a:t>
              </a:r>
            </a:p>
          </p:txBody>
        </p:sp>
        <p:sp>
          <p:nvSpPr>
            <p:cNvPr id="7" name="Oval 31"/>
            <p:cNvSpPr>
              <a:spLocks noChangeArrowheads="1"/>
            </p:cNvSpPr>
            <p:nvPr/>
          </p:nvSpPr>
          <p:spPr bwMode="auto">
            <a:xfrm>
              <a:off x="1899" y="1016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8" name="Text Box 32"/>
            <p:cNvSpPr txBox="1">
              <a:spLocks noChangeArrowheads="1"/>
            </p:cNvSpPr>
            <p:nvPr/>
          </p:nvSpPr>
          <p:spPr bwMode="auto">
            <a:xfrm>
              <a:off x="1976" y="1039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CN">
                  <a:solidFill>
                    <a:schemeClr val="tx1"/>
                  </a:solidFill>
                  <a:ea typeface="宋体" charset="-122"/>
                </a:rPr>
                <a:t>0</a:t>
              </a:r>
            </a:p>
          </p:txBody>
        </p:sp>
        <p:sp>
          <p:nvSpPr>
            <p:cNvPr id="9" name="Oval 34"/>
            <p:cNvSpPr>
              <a:spLocks noChangeArrowheads="1"/>
            </p:cNvSpPr>
            <p:nvPr/>
          </p:nvSpPr>
          <p:spPr bwMode="auto">
            <a:xfrm>
              <a:off x="2309" y="1954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10" name="Text Box 35"/>
            <p:cNvSpPr txBox="1">
              <a:spLocks noChangeArrowheads="1"/>
            </p:cNvSpPr>
            <p:nvPr/>
          </p:nvSpPr>
          <p:spPr bwMode="auto">
            <a:xfrm>
              <a:off x="2386" y="1977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CN">
                  <a:solidFill>
                    <a:schemeClr val="tx1"/>
                  </a:solidFill>
                  <a:ea typeface="宋体" charset="-122"/>
                </a:rPr>
                <a:t>4</a:t>
              </a:r>
            </a:p>
          </p:txBody>
        </p:sp>
        <p:sp>
          <p:nvSpPr>
            <p:cNvPr id="11" name="Oval 37"/>
            <p:cNvSpPr>
              <a:spLocks noChangeArrowheads="1"/>
            </p:cNvSpPr>
            <p:nvPr/>
          </p:nvSpPr>
          <p:spPr bwMode="auto">
            <a:xfrm>
              <a:off x="1489" y="1954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12" name="Text Box 38"/>
            <p:cNvSpPr txBox="1">
              <a:spLocks noChangeArrowheads="1"/>
            </p:cNvSpPr>
            <p:nvPr/>
          </p:nvSpPr>
          <p:spPr bwMode="auto">
            <a:xfrm>
              <a:off x="1566" y="1977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CN">
                  <a:solidFill>
                    <a:schemeClr val="tx1"/>
                  </a:solidFill>
                  <a:ea typeface="宋体" charset="-122"/>
                </a:rPr>
                <a:t>3</a:t>
              </a:r>
            </a:p>
          </p:txBody>
        </p:sp>
        <p:sp>
          <p:nvSpPr>
            <p:cNvPr id="13" name="Oval 40"/>
            <p:cNvSpPr>
              <a:spLocks noChangeArrowheads="1"/>
            </p:cNvSpPr>
            <p:nvPr/>
          </p:nvSpPr>
          <p:spPr bwMode="auto">
            <a:xfrm>
              <a:off x="1899" y="2892"/>
              <a:ext cx="350" cy="296"/>
            </a:xfrm>
            <a:prstGeom prst="ellipse">
              <a:avLst/>
            </a:prstGeom>
            <a:solidFill>
              <a:srgbClr val="0066FF"/>
            </a:solidFill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14" name="Text Box 41"/>
            <p:cNvSpPr txBox="1">
              <a:spLocks noChangeArrowheads="1"/>
            </p:cNvSpPr>
            <p:nvPr/>
          </p:nvSpPr>
          <p:spPr bwMode="auto">
            <a:xfrm>
              <a:off x="1976" y="2915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CN">
                  <a:solidFill>
                    <a:schemeClr val="tx1"/>
                  </a:solidFill>
                  <a:ea typeface="宋体" charset="-122"/>
                </a:rPr>
                <a:t>7</a:t>
              </a:r>
            </a:p>
          </p:txBody>
        </p:sp>
        <p:sp>
          <p:nvSpPr>
            <p:cNvPr id="15" name="Line 42"/>
            <p:cNvSpPr>
              <a:spLocks noChangeShapeType="1"/>
            </p:cNvSpPr>
            <p:nvPr/>
          </p:nvSpPr>
          <p:spPr bwMode="auto">
            <a:xfrm flipH="1">
              <a:off x="1708" y="1309"/>
              <a:ext cx="327" cy="67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43"/>
            <p:cNvSpPr>
              <a:spLocks noChangeShapeType="1"/>
            </p:cNvSpPr>
            <p:nvPr/>
          </p:nvSpPr>
          <p:spPr bwMode="auto">
            <a:xfrm>
              <a:off x="1732" y="2236"/>
              <a:ext cx="280" cy="6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44"/>
            <p:cNvSpPr>
              <a:spLocks noChangeShapeType="1"/>
            </p:cNvSpPr>
            <p:nvPr/>
          </p:nvSpPr>
          <p:spPr bwMode="auto">
            <a:xfrm flipH="1">
              <a:off x="2104" y="2232"/>
              <a:ext cx="327" cy="67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45"/>
            <p:cNvSpPr>
              <a:spLocks noChangeShapeType="1"/>
            </p:cNvSpPr>
            <p:nvPr/>
          </p:nvSpPr>
          <p:spPr bwMode="auto">
            <a:xfrm>
              <a:off x="2128" y="1314"/>
              <a:ext cx="280" cy="6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46"/>
            <p:cNvSpPr>
              <a:spLocks noChangeShapeType="1"/>
            </p:cNvSpPr>
            <p:nvPr/>
          </p:nvSpPr>
          <p:spPr bwMode="auto">
            <a:xfrm>
              <a:off x="2074" y="798"/>
              <a:ext cx="0" cy="2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Oval 49"/>
            <p:cNvSpPr>
              <a:spLocks noChangeArrowheads="1"/>
            </p:cNvSpPr>
            <p:nvPr/>
          </p:nvSpPr>
          <p:spPr bwMode="auto">
            <a:xfrm>
              <a:off x="2725" y="1018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21" name="Text Box 50"/>
            <p:cNvSpPr txBox="1">
              <a:spLocks noChangeArrowheads="1"/>
            </p:cNvSpPr>
            <p:nvPr/>
          </p:nvSpPr>
          <p:spPr bwMode="auto">
            <a:xfrm>
              <a:off x="2802" y="1041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CN">
                  <a:solidFill>
                    <a:schemeClr val="tx1"/>
                  </a:solidFill>
                  <a:ea typeface="宋体" charset="-122"/>
                </a:rPr>
                <a:t>1</a:t>
              </a:r>
            </a:p>
          </p:txBody>
        </p:sp>
        <p:sp>
          <p:nvSpPr>
            <p:cNvPr id="22" name="Oval 52"/>
            <p:cNvSpPr>
              <a:spLocks noChangeArrowheads="1"/>
            </p:cNvSpPr>
            <p:nvPr/>
          </p:nvSpPr>
          <p:spPr bwMode="auto">
            <a:xfrm>
              <a:off x="3135" y="1956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23" name="Text Box 53"/>
            <p:cNvSpPr txBox="1">
              <a:spLocks noChangeArrowheads="1"/>
            </p:cNvSpPr>
            <p:nvPr/>
          </p:nvSpPr>
          <p:spPr bwMode="auto">
            <a:xfrm>
              <a:off x="3212" y="1979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CN">
                  <a:solidFill>
                    <a:schemeClr val="tx1"/>
                  </a:solidFill>
                  <a:ea typeface="宋体" charset="-122"/>
                </a:rPr>
                <a:t>5</a:t>
              </a:r>
            </a:p>
          </p:txBody>
        </p:sp>
        <p:sp>
          <p:nvSpPr>
            <p:cNvPr id="24" name="Oval 58"/>
            <p:cNvSpPr>
              <a:spLocks noChangeArrowheads="1"/>
            </p:cNvSpPr>
            <p:nvPr/>
          </p:nvSpPr>
          <p:spPr bwMode="auto">
            <a:xfrm>
              <a:off x="2725" y="2894"/>
              <a:ext cx="350" cy="296"/>
            </a:xfrm>
            <a:prstGeom prst="ellipse">
              <a:avLst/>
            </a:prstGeom>
            <a:solidFill>
              <a:srgbClr val="0066FF"/>
            </a:solidFill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25" name="Text Box 59"/>
            <p:cNvSpPr txBox="1">
              <a:spLocks noChangeArrowheads="1"/>
            </p:cNvSpPr>
            <p:nvPr/>
          </p:nvSpPr>
          <p:spPr bwMode="auto">
            <a:xfrm>
              <a:off x="2802" y="2917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CN">
                  <a:solidFill>
                    <a:schemeClr val="tx1"/>
                  </a:solidFill>
                  <a:ea typeface="宋体" charset="-122"/>
                </a:rPr>
                <a:t>8</a:t>
              </a:r>
            </a:p>
          </p:txBody>
        </p:sp>
        <p:sp>
          <p:nvSpPr>
            <p:cNvPr id="26" name="Line 61"/>
            <p:cNvSpPr>
              <a:spLocks noChangeShapeType="1"/>
            </p:cNvSpPr>
            <p:nvPr/>
          </p:nvSpPr>
          <p:spPr bwMode="auto">
            <a:xfrm>
              <a:off x="2592" y="2238"/>
              <a:ext cx="280" cy="6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62"/>
            <p:cNvSpPr>
              <a:spLocks noChangeShapeType="1"/>
            </p:cNvSpPr>
            <p:nvPr/>
          </p:nvSpPr>
          <p:spPr bwMode="auto">
            <a:xfrm flipH="1">
              <a:off x="2972" y="2234"/>
              <a:ext cx="327" cy="67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63"/>
            <p:cNvSpPr>
              <a:spLocks noChangeShapeType="1"/>
            </p:cNvSpPr>
            <p:nvPr/>
          </p:nvSpPr>
          <p:spPr bwMode="auto">
            <a:xfrm flipH="1" flipV="1">
              <a:off x="2967" y="1293"/>
              <a:ext cx="241" cy="68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64"/>
            <p:cNvSpPr>
              <a:spLocks noChangeShapeType="1"/>
            </p:cNvSpPr>
            <p:nvPr/>
          </p:nvSpPr>
          <p:spPr bwMode="auto">
            <a:xfrm>
              <a:off x="2900" y="800"/>
              <a:ext cx="0" cy="2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Oval 69"/>
            <p:cNvSpPr>
              <a:spLocks noChangeArrowheads="1"/>
            </p:cNvSpPr>
            <p:nvPr/>
          </p:nvSpPr>
          <p:spPr bwMode="auto">
            <a:xfrm>
              <a:off x="3548" y="1019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31" name="Text Box 70"/>
            <p:cNvSpPr txBox="1">
              <a:spLocks noChangeArrowheads="1"/>
            </p:cNvSpPr>
            <p:nvPr/>
          </p:nvSpPr>
          <p:spPr bwMode="auto">
            <a:xfrm>
              <a:off x="3625" y="1042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CN">
                  <a:solidFill>
                    <a:schemeClr val="tx1"/>
                  </a:solidFill>
                  <a:ea typeface="宋体" charset="-122"/>
                </a:rPr>
                <a:t>2</a:t>
              </a:r>
            </a:p>
          </p:txBody>
        </p:sp>
        <p:sp>
          <p:nvSpPr>
            <p:cNvPr id="32" name="Oval 72"/>
            <p:cNvSpPr>
              <a:spLocks noChangeArrowheads="1"/>
            </p:cNvSpPr>
            <p:nvPr/>
          </p:nvSpPr>
          <p:spPr bwMode="auto">
            <a:xfrm>
              <a:off x="3958" y="1957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33" name="Text Box 73"/>
            <p:cNvSpPr txBox="1">
              <a:spLocks noChangeArrowheads="1"/>
            </p:cNvSpPr>
            <p:nvPr/>
          </p:nvSpPr>
          <p:spPr bwMode="auto">
            <a:xfrm>
              <a:off x="4035" y="1980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CN">
                  <a:solidFill>
                    <a:schemeClr val="tx1"/>
                  </a:solidFill>
                  <a:ea typeface="宋体" charset="-122"/>
                </a:rPr>
                <a:t>6</a:t>
              </a:r>
            </a:p>
          </p:txBody>
        </p:sp>
        <p:sp>
          <p:nvSpPr>
            <p:cNvPr id="34" name="Line 80"/>
            <p:cNvSpPr>
              <a:spLocks noChangeShapeType="1"/>
            </p:cNvSpPr>
            <p:nvPr/>
          </p:nvSpPr>
          <p:spPr bwMode="auto">
            <a:xfrm flipH="1">
              <a:off x="3339" y="1312"/>
              <a:ext cx="327" cy="67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81"/>
            <p:cNvSpPr>
              <a:spLocks noChangeShapeType="1"/>
            </p:cNvSpPr>
            <p:nvPr/>
          </p:nvSpPr>
          <p:spPr bwMode="auto">
            <a:xfrm>
              <a:off x="3426" y="2255"/>
              <a:ext cx="280" cy="6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82"/>
            <p:cNvSpPr>
              <a:spLocks noChangeShapeType="1"/>
            </p:cNvSpPr>
            <p:nvPr/>
          </p:nvSpPr>
          <p:spPr bwMode="auto">
            <a:xfrm flipH="1">
              <a:off x="3774" y="2266"/>
              <a:ext cx="327" cy="67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83"/>
            <p:cNvSpPr>
              <a:spLocks noChangeShapeType="1"/>
            </p:cNvSpPr>
            <p:nvPr/>
          </p:nvSpPr>
          <p:spPr bwMode="auto">
            <a:xfrm>
              <a:off x="3782" y="1317"/>
              <a:ext cx="280" cy="6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88"/>
            <p:cNvSpPr>
              <a:spLocks noChangeShapeType="1"/>
            </p:cNvSpPr>
            <p:nvPr/>
          </p:nvSpPr>
          <p:spPr bwMode="auto">
            <a:xfrm flipH="1">
              <a:off x="2545" y="1319"/>
              <a:ext cx="296" cy="6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105"/>
            <p:cNvSpPr>
              <a:spLocks noChangeShapeType="1"/>
            </p:cNvSpPr>
            <p:nvPr/>
          </p:nvSpPr>
          <p:spPr bwMode="auto">
            <a:xfrm>
              <a:off x="3723" y="806"/>
              <a:ext cx="0" cy="2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0" name="Text Box 4"/>
          <p:cNvSpPr txBox="1">
            <a:spLocks noChangeArrowheads="1"/>
          </p:cNvSpPr>
          <p:nvPr/>
        </p:nvSpPr>
        <p:spPr bwMode="auto">
          <a:xfrm>
            <a:off x="6701861" y="1043008"/>
            <a:ext cx="3772573" cy="5478423"/>
          </a:xfrm>
          <a:prstGeom prst="rect">
            <a:avLst/>
          </a:prstGeom>
          <a:solidFill>
            <a:srgbClr val="0066FF">
              <a:alpha val="48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marL="457200" indent="-457200">
              <a:spcBef>
                <a:spcPct val="50000"/>
              </a:spcBef>
              <a:buFont typeface="+mj-ea"/>
              <a:buAutoNum type="circleNumDbPlain"/>
            </a:pPr>
            <a:r>
              <a:rPr lang="en-US" altLang="zh-CN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0,3,7</a:t>
            </a:r>
          </a:p>
          <a:p>
            <a:pPr marL="457200" indent="-457200">
              <a:spcBef>
                <a:spcPct val="50000"/>
              </a:spcBef>
              <a:buFont typeface="+mj-ea"/>
              <a:buAutoNum type="circleNumDbPlain"/>
            </a:pPr>
            <a:r>
              <a:rPr lang="en-US" altLang="zh-CN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0,4,7</a:t>
            </a:r>
          </a:p>
          <a:p>
            <a:pPr marL="457200" indent="-457200">
              <a:spcBef>
                <a:spcPct val="50000"/>
              </a:spcBef>
              <a:buFont typeface="+mj-ea"/>
              <a:buAutoNum type="circleNumDbPlain"/>
            </a:pPr>
            <a:r>
              <a:rPr lang="en-US" altLang="zh-CN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0,4,8</a:t>
            </a:r>
          </a:p>
          <a:p>
            <a:pPr marL="457200" indent="-457200">
              <a:spcBef>
                <a:spcPct val="50000"/>
              </a:spcBef>
              <a:buFont typeface="+mj-ea"/>
              <a:buAutoNum type="circleNumDbPlain"/>
            </a:pPr>
            <a:r>
              <a:rPr lang="en-US" altLang="zh-CN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0,4,8,5,9</a:t>
            </a:r>
          </a:p>
          <a:p>
            <a:pPr marL="457200" indent="-457200">
              <a:spcBef>
                <a:spcPct val="50000"/>
              </a:spcBef>
              <a:buFont typeface="+mj-ea"/>
              <a:buAutoNum type="circleNumDbPlain"/>
            </a:pPr>
            <a:r>
              <a:rPr lang="en-US" altLang="zh-CN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1,4,8</a:t>
            </a:r>
          </a:p>
          <a:p>
            <a:pPr marL="457200" indent="-457200">
              <a:spcBef>
                <a:spcPct val="50000"/>
              </a:spcBef>
              <a:buFont typeface="+mj-ea"/>
              <a:buAutoNum type="circleNumDbPlain"/>
            </a:pPr>
            <a:r>
              <a:rPr lang="en-US" altLang="zh-CN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1,4,7</a:t>
            </a:r>
          </a:p>
          <a:p>
            <a:pPr marL="457200" indent="-457200">
              <a:spcBef>
                <a:spcPct val="50000"/>
              </a:spcBef>
              <a:buFont typeface="+mj-ea"/>
              <a:buAutoNum type="circleNumDbPlain"/>
            </a:pPr>
            <a:r>
              <a:rPr lang="en-US" altLang="zh-CN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1,4,8,5,9</a:t>
            </a:r>
          </a:p>
          <a:p>
            <a:pPr marL="457200" indent="-457200">
              <a:spcBef>
                <a:spcPct val="50000"/>
              </a:spcBef>
              <a:buFont typeface="+mj-ea"/>
              <a:buAutoNum type="circleNumDbPlain"/>
            </a:pPr>
            <a:r>
              <a:rPr lang="en-US" altLang="zh-CN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2,5,9</a:t>
            </a:r>
          </a:p>
          <a:p>
            <a:pPr marL="457200" indent="-457200">
              <a:spcBef>
                <a:spcPct val="50000"/>
              </a:spcBef>
              <a:buFont typeface="+mj-ea"/>
              <a:buAutoNum type="circleNumDbPlain"/>
            </a:pPr>
            <a:r>
              <a:rPr lang="en-US" altLang="zh-CN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2,6,9</a:t>
            </a:r>
          </a:p>
          <a:p>
            <a:pPr marL="457200" indent="-457200">
              <a:spcBef>
                <a:spcPct val="50000"/>
              </a:spcBef>
              <a:buFont typeface="+mj-ea"/>
              <a:buAutoNum type="circleNumDbPlain"/>
            </a:pPr>
            <a:r>
              <a:rPr lang="en-US" altLang="zh-CN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2,5,1,4,8</a:t>
            </a:r>
            <a:r>
              <a:rPr lang="en-US" altLang="zh-CN" sz="18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</a:t>
            </a:r>
            <a:r>
              <a:rPr lang="zh-CN" altLang="en-US" sz="18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包含多个初始节点</a:t>
            </a:r>
            <a:r>
              <a:rPr lang="en-US" altLang="zh-CN" sz="18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</a:t>
            </a:r>
          </a:p>
          <a:p>
            <a:pPr marL="457200" indent="-457200">
              <a:spcBef>
                <a:spcPct val="50000"/>
              </a:spcBef>
              <a:buFont typeface="+mj-ea"/>
              <a:buAutoNum type="circleNumDbPlain"/>
            </a:pPr>
            <a:r>
              <a:rPr lang="en-US" altLang="zh-CN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2,5,1,4,7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291932303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Exercises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Find test case inputs such that the corresponding test path visits edge (n</a:t>
            </a:r>
            <a:r>
              <a:rPr lang="en-US" altLang="zh-CN" baseline="-25000" dirty="0"/>
              <a:t>1</a:t>
            </a:r>
            <a:r>
              <a:rPr lang="en-US" altLang="zh-CN" dirty="0"/>
              <a:t>,n</a:t>
            </a:r>
            <a:r>
              <a:rPr lang="en-US" altLang="zh-CN" baseline="-25000" dirty="0"/>
              <a:t>3</a:t>
            </a:r>
            <a:r>
              <a:rPr lang="en-US" altLang="zh-CN" dirty="0"/>
              <a:t>)</a:t>
            </a:r>
            <a:endParaRPr lang="zh-CN" altLang="en-US" dirty="0"/>
          </a:p>
        </p:txBody>
      </p:sp>
      <p:grpSp>
        <p:nvGrpSpPr>
          <p:cNvPr id="12" name="组合 11"/>
          <p:cNvGrpSpPr/>
          <p:nvPr/>
        </p:nvGrpSpPr>
        <p:grpSpPr>
          <a:xfrm>
            <a:off x="2404160" y="2585720"/>
            <a:ext cx="2736304" cy="1800200"/>
            <a:chOff x="971600" y="3429000"/>
            <a:chExt cx="2736304" cy="1800200"/>
          </a:xfrm>
        </p:grpSpPr>
        <p:sp>
          <p:nvSpPr>
            <p:cNvPr id="4" name="椭圆 3"/>
            <p:cNvSpPr/>
            <p:nvPr/>
          </p:nvSpPr>
          <p:spPr>
            <a:xfrm>
              <a:off x="971600" y="3645024"/>
              <a:ext cx="720080" cy="36004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>
                  <a:solidFill>
                    <a:schemeClr val="tx2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n</a:t>
              </a:r>
              <a:r>
                <a:rPr lang="en-US" altLang="zh-CN" sz="2400" baseline="-25000">
                  <a:solidFill>
                    <a:schemeClr val="tx2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0</a:t>
              </a:r>
              <a:endParaRPr lang="zh-CN" altLang="en-US" sz="2400">
                <a:solidFill>
                  <a:schemeClr val="tx2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971600" y="4848200"/>
              <a:ext cx="720080" cy="360040"/>
            </a:xfrm>
            <a:prstGeom prst="ellipse">
              <a:avLst/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>
                  <a:solidFill>
                    <a:schemeClr val="tx2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n</a:t>
              </a:r>
              <a:r>
                <a:rPr lang="en-US" altLang="zh-CN" sz="2400" baseline="-25000">
                  <a:solidFill>
                    <a:schemeClr val="tx2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2</a:t>
              </a:r>
              <a:endParaRPr lang="zh-CN" altLang="en-US" sz="2400">
                <a:solidFill>
                  <a:schemeClr val="tx2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2987824" y="4869160"/>
              <a:ext cx="720080" cy="36004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>
                  <a:solidFill>
                    <a:schemeClr val="tx2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n</a:t>
              </a:r>
              <a:r>
                <a:rPr lang="en-US" altLang="zh-CN" sz="2400" baseline="-25000">
                  <a:solidFill>
                    <a:schemeClr val="tx2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3</a:t>
              </a:r>
              <a:endParaRPr lang="zh-CN" altLang="en-US" sz="2400">
                <a:solidFill>
                  <a:schemeClr val="tx2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2987824" y="3645024"/>
              <a:ext cx="720080" cy="36004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>
                  <a:solidFill>
                    <a:schemeClr val="tx2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n</a:t>
              </a:r>
              <a:r>
                <a:rPr lang="en-US" altLang="zh-CN" sz="2400" baseline="-25000">
                  <a:solidFill>
                    <a:schemeClr val="tx2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1</a:t>
              </a:r>
              <a:endParaRPr lang="zh-CN" altLang="en-US" sz="2400">
                <a:solidFill>
                  <a:schemeClr val="tx2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cxnSp>
          <p:nvCxnSpPr>
            <p:cNvPr id="9" name="直接箭头连接符 8"/>
            <p:cNvCxnSpPr>
              <a:stCxn id="4" idx="6"/>
              <a:endCxn id="7" idx="2"/>
            </p:cNvCxnSpPr>
            <p:nvPr/>
          </p:nvCxnSpPr>
          <p:spPr>
            <a:xfrm>
              <a:off x="1691680" y="3825044"/>
              <a:ext cx="12961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>
              <a:stCxn id="7" idx="4"/>
              <a:endCxn id="6" idx="0"/>
            </p:cNvCxnSpPr>
            <p:nvPr/>
          </p:nvCxnSpPr>
          <p:spPr>
            <a:xfrm>
              <a:off x="3347864" y="4005064"/>
              <a:ext cx="0" cy="86409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>
              <a:stCxn id="6" idx="2"/>
              <a:endCxn id="5" idx="6"/>
            </p:cNvCxnSpPr>
            <p:nvPr/>
          </p:nvCxnSpPr>
          <p:spPr>
            <a:xfrm flipH="1" flipV="1">
              <a:off x="1691680" y="5028220"/>
              <a:ext cx="1296144" cy="2096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>
              <a:stCxn id="4" idx="5"/>
              <a:endCxn id="6" idx="1"/>
            </p:cNvCxnSpPr>
            <p:nvPr/>
          </p:nvCxnSpPr>
          <p:spPr>
            <a:xfrm>
              <a:off x="1586227" y="3952337"/>
              <a:ext cx="1507050" cy="969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>
              <a:stCxn id="4" idx="4"/>
              <a:endCxn id="5" idx="0"/>
            </p:cNvCxnSpPr>
            <p:nvPr/>
          </p:nvCxnSpPr>
          <p:spPr>
            <a:xfrm>
              <a:off x="1331640" y="4005064"/>
              <a:ext cx="0" cy="84313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>
              <a:endCxn id="4" idx="0"/>
            </p:cNvCxnSpPr>
            <p:nvPr/>
          </p:nvCxnSpPr>
          <p:spPr>
            <a:xfrm>
              <a:off x="1331640" y="3429000"/>
              <a:ext cx="0" cy="21602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矩形 20"/>
            <p:cNvSpPr/>
            <p:nvPr/>
          </p:nvSpPr>
          <p:spPr>
            <a:xfrm>
              <a:off x="1907704" y="3429000"/>
              <a:ext cx="792088" cy="39604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>
                  <a:solidFill>
                    <a:schemeClr val="tx2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a&lt;b</a:t>
              </a:r>
              <a:endParaRPr lang="zh-CN" altLang="en-US" sz="2400">
                <a:solidFill>
                  <a:schemeClr val="tx2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1979712" y="4041068"/>
              <a:ext cx="792088" cy="39604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>
                  <a:solidFill>
                    <a:schemeClr val="tx2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a=b</a:t>
              </a:r>
              <a:endParaRPr lang="zh-CN" altLang="en-US" sz="2400">
                <a:solidFill>
                  <a:schemeClr val="tx2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187624" y="4149080"/>
              <a:ext cx="792088" cy="39604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>
                  <a:solidFill>
                    <a:schemeClr val="tx2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a&gt;b</a:t>
              </a:r>
              <a:endParaRPr lang="zh-CN" altLang="en-US" sz="2400">
                <a:solidFill>
                  <a:schemeClr val="tx2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1E34D2-BFAA-43E6-B117-0A7C9FC99B38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10" name="矩形 9"/>
          <p:cNvSpPr/>
          <p:nvPr/>
        </p:nvSpPr>
        <p:spPr>
          <a:xfrm>
            <a:off x="5821982" y="2585721"/>
            <a:ext cx="4002739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Test case t1 : (a=0, b=1) </a:t>
            </a:r>
          </a:p>
          <a:p>
            <a:r>
              <a:rPr lang="en-US" altLang="zh-CN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Test path p1 : [n0, n1, n3, n2 ]</a:t>
            </a:r>
          </a:p>
          <a:p>
            <a:endParaRPr lang="en-US" altLang="zh-CN" dirty="0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Test case t2 : (a=1, b=1) </a:t>
            </a:r>
          </a:p>
          <a:p>
            <a:r>
              <a:rPr lang="en-US" altLang="zh-CN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Test path p2 : [n0, n3, n2 ]</a:t>
            </a:r>
          </a:p>
          <a:p>
            <a:endParaRPr lang="en-US" altLang="zh-CN" dirty="0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Test case t3 : (a=2, b=1) </a:t>
            </a:r>
          </a:p>
          <a:p>
            <a:r>
              <a:rPr lang="en-US" altLang="zh-CN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Test path p3 : [n0, n2 ]</a:t>
            </a:r>
          </a:p>
        </p:txBody>
      </p:sp>
    </p:spTree>
    <p:extLst>
      <p:ext uri="{BB962C8B-B14F-4D97-AF65-F5344CB8AC3E}">
        <p14:creationId xmlns:p14="http://schemas.microsoft.com/office/powerpoint/2010/main" val="94058449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Testing and Covering Graphs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We use graphs in testing as follows :</a:t>
            </a:r>
          </a:p>
          <a:p>
            <a:pPr lvl="1"/>
            <a:r>
              <a:rPr lang="en-US" altLang="zh-CN" dirty="0"/>
              <a:t>Develop a model of the software as a graph</a:t>
            </a:r>
          </a:p>
          <a:p>
            <a:pPr lvl="1"/>
            <a:r>
              <a:rPr lang="en-US" altLang="zh-CN" dirty="0"/>
              <a:t>Require tests to visit or tour specific sets of nodes, edges or </a:t>
            </a:r>
            <a:r>
              <a:rPr lang="en-US" altLang="zh-CN" dirty="0" err="1"/>
              <a:t>subpaths</a:t>
            </a:r>
            <a:endParaRPr lang="en-US" altLang="zh-CN" dirty="0"/>
          </a:p>
          <a:p>
            <a:r>
              <a:rPr lang="en-US" altLang="zh-CN" dirty="0">
                <a:solidFill>
                  <a:schemeClr val="tx2"/>
                </a:solidFill>
              </a:rPr>
              <a:t>Satisfaction</a:t>
            </a:r>
            <a:r>
              <a:rPr lang="en-US" altLang="zh-CN" dirty="0"/>
              <a:t> : </a:t>
            </a:r>
            <a:r>
              <a:rPr lang="en-US" altLang="zh-CN" i="1" dirty="0"/>
              <a:t>Given a set TR of test requirements for a criterion C, a set of tests T satisfies C on a graph if and only if for every test requirement in TR, there is a test path in path(T) that meets the test requirement </a:t>
            </a:r>
            <a:r>
              <a:rPr lang="en-US" altLang="zh-CN" i="1" dirty="0" err="1"/>
              <a:t>tr</a:t>
            </a:r>
            <a:endParaRPr lang="en-US" altLang="zh-CN" i="1" dirty="0"/>
          </a:p>
          <a:p>
            <a:pPr lvl="1"/>
            <a:r>
              <a:rPr lang="en-US" altLang="zh-CN" dirty="0">
                <a:solidFill>
                  <a:schemeClr val="tx2"/>
                </a:solidFill>
              </a:rPr>
              <a:t>Structural Coverage Criteria</a:t>
            </a:r>
            <a:r>
              <a:rPr lang="en-US" altLang="zh-CN" dirty="0"/>
              <a:t> : Defined on a graph just in terms of nodes and edges</a:t>
            </a:r>
          </a:p>
          <a:p>
            <a:pPr lvl="1"/>
            <a:r>
              <a:rPr lang="en-US" altLang="zh-CN" dirty="0">
                <a:solidFill>
                  <a:schemeClr val="tx2"/>
                </a:solidFill>
              </a:rPr>
              <a:t>Data Flow Coverage Criteria</a:t>
            </a:r>
            <a:r>
              <a:rPr lang="en-US" altLang="zh-CN" dirty="0"/>
              <a:t> : Requires a graph to be annotated with references to variables</a:t>
            </a:r>
          </a:p>
          <a:p>
            <a:pPr marL="0" indent="0">
              <a:buNone/>
            </a:pPr>
            <a:endParaRPr lang="en-US" altLang="zh-CN" i="1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1E34D2-BFAA-43E6-B117-0A7C9FC99B38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664517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C202B98-B982-4E8A-8301-3A3838CE7E2E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96838"/>
            <a:ext cx="7772400" cy="825500"/>
          </a:xfrm>
        </p:spPr>
        <p:txBody>
          <a:bodyPr/>
          <a:lstStyle/>
          <a:p>
            <a:r>
              <a:rPr lang="en-US"/>
              <a:t>Node and Edge Coverage</a:t>
            </a:r>
          </a:p>
        </p:txBody>
      </p:sp>
      <p:sp>
        <p:nvSpPr>
          <p:cNvPr id="133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2114" y="1266826"/>
            <a:ext cx="8867775" cy="766763"/>
          </a:xfrm>
        </p:spPr>
        <p:txBody>
          <a:bodyPr/>
          <a:lstStyle/>
          <a:p>
            <a:r>
              <a:rPr lang="en-US" dirty="0"/>
              <a:t>The first (and simplest) two criteria require that each node and edge in a graph be executed </a:t>
            </a:r>
          </a:p>
        </p:txBody>
      </p:sp>
      <p:sp>
        <p:nvSpPr>
          <p:cNvPr id="169988" name="Text Box 4"/>
          <p:cNvSpPr txBox="1">
            <a:spLocks noChangeArrowheads="1"/>
          </p:cNvSpPr>
          <p:nvPr/>
        </p:nvSpPr>
        <p:spPr bwMode="auto">
          <a:xfrm>
            <a:off x="1965325" y="2511425"/>
            <a:ext cx="8262938" cy="1206500"/>
          </a:xfrm>
          <a:prstGeom prst="rect">
            <a:avLst/>
          </a:prstGeom>
          <a:gradFill rotWithShape="1">
            <a:gsLst>
              <a:gs pos="0">
                <a:srgbClr val="3399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Node Coverage (NC)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: Test set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T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satisfies node coverage on graph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G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iff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for every syntactically reachable node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n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in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N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, there is some path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p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in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path(T)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such that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p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visits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n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.</a:t>
            </a:r>
          </a:p>
        </p:txBody>
      </p:sp>
      <p:sp>
        <p:nvSpPr>
          <p:cNvPr id="169989" name="Text Box 5"/>
          <p:cNvSpPr txBox="1">
            <a:spLocks noChangeArrowheads="1"/>
          </p:cNvSpPr>
          <p:nvPr/>
        </p:nvSpPr>
        <p:spPr bwMode="auto">
          <a:xfrm>
            <a:off x="1963739" y="5390661"/>
            <a:ext cx="8262937" cy="461665"/>
          </a:xfrm>
          <a:prstGeom prst="rect">
            <a:avLst/>
          </a:prstGeom>
          <a:gradFill rotWithShape="1">
            <a:gsLst>
              <a:gs pos="0">
                <a:srgbClr val="66C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Node Coverage (NC)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: TR contains each reachable node in G.</a:t>
            </a:r>
          </a:p>
        </p:txBody>
      </p:sp>
      <p:sp>
        <p:nvSpPr>
          <p:cNvPr id="169990" name="Rectangle 6"/>
          <p:cNvSpPr>
            <a:spLocks noChangeArrowheads="1"/>
          </p:cNvSpPr>
          <p:nvPr/>
        </p:nvSpPr>
        <p:spPr bwMode="auto">
          <a:xfrm>
            <a:off x="1662114" y="4211638"/>
            <a:ext cx="8867775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This statement is a bit cumbersome, so we abbreviate it in terms of the set of test requirements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9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9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9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8" grpId="0" animBg="1" autoUpdateAnimBg="0"/>
      <p:bldP spid="169989" grpId="0" animBg="1" autoUpdateAnimBg="0"/>
      <p:bldP spid="169990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5D2ACFA-D953-4088-AB01-C9EEF9441D30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96838"/>
            <a:ext cx="7772400" cy="825500"/>
          </a:xfrm>
        </p:spPr>
        <p:txBody>
          <a:bodyPr/>
          <a:lstStyle/>
          <a:p>
            <a:r>
              <a:rPr lang="en-US"/>
              <a:t>Node and Edge Coverage</a:t>
            </a:r>
          </a:p>
        </p:txBody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2114" y="1035050"/>
            <a:ext cx="8867775" cy="471488"/>
          </a:xfrm>
        </p:spPr>
        <p:txBody>
          <a:bodyPr/>
          <a:lstStyle/>
          <a:p>
            <a:r>
              <a:rPr lang="en-US" dirty="0"/>
              <a:t>Edge coverage is slightly stronger than node coverage </a:t>
            </a:r>
          </a:p>
        </p:txBody>
      </p:sp>
      <p:sp>
        <p:nvSpPr>
          <p:cNvPr id="168965" name="Text Box 5"/>
          <p:cNvSpPr txBox="1">
            <a:spLocks noChangeArrowheads="1"/>
          </p:cNvSpPr>
          <p:nvPr/>
        </p:nvSpPr>
        <p:spPr bwMode="auto">
          <a:xfrm>
            <a:off x="1984375" y="1645987"/>
            <a:ext cx="8262938" cy="841375"/>
          </a:xfrm>
          <a:prstGeom prst="rect">
            <a:avLst/>
          </a:prstGeom>
          <a:gradFill rotWithShape="1">
            <a:gsLst>
              <a:gs pos="0">
                <a:srgbClr val="0066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Edge Coverage (EC)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: TR contains each reachable path of </a:t>
            </a:r>
            <a:r>
              <a:rPr lang="en-US" sz="2400" dirty="0">
                <a:solidFill>
                  <a:srgbClr val="FF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length up to 1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, inclusive, in G.</a:t>
            </a:r>
          </a:p>
        </p:txBody>
      </p:sp>
      <p:sp>
        <p:nvSpPr>
          <p:cNvPr id="168968" name="Rectangle 8"/>
          <p:cNvSpPr>
            <a:spLocks noChangeArrowheads="1"/>
          </p:cNvSpPr>
          <p:nvPr/>
        </p:nvSpPr>
        <p:spPr bwMode="auto">
          <a:xfrm>
            <a:off x="1662114" y="2614778"/>
            <a:ext cx="8867775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The phrase “</a:t>
            </a:r>
            <a:r>
              <a:rPr lang="en-US" sz="2800" b="0" i="1" dirty="0">
                <a:solidFill>
                  <a:schemeClr val="tx1"/>
                </a:solidFill>
                <a:latin typeface="Gill Sans MT" pitchFamily="34" charset="0"/>
              </a:rPr>
              <a:t>length up to </a:t>
            </a:r>
            <a:r>
              <a:rPr lang="en-US" sz="2800" b="0" i="1" dirty="0">
                <a:solidFill>
                  <a:schemeClr val="tx1"/>
                </a:solidFill>
                <a:latin typeface="+mj-lt"/>
              </a:rPr>
              <a:t>1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” allows for graphs with one node and no edges</a:t>
            </a:r>
          </a:p>
        </p:txBody>
      </p:sp>
      <p:sp>
        <p:nvSpPr>
          <p:cNvPr id="168969" name="Rectangle 9"/>
          <p:cNvSpPr>
            <a:spLocks noChangeArrowheads="1"/>
          </p:cNvSpPr>
          <p:nvPr/>
        </p:nvSpPr>
        <p:spPr bwMode="auto">
          <a:xfrm>
            <a:off x="1677989" y="3509876"/>
            <a:ext cx="8867775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NC and EC are only different when there is an edge and another </a:t>
            </a:r>
            <a:r>
              <a:rPr lang="en-US" sz="2800" b="0" dirty="0" err="1">
                <a:solidFill>
                  <a:schemeClr val="tx1"/>
                </a:solidFill>
                <a:latin typeface="Gill Sans MT" pitchFamily="34" charset="0"/>
              </a:rPr>
              <a:t>subpath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between a pair of nodes (as in an “if-else” statement)</a:t>
            </a:r>
          </a:p>
        </p:txBody>
      </p:sp>
      <p:sp>
        <p:nvSpPr>
          <p:cNvPr id="169003" name="Text Box 43"/>
          <p:cNvSpPr txBox="1">
            <a:spLocks noChangeArrowheads="1"/>
          </p:cNvSpPr>
          <p:nvPr/>
        </p:nvSpPr>
        <p:spPr bwMode="auto">
          <a:xfrm>
            <a:off x="5167313" y="4560888"/>
            <a:ext cx="5289672" cy="1938992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u="sng" dirty="0">
                <a:solidFill>
                  <a:schemeClr val="tx1"/>
                </a:solidFill>
                <a:latin typeface="Gill Sans MT" pitchFamily="34" charset="0"/>
              </a:rPr>
              <a:t>Node Coverage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:  ?</a:t>
            </a:r>
          </a:p>
          <a:p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  <a:p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  <a:p>
            <a:r>
              <a:rPr lang="en-US" u="sng" dirty="0">
                <a:solidFill>
                  <a:schemeClr val="tx1"/>
                </a:solidFill>
                <a:latin typeface="Gill Sans MT" pitchFamily="34" charset="0"/>
              </a:rPr>
              <a:t>Edge Coverage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: ?</a:t>
            </a:r>
          </a:p>
          <a:p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  <a:p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</p:txBody>
      </p:sp>
      <p:grpSp>
        <p:nvGrpSpPr>
          <p:cNvPr id="2" name="Group 47"/>
          <p:cNvGrpSpPr>
            <a:grpSpLocks/>
          </p:cNvGrpSpPr>
          <p:nvPr/>
        </p:nvGrpSpPr>
        <p:grpSpPr bwMode="auto">
          <a:xfrm>
            <a:off x="3371938" y="4633584"/>
            <a:ext cx="1436687" cy="1749425"/>
            <a:chOff x="979" y="2843"/>
            <a:chExt cx="905" cy="1102"/>
          </a:xfrm>
        </p:grpSpPr>
        <p:grpSp>
          <p:nvGrpSpPr>
            <p:cNvPr id="14348" name="Group 11"/>
            <p:cNvGrpSpPr>
              <a:grpSpLocks/>
            </p:cNvGrpSpPr>
            <p:nvPr/>
          </p:nvGrpSpPr>
          <p:grpSpPr bwMode="auto">
            <a:xfrm>
              <a:off x="979" y="3344"/>
              <a:ext cx="350" cy="296"/>
              <a:chOff x="4288" y="1746"/>
              <a:chExt cx="350" cy="296"/>
            </a:xfrm>
          </p:grpSpPr>
          <p:sp>
            <p:nvSpPr>
              <p:cNvPr id="14360" name="Oval 12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4361" name="Text Box 13"/>
              <p:cNvSpPr txBox="1">
                <a:spLocks noChangeArrowheads="1"/>
              </p:cNvSpPr>
              <p:nvPr/>
            </p:nvSpPr>
            <p:spPr bwMode="auto">
              <a:xfrm>
                <a:off x="4364" y="1769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2</a:t>
                </a:r>
              </a:p>
            </p:txBody>
          </p:sp>
        </p:grpSp>
        <p:grpSp>
          <p:nvGrpSpPr>
            <p:cNvPr id="14349" name="Group 14"/>
            <p:cNvGrpSpPr>
              <a:grpSpLocks/>
            </p:cNvGrpSpPr>
            <p:nvPr/>
          </p:nvGrpSpPr>
          <p:grpSpPr bwMode="auto">
            <a:xfrm>
              <a:off x="1504" y="3037"/>
              <a:ext cx="380" cy="908"/>
              <a:chOff x="1346" y="2965"/>
              <a:chExt cx="380" cy="908"/>
            </a:xfrm>
          </p:grpSpPr>
          <p:grpSp>
            <p:nvGrpSpPr>
              <p:cNvPr id="14354" name="Group 15"/>
              <p:cNvGrpSpPr>
                <a:grpSpLocks/>
              </p:cNvGrpSpPr>
              <p:nvPr/>
            </p:nvGrpSpPr>
            <p:grpSpPr bwMode="auto">
              <a:xfrm>
                <a:off x="1346" y="3577"/>
                <a:ext cx="350" cy="296"/>
                <a:chOff x="4738" y="2684"/>
                <a:chExt cx="350" cy="296"/>
              </a:xfrm>
            </p:grpSpPr>
            <p:sp>
              <p:nvSpPr>
                <p:cNvPr id="14358" name="Oval 16"/>
                <p:cNvSpPr>
                  <a:spLocks noChangeArrowheads="1"/>
                </p:cNvSpPr>
                <p:nvPr/>
              </p:nvSpPr>
              <p:spPr bwMode="auto">
                <a:xfrm>
                  <a:off x="47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571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14359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815" y="2707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  <a:latin typeface="+mj-lt"/>
                    </a:rPr>
                    <a:t>3</a:t>
                  </a:r>
                </a:p>
              </p:txBody>
            </p:sp>
          </p:grpSp>
          <p:grpSp>
            <p:nvGrpSpPr>
              <p:cNvPr id="14355" name="Group 18"/>
              <p:cNvGrpSpPr>
                <a:grpSpLocks/>
              </p:cNvGrpSpPr>
              <p:nvPr/>
            </p:nvGrpSpPr>
            <p:grpSpPr bwMode="auto">
              <a:xfrm>
                <a:off x="1376" y="2965"/>
                <a:ext cx="350" cy="296"/>
                <a:chOff x="3838" y="2684"/>
                <a:chExt cx="350" cy="296"/>
              </a:xfrm>
            </p:grpSpPr>
            <p:sp>
              <p:nvSpPr>
                <p:cNvPr id="14356" name="Oval 19"/>
                <p:cNvSpPr>
                  <a:spLocks noChangeArrowheads="1"/>
                </p:cNvSpPr>
                <p:nvPr/>
              </p:nvSpPr>
              <p:spPr bwMode="auto">
                <a:xfrm>
                  <a:off x="38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14357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3915" y="2707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  <a:latin typeface="+mj-lt"/>
                    </a:rPr>
                    <a:t>1</a:t>
                  </a:r>
                </a:p>
              </p:txBody>
            </p:sp>
          </p:grpSp>
        </p:grpSp>
        <p:sp>
          <p:nvSpPr>
            <p:cNvPr id="14350" name="Line 24"/>
            <p:cNvSpPr>
              <a:spLocks noChangeShapeType="1"/>
            </p:cNvSpPr>
            <p:nvPr/>
          </p:nvSpPr>
          <p:spPr bwMode="auto">
            <a:xfrm flipV="1">
              <a:off x="1324" y="3264"/>
              <a:ext cx="250" cy="16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351" name="Line 39"/>
            <p:cNvSpPr>
              <a:spLocks noChangeShapeType="1"/>
            </p:cNvSpPr>
            <p:nvPr/>
          </p:nvSpPr>
          <p:spPr bwMode="auto">
            <a:xfrm>
              <a:off x="1304" y="3588"/>
              <a:ext cx="218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352" name="Line 44"/>
            <p:cNvSpPr>
              <a:spLocks noChangeShapeType="1"/>
            </p:cNvSpPr>
            <p:nvPr/>
          </p:nvSpPr>
          <p:spPr bwMode="auto">
            <a:xfrm>
              <a:off x="1694" y="3335"/>
              <a:ext cx="0" cy="31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353" name="Line 45"/>
            <p:cNvSpPr>
              <a:spLocks noChangeShapeType="1"/>
            </p:cNvSpPr>
            <p:nvPr/>
          </p:nvSpPr>
          <p:spPr bwMode="auto">
            <a:xfrm>
              <a:off x="1694" y="2843"/>
              <a:ext cx="0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</p:grpSp>
      <p:sp>
        <p:nvSpPr>
          <p:cNvPr id="26" name="Text Box 43"/>
          <p:cNvSpPr txBox="1">
            <a:spLocks noChangeArrowheads="1"/>
          </p:cNvSpPr>
          <p:nvPr/>
        </p:nvSpPr>
        <p:spPr bwMode="auto">
          <a:xfrm>
            <a:off x="7421442" y="4565847"/>
            <a:ext cx="2713159" cy="70788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TR = { 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1, 2, 3 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}</a:t>
            </a:r>
          </a:p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Test Path = [ 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1, 2, 3 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]</a:t>
            </a:r>
          </a:p>
        </p:txBody>
      </p:sp>
      <p:sp>
        <p:nvSpPr>
          <p:cNvPr id="27" name="Text Box 43"/>
          <p:cNvSpPr txBox="1">
            <a:spLocks noChangeArrowheads="1"/>
          </p:cNvSpPr>
          <p:nvPr/>
        </p:nvSpPr>
        <p:spPr bwMode="auto">
          <a:xfrm>
            <a:off x="7337722" y="5507770"/>
            <a:ext cx="3169417" cy="10156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TR = { 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(1, 2), (1, 3), (2, 3) 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}</a:t>
            </a:r>
          </a:p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Test Paths = [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1, 2, 3 ]</a:t>
            </a:r>
          </a:p>
          <a:p>
            <a:r>
              <a:rPr lang="en-US" dirty="0">
                <a:solidFill>
                  <a:schemeClr val="tx1"/>
                </a:solidFill>
                <a:latin typeface="+mn-lt"/>
              </a:rPr>
              <a:t>                      [ 1, 3 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2554782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8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8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8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9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5" grpId="0" animBg="1" autoUpdateAnimBg="0"/>
      <p:bldP spid="168968" grpId="0" autoUpdateAnimBg="0"/>
      <p:bldP spid="168969" grpId="0" autoUpdateAnimBg="0"/>
      <p:bldP spid="169003" grpId="0" animBg="1" autoUpdateAnimBg="0"/>
      <p:bldP spid="26" grpId="0"/>
      <p:bldP spid="2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0D8EB9E-4E24-4E8F-80BB-A6521719AB4F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96838"/>
            <a:ext cx="7772400" cy="825500"/>
          </a:xfrm>
        </p:spPr>
        <p:txBody>
          <a:bodyPr/>
          <a:lstStyle/>
          <a:p>
            <a:r>
              <a:rPr lang="en-US"/>
              <a:t>Paths of Length 1 and 0</a:t>
            </a:r>
          </a:p>
        </p:txBody>
      </p:sp>
      <p:sp>
        <p:nvSpPr>
          <p:cNvPr id="153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2114" y="886990"/>
            <a:ext cx="8867775" cy="766763"/>
          </a:xfrm>
        </p:spPr>
        <p:txBody>
          <a:bodyPr/>
          <a:lstStyle/>
          <a:p>
            <a:r>
              <a:rPr lang="en-US" dirty="0"/>
              <a:t>A graph with </a:t>
            </a:r>
            <a:r>
              <a:rPr lang="en-US" dirty="0">
                <a:solidFill>
                  <a:schemeClr val="tx2"/>
                </a:solidFill>
              </a:rPr>
              <a:t>only one node</a:t>
            </a:r>
            <a:r>
              <a:rPr lang="en-US" dirty="0"/>
              <a:t> will not have any edges </a:t>
            </a:r>
          </a:p>
        </p:txBody>
      </p:sp>
      <p:sp>
        <p:nvSpPr>
          <p:cNvPr id="194566" name="Rectangle 6"/>
          <p:cNvSpPr>
            <a:spLocks noChangeArrowheads="1"/>
          </p:cNvSpPr>
          <p:nvPr/>
        </p:nvSpPr>
        <p:spPr bwMode="auto">
          <a:xfrm>
            <a:off x="1662114" y="2301452"/>
            <a:ext cx="8867775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It may seem trivial, but formally, Edge Coverage needs to require Node Coverage on this graph</a:t>
            </a:r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5037139" y="1425153"/>
            <a:ext cx="555625" cy="777875"/>
            <a:chOff x="1068" y="1209"/>
            <a:chExt cx="350" cy="490"/>
          </a:xfrm>
        </p:grpSpPr>
        <p:grpSp>
          <p:nvGrpSpPr>
            <p:cNvPr id="15380" name="Group 15"/>
            <p:cNvGrpSpPr>
              <a:grpSpLocks/>
            </p:cNvGrpSpPr>
            <p:nvPr/>
          </p:nvGrpSpPr>
          <p:grpSpPr bwMode="auto">
            <a:xfrm>
              <a:off x="1068" y="1403"/>
              <a:ext cx="350" cy="296"/>
              <a:chOff x="3838" y="2684"/>
              <a:chExt cx="350" cy="296"/>
            </a:xfrm>
          </p:grpSpPr>
          <p:sp>
            <p:nvSpPr>
              <p:cNvPr id="15382" name="Oval 16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83" name="Text Box 17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15381" name="Line 21"/>
            <p:cNvSpPr>
              <a:spLocks noChangeShapeType="1"/>
            </p:cNvSpPr>
            <p:nvPr/>
          </p:nvSpPr>
          <p:spPr bwMode="auto">
            <a:xfrm>
              <a:off x="1243" y="1209"/>
              <a:ext cx="0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4583" name="Rectangle 23"/>
          <p:cNvSpPr>
            <a:spLocks noChangeArrowheads="1"/>
          </p:cNvSpPr>
          <p:nvPr/>
        </p:nvSpPr>
        <p:spPr bwMode="auto">
          <a:xfrm>
            <a:off x="1662114" y="3117427"/>
            <a:ext cx="8867775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Otherwise, Edge Coverage will not subsume Node Coverage</a:t>
            </a:r>
          </a:p>
          <a:p>
            <a:pPr marL="685800" lvl="1" indent="-228600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–"/>
            </a:pP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So we define “</a:t>
            </a:r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length up to </a:t>
            </a:r>
            <a:r>
              <a:rPr lang="en-US" sz="2400" b="0" dirty="0">
                <a:solidFill>
                  <a:schemeClr val="tx2"/>
                </a:solidFill>
                <a:latin typeface="+mj-lt"/>
              </a:rPr>
              <a:t>1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” instead of simply “length </a:t>
            </a:r>
            <a:r>
              <a:rPr lang="en-US" sz="2400" b="0" dirty="0">
                <a:solidFill>
                  <a:schemeClr val="tx1"/>
                </a:solidFill>
                <a:latin typeface="+mn-lt"/>
              </a:rPr>
              <a:t>1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”</a:t>
            </a:r>
          </a:p>
        </p:txBody>
      </p:sp>
      <p:grpSp>
        <p:nvGrpSpPr>
          <p:cNvPr id="4" name="Group 39"/>
          <p:cNvGrpSpPr>
            <a:grpSpLocks/>
          </p:cNvGrpSpPr>
          <p:nvPr/>
        </p:nvGrpSpPr>
        <p:grpSpPr bwMode="auto">
          <a:xfrm>
            <a:off x="8467726" y="4449850"/>
            <a:ext cx="555625" cy="1749425"/>
            <a:chOff x="1637" y="2541"/>
            <a:chExt cx="350" cy="1102"/>
          </a:xfrm>
        </p:grpSpPr>
        <p:grpSp>
          <p:nvGrpSpPr>
            <p:cNvPr id="15372" name="Group 29"/>
            <p:cNvGrpSpPr>
              <a:grpSpLocks/>
            </p:cNvGrpSpPr>
            <p:nvPr/>
          </p:nvGrpSpPr>
          <p:grpSpPr bwMode="auto">
            <a:xfrm>
              <a:off x="1637" y="3347"/>
              <a:ext cx="350" cy="296"/>
              <a:chOff x="4738" y="2684"/>
              <a:chExt cx="350" cy="296"/>
            </a:xfrm>
          </p:grpSpPr>
          <p:sp>
            <p:nvSpPr>
              <p:cNvPr id="15378" name="Oval 30"/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79" name="Text Box 31"/>
              <p:cNvSpPr txBox="1">
                <a:spLocks noChangeArrowheads="1"/>
              </p:cNvSpPr>
              <p:nvPr/>
            </p:nvSpPr>
            <p:spPr bwMode="auto">
              <a:xfrm>
                <a:off x="4815" y="270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</p:grpSp>
        <p:grpSp>
          <p:nvGrpSpPr>
            <p:cNvPr id="15373" name="Group 32"/>
            <p:cNvGrpSpPr>
              <a:grpSpLocks/>
            </p:cNvGrpSpPr>
            <p:nvPr/>
          </p:nvGrpSpPr>
          <p:grpSpPr bwMode="auto">
            <a:xfrm>
              <a:off x="1637" y="2735"/>
              <a:ext cx="350" cy="296"/>
              <a:chOff x="3838" y="2684"/>
              <a:chExt cx="350" cy="296"/>
            </a:xfrm>
          </p:grpSpPr>
          <p:sp>
            <p:nvSpPr>
              <p:cNvPr id="15376" name="Oval 33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77" name="Text Box 34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15374" name="Line 37"/>
            <p:cNvSpPr>
              <a:spLocks noChangeShapeType="1"/>
            </p:cNvSpPr>
            <p:nvPr/>
          </p:nvSpPr>
          <p:spPr bwMode="auto">
            <a:xfrm>
              <a:off x="1812" y="3033"/>
              <a:ext cx="0" cy="31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5" name="Line 38"/>
            <p:cNvSpPr>
              <a:spLocks noChangeShapeType="1"/>
            </p:cNvSpPr>
            <p:nvPr/>
          </p:nvSpPr>
          <p:spPr bwMode="auto">
            <a:xfrm>
              <a:off x="1812" y="2541"/>
              <a:ext cx="0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4600" name="Rectangle 40"/>
          <p:cNvSpPr>
            <a:spLocks noChangeArrowheads="1"/>
          </p:cNvSpPr>
          <p:nvPr/>
        </p:nvSpPr>
        <p:spPr bwMode="auto">
          <a:xfrm>
            <a:off x="1662114" y="4524324"/>
            <a:ext cx="6421437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We have the same issue with graphs that only have </a:t>
            </a: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one edge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– for Edge-Pair Coverage …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4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6" grpId="0" autoUpdateAnimBg="0"/>
      <p:bldP spid="194583" grpId="0" autoUpdateAnimBg="0"/>
      <p:bldP spid="194600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7F4CF52-2955-412D-B513-A4A2CB4DCADA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Covering Multiple Edges</a:t>
            </a:r>
          </a:p>
        </p:txBody>
      </p:sp>
      <p:sp>
        <p:nvSpPr>
          <p:cNvPr id="1639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662114" y="892090"/>
            <a:ext cx="8867775" cy="663575"/>
          </a:xfrm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dirty="0"/>
              <a:t>Edge-pair coverage requires </a:t>
            </a:r>
            <a:r>
              <a:rPr lang="en-US" dirty="0">
                <a:solidFill>
                  <a:schemeClr val="tx2"/>
                </a:solidFill>
              </a:rPr>
              <a:t>pairs of edges</a:t>
            </a:r>
            <a:r>
              <a:rPr lang="en-US" dirty="0"/>
              <a:t>, or </a:t>
            </a:r>
            <a:r>
              <a:rPr lang="en-US" dirty="0" err="1"/>
              <a:t>subpaths</a:t>
            </a:r>
            <a:r>
              <a:rPr lang="en-US" dirty="0"/>
              <a:t> of length 2</a:t>
            </a:r>
          </a:p>
        </p:txBody>
      </p:sp>
      <p:sp>
        <p:nvSpPr>
          <p:cNvPr id="164869" name="Text Box 5"/>
          <p:cNvSpPr txBox="1">
            <a:spLocks noChangeArrowheads="1"/>
          </p:cNvSpPr>
          <p:nvPr/>
        </p:nvSpPr>
        <p:spPr bwMode="auto">
          <a:xfrm>
            <a:off x="1965325" y="1701404"/>
            <a:ext cx="8262938" cy="841375"/>
          </a:xfrm>
          <a:prstGeom prst="rect">
            <a:avLst/>
          </a:prstGeom>
          <a:gradFill rotWithShape="1">
            <a:gsLst>
              <a:gs pos="0">
                <a:srgbClr val="0066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Edge-Pair Coverage (EPC)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: TR contains each reachable path of length up to 2, inclusive, in G.</a:t>
            </a:r>
          </a:p>
        </p:txBody>
      </p:sp>
      <p:sp>
        <p:nvSpPr>
          <p:cNvPr id="164870" name="Rectangle 6"/>
          <p:cNvSpPr>
            <a:spLocks noChangeArrowheads="1"/>
          </p:cNvSpPr>
          <p:nvPr/>
        </p:nvSpPr>
        <p:spPr bwMode="auto">
          <a:xfrm>
            <a:off x="1662114" y="2688517"/>
            <a:ext cx="8867775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The phrase “</a:t>
            </a: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length up to 2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” is used to include graphs that have less than 2 edges</a:t>
            </a:r>
          </a:p>
        </p:txBody>
      </p:sp>
      <p:sp>
        <p:nvSpPr>
          <p:cNvPr id="164873" name="Rectangle 9"/>
          <p:cNvSpPr>
            <a:spLocks noChangeArrowheads="1"/>
          </p:cNvSpPr>
          <p:nvPr/>
        </p:nvSpPr>
        <p:spPr bwMode="auto">
          <a:xfrm>
            <a:off x="1662114" y="5787007"/>
            <a:ext cx="8867775" cy="44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The logical extension is to require </a:t>
            </a: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all paths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…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786661" y="3786534"/>
            <a:ext cx="2953785" cy="1819448"/>
            <a:chOff x="1262660" y="4345334"/>
            <a:chExt cx="2953785" cy="1819448"/>
          </a:xfrm>
        </p:grpSpPr>
        <p:sp>
          <p:nvSpPr>
            <p:cNvPr id="16" name="Line 37"/>
            <p:cNvSpPr>
              <a:spLocks noChangeShapeType="1"/>
            </p:cNvSpPr>
            <p:nvPr/>
          </p:nvSpPr>
          <p:spPr bwMode="auto">
            <a:xfrm>
              <a:off x="1818285" y="5261408"/>
              <a:ext cx="63926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Oval 33"/>
            <p:cNvSpPr>
              <a:spLocks noChangeArrowheads="1"/>
            </p:cNvSpPr>
            <p:nvPr/>
          </p:nvSpPr>
          <p:spPr bwMode="auto">
            <a:xfrm>
              <a:off x="1262660" y="5013758"/>
              <a:ext cx="555625" cy="469900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6" name="Oval 33"/>
            <p:cNvSpPr>
              <a:spLocks noChangeArrowheads="1"/>
            </p:cNvSpPr>
            <p:nvPr/>
          </p:nvSpPr>
          <p:spPr bwMode="auto">
            <a:xfrm>
              <a:off x="1262660" y="5682182"/>
              <a:ext cx="555625" cy="469900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8" name="Oval 33"/>
            <p:cNvSpPr>
              <a:spLocks noChangeArrowheads="1"/>
            </p:cNvSpPr>
            <p:nvPr/>
          </p:nvSpPr>
          <p:spPr bwMode="auto">
            <a:xfrm>
              <a:off x="3660820" y="4358034"/>
              <a:ext cx="555625" cy="469900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3660820" y="5694882"/>
              <a:ext cx="555625" cy="469900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2" name="Line 37"/>
            <p:cNvSpPr>
              <a:spLocks noChangeShapeType="1"/>
            </p:cNvSpPr>
            <p:nvPr/>
          </p:nvSpPr>
          <p:spPr bwMode="auto">
            <a:xfrm>
              <a:off x="1724337" y="4727921"/>
              <a:ext cx="811874" cy="3961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37"/>
            <p:cNvSpPr>
              <a:spLocks noChangeShapeType="1"/>
            </p:cNvSpPr>
            <p:nvPr/>
          </p:nvSpPr>
          <p:spPr bwMode="auto">
            <a:xfrm>
              <a:off x="2910606" y="5423276"/>
              <a:ext cx="750214" cy="3961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Oval 33"/>
            <p:cNvSpPr>
              <a:spLocks noChangeArrowheads="1"/>
            </p:cNvSpPr>
            <p:nvPr/>
          </p:nvSpPr>
          <p:spPr bwMode="auto">
            <a:xfrm>
              <a:off x="1262660" y="4345334"/>
              <a:ext cx="555625" cy="469900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4" name="Line 37"/>
            <p:cNvSpPr>
              <a:spLocks noChangeShapeType="1"/>
            </p:cNvSpPr>
            <p:nvPr/>
          </p:nvSpPr>
          <p:spPr bwMode="auto">
            <a:xfrm flipV="1">
              <a:off x="1785997" y="5423275"/>
              <a:ext cx="750214" cy="3961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37"/>
            <p:cNvSpPr>
              <a:spLocks noChangeShapeType="1"/>
            </p:cNvSpPr>
            <p:nvPr/>
          </p:nvSpPr>
          <p:spPr bwMode="auto">
            <a:xfrm flipV="1">
              <a:off x="2961891" y="4727922"/>
              <a:ext cx="750214" cy="3961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Oval 30"/>
            <p:cNvSpPr>
              <a:spLocks noChangeArrowheads="1"/>
            </p:cNvSpPr>
            <p:nvPr/>
          </p:nvSpPr>
          <p:spPr bwMode="auto">
            <a:xfrm>
              <a:off x="2457551" y="5035724"/>
              <a:ext cx="555625" cy="469900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sp>
        <p:nvSpPr>
          <p:cNvPr id="36" name="Text Box 43"/>
          <p:cNvSpPr txBox="1">
            <a:spLocks noChangeArrowheads="1"/>
          </p:cNvSpPr>
          <p:nvPr/>
        </p:nvSpPr>
        <p:spPr bwMode="auto">
          <a:xfrm>
            <a:off x="6376988" y="4034540"/>
            <a:ext cx="4152900" cy="1323439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u="sng" dirty="0">
                <a:solidFill>
                  <a:schemeClr val="tx1"/>
                </a:solidFill>
                <a:latin typeface="Gill Sans MT" pitchFamily="34" charset="0"/>
              </a:rPr>
              <a:t>Edge-Pair Coverage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:  ?</a:t>
            </a:r>
          </a:p>
          <a:p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  <a:p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  <a:p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</p:txBody>
      </p:sp>
      <p:sp>
        <p:nvSpPr>
          <p:cNvPr id="37" name="Text Box 43"/>
          <p:cNvSpPr txBox="1">
            <a:spLocks noChangeArrowheads="1"/>
          </p:cNvSpPr>
          <p:nvPr/>
        </p:nvSpPr>
        <p:spPr bwMode="auto">
          <a:xfrm>
            <a:off x="6544575" y="4423208"/>
            <a:ext cx="3683689" cy="70788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TR = {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[1,4,5], [1,4,6], [2,4,5], [2,4,6], [3,4,5], [3,4,6] 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8572628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4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4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4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9" grpId="0" animBg="1" autoUpdateAnimBg="0"/>
      <p:bldP spid="164870" grpId="0" autoUpdateAnimBg="0"/>
      <p:bldP spid="164873" grpId="0" autoUpdateAnimBg="0"/>
      <p:bldP spid="36" grpId="0" animBg="1" autoUpdateAnimBg="0"/>
      <p:bldP spid="3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7F4CF52-2955-412D-B513-A4A2CB4DCADA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Covering Multiple Edges</a:t>
            </a:r>
          </a:p>
        </p:txBody>
      </p:sp>
      <p:sp>
        <p:nvSpPr>
          <p:cNvPr id="164871" name="Text Box 7"/>
          <p:cNvSpPr txBox="1">
            <a:spLocks noChangeArrowheads="1"/>
          </p:cNvSpPr>
          <p:nvPr/>
        </p:nvSpPr>
        <p:spPr bwMode="auto">
          <a:xfrm>
            <a:off x="1756905" y="1618829"/>
            <a:ext cx="8681035" cy="461665"/>
          </a:xfrm>
          <a:prstGeom prst="rect">
            <a:avLst/>
          </a:prstGeom>
          <a:gradFill rotWithShape="1">
            <a:gsLst>
              <a:gs pos="0">
                <a:srgbClr val="0066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Complete Path Coverage (CPC)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: TR contains all paths in G.</a:t>
            </a:r>
          </a:p>
        </p:txBody>
      </p:sp>
      <p:sp>
        <p:nvSpPr>
          <p:cNvPr id="164872" name="Text Box 8"/>
          <p:cNvSpPr txBox="1">
            <a:spLocks noChangeArrowheads="1"/>
          </p:cNvSpPr>
          <p:nvPr/>
        </p:nvSpPr>
        <p:spPr bwMode="auto">
          <a:xfrm>
            <a:off x="1963739" y="4523233"/>
            <a:ext cx="8262937" cy="841375"/>
          </a:xfrm>
          <a:prstGeom prst="rect">
            <a:avLst/>
          </a:prstGeom>
          <a:gradFill rotWithShape="1">
            <a:gsLst>
              <a:gs pos="0">
                <a:srgbClr val="0066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Specified Path Coverage (SPC)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: TR contains a set S of test paths, where S is supplied as a parameter.</a:t>
            </a:r>
          </a:p>
        </p:txBody>
      </p:sp>
      <p:sp>
        <p:nvSpPr>
          <p:cNvPr id="164874" name="Rectangle 10"/>
          <p:cNvSpPr>
            <a:spLocks noChangeArrowheads="1"/>
          </p:cNvSpPr>
          <p:nvPr/>
        </p:nvSpPr>
        <p:spPr bwMode="auto">
          <a:xfrm>
            <a:off x="1662114" y="3009957"/>
            <a:ext cx="8867775" cy="908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>
              <a:lnSpc>
                <a:spcPct val="90000"/>
              </a:lnSpc>
              <a:spcBef>
                <a:spcPct val="30000"/>
              </a:spcBef>
              <a:buSzPct val="85000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Unfortunately, this is </a:t>
            </a: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impossible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if the graph has a loop, so a weak compromise makes the tester decide which paths: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4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4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4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71" grpId="0" animBg="1" autoUpdateAnimBg="0"/>
      <p:bldP spid="164872" grpId="0" animBg="1" autoUpdateAnimBg="0"/>
      <p:bldP spid="164874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Structural Coverage Example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6A7B84-9F6B-4375-98C9-19E41DF1CA63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grpSp>
        <p:nvGrpSpPr>
          <p:cNvPr id="6" name="Group 14"/>
          <p:cNvGrpSpPr>
            <a:grpSpLocks/>
          </p:cNvGrpSpPr>
          <p:nvPr/>
        </p:nvGrpSpPr>
        <p:grpSpPr bwMode="auto">
          <a:xfrm>
            <a:off x="2425701" y="5116513"/>
            <a:ext cx="555625" cy="469900"/>
            <a:chOff x="4288" y="3622"/>
            <a:chExt cx="350" cy="296"/>
          </a:xfrm>
        </p:grpSpPr>
        <p:sp>
          <p:nvSpPr>
            <p:cNvPr id="7" name="Oval 15"/>
            <p:cNvSpPr>
              <a:spLocks noChangeArrowheads="1"/>
            </p:cNvSpPr>
            <p:nvPr/>
          </p:nvSpPr>
          <p:spPr bwMode="auto">
            <a:xfrm>
              <a:off x="4288" y="3622"/>
              <a:ext cx="350" cy="296"/>
            </a:xfrm>
            <a:prstGeom prst="ellipse">
              <a:avLst/>
            </a:prstGeom>
            <a:solidFill>
              <a:srgbClr val="0066FF"/>
            </a:solidFill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8" name="Text Box 16"/>
            <p:cNvSpPr txBox="1">
              <a:spLocks noChangeArrowheads="1"/>
            </p:cNvSpPr>
            <p:nvPr/>
          </p:nvSpPr>
          <p:spPr bwMode="auto">
            <a:xfrm>
              <a:off x="4365" y="3645"/>
              <a:ext cx="197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  <a:latin typeface="+mn-lt"/>
                </a:rPr>
                <a:t>7</a:t>
              </a:r>
            </a:p>
          </p:txBody>
        </p:sp>
      </p:grpSp>
      <p:grpSp>
        <p:nvGrpSpPr>
          <p:cNvPr id="9" name="Group 4"/>
          <p:cNvGrpSpPr>
            <a:grpSpLocks/>
          </p:cNvGrpSpPr>
          <p:nvPr/>
        </p:nvGrpSpPr>
        <p:grpSpPr bwMode="auto">
          <a:xfrm>
            <a:off x="2425701" y="1936750"/>
            <a:ext cx="555625" cy="469900"/>
            <a:chOff x="4288" y="1746"/>
            <a:chExt cx="350" cy="296"/>
          </a:xfrm>
        </p:grpSpPr>
        <p:sp>
          <p:nvSpPr>
            <p:cNvPr id="10" name="Oval 5"/>
            <p:cNvSpPr>
              <a:spLocks noChangeArrowheads="1"/>
            </p:cNvSpPr>
            <p:nvPr/>
          </p:nvSpPr>
          <p:spPr bwMode="auto">
            <a:xfrm>
              <a:off x="4288" y="1746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1" name="Text Box 6"/>
            <p:cNvSpPr txBox="1">
              <a:spLocks noChangeArrowheads="1"/>
            </p:cNvSpPr>
            <p:nvPr/>
          </p:nvSpPr>
          <p:spPr bwMode="auto">
            <a:xfrm>
              <a:off x="4364" y="1769"/>
              <a:ext cx="197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dirty="0">
                  <a:solidFill>
                    <a:schemeClr val="tx1"/>
                  </a:solidFill>
                  <a:latin typeface="+mn-lt"/>
                </a:rPr>
                <a:t>1</a:t>
              </a:r>
            </a:p>
          </p:txBody>
        </p:sp>
      </p:grpSp>
      <p:grpSp>
        <p:nvGrpSpPr>
          <p:cNvPr id="12" name="Group 8"/>
          <p:cNvGrpSpPr>
            <a:grpSpLocks/>
          </p:cNvGrpSpPr>
          <p:nvPr/>
        </p:nvGrpSpPr>
        <p:grpSpPr bwMode="auto">
          <a:xfrm>
            <a:off x="2425701" y="3357563"/>
            <a:ext cx="555625" cy="469900"/>
            <a:chOff x="4738" y="2684"/>
            <a:chExt cx="350" cy="296"/>
          </a:xfrm>
        </p:grpSpPr>
        <p:sp>
          <p:nvSpPr>
            <p:cNvPr id="13" name="Oval 9"/>
            <p:cNvSpPr>
              <a:spLocks noChangeArrowheads="1"/>
            </p:cNvSpPr>
            <p:nvPr/>
          </p:nvSpPr>
          <p:spPr bwMode="auto">
            <a:xfrm>
              <a:off x="4738" y="2684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4" name="Text Box 10"/>
            <p:cNvSpPr txBox="1">
              <a:spLocks noChangeArrowheads="1"/>
            </p:cNvSpPr>
            <p:nvPr/>
          </p:nvSpPr>
          <p:spPr bwMode="auto">
            <a:xfrm>
              <a:off x="4815" y="2707"/>
              <a:ext cx="197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  <a:latin typeface="+mn-lt"/>
                </a:rPr>
                <a:t>3</a:t>
              </a:r>
            </a:p>
          </p:txBody>
        </p:sp>
      </p:grpSp>
      <p:grpSp>
        <p:nvGrpSpPr>
          <p:cNvPr id="15" name="Group 11"/>
          <p:cNvGrpSpPr>
            <a:grpSpLocks/>
          </p:cNvGrpSpPr>
          <p:nvPr/>
        </p:nvGrpSpPr>
        <p:grpSpPr bwMode="auto">
          <a:xfrm>
            <a:off x="1795464" y="2646363"/>
            <a:ext cx="555625" cy="469900"/>
            <a:chOff x="3838" y="2684"/>
            <a:chExt cx="350" cy="296"/>
          </a:xfrm>
        </p:grpSpPr>
        <p:sp>
          <p:nvSpPr>
            <p:cNvPr id="16" name="Oval 12"/>
            <p:cNvSpPr>
              <a:spLocks noChangeArrowheads="1"/>
            </p:cNvSpPr>
            <p:nvPr/>
          </p:nvSpPr>
          <p:spPr bwMode="auto">
            <a:xfrm>
              <a:off x="3838" y="2684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" name="Text Box 13"/>
            <p:cNvSpPr txBox="1">
              <a:spLocks noChangeArrowheads="1"/>
            </p:cNvSpPr>
            <p:nvPr/>
          </p:nvSpPr>
          <p:spPr bwMode="auto">
            <a:xfrm>
              <a:off x="3915" y="2707"/>
              <a:ext cx="197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  <a:latin typeface="+mn-lt"/>
                </a:rPr>
                <a:t>2</a:t>
              </a:r>
            </a:p>
          </p:txBody>
        </p:sp>
      </p:grpSp>
      <p:sp>
        <p:nvSpPr>
          <p:cNvPr id="18" name="Line 17"/>
          <p:cNvSpPr>
            <a:spLocks noChangeShapeType="1"/>
          </p:cNvSpPr>
          <p:nvPr/>
        </p:nvSpPr>
        <p:spPr bwMode="auto">
          <a:xfrm flipH="1">
            <a:off x="2247900" y="3806826"/>
            <a:ext cx="336550" cy="3032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9" name="Line 18"/>
          <p:cNvSpPr>
            <a:spLocks noChangeShapeType="1"/>
          </p:cNvSpPr>
          <p:nvPr/>
        </p:nvSpPr>
        <p:spPr bwMode="auto">
          <a:xfrm flipH="1">
            <a:off x="2703514" y="1612901"/>
            <a:ext cx="1587" cy="3095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grpSp>
        <p:nvGrpSpPr>
          <p:cNvPr id="20" name="Group 19"/>
          <p:cNvGrpSpPr>
            <a:grpSpLocks/>
          </p:cNvGrpSpPr>
          <p:nvPr/>
        </p:nvGrpSpPr>
        <p:grpSpPr bwMode="auto">
          <a:xfrm>
            <a:off x="1795464" y="4068763"/>
            <a:ext cx="555625" cy="469900"/>
            <a:chOff x="4288" y="1746"/>
            <a:chExt cx="350" cy="296"/>
          </a:xfrm>
        </p:grpSpPr>
        <p:sp>
          <p:nvSpPr>
            <p:cNvPr id="21" name="Oval 20"/>
            <p:cNvSpPr>
              <a:spLocks noChangeArrowheads="1"/>
            </p:cNvSpPr>
            <p:nvPr/>
          </p:nvSpPr>
          <p:spPr bwMode="auto">
            <a:xfrm>
              <a:off x="4288" y="1746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2" name="Text Box 21"/>
            <p:cNvSpPr txBox="1">
              <a:spLocks noChangeArrowheads="1"/>
            </p:cNvSpPr>
            <p:nvPr/>
          </p:nvSpPr>
          <p:spPr bwMode="auto">
            <a:xfrm>
              <a:off x="4364" y="1769"/>
              <a:ext cx="197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dirty="0">
                  <a:solidFill>
                    <a:schemeClr val="tx1"/>
                  </a:solidFill>
                  <a:latin typeface="+mn-lt"/>
                </a:rPr>
                <a:t>4</a:t>
              </a:r>
            </a:p>
          </p:txBody>
        </p:sp>
      </p:grpSp>
      <p:grpSp>
        <p:nvGrpSpPr>
          <p:cNvPr id="23" name="Group 26"/>
          <p:cNvGrpSpPr>
            <a:grpSpLocks/>
          </p:cNvGrpSpPr>
          <p:nvPr/>
        </p:nvGrpSpPr>
        <p:grpSpPr bwMode="auto">
          <a:xfrm>
            <a:off x="3011489" y="4068763"/>
            <a:ext cx="555625" cy="469900"/>
            <a:chOff x="3838" y="2684"/>
            <a:chExt cx="350" cy="296"/>
          </a:xfrm>
        </p:grpSpPr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3838" y="2684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" name="Text Box 28"/>
            <p:cNvSpPr txBox="1">
              <a:spLocks noChangeArrowheads="1"/>
            </p:cNvSpPr>
            <p:nvPr/>
          </p:nvSpPr>
          <p:spPr bwMode="auto">
            <a:xfrm>
              <a:off x="3915" y="2707"/>
              <a:ext cx="197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  <a:latin typeface="+mn-lt"/>
                </a:rPr>
                <a:t>5</a:t>
              </a:r>
            </a:p>
          </p:txBody>
        </p:sp>
      </p:grpSp>
      <p:sp>
        <p:nvSpPr>
          <p:cNvPr id="26" name="Line 30"/>
          <p:cNvSpPr>
            <a:spLocks noChangeShapeType="1"/>
          </p:cNvSpPr>
          <p:nvPr/>
        </p:nvSpPr>
        <p:spPr bwMode="auto">
          <a:xfrm>
            <a:off x="2830513" y="3810001"/>
            <a:ext cx="285750" cy="2889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27" name="Line 31"/>
          <p:cNvSpPr>
            <a:spLocks noChangeShapeType="1"/>
          </p:cNvSpPr>
          <p:nvPr/>
        </p:nvSpPr>
        <p:spPr bwMode="auto">
          <a:xfrm flipH="1">
            <a:off x="2819401" y="4508500"/>
            <a:ext cx="309563" cy="6238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28" name="Line 32"/>
          <p:cNvSpPr>
            <a:spLocks noChangeShapeType="1"/>
          </p:cNvSpPr>
          <p:nvPr/>
        </p:nvSpPr>
        <p:spPr bwMode="auto">
          <a:xfrm>
            <a:off x="2247900" y="3090863"/>
            <a:ext cx="317500" cy="2841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29" name="Line 33"/>
          <p:cNvSpPr>
            <a:spLocks noChangeShapeType="1"/>
          </p:cNvSpPr>
          <p:nvPr/>
        </p:nvSpPr>
        <p:spPr bwMode="auto">
          <a:xfrm flipH="1">
            <a:off x="2257426" y="2374901"/>
            <a:ext cx="303213" cy="3143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30" name="Line 34"/>
          <p:cNvSpPr>
            <a:spLocks noChangeShapeType="1"/>
          </p:cNvSpPr>
          <p:nvPr/>
        </p:nvSpPr>
        <p:spPr bwMode="auto">
          <a:xfrm>
            <a:off x="2257425" y="4503739"/>
            <a:ext cx="350838" cy="619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31" name="Line 37"/>
          <p:cNvSpPr>
            <a:spLocks noChangeShapeType="1"/>
          </p:cNvSpPr>
          <p:nvPr/>
        </p:nvSpPr>
        <p:spPr bwMode="auto">
          <a:xfrm flipH="1">
            <a:off x="2700338" y="2414588"/>
            <a:ext cx="4762" cy="939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32" name="Line 40"/>
          <p:cNvSpPr>
            <a:spLocks noChangeShapeType="1"/>
          </p:cNvSpPr>
          <p:nvPr/>
        </p:nvSpPr>
        <p:spPr bwMode="auto">
          <a:xfrm flipH="1" flipV="1">
            <a:off x="3436939" y="4522788"/>
            <a:ext cx="166687" cy="355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grpSp>
        <p:nvGrpSpPr>
          <p:cNvPr id="33" name="Group 46"/>
          <p:cNvGrpSpPr>
            <a:grpSpLocks/>
          </p:cNvGrpSpPr>
          <p:nvPr/>
        </p:nvGrpSpPr>
        <p:grpSpPr bwMode="auto">
          <a:xfrm>
            <a:off x="3235326" y="4868863"/>
            <a:ext cx="555625" cy="469900"/>
            <a:chOff x="3838" y="2684"/>
            <a:chExt cx="350" cy="296"/>
          </a:xfrm>
        </p:grpSpPr>
        <p:sp>
          <p:nvSpPr>
            <p:cNvPr id="34" name="Oval 47"/>
            <p:cNvSpPr>
              <a:spLocks noChangeArrowheads="1"/>
            </p:cNvSpPr>
            <p:nvPr/>
          </p:nvSpPr>
          <p:spPr bwMode="auto">
            <a:xfrm>
              <a:off x="3838" y="2684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5" name="Text Box 48"/>
            <p:cNvSpPr txBox="1">
              <a:spLocks noChangeArrowheads="1"/>
            </p:cNvSpPr>
            <p:nvPr/>
          </p:nvSpPr>
          <p:spPr bwMode="auto">
            <a:xfrm>
              <a:off x="3915" y="2707"/>
              <a:ext cx="197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  <a:latin typeface="+mn-lt"/>
                </a:rPr>
                <a:t>6</a:t>
              </a:r>
            </a:p>
          </p:txBody>
        </p:sp>
      </p:grpSp>
      <p:sp>
        <p:nvSpPr>
          <p:cNvPr id="36" name="Line 49"/>
          <p:cNvSpPr>
            <a:spLocks noChangeShapeType="1"/>
          </p:cNvSpPr>
          <p:nvPr/>
        </p:nvSpPr>
        <p:spPr bwMode="auto">
          <a:xfrm flipH="1" flipV="1">
            <a:off x="3243264" y="4557713"/>
            <a:ext cx="166687" cy="3365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arrow" w="med" len="med"/>
            <a:tailEnd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37" name="Text Box 36"/>
          <p:cNvSpPr txBox="1">
            <a:spLocks noChangeArrowheads="1"/>
          </p:cNvSpPr>
          <p:nvPr/>
        </p:nvSpPr>
        <p:spPr bwMode="auto">
          <a:xfrm>
            <a:off x="3983038" y="942976"/>
            <a:ext cx="6515100" cy="1015663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/>
            <a:r>
              <a:rPr lang="en-US" u="sng" dirty="0">
                <a:solidFill>
                  <a:schemeClr val="tx1"/>
                </a:solidFill>
                <a:latin typeface="Gill Sans MT" pitchFamily="34" charset="0"/>
              </a:rPr>
              <a:t>Node Coverage</a:t>
            </a:r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TR = </a:t>
            </a:r>
          </a:p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Test Paths:</a:t>
            </a:r>
          </a:p>
        </p:txBody>
      </p:sp>
      <p:sp>
        <p:nvSpPr>
          <p:cNvPr id="38" name="Text Box 42"/>
          <p:cNvSpPr txBox="1">
            <a:spLocks noChangeArrowheads="1"/>
          </p:cNvSpPr>
          <p:nvPr/>
        </p:nvSpPr>
        <p:spPr bwMode="auto">
          <a:xfrm>
            <a:off x="3983038" y="2111376"/>
            <a:ext cx="6545262" cy="1323439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/>
            <a:r>
              <a:rPr lang="en-US" u="sng" dirty="0">
                <a:solidFill>
                  <a:schemeClr val="tx1"/>
                </a:solidFill>
                <a:latin typeface="Gill Sans MT" pitchFamily="34" charset="0"/>
              </a:rPr>
              <a:t>Edge Coverage</a:t>
            </a:r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TR = </a:t>
            </a:r>
          </a:p>
          <a:p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Test Paths:</a:t>
            </a:r>
          </a:p>
        </p:txBody>
      </p:sp>
      <p:sp>
        <p:nvSpPr>
          <p:cNvPr id="39" name="Text Box 43"/>
          <p:cNvSpPr txBox="1">
            <a:spLocks noChangeArrowheads="1"/>
          </p:cNvSpPr>
          <p:nvPr/>
        </p:nvSpPr>
        <p:spPr bwMode="auto">
          <a:xfrm>
            <a:off x="3983038" y="3548655"/>
            <a:ext cx="6545262" cy="1631216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/>
            <a:r>
              <a:rPr lang="en-US" u="sng" dirty="0">
                <a:solidFill>
                  <a:schemeClr val="tx1"/>
                </a:solidFill>
                <a:latin typeface="Gill Sans MT" pitchFamily="34" charset="0"/>
              </a:rPr>
              <a:t>Edge-Pair Coverage</a:t>
            </a:r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TR = </a:t>
            </a:r>
          </a:p>
          <a:p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Test Paths: </a:t>
            </a:r>
          </a:p>
          <a:p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</p:txBody>
      </p:sp>
      <p:sp>
        <p:nvSpPr>
          <p:cNvPr id="40" name="Text Box 45"/>
          <p:cNvSpPr txBox="1">
            <a:spLocks noChangeArrowheads="1"/>
          </p:cNvSpPr>
          <p:nvPr/>
        </p:nvSpPr>
        <p:spPr bwMode="auto">
          <a:xfrm>
            <a:off x="3983038" y="5328243"/>
            <a:ext cx="6534150" cy="1015663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/>
            <a:r>
              <a:rPr lang="en-US" u="sng" dirty="0">
                <a:solidFill>
                  <a:schemeClr val="tx1"/>
                </a:solidFill>
                <a:latin typeface="Gill Sans MT" pitchFamily="34" charset="0"/>
              </a:rPr>
              <a:t>Complete Path Coverage</a:t>
            </a:r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Test Paths: </a:t>
            </a:r>
          </a:p>
          <a:p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</p:txBody>
      </p:sp>
      <p:sp>
        <p:nvSpPr>
          <p:cNvPr id="42" name="Text Box 36"/>
          <p:cNvSpPr txBox="1">
            <a:spLocks noChangeArrowheads="1"/>
          </p:cNvSpPr>
          <p:nvPr/>
        </p:nvSpPr>
        <p:spPr bwMode="auto">
          <a:xfrm>
            <a:off x="3983038" y="942976"/>
            <a:ext cx="6515100" cy="1015663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/>
            <a:r>
              <a:rPr lang="en-US" u="sng" dirty="0">
                <a:solidFill>
                  <a:schemeClr val="tx1"/>
                </a:solidFill>
                <a:latin typeface="Gill Sans MT" pitchFamily="34" charset="0"/>
              </a:rPr>
              <a:t>Node Coverage</a:t>
            </a:r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TR = {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1, 2, 3, 4, 5, 6, 7 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}</a:t>
            </a:r>
          </a:p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Test Paths: [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1, 2, 3, 4, 7 ] [ 1, 2, 3, 5, 6, 5, 7 ]</a:t>
            </a:r>
          </a:p>
        </p:txBody>
      </p:sp>
      <p:sp>
        <p:nvSpPr>
          <p:cNvPr id="43" name="Text Box 42"/>
          <p:cNvSpPr txBox="1">
            <a:spLocks noChangeArrowheads="1"/>
          </p:cNvSpPr>
          <p:nvPr/>
        </p:nvSpPr>
        <p:spPr bwMode="auto">
          <a:xfrm>
            <a:off x="3983038" y="2111376"/>
            <a:ext cx="6545262" cy="1323439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/>
            <a:r>
              <a:rPr lang="en-US" u="sng" dirty="0">
                <a:solidFill>
                  <a:schemeClr val="tx1"/>
                </a:solidFill>
                <a:latin typeface="Gill Sans MT" pitchFamily="34" charset="0"/>
              </a:rPr>
              <a:t>Edge Coverage</a:t>
            </a:r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TR = {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(1,2), (1, 3), (2, 3), (3, 4), (3, 5), (4, 7), (5, 6), (5, 7), (6, 5)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}</a:t>
            </a:r>
          </a:p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Test Paths: [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1, 2, 3, 4, 7 ] [1, 3, 5, 6, 5, 7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]</a:t>
            </a:r>
          </a:p>
        </p:txBody>
      </p:sp>
      <p:sp>
        <p:nvSpPr>
          <p:cNvPr id="44" name="Text Box 43"/>
          <p:cNvSpPr txBox="1">
            <a:spLocks noChangeArrowheads="1"/>
          </p:cNvSpPr>
          <p:nvPr/>
        </p:nvSpPr>
        <p:spPr bwMode="auto">
          <a:xfrm>
            <a:off x="3983038" y="3548655"/>
            <a:ext cx="6545262" cy="1631216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/>
            <a:r>
              <a:rPr lang="en-US" u="sng" dirty="0">
                <a:solidFill>
                  <a:schemeClr val="tx1"/>
                </a:solidFill>
                <a:latin typeface="Gill Sans MT" pitchFamily="34" charset="0"/>
              </a:rPr>
              <a:t>Edge-Pair Coverage</a:t>
            </a:r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TR = {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[1,2,3], [1,3,4], [1,3,5], [2,3,4], [2,3,5], [3,4,7],</a:t>
            </a:r>
          </a:p>
          <a:p>
            <a:r>
              <a:rPr lang="en-US" dirty="0">
                <a:solidFill>
                  <a:schemeClr val="tx1"/>
                </a:solidFill>
                <a:latin typeface="+mn-lt"/>
              </a:rPr>
              <a:t>             [3,5,6], [3,5,7], [5,6,5], [6,5,6], [6,5,7] 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}</a:t>
            </a:r>
          </a:p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Test Paths: [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1, 2, 3, 4, 7 ] [ 1, 2, 3, 5, 7 ] [ 1, 3, 4, 7 ] </a:t>
            </a:r>
          </a:p>
          <a:p>
            <a:r>
              <a:rPr lang="en-US" dirty="0">
                <a:solidFill>
                  <a:schemeClr val="tx1"/>
                </a:solidFill>
                <a:latin typeface="+mn-lt"/>
              </a:rPr>
              <a:t>                     [ 1, 3, 5, 6, 5, 6, 5, 7 ]</a:t>
            </a:r>
          </a:p>
        </p:txBody>
      </p:sp>
      <p:sp>
        <p:nvSpPr>
          <p:cNvPr id="45" name="Text Box 45"/>
          <p:cNvSpPr txBox="1">
            <a:spLocks noChangeArrowheads="1"/>
          </p:cNvSpPr>
          <p:nvPr/>
        </p:nvSpPr>
        <p:spPr bwMode="auto">
          <a:xfrm>
            <a:off x="3983038" y="5328243"/>
            <a:ext cx="6534150" cy="1019175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/>
            <a:r>
              <a:rPr lang="en-US" u="sng" dirty="0">
                <a:solidFill>
                  <a:schemeClr val="tx1"/>
                </a:solidFill>
                <a:latin typeface="Gill Sans MT" pitchFamily="34" charset="0"/>
              </a:rPr>
              <a:t>Complete Path Coverage</a:t>
            </a:r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Test Paths: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[ 1, 2, 3, 4, 7 ] [ 1, 2, 3, 5, 7 ] [ 1, 2, 3, 5, 6, 5, 7 ] [ 1, 2, 3, 5, 6, 5, 6, 5, 7 ] [ 1, 2, 3, 5, 6, 5, 6, 5, 6, 5, 7 ] 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62959" y="1713180"/>
            <a:ext cx="1558926" cy="1631216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Write down the TRs and Test Paths for these criteria</a:t>
            </a:r>
          </a:p>
        </p:txBody>
      </p:sp>
    </p:spTree>
    <p:extLst>
      <p:ext uri="{BB962C8B-B14F-4D97-AF65-F5344CB8AC3E}">
        <p14:creationId xmlns:p14="http://schemas.microsoft.com/office/powerpoint/2010/main" val="393346382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 autoUpdateAnimBg="0"/>
      <p:bldP spid="38" grpId="0" animBg="1" autoUpdateAnimBg="0"/>
      <p:bldP spid="39" grpId="0" animBg="1" autoUpdateAnimBg="0"/>
      <p:bldP spid="40" grpId="0" animBg="1" autoUpdateAnimBg="0"/>
      <p:bldP spid="42" grpId="0" animBg="1" autoUpdateAnimBg="0"/>
      <p:bldP spid="43" grpId="0" animBg="1" autoUpdateAnimBg="0"/>
      <p:bldP spid="44" grpId="0" animBg="1" autoUpdateAnimBg="0"/>
      <p:bldP spid="45" grpId="0" animBg="1" autoUpdateAnimBg="0"/>
      <p:bldP spid="41" grpId="0" animBg="1"/>
      <p:bldP spid="41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FAEF4D9-64A0-481B-8507-475880F8B6EE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Loops in Graphs</a:t>
            </a:r>
          </a:p>
        </p:txBody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graph contains a loop, it has an </a:t>
            </a:r>
            <a:r>
              <a:rPr lang="en-US" dirty="0">
                <a:solidFill>
                  <a:schemeClr val="tx2"/>
                </a:solidFill>
              </a:rPr>
              <a:t>infinite</a:t>
            </a:r>
            <a:r>
              <a:rPr lang="en-US" dirty="0"/>
              <a:t> number of paths</a:t>
            </a:r>
          </a:p>
          <a:p>
            <a:pPr lvl="1"/>
            <a:endParaRPr lang="en-US" sz="1800" dirty="0"/>
          </a:p>
          <a:p>
            <a:r>
              <a:rPr lang="en-US" dirty="0"/>
              <a:t>Thus, CPC is </a:t>
            </a:r>
            <a:r>
              <a:rPr lang="en-US" dirty="0">
                <a:solidFill>
                  <a:schemeClr val="tx2"/>
                </a:solidFill>
              </a:rPr>
              <a:t>not feasible</a:t>
            </a:r>
          </a:p>
          <a:p>
            <a:pPr lvl="1"/>
            <a:endParaRPr lang="en-US" sz="1800" dirty="0"/>
          </a:p>
          <a:p>
            <a:r>
              <a:rPr lang="en-US" dirty="0"/>
              <a:t>SPC is not satisfactory because the results are </a:t>
            </a:r>
            <a:r>
              <a:rPr lang="en-US" dirty="0">
                <a:solidFill>
                  <a:schemeClr val="tx2"/>
                </a:solidFill>
              </a:rPr>
              <a:t>subjective</a:t>
            </a:r>
            <a:r>
              <a:rPr lang="en-US" dirty="0"/>
              <a:t> and vary with the tester</a:t>
            </a:r>
          </a:p>
          <a:p>
            <a:pPr lvl="1"/>
            <a:endParaRPr lang="en-US" sz="1800" dirty="0"/>
          </a:p>
          <a:p>
            <a:r>
              <a:rPr lang="en-US" dirty="0"/>
              <a:t>Attempts to “deal with” </a:t>
            </a:r>
            <a:r>
              <a:rPr lang="en-US" dirty="0">
                <a:solidFill>
                  <a:schemeClr val="tx2"/>
                </a:solidFill>
              </a:rPr>
              <a:t>loops</a:t>
            </a:r>
            <a:r>
              <a:rPr lang="en-US" dirty="0"/>
              <a:t>:</a:t>
            </a:r>
          </a:p>
          <a:p>
            <a:pPr lvl="1"/>
            <a:r>
              <a:rPr lang="en-US" sz="2000" dirty="0">
                <a:solidFill>
                  <a:schemeClr val="tx2"/>
                </a:solidFill>
              </a:rPr>
              <a:t>1970s</a:t>
            </a:r>
            <a:r>
              <a:rPr lang="en-US" sz="2000" dirty="0"/>
              <a:t> : Execute cycles once  ([5, 6, 5] in previous example, informal)</a:t>
            </a:r>
          </a:p>
          <a:p>
            <a:pPr lvl="1"/>
            <a:r>
              <a:rPr lang="en-US" sz="2000" dirty="0">
                <a:solidFill>
                  <a:schemeClr val="tx2"/>
                </a:solidFill>
              </a:rPr>
              <a:t>1980s</a:t>
            </a:r>
            <a:r>
              <a:rPr lang="en-US" sz="2000" dirty="0"/>
              <a:t> : Execute each loop, exactly once (formalized)</a:t>
            </a:r>
          </a:p>
          <a:p>
            <a:pPr lvl="1"/>
            <a:r>
              <a:rPr lang="en-US" sz="2000" dirty="0">
                <a:solidFill>
                  <a:schemeClr val="tx2"/>
                </a:solidFill>
              </a:rPr>
              <a:t>1990s</a:t>
            </a:r>
            <a:r>
              <a:rPr lang="en-US" sz="2000" dirty="0"/>
              <a:t> : Execute loops 0 times, once, more than once (informal description)</a:t>
            </a:r>
          </a:p>
          <a:p>
            <a:pPr lvl="1"/>
            <a:r>
              <a:rPr lang="en-US" sz="2000" dirty="0">
                <a:solidFill>
                  <a:schemeClr val="tx2"/>
                </a:solidFill>
              </a:rPr>
              <a:t>2000s</a:t>
            </a:r>
            <a:r>
              <a:rPr lang="en-US" sz="2000" dirty="0"/>
              <a:t> : Prime paths (touring, </a:t>
            </a:r>
            <a:r>
              <a:rPr lang="en-US" sz="2000" dirty="0" err="1"/>
              <a:t>sidetrips</a:t>
            </a:r>
            <a:r>
              <a:rPr lang="en-US" sz="2000" dirty="0"/>
              <a:t>, and detours)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Paths and Prime Paths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1" y="939800"/>
            <a:ext cx="9005888" cy="5538788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Simple Path</a:t>
            </a:r>
            <a:r>
              <a:rPr lang="en-US" dirty="0"/>
              <a:t> :</a:t>
            </a:r>
            <a:r>
              <a:rPr lang="en-US" i="1" dirty="0"/>
              <a:t> A path from node </a:t>
            </a:r>
            <a:r>
              <a:rPr lang="en-US" i="1" dirty="0" err="1"/>
              <a:t>ni</a:t>
            </a:r>
            <a:r>
              <a:rPr lang="en-US" i="1" dirty="0"/>
              <a:t> to </a:t>
            </a:r>
            <a:r>
              <a:rPr lang="en-US" i="1" dirty="0" err="1"/>
              <a:t>nj</a:t>
            </a:r>
            <a:r>
              <a:rPr lang="en-US" i="1" dirty="0"/>
              <a:t> is simple if </a:t>
            </a:r>
            <a:r>
              <a:rPr lang="en-US" i="1" dirty="0">
                <a:solidFill>
                  <a:schemeClr val="tx2"/>
                </a:solidFill>
              </a:rPr>
              <a:t>no node appears more than once</a:t>
            </a:r>
            <a:r>
              <a:rPr lang="en-US" i="1" dirty="0"/>
              <a:t>, except possibly the first and last nodes are the same</a:t>
            </a:r>
            <a:endParaRPr lang="en-US" dirty="0"/>
          </a:p>
          <a:p>
            <a:pPr lvl="1"/>
            <a:r>
              <a:rPr lang="en-US" dirty="0"/>
              <a:t>No internal loops</a:t>
            </a:r>
          </a:p>
          <a:p>
            <a:pPr lvl="1"/>
            <a:r>
              <a:rPr lang="en-US" dirty="0"/>
              <a:t>A loop is a simple path</a:t>
            </a:r>
          </a:p>
          <a:p>
            <a:r>
              <a:rPr lang="en-US" dirty="0">
                <a:solidFill>
                  <a:schemeClr val="tx2"/>
                </a:solidFill>
              </a:rPr>
              <a:t>Prime Path</a:t>
            </a:r>
            <a:r>
              <a:rPr lang="en-US" dirty="0"/>
              <a:t> : </a:t>
            </a:r>
            <a:r>
              <a:rPr lang="en-US" i="1" dirty="0"/>
              <a:t>A simple path that does not appear as a proper </a:t>
            </a:r>
            <a:r>
              <a:rPr lang="en-US" i="1" dirty="0" err="1"/>
              <a:t>subpath</a:t>
            </a:r>
            <a:r>
              <a:rPr lang="en-US" i="1" dirty="0"/>
              <a:t> of any other simple path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1E34D2-BFAA-43E6-B117-0A7C9FC99B38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grpSp>
        <p:nvGrpSpPr>
          <p:cNvPr id="7" name="Group 35"/>
          <p:cNvGrpSpPr>
            <a:grpSpLocks/>
          </p:cNvGrpSpPr>
          <p:nvPr/>
        </p:nvGrpSpPr>
        <p:grpSpPr bwMode="auto">
          <a:xfrm>
            <a:off x="1985964" y="4052888"/>
            <a:ext cx="2301875" cy="1744662"/>
            <a:chOff x="772" y="2720"/>
            <a:chExt cx="1450" cy="1099"/>
          </a:xfrm>
        </p:grpSpPr>
        <p:grpSp>
          <p:nvGrpSpPr>
            <p:cNvPr id="8" name="Group 22"/>
            <p:cNvGrpSpPr>
              <a:grpSpLocks/>
            </p:cNvGrpSpPr>
            <p:nvPr/>
          </p:nvGrpSpPr>
          <p:grpSpPr bwMode="auto">
            <a:xfrm>
              <a:off x="772" y="3216"/>
              <a:ext cx="350" cy="296"/>
              <a:chOff x="772" y="3221"/>
              <a:chExt cx="350" cy="296"/>
            </a:xfrm>
          </p:grpSpPr>
          <p:sp>
            <p:nvSpPr>
              <p:cNvPr id="24" name="Oval 9"/>
              <p:cNvSpPr>
                <a:spLocks noChangeArrowheads="1"/>
              </p:cNvSpPr>
              <p:nvPr/>
            </p:nvSpPr>
            <p:spPr bwMode="auto">
              <a:xfrm>
                <a:off x="772" y="3221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5" name="Text Box 10"/>
              <p:cNvSpPr txBox="1">
                <a:spLocks noChangeArrowheads="1"/>
              </p:cNvSpPr>
              <p:nvPr/>
            </p:nvSpPr>
            <p:spPr bwMode="auto">
              <a:xfrm>
                <a:off x="848" y="3244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dirty="0">
                    <a:solidFill>
                      <a:schemeClr val="tx1"/>
                    </a:solidFill>
                    <a:latin typeface="+mn-lt"/>
                  </a:rPr>
                  <a:t>2</a:t>
                </a:r>
              </a:p>
            </p:txBody>
          </p:sp>
        </p:grpSp>
        <p:grpSp>
          <p:nvGrpSpPr>
            <p:cNvPr id="9" name="Group 24"/>
            <p:cNvGrpSpPr>
              <a:grpSpLocks/>
            </p:cNvGrpSpPr>
            <p:nvPr/>
          </p:nvGrpSpPr>
          <p:grpSpPr bwMode="auto">
            <a:xfrm>
              <a:off x="1872" y="3216"/>
              <a:ext cx="350" cy="296"/>
              <a:chOff x="1297" y="3526"/>
              <a:chExt cx="350" cy="296"/>
            </a:xfrm>
          </p:grpSpPr>
          <p:sp>
            <p:nvSpPr>
              <p:cNvPr id="22" name="Oval 13"/>
              <p:cNvSpPr>
                <a:spLocks noChangeArrowheads="1"/>
              </p:cNvSpPr>
              <p:nvPr/>
            </p:nvSpPr>
            <p:spPr bwMode="auto">
              <a:xfrm>
                <a:off x="1297" y="352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3" name="Text Box 14"/>
              <p:cNvSpPr txBox="1">
                <a:spLocks noChangeArrowheads="1"/>
              </p:cNvSpPr>
              <p:nvPr/>
            </p:nvSpPr>
            <p:spPr bwMode="auto">
              <a:xfrm>
                <a:off x="1374" y="3549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  <a:latin typeface="+mn-lt"/>
                  </a:rPr>
                  <a:t>3</a:t>
                </a:r>
              </a:p>
            </p:txBody>
          </p:sp>
        </p:grpSp>
        <p:grpSp>
          <p:nvGrpSpPr>
            <p:cNvPr id="10" name="Group 23"/>
            <p:cNvGrpSpPr>
              <a:grpSpLocks/>
            </p:cNvGrpSpPr>
            <p:nvPr/>
          </p:nvGrpSpPr>
          <p:grpSpPr bwMode="auto">
            <a:xfrm>
              <a:off x="1321" y="2914"/>
              <a:ext cx="350" cy="296"/>
              <a:chOff x="1327" y="2914"/>
              <a:chExt cx="350" cy="296"/>
            </a:xfrm>
          </p:grpSpPr>
          <p:sp>
            <p:nvSpPr>
              <p:cNvPr id="20" name="Oval 16"/>
              <p:cNvSpPr>
                <a:spLocks noChangeArrowheads="1"/>
              </p:cNvSpPr>
              <p:nvPr/>
            </p:nvSpPr>
            <p:spPr bwMode="auto">
              <a:xfrm>
                <a:off x="1327" y="291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1" name="Text Box 17"/>
              <p:cNvSpPr txBox="1">
                <a:spLocks noChangeArrowheads="1"/>
              </p:cNvSpPr>
              <p:nvPr/>
            </p:nvSpPr>
            <p:spPr bwMode="auto">
              <a:xfrm>
                <a:off x="1404" y="2937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  <a:latin typeface="+mn-lt"/>
                  </a:rPr>
                  <a:t>1</a:t>
                </a:r>
              </a:p>
            </p:txBody>
          </p:sp>
        </p:grpSp>
        <p:sp>
          <p:nvSpPr>
            <p:cNvPr id="11" name="Line 18"/>
            <p:cNvSpPr>
              <a:spLocks noChangeShapeType="1"/>
            </p:cNvSpPr>
            <p:nvPr/>
          </p:nvSpPr>
          <p:spPr bwMode="auto">
            <a:xfrm flipV="1">
              <a:off x="1109" y="3145"/>
              <a:ext cx="234" cy="1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2" name="Line 19"/>
            <p:cNvSpPr>
              <a:spLocks noChangeShapeType="1"/>
            </p:cNvSpPr>
            <p:nvPr/>
          </p:nvSpPr>
          <p:spPr bwMode="auto">
            <a:xfrm>
              <a:off x="1089" y="3461"/>
              <a:ext cx="238" cy="1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3" name="Line 21"/>
            <p:cNvSpPr>
              <a:spLocks noChangeShapeType="1"/>
            </p:cNvSpPr>
            <p:nvPr/>
          </p:nvSpPr>
          <p:spPr bwMode="auto">
            <a:xfrm>
              <a:off x="1495" y="2720"/>
              <a:ext cx="0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grpSp>
          <p:nvGrpSpPr>
            <p:cNvPr id="14" name="Group 25"/>
            <p:cNvGrpSpPr>
              <a:grpSpLocks/>
            </p:cNvGrpSpPr>
            <p:nvPr/>
          </p:nvGrpSpPr>
          <p:grpSpPr bwMode="auto">
            <a:xfrm>
              <a:off x="1320" y="3517"/>
              <a:ext cx="350" cy="296"/>
              <a:chOff x="1297" y="3526"/>
              <a:chExt cx="350" cy="296"/>
            </a:xfrm>
          </p:grpSpPr>
          <p:sp>
            <p:nvSpPr>
              <p:cNvPr id="18" name="Oval 26"/>
              <p:cNvSpPr>
                <a:spLocks noChangeArrowheads="1"/>
              </p:cNvSpPr>
              <p:nvPr/>
            </p:nvSpPr>
            <p:spPr bwMode="auto">
              <a:xfrm>
                <a:off x="1297" y="352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9" name="Text Box 27"/>
              <p:cNvSpPr txBox="1">
                <a:spLocks noChangeArrowheads="1"/>
              </p:cNvSpPr>
              <p:nvPr/>
            </p:nvSpPr>
            <p:spPr bwMode="auto">
              <a:xfrm>
                <a:off x="1374" y="3549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  <a:latin typeface="+mn-lt"/>
                  </a:rPr>
                  <a:t>4</a:t>
                </a:r>
              </a:p>
            </p:txBody>
          </p:sp>
        </p:grpSp>
        <p:sp>
          <p:nvSpPr>
            <p:cNvPr id="15" name="Line 32"/>
            <p:cNvSpPr>
              <a:spLocks noChangeShapeType="1"/>
            </p:cNvSpPr>
            <p:nvPr/>
          </p:nvSpPr>
          <p:spPr bwMode="auto">
            <a:xfrm flipH="1" flipV="1">
              <a:off x="1647" y="3149"/>
              <a:ext cx="242" cy="15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6" name="Line 33"/>
            <p:cNvSpPr>
              <a:spLocks noChangeShapeType="1"/>
            </p:cNvSpPr>
            <p:nvPr/>
          </p:nvSpPr>
          <p:spPr bwMode="auto">
            <a:xfrm flipH="1">
              <a:off x="1663" y="3457"/>
              <a:ext cx="246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cxnSp>
          <p:nvCxnSpPr>
            <p:cNvPr id="17" name="AutoShape 34"/>
            <p:cNvCxnSpPr>
              <a:cxnSpLocks noChangeShapeType="1"/>
              <a:stCxn id="18" idx="4"/>
              <a:endCxn id="20" idx="1"/>
            </p:cNvCxnSpPr>
            <p:nvPr/>
          </p:nvCxnSpPr>
          <p:spPr bwMode="auto">
            <a:xfrm rot="16200000" flipV="1">
              <a:off x="1000" y="3323"/>
              <a:ext cx="868" cy="123"/>
            </a:xfrm>
            <a:prstGeom prst="curvedConnector5">
              <a:avLst>
                <a:gd name="adj1" fmla="val -15898"/>
                <a:gd name="adj2" fmla="val 754468"/>
                <a:gd name="adj3" fmla="val 123500"/>
              </a:avLst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</p:grpSp>
      <p:sp>
        <p:nvSpPr>
          <p:cNvPr id="26" name="Text Box 6"/>
          <p:cNvSpPr txBox="1">
            <a:spLocks noChangeArrowheads="1"/>
          </p:cNvSpPr>
          <p:nvPr/>
        </p:nvSpPr>
        <p:spPr bwMode="auto">
          <a:xfrm>
            <a:off x="4405314" y="4056772"/>
            <a:ext cx="6218237" cy="2246769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u="sng" dirty="0">
                <a:solidFill>
                  <a:schemeClr val="tx2"/>
                </a:solidFill>
                <a:latin typeface="Gill Sans MT" pitchFamily="34" charset="0"/>
              </a:rPr>
              <a:t>Simple Paths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: </a:t>
            </a:r>
          </a:p>
          <a:p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  <a:p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  <a:p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  <a:p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  <a:p>
            <a:r>
              <a:rPr lang="en-US" u="sng" dirty="0">
                <a:solidFill>
                  <a:schemeClr val="tx2"/>
                </a:solidFill>
                <a:latin typeface="Gill Sans MT" pitchFamily="34" charset="0"/>
              </a:rPr>
              <a:t>Prime Paths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: </a:t>
            </a:r>
          </a:p>
          <a:p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</p:txBody>
      </p:sp>
      <p:sp>
        <p:nvSpPr>
          <p:cNvPr id="28" name="Text Box 6"/>
          <p:cNvSpPr txBox="1">
            <a:spLocks noChangeArrowheads="1"/>
          </p:cNvSpPr>
          <p:nvPr/>
        </p:nvSpPr>
        <p:spPr bwMode="auto">
          <a:xfrm>
            <a:off x="4557714" y="4022898"/>
            <a:ext cx="6218237" cy="224676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b="0" dirty="0">
                <a:solidFill>
                  <a:schemeClr val="tx2"/>
                </a:solidFill>
                <a:latin typeface="Gill Sans MT" pitchFamily="34" charset="0"/>
              </a:rPr>
              <a:t>                       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[1,2,4,1], [1,3,4,1], [2,4,1,2], [2,4,1,3], [3,4,1,2], [3,4,1,3], [4,1,2,4], [4,1,3,4], [1,2,4], [1,3,4], [2,4,1], [3,4,1], [4,1,2], [4,1,3], [1,2], [1,3], [2,4], [3,4], [4,1], [1], [2], [3], [4]</a:t>
            </a:r>
          </a:p>
          <a:p>
            <a:endParaRPr lang="en-US" dirty="0">
              <a:solidFill>
                <a:schemeClr val="tx1"/>
              </a:solidFill>
              <a:latin typeface="+mn-lt"/>
            </a:endParaRPr>
          </a:p>
          <a:p>
            <a:r>
              <a:rPr lang="en-US" b="0" dirty="0">
                <a:solidFill>
                  <a:schemeClr val="tx2"/>
                </a:solidFill>
                <a:latin typeface="Gill Sans MT" pitchFamily="34" charset="0"/>
              </a:rPr>
              <a:t>                     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[2,4,1,2], [2,4,1,3], [1,3,4,1], [1,2,4,1], [3,4,1,2], [4,1,3,4], [4,1,2,4], [3,4,1,3]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14593" y="4615132"/>
            <a:ext cx="1879074" cy="1323439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Write down the simple and prime paths for this graph</a:t>
            </a:r>
          </a:p>
        </p:txBody>
      </p:sp>
    </p:spTree>
    <p:extLst>
      <p:ext uri="{BB962C8B-B14F-4D97-AF65-F5344CB8AC3E}">
        <p14:creationId xmlns:p14="http://schemas.microsoft.com/office/powerpoint/2010/main" val="110659237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 autoUpdateAnimBg="0"/>
      <p:bldP spid="28" grpId="0"/>
      <p:bldP spid="27" grpId="0" animBg="1"/>
      <p:bldP spid="27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FD05EA3-8E5B-4CB7-AD95-8A46886A9D76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Prime Path Coverage</a:t>
            </a:r>
          </a:p>
        </p:txBody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2114" y="984251"/>
            <a:ext cx="8867775" cy="1185863"/>
          </a:xfrm>
        </p:spPr>
        <p:txBody>
          <a:bodyPr/>
          <a:lstStyle/>
          <a:p>
            <a:r>
              <a:rPr lang="en-US" dirty="0"/>
              <a:t>A simple, elegant and finite criterion that requires </a:t>
            </a:r>
            <a:r>
              <a:rPr lang="en-US" dirty="0">
                <a:solidFill>
                  <a:schemeClr val="tx2"/>
                </a:solidFill>
              </a:rPr>
              <a:t>loops</a:t>
            </a:r>
            <a:r>
              <a:rPr lang="en-US" dirty="0"/>
              <a:t> to be executed as well as skipped</a:t>
            </a:r>
            <a:endParaRPr lang="en-US" sz="1600" dirty="0"/>
          </a:p>
        </p:txBody>
      </p:sp>
      <p:sp>
        <p:nvSpPr>
          <p:cNvPr id="166916" name="Text Box 4"/>
          <p:cNvSpPr txBox="1">
            <a:spLocks noChangeArrowheads="1"/>
          </p:cNvSpPr>
          <p:nvPr/>
        </p:nvSpPr>
        <p:spPr bwMode="auto">
          <a:xfrm>
            <a:off x="1744663" y="2175425"/>
            <a:ext cx="8704262" cy="461665"/>
          </a:xfrm>
          <a:prstGeom prst="rect">
            <a:avLst/>
          </a:prstGeom>
          <a:gradFill rotWithShape="1">
            <a:gsLst>
              <a:gs pos="0">
                <a:srgbClr val="0066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Prime Path Coverage (PPC)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: TR contains each prime path in G.</a:t>
            </a:r>
          </a:p>
        </p:txBody>
      </p:sp>
      <p:sp>
        <p:nvSpPr>
          <p:cNvPr id="166917" name="Rectangle 5"/>
          <p:cNvSpPr>
            <a:spLocks noChangeArrowheads="1"/>
          </p:cNvSpPr>
          <p:nvPr/>
        </p:nvSpPr>
        <p:spPr bwMode="auto">
          <a:xfrm>
            <a:off x="1662114" y="3441033"/>
            <a:ext cx="8867775" cy="2345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Will tour all paths of length 0, </a:t>
            </a:r>
            <a:r>
              <a:rPr lang="en-US" sz="2800" b="0" dirty="0">
                <a:solidFill>
                  <a:schemeClr val="tx1"/>
                </a:solidFill>
                <a:latin typeface="+mn-lt"/>
              </a:rPr>
              <a:t>1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, …</a:t>
            </a:r>
          </a:p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That is, it </a:t>
            </a: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subsumes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node and edge coverage</a:t>
            </a:r>
          </a:p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PPC almost, but </a:t>
            </a:r>
            <a:r>
              <a:rPr lang="en-US" sz="2800" b="0" dirty="0">
                <a:solidFill>
                  <a:srgbClr val="FFFF00"/>
                </a:solidFill>
                <a:latin typeface="Gill Sans MT" pitchFamily="34" charset="0"/>
              </a:rPr>
              <a:t>not quite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, subsumes </a:t>
            </a: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EPC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…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185313" y="5281684"/>
            <a:ext cx="21972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Why?</a:t>
            </a:r>
            <a:endParaRPr lang="zh-CN" altLang="en-US" sz="28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6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6" grpId="0" animBg="1" autoUpdateAnimBg="0"/>
      <p:bldP spid="166917" grpId="0" autoUpdateAnimBg="0"/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PPC Does Not Subsume EPC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6A7B84-9F6B-4375-98C9-19E41DF1CA63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grpSp>
        <p:nvGrpSpPr>
          <p:cNvPr id="42" name="Group 41"/>
          <p:cNvGrpSpPr/>
          <p:nvPr/>
        </p:nvGrpSpPr>
        <p:grpSpPr>
          <a:xfrm>
            <a:off x="3768430" y="3697808"/>
            <a:ext cx="555625" cy="2592486"/>
            <a:chOff x="3854742" y="1350149"/>
            <a:chExt cx="555625" cy="2592486"/>
          </a:xfrm>
        </p:grpSpPr>
        <p:grpSp>
          <p:nvGrpSpPr>
            <p:cNvPr id="7" name="Group 22"/>
            <p:cNvGrpSpPr>
              <a:grpSpLocks/>
            </p:cNvGrpSpPr>
            <p:nvPr/>
          </p:nvGrpSpPr>
          <p:grpSpPr bwMode="auto">
            <a:xfrm>
              <a:off x="3854742" y="2565429"/>
              <a:ext cx="555625" cy="469900"/>
              <a:chOff x="772" y="3221"/>
              <a:chExt cx="350" cy="296"/>
            </a:xfrm>
          </p:grpSpPr>
          <p:sp>
            <p:nvSpPr>
              <p:cNvPr id="23" name="Oval 9"/>
              <p:cNvSpPr>
                <a:spLocks noChangeArrowheads="1"/>
              </p:cNvSpPr>
              <p:nvPr/>
            </p:nvSpPr>
            <p:spPr bwMode="auto">
              <a:xfrm>
                <a:off x="772" y="3221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4" name="Text Box 10"/>
              <p:cNvSpPr txBox="1">
                <a:spLocks noChangeArrowheads="1"/>
              </p:cNvSpPr>
              <p:nvPr/>
            </p:nvSpPr>
            <p:spPr bwMode="auto">
              <a:xfrm>
                <a:off x="848" y="3244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dirty="0">
                    <a:solidFill>
                      <a:schemeClr val="tx1"/>
                    </a:solidFill>
                    <a:latin typeface="+mn-lt"/>
                  </a:rPr>
                  <a:t>2</a:t>
                </a:r>
              </a:p>
            </p:txBody>
          </p:sp>
        </p:grpSp>
        <p:grpSp>
          <p:nvGrpSpPr>
            <p:cNvPr id="8" name="Group 24"/>
            <p:cNvGrpSpPr>
              <a:grpSpLocks/>
            </p:cNvGrpSpPr>
            <p:nvPr/>
          </p:nvGrpSpPr>
          <p:grpSpPr bwMode="auto">
            <a:xfrm>
              <a:off x="3854742" y="3472735"/>
              <a:ext cx="555625" cy="469900"/>
              <a:chOff x="1297" y="3526"/>
              <a:chExt cx="350" cy="296"/>
            </a:xfrm>
          </p:grpSpPr>
          <p:sp>
            <p:nvSpPr>
              <p:cNvPr id="21" name="Oval 13"/>
              <p:cNvSpPr>
                <a:spLocks noChangeArrowheads="1"/>
              </p:cNvSpPr>
              <p:nvPr/>
            </p:nvSpPr>
            <p:spPr bwMode="auto">
              <a:xfrm>
                <a:off x="1297" y="352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2" name="Text Box 14"/>
              <p:cNvSpPr txBox="1">
                <a:spLocks noChangeArrowheads="1"/>
              </p:cNvSpPr>
              <p:nvPr/>
            </p:nvSpPr>
            <p:spPr bwMode="auto">
              <a:xfrm>
                <a:off x="1374" y="3549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  <a:latin typeface="+mn-lt"/>
                  </a:rPr>
                  <a:t>3</a:t>
                </a:r>
              </a:p>
            </p:txBody>
          </p:sp>
        </p:grpSp>
        <p:grpSp>
          <p:nvGrpSpPr>
            <p:cNvPr id="9" name="Group 23"/>
            <p:cNvGrpSpPr>
              <a:grpSpLocks/>
            </p:cNvGrpSpPr>
            <p:nvPr/>
          </p:nvGrpSpPr>
          <p:grpSpPr bwMode="auto">
            <a:xfrm>
              <a:off x="3854742" y="1658124"/>
              <a:ext cx="555625" cy="469900"/>
              <a:chOff x="1327" y="2914"/>
              <a:chExt cx="350" cy="296"/>
            </a:xfrm>
          </p:grpSpPr>
          <p:sp>
            <p:nvSpPr>
              <p:cNvPr id="19" name="Oval 16"/>
              <p:cNvSpPr>
                <a:spLocks noChangeArrowheads="1"/>
              </p:cNvSpPr>
              <p:nvPr/>
            </p:nvSpPr>
            <p:spPr bwMode="auto">
              <a:xfrm>
                <a:off x="1327" y="291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0" name="Text Box 17"/>
              <p:cNvSpPr txBox="1">
                <a:spLocks noChangeArrowheads="1"/>
              </p:cNvSpPr>
              <p:nvPr/>
            </p:nvSpPr>
            <p:spPr bwMode="auto">
              <a:xfrm>
                <a:off x="1404" y="2937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  <a:latin typeface="+mn-lt"/>
                  </a:rPr>
                  <a:t>1</a:t>
                </a:r>
              </a:p>
            </p:txBody>
          </p:sp>
        </p:grpSp>
        <p:sp>
          <p:nvSpPr>
            <p:cNvPr id="10" name="Line 18"/>
            <p:cNvSpPr>
              <a:spLocks noChangeShapeType="1"/>
            </p:cNvSpPr>
            <p:nvPr/>
          </p:nvSpPr>
          <p:spPr bwMode="auto">
            <a:xfrm flipH="1" flipV="1">
              <a:off x="4131761" y="2128023"/>
              <a:ext cx="1588" cy="43740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2" name="Line 21"/>
            <p:cNvSpPr>
              <a:spLocks noChangeShapeType="1"/>
            </p:cNvSpPr>
            <p:nvPr/>
          </p:nvSpPr>
          <p:spPr bwMode="auto">
            <a:xfrm>
              <a:off x="4132554" y="1350149"/>
              <a:ext cx="0" cy="2952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cxnSp>
          <p:nvCxnSpPr>
            <p:cNvPr id="16" name="AutoShape 34"/>
            <p:cNvCxnSpPr>
              <a:cxnSpLocks noChangeShapeType="1"/>
              <a:stCxn id="23" idx="3"/>
              <a:endCxn id="23" idx="1"/>
            </p:cNvCxnSpPr>
            <p:nvPr/>
          </p:nvCxnSpPr>
          <p:spPr bwMode="auto">
            <a:xfrm rot="5400000" flipH="1">
              <a:off x="3769976" y="2800379"/>
              <a:ext cx="332270" cy="12700"/>
            </a:xfrm>
            <a:prstGeom prst="curvedConnector5">
              <a:avLst>
                <a:gd name="adj1" fmla="val -20091"/>
                <a:gd name="adj2" fmla="val 3559079"/>
                <a:gd name="adj3" fmla="val 103044"/>
              </a:avLst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cxnSp>
          <p:nvCxnSpPr>
            <p:cNvPr id="27" name="Straight Arrow Connector 26"/>
            <p:cNvCxnSpPr>
              <a:stCxn id="23" idx="4"/>
              <a:endCxn id="21" idx="0"/>
            </p:cNvCxnSpPr>
            <p:nvPr/>
          </p:nvCxnSpPr>
          <p:spPr bwMode="auto">
            <a:xfrm>
              <a:off x="4132555" y="3035329"/>
              <a:ext cx="0" cy="437406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</p:grpSp>
      <p:sp>
        <p:nvSpPr>
          <p:cNvPr id="43" name="Content Placeholder 2"/>
          <p:cNvSpPr txBox="1">
            <a:spLocks/>
          </p:cNvSpPr>
          <p:nvPr/>
        </p:nvSpPr>
        <p:spPr>
          <a:xfrm>
            <a:off x="1524001" y="1085850"/>
            <a:ext cx="9005888" cy="5392738"/>
          </a:xfrm>
          <a:prstGeom prst="rect">
            <a:avLst/>
          </a:prstGeom>
        </p:spPr>
        <p:txBody>
          <a:bodyPr/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85000"/>
              <a:buChar char="•"/>
              <a:defRPr sz="2800" b="0">
                <a:solidFill>
                  <a:schemeClr val="tx1"/>
                </a:solidFill>
                <a:latin typeface="Gill Sans MT" pitchFamily="34" charset="0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400" b="0">
                <a:solidFill>
                  <a:schemeClr val="tx1"/>
                </a:solidFill>
                <a:latin typeface="Gill Sans MT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 b="0">
                <a:solidFill>
                  <a:schemeClr val="tx1"/>
                </a:solidFill>
                <a:latin typeface="Gill Sans MT" pitchFamily="34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0">
                <a:solidFill>
                  <a:schemeClr val="tx1"/>
                </a:solidFill>
                <a:latin typeface="Gill Sans MT" pitchFamily="34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sz="2000" b="0">
                <a:solidFill>
                  <a:schemeClr val="tx1"/>
                </a:solidFill>
                <a:latin typeface="Gill Sans MT" pitchFamily="34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9pPr>
          </a:lstStyle>
          <a:p>
            <a:pPr marL="342900"/>
            <a:r>
              <a:rPr lang="en-US" sz="3200" kern="0" dirty="0"/>
              <a:t>If a node </a:t>
            </a:r>
            <a:r>
              <a:rPr lang="en-US" sz="3200" i="1" kern="0" dirty="0">
                <a:solidFill>
                  <a:schemeClr val="tx2"/>
                </a:solidFill>
              </a:rPr>
              <a:t>n</a:t>
            </a:r>
            <a:r>
              <a:rPr lang="en-US" sz="3200" kern="0" dirty="0"/>
              <a:t> has an edge to itself (</a:t>
            </a:r>
            <a:r>
              <a:rPr lang="en-US" sz="3200" i="1" kern="0" dirty="0"/>
              <a:t>self edge</a:t>
            </a:r>
            <a:r>
              <a:rPr lang="en-US" sz="3200" kern="0" dirty="0"/>
              <a:t>), </a:t>
            </a:r>
            <a:r>
              <a:rPr lang="en-US" sz="3200" kern="0" dirty="0">
                <a:solidFill>
                  <a:schemeClr val="tx2"/>
                </a:solidFill>
              </a:rPr>
              <a:t>EPC</a:t>
            </a:r>
            <a:r>
              <a:rPr lang="en-US" sz="3200" kern="0" dirty="0"/>
              <a:t> requires </a:t>
            </a:r>
            <a:r>
              <a:rPr lang="en-US" sz="3200" kern="0" dirty="0">
                <a:solidFill>
                  <a:schemeClr val="tx2"/>
                </a:solidFill>
              </a:rPr>
              <a:t>[</a:t>
            </a:r>
            <a:r>
              <a:rPr lang="en-US" sz="3200" i="1" kern="0" dirty="0">
                <a:solidFill>
                  <a:schemeClr val="tx2"/>
                </a:solidFill>
              </a:rPr>
              <a:t>n, n, m</a:t>
            </a:r>
            <a:r>
              <a:rPr lang="en-US" sz="3200" kern="0" dirty="0">
                <a:solidFill>
                  <a:schemeClr val="tx2"/>
                </a:solidFill>
              </a:rPr>
              <a:t>] </a:t>
            </a:r>
            <a:r>
              <a:rPr lang="en-US" sz="3200" kern="0" dirty="0"/>
              <a:t>and</a:t>
            </a:r>
            <a:r>
              <a:rPr lang="en-US" sz="3200" kern="0" dirty="0">
                <a:solidFill>
                  <a:schemeClr val="tx2"/>
                </a:solidFill>
              </a:rPr>
              <a:t> [</a:t>
            </a:r>
            <a:r>
              <a:rPr lang="en-US" sz="3200" i="1" kern="0" dirty="0">
                <a:solidFill>
                  <a:schemeClr val="tx2"/>
                </a:solidFill>
              </a:rPr>
              <a:t>m</a:t>
            </a:r>
            <a:r>
              <a:rPr lang="en-US" sz="3200" kern="0" dirty="0">
                <a:solidFill>
                  <a:schemeClr val="tx2"/>
                </a:solidFill>
              </a:rPr>
              <a:t>, </a:t>
            </a:r>
            <a:r>
              <a:rPr lang="en-US" sz="3200" i="1" kern="0" dirty="0">
                <a:solidFill>
                  <a:schemeClr val="tx2"/>
                </a:solidFill>
              </a:rPr>
              <a:t>n, n</a:t>
            </a:r>
            <a:r>
              <a:rPr lang="en-US" sz="3200" kern="0" dirty="0">
                <a:solidFill>
                  <a:schemeClr val="tx2"/>
                </a:solidFill>
              </a:rPr>
              <a:t>]</a:t>
            </a:r>
          </a:p>
          <a:p>
            <a:pPr marL="342900"/>
            <a:r>
              <a:rPr lang="en-US" sz="3200" kern="0" dirty="0">
                <a:solidFill>
                  <a:schemeClr val="tx2"/>
                </a:solidFill>
              </a:rPr>
              <a:t>[</a:t>
            </a:r>
            <a:r>
              <a:rPr lang="en-US" sz="3200" i="1" kern="0" dirty="0">
                <a:solidFill>
                  <a:schemeClr val="tx2"/>
                </a:solidFill>
              </a:rPr>
              <a:t>n, n, m</a:t>
            </a:r>
            <a:r>
              <a:rPr lang="en-US" sz="3200" kern="0" dirty="0">
                <a:solidFill>
                  <a:schemeClr val="tx2"/>
                </a:solidFill>
              </a:rPr>
              <a:t>]</a:t>
            </a:r>
            <a:r>
              <a:rPr lang="en-US" sz="3200" kern="0" dirty="0"/>
              <a:t> is not prime</a:t>
            </a:r>
          </a:p>
          <a:p>
            <a:pPr marL="342900"/>
            <a:r>
              <a:rPr lang="en-US" sz="3200" kern="0" dirty="0"/>
              <a:t>Neither </a:t>
            </a:r>
            <a:r>
              <a:rPr lang="en-US" sz="3200" kern="0" dirty="0">
                <a:solidFill>
                  <a:schemeClr val="tx2"/>
                </a:solidFill>
              </a:rPr>
              <a:t>[</a:t>
            </a:r>
            <a:r>
              <a:rPr lang="en-US" sz="3200" i="1" kern="0" dirty="0">
                <a:solidFill>
                  <a:schemeClr val="tx2"/>
                </a:solidFill>
              </a:rPr>
              <a:t>n, n, m</a:t>
            </a:r>
            <a:r>
              <a:rPr lang="en-US" sz="3200" kern="0" dirty="0">
                <a:solidFill>
                  <a:schemeClr val="tx2"/>
                </a:solidFill>
              </a:rPr>
              <a:t>] </a:t>
            </a:r>
            <a:r>
              <a:rPr lang="en-US" sz="3200" kern="0" dirty="0"/>
              <a:t>nor </a:t>
            </a:r>
            <a:r>
              <a:rPr lang="en-US" sz="3200" kern="0" dirty="0">
                <a:solidFill>
                  <a:schemeClr val="tx2"/>
                </a:solidFill>
              </a:rPr>
              <a:t>[</a:t>
            </a:r>
            <a:r>
              <a:rPr lang="en-US" sz="3200" i="1" kern="0" dirty="0">
                <a:solidFill>
                  <a:schemeClr val="tx2"/>
                </a:solidFill>
              </a:rPr>
              <a:t>m</a:t>
            </a:r>
            <a:r>
              <a:rPr lang="en-US" sz="3200" kern="0" dirty="0">
                <a:solidFill>
                  <a:schemeClr val="tx2"/>
                </a:solidFill>
              </a:rPr>
              <a:t>, </a:t>
            </a:r>
            <a:r>
              <a:rPr lang="en-US" sz="3200" i="1" kern="0" dirty="0">
                <a:solidFill>
                  <a:schemeClr val="tx2"/>
                </a:solidFill>
              </a:rPr>
              <a:t>n, n</a:t>
            </a:r>
            <a:r>
              <a:rPr lang="en-US" sz="3200" kern="0" dirty="0">
                <a:solidFill>
                  <a:schemeClr val="tx2"/>
                </a:solidFill>
              </a:rPr>
              <a:t>]</a:t>
            </a:r>
            <a:r>
              <a:rPr lang="en-US" sz="3200" kern="0" dirty="0"/>
              <a:t> are simple paths (not prime)</a:t>
            </a:r>
          </a:p>
        </p:txBody>
      </p:sp>
      <p:sp>
        <p:nvSpPr>
          <p:cNvPr id="44" name="Text Box 43"/>
          <p:cNvSpPr txBox="1">
            <a:spLocks noChangeArrowheads="1"/>
          </p:cNvSpPr>
          <p:nvPr/>
        </p:nvSpPr>
        <p:spPr bwMode="auto">
          <a:xfrm>
            <a:off x="4526354" y="3697809"/>
            <a:ext cx="4248110" cy="1015663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EPC Requirements :  ?</a:t>
            </a:r>
          </a:p>
          <a:p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  <a:p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</p:txBody>
      </p:sp>
      <p:sp>
        <p:nvSpPr>
          <p:cNvPr id="45" name="Text Box 43"/>
          <p:cNvSpPr txBox="1">
            <a:spLocks noChangeArrowheads="1"/>
          </p:cNvSpPr>
          <p:nvPr/>
        </p:nvSpPr>
        <p:spPr bwMode="auto">
          <a:xfrm>
            <a:off x="4572560" y="4094569"/>
            <a:ext cx="4282825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TR = {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[1,2,3], [1,2,2], [2,2,3], [2,2,2] 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}</a:t>
            </a:r>
          </a:p>
        </p:txBody>
      </p:sp>
      <p:sp>
        <p:nvSpPr>
          <p:cNvPr id="48" name="Text Box 43"/>
          <p:cNvSpPr txBox="1">
            <a:spLocks noChangeArrowheads="1"/>
          </p:cNvSpPr>
          <p:nvPr/>
        </p:nvSpPr>
        <p:spPr bwMode="auto">
          <a:xfrm>
            <a:off x="5682167" y="5041270"/>
            <a:ext cx="2889997" cy="1015663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PPC Requirements :  ?</a:t>
            </a:r>
          </a:p>
          <a:p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  <a:p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</p:txBody>
      </p:sp>
      <p:sp>
        <p:nvSpPr>
          <p:cNvPr id="49" name="Text Box 43"/>
          <p:cNvSpPr txBox="1">
            <a:spLocks noChangeArrowheads="1"/>
          </p:cNvSpPr>
          <p:nvPr/>
        </p:nvSpPr>
        <p:spPr bwMode="auto">
          <a:xfrm>
            <a:off x="5728373" y="5438030"/>
            <a:ext cx="2576754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TR = {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[1,2,3], [2,2] 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8902524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/>
      <p:bldP spid="48" grpId="0" animBg="1"/>
      <p:bldP spid="4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&amp; Prime Path Example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1E34D2-BFAA-43E6-B117-0A7C9FC99B38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grpSp>
        <p:nvGrpSpPr>
          <p:cNvPr id="8" name="Group 1028"/>
          <p:cNvGrpSpPr>
            <a:grpSpLocks/>
          </p:cNvGrpSpPr>
          <p:nvPr/>
        </p:nvGrpSpPr>
        <p:grpSpPr bwMode="auto">
          <a:xfrm>
            <a:off x="1654175" y="1857376"/>
            <a:ext cx="2120900" cy="3635375"/>
            <a:chOff x="287" y="1509"/>
            <a:chExt cx="1336" cy="2290"/>
          </a:xfrm>
        </p:grpSpPr>
        <p:grpSp>
          <p:nvGrpSpPr>
            <p:cNvPr id="9" name="Group 1029"/>
            <p:cNvGrpSpPr>
              <a:grpSpLocks/>
            </p:cNvGrpSpPr>
            <p:nvPr/>
          </p:nvGrpSpPr>
          <p:grpSpPr bwMode="auto">
            <a:xfrm>
              <a:off x="1273" y="3335"/>
              <a:ext cx="350" cy="296"/>
              <a:chOff x="684" y="3374"/>
              <a:chExt cx="350" cy="296"/>
            </a:xfrm>
          </p:grpSpPr>
          <p:sp>
            <p:nvSpPr>
              <p:cNvPr id="38" name="Oval 1030"/>
              <p:cNvSpPr>
                <a:spLocks noChangeArrowheads="1"/>
              </p:cNvSpPr>
              <p:nvPr/>
            </p:nvSpPr>
            <p:spPr bwMode="auto">
              <a:xfrm>
                <a:off x="684" y="337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" name="Text Box 1031"/>
              <p:cNvSpPr txBox="1">
                <a:spLocks noChangeArrowheads="1"/>
              </p:cNvSpPr>
              <p:nvPr/>
            </p:nvSpPr>
            <p:spPr bwMode="auto">
              <a:xfrm>
                <a:off x="761" y="339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</p:grpSp>
        <p:grpSp>
          <p:nvGrpSpPr>
            <p:cNvPr id="10" name="Group 1032"/>
            <p:cNvGrpSpPr>
              <a:grpSpLocks/>
            </p:cNvGrpSpPr>
            <p:nvPr/>
          </p:nvGrpSpPr>
          <p:grpSpPr bwMode="auto">
            <a:xfrm>
              <a:off x="684" y="1617"/>
              <a:ext cx="350" cy="296"/>
              <a:chOff x="4288" y="1746"/>
              <a:chExt cx="350" cy="296"/>
            </a:xfrm>
          </p:grpSpPr>
          <p:sp>
            <p:nvSpPr>
              <p:cNvPr id="36" name="Oval 1033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" name="Text Box 1034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grpSp>
          <p:nvGrpSpPr>
            <p:cNvPr id="11" name="Group 1035"/>
            <p:cNvGrpSpPr>
              <a:grpSpLocks/>
            </p:cNvGrpSpPr>
            <p:nvPr/>
          </p:nvGrpSpPr>
          <p:grpSpPr bwMode="auto">
            <a:xfrm>
              <a:off x="684" y="2482"/>
              <a:ext cx="350" cy="296"/>
              <a:chOff x="4738" y="2684"/>
              <a:chExt cx="350" cy="296"/>
            </a:xfrm>
          </p:grpSpPr>
          <p:sp>
            <p:nvSpPr>
              <p:cNvPr id="34" name="Oval 1036"/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" name="Text Box 1037"/>
              <p:cNvSpPr txBox="1">
                <a:spLocks noChangeArrowheads="1"/>
              </p:cNvSpPr>
              <p:nvPr/>
            </p:nvSpPr>
            <p:spPr bwMode="auto">
              <a:xfrm>
                <a:off x="4815" y="2707"/>
                <a:ext cx="196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</p:grpSp>
        <p:grpSp>
          <p:nvGrpSpPr>
            <p:cNvPr id="12" name="Group 1038"/>
            <p:cNvGrpSpPr>
              <a:grpSpLocks/>
            </p:cNvGrpSpPr>
            <p:nvPr/>
          </p:nvGrpSpPr>
          <p:grpSpPr bwMode="auto">
            <a:xfrm>
              <a:off x="287" y="2034"/>
              <a:ext cx="350" cy="296"/>
              <a:chOff x="3838" y="2684"/>
              <a:chExt cx="350" cy="296"/>
            </a:xfrm>
          </p:grpSpPr>
          <p:sp>
            <p:nvSpPr>
              <p:cNvPr id="32" name="Oval 1039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" name="Text Box 1040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</p:grpSp>
        <p:sp>
          <p:nvSpPr>
            <p:cNvPr id="13" name="Line 1041"/>
            <p:cNvSpPr>
              <a:spLocks noChangeShapeType="1"/>
            </p:cNvSpPr>
            <p:nvPr/>
          </p:nvSpPr>
          <p:spPr bwMode="auto">
            <a:xfrm flipH="1">
              <a:off x="572" y="2765"/>
              <a:ext cx="212" cy="1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1042"/>
            <p:cNvSpPr>
              <a:spLocks noChangeShapeType="1"/>
            </p:cNvSpPr>
            <p:nvPr/>
          </p:nvSpPr>
          <p:spPr bwMode="auto">
            <a:xfrm flipH="1">
              <a:off x="859" y="1509"/>
              <a:ext cx="1" cy="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5" name="Group 1043"/>
            <p:cNvGrpSpPr>
              <a:grpSpLocks/>
            </p:cNvGrpSpPr>
            <p:nvPr/>
          </p:nvGrpSpPr>
          <p:grpSpPr bwMode="auto">
            <a:xfrm>
              <a:off x="287" y="2930"/>
              <a:ext cx="350" cy="296"/>
              <a:chOff x="4288" y="1746"/>
              <a:chExt cx="350" cy="296"/>
            </a:xfrm>
          </p:grpSpPr>
          <p:sp>
            <p:nvSpPr>
              <p:cNvPr id="30" name="Oval 1044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" name="Text Box 1045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</p:grpSp>
        <p:grpSp>
          <p:nvGrpSpPr>
            <p:cNvPr id="16" name="Group 1046"/>
            <p:cNvGrpSpPr>
              <a:grpSpLocks/>
            </p:cNvGrpSpPr>
            <p:nvPr/>
          </p:nvGrpSpPr>
          <p:grpSpPr bwMode="auto">
            <a:xfrm>
              <a:off x="1053" y="2930"/>
              <a:ext cx="350" cy="296"/>
              <a:chOff x="3838" y="2684"/>
              <a:chExt cx="350" cy="296"/>
            </a:xfrm>
          </p:grpSpPr>
          <p:sp>
            <p:nvSpPr>
              <p:cNvPr id="28" name="Oval 1047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" name="Text Box 1048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</p:grpSp>
        <p:sp>
          <p:nvSpPr>
            <p:cNvPr id="17" name="Line 1049"/>
            <p:cNvSpPr>
              <a:spLocks noChangeShapeType="1"/>
            </p:cNvSpPr>
            <p:nvPr/>
          </p:nvSpPr>
          <p:spPr bwMode="auto">
            <a:xfrm>
              <a:off x="939" y="2767"/>
              <a:ext cx="18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050"/>
            <p:cNvSpPr>
              <a:spLocks noChangeShapeType="1"/>
            </p:cNvSpPr>
            <p:nvPr/>
          </p:nvSpPr>
          <p:spPr bwMode="auto">
            <a:xfrm flipH="1">
              <a:off x="932" y="3207"/>
              <a:ext cx="195" cy="3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1051"/>
            <p:cNvSpPr>
              <a:spLocks noChangeShapeType="1"/>
            </p:cNvSpPr>
            <p:nvPr/>
          </p:nvSpPr>
          <p:spPr bwMode="auto">
            <a:xfrm>
              <a:off x="572" y="2308"/>
              <a:ext cx="194" cy="17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1052"/>
            <p:cNvSpPr>
              <a:spLocks noChangeShapeType="1"/>
            </p:cNvSpPr>
            <p:nvPr/>
          </p:nvSpPr>
          <p:spPr bwMode="auto">
            <a:xfrm flipH="1">
              <a:off x="603" y="1893"/>
              <a:ext cx="166" cy="1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1053"/>
            <p:cNvSpPr>
              <a:spLocks noChangeShapeType="1"/>
            </p:cNvSpPr>
            <p:nvPr/>
          </p:nvSpPr>
          <p:spPr bwMode="auto">
            <a:xfrm>
              <a:off x="578" y="3204"/>
              <a:ext cx="195" cy="30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054"/>
            <p:cNvSpPr>
              <a:spLocks noChangeShapeType="1"/>
            </p:cNvSpPr>
            <p:nvPr/>
          </p:nvSpPr>
          <p:spPr bwMode="auto">
            <a:xfrm flipH="1">
              <a:off x="857" y="1918"/>
              <a:ext cx="3" cy="54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1055"/>
            <p:cNvSpPr>
              <a:spLocks noChangeShapeType="1"/>
            </p:cNvSpPr>
            <p:nvPr/>
          </p:nvSpPr>
          <p:spPr bwMode="auto">
            <a:xfrm>
              <a:off x="1234" y="3229"/>
              <a:ext cx="101" cy="14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4" name="Group 1056"/>
            <p:cNvGrpSpPr>
              <a:grpSpLocks/>
            </p:cNvGrpSpPr>
            <p:nvPr/>
          </p:nvGrpSpPr>
          <p:grpSpPr bwMode="auto">
            <a:xfrm>
              <a:off x="682" y="3503"/>
              <a:ext cx="350" cy="296"/>
              <a:chOff x="4288" y="3622"/>
              <a:chExt cx="350" cy="296"/>
            </a:xfrm>
          </p:grpSpPr>
          <p:sp>
            <p:nvSpPr>
              <p:cNvPr id="26" name="Oval 1057"/>
              <p:cNvSpPr>
                <a:spLocks noChangeArrowheads="1"/>
              </p:cNvSpPr>
              <p:nvPr/>
            </p:nvSpPr>
            <p:spPr bwMode="auto">
              <a:xfrm>
                <a:off x="4288" y="3622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" name="Text Box 1058"/>
              <p:cNvSpPr txBox="1">
                <a:spLocks noChangeArrowheads="1"/>
              </p:cNvSpPr>
              <p:nvPr/>
            </p:nvSpPr>
            <p:spPr bwMode="auto">
              <a:xfrm>
                <a:off x="4365" y="3645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</p:grpSp>
        <p:sp>
          <p:nvSpPr>
            <p:cNvPr id="25" name="Line 1059"/>
            <p:cNvSpPr>
              <a:spLocks noChangeShapeType="1"/>
            </p:cNvSpPr>
            <p:nvPr/>
          </p:nvSpPr>
          <p:spPr bwMode="auto">
            <a:xfrm flipH="1" flipV="1">
              <a:off x="1367" y="3176"/>
              <a:ext cx="101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" name="Text Box 1060"/>
          <p:cNvSpPr txBox="1">
            <a:spLocks noChangeArrowheads="1"/>
          </p:cNvSpPr>
          <p:nvPr/>
        </p:nvSpPr>
        <p:spPr bwMode="auto">
          <a:xfrm>
            <a:off x="4264025" y="1139826"/>
            <a:ext cx="833438" cy="2554545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u="sng" dirty="0">
                <a:solidFill>
                  <a:schemeClr val="tx1"/>
                </a:solidFill>
              </a:rPr>
              <a:t>Len 0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Text Box 1077"/>
          <p:cNvSpPr txBox="1">
            <a:spLocks noChangeArrowheads="1"/>
          </p:cNvSpPr>
          <p:nvPr/>
        </p:nvSpPr>
        <p:spPr bwMode="auto">
          <a:xfrm>
            <a:off x="3144838" y="1120776"/>
            <a:ext cx="1016000" cy="714375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Simple paths</a:t>
            </a:r>
          </a:p>
        </p:txBody>
      </p:sp>
      <p:sp>
        <p:nvSpPr>
          <p:cNvPr id="42" name="Text Box 1060"/>
          <p:cNvSpPr txBox="1">
            <a:spLocks noChangeArrowheads="1"/>
          </p:cNvSpPr>
          <p:nvPr/>
        </p:nvSpPr>
        <p:spPr bwMode="auto">
          <a:xfrm>
            <a:off x="4264024" y="1454623"/>
            <a:ext cx="833438" cy="255454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[1]</a:t>
            </a:r>
          </a:p>
          <a:p>
            <a:r>
              <a:rPr lang="en-US" dirty="0">
                <a:solidFill>
                  <a:schemeClr val="tx1"/>
                </a:solidFill>
              </a:rPr>
              <a:t>[2]</a:t>
            </a:r>
          </a:p>
          <a:p>
            <a:r>
              <a:rPr lang="en-US" dirty="0">
                <a:solidFill>
                  <a:schemeClr val="tx1"/>
                </a:solidFill>
              </a:rPr>
              <a:t>[3]</a:t>
            </a:r>
          </a:p>
          <a:p>
            <a:r>
              <a:rPr lang="en-US" dirty="0">
                <a:solidFill>
                  <a:schemeClr val="tx1"/>
                </a:solidFill>
              </a:rPr>
              <a:t>[4]</a:t>
            </a:r>
          </a:p>
          <a:p>
            <a:r>
              <a:rPr lang="en-US" dirty="0">
                <a:solidFill>
                  <a:schemeClr val="tx1"/>
                </a:solidFill>
              </a:rPr>
              <a:t>[5]</a:t>
            </a:r>
          </a:p>
          <a:p>
            <a:r>
              <a:rPr lang="en-US" dirty="0">
                <a:solidFill>
                  <a:schemeClr val="tx1"/>
                </a:solidFill>
              </a:rPr>
              <a:t>[6] </a:t>
            </a:r>
          </a:p>
          <a:p>
            <a:r>
              <a:rPr lang="en-US" dirty="0">
                <a:solidFill>
                  <a:schemeClr val="tx1"/>
                </a:solidFill>
              </a:rPr>
              <a:t>[7] !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47972" y="1835151"/>
            <a:ext cx="1065545" cy="101566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Write paths of length 0</a:t>
            </a:r>
          </a:p>
        </p:txBody>
      </p:sp>
      <p:sp>
        <p:nvSpPr>
          <p:cNvPr id="44" name="AutoShape 1062"/>
          <p:cNvSpPr>
            <a:spLocks/>
          </p:cNvSpPr>
          <p:nvPr/>
        </p:nvSpPr>
        <p:spPr bwMode="auto">
          <a:xfrm>
            <a:off x="6608763" y="931863"/>
            <a:ext cx="1778000" cy="671512"/>
          </a:xfrm>
          <a:prstGeom prst="borderCallout2">
            <a:avLst>
              <a:gd name="adj1" fmla="val 17023"/>
              <a:gd name="adj2" fmla="val -4287"/>
              <a:gd name="adj3" fmla="val 17023"/>
              <a:gd name="adj4" fmla="val -51606"/>
              <a:gd name="adj5" fmla="val 371157"/>
              <a:gd name="adj6" fmla="val -100806"/>
            </a:avLst>
          </a:prstGeom>
          <a:solidFill>
            <a:schemeClr val="tx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‘!’ means path terminates</a:t>
            </a:r>
          </a:p>
        </p:txBody>
      </p:sp>
      <p:sp>
        <p:nvSpPr>
          <p:cNvPr id="45" name="Text Box 1063"/>
          <p:cNvSpPr txBox="1">
            <a:spLocks noChangeArrowheads="1"/>
          </p:cNvSpPr>
          <p:nvPr/>
        </p:nvSpPr>
        <p:spPr bwMode="auto">
          <a:xfrm>
            <a:off x="5408614" y="1139826"/>
            <a:ext cx="935037" cy="3170099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u="sng" dirty="0">
                <a:solidFill>
                  <a:schemeClr val="tx1"/>
                </a:solidFill>
              </a:rPr>
              <a:t>Len 1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6" name="Text Box 1063"/>
          <p:cNvSpPr txBox="1">
            <a:spLocks noChangeArrowheads="1"/>
          </p:cNvSpPr>
          <p:nvPr/>
        </p:nvSpPr>
        <p:spPr bwMode="auto">
          <a:xfrm>
            <a:off x="5393798" y="1416025"/>
            <a:ext cx="935037" cy="317009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[1, 2]</a:t>
            </a:r>
          </a:p>
          <a:p>
            <a:r>
              <a:rPr lang="en-US" dirty="0">
                <a:solidFill>
                  <a:schemeClr val="tx1"/>
                </a:solidFill>
              </a:rPr>
              <a:t>[1, 3]</a:t>
            </a:r>
          </a:p>
          <a:p>
            <a:r>
              <a:rPr lang="en-US" dirty="0">
                <a:solidFill>
                  <a:schemeClr val="tx1"/>
                </a:solidFill>
              </a:rPr>
              <a:t>[2, 3]</a:t>
            </a:r>
          </a:p>
          <a:p>
            <a:r>
              <a:rPr lang="en-US" dirty="0">
                <a:solidFill>
                  <a:schemeClr val="tx1"/>
                </a:solidFill>
              </a:rPr>
              <a:t>[3, 4]</a:t>
            </a:r>
          </a:p>
          <a:p>
            <a:r>
              <a:rPr lang="en-US" dirty="0">
                <a:solidFill>
                  <a:schemeClr val="tx1"/>
                </a:solidFill>
              </a:rPr>
              <a:t>[3, 5]</a:t>
            </a:r>
          </a:p>
          <a:p>
            <a:r>
              <a:rPr lang="en-US" dirty="0">
                <a:solidFill>
                  <a:schemeClr val="tx1"/>
                </a:solidFill>
              </a:rPr>
              <a:t>[4, 7] !</a:t>
            </a:r>
          </a:p>
          <a:p>
            <a:r>
              <a:rPr lang="en-US" dirty="0">
                <a:solidFill>
                  <a:schemeClr val="tx1"/>
                </a:solidFill>
              </a:rPr>
              <a:t>[5, 7] !</a:t>
            </a:r>
          </a:p>
          <a:p>
            <a:r>
              <a:rPr lang="en-US" dirty="0">
                <a:solidFill>
                  <a:schemeClr val="tx1"/>
                </a:solidFill>
              </a:rPr>
              <a:t>[5, 6]</a:t>
            </a:r>
          </a:p>
          <a:p>
            <a:r>
              <a:rPr lang="en-US" dirty="0">
                <a:solidFill>
                  <a:schemeClr val="tx1"/>
                </a:solidFill>
              </a:rPr>
              <a:t>[6, 5]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328908" y="2145051"/>
            <a:ext cx="1065545" cy="101566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Write paths of length </a:t>
            </a:r>
            <a:r>
              <a:rPr lang="en-US" b="0" i="1" dirty="0">
                <a:solidFill>
                  <a:schemeClr val="tx1"/>
                </a:solidFill>
                <a:latin typeface="+mn-lt"/>
              </a:rPr>
              <a:t>1</a:t>
            </a:r>
          </a:p>
        </p:txBody>
      </p:sp>
      <p:sp>
        <p:nvSpPr>
          <p:cNvPr id="48" name="Text Box 1064"/>
          <p:cNvSpPr txBox="1">
            <a:spLocks noChangeArrowheads="1"/>
          </p:cNvSpPr>
          <p:nvPr/>
        </p:nvSpPr>
        <p:spPr bwMode="auto">
          <a:xfrm>
            <a:off x="6654801" y="1139825"/>
            <a:ext cx="1230313" cy="3785652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u="sng" dirty="0">
                <a:solidFill>
                  <a:schemeClr val="tx1"/>
                </a:solidFill>
              </a:rPr>
              <a:t>Len 2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0" name="Text Box 1064"/>
          <p:cNvSpPr txBox="1">
            <a:spLocks noChangeArrowheads="1"/>
          </p:cNvSpPr>
          <p:nvPr/>
        </p:nvSpPr>
        <p:spPr bwMode="auto">
          <a:xfrm>
            <a:off x="6654799" y="1502311"/>
            <a:ext cx="1230313" cy="378565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[1, 2, 3]</a:t>
            </a:r>
          </a:p>
          <a:p>
            <a:r>
              <a:rPr lang="en-US" dirty="0">
                <a:solidFill>
                  <a:schemeClr val="tx1"/>
                </a:solidFill>
              </a:rPr>
              <a:t>[1, 3, 4]</a:t>
            </a:r>
          </a:p>
          <a:p>
            <a:r>
              <a:rPr lang="en-US" dirty="0">
                <a:solidFill>
                  <a:schemeClr val="tx1"/>
                </a:solidFill>
              </a:rPr>
              <a:t>[1, 3, 5]</a:t>
            </a:r>
          </a:p>
          <a:p>
            <a:r>
              <a:rPr lang="en-US" dirty="0">
                <a:solidFill>
                  <a:schemeClr val="tx1"/>
                </a:solidFill>
              </a:rPr>
              <a:t>[2, 3, 4]</a:t>
            </a:r>
          </a:p>
          <a:p>
            <a:r>
              <a:rPr lang="en-US" dirty="0">
                <a:solidFill>
                  <a:schemeClr val="tx1"/>
                </a:solidFill>
              </a:rPr>
              <a:t>[2, 3, 5]</a:t>
            </a:r>
          </a:p>
          <a:p>
            <a:r>
              <a:rPr lang="en-US" dirty="0">
                <a:solidFill>
                  <a:schemeClr val="tx1"/>
                </a:solidFill>
              </a:rPr>
              <a:t>[3, 4, 7] !</a:t>
            </a:r>
          </a:p>
          <a:p>
            <a:r>
              <a:rPr lang="en-US" dirty="0">
                <a:solidFill>
                  <a:schemeClr val="tx1"/>
                </a:solidFill>
              </a:rPr>
              <a:t>[3, 5, 7] !</a:t>
            </a:r>
          </a:p>
          <a:p>
            <a:r>
              <a:rPr lang="en-US" dirty="0">
                <a:solidFill>
                  <a:schemeClr val="tx1"/>
                </a:solidFill>
              </a:rPr>
              <a:t>[3, 5, 6] !</a:t>
            </a:r>
          </a:p>
          <a:p>
            <a:r>
              <a:rPr lang="en-US" dirty="0">
                <a:solidFill>
                  <a:schemeClr val="tx1"/>
                </a:solidFill>
              </a:rPr>
              <a:t>[5, 6, 5] *</a:t>
            </a:r>
          </a:p>
          <a:p>
            <a:r>
              <a:rPr lang="en-US" dirty="0">
                <a:solidFill>
                  <a:schemeClr val="tx1"/>
                </a:solidFill>
              </a:rPr>
              <a:t>[6, 5, 7] !</a:t>
            </a:r>
          </a:p>
          <a:p>
            <a:r>
              <a:rPr lang="en-US" dirty="0">
                <a:solidFill>
                  <a:schemeClr val="tx1"/>
                </a:solidFill>
              </a:rPr>
              <a:t>[6, 5, 6] *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37184" y="2297451"/>
            <a:ext cx="1065545" cy="101566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Write paths of length 2</a:t>
            </a:r>
          </a:p>
        </p:txBody>
      </p:sp>
      <p:sp>
        <p:nvSpPr>
          <p:cNvPr id="51" name="AutoShape 1065"/>
          <p:cNvSpPr>
            <a:spLocks/>
          </p:cNvSpPr>
          <p:nvPr/>
        </p:nvSpPr>
        <p:spPr bwMode="auto">
          <a:xfrm>
            <a:off x="8670925" y="1530351"/>
            <a:ext cx="1778000" cy="671513"/>
          </a:xfrm>
          <a:prstGeom prst="borderCallout2">
            <a:avLst>
              <a:gd name="adj1" fmla="val 17023"/>
              <a:gd name="adj2" fmla="val -4287"/>
              <a:gd name="adj3" fmla="val 17023"/>
              <a:gd name="adj4" fmla="val -22319"/>
              <a:gd name="adj5" fmla="val 365250"/>
              <a:gd name="adj6" fmla="val -50444"/>
            </a:avLst>
          </a:prstGeom>
          <a:solidFill>
            <a:schemeClr val="tx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/>
            <a:r>
              <a:rPr lang="en-US">
                <a:solidFill>
                  <a:srgbClr val="000000"/>
                </a:solidFill>
              </a:rPr>
              <a:t>‘*’ means path cycles</a:t>
            </a:r>
          </a:p>
        </p:txBody>
      </p:sp>
      <p:sp>
        <p:nvSpPr>
          <p:cNvPr id="52" name="Text Box 1066"/>
          <p:cNvSpPr txBox="1">
            <a:spLocks noChangeArrowheads="1"/>
          </p:cNvSpPr>
          <p:nvPr/>
        </p:nvSpPr>
        <p:spPr bwMode="auto">
          <a:xfrm>
            <a:off x="8196264" y="1139825"/>
            <a:ext cx="1443037" cy="2862322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u="sng" dirty="0">
                <a:solidFill>
                  <a:schemeClr val="tx1"/>
                </a:solidFill>
              </a:rPr>
              <a:t>Len 3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4" name="Text Box 1066"/>
          <p:cNvSpPr txBox="1">
            <a:spLocks noChangeArrowheads="1"/>
          </p:cNvSpPr>
          <p:nvPr/>
        </p:nvSpPr>
        <p:spPr bwMode="auto">
          <a:xfrm>
            <a:off x="8196264" y="1464739"/>
            <a:ext cx="1443037" cy="28623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[1, 2, 3, 4]</a:t>
            </a:r>
          </a:p>
          <a:p>
            <a:r>
              <a:rPr lang="en-US" dirty="0">
                <a:solidFill>
                  <a:schemeClr val="tx1"/>
                </a:solidFill>
              </a:rPr>
              <a:t>[1, 2, 3, 5]</a:t>
            </a:r>
          </a:p>
          <a:p>
            <a:r>
              <a:rPr lang="en-US" dirty="0">
                <a:solidFill>
                  <a:schemeClr val="tx1"/>
                </a:solidFill>
              </a:rPr>
              <a:t>[1, 3, 4, 7] !</a:t>
            </a:r>
          </a:p>
          <a:p>
            <a:r>
              <a:rPr lang="en-US" dirty="0">
                <a:solidFill>
                  <a:schemeClr val="tx1"/>
                </a:solidFill>
              </a:rPr>
              <a:t>[1, 3, 5, 7] !</a:t>
            </a:r>
          </a:p>
          <a:p>
            <a:r>
              <a:rPr lang="en-US" dirty="0">
                <a:solidFill>
                  <a:schemeClr val="tx1"/>
                </a:solidFill>
              </a:rPr>
              <a:t>[1, 3, 5, 6] !</a:t>
            </a:r>
          </a:p>
          <a:p>
            <a:r>
              <a:rPr lang="en-US" dirty="0">
                <a:solidFill>
                  <a:schemeClr val="tx1"/>
                </a:solidFill>
              </a:rPr>
              <a:t>[2, 3, 4, 7] !</a:t>
            </a:r>
          </a:p>
          <a:p>
            <a:r>
              <a:rPr lang="en-US" dirty="0">
                <a:solidFill>
                  <a:schemeClr val="tx1"/>
                </a:solidFill>
              </a:rPr>
              <a:t>[2, 3, 5, 6] !</a:t>
            </a:r>
          </a:p>
          <a:p>
            <a:r>
              <a:rPr lang="en-US" dirty="0">
                <a:solidFill>
                  <a:schemeClr val="tx1"/>
                </a:solidFill>
              </a:rPr>
              <a:t>[2, 3, 5, 7] !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320451" y="1990894"/>
            <a:ext cx="1065545" cy="101566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Write paths of length 3</a:t>
            </a:r>
          </a:p>
        </p:txBody>
      </p:sp>
      <p:sp>
        <p:nvSpPr>
          <p:cNvPr id="55" name="Text Box 1067"/>
          <p:cNvSpPr txBox="1">
            <a:spLocks noChangeArrowheads="1"/>
          </p:cNvSpPr>
          <p:nvPr/>
        </p:nvSpPr>
        <p:spPr bwMode="auto">
          <a:xfrm>
            <a:off x="4264025" y="4999039"/>
            <a:ext cx="1981200" cy="1323439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u="sng" dirty="0">
                <a:solidFill>
                  <a:schemeClr val="tx1"/>
                </a:solidFill>
              </a:rPr>
              <a:t>Len 4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7" name="Text Box 1067"/>
          <p:cNvSpPr txBox="1">
            <a:spLocks noChangeArrowheads="1"/>
          </p:cNvSpPr>
          <p:nvPr/>
        </p:nvSpPr>
        <p:spPr bwMode="auto">
          <a:xfrm>
            <a:off x="4264024" y="5287964"/>
            <a:ext cx="1981200" cy="132343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[1, 2, 3, 4, 7] !</a:t>
            </a:r>
          </a:p>
          <a:p>
            <a:r>
              <a:rPr lang="en-US" dirty="0">
                <a:solidFill>
                  <a:schemeClr val="tx1"/>
                </a:solidFill>
              </a:rPr>
              <a:t>[1, 2, 3, 5, 7] !</a:t>
            </a:r>
          </a:p>
          <a:p>
            <a:r>
              <a:rPr lang="en-US" dirty="0">
                <a:solidFill>
                  <a:schemeClr val="tx1"/>
                </a:solidFill>
              </a:rPr>
              <a:t>[1, 2, 3, 5, 6] !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544583" y="5392371"/>
            <a:ext cx="1065545" cy="101566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Write paths of length 4</a:t>
            </a:r>
          </a:p>
        </p:txBody>
      </p:sp>
      <p:sp>
        <p:nvSpPr>
          <p:cNvPr id="58" name="Text Box 1072"/>
          <p:cNvSpPr txBox="1">
            <a:spLocks noChangeArrowheads="1"/>
          </p:cNvSpPr>
          <p:nvPr/>
        </p:nvSpPr>
        <p:spPr bwMode="auto">
          <a:xfrm>
            <a:off x="7283450" y="5622926"/>
            <a:ext cx="2590800" cy="415925"/>
          </a:xfrm>
          <a:prstGeom prst="rect">
            <a:avLst/>
          </a:prstGeom>
          <a:solidFill>
            <a:srgbClr val="0033CC"/>
          </a:soli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/>
            <a:r>
              <a:rPr lang="en-US" i="1" dirty="0"/>
              <a:t>Prime Paths ?</a:t>
            </a:r>
          </a:p>
        </p:txBody>
      </p:sp>
      <p:grpSp>
        <p:nvGrpSpPr>
          <p:cNvPr id="65" name="Group 64"/>
          <p:cNvGrpSpPr/>
          <p:nvPr/>
        </p:nvGrpSpPr>
        <p:grpSpPr>
          <a:xfrm>
            <a:off x="3984625" y="5338764"/>
            <a:ext cx="3289300" cy="985837"/>
            <a:chOff x="2460625" y="5338763"/>
            <a:chExt cx="3289300" cy="985837"/>
          </a:xfrm>
        </p:grpSpPr>
        <p:sp>
          <p:nvSpPr>
            <p:cNvPr id="59" name="Oval 1069"/>
            <p:cNvSpPr>
              <a:spLocks noChangeArrowheads="1"/>
            </p:cNvSpPr>
            <p:nvPr/>
          </p:nvSpPr>
          <p:spPr bwMode="auto">
            <a:xfrm>
              <a:off x="2460625" y="5338763"/>
              <a:ext cx="2206625" cy="985837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60" name="Line 1075"/>
            <p:cNvSpPr>
              <a:spLocks noChangeShapeType="1"/>
            </p:cNvSpPr>
            <p:nvPr/>
          </p:nvSpPr>
          <p:spPr bwMode="auto">
            <a:xfrm>
              <a:off x="4664075" y="5832475"/>
              <a:ext cx="108585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8005764" y="2106613"/>
            <a:ext cx="1687513" cy="3502024"/>
            <a:chOff x="6481763" y="2106613"/>
            <a:chExt cx="1687513" cy="3502024"/>
          </a:xfrm>
        </p:grpSpPr>
        <p:sp>
          <p:nvSpPr>
            <p:cNvPr id="61" name="Oval 1070"/>
            <p:cNvSpPr>
              <a:spLocks noChangeArrowheads="1"/>
            </p:cNvSpPr>
            <p:nvPr/>
          </p:nvSpPr>
          <p:spPr bwMode="auto">
            <a:xfrm>
              <a:off x="6481763" y="2106613"/>
              <a:ext cx="1687513" cy="985837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62" name="Line 1073"/>
            <p:cNvSpPr>
              <a:spLocks noChangeShapeType="1"/>
            </p:cNvSpPr>
            <p:nvPr/>
          </p:nvSpPr>
          <p:spPr bwMode="auto">
            <a:xfrm>
              <a:off x="7335838" y="3089275"/>
              <a:ext cx="0" cy="251936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6542088" y="3924301"/>
            <a:ext cx="2001838" cy="1684337"/>
            <a:chOff x="5018088" y="3924300"/>
            <a:chExt cx="2001838" cy="1684337"/>
          </a:xfrm>
        </p:grpSpPr>
        <p:sp>
          <p:nvSpPr>
            <p:cNvPr id="63" name="Oval 1071"/>
            <p:cNvSpPr>
              <a:spLocks noChangeArrowheads="1"/>
            </p:cNvSpPr>
            <p:nvPr/>
          </p:nvSpPr>
          <p:spPr bwMode="auto">
            <a:xfrm>
              <a:off x="5018088" y="3924300"/>
              <a:ext cx="1312863" cy="985837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64" name="Line 1074"/>
            <p:cNvSpPr>
              <a:spLocks noChangeShapeType="1"/>
            </p:cNvSpPr>
            <p:nvPr/>
          </p:nvSpPr>
          <p:spPr bwMode="auto">
            <a:xfrm>
              <a:off x="6126163" y="4775200"/>
              <a:ext cx="893763" cy="833437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2852463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5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 autoUpdateAnimBg="0"/>
      <p:bldP spid="41" grpId="0" animBg="1" autoUpdateAnimBg="0"/>
      <p:bldP spid="42" grpId="0"/>
      <p:bldP spid="7" grpId="0" animBg="1"/>
      <p:bldP spid="7" grpId="1" animBg="1"/>
      <p:bldP spid="44" grpId="0" animBg="1" autoUpdateAnimBg="0"/>
      <p:bldP spid="45" grpId="0" animBg="1" autoUpdateAnimBg="0"/>
      <p:bldP spid="46" grpId="0"/>
      <p:bldP spid="47" grpId="0" animBg="1"/>
      <p:bldP spid="47" grpId="1" animBg="1"/>
      <p:bldP spid="48" grpId="0" animBg="1" autoUpdateAnimBg="0"/>
      <p:bldP spid="50" grpId="0"/>
      <p:bldP spid="49" grpId="0" animBg="1"/>
      <p:bldP spid="49" grpId="1" animBg="1"/>
      <p:bldP spid="51" grpId="0" animBg="1" autoUpdateAnimBg="0"/>
      <p:bldP spid="52" grpId="0" animBg="1" autoUpdateAnimBg="0"/>
      <p:bldP spid="54" grpId="0"/>
      <p:bldP spid="53" grpId="0" animBg="1"/>
      <p:bldP spid="53" grpId="1" animBg="1"/>
      <p:bldP spid="55" grpId="0" animBg="1" autoUpdateAnimBg="0"/>
      <p:bldP spid="57" grpId="0"/>
      <p:bldP spid="56" grpId="0" animBg="1"/>
      <p:bldP spid="56" grpId="1" animBg="1"/>
      <p:bldP spid="5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2253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2253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678BAE8-DF39-4130-9BCF-637E4193C829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Prime Path Example</a:t>
            </a:r>
          </a:p>
        </p:txBody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2114" y="990601"/>
            <a:ext cx="8867775" cy="5178425"/>
          </a:xfrm>
        </p:spPr>
        <p:txBody>
          <a:bodyPr/>
          <a:lstStyle/>
          <a:p>
            <a:r>
              <a:rPr lang="en-US"/>
              <a:t>The previous example has 38 </a:t>
            </a:r>
            <a:r>
              <a:rPr lang="en-US">
                <a:solidFill>
                  <a:schemeClr val="tx2"/>
                </a:solidFill>
              </a:rPr>
              <a:t>simple</a:t>
            </a:r>
            <a:r>
              <a:rPr lang="en-US"/>
              <a:t> paths</a:t>
            </a:r>
            <a:endParaRPr lang="en-US" i="1"/>
          </a:p>
          <a:p>
            <a:r>
              <a:rPr lang="en-US"/>
              <a:t>Only </a:t>
            </a:r>
            <a:r>
              <a:rPr lang="en-US">
                <a:solidFill>
                  <a:schemeClr val="tx2"/>
                </a:solidFill>
              </a:rPr>
              <a:t>nine</a:t>
            </a:r>
            <a:r>
              <a:rPr lang="en-US"/>
              <a:t> </a:t>
            </a:r>
            <a:r>
              <a:rPr lang="en-US" i="1"/>
              <a:t>prime paths</a:t>
            </a:r>
          </a:p>
        </p:txBody>
      </p:sp>
      <p:sp>
        <p:nvSpPr>
          <p:cNvPr id="167968" name="Text Box 32"/>
          <p:cNvSpPr txBox="1">
            <a:spLocks noChangeArrowheads="1"/>
          </p:cNvSpPr>
          <p:nvPr/>
        </p:nvSpPr>
        <p:spPr bwMode="auto">
          <a:xfrm>
            <a:off x="4830764" y="2855914"/>
            <a:ext cx="3303587" cy="3170099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/>
            <a:r>
              <a:rPr lang="en-US" u="sng" dirty="0">
                <a:solidFill>
                  <a:schemeClr val="tx1"/>
                </a:solidFill>
              </a:rPr>
              <a:t>Prime Paths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7969" name="AutoShape 33"/>
          <p:cNvSpPr>
            <a:spLocks/>
          </p:cNvSpPr>
          <p:nvPr/>
        </p:nvSpPr>
        <p:spPr bwMode="auto">
          <a:xfrm>
            <a:off x="8662988" y="4427538"/>
            <a:ext cx="1554162" cy="690562"/>
          </a:xfrm>
          <a:prstGeom prst="borderCallout2">
            <a:avLst>
              <a:gd name="adj1" fmla="val 16551"/>
              <a:gd name="adj2" fmla="val -4903"/>
              <a:gd name="adj3" fmla="val 16551"/>
              <a:gd name="adj4" fmla="val -35343"/>
              <a:gd name="adj5" fmla="val 66822"/>
              <a:gd name="adj6" fmla="val -100842"/>
            </a:avLst>
          </a:prstGeom>
          <a:solidFill>
            <a:srgbClr val="0066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/>
            <a:r>
              <a:rPr lang="en-US">
                <a:solidFill>
                  <a:schemeClr val="tx1"/>
                </a:solidFill>
              </a:rPr>
              <a:t>Execute loop once</a:t>
            </a:r>
          </a:p>
        </p:txBody>
      </p:sp>
      <p:sp>
        <p:nvSpPr>
          <p:cNvPr id="167970" name="AutoShape 34"/>
          <p:cNvSpPr>
            <a:spLocks/>
          </p:cNvSpPr>
          <p:nvPr/>
        </p:nvSpPr>
        <p:spPr bwMode="auto">
          <a:xfrm>
            <a:off x="8394701" y="5268913"/>
            <a:ext cx="1971675" cy="722312"/>
          </a:xfrm>
          <a:prstGeom prst="borderCallout2">
            <a:avLst>
              <a:gd name="adj1" fmla="val 15824"/>
              <a:gd name="adj2" fmla="val -3866"/>
              <a:gd name="adj3" fmla="val 15824"/>
              <a:gd name="adj4" fmla="val -32769"/>
              <a:gd name="adj5" fmla="val 27905"/>
              <a:gd name="adj6" fmla="val -72413"/>
            </a:avLst>
          </a:prstGeom>
          <a:solidFill>
            <a:srgbClr val="0066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/>
            <a:r>
              <a:rPr lang="en-US">
                <a:solidFill>
                  <a:schemeClr val="tx1"/>
                </a:solidFill>
              </a:rPr>
              <a:t>Execute loop more than once</a:t>
            </a:r>
          </a:p>
        </p:txBody>
      </p:sp>
      <p:grpSp>
        <p:nvGrpSpPr>
          <p:cNvPr id="2" name="Group 43"/>
          <p:cNvGrpSpPr>
            <a:grpSpLocks/>
          </p:cNvGrpSpPr>
          <p:nvPr/>
        </p:nvGrpSpPr>
        <p:grpSpPr bwMode="auto">
          <a:xfrm>
            <a:off x="1979613" y="2395539"/>
            <a:ext cx="2120900" cy="3635375"/>
            <a:chOff x="287" y="1509"/>
            <a:chExt cx="1336" cy="2290"/>
          </a:xfrm>
        </p:grpSpPr>
        <p:grpSp>
          <p:nvGrpSpPr>
            <p:cNvPr id="22540" name="Group 39"/>
            <p:cNvGrpSpPr>
              <a:grpSpLocks/>
            </p:cNvGrpSpPr>
            <p:nvPr/>
          </p:nvGrpSpPr>
          <p:grpSpPr bwMode="auto">
            <a:xfrm>
              <a:off x="1273" y="3335"/>
              <a:ext cx="350" cy="296"/>
              <a:chOff x="684" y="3374"/>
              <a:chExt cx="350" cy="296"/>
            </a:xfrm>
          </p:grpSpPr>
          <p:sp>
            <p:nvSpPr>
              <p:cNvPr id="22569" name="Oval 6"/>
              <p:cNvSpPr>
                <a:spLocks noChangeArrowheads="1"/>
              </p:cNvSpPr>
              <p:nvPr/>
            </p:nvSpPr>
            <p:spPr bwMode="auto">
              <a:xfrm>
                <a:off x="684" y="337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70" name="Text Box 7"/>
              <p:cNvSpPr txBox="1">
                <a:spLocks noChangeArrowheads="1"/>
              </p:cNvSpPr>
              <p:nvPr/>
            </p:nvSpPr>
            <p:spPr bwMode="auto">
              <a:xfrm>
                <a:off x="761" y="339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</p:grpSp>
        <p:grpSp>
          <p:nvGrpSpPr>
            <p:cNvPr id="22541" name="Group 8"/>
            <p:cNvGrpSpPr>
              <a:grpSpLocks/>
            </p:cNvGrpSpPr>
            <p:nvPr/>
          </p:nvGrpSpPr>
          <p:grpSpPr bwMode="auto">
            <a:xfrm>
              <a:off x="684" y="1617"/>
              <a:ext cx="350" cy="296"/>
              <a:chOff x="4288" y="1746"/>
              <a:chExt cx="350" cy="296"/>
            </a:xfrm>
          </p:grpSpPr>
          <p:sp>
            <p:nvSpPr>
              <p:cNvPr id="22567" name="Oval 9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68" name="Text Box 10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grpSp>
          <p:nvGrpSpPr>
            <p:cNvPr id="22542" name="Group 11"/>
            <p:cNvGrpSpPr>
              <a:grpSpLocks/>
            </p:cNvGrpSpPr>
            <p:nvPr/>
          </p:nvGrpSpPr>
          <p:grpSpPr bwMode="auto">
            <a:xfrm>
              <a:off x="684" y="2482"/>
              <a:ext cx="350" cy="296"/>
              <a:chOff x="4738" y="2684"/>
              <a:chExt cx="350" cy="296"/>
            </a:xfrm>
          </p:grpSpPr>
          <p:sp>
            <p:nvSpPr>
              <p:cNvPr id="22565" name="Oval 12"/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66" name="Text Box 13"/>
              <p:cNvSpPr txBox="1">
                <a:spLocks noChangeArrowheads="1"/>
              </p:cNvSpPr>
              <p:nvPr/>
            </p:nvSpPr>
            <p:spPr bwMode="auto">
              <a:xfrm>
                <a:off x="4815" y="270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</p:grpSp>
        <p:grpSp>
          <p:nvGrpSpPr>
            <p:cNvPr id="22543" name="Group 14"/>
            <p:cNvGrpSpPr>
              <a:grpSpLocks/>
            </p:cNvGrpSpPr>
            <p:nvPr/>
          </p:nvGrpSpPr>
          <p:grpSpPr bwMode="auto">
            <a:xfrm>
              <a:off x="287" y="2034"/>
              <a:ext cx="350" cy="296"/>
              <a:chOff x="3838" y="2684"/>
              <a:chExt cx="350" cy="296"/>
            </a:xfrm>
          </p:grpSpPr>
          <p:sp>
            <p:nvSpPr>
              <p:cNvPr id="22563" name="Oval 15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64" name="Text Box 16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</p:grpSp>
        <p:sp>
          <p:nvSpPr>
            <p:cNvPr id="22544" name="Line 17"/>
            <p:cNvSpPr>
              <a:spLocks noChangeShapeType="1"/>
            </p:cNvSpPr>
            <p:nvPr/>
          </p:nvSpPr>
          <p:spPr bwMode="auto">
            <a:xfrm flipH="1">
              <a:off x="572" y="2765"/>
              <a:ext cx="212" cy="1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5" name="Line 18"/>
            <p:cNvSpPr>
              <a:spLocks noChangeShapeType="1"/>
            </p:cNvSpPr>
            <p:nvPr/>
          </p:nvSpPr>
          <p:spPr bwMode="auto">
            <a:xfrm flipH="1">
              <a:off x="859" y="1509"/>
              <a:ext cx="1" cy="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2546" name="Group 19"/>
            <p:cNvGrpSpPr>
              <a:grpSpLocks/>
            </p:cNvGrpSpPr>
            <p:nvPr/>
          </p:nvGrpSpPr>
          <p:grpSpPr bwMode="auto">
            <a:xfrm>
              <a:off x="287" y="2930"/>
              <a:ext cx="350" cy="296"/>
              <a:chOff x="4288" y="1746"/>
              <a:chExt cx="350" cy="296"/>
            </a:xfrm>
          </p:grpSpPr>
          <p:sp>
            <p:nvSpPr>
              <p:cNvPr id="22561" name="Oval 20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62" name="Text Box 21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</p:grpSp>
        <p:grpSp>
          <p:nvGrpSpPr>
            <p:cNvPr id="22547" name="Group 22"/>
            <p:cNvGrpSpPr>
              <a:grpSpLocks/>
            </p:cNvGrpSpPr>
            <p:nvPr/>
          </p:nvGrpSpPr>
          <p:grpSpPr bwMode="auto">
            <a:xfrm>
              <a:off x="1053" y="2930"/>
              <a:ext cx="350" cy="296"/>
              <a:chOff x="3838" y="2684"/>
              <a:chExt cx="350" cy="296"/>
            </a:xfrm>
          </p:grpSpPr>
          <p:sp>
            <p:nvSpPr>
              <p:cNvPr id="22559" name="Oval 23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60" name="Text Box 24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</p:grpSp>
        <p:sp>
          <p:nvSpPr>
            <p:cNvPr id="22548" name="Line 25"/>
            <p:cNvSpPr>
              <a:spLocks noChangeShapeType="1"/>
            </p:cNvSpPr>
            <p:nvPr/>
          </p:nvSpPr>
          <p:spPr bwMode="auto">
            <a:xfrm>
              <a:off x="939" y="2767"/>
              <a:ext cx="18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9" name="Line 26"/>
            <p:cNvSpPr>
              <a:spLocks noChangeShapeType="1"/>
            </p:cNvSpPr>
            <p:nvPr/>
          </p:nvSpPr>
          <p:spPr bwMode="auto">
            <a:xfrm flipH="1">
              <a:off x="932" y="3207"/>
              <a:ext cx="195" cy="3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0" name="Line 27"/>
            <p:cNvSpPr>
              <a:spLocks noChangeShapeType="1"/>
            </p:cNvSpPr>
            <p:nvPr/>
          </p:nvSpPr>
          <p:spPr bwMode="auto">
            <a:xfrm>
              <a:off x="572" y="2308"/>
              <a:ext cx="194" cy="17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1" name="Line 28"/>
            <p:cNvSpPr>
              <a:spLocks noChangeShapeType="1"/>
            </p:cNvSpPr>
            <p:nvPr/>
          </p:nvSpPr>
          <p:spPr bwMode="auto">
            <a:xfrm flipH="1">
              <a:off x="603" y="1893"/>
              <a:ext cx="166" cy="1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2" name="Line 29"/>
            <p:cNvSpPr>
              <a:spLocks noChangeShapeType="1"/>
            </p:cNvSpPr>
            <p:nvPr/>
          </p:nvSpPr>
          <p:spPr bwMode="auto">
            <a:xfrm>
              <a:off x="578" y="3204"/>
              <a:ext cx="195" cy="30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3" name="Line 30"/>
            <p:cNvSpPr>
              <a:spLocks noChangeShapeType="1"/>
            </p:cNvSpPr>
            <p:nvPr/>
          </p:nvSpPr>
          <p:spPr bwMode="auto">
            <a:xfrm flipH="1">
              <a:off x="857" y="1918"/>
              <a:ext cx="3" cy="54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4" name="Line 31"/>
            <p:cNvSpPr>
              <a:spLocks noChangeShapeType="1"/>
            </p:cNvSpPr>
            <p:nvPr/>
          </p:nvSpPr>
          <p:spPr bwMode="auto">
            <a:xfrm>
              <a:off x="1234" y="3229"/>
              <a:ext cx="101" cy="14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2555" name="Group 35"/>
            <p:cNvGrpSpPr>
              <a:grpSpLocks/>
            </p:cNvGrpSpPr>
            <p:nvPr/>
          </p:nvGrpSpPr>
          <p:grpSpPr bwMode="auto">
            <a:xfrm>
              <a:off x="682" y="3503"/>
              <a:ext cx="350" cy="296"/>
              <a:chOff x="4288" y="3622"/>
              <a:chExt cx="350" cy="296"/>
            </a:xfrm>
          </p:grpSpPr>
          <p:sp>
            <p:nvSpPr>
              <p:cNvPr id="22557" name="Oval 36"/>
              <p:cNvSpPr>
                <a:spLocks noChangeArrowheads="1"/>
              </p:cNvSpPr>
              <p:nvPr/>
            </p:nvSpPr>
            <p:spPr bwMode="auto">
              <a:xfrm>
                <a:off x="4288" y="3622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58" name="Text Box 37"/>
              <p:cNvSpPr txBox="1">
                <a:spLocks noChangeArrowheads="1"/>
              </p:cNvSpPr>
              <p:nvPr/>
            </p:nvSpPr>
            <p:spPr bwMode="auto">
              <a:xfrm>
                <a:off x="4365" y="3645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</p:grpSp>
        <p:sp>
          <p:nvSpPr>
            <p:cNvPr id="22556" name="Line 38"/>
            <p:cNvSpPr>
              <a:spLocks noChangeShapeType="1"/>
            </p:cNvSpPr>
            <p:nvPr/>
          </p:nvSpPr>
          <p:spPr bwMode="auto">
            <a:xfrm flipH="1" flipV="1">
              <a:off x="1367" y="3176"/>
              <a:ext cx="101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7978" name="AutoShape 42"/>
          <p:cNvSpPr>
            <a:spLocks/>
          </p:cNvSpPr>
          <p:nvPr/>
        </p:nvSpPr>
        <p:spPr bwMode="auto">
          <a:xfrm>
            <a:off x="8572501" y="3582988"/>
            <a:ext cx="1554163" cy="690562"/>
          </a:xfrm>
          <a:prstGeom prst="borderCallout2">
            <a:avLst>
              <a:gd name="adj1" fmla="val 16551"/>
              <a:gd name="adj2" fmla="val -4903"/>
              <a:gd name="adj3" fmla="val 16551"/>
              <a:gd name="adj4" fmla="val -31972"/>
              <a:gd name="adj5" fmla="val 141994"/>
              <a:gd name="adj6" fmla="val -95199"/>
            </a:avLst>
          </a:prstGeom>
          <a:solidFill>
            <a:srgbClr val="0066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/>
            <a:r>
              <a:rPr lang="en-US">
                <a:solidFill>
                  <a:schemeClr val="tx1"/>
                </a:solidFill>
              </a:rPr>
              <a:t>Execute loop 0 times</a:t>
            </a:r>
          </a:p>
        </p:txBody>
      </p:sp>
      <p:sp>
        <p:nvSpPr>
          <p:cNvPr id="44" name="Text Box 32"/>
          <p:cNvSpPr txBox="1">
            <a:spLocks noChangeArrowheads="1"/>
          </p:cNvSpPr>
          <p:nvPr/>
        </p:nvSpPr>
        <p:spPr bwMode="auto">
          <a:xfrm>
            <a:off x="4830764" y="3157550"/>
            <a:ext cx="3303587" cy="317009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[1, 2, 3, 4, 7]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[1, 2, 3, 5, 7]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[1, 2, 3, 5, 6]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[1, 3, 4, 7]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[1, 3, 5, 7]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[1, 3, 5, 6]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[6, 5, 7]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[6, 5, 6]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[5, 6, 5]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663538" y="3497927"/>
            <a:ext cx="1638037" cy="101566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Write down all 9 prime paths</a:t>
            </a:r>
          </a:p>
        </p:txBody>
      </p:sp>
    </p:spTree>
    <p:extLst>
      <p:ext uri="{BB962C8B-B14F-4D97-AF65-F5344CB8AC3E}">
        <p14:creationId xmlns:p14="http://schemas.microsoft.com/office/powerpoint/2010/main" val="401183973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7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7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7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67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68" grpId="0" animBg="1" autoUpdateAnimBg="0"/>
      <p:bldP spid="167969" grpId="0" animBg="1" autoUpdateAnimBg="0"/>
      <p:bldP spid="167970" grpId="0" animBg="1" autoUpdateAnimBg="0"/>
      <p:bldP spid="167978" grpId="0" animBg="1" autoUpdateAnimBg="0"/>
      <p:bldP spid="44" grpId="0"/>
      <p:bldP spid="43" grpId="0" animBg="1"/>
      <p:bldP spid="43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E3E78A9-DB5B-4B24-9CC0-2F52591DF376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Touring, </a:t>
            </a:r>
            <a:r>
              <a:rPr lang="en-US" dirty="0" err="1"/>
              <a:t>Sidetrips</a:t>
            </a:r>
            <a:r>
              <a:rPr lang="en-US" dirty="0"/>
              <a:t>, and Detours</a:t>
            </a:r>
          </a:p>
        </p:txBody>
      </p:sp>
      <p:sp>
        <p:nvSpPr>
          <p:cNvPr id="235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2114" y="1085850"/>
            <a:ext cx="8867775" cy="482600"/>
          </a:xfrm>
        </p:spPr>
        <p:txBody>
          <a:bodyPr/>
          <a:lstStyle/>
          <a:p>
            <a:r>
              <a:rPr lang="en-US" dirty="0"/>
              <a:t>Prime paths do not have </a:t>
            </a:r>
            <a:r>
              <a:rPr lang="en-US" dirty="0">
                <a:solidFill>
                  <a:schemeClr val="tx2"/>
                </a:solidFill>
              </a:rPr>
              <a:t>internal loops</a:t>
            </a:r>
            <a:r>
              <a:rPr lang="en-US" dirty="0"/>
              <a:t> … test paths </a:t>
            </a:r>
            <a:r>
              <a:rPr lang="en-US" u="sng" dirty="0"/>
              <a:t>might</a:t>
            </a:r>
            <a:endParaRPr lang="en-US" dirty="0"/>
          </a:p>
        </p:txBody>
      </p:sp>
      <p:sp>
        <p:nvSpPr>
          <p:cNvPr id="23559" name="Rectangle 4"/>
          <p:cNvSpPr>
            <a:spLocks noChangeArrowheads="1"/>
          </p:cNvSpPr>
          <p:nvPr/>
        </p:nvSpPr>
        <p:spPr bwMode="auto">
          <a:xfrm>
            <a:off x="1662114" y="2016707"/>
            <a:ext cx="8867775" cy="4030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Tour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: </a:t>
            </a:r>
            <a:r>
              <a:rPr lang="en-US" sz="2800" b="0" i="1" dirty="0">
                <a:solidFill>
                  <a:schemeClr val="tx1"/>
                </a:solidFill>
                <a:latin typeface="Gill Sans MT" pitchFamily="34" charset="0"/>
              </a:rPr>
              <a:t>A test path p tours </a:t>
            </a:r>
            <a:r>
              <a:rPr lang="en-US" sz="2800" b="0" i="1" dirty="0" err="1">
                <a:solidFill>
                  <a:schemeClr val="tx1"/>
                </a:solidFill>
                <a:latin typeface="Gill Sans MT" pitchFamily="34" charset="0"/>
              </a:rPr>
              <a:t>subpath</a:t>
            </a:r>
            <a:r>
              <a:rPr lang="en-US" sz="2800" b="0" i="1" dirty="0">
                <a:solidFill>
                  <a:schemeClr val="tx1"/>
                </a:solidFill>
                <a:latin typeface="Gill Sans MT" pitchFamily="34" charset="0"/>
              </a:rPr>
              <a:t> q if q is a </a:t>
            </a:r>
            <a:r>
              <a:rPr lang="en-US" sz="2800" b="0" i="1" dirty="0" err="1">
                <a:solidFill>
                  <a:schemeClr val="tx1"/>
                </a:solidFill>
                <a:latin typeface="Gill Sans MT" pitchFamily="34" charset="0"/>
              </a:rPr>
              <a:t>subpath</a:t>
            </a:r>
            <a:r>
              <a:rPr lang="en-US" sz="2800" b="0" i="1" dirty="0">
                <a:solidFill>
                  <a:schemeClr val="tx1"/>
                </a:solidFill>
                <a:latin typeface="Gill Sans MT" pitchFamily="34" charset="0"/>
              </a:rPr>
              <a:t> of p</a:t>
            </a:r>
            <a:endParaRPr lang="en-US" sz="2800" b="0" dirty="0">
              <a:solidFill>
                <a:schemeClr val="tx1"/>
              </a:solidFill>
              <a:latin typeface="Gill Sans MT" pitchFamily="34" charset="0"/>
            </a:endParaRPr>
          </a:p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Tour With </a:t>
            </a:r>
            <a:r>
              <a:rPr lang="en-US" sz="2800" b="0" dirty="0" err="1">
                <a:solidFill>
                  <a:schemeClr val="tx2"/>
                </a:solidFill>
                <a:latin typeface="Gill Sans MT" pitchFamily="34" charset="0"/>
              </a:rPr>
              <a:t>Sidetrips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: </a:t>
            </a:r>
            <a:r>
              <a:rPr lang="en-US" sz="2800" b="0" i="1" dirty="0">
                <a:solidFill>
                  <a:schemeClr val="tx1"/>
                </a:solidFill>
                <a:latin typeface="Gill Sans MT" pitchFamily="34" charset="0"/>
              </a:rPr>
              <a:t>A test path p tours </a:t>
            </a:r>
            <a:r>
              <a:rPr lang="en-US" sz="2800" b="0" i="1" dirty="0" err="1">
                <a:solidFill>
                  <a:schemeClr val="tx1"/>
                </a:solidFill>
                <a:latin typeface="Gill Sans MT" pitchFamily="34" charset="0"/>
              </a:rPr>
              <a:t>subpath</a:t>
            </a:r>
            <a:r>
              <a:rPr lang="en-US" sz="2800" b="0" i="1" dirty="0">
                <a:solidFill>
                  <a:schemeClr val="tx1"/>
                </a:solidFill>
                <a:latin typeface="Gill Sans MT" pitchFamily="34" charset="0"/>
              </a:rPr>
              <a:t> q with </a:t>
            </a:r>
            <a:r>
              <a:rPr lang="en-US" sz="2800" b="0" i="1" dirty="0" err="1">
                <a:solidFill>
                  <a:schemeClr val="tx1"/>
                </a:solidFill>
                <a:latin typeface="Gill Sans MT" pitchFamily="34" charset="0"/>
              </a:rPr>
              <a:t>sidetrips</a:t>
            </a:r>
            <a:r>
              <a:rPr lang="en-US" sz="2800" b="0" i="1" dirty="0">
                <a:solidFill>
                  <a:schemeClr val="tx1"/>
                </a:solidFill>
                <a:latin typeface="Gill Sans MT" pitchFamily="34" charset="0"/>
              </a:rPr>
              <a:t> </a:t>
            </a:r>
            <a:r>
              <a:rPr lang="en-US" sz="2800" b="0" i="1" dirty="0" err="1">
                <a:solidFill>
                  <a:schemeClr val="tx1"/>
                </a:solidFill>
                <a:latin typeface="Gill Sans MT" pitchFamily="34" charset="0"/>
              </a:rPr>
              <a:t>iff</a:t>
            </a:r>
            <a:r>
              <a:rPr lang="en-US" sz="2800" b="0" i="1" dirty="0">
                <a:solidFill>
                  <a:schemeClr val="tx1"/>
                </a:solidFill>
                <a:latin typeface="Gill Sans MT" pitchFamily="34" charset="0"/>
              </a:rPr>
              <a:t> every edge in q is also in p in the same order</a:t>
            </a:r>
          </a:p>
          <a:p>
            <a:pPr marL="685800" lvl="1" indent="-22860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The tour can include a </a:t>
            </a:r>
            <a:r>
              <a:rPr lang="en-US" sz="2400" b="0" dirty="0" err="1">
                <a:solidFill>
                  <a:schemeClr val="tx1"/>
                </a:solidFill>
                <a:latin typeface="Gill Sans MT" pitchFamily="34" charset="0"/>
              </a:rPr>
              <a:t>sidetrip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, as long as it comes back to the same node</a:t>
            </a:r>
          </a:p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Tour With Detours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: </a:t>
            </a:r>
            <a:r>
              <a:rPr lang="en-US" sz="2800" b="0" i="1" dirty="0">
                <a:solidFill>
                  <a:schemeClr val="tx1"/>
                </a:solidFill>
                <a:latin typeface="Gill Sans MT" pitchFamily="34" charset="0"/>
              </a:rPr>
              <a:t>A test path p tours </a:t>
            </a:r>
            <a:r>
              <a:rPr lang="en-US" sz="2800" b="0" i="1" dirty="0" err="1">
                <a:solidFill>
                  <a:schemeClr val="tx1"/>
                </a:solidFill>
                <a:latin typeface="Gill Sans MT" pitchFamily="34" charset="0"/>
              </a:rPr>
              <a:t>subpath</a:t>
            </a:r>
            <a:r>
              <a:rPr lang="en-US" sz="2800" b="0" i="1" dirty="0">
                <a:solidFill>
                  <a:schemeClr val="tx1"/>
                </a:solidFill>
                <a:latin typeface="Gill Sans MT" pitchFamily="34" charset="0"/>
              </a:rPr>
              <a:t> q with detours </a:t>
            </a:r>
            <a:r>
              <a:rPr lang="en-US" sz="2800" b="0" i="1" dirty="0" err="1">
                <a:solidFill>
                  <a:schemeClr val="tx1"/>
                </a:solidFill>
                <a:latin typeface="Gill Sans MT" pitchFamily="34" charset="0"/>
              </a:rPr>
              <a:t>iff</a:t>
            </a:r>
            <a:r>
              <a:rPr lang="en-US" sz="2800" b="0" i="1" dirty="0">
                <a:solidFill>
                  <a:schemeClr val="tx1"/>
                </a:solidFill>
                <a:latin typeface="Gill Sans MT" pitchFamily="34" charset="0"/>
              </a:rPr>
              <a:t> every node in q is also in p in the same order</a:t>
            </a:r>
          </a:p>
          <a:p>
            <a:pPr marL="685800" lvl="1" indent="-22860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The tour can include a detour from node </a:t>
            </a:r>
            <a:r>
              <a:rPr lang="en-US" sz="2400" b="0" i="1" dirty="0" err="1">
                <a:solidFill>
                  <a:schemeClr val="tx1"/>
                </a:solidFill>
                <a:latin typeface="Gill Sans MT" pitchFamily="34" charset="0"/>
              </a:rPr>
              <a:t>ni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, as long as it comes back to the prime path at a successor of </a:t>
            </a:r>
            <a:r>
              <a:rPr lang="en-US" sz="2400" b="0" i="1" dirty="0" err="1">
                <a:solidFill>
                  <a:schemeClr val="tx1"/>
                </a:solidFill>
                <a:latin typeface="Gill Sans MT" pitchFamily="34" charset="0"/>
              </a:rPr>
              <a:t>ni</a:t>
            </a:r>
            <a:endParaRPr lang="en-US" sz="2400" b="0" i="1" dirty="0">
              <a:solidFill>
                <a:schemeClr val="tx1"/>
              </a:solidFill>
              <a:latin typeface="Gill Sans MT" pitchFamily="34" charset="0"/>
            </a:endParaRP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65CC19D-469D-457C-BFE6-48F8FEAE0FB5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Sidetrips and Detours Example</a:t>
            </a:r>
          </a:p>
        </p:txBody>
      </p:sp>
      <p:grpSp>
        <p:nvGrpSpPr>
          <p:cNvPr id="24582" name="Group 42"/>
          <p:cNvGrpSpPr>
            <a:grpSpLocks/>
          </p:cNvGrpSpPr>
          <p:nvPr/>
        </p:nvGrpSpPr>
        <p:grpSpPr bwMode="auto">
          <a:xfrm>
            <a:off x="3405189" y="1066801"/>
            <a:ext cx="5381625" cy="1381125"/>
            <a:chOff x="842" y="988"/>
            <a:chExt cx="3390" cy="870"/>
          </a:xfrm>
        </p:grpSpPr>
        <p:grpSp>
          <p:nvGrpSpPr>
            <p:cNvPr id="24687" name="Group 5"/>
            <p:cNvGrpSpPr>
              <a:grpSpLocks/>
            </p:cNvGrpSpPr>
            <p:nvPr/>
          </p:nvGrpSpPr>
          <p:grpSpPr bwMode="auto">
            <a:xfrm>
              <a:off x="1050" y="989"/>
              <a:ext cx="350" cy="296"/>
              <a:chOff x="4288" y="1746"/>
              <a:chExt cx="350" cy="296"/>
            </a:xfrm>
          </p:grpSpPr>
          <p:sp>
            <p:nvSpPr>
              <p:cNvPr id="24711" name="Oval 6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712" name="Text Box 7"/>
              <p:cNvSpPr txBox="1">
                <a:spLocks noChangeArrowheads="1"/>
              </p:cNvSpPr>
              <p:nvPr/>
            </p:nvSpPr>
            <p:spPr bwMode="auto">
              <a:xfrm>
                <a:off x="4364" y="1769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b="0" dirty="0">
                    <a:solidFill>
                      <a:schemeClr val="tx1"/>
                    </a:solidFill>
                    <a:latin typeface="+mn-lt"/>
                  </a:rPr>
                  <a:t>1</a:t>
                </a:r>
              </a:p>
            </p:txBody>
          </p:sp>
        </p:grpSp>
        <p:grpSp>
          <p:nvGrpSpPr>
            <p:cNvPr id="24688" name="Group 9"/>
            <p:cNvGrpSpPr>
              <a:grpSpLocks/>
            </p:cNvGrpSpPr>
            <p:nvPr/>
          </p:nvGrpSpPr>
          <p:grpSpPr bwMode="auto">
            <a:xfrm>
              <a:off x="2457" y="988"/>
              <a:ext cx="350" cy="296"/>
              <a:chOff x="4738" y="2684"/>
              <a:chExt cx="350" cy="296"/>
            </a:xfrm>
          </p:grpSpPr>
          <p:sp>
            <p:nvSpPr>
              <p:cNvPr id="24709" name="Oval 10"/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710" name="Text Box 11"/>
              <p:cNvSpPr txBox="1">
                <a:spLocks noChangeArrowheads="1"/>
              </p:cNvSpPr>
              <p:nvPr/>
            </p:nvSpPr>
            <p:spPr bwMode="auto">
              <a:xfrm>
                <a:off x="4815" y="2707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b="0" dirty="0">
                    <a:solidFill>
                      <a:schemeClr val="tx1"/>
                    </a:solidFill>
                    <a:latin typeface="Gill Sans MT" pitchFamily="34" charset="0"/>
                  </a:rPr>
                  <a:t>3</a:t>
                </a:r>
              </a:p>
            </p:txBody>
          </p:sp>
        </p:grpSp>
        <p:grpSp>
          <p:nvGrpSpPr>
            <p:cNvPr id="24689" name="Group 12"/>
            <p:cNvGrpSpPr>
              <a:grpSpLocks/>
            </p:cNvGrpSpPr>
            <p:nvPr/>
          </p:nvGrpSpPr>
          <p:grpSpPr bwMode="auto">
            <a:xfrm>
              <a:off x="1753" y="989"/>
              <a:ext cx="350" cy="296"/>
              <a:chOff x="3838" y="2684"/>
              <a:chExt cx="350" cy="296"/>
            </a:xfrm>
          </p:grpSpPr>
          <p:sp>
            <p:nvSpPr>
              <p:cNvPr id="24707" name="Oval 13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708" name="Text Box 14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b="0" dirty="0">
                    <a:solidFill>
                      <a:schemeClr val="tx1"/>
                    </a:solidFill>
                    <a:latin typeface="Gill Sans MT" pitchFamily="34" charset="0"/>
                  </a:rPr>
                  <a:t>2</a:t>
                </a:r>
              </a:p>
            </p:txBody>
          </p:sp>
        </p:grpSp>
        <p:grpSp>
          <p:nvGrpSpPr>
            <p:cNvPr id="24690" name="Group 15"/>
            <p:cNvGrpSpPr>
              <a:grpSpLocks/>
            </p:cNvGrpSpPr>
            <p:nvPr/>
          </p:nvGrpSpPr>
          <p:grpSpPr bwMode="auto">
            <a:xfrm>
              <a:off x="3882" y="988"/>
              <a:ext cx="350" cy="296"/>
              <a:chOff x="4288" y="3622"/>
              <a:chExt cx="350" cy="296"/>
            </a:xfrm>
          </p:grpSpPr>
          <p:sp>
            <p:nvSpPr>
              <p:cNvPr id="24705" name="Oval 16"/>
              <p:cNvSpPr>
                <a:spLocks noChangeArrowheads="1"/>
              </p:cNvSpPr>
              <p:nvPr/>
            </p:nvSpPr>
            <p:spPr bwMode="auto">
              <a:xfrm>
                <a:off x="4288" y="3622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706" name="Text Box 17"/>
              <p:cNvSpPr txBox="1">
                <a:spLocks noChangeArrowheads="1"/>
              </p:cNvSpPr>
              <p:nvPr/>
            </p:nvSpPr>
            <p:spPr bwMode="auto">
              <a:xfrm>
                <a:off x="4365" y="3645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b="0" dirty="0">
                    <a:solidFill>
                      <a:schemeClr val="tx1"/>
                    </a:solidFill>
                    <a:latin typeface="Gill Sans MT" pitchFamily="34" charset="0"/>
                  </a:rPr>
                  <a:t>6</a:t>
                </a:r>
              </a:p>
            </p:txBody>
          </p:sp>
        </p:grpSp>
        <p:sp>
          <p:nvSpPr>
            <p:cNvPr id="24691" name="Line 18"/>
            <p:cNvSpPr>
              <a:spLocks noChangeShapeType="1"/>
            </p:cNvSpPr>
            <p:nvPr/>
          </p:nvSpPr>
          <p:spPr bwMode="auto">
            <a:xfrm flipV="1">
              <a:off x="2809" y="1286"/>
              <a:ext cx="448" cy="3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 b="0">
                <a:latin typeface="Gill Sans MT" pitchFamily="34" charset="0"/>
              </a:endParaRPr>
            </a:p>
          </p:txBody>
        </p:sp>
        <p:sp>
          <p:nvSpPr>
            <p:cNvPr id="24692" name="Line 19"/>
            <p:cNvSpPr>
              <a:spLocks noChangeShapeType="1"/>
            </p:cNvSpPr>
            <p:nvPr/>
          </p:nvSpPr>
          <p:spPr bwMode="auto">
            <a:xfrm>
              <a:off x="842" y="1137"/>
              <a:ext cx="2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 b="0">
                <a:latin typeface="Gill Sans MT" pitchFamily="34" charset="0"/>
              </a:endParaRPr>
            </a:p>
          </p:txBody>
        </p:sp>
        <p:grpSp>
          <p:nvGrpSpPr>
            <p:cNvPr id="24693" name="Group 20"/>
            <p:cNvGrpSpPr>
              <a:grpSpLocks/>
            </p:cNvGrpSpPr>
            <p:nvPr/>
          </p:nvGrpSpPr>
          <p:grpSpPr bwMode="auto">
            <a:xfrm>
              <a:off x="2457" y="1562"/>
              <a:ext cx="350" cy="296"/>
              <a:chOff x="4288" y="1746"/>
              <a:chExt cx="350" cy="296"/>
            </a:xfrm>
          </p:grpSpPr>
          <p:sp>
            <p:nvSpPr>
              <p:cNvPr id="24703" name="Oval 21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704" name="Text Box 22"/>
              <p:cNvSpPr txBox="1">
                <a:spLocks noChangeArrowheads="1"/>
              </p:cNvSpPr>
              <p:nvPr/>
            </p:nvSpPr>
            <p:spPr bwMode="auto">
              <a:xfrm>
                <a:off x="4364" y="1769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b="0" dirty="0">
                    <a:solidFill>
                      <a:schemeClr val="tx1"/>
                    </a:solidFill>
                    <a:latin typeface="Gill Sans MT" pitchFamily="34" charset="0"/>
                  </a:rPr>
                  <a:t>4</a:t>
                </a:r>
              </a:p>
            </p:txBody>
          </p:sp>
        </p:grpSp>
        <p:grpSp>
          <p:nvGrpSpPr>
            <p:cNvPr id="24694" name="Group 27"/>
            <p:cNvGrpSpPr>
              <a:grpSpLocks/>
            </p:cNvGrpSpPr>
            <p:nvPr/>
          </p:nvGrpSpPr>
          <p:grpSpPr bwMode="auto">
            <a:xfrm>
              <a:off x="3171" y="989"/>
              <a:ext cx="350" cy="296"/>
              <a:chOff x="3838" y="2684"/>
              <a:chExt cx="350" cy="296"/>
            </a:xfrm>
          </p:grpSpPr>
          <p:sp>
            <p:nvSpPr>
              <p:cNvPr id="24701" name="Oval 28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702" name="Text Box 29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b="0" dirty="0">
                    <a:solidFill>
                      <a:schemeClr val="tx1"/>
                    </a:solidFill>
                    <a:latin typeface="Gill Sans MT" pitchFamily="34" charset="0"/>
                  </a:rPr>
                  <a:t>5</a:t>
                </a:r>
              </a:p>
            </p:txBody>
          </p:sp>
        </p:grpSp>
        <p:sp>
          <p:nvSpPr>
            <p:cNvPr id="24695" name="Line 34"/>
            <p:cNvSpPr>
              <a:spLocks noChangeShapeType="1"/>
            </p:cNvSpPr>
            <p:nvPr/>
          </p:nvSpPr>
          <p:spPr bwMode="auto">
            <a:xfrm flipH="1">
              <a:off x="2563" y="1283"/>
              <a:ext cx="2" cy="2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 b="0">
                <a:latin typeface="Gill Sans MT" pitchFamily="34" charset="0"/>
              </a:endParaRPr>
            </a:p>
          </p:txBody>
        </p:sp>
        <p:sp>
          <p:nvSpPr>
            <p:cNvPr id="24696" name="Line 37"/>
            <p:cNvSpPr>
              <a:spLocks noChangeShapeType="1"/>
            </p:cNvSpPr>
            <p:nvPr/>
          </p:nvSpPr>
          <p:spPr bwMode="auto">
            <a:xfrm>
              <a:off x="1400" y="1137"/>
              <a:ext cx="3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 b="0">
                <a:latin typeface="Gill Sans MT" pitchFamily="34" charset="0"/>
              </a:endParaRPr>
            </a:p>
          </p:txBody>
        </p:sp>
        <p:sp>
          <p:nvSpPr>
            <p:cNvPr id="24697" name="Line 38"/>
            <p:cNvSpPr>
              <a:spLocks noChangeShapeType="1"/>
            </p:cNvSpPr>
            <p:nvPr/>
          </p:nvSpPr>
          <p:spPr bwMode="auto">
            <a:xfrm>
              <a:off x="3532" y="1136"/>
              <a:ext cx="3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 b="0">
                <a:latin typeface="Gill Sans MT" pitchFamily="34" charset="0"/>
              </a:endParaRPr>
            </a:p>
          </p:txBody>
        </p:sp>
        <p:sp>
          <p:nvSpPr>
            <p:cNvPr id="24698" name="Line 39"/>
            <p:cNvSpPr>
              <a:spLocks noChangeShapeType="1"/>
            </p:cNvSpPr>
            <p:nvPr/>
          </p:nvSpPr>
          <p:spPr bwMode="auto">
            <a:xfrm>
              <a:off x="2814" y="1136"/>
              <a:ext cx="3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 b="0">
                <a:latin typeface="Gill Sans MT" pitchFamily="34" charset="0"/>
              </a:endParaRPr>
            </a:p>
          </p:txBody>
        </p:sp>
        <p:sp>
          <p:nvSpPr>
            <p:cNvPr id="24699" name="Line 40"/>
            <p:cNvSpPr>
              <a:spLocks noChangeShapeType="1"/>
            </p:cNvSpPr>
            <p:nvPr/>
          </p:nvSpPr>
          <p:spPr bwMode="auto">
            <a:xfrm>
              <a:off x="2111" y="1136"/>
              <a:ext cx="3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 b="0">
                <a:latin typeface="Gill Sans MT" pitchFamily="34" charset="0"/>
              </a:endParaRPr>
            </a:p>
          </p:txBody>
        </p:sp>
        <p:sp>
          <p:nvSpPr>
            <p:cNvPr id="24700" name="Line 41"/>
            <p:cNvSpPr>
              <a:spLocks noChangeShapeType="1"/>
            </p:cNvSpPr>
            <p:nvPr/>
          </p:nvSpPr>
          <p:spPr bwMode="auto">
            <a:xfrm flipH="1">
              <a:off x="2704" y="1282"/>
              <a:ext cx="2" cy="2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endParaRPr lang="en-US" b="0">
                <a:latin typeface="Gill Sans MT" pitchFamily="34" charset="0"/>
              </a:endParaRPr>
            </a:p>
          </p:txBody>
        </p:sp>
      </p:grpSp>
      <p:grpSp>
        <p:nvGrpSpPr>
          <p:cNvPr id="9" name="Group 117"/>
          <p:cNvGrpSpPr>
            <a:grpSpLocks/>
          </p:cNvGrpSpPr>
          <p:nvPr/>
        </p:nvGrpSpPr>
        <p:grpSpPr bwMode="auto">
          <a:xfrm>
            <a:off x="3009901" y="2808289"/>
            <a:ext cx="5776913" cy="1381125"/>
            <a:chOff x="936" y="1769"/>
            <a:chExt cx="3639" cy="870"/>
          </a:xfrm>
        </p:grpSpPr>
        <p:grpSp>
          <p:nvGrpSpPr>
            <p:cNvPr id="2" name="Group 61"/>
            <p:cNvGrpSpPr>
              <a:grpSpLocks/>
            </p:cNvGrpSpPr>
            <p:nvPr/>
          </p:nvGrpSpPr>
          <p:grpSpPr bwMode="auto">
            <a:xfrm>
              <a:off x="1185" y="1769"/>
              <a:ext cx="3390" cy="870"/>
              <a:chOff x="842" y="988"/>
              <a:chExt cx="3390" cy="870"/>
            </a:xfrm>
          </p:grpSpPr>
          <p:grpSp>
            <p:nvGrpSpPr>
              <p:cNvPr id="3" name="Group 62"/>
              <p:cNvGrpSpPr>
                <a:grpSpLocks/>
              </p:cNvGrpSpPr>
              <p:nvPr/>
            </p:nvGrpSpPr>
            <p:grpSpPr bwMode="auto">
              <a:xfrm>
                <a:off x="1050" y="989"/>
                <a:ext cx="350" cy="296"/>
                <a:chOff x="4288" y="1746"/>
                <a:chExt cx="350" cy="296"/>
              </a:xfrm>
            </p:grpSpPr>
            <p:sp>
              <p:nvSpPr>
                <p:cNvPr id="24685" name="Oval 63"/>
                <p:cNvSpPr>
                  <a:spLocks noChangeArrowheads="1"/>
                </p:cNvSpPr>
                <p:nvPr/>
              </p:nvSpPr>
              <p:spPr bwMode="auto">
                <a:xfrm>
                  <a:off x="4288" y="1746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 b="0">
                    <a:latin typeface="Gill Sans MT" pitchFamily="34" charset="0"/>
                  </a:endParaRPr>
                </a:p>
              </p:txBody>
            </p:sp>
            <p:sp>
              <p:nvSpPr>
                <p:cNvPr id="24686" name="Text Box 64"/>
                <p:cNvSpPr txBox="1">
                  <a:spLocks noChangeArrowheads="1"/>
                </p:cNvSpPr>
                <p:nvPr/>
              </p:nvSpPr>
              <p:spPr bwMode="auto">
                <a:xfrm>
                  <a:off x="4364" y="1769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en-US" b="0" dirty="0">
                      <a:solidFill>
                        <a:schemeClr val="tx1"/>
                      </a:solidFill>
                      <a:latin typeface="+mn-lt"/>
                    </a:rPr>
                    <a:t>1</a:t>
                  </a:r>
                </a:p>
              </p:txBody>
            </p:sp>
          </p:grpSp>
          <p:grpSp>
            <p:nvGrpSpPr>
              <p:cNvPr id="4" name="Group 65"/>
              <p:cNvGrpSpPr>
                <a:grpSpLocks/>
              </p:cNvGrpSpPr>
              <p:nvPr/>
            </p:nvGrpSpPr>
            <p:grpSpPr bwMode="auto">
              <a:xfrm>
                <a:off x="2457" y="988"/>
                <a:ext cx="350" cy="296"/>
                <a:chOff x="4738" y="2684"/>
                <a:chExt cx="350" cy="296"/>
              </a:xfrm>
            </p:grpSpPr>
            <p:sp>
              <p:nvSpPr>
                <p:cNvPr id="24683" name="Oval 66"/>
                <p:cNvSpPr>
                  <a:spLocks noChangeArrowheads="1"/>
                </p:cNvSpPr>
                <p:nvPr/>
              </p:nvSpPr>
              <p:spPr bwMode="auto">
                <a:xfrm>
                  <a:off x="47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 b="0">
                    <a:latin typeface="Gill Sans MT" pitchFamily="34" charset="0"/>
                  </a:endParaRPr>
                </a:p>
              </p:txBody>
            </p:sp>
            <p:sp>
              <p:nvSpPr>
                <p:cNvPr id="24684" name="Text Box 67"/>
                <p:cNvSpPr txBox="1">
                  <a:spLocks noChangeArrowheads="1"/>
                </p:cNvSpPr>
                <p:nvPr/>
              </p:nvSpPr>
              <p:spPr bwMode="auto">
                <a:xfrm>
                  <a:off x="4815" y="2707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0" dirty="0">
                      <a:solidFill>
                        <a:schemeClr val="tx1"/>
                      </a:solidFill>
                      <a:latin typeface="Gill Sans MT" pitchFamily="34" charset="0"/>
                    </a:rPr>
                    <a:t>3</a:t>
                  </a:r>
                </a:p>
              </p:txBody>
            </p:sp>
          </p:grpSp>
          <p:grpSp>
            <p:nvGrpSpPr>
              <p:cNvPr id="5" name="Group 68"/>
              <p:cNvGrpSpPr>
                <a:grpSpLocks/>
              </p:cNvGrpSpPr>
              <p:nvPr/>
            </p:nvGrpSpPr>
            <p:grpSpPr bwMode="auto">
              <a:xfrm>
                <a:off x="1753" y="989"/>
                <a:ext cx="350" cy="296"/>
                <a:chOff x="3838" y="2684"/>
                <a:chExt cx="350" cy="296"/>
              </a:xfrm>
            </p:grpSpPr>
            <p:sp>
              <p:nvSpPr>
                <p:cNvPr id="24681" name="Oval 69"/>
                <p:cNvSpPr>
                  <a:spLocks noChangeArrowheads="1"/>
                </p:cNvSpPr>
                <p:nvPr/>
              </p:nvSpPr>
              <p:spPr bwMode="auto">
                <a:xfrm>
                  <a:off x="38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 b="0">
                    <a:latin typeface="Gill Sans MT" pitchFamily="34" charset="0"/>
                  </a:endParaRPr>
                </a:p>
              </p:txBody>
            </p:sp>
            <p:sp>
              <p:nvSpPr>
                <p:cNvPr id="24682" name="Text Box 70"/>
                <p:cNvSpPr txBox="1">
                  <a:spLocks noChangeArrowheads="1"/>
                </p:cNvSpPr>
                <p:nvPr/>
              </p:nvSpPr>
              <p:spPr bwMode="auto">
                <a:xfrm>
                  <a:off x="3915" y="2707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0" dirty="0">
                      <a:solidFill>
                        <a:schemeClr val="tx1"/>
                      </a:solidFill>
                      <a:latin typeface="Gill Sans MT" pitchFamily="34" charset="0"/>
                    </a:rPr>
                    <a:t>2</a:t>
                  </a:r>
                </a:p>
              </p:txBody>
            </p:sp>
          </p:grpSp>
          <p:grpSp>
            <p:nvGrpSpPr>
              <p:cNvPr id="6" name="Group 71"/>
              <p:cNvGrpSpPr>
                <a:grpSpLocks/>
              </p:cNvGrpSpPr>
              <p:nvPr/>
            </p:nvGrpSpPr>
            <p:grpSpPr bwMode="auto">
              <a:xfrm>
                <a:off x="3882" y="988"/>
                <a:ext cx="350" cy="296"/>
                <a:chOff x="4288" y="3622"/>
                <a:chExt cx="350" cy="296"/>
              </a:xfrm>
            </p:grpSpPr>
            <p:sp>
              <p:nvSpPr>
                <p:cNvPr id="24679" name="Oval 72"/>
                <p:cNvSpPr>
                  <a:spLocks noChangeArrowheads="1"/>
                </p:cNvSpPr>
                <p:nvPr/>
              </p:nvSpPr>
              <p:spPr bwMode="auto">
                <a:xfrm>
                  <a:off x="4288" y="3622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 b="0">
                    <a:latin typeface="Gill Sans MT" pitchFamily="34" charset="0"/>
                  </a:endParaRPr>
                </a:p>
              </p:txBody>
            </p:sp>
            <p:sp>
              <p:nvSpPr>
                <p:cNvPr id="24680" name="Text Box 73"/>
                <p:cNvSpPr txBox="1">
                  <a:spLocks noChangeArrowheads="1"/>
                </p:cNvSpPr>
                <p:nvPr/>
              </p:nvSpPr>
              <p:spPr bwMode="auto">
                <a:xfrm>
                  <a:off x="4365" y="3645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0" dirty="0">
                      <a:solidFill>
                        <a:schemeClr val="tx1"/>
                      </a:solidFill>
                      <a:latin typeface="Gill Sans MT" pitchFamily="34" charset="0"/>
                    </a:rPr>
                    <a:t>6</a:t>
                  </a:r>
                </a:p>
              </p:txBody>
            </p:sp>
          </p:grpSp>
          <p:sp>
            <p:nvSpPr>
              <p:cNvPr id="24665" name="Line 74"/>
              <p:cNvSpPr>
                <a:spLocks noChangeShapeType="1"/>
              </p:cNvSpPr>
              <p:nvPr/>
            </p:nvSpPr>
            <p:spPr bwMode="auto">
              <a:xfrm flipV="1">
                <a:off x="2809" y="1286"/>
                <a:ext cx="448" cy="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666" name="Line 75"/>
              <p:cNvSpPr>
                <a:spLocks noChangeShapeType="1"/>
              </p:cNvSpPr>
              <p:nvPr/>
            </p:nvSpPr>
            <p:spPr bwMode="auto">
              <a:xfrm>
                <a:off x="842" y="1137"/>
                <a:ext cx="20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grpSp>
            <p:nvGrpSpPr>
              <p:cNvPr id="7" name="Group 76"/>
              <p:cNvGrpSpPr>
                <a:grpSpLocks/>
              </p:cNvGrpSpPr>
              <p:nvPr/>
            </p:nvGrpSpPr>
            <p:grpSpPr bwMode="auto">
              <a:xfrm>
                <a:off x="2457" y="1562"/>
                <a:ext cx="350" cy="296"/>
                <a:chOff x="4288" y="1746"/>
                <a:chExt cx="350" cy="296"/>
              </a:xfrm>
            </p:grpSpPr>
            <p:sp>
              <p:nvSpPr>
                <p:cNvPr id="24677" name="Oval 77"/>
                <p:cNvSpPr>
                  <a:spLocks noChangeArrowheads="1"/>
                </p:cNvSpPr>
                <p:nvPr/>
              </p:nvSpPr>
              <p:spPr bwMode="auto">
                <a:xfrm>
                  <a:off x="4288" y="1746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 b="0">
                    <a:latin typeface="Gill Sans MT" pitchFamily="34" charset="0"/>
                  </a:endParaRPr>
                </a:p>
              </p:txBody>
            </p:sp>
            <p:sp>
              <p:nvSpPr>
                <p:cNvPr id="24678" name="Text Box 78"/>
                <p:cNvSpPr txBox="1">
                  <a:spLocks noChangeArrowheads="1"/>
                </p:cNvSpPr>
                <p:nvPr/>
              </p:nvSpPr>
              <p:spPr bwMode="auto">
                <a:xfrm>
                  <a:off x="4364" y="1769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en-US" b="0" dirty="0">
                      <a:solidFill>
                        <a:schemeClr val="tx1"/>
                      </a:solidFill>
                      <a:latin typeface="Gill Sans MT" pitchFamily="34" charset="0"/>
                    </a:rPr>
                    <a:t>4</a:t>
                  </a:r>
                </a:p>
              </p:txBody>
            </p:sp>
          </p:grpSp>
          <p:grpSp>
            <p:nvGrpSpPr>
              <p:cNvPr id="8" name="Group 79"/>
              <p:cNvGrpSpPr>
                <a:grpSpLocks/>
              </p:cNvGrpSpPr>
              <p:nvPr/>
            </p:nvGrpSpPr>
            <p:grpSpPr bwMode="auto">
              <a:xfrm>
                <a:off x="3171" y="989"/>
                <a:ext cx="350" cy="296"/>
                <a:chOff x="3838" y="2684"/>
                <a:chExt cx="350" cy="296"/>
              </a:xfrm>
            </p:grpSpPr>
            <p:sp>
              <p:nvSpPr>
                <p:cNvPr id="24675" name="Oval 80"/>
                <p:cNvSpPr>
                  <a:spLocks noChangeArrowheads="1"/>
                </p:cNvSpPr>
                <p:nvPr/>
              </p:nvSpPr>
              <p:spPr bwMode="auto">
                <a:xfrm>
                  <a:off x="38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 b="0">
                    <a:latin typeface="Gill Sans MT" pitchFamily="34" charset="0"/>
                  </a:endParaRPr>
                </a:p>
              </p:txBody>
            </p:sp>
            <p:sp>
              <p:nvSpPr>
                <p:cNvPr id="24676" name="Text Box 81"/>
                <p:cNvSpPr txBox="1">
                  <a:spLocks noChangeArrowheads="1"/>
                </p:cNvSpPr>
                <p:nvPr/>
              </p:nvSpPr>
              <p:spPr bwMode="auto">
                <a:xfrm>
                  <a:off x="3915" y="2707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0" dirty="0">
                      <a:solidFill>
                        <a:schemeClr val="tx1"/>
                      </a:solidFill>
                      <a:latin typeface="Gill Sans MT" pitchFamily="34" charset="0"/>
                    </a:rPr>
                    <a:t>5</a:t>
                  </a:r>
                </a:p>
              </p:txBody>
            </p:sp>
          </p:grpSp>
          <p:sp>
            <p:nvSpPr>
              <p:cNvPr id="24669" name="Line 82"/>
              <p:cNvSpPr>
                <a:spLocks noChangeShapeType="1"/>
              </p:cNvSpPr>
              <p:nvPr/>
            </p:nvSpPr>
            <p:spPr bwMode="auto">
              <a:xfrm flipH="1">
                <a:off x="2563" y="1283"/>
                <a:ext cx="2" cy="2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670" name="Line 83"/>
              <p:cNvSpPr>
                <a:spLocks noChangeShapeType="1"/>
              </p:cNvSpPr>
              <p:nvPr/>
            </p:nvSpPr>
            <p:spPr bwMode="auto">
              <a:xfrm>
                <a:off x="1400" y="1137"/>
                <a:ext cx="33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671" name="Line 84"/>
              <p:cNvSpPr>
                <a:spLocks noChangeShapeType="1"/>
              </p:cNvSpPr>
              <p:nvPr/>
            </p:nvSpPr>
            <p:spPr bwMode="auto">
              <a:xfrm>
                <a:off x="3532" y="1136"/>
                <a:ext cx="33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672" name="Line 85"/>
              <p:cNvSpPr>
                <a:spLocks noChangeShapeType="1"/>
              </p:cNvSpPr>
              <p:nvPr/>
            </p:nvSpPr>
            <p:spPr bwMode="auto">
              <a:xfrm>
                <a:off x="2814" y="1136"/>
                <a:ext cx="33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673" name="Line 86"/>
              <p:cNvSpPr>
                <a:spLocks noChangeShapeType="1"/>
              </p:cNvSpPr>
              <p:nvPr/>
            </p:nvSpPr>
            <p:spPr bwMode="auto">
              <a:xfrm>
                <a:off x="2111" y="1136"/>
                <a:ext cx="33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674" name="Line 87"/>
              <p:cNvSpPr>
                <a:spLocks noChangeShapeType="1"/>
              </p:cNvSpPr>
              <p:nvPr/>
            </p:nvSpPr>
            <p:spPr bwMode="auto">
              <a:xfrm flipH="1">
                <a:off x="2704" y="1282"/>
                <a:ext cx="2" cy="2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arrow" w="med" len="med"/>
                <a:tailEnd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</p:grpSp>
        <p:sp>
          <p:nvSpPr>
            <p:cNvPr id="24660" name="Text Box 115"/>
            <p:cNvSpPr txBox="1">
              <a:spLocks noChangeArrowheads="1"/>
            </p:cNvSpPr>
            <p:nvPr/>
          </p:nvSpPr>
          <p:spPr bwMode="auto">
            <a:xfrm>
              <a:off x="936" y="2189"/>
              <a:ext cx="1159" cy="442"/>
            </a:xfrm>
            <a:prstGeom prst="rect">
              <a:avLst/>
            </a:prstGeom>
            <a:solidFill>
              <a:srgbClr val="0066FF"/>
            </a:solid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>
                  <a:solidFill>
                    <a:schemeClr val="tx1"/>
                  </a:solidFill>
                  <a:latin typeface="Gill Sans MT" pitchFamily="34" charset="0"/>
                </a:rPr>
                <a:t>Touring with a </a:t>
              </a:r>
              <a:r>
                <a:rPr lang="en-US" b="0" u="sng">
                  <a:solidFill>
                    <a:schemeClr val="tx1"/>
                  </a:solidFill>
                  <a:latin typeface="Gill Sans MT" pitchFamily="34" charset="0"/>
                </a:rPr>
                <a:t>sidetrip</a:t>
              </a:r>
            </a:p>
          </p:txBody>
        </p:sp>
      </p:grpSp>
      <p:grpSp>
        <p:nvGrpSpPr>
          <p:cNvPr id="17" name="Group 118"/>
          <p:cNvGrpSpPr>
            <a:grpSpLocks/>
          </p:cNvGrpSpPr>
          <p:nvPr/>
        </p:nvGrpSpPr>
        <p:grpSpPr bwMode="auto">
          <a:xfrm>
            <a:off x="3049589" y="4551363"/>
            <a:ext cx="5737225" cy="1503362"/>
            <a:chOff x="961" y="2867"/>
            <a:chExt cx="3614" cy="947"/>
          </a:xfrm>
        </p:grpSpPr>
        <p:grpSp>
          <p:nvGrpSpPr>
            <p:cNvPr id="24631" name="Group 88"/>
            <p:cNvGrpSpPr>
              <a:grpSpLocks/>
            </p:cNvGrpSpPr>
            <p:nvPr/>
          </p:nvGrpSpPr>
          <p:grpSpPr bwMode="auto">
            <a:xfrm>
              <a:off x="1185" y="2867"/>
              <a:ext cx="3390" cy="870"/>
              <a:chOff x="842" y="988"/>
              <a:chExt cx="3390" cy="870"/>
            </a:xfrm>
          </p:grpSpPr>
          <p:grpSp>
            <p:nvGrpSpPr>
              <p:cNvPr id="24633" name="Group 89"/>
              <p:cNvGrpSpPr>
                <a:grpSpLocks/>
              </p:cNvGrpSpPr>
              <p:nvPr/>
            </p:nvGrpSpPr>
            <p:grpSpPr bwMode="auto">
              <a:xfrm>
                <a:off x="1050" y="989"/>
                <a:ext cx="350" cy="296"/>
                <a:chOff x="4288" y="1746"/>
                <a:chExt cx="350" cy="296"/>
              </a:xfrm>
            </p:grpSpPr>
            <p:sp>
              <p:nvSpPr>
                <p:cNvPr id="24657" name="Oval 90"/>
                <p:cNvSpPr>
                  <a:spLocks noChangeArrowheads="1"/>
                </p:cNvSpPr>
                <p:nvPr/>
              </p:nvSpPr>
              <p:spPr bwMode="auto">
                <a:xfrm>
                  <a:off x="4288" y="1746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 b="0">
                    <a:latin typeface="Gill Sans MT" pitchFamily="34" charset="0"/>
                  </a:endParaRPr>
                </a:p>
              </p:txBody>
            </p:sp>
            <p:sp>
              <p:nvSpPr>
                <p:cNvPr id="24658" name="Text Box 91"/>
                <p:cNvSpPr txBox="1">
                  <a:spLocks noChangeArrowheads="1"/>
                </p:cNvSpPr>
                <p:nvPr/>
              </p:nvSpPr>
              <p:spPr bwMode="auto">
                <a:xfrm>
                  <a:off x="4364" y="1769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en-US" b="0" dirty="0">
                      <a:solidFill>
                        <a:schemeClr val="tx1"/>
                      </a:solidFill>
                      <a:latin typeface="+mn-lt"/>
                    </a:rPr>
                    <a:t>1</a:t>
                  </a:r>
                </a:p>
              </p:txBody>
            </p:sp>
          </p:grpSp>
          <p:grpSp>
            <p:nvGrpSpPr>
              <p:cNvPr id="24634" name="Group 92"/>
              <p:cNvGrpSpPr>
                <a:grpSpLocks/>
              </p:cNvGrpSpPr>
              <p:nvPr/>
            </p:nvGrpSpPr>
            <p:grpSpPr bwMode="auto">
              <a:xfrm>
                <a:off x="2457" y="988"/>
                <a:ext cx="350" cy="296"/>
                <a:chOff x="4738" y="2684"/>
                <a:chExt cx="350" cy="296"/>
              </a:xfrm>
            </p:grpSpPr>
            <p:sp>
              <p:nvSpPr>
                <p:cNvPr id="24655" name="Oval 93"/>
                <p:cNvSpPr>
                  <a:spLocks noChangeArrowheads="1"/>
                </p:cNvSpPr>
                <p:nvPr/>
              </p:nvSpPr>
              <p:spPr bwMode="auto">
                <a:xfrm>
                  <a:off x="47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 b="0">
                    <a:latin typeface="Gill Sans MT" pitchFamily="34" charset="0"/>
                  </a:endParaRPr>
                </a:p>
              </p:txBody>
            </p:sp>
            <p:sp>
              <p:nvSpPr>
                <p:cNvPr id="24656" name="Text Box 94"/>
                <p:cNvSpPr txBox="1">
                  <a:spLocks noChangeArrowheads="1"/>
                </p:cNvSpPr>
                <p:nvPr/>
              </p:nvSpPr>
              <p:spPr bwMode="auto">
                <a:xfrm>
                  <a:off x="4815" y="2707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0" dirty="0">
                      <a:solidFill>
                        <a:schemeClr val="tx1"/>
                      </a:solidFill>
                      <a:latin typeface="Gill Sans MT" pitchFamily="34" charset="0"/>
                    </a:rPr>
                    <a:t>3</a:t>
                  </a:r>
                </a:p>
              </p:txBody>
            </p:sp>
          </p:grpSp>
          <p:grpSp>
            <p:nvGrpSpPr>
              <p:cNvPr id="24635" name="Group 95"/>
              <p:cNvGrpSpPr>
                <a:grpSpLocks/>
              </p:cNvGrpSpPr>
              <p:nvPr/>
            </p:nvGrpSpPr>
            <p:grpSpPr bwMode="auto">
              <a:xfrm>
                <a:off x="1753" y="989"/>
                <a:ext cx="350" cy="296"/>
                <a:chOff x="3838" y="2684"/>
                <a:chExt cx="350" cy="296"/>
              </a:xfrm>
            </p:grpSpPr>
            <p:sp>
              <p:nvSpPr>
                <p:cNvPr id="24653" name="Oval 96"/>
                <p:cNvSpPr>
                  <a:spLocks noChangeArrowheads="1"/>
                </p:cNvSpPr>
                <p:nvPr/>
              </p:nvSpPr>
              <p:spPr bwMode="auto">
                <a:xfrm>
                  <a:off x="38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 b="0">
                    <a:latin typeface="Gill Sans MT" pitchFamily="34" charset="0"/>
                  </a:endParaRPr>
                </a:p>
              </p:txBody>
            </p:sp>
            <p:sp>
              <p:nvSpPr>
                <p:cNvPr id="24654" name="Text Box 97"/>
                <p:cNvSpPr txBox="1">
                  <a:spLocks noChangeArrowheads="1"/>
                </p:cNvSpPr>
                <p:nvPr/>
              </p:nvSpPr>
              <p:spPr bwMode="auto">
                <a:xfrm>
                  <a:off x="3915" y="2707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0" dirty="0">
                      <a:solidFill>
                        <a:schemeClr val="tx1"/>
                      </a:solidFill>
                      <a:latin typeface="Gill Sans MT" pitchFamily="34" charset="0"/>
                    </a:rPr>
                    <a:t>2</a:t>
                  </a:r>
                </a:p>
              </p:txBody>
            </p:sp>
          </p:grpSp>
          <p:grpSp>
            <p:nvGrpSpPr>
              <p:cNvPr id="24636" name="Group 98"/>
              <p:cNvGrpSpPr>
                <a:grpSpLocks/>
              </p:cNvGrpSpPr>
              <p:nvPr/>
            </p:nvGrpSpPr>
            <p:grpSpPr bwMode="auto">
              <a:xfrm>
                <a:off x="3882" y="988"/>
                <a:ext cx="350" cy="296"/>
                <a:chOff x="4288" y="3622"/>
                <a:chExt cx="350" cy="296"/>
              </a:xfrm>
            </p:grpSpPr>
            <p:sp>
              <p:nvSpPr>
                <p:cNvPr id="24651" name="Oval 99"/>
                <p:cNvSpPr>
                  <a:spLocks noChangeArrowheads="1"/>
                </p:cNvSpPr>
                <p:nvPr/>
              </p:nvSpPr>
              <p:spPr bwMode="auto">
                <a:xfrm>
                  <a:off x="4288" y="3622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 b="0">
                    <a:latin typeface="Gill Sans MT" pitchFamily="34" charset="0"/>
                  </a:endParaRPr>
                </a:p>
              </p:txBody>
            </p:sp>
            <p:sp>
              <p:nvSpPr>
                <p:cNvPr id="24652" name="Text Box 100"/>
                <p:cNvSpPr txBox="1">
                  <a:spLocks noChangeArrowheads="1"/>
                </p:cNvSpPr>
                <p:nvPr/>
              </p:nvSpPr>
              <p:spPr bwMode="auto">
                <a:xfrm>
                  <a:off x="4365" y="3645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0" dirty="0">
                      <a:solidFill>
                        <a:schemeClr val="tx1"/>
                      </a:solidFill>
                      <a:latin typeface="Gill Sans MT" pitchFamily="34" charset="0"/>
                    </a:rPr>
                    <a:t>6</a:t>
                  </a:r>
                </a:p>
              </p:txBody>
            </p:sp>
          </p:grpSp>
          <p:sp>
            <p:nvSpPr>
              <p:cNvPr id="24637" name="Line 101"/>
              <p:cNvSpPr>
                <a:spLocks noChangeShapeType="1"/>
              </p:cNvSpPr>
              <p:nvPr/>
            </p:nvSpPr>
            <p:spPr bwMode="auto">
              <a:xfrm flipV="1">
                <a:off x="2809" y="1286"/>
                <a:ext cx="448" cy="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638" name="Line 102"/>
              <p:cNvSpPr>
                <a:spLocks noChangeShapeType="1"/>
              </p:cNvSpPr>
              <p:nvPr/>
            </p:nvSpPr>
            <p:spPr bwMode="auto">
              <a:xfrm>
                <a:off x="842" y="1137"/>
                <a:ext cx="20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grpSp>
            <p:nvGrpSpPr>
              <p:cNvPr id="24639" name="Group 103"/>
              <p:cNvGrpSpPr>
                <a:grpSpLocks/>
              </p:cNvGrpSpPr>
              <p:nvPr/>
            </p:nvGrpSpPr>
            <p:grpSpPr bwMode="auto">
              <a:xfrm>
                <a:off x="2457" y="1562"/>
                <a:ext cx="350" cy="296"/>
                <a:chOff x="4288" y="1746"/>
                <a:chExt cx="350" cy="296"/>
              </a:xfrm>
            </p:grpSpPr>
            <p:sp>
              <p:nvSpPr>
                <p:cNvPr id="24649" name="Oval 104"/>
                <p:cNvSpPr>
                  <a:spLocks noChangeArrowheads="1"/>
                </p:cNvSpPr>
                <p:nvPr/>
              </p:nvSpPr>
              <p:spPr bwMode="auto">
                <a:xfrm>
                  <a:off x="4288" y="1746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 b="0">
                    <a:latin typeface="Gill Sans MT" pitchFamily="34" charset="0"/>
                  </a:endParaRPr>
                </a:p>
              </p:txBody>
            </p:sp>
            <p:sp>
              <p:nvSpPr>
                <p:cNvPr id="24650" name="Text Box 105"/>
                <p:cNvSpPr txBox="1">
                  <a:spLocks noChangeArrowheads="1"/>
                </p:cNvSpPr>
                <p:nvPr/>
              </p:nvSpPr>
              <p:spPr bwMode="auto">
                <a:xfrm>
                  <a:off x="4364" y="1769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en-US" b="0" dirty="0">
                      <a:solidFill>
                        <a:schemeClr val="tx1"/>
                      </a:solidFill>
                      <a:latin typeface="Gill Sans MT" pitchFamily="34" charset="0"/>
                    </a:rPr>
                    <a:t>4</a:t>
                  </a:r>
                </a:p>
              </p:txBody>
            </p:sp>
          </p:grpSp>
          <p:grpSp>
            <p:nvGrpSpPr>
              <p:cNvPr id="10" name="Group 106"/>
              <p:cNvGrpSpPr>
                <a:grpSpLocks/>
              </p:cNvGrpSpPr>
              <p:nvPr/>
            </p:nvGrpSpPr>
            <p:grpSpPr bwMode="auto">
              <a:xfrm>
                <a:off x="3171" y="989"/>
                <a:ext cx="350" cy="296"/>
                <a:chOff x="3838" y="2684"/>
                <a:chExt cx="350" cy="296"/>
              </a:xfrm>
            </p:grpSpPr>
            <p:sp>
              <p:nvSpPr>
                <p:cNvPr id="24647" name="Oval 107"/>
                <p:cNvSpPr>
                  <a:spLocks noChangeArrowheads="1"/>
                </p:cNvSpPr>
                <p:nvPr/>
              </p:nvSpPr>
              <p:spPr bwMode="auto">
                <a:xfrm>
                  <a:off x="38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 b="0">
                    <a:latin typeface="Gill Sans MT" pitchFamily="34" charset="0"/>
                  </a:endParaRPr>
                </a:p>
              </p:txBody>
            </p:sp>
            <p:sp>
              <p:nvSpPr>
                <p:cNvPr id="24648" name="Text Box 108"/>
                <p:cNvSpPr txBox="1">
                  <a:spLocks noChangeArrowheads="1"/>
                </p:cNvSpPr>
                <p:nvPr/>
              </p:nvSpPr>
              <p:spPr bwMode="auto">
                <a:xfrm>
                  <a:off x="3915" y="2707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0" dirty="0">
                      <a:solidFill>
                        <a:schemeClr val="tx1"/>
                      </a:solidFill>
                      <a:latin typeface="Gill Sans MT" pitchFamily="34" charset="0"/>
                    </a:rPr>
                    <a:t>5</a:t>
                  </a:r>
                </a:p>
              </p:txBody>
            </p:sp>
          </p:grpSp>
          <p:sp>
            <p:nvSpPr>
              <p:cNvPr id="24641" name="Line 109"/>
              <p:cNvSpPr>
                <a:spLocks noChangeShapeType="1"/>
              </p:cNvSpPr>
              <p:nvPr/>
            </p:nvSpPr>
            <p:spPr bwMode="auto">
              <a:xfrm flipH="1">
                <a:off x="2563" y="1283"/>
                <a:ext cx="2" cy="2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642" name="Line 110"/>
              <p:cNvSpPr>
                <a:spLocks noChangeShapeType="1"/>
              </p:cNvSpPr>
              <p:nvPr/>
            </p:nvSpPr>
            <p:spPr bwMode="auto">
              <a:xfrm>
                <a:off x="1400" y="1137"/>
                <a:ext cx="33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643" name="Line 111"/>
              <p:cNvSpPr>
                <a:spLocks noChangeShapeType="1"/>
              </p:cNvSpPr>
              <p:nvPr/>
            </p:nvSpPr>
            <p:spPr bwMode="auto">
              <a:xfrm>
                <a:off x="3532" y="1136"/>
                <a:ext cx="33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644" name="Line 112"/>
              <p:cNvSpPr>
                <a:spLocks noChangeShapeType="1"/>
              </p:cNvSpPr>
              <p:nvPr/>
            </p:nvSpPr>
            <p:spPr bwMode="auto">
              <a:xfrm>
                <a:off x="2814" y="1136"/>
                <a:ext cx="33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645" name="Line 113"/>
              <p:cNvSpPr>
                <a:spLocks noChangeShapeType="1"/>
              </p:cNvSpPr>
              <p:nvPr/>
            </p:nvSpPr>
            <p:spPr bwMode="auto">
              <a:xfrm>
                <a:off x="2111" y="1136"/>
                <a:ext cx="33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646" name="Line 114"/>
              <p:cNvSpPr>
                <a:spLocks noChangeShapeType="1"/>
              </p:cNvSpPr>
              <p:nvPr/>
            </p:nvSpPr>
            <p:spPr bwMode="auto">
              <a:xfrm flipH="1">
                <a:off x="2704" y="1282"/>
                <a:ext cx="2" cy="2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arrow" w="med" len="med"/>
                <a:tailEnd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</p:grpSp>
        <p:sp>
          <p:nvSpPr>
            <p:cNvPr id="24632" name="Text Box 116"/>
            <p:cNvSpPr txBox="1">
              <a:spLocks noChangeArrowheads="1"/>
            </p:cNvSpPr>
            <p:nvPr/>
          </p:nvSpPr>
          <p:spPr bwMode="auto">
            <a:xfrm>
              <a:off x="961" y="3372"/>
              <a:ext cx="1159" cy="442"/>
            </a:xfrm>
            <a:prstGeom prst="rect">
              <a:avLst/>
            </a:prstGeom>
            <a:solidFill>
              <a:srgbClr val="0066FF"/>
            </a:solid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>
                  <a:solidFill>
                    <a:schemeClr val="tx1"/>
                  </a:solidFill>
                  <a:latin typeface="Gill Sans MT" pitchFamily="34" charset="0"/>
                </a:rPr>
                <a:t>Touring with a </a:t>
              </a:r>
              <a:r>
                <a:rPr lang="en-US" b="0" u="sng">
                  <a:solidFill>
                    <a:schemeClr val="tx1"/>
                  </a:solidFill>
                  <a:latin typeface="Gill Sans MT" pitchFamily="34" charset="0"/>
                </a:rPr>
                <a:t>detour</a:t>
              </a:r>
            </a:p>
          </p:txBody>
        </p:sp>
      </p:grpSp>
      <p:grpSp>
        <p:nvGrpSpPr>
          <p:cNvPr id="25" name="Group 121"/>
          <p:cNvGrpSpPr>
            <a:grpSpLocks/>
          </p:cNvGrpSpPr>
          <p:nvPr/>
        </p:nvGrpSpPr>
        <p:grpSpPr bwMode="auto">
          <a:xfrm>
            <a:off x="4329114" y="2555876"/>
            <a:ext cx="477837" cy="396875"/>
            <a:chOff x="1767" y="1612"/>
            <a:chExt cx="301" cy="250"/>
          </a:xfrm>
        </p:grpSpPr>
        <p:sp>
          <p:nvSpPr>
            <p:cNvPr id="24629" name="Line 119"/>
            <p:cNvSpPr>
              <a:spLocks noChangeShapeType="1"/>
            </p:cNvSpPr>
            <p:nvPr/>
          </p:nvSpPr>
          <p:spPr bwMode="auto">
            <a:xfrm>
              <a:off x="1767" y="1830"/>
              <a:ext cx="30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4630" name="Text Box 120"/>
            <p:cNvSpPr txBox="1">
              <a:spLocks noChangeArrowheads="1"/>
            </p:cNvSpPr>
            <p:nvPr/>
          </p:nvSpPr>
          <p:spPr bwMode="auto">
            <a:xfrm>
              <a:off x="1805" y="1612"/>
              <a:ext cx="2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dirty="0">
                  <a:solidFill>
                    <a:schemeClr val="hlink"/>
                  </a:solidFill>
                  <a:latin typeface="+mn-lt"/>
                </a:rPr>
                <a:t>1</a:t>
              </a:r>
            </a:p>
          </p:txBody>
        </p:sp>
      </p:grpSp>
      <p:grpSp>
        <p:nvGrpSpPr>
          <p:cNvPr id="26" name="Group 122"/>
          <p:cNvGrpSpPr>
            <a:grpSpLocks/>
          </p:cNvGrpSpPr>
          <p:nvPr/>
        </p:nvGrpSpPr>
        <p:grpSpPr bwMode="auto">
          <a:xfrm>
            <a:off x="5434014" y="2555876"/>
            <a:ext cx="477837" cy="396875"/>
            <a:chOff x="1767" y="1612"/>
            <a:chExt cx="301" cy="250"/>
          </a:xfrm>
        </p:grpSpPr>
        <p:sp>
          <p:nvSpPr>
            <p:cNvPr id="24627" name="Line 123"/>
            <p:cNvSpPr>
              <a:spLocks noChangeShapeType="1"/>
            </p:cNvSpPr>
            <p:nvPr/>
          </p:nvSpPr>
          <p:spPr bwMode="auto">
            <a:xfrm>
              <a:off x="1767" y="1830"/>
              <a:ext cx="30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24628" name="Text Box 124"/>
            <p:cNvSpPr txBox="1">
              <a:spLocks noChangeArrowheads="1"/>
            </p:cNvSpPr>
            <p:nvPr/>
          </p:nvSpPr>
          <p:spPr bwMode="auto">
            <a:xfrm>
              <a:off x="1805" y="1612"/>
              <a:ext cx="2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  <a:latin typeface="Gill Sans MT" pitchFamily="34" charset="0"/>
                </a:rPr>
                <a:t>2</a:t>
              </a:r>
            </a:p>
          </p:txBody>
        </p:sp>
      </p:grpSp>
      <p:grpSp>
        <p:nvGrpSpPr>
          <p:cNvPr id="27" name="Group 125"/>
          <p:cNvGrpSpPr>
            <a:grpSpLocks/>
          </p:cNvGrpSpPr>
          <p:nvPr/>
        </p:nvGrpSpPr>
        <p:grpSpPr bwMode="auto">
          <a:xfrm>
            <a:off x="6553200" y="2555876"/>
            <a:ext cx="477838" cy="396875"/>
            <a:chOff x="1767" y="1612"/>
            <a:chExt cx="301" cy="250"/>
          </a:xfrm>
        </p:grpSpPr>
        <p:sp>
          <p:nvSpPr>
            <p:cNvPr id="24625" name="Line 126"/>
            <p:cNvSpPr>
              <a:spLocks noChangeShapeType="1"/>
            </p:cNvSpPr>
            <p:nvPr/>
          </p:nvSpPr>
          <p:spPr bwMode="auto">
            <a:xfrm>
              <a:off x="1767" y="1830"/>
              <a:ext cx="30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24626" name="Text Box 127"/>
            <p:cNvSpPr txBox="1">
              <a:spLocks noChangeArrowheads="1"/>
            </p:cNvSpPr>
            <p:nvPr/>
          </p:nvSpPr>
          <p:spPr bwMode="auto">
            <a:xfrm>
              <a:off x="1805" y="1612"/>
              <a:ext cx="2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  <a:latin typeface="Gill Sans MT" pitchFamily="34" charset="0"/>
                </a:rPr>
                <a:t>5</a:t>
              </a:r>
            </a:p>
          </p:txBody>
        </p:sp>
      </p:grpSp>
      <p:grpSp>
        <p:nvGrpSpPr>
          <p:cNvPr id="28" name="Group 128"/>
          <p:cNvGrpSpPr>
            <a:grpSpLocks/>
          </p:cNvGrpSpPr>
          <p:nvPr/>
        </p:nvGrpSpPr>
        <p:grpSpPr bwMode="auto">
          <a:xfrm>
            <a:off x="7681914" y="2555876"/>
            <a:ext cx="477837" cy="396875"/>
            <a:chOff x="1767" y="1612"/>
            <a:chExt cx="301" cy="250"/>
          </a:xfrm>
        </p:grpSpPr>
        <p:sp>
          <p:nvSpPr>
            <p:cNvPr id="24623" name="Line 129"/>
            <p:cNvSpPr>
              <a:spLocks noChangeShapeType="1"/>
            </p:cNvSpPr>
            <p:nvPr/>
          </p:nvSpPr>
          <p:spPr bwMode="auto">
            <a:xfrm>
              <a:off x="1767" y="1830"/>
              <a:ext cx="30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24624" name="Text Box 130"/>
            <p:cNvSpPr txBox="1">
              <a:spLocks noChangeArrowheads="1"/>
            </p:cNvSpPr>
            <p:nvPr/>
          </p:nvSpPr>
          <p:spPr bwMode="auto">
            <a:xfrm>
              <a:off x="1805" y="1612"/>
              <a:ext cx="2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  <a:latin typeface="Gill Sans MT" pitchFamily="34" charset="0"/>
                </a:rPr>
                <a:t>6</a:t>
              </a:r>
            </a:p>
          </p:txBody>
        </p:sp>
      </p:grpSp>
      <p:grpSp>
        <p:nvGrpSpPr>
          <p:cNvPr id="29" name="Group 136"/>
          <p:cNvGrpSpPr>
            <a:grpSpLocks/>
          </p:cNvGrpSpPr>
          <p:nvPr/>
        </p:nvGrpSpPr>
        <p:grpSpPr bwMode="auto">
          <a:xfrm>
            <a:off x="5681663" y="3225800"/>
            <a:ext cx="355600" cy="477838"/>
            <a:chOff x="4922" y="2173"/>
            <a:chExt cx="224" cy="301"/>
          </a:xfrm>
        </p:grpSpPr>
        <p:sp>
          <p:nvSpPr>
            <p:cNvPr id="24621" name="Line 132"/>
            <p:cNvSpPr>
              <a:spLocks noChangeShapeType="1"/>
            </p:cNvSpPr>
            <p:nvPr/>
          </p:nvSpPr>
          <p:spPr bwMode="auto">
            <a:xfrm rot="5286189">
              <a:off x="4968" y="2323"/>
              <a:ext cx="301" cy="1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24622" name="Text Box 133"/>
            <p:cNvSpPr txBox="1">
              <a:spLocks noChangeArrowheads="1"/>
            </p:cNvSpPr>
            <p:nvPr/>
          </p:nvSpPr>
          <p:spPr bwMode="auto">
            <a:xfrm>
              <a:off x="4922" y="2197"/>
              <a:ext cx="2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  <a:latin typeface="Gill Sans MT" pitchFamily="34" charset="0"/>
                </a:rPr>
                <a:t>3</a:t>
              </a:r>
            </a:p>
          </p:txBody>
        </p:sp>
      </p:grpSp>
      <p:grpSp>
        <p:nvGrpSpPr>
          <p:cNvPr id="30" name="Group 137"/>
          <p:cNvGrpSpPr>
            <a:grpSpLocks/>
          </p:cNvGrpSpPr>
          <p:nvPr/>
        </p:nvGrpSpPr>
        <p:grpSpPr bwMode="auto">
          <a:xfrm>
            <a:off x="6329363" y="3227389"/>
            <a:ext cx="355600" cy="477837"/>
            <a:chOff x="5204" y="2698"/>
            <a:chExt cx="224" cy="301"/>
          </a:xfrm>
        </p:grpSpPr>
        <p:sp>
          <p:nvSpPr>
            <p:cNvPr id="24619" name="Line 134"/>
            <p:cNvSpPr>
              <a:spLocks noChangeShapeType="1"/>
            </p:cNvSpPr>
            <p:nvPr/>
          </p:nvSpPr>
          <p:spPr bwMode="auto">
            <a:xfrm rot="5286189">
              <a:off x="5251" y="2846"/>
              <a:ext cx="301" cy="6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24620" name="Text Box 135"/>
            <p:cNvSpPr txBox="1">
              <a:spLocks noChangeArrowheads="1"/>
            </p:cNvSpPr>
            <p:nvPr/>
          </p:nvSpPr>
          <p:spPr bwMode="auto">
            <a:xfrm>
              <a:off x="5204" y="2722"/>
              <a:ext cx="2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  <a:latin typeface="Gill Sans MT" pitchFamily="34" charset="0"/>
                </a:rPr>
                <a:t>4</a:t>
              </a:r>
            </a:p>
          </p:txBody>
        </p:sp>
      </p:grpSp>
      <p:grpSp>
        <p:nvGrpSpPr>
          <p:cNvPr id="31" name="Group 138"/>
          <p:cNvGrpSpPr>
            <a:grpSpLocks/>
          </p:cNvGrpSpPr>
          <p:nvPr/>
        </p:nvGrpSpPr>
        <p:grpSpPr bwMode="auto">
          <a:xfrm>
            <a:off x="4306889" y="4305301"/>
            <a:ext cx="477837" cy="396875"/>
            <a:chOff x="1767" y="1612"/>
            <a:chExt cx="301" cy="250"/>
          </a:xfrm>
        </p:grpSpPr>
        <p:sp>
          <p:nvSpPr>
            <p:cNvPr id="24617" name="Line 139"/>
            <p:cNvSpPr>
              <a:spLocks noChangeShapeType="1"/>
            </p:cNvSpPr>
            <p:nvPr/>
          </p:nvSpPr>
          <p:spPr bwMode="auto">
            <a:xfrm>
              <a:off x="1767" y="1830"/>
              <a:ext cx="30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4618" name="Text Box 140"/>
            <p:cNvSpPr txBox="1">
              <a:spLocks noChangeArrowheads="1"/>
            </p:cNvSpPr>
            <p:nvPr/>
          </p:nvSpPr>
          <p:spPr bwMode="auto">
            <a:xfrm>
              <a:off x="1805" y="1612"/>
              <a:ext cx="2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  <a:latin typeface="+mn-lt"/>
                </a:rPr>
                <a:t>1</a:t>
              </a:r>
            </a:p>
          </p:txBody>
        </p:sp>
      </p:grpSp>
      <p:grpSp>
        <p:nvGrpSpPr>
          <p:cNvPr id="24640" name="Group 141"/>
          <p:cNvGrpSpPr>
            <a:grpSpLocks/>
          </p:cNvGrpSpPr>
          <p:nvPr/>
        </p:nvGrpSpPr>
        <p:grpSpPr bwMode="auto">
          <a:xfrm>
            <a:off x="5411789" y="4305301"/>
            <a:ext cx="477837" cy="396875"/>
            <a:chOff x="1767" y="1612"/>
            <a:chExt cx="301" cy="250"/>
          </a:xfrm>
        </p:grpSpPr>
        <p:sp>
          <p:nvSpPr>
            <p:cNvPr id="24615" name="Line 142"/>
            <p:cNvSpPr>
              <a:spLocks noChangeShapeType="1"/>
            </p:cNvSpPr>
            <p:nvPr/>
          </p:nvSpPr>
          <p:spPr bwMode="auto">
            <a:xfrm>
              <a:off x="1767" y="1830"/>
              <a:ext cx="30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24616" name="Text Box 143"/>
            <p:cNvSpPr txBox="1">
              <a:spLocks noChangeArrowheads="1"/>
            </p:cNvSpPr>
            <p:nvPr/>
          </p:nvSpPr>
          <p:spPr bwMode="auto">
            <a:xfrm>
              <a:off x="1805" y="1612"/>
              <a:ext cx="2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  <a:latin typeface="Gill Sans MT" pitchFamily="34" charset="0"/>
                </a:rPr>
                <a:t>2</a:t>
              </a:r>
            </a:p>
          </p:txBody>
        </p:sp>
      </p:grpSp>
      <p:grpSp>
        <p:nvGrpSpPr>
          <p:cNvPr id="24659" name="Group 147"/>
          <p:cNvGrpSpPr>
            <a:grpSpLocks/>
          </p:cNvGrpSpPr>
          <p:nvPr/>
        </p:nvGrpSpPr>
        <p:grpSpPr bwMode="auto">
          <a:xfrm>
            <a:off x="7659689" y="4305301"/>
            <a:ext cx="477837" cy="396875"/>
            <a:chOff x="1767" y="1612"/>
            <a:chExt cx="301" cy="250"/>
          </a:xfrm>
        </p:grpSpPr>
        <p:sp>
          <p:nvSpPr>
            <p:cNvPr id="24613" name="Line 148"/>
            <p:cNvSpPr>
              <a:spLocks noChangeShapeType="1"/>
            </p:cNvSpPr>
            <p:nvPr/>
          </p:nvSpPr>
          <p:spPr bwMode="auto">
            <a:xfrm>
              <a:off x="1767" y="1830"/>
              <a:ext cx="30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24614" name="Text Box 149"/>
            <p:cNvSpPr txBox="1">
              <a:spLocks noChangeArrowheads="1"/>
            </p:cNvSpPr>
            <p:nvPr/>
          </p:nvSpPr>
          <p:spPr bwMode="auto">
            <a:xfrm>
              <a:off x="1805" y="1612"/>
              <a:ext cx="2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  <a:latin typeface="Gill Sans MT" pitchFamily="34" charset="0"/>
                </a:rPr>
                <a:t>5</a:t>
              </a:r>
            </a:p>
          </p:txBody>
        </p:sp>
      </p:grpSp>
      <p:grpSp>
        <p:nvGrpSpPr>
          <p:cNvPr id="24661" name="Group 150"/>
          <p:cNvGrpSpPr>
            <a:grpSpLocks/>
          </p:cNvGrpSpPr>
          <p:nvPr/>
        </p:nvGrpSpPr>
        <p:grpSpPr bwMode="auto">
          <a:xfrm>
            <a:off x="5691188" y="4973639"/>
            <a:ext cx="355600" cy="477837"/>
            <a:chOff x="4922" y="2173"/>
            <a:chExt cx="224" cy="301"/>
          </a:xfrm>
        </p:grpSpPr>
        <p:sp>
          <p:nvSpPr>
            <p:cNvPr id="24611" name="Line 151"/>
            <p:cNvSpPr>
              <a:spLocks noChangeShapeType="1"/>
            </p:cNvSpPr>
            <p:nvPr/>
          </p:nvSpPr>
          <p:spPr bwMode="auto">
            <a:xfrm rot="5286189">
              <a:off x="4968" y="2323"/>
              <a:ext cx="301" cy="1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24612" name="Text Box 152"/>
            <p:cNvSpPr txBox="1">
              <a:spLocks noChangeArrowheads="1"/>
            </p:cNvSpPr>
            <p:nvPr/>
          </p:nvSpPr>
          <p:spPr bwMode="auto">
            <a:xfrm>
              <a:off x="4922" y="2197"/>
              <a:ext cx="2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  <a:latin typeface="Gill Sans MT" pitchFamily="34" charset="0"/>
                </a:rPr>
                <a:t>3</a:t>
              </a:r>
            </a:p>
          </p:txBody>
        </p:sp>
      </p:grpSp>
      <p:grpSp>
        <p:nvGrpSpPr>
          <p:cNvPr id="24662" name="Group 156"/>
          <p:cNvGrpSpPr>
            <a:grpSpLocks/>
          </p:cNvGrpSpPr>
          <p:nvPr/>
        </p:nvGrpSpPr>
        <p:grpSpPr bwMode="auto">
          <a:xfrm>
            <a:off x="6756401" y="5262563"/>
            <a:ext cx="473075" cy="450850"/>
            <a:chOff x="3296" y="3315"/>
            <a:chExt cx="298" cy="284"/>
          </a:xfrm>
        </p:grpSpPr>
        <p:sp>
          <p:nvSpPr>
            <p:cNvPr id="24609" name="Line 154"/>
            <p:cNvSpPr>
              <a:spLocks noChangeShapeType="1"/>
            </p:cNvSpPr>
            <p:nvPr/>
          </p:nvSpPr>
          <p:spPr bwMode="auto">
            <a:xfrm rot="5286189">
              <a:off x="3309" y="3302"/>
              <a:ext cx="228" cy="253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24610" name="Text Box 155"/>
            <p:cNvSpPr txBox="1">
              <a:spLocks noChangeArrowheads="1"/>
            </p:cNvSpPr>
            <p:nvPr/>
          </p:nvSpPr>
          <p:spPr bwMode="auto">
            <a:xfrm>
              <a:off x="3370" y="3349"/>
              <a:ext cx="2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  <a:latin typeface="Gill Sans MT" pitchFamily="34" charset="0"/>
                </a:rPr>
                <a:t>4</a:t>
              </a:r>
            </a:p>
          </p:txBody>
        </p:sp>
      </p:grpSp>
      <p:grpSp>
        <p:nvGrpSpPr>
          <p:cNvPr id="24663" name="Group 169"/>
          <p:cNvGrpSpPr>
            <a:grpSpLocks/>
          </p:cNvGrpSpPr>
          <p:nvPr/>
        </p:nvGrpSpPr>
        <p:grpSpPr bwMode="auto">
          <a:xfrm>
            <a:off x="4310064" y="835026"/>
            <a:ext cx="477837" cy="396875"/>
            <a:chOff x="1767" y="1612"/>
            <a:chExt cx="301" cy="250"/>
          </a:xfrm>
        </p:grpSpPr>
        <p:sp>
          <p:nvSpPr>
            <p:cNvPr id="24607" name="Line 170"/>
            <p:cNvSpPr>
              <a:spLocks noChangeShapeType="1"/>
            </p:cNvSpPr>
            <p:nvPr/>
          </p:nvSpPr>
          <p:spPr bwMode="auto">
            <a:xfrm>
              <a:off x="1767" y="1830"/>
              <a:ext cx="30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08" name="Text Box 171"/>
            <p:cNvSpPr txBox="1">
              <a:spLocks noChangeArrowheads="1"/>
            </p:cNvSpPr>
            <p:nvPr/>
          </p:nvSpPr>
          <p:spPr bwMode="auto">
            <a:xfrm>
              <a:off x="1805" y="1612"/>
              <a:ext cx="2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dirty="0">
                  <a:solidFill>
                    <a:schemeClr val="hlink"/>
                  </a:solidFill>
                </a:rPr>
                <a:t>1</a:t>
              </a:r>
            </a:p>
          </p:txBody>
        </p:sp>
      </p:grpSp>
      <p:grpSp>
        <p:nvGrpSpPr>
          <p:cNvPr id="24664" name="Group 172"/>
          <p:cNvGrpSpPr>
            <a:grpSpLocks/>
          </p:cNvGrpSpPr>
          <p:nvPr/>
        </p:nvGrpSpPr>
        <p:grpSpPr bwMode="auto">
          <a:xfrm>
            <a:off x="5414964" y="835026"/>
            <a:ext cx="477837" cy="396875"/>
            <a:chOff x="1767" y="1612"/>
            <a:chExt cx="301" cy="250"/>
          </a:xfrm>
        </p:grpSpPr>
        <p:sp>
          <p:nvSpPr>
            <p:cNvPr id="24605" name="Line 173"/>
            <p:cNvSpPr>
              <a:spLocks noChangeShapeType="1"/>
            </p:cNvSpPr>
            <p:nvPr/>
          </p:nvSpPr>
          <p:spPr bwMode="auto">
            <a:xfrm>
              <a:off x="1767" y="1830"/>
              <a:ext cx="30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06" name="Text Box 174"/>
            <p:cNvSpPr txBox="1">
              <a:spLocks noChangeArrowheads="1"/>
            </p:cNvSpPr>
            <p:nvPr/>
          </p:nvSpPr>
          <p:spPr bwMode="auto">
            <a:xfrm>
              <a:off x="1805" y="1612"/>
              <a:ext cx="2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</a:rPr>
                <a:t>2</a:t>
              </a:r>
            </a:p>
          </p:txBody>
        </p:sp>
      </p:grpSp>
      <p:grpSp>
        <p:nvGrpSpPr>
          <p:cNvPr id="24667" name="Group 175"/>
          <p:cNvGrpSpPr>
            <a:grpSpLocks/>
          </p:cNvGrpSpPr>
          <p:nvPr/>
        </p:nvGrpSpPr>
        <p:grpSpPr bwMode="auto">
          <a:xfrm>
            <a:off x="6534150" y="835026"/>
            <a:ext cx="477838" cy="396875"/>
            <a:chOff x="1767" y="1612"/>
            <a:chExt cx="301" cy="250"/>
          </a:xfrm>
        </p:grpSpPr>
        <p:sp>
          <p:nvSpPr>
            <p:cNvPr id="24603" name="Line 176"/>
            <p:cNvSpPr>
              <a:spLocks noChangeShapeType="1"/>
            </p:cNvSpPr>
            <p:nvPr/>
          </p:nvSpPr>
          <p:spPr bwMode="auto">
            <a:xfrm>
              <a:off x="1767" y="1830"/>
              <a:ext cx="30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04" name="Text Box 177"/>
            <p:cNvSpPr txBox="1">
              <a:spLocks noChangeArrowheads="1"/>
            </p:cNvSpPr>
            <p:nvPr/>
          </p:nvSpPr>
          <p:spPr bwMode="auto">
            <a:xfrm>
              <a:off x="1805" y="1612"/>
              <a:ext cx="2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</a:rPr>
                <a:t>3</a:t>
              </a:r>
            </a:p>
          </p:txBody>
        </p:sp>
      </p:grpSp>
      <p:grpSp>
        <p:nvGrpSpPr>
          <p:cNvPr id="24668" name="Group 178"/>
          <p:cNvGrpSpPr>
            <a:grpSpLocks/>
          </p:cNvGrpSpPr>
          <p:nvPr/>
        </p:nvGrpSpPr>
        <p:grpSpPr bwMode="auto">
          <a:xfrm>
            <a:off x="7662864" y="835026"/>
            <a:ext cx="477837" cy="396875"/>
            <a:chOff x="1767" y="1612"/>
            <a:chExt cx="301" cy="250"/>
          </a:xfrm>
        </p:grpSpPr>
        <p:sp>
          <p:nvSpPr>
            <p:cNvPr id="24601" name="Line 179"/>
            <p:cNvSpPr>
              <a:spLocks noChangeShapeType="1"/>
            </p:cNvSpPr>
            <p:nvPr/>
          </p:nvSpPr>
          <p:spPr bwMode="auto">
            <a:xfrm>
              <a:off x="1767" y="1830"/>
              <a:ext cx="30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02" name="Text Box 180"/>
            <p:cNvSpPr txBox="1">
              <a:spLocks noChangeArrowheads="1"/>
            </p:cNvSpPr>
            <p:nvPr/>
          </p:nvSpPr>
          <p:spPr bwMode="auto">
            <a:xfrm>
              <a:off x="1805" y="1612"/>
              <a:ext cx="2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</a:rPr>
                <a:t>4</a:t>
              </a:r>
            </a:p>
          </p:txBody>
        </p:sp>
      </p:grpSp>
      <p:sp>
        <p:nvSpPr>
          <p:cNvPr id="24600" name="Text Box 181"/>
          <p:cNvSpPr txBox="1">
            <a:spLocks noChangeArrowheads="1"/>
          </p:cNvSpPr>
          <p:nvPr/>
        </p:nvSpPr>
        <p:spPr bwMode="auto">
          <a:xfrm>
            <a:off x="2974976" y="1641476"/>
            <a:ext cx="2855913" cy="1015663"/>
          </a:xfrm>
          <a:prstGeom prst="rect">
            <a:avLst/>
          </a:prstGeom>
          <a:solidFill>
            <a:srgbClr val="0066FF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0" dirty="0">
                <a:solidFill>
                  <a:schemeClr val="tx1"/>
                </a:solidFill>
                <a:latin typeface="Gill Sans MT" pitchFamily="34" charset="0"/>
              </a:rPr>
              <a:t>Touring the prime path [1, 2, 3, 5, 6] without </a:t>
            </a:r>
            <a:r>
              <a:rPr lang="en-US" b="0" u="sng" dirty="0" err="1">
                <a:solidFill>
                  <a:schemeClr val="tx1"/>
                </a:solidFill>
                <a:latin typeface="Gill Sans MT" pitchFamily="34" charset="0"/>
              </a:rPr>
              <a:t>sidetrips</a:t>
            </a:r>
            <a:r>
              <a:rPr lang="en-US" b="0" u="sng" dirty="0">
                <a:solidFill>
                  <a:schemeClr val="tx1"/>
                </a:solidFill>
                <a:latin typeface="Gill Sans MT" pitchFamily="34" charset="0"/>
              </a:rPr>
              <a:t> or detours</a:t>
            </a:r>
            <a:endParaRPr lang="en-US" b="0" dirty="0">
              <a:latin typeface="Gill Sans MT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4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4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4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500"/>
                            </p:stCondLst>
                            <p:childTnLst>
                              <p:par>
                                <p:cTn id="47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4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4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500"/>
                            </p:stCondLst>
                            <p:childTnLst>
                              <p:par>
                                <p:cTn id="69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4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0"/>
                            </p:stCondLst>
                            <p:childTnLst>
                              <p:par>
                                <p:cTn id="73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24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A4E9D78-CC74-4039-A216-297B5B132F4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256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Infeasible Test Requirements</a:t>
            </a:r>
          </a:p>
        </p:txBody>
      </p:sp>
      <p:sp>
        <p:nvSpPr>
          <p:cNvPr id="256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2114" y="830011"/>
            <a:ext cx="8867775" cy="1203325"/>
          </a:xfrm>
        </p:spPr>
        <p:txBody>
          <a:bodyPr/>
          <a:lstStyle/>
          <a:p>
            <a:r>
              <a:rPr lang="en-US" dirty="0"/>
              <a:t>An </a:t>
            </a:r>
            <a:r>
              <a:rPr lang="en-US" dirty="0">
                <a:solidFill>
                  <a:schemeClr val="tx2"/>
                </a:solidFill>
              </a:rPr>
              <a:t>infeasible</a:t>
            </a:r>
            <a:r>
              <a:rPr lang="en-US" dirty="0"/>
              <a:t> test requirement </a:t>
            </a:r>
            <a:r>
              <a:rPr lang="en-US" u="sng" dirty="0"/>
              <a:t>cannot be satisfied</a:t>
            </a:r>
          </a:p>
          <a:p>
            <a:pPr lvl="1"/>
            <a:r>
              <a:rPr lang="en-US" sz="2000" dirty="0"/>
              <a:t>Unreachable statement (dead code)</a:t>
            </a:r>
          </a:p>
          <a:p>
            <a:pPr lvl="1"/>
            <a:r>
              <a:rPr lang="en-US" sz="2000" dirty="0" err="1"/>
              <a:t>Subpath</a:t>
            </a:r>
            <a:r>
              <a:rPr lang="en-US" sz="2000" dirty="0"/>
              <a:t> that can only be executed with a contradiction (</a:t>
            </a:r>
            <a:r>
              <a:rPr lang="en-US" sz="2000" i="1" dirty="0"/>
              <a:t>X &gt; 0</a:t>
            </a:r>
            <a:r>
              <a:rPr lang="en-US" sz="2000" dirty="0"/>
              <a:t> and </a:t>
            </a:r>
            <a:r>
              <a:rPr lang="en-US" sz="2000" i="1" dirty="0"/>
              <a:t>X &lt; 0</a:t>
            </a:r>
            <a:r>
              <a:rPr lang="en-US" sz="2000" dirty="0"/>
              <a:t>)</a:t>
            </a:r>
          </a:p>
        </p:txBody>
      </p:sp>
      <p:sp>
        <p:nvSpPr>
          <p:cNvPr id="176132" name="Text Box 4"/>
          <p:cNvSpPr txBox="1">
            <a:spLocks noChangeArrowheads="1"/>
          </p:cNvSpPr>
          <p:nvPr/>
        </p:nvSpPr>
        <p:spPr bwMode="auto">
          <a:xfrm>
            <a:off x="2300862" y="5125727"/>
            <a:ext cx="7599393" cy="1089529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  <a:buSzPct val="85000"/>
            </a:pPr>
            <a:r>
              <a:rPr lang="en-US" sz="2400" u="sng" dirty="0">
                <a:solidFill>
                  <a:schemeClr val="tx1"/>
                </a:solidFill>
                <a:latin typeface="Gill Sans MT" pitchFamily="34" charset="0"/>
              </a:rPr>
              <a:t>Practical recommendation—</a:t>
            </a:r>
            <a:r>
              <a:rPr lang="en-US" sz="2400" u="sng" dirty="0">
                <a:solidFill>
                  <a:schemeClr val="tx2"/>
                </a:solidFill>
                <a:latin typeface="Gill Sans MT" pitchFamily="34" charset="0"/>
              </a:rPr>
              <a:t>Best Effort Touring</a:t>
            </a:r>
            <a:endParaRPr lang="en-US" sz="2400" dirty="0">
              <a:solidFill>
                <a:schemeClr val="tx2"/>
              </a:solidFill>
              <a:latin typeface="Gill Sans MT" pitchFamily="34" charset="0"/>
            </a:endParaRPr>
          </a:p>
          <a:p>
            <a:pPr lvl="1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–"/>
            </a:pPr>
            <a:r>
              <a:rPr lang="en-US" sz="1800" dirty="0">
                <a:solidFill>
                  <a:schemeClr val="tx1"/>
                </a:solidFill>
                <a:latin typeface="Gill Sans MT" pitchFamily="34" charset="0"/>
              </a:rPr>
              <a:t> Satisfy as many test requirements as possible without </a:t>
            </a:r>
            <a:r>
              <a:rPr lang="en-US" sz="1800" dirty="0" err="1">
                <a:solidFill>
                  <a:schemeClr val="tx1"/>
                </a:solidFill>
                <a:latin typeface="Gill Sans MT" pitchFamily="34" charset="0"/>
              </a:rPr>
              <a:t>sidetrips</a:t>
            </a:r>
            <a:endParaRPr lang="en-US" sz="1800" dirty="0">
              <a:solidFill>
                <a:schemeClr val="tx1"/>
              </a:solidFill>
              <a:latin typeface="Gill Sans MT" pitchFamily="34" charset="0"/>
            </a:endParaRPr>
          </a:p>
          <a:p>
            <a:pPr lvl="1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–"/>
            </a:pPr>
            <a:r>
              <a:rPr lang="en-US" sz="1800" dirty="0">
                <a:solidFill>
                  <a:schemeClr val="tx1"/>
                </a:solidFill>
                <a:latin typeface="Gill Sans MT" pitchFamily="34" charset="0"/>
              </a:rPr>
              <a:t> Allow </a:t>
            </a:r>
            <a:r>
              <a:rPr lang="en-US" sz="1800" dirty="0" err="1">
                <a:solidFill>
                  <a:schemeClr val="tx1"/>
                </a:solidFill>
                <a:latin typeface="Gill Sans MT" pitchFamily="34" charset="0"/>
              </a:rPr>
              <a:t>sidetrips</a:t>
            </a:r>
            <a:r>
              <a:rPr lang="en-US" sz="1800" dirty="0">
                <a:solidFill>
                  <a:schemeClr val="tx1"/>
                </a:solidFill>
                <a:latin typeface="Gill Sans MT" pitchFamily="34" charset="0"/>
              </a:rPr>
              <a:t> to try to satisfy remaining test requirements</a:t>
            </a:r>
            <a:endParaRPr lang="en-US" dirty="0">
              <a:latin typeface="Gill Sans MT" pitchFamily="34" charset="0"/>
            </a:endParaRPr>
          </a:p>
        </p:txBody>
      </p:sp>
      <p:sp>
        <p:nvSpPr>
          <p:cNvPr id="176133" name="Rectangle 5"/>
          <p:cNvSpPr>
            <a:spLocks noChangeArrowheads="1"/>
          </p:cNvSpPr>
          <p:nvPr/>
        </p:nvSpPr>
        <p:spPr bwMode="auto">
          <a:xfrm>
            <a:off x="1662114" y="1985211"/>
            <a:ext cx="8867775" cy="29693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Most test </a:t>
            </a: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criteria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have some infeasible test requirements</a:t>
            </a:r>
          </a:p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It is usually </a:t>
            </a:r>
            <a:r>
              <a:rPr lang="en-US" sz="2800" b="0" dirty="0" err="1">
                <a:solidFill>
                  <a:schemeClr val="tx2"/>
                </a:solidFill>
                <a:latin typeface="Gill Sans MT" pitchFamily="34" charset="0"/>
              </a:rPr>
              <a:t>undecidable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whether all test requirements are feasible</a:t>
            </a:r>
          </a:p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When </a:t>
            </a:r>
            <a:r>
              <a:rPr lang="en-US" sz="2800" b="0" dirty="0" err="1">
                <a:solidFill>
                  <a:schemeClr val="tx1"/>
                </a:solidFill>
                <a:latin typeface="Gill Sans MT" pitchFamily="34" charset="0"/>
              </a:rPr>
              <a:t>sidetrips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are not allowed, many structural criteria have </a:t>
            </a: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more infeasible test requirements</a:t>
            </a:r>
          </a:p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However, always allowing </a:t>
            </a:r>
            <a:r>
              <a:rPr lang="en-US" sz="2800" b="0" dirty="0" err="1">
                <a:solidFill>
                  <a:schemeClr val="tx2"/>
                </a:solidFill>
                <a:latin typeface="Gill Sans MT" pitchFamily="34" charset="0"/>
              </a:rPr>
              <a:t>sidetrips</a:t>
            </a: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 weakens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the test criteria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1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76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2" grpId="0" animBg="1" autoUpdateAnimBg="0"/>
      <p:bldP spid="176133" grpId="0" build="p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Best Effort Touring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Let </a:t>
            </a:r>
            <a:r>
              <a:rPr lang="en-US" altLang="zh-CN" dirty="0" err="1"/>
              <a:t>TR</a:t>
            </a:r>
            <a:r>
              <a:rPr lang="en-US" altLang="zh-CN" baseline="-25000" dirty="0" err="1"/>
              <a:t>tour</a:t>
            </a:r>
            <a:r>
              <a:rPr lang="en-US" altLang="zh-CN" baseline="-25000" dirty="0"/>
              <a:t>  </a:t>
            </a:r>
            <a:r>
              <a:rPr lang="en-US" altLang="zh-CN" dirty="0"/>
              <a:t>be the subset of test requirements that can be toured and </a:t>
            </a:r>
            <a:r>
              <a:rPr lang="en-US" altLang="zh-CN" dirty="0" err="1"/>
              <a:t>TR</a:t>
            </a:r>
            <a:r>
              <a:rPr lang="en-US" altLang="zh-CN" baseline="-25000" dirty="0" err="1"/>
              <a:t>sidetrip</a:t>
            </a:r>
            <a:r>
              <a:rPr lang="en-US" altLang="zh-CN" dirty="0"/>
              <a:t> be the subset of test requirements that can be toured with </a:t>
            </a:r>
            <a:r>
              <a:rPr lang="en-US" altLang="zh-CN" dirty="0" err="1"/>
              <a:t>sidetrips</a:t>
            </a:r>
            <a:r>
              <a:rPr lang="en-US" altLang="zh-CN" dirty="0"/>
              <a:t>. </a:t>
            </a:r>
          </a:p>
          <a:p>
            <a:pPr lvl="1"/>
            <a:r>
              <a:rPr lang="en-US" altLang="zh-CN" dirty="0"/>
              <a:t>Note that </a:t>
            </a:r>
            <a:r>
              <a:rPr lang="en-US" altLang="zh-CN" dirty="0" err="1"/>
              <a:t>TR</a:t>
            </a:r>
            <a:r>
              <a:rPr lang="en-US" altLang="zh-CN" baseline="-25000" dirty="0" err="1"/>
              <a:t>tour</a:t>
            </a:r>
            <a:r>
              <a:rPr lang="en-US" altLang="zh-CN" dirty="0"/>
              <a:t> </a:t>
            </a:r>
            <a:r>
              <a:rPr lang="en-US" altLang="zh-CN" dirty="0">
                <a:latin typeface="Cambria Math"/>
                <a:ea typeface="Cambria Math"/>
              </a:rPr>
              <a:t>⊆</a:t>
            </a:r>
            <a:r>
              <a:rPr lang="en-US" altLang="zh-CN" dirty="0" err="1"/>
              <a:t>TR</a:t>
            </a:r>
            <a:r>
              <a:rPr lang="en-US" altLang="zh-CN" baseline="-25000" dirty="0" err="1"/>
              <a:t>sidetrip</a:t>
            </a:r>
            <a:r>
              <a:rPr lang="en-US" altLang="zh-CN" baseline="-25000" dirty="0"/>
              <a:t>.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A set T of test paths achieves </a:t>
            </a:r>
            <a:r>
              <a:rPr lang="en-US" altLang="zh-CN" dirty="0">
                <a:solidFill>
                  <a:schemeClr val="tx2"/>
                </a:solidFill>
              </a:rPr>
              <a:t>best effort touring </a:t>
            </a:r>
            <a:r>
              <a:rPr lang="en-US" altLang="zh-CN" dirty="0"/>
              <a:t>if for every path p in </a:t>
            </a:r>
            <a:r>
              <a:rPr lang="en-US" altLang="zh-CN" dirty="0" err="1"/>
              <a:t>TR</a:t>
            </a:r>
            <a:r>
              <a:rPr lang="en-US" altLang="zh-CN" baseline="-25000" dirty="0" err="1"/>
              <a:t>tour</a:t>
            </a:r>
            <a:r>
              <a:rPr lang="en-US" altLang="zh-CN" dirty="0"/>
              <a:t>  some path in T tours p directly and for every path p in </a:t>
            </a:r>
            <a:r>
              <a:rPr lang="en-US" altLang="zh-CN" dirty="0" err="1"/>
              <a:t>Tr</a:t>
            </a:r>
            <a:r>
              <a:rPr lang="en-US" altLang="zh-CN" baseline="-25000" dirty="0" err="1"/>
              <a:t>sidetrip</a:t>
            </a:r>
            <a:r>
              <a:rPr lang="en-US" altLang="zh-CN" baseline="-25000" dirty="0"/>
              <a:t> ,</a:t>
            </a:r>
            <a:r>
              <a:rPr lang="en-US" altLang="zh-CN" dirty="0"/>
              <a:t> some paths in T tours p either directly or with a </a:t>
            </a:r>
            <a:r>
              <a:rPr lang="en-US" altLang="zh-CN" dirty="0" err="1"/>
              <a:t>sidetrip</a:t>
            </a:r>
            <a:r>
              <a:rPr lang="en-US" altLang="zh-CN" dirty="0"/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2922704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D263327-8E01-405E-8BE7-C08128D9F896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Round Trips</a:t>
            </a:r>
          </a:p>
        </p:txBody>
      </p:sp>
      <p:sp>
        <p:nvSpPr>
          <p:cNvPr id="215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2114" y="1085850"/>
            <a:ext cx="8867775" cy="935038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Round-Trip Path</a:t>
            </a:r>
            <a:r>
              <a:rPr lang="en-US" dirty="0"/>
              <a:t> : </a:t>
            </a:r>
            <a:r>
              <a:rPr lang="en-US" i="1" dirty="0"/>
              <a:t>A prime path that starts and ends at the same node</a:t>
            </a:r>
          </a:p>
        </p:txBody>
      </p:sp>
      <p:sp>
        <p:nvSpPr>
          <p:cNvPr id="200708" name="Text Box 4"/>
          <p:cNvSpPr txBox="1">
            <a:spLocks noChangeArrowheads="1"/>
          </p:cNvSpPr>
          <p:nvPr/>
        </p:nvSpPr>
        <p:spPr bwMode="auto">
          <a:xfrm>
            <a:off x="1963739" y="2159995"/>
            <a:ext cx="8262937" cy="1206500"/>
          </a:xfrm>
          <a:prstGeom prst="rect">
            <a:avLst/>
          </a:prstGeom>
          <a:gradFill rotWithShape="1">
            <a:gsLst>
              <a:gs pos="0">
                <a:srgbClr val="0066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Simple Round Trip Coverage (SRTC)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: TR contains at least one round-trip path for each reachable node in G that begins and ends a round-trip path.</a:t>
            </a:r>
          </a:p>
        </p:txBody>
      </p:sp>
      <p:sp>
        <p:nvSpPr>
          <p:cNvPr id="200709" name="Text Box 5"/>
          <p:cNvSpPr txBox="1">
            <a:spLocks noChangeArrowheads="1"/>
          </p:cNvSpPr>
          <p:nvPr/>
        </p:nvSpPr>
        <p:spPr bwMode="auto">
          <a:xfrm>
            <a:off x="1963739" y="3672884"/>
            <a:ext cx="8262937" cy="841375"/>
          </a:xfrm>
          <a:prstGeom prst="rect">
            <a:avLst/>
          </a:prstGeom>
          <a:gradFill rotWithShape="1">
            <a:gsLst>
              <a:gs pos="0">
                <a:srgbClr val="0066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400" u="sng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Complete Round Trip Coverage (CRTC)</a:t>
            </a:r>
            <a:r>
              <a:rPr lang="en-US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: TR contains all round-trip paths for each reachable node in G.</a:t>
            </a:r>
          </a:p>
        </p:txBody>
      </p:sp>
      <p:sp>
        <p:nvSpPr>
          <p:cNvPr id="200710" name="Rectangle 6"/>
          <p:cNvSpPr>
            <a:spLocks noChangeArrowheads="1"/>
          </p:cNvSpPr>
          <p:nvPr/>
        </p:nvSpPr>
        <p:spPr bwMode="auto">
          <a:xfrm>
            <a:off x="1662114" y="4622546"/>
            <a:ext cx="8867775" cy="17902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These criteria </a:t>
            </a: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omit nodes and edges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that are not in round trips</a:t>
            </a:r>
          </a:p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Thus, they do </a:t>
            </a: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not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subsume edge-pair, edge, or node coverage</a:t>
            </a:r>
            <a:endParaRPr lang="en-US" sz="2800" b="0" i="1" dirty="0">
              <a:solidFill>
                <a:schemeClr val="tx1"/>
              </a:solidFill>
              <a:latin typeface="Gill Sans MT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0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0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00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08" grpId="0" animBg="1" autoUpdateAnimBg="0"/>
      <p:bldP spid="200709" grpId="0" animBg="1" autoUpdateAnimBg="0"/>
      <p:bldP spid="20071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6BADF6-2EF1-44D6-898C-7E845FA8B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Questions (1)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E73719-B508-4516-9F81-393777857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1" y="1085850"/>
            <a:ext cx="9121774" cy="5392738"/>
          </a:xfrm>
        </p:spPr>
        <p:txBody>
          <a:bodyPr/>
          <a:lstStyle/>
          <a:p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如何在测试过程中使用图？</a:t>
            </a:r>
          </a:p>
          <a:p>
            <a:pPr lvl="1"/>
            <a:r>
              <a:rPr lang="zh-CN" altLang="en-US" dirty="0"/>
              <a:t>将软件开发过程中的产物建模成图，然后按照指定的覆盖准则覆盖图，如访问指定的节点集合、边或游历指定的子路径。</a:t>
            </a:r>
          </a:p>
          <a:p>
            <a:pPr lvl="1"/>
            <a:r>
              <a:rPr lang="zh-CN" altLang="en-US" dirty="0"/>
              <a:t>分别对应两个方面的问题：软件开发产物与图之间如何建立联系？如何设计合适的覆盖准则？</a:t>
            </a:r>
          </a:p>
          <a:p>
            <a:r>
              <a:rPr lang="zh-CN" altLang="zh-C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一般从哪些角度设计图覆盖标准？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zh-CN" altLang="zh-CN" kern="1200" dirty="0"/>
              <a:t>结构化覆盖（覆盖点、边、子路径）</a:t>
            </a:r>
            <a:endParaRPr lang="en-US" altLang="zh-CN" kern="1200" dirty="0"/>
          </a:p>
          <a:p>
            <a:pPr lvl="1"/>
            <a:r>
              <a:rPr lang="zh-CN" altLang="zh-CN" kern="1200" dirty="0"/>
              <a:t>数据流覆盖（在图中体现程序中的变量，考虑如何覆盖变量）</a:t>
            </a:r>
            <a:endParaRPr lang="zh-CN" altLang="en-US" dirty="0"/>
          </a:p>
          <a:p>
            <a:r>
              <a:rPr lang="zh-CN" altLang="zh-C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常见的结构化图覆盖标准有哪些</a:t>
            </a:r>
            <a:r>
              <a:rPr lang="zh-CN" altLang="zh-CN" dirty="0"/>
              <a:t>？</a:t>
            </a:r>
            <a:endParaRPr lang="en-US" altLang="zh-CN" dirty="0"/>
          </a:p>
          <a:p>
            <a:pPr lvl="1"/>
            <a:r>
              <a:rPr lang="zh-CN" altLang="zh-CN" kern="1200" dirty="0"/>
              <a:t>点覆盖、边覆盖、边对覆盖、完全路径覆盖、指定路径覆盖、主路径覆盖、简单环路覆盖、完全环路覆盖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83303D-9071-4DE9-8EFF-0E95A196D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1E34D2-BFAA-43E6-B117-0A7C9FC99B38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11781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C5BBEE-7256-4354-9740-DD7FAF4F4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Questions (2)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526B07-541C-47DA-9B00-712B76A26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一个有效的图应该具备哪些要素？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zh-CN" altLang="en-US" dirty="0"/>
              <a:t>非空的节点集合、非空的起始节点集合、非空的终结节点集合、边集（可以为空）</a:t>
            </a:r>
            <a:endParaRPr lang="en-US" altLang="zh-CN" dirty="0"/>
          </a:p>
          <a:p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Syntactic reach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和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Semantic reach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的区别是什么？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语法仅是从图的结构上存在对应的子路径，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语义是指存在测试用例能够执行对应的子路径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Visit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和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tour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有何区别？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作用对象不同：</a:t>
            </a:r>
            <a:r>
              <a:rPr lang="en-US" altLang="zh-CN" sz="2800" dirty="0"/>
              <a:t>visit</a:t>
            </a:r>
            <a:r>
              <a:rPr lang="zh-CN" altLang="en-US" sz="2800" dirty="0"/>
              <a:t>作用于点或边；</a:t>
            </a:r>
            <a:r>
              <a:rPr lang="en-US" altLang="zh-CN" sz="2800" dirty="0"/>
              <a:t>tour</a:t>
            </a:r>
            <a:r>
              <a:rPr lang="zh-CN" altLang="en-US" sz="2800" dirty="0"/>
              <a:t>作用于子路径</a:t>
            </a:r>
            <a:endParaRPr lang="en-US" altLang="zh-CN" sz="2800" dirty="0"/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但如果把边视作子路径，则使用</a:t>
            </a:r>
            <a:r>
              <a:rPr lang="en-US" altLang="zh-CN" sz="2800" dirty="0"/>
              <a:t>tour</a:t>
            </a:r>
            <a:r>
              <a:rPr lang="zh-CN" altLang="en-US" sz="2800" dirty="0"/>
              <a:t>亦可</a:t>
            </a:r>
            <a:endParaRPr lang="en-US" altLang="zh-C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32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AFE5A9-8B6D-4217-B3A1-9F28B0423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1E34D2-BFAA-43E6-B117-0A7C9FC99B38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97909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68B43D-E069-4825-AB4D-8EE1C9005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Questions (3)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7BF4F3-4749-436A-81DB-ED89DDC41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路径与测试路径的区别是什么？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zh-CN" altLang="en-US" dirty="0"/>
              <a:t>测试路径必须从起始节点开始并以终结节点结束。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zh-CN" altLang="en-US" dirty="0"/>
              <a:t>路径没有上述要求。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测试用例与测试路径之间的关系是什么？</a:t>
            </a:r>
          </a:p>
          <a:p>
            <a:pPr lvl="1"/>
            <a:r>
              <a:rPr lang="zh-CN" altLang="en-US" dirty="0"/>
              <a:t>确定的测试：一个测试用例执行唯一一个测试路径。测试用例与测试路径之间是多对一的关系</a:t>
            </a:r>
            <a:endParaRPr lang="en-US" altLang="zh-CN" dirty="0"/>
          </a:p>
          <a:p>
            <a:pPr lvl="1"/>
            <a:r>
              <a:rPr lang="zh-CN" altLang="en-US" dirty="0"/>
              <a:t>不确定的测试：测试用例与测试路径之间是多对多的关系</a:t>
            </a:r>
            <a:endParaRPr lang="en-US" altLang="zh-CN" dirty="0"/>
          </a:p>
          <a:p>
            <a:pPr lvl="1"/>
            <a:r>
              <a:rPr lang="zh-CN" altLang="en-US" dirty="0"/>
              <a:t>然而，存在不可能被测试用例执行的测试路径。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什么是简单路径？什么是</a:t>
            </a:r>
            <a:r>
              <a:rPr lang="zh-CN" altLang="zh-C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主路径？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zh-CN" altLang="en-US" dirty="0"/>
              <a:t>简单路径：首尾节点不同的路径除非是环，即没有内部环路的路径。</a:t>
            </a:r>
            <a:endParaRPr lang="en-US" altLang="zh-CN" dirty="0"/>
          </a:p>
          <a:p>
            <a:pPr lvl="1"/>
            <a:r>
              <a:rPr lang="zh-CN" altLang="en-US" dirty="0"/>
              <a:t>主路径：不作为其他简单路径的真子路径出现的简单路径，即不能再延申的简单路径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4444E8-ABAF-43DD-82EC-387F7D884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1E34D2-BFAA-43E6-B117-0A7C9FC99B38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49688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A0085D-A07F-4AE6-ABE8-03CED8F69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Questions (4)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52394B-87DC-4A7B-B724-9F7E1FC1D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点覆盖与边覆盖之间的关系是什么？在什么情况下存在不同的测试需求？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zh-CN" altLang="en-US" dirty="0"/>
              <a:t>边覆盖包含点覆盖。</a:t>
            </a:r>
            <a:endParaRPr lang="en-US" altLang="zh-CN" dirty="0"/>
          </a:p>
          <a:p>
            <a:pPr lvl="1"/>
            <a:r>
              <a:rPr lang="zh-CN" altLang="en-US" dirty="0"/>
              <a:t>在一对节点间存在一条边和另一个子路径的场景下，点覆盖与边覆盖具有不同的测试需求</a:t>
            </a:r>
          </a:p>
          <a:p>
            <a:r>
              <a:rPr lang="zh-CN" altLang="zh-C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主路径覆盖为了解决什么问题提出的？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zh-CN" altLang="en-US" dirty="0"/>
              <a:t>覆盖图中的环</a:t>
            </a:r>
            <a:endParaRPr lang="en-US" altLang="zh-CN" dirty="0"/>
          </a:p>
          <a:p>
            <a:r>
              <a:rPr lang="zh-CN" altLang="zh-C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主路径覆盖在什么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情况</a:t>
            </a:r>
            <a:r>
              <a:rPr lang="zh-CN" altLang="zh-C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下不能包含边对覆盖？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zh-CN" altLang="en-US" dirty="0"/>
              <a:t>某个节点存在指向自己的边</a:t>
            </a:r>
            <a:endParaRPr lang="en-US" altLang="zh-CN" dirty="0"/>
          </a:p>
          <a:p>
            <a:endParaRPr lang="zh-CN" altLang="en-US" sz="32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16E66F-92E9-4D9E-9576-82F938FCD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1E34D2-BFAA-43E6-B117-0A7C9FC99B38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8235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697213-B5F6-4BF2-A46A-63F8F3D00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Questions (5)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E29D7E-A544-4C76-848D-9ACC04309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1" y="1085850"/>
            <a:ext cx="9005888" cy="5392738"/>
          </a:xfrm>
        </p:spPr>
        <p:txBody>
          <a:bodyPr/>
          <a:lstStyle/>
          <a:p>
            <a:r>
              <a:rPr lang="en-US" altLang="zh-CN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Sidetrip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(</a:t>
            </a:r>
            <a:r>
              <a:rPr lang="zh-CN" altLang="zh-C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侧访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/</a:t>
            </a:r>
            <a:r>
              <a:rPr lang="zh-CN" altLang="zh-C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经旁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) </a:t>
            </a:r>
            <a:r>
              <a:rPr lang="zh-CN" altLang="zh-C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和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detour (</a:t>
            </a:r>
            <a:r>
              <a:rPr lang="zh-CN" altLang="zh-C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绕道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) </a:t>
            </a:r>
            <a:r>
              <a:rPr lang="zh-CN" altLang="zh-C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的区别是什么？</a:t>
            </a:r>
            <a:endParaRPr lang="zh-CN" altLang="en-US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US" altLang="zh-CN" dirty="0" err="1"/>
              <a:t>Sidetrip</a:t>
            </a:r>
            <a:r>
              <a:rPr lang="zh-CN" altLang="en-US" dirty="0"/>
              <a:t>：游历岔道后回到岔道的起点</a:t>
            </a:r>
            <a:endParaRPr lang="en-US" altLang="zh-CN" dirty="0"/>
          </a:p>
          <a:p>
            <a:pPr lvl="1"/>
            <a:r>
              <a:rPr lang="en-US" altLang="zh-CN" dirty="0"/>
              <a:t>Detour</a:t>
            </a:r>
            <a:r>
              <a:rPr lang="zh-CN" altLang="en-US" dirty="0"/>
              <a:t>：游历岔道后到岔道的终点</a:t>
            </a:r>
            <a:endParaRPr lang="en-US" altLang="zh-CN" dirty="0"/>
          </a:p>
          <a:p>
            <a:r>
              <a:rPr lang="zh-CN" altLang="zh-C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除了直接游历之外，为什么还要定义</a:t>
            </a:r>
            <a:r>
              <a:rPr lang="en-US" altLang="zh-CN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sidetrip</a:t>
            </a:r>
            <a:r>
              <a:rPr lang="zh-CN" altLang="zh-C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（侧访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/</a:t>
            </a:r>
            <a:r>
              <a:rPr lang="zh-CN" altLang="zh-C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经旁）和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detour</a:t>
            </a:r>
            <a:r>
              <a:rPr lang="zh-CN" altLang="zh-C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（绕道）方式的游历？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zh-CN" altLang="en-US" dirty="0"/>
              <a:t>弱化测试覆盖标准的要求，在直接游历不可行的情况下，可以以退而求其次的方式尽力而为的游历</a:t>
            </a:r>
          </a:p>
          <a:p>
            <a:endParaRPr lang="zh-CN" altLang="en-US" sz="32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493B87-8AF4-438B-A9DA-161A03617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1E34D2-BFAA-43E6-B117-0A7C9FC99B38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74890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 Criteria</a:t>
            </a:r>
          </a:p>
        </p:txBody>
      </p:sp>
      <p:sp>
        <p:nvSpPr>
          <p:cNvPr id="276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2114" y="1654947"/>
            <a:ext cx="8867775" cy="1358128"/>
          </a:xfrm>
        </p:spPr>
        <p:txBody>
          <a:bodyPr/>
          <a:lstStyle/>
          <a:p>
            <a:r>
              <a:rPr kumimoji="1" lang="en-US" altLang="zh-CN" dirty="0">
                <a:solidFill>
                  <a:schemeClr val="tx2"/>
                </a:solidFill>
                <a:ea typeface="宋体" charset="-122"/>
              </a:rPr>
              <a:t>Definition (def)</a:t>
            </a:r>
            <a:r>
              <a:rPr kumimoji="1" lang="en-US" altLang="zh-CN" dirty="0">
                <a:ea typeface="宋体" charset="-122"/>
              </a:rPr>
              <a:t> : A location where a value for a variable is stored into memory</a:t>
            </a:r>
          </a:p>
          <a:p>
            <a:r>
              <a:rPr kumimoji="1" lang="en-US" altLang="zh-CN" dirty="0">
                <a:solidFill>
                  <a:schemeClr val="tx2"/>
                </a:solidFill>
                <a:ea typeface="宋体" charset="-122"/>
              </a:rPr>
              <a:t>Use</a:t>
            </a:r>
            <a:r>
              <a:rPr kumimoji="1" lang="en-US" altLang="zh-CN" dirty="0">
                <a:ea typeface="宋体" charset="-122"/>
              </a:rPr>
              <a:t> : A location where a variable’s value is accessed</a:t>
            </a:r>
          </a:p>
        </p:txBody>
      </p:sp>
      <p:sp>
        <p:nvSpPr>
          <p:cNvPr id="27655" name="Text Box 5"/>
          <p:cNvSpPr txBox="1">
            <a:spLocks noChangeArrowheads="1"/>
          </p:cNvSpPr>
          <p:nvPr/>
        </p:nvSpPr>
        <p:spPr bwMode="auto">
          <a:xfrm>
            <a:off x="1776413" y="925760"/>
            <a:ext cx="8640762" cy="461665"/>
          </a:xfrm>
          <a:prstGeom prst="rect">
            <a:avLst/>
          </a:prstGeom>
          <a:solidFill>
            <a:srgbClr val="0033CC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u="sng" dirty="0">
                <a:solidFill>
                  <a:schemeClr val="tx1"/>
                </a:solidFill>
                <a:latin typeface="Gill Sans MT" pitchFamily="34" charset="0"/>
              </a:rPr>
              <a:t>Goal</a:t>
            </a:r>
            <a:r>
              <a:rPr lang="en-US" sz="2400" dirty="0">
                <a:solidFill>
                  <a:schemeClr val="tx1"/>
                </a:solidFill>
                <a:latin typeface="Gill Sans MT" pitchFamily="34" charset="0"/>
              </a:rPr>
              <a:t> : Ensure that values are computed and used correctly</a:t>
            </a:r>
          </a:p>
        </p:txBody>
      </p:sp>
      <p:sp>
        <p:nvSpPr>
          <p:cNvPr id="49" name="Slide Number Placeholder 5"/>
          <p:cNvSpPr txBox="1">
            <a:spLocks/>
          </p:cNvSpPr>
          <p:nvPr/>
        </p:nvSpPr>
        <p:spPr bwMode="auto">
          <a:xfrm>
            <a:off x="8735704" y="6512896"/>
            <a:ext cx="1905000" cy="290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900" b="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rgbClr val="FAFD00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rgbClr val="FAFD00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rgbClr val="FAFD00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rgbClr val="FAFD00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b="1" kern="1200">
                <a:solidFill>
                  <a:srgbClr val="FAFD00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b="1" kern="1200">
                <a:solidFill>
                  <a:srgbClr val="FAFD00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b="1" kern="1200">
                <a:solidFill>
                  <a:srgbClr val="FAFD00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b="1" kern="1200">
                <a:solidFill>
                  <a:srgbClr val="FAFD00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22DF65B8-833A-4B1C-8011-8D0657F291E8}" type="slidenum">
              <a:rPr lang="en-US"/>
              <a:pPr/>
              <a:t>39</a:t>
            </a:fld>
            <a:endParaRPr lang="en-US" dirty="0"/>
          </a:p>
        </p:txBody>
      </p:sp>
      <p:sp>
        <p:nvSpPr>
          <p:cNvPr id="50" name="Text Box 5"/>
          <p:cNvSpPr txBox="1">
            <a:spLocks noChangeArrowheads="1"/>
          </p:cNvSpPr>
          <p:nvPr/>
        </p:nvSpPr>
        <p:spPr bwMode="auto">
          <a:xfrm>
            <a:off x="2242802" y="3499514"/>
            <a:ext cx="7445403" cy="1815882"/>
          </a:xfrm>
          <a:prstGeom prst="rect">
            <a:avLst/>
          </a:prstGeom>
          <a:solidFill>
            <a:srgbClr val="0033CC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buFont typeface="Arial" charset="0"/>
              <a:buChar char="•"/>
            </a:pPr>
            <a:r>
              <a:rPr kumimoji="1" lang="en-US" altLang="zh-CN" sz="2800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</a:t>
            </a:r>
            <a:r>
              <a:rPr kumimoji="1" lang="en-US" altLang="zh-CN" sz="2800" b="0" dirty="0">
                <a:solidFill>
                  <a:schemeClr val="tx2"/>
                </a:solidFill>
                <a:latin typeface="Gill Sans MT" pitchFamily="34" charset="0"/>
                <a:ea typeface="宋体" charset="-122"/>
              </a:rPr>
              <a:t>def (n) or def (e)</a:t>
            </a:r>
            <a:r>
              <a:rPr kumimoji="1" lang="en-US" altLang="zh-CN" sz="2800" b="0" dirty="0">
                <a:latin typeface="Gill Sans MT" pitchFamily="34" charset="0"/>
                <a:ea typeface="宋体" charset="-122"/>
              </a:rPr>
              <a:t> </a:t>
            </a:r>
            <a:r>
              <a:rPr kumimoji="1" lang="en-US" altLang="zh-CN" sz="2800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: The set of variables that are defined by node n or edge e</a:t>
            </a:r>
          </a:p>
          <a:p>
            <a:pPr>
              <a:buFont typeface="Arial" charset="0"/>
              <a:buChar char="•"/>
            </a:pPr>
            <a:r>
              <a:rPr kumimoji="1" lang="en-US" altLang="zh-CN" sz="2800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</a:t>
            </a:r>
            <a:r>
              <a:rPr kumimoji="1" lang="en-US" altLang="zh-CN" sz="2800" b="0" dirty="0">
                <a:solidFill>
                  <a:schemeClr val="tx2"/>
                </a:solidFill>
                <a:latin typeface="Gill Sans MT" pitchFamily="34" charset="0"/>
                <a:ea typeface="宋体" charset="-122"/>
              </a:rPr>
              <a:t>use (n) or use (e)</a:t>
            </a:r>
            <a:r>
              <a:rPr kumimoji="1" lang="en-US" altLang="zh-CN" sz="2800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: The set of variables that are used by node n or edge e</a:t>
            </a:r>
            <a:endParaRPr kumimoji="1" lang="en-US" sz="2800" b="0" dirty="0">
              <a:solidFill>
                <a:schemeClr val="tx1"/>
              </a:solidFill>
              <a:latin typeface="Gill Sans MT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 Flow Criteria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1E34D2-BFAA-43E6-B117-0A7C9FC99B38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1996744" y="2449513"/>
            <a:ext cx="4346575" cy="1443037"/>
            <a:chOff x="503" y="2966"/>
            <a:chExt cx="2738" cy="909"/>
          </a:xfrm>
        </p:grpSpPr>
        <p:grpSp>
          <p:nvGrpSpPr>
            <p:cNvPr id="7" name="Group 7"/>
            <p:cNvGrpSpPr>
              <a:grpSpLocks/>
            </p:cNvGrpSpPr>
            <p:nvPr/>
          </p:nvGrpSpPr>
          <p:grpSpPr bwMode="auto">
            <a:xfrm>
              <a:off x="730" y="3273"/>
              <a:ext cx="350" cy="296"/>
              <a:chOff x="4288" y="1746"/>
              <a:chExt cx="350" cy="296"/>
            </a:xfrm>
          </p:grpSpPr>
          <p:sp>
            <p:nvSpPr>
              <p:cNvPr id="37" name="Oval 8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38" name="Text Box 9"/>
              <p:cNvSpPr txBox="1">
                <a:spLocks noChangeArrowheads="1"/>
              </p:cNvSpPr>
              <p:nvPr/>
            </p:nvSpPr>
            <p:spPr bwMode="auto">
              <a:xfrm>
                <a:off x="4364" y="1769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b="0" dirty="0">
                    <a:solidFill>
                      <a:schemeClr val="tx1"/>
                    </a:solidFill>
                    <a:latin typeface="+mn-lt"/>
                  </a:rPr>
                  <a:t>1</a:t>
                </a:r>
              </a:p>
            </p:txBody>
          </p:sp>
        </p:grpSp>
        <p:grpSp>
          <p:nvGrpSpPr>
            <p:cNvPr id="8" name="Group 10"/>
            <p:cNvGrpSpPr>
              <a:grpSpLocks/>
            </p:cNvGrpSpPr>
            <p:nvPr/>
          </p:nvGrpSpPr>
          <p:grpSpPr bwMode="auto">
            <a:xfrm>
              <a:off x="1255" y="2966"/>
              <a:ext cx="380" cy="908"/>
              <a:chOff x="1346" y="2965"/>
              <a:chExt cx="380" cy="908"/>
            </a:xfrm>
          </p:grpSpPr>
          <p:grpSp>
            <p:nvGrpSpPr>
              <p:cNvPr id="31" name="Group 11"/>
              <p:cNvGrpSpPr>
                <a:grpSpLocks/>
              </p:cNvGrpSpPr>
              <p:nvPr/>
            </p:nvGrpSpPr>
            <p:grpSpPr bwMode="auto">
              <a:xfrm>
                <a:off x="1346" y="3577"/>
                <a:ext cx="350" cy="296"/>
                <a:chOff x="4738" y="2684"/>
                <a:chExt cx="350" cy="296"/>
              </a:xfrm>
            </p:grpSpPr>
            <p:sp>
              <p:nvSpPr>
                <p:cNvPr id="35" name="Oval 12"/>
                <p:cNvSpPr>
                  <a:spLocks noChangeArrowheads="1"/>
                </p:cNvSpPr>
                <p:nvPr/>
              </p:nvSpPr>
              <p:spPr bwMode="auto">
                <a:xfrm>
                  <a:off x="47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 b="0">
                    <a:latin typeface="Gill Sans MT" pitchFamily="34" charset="0"/>
                  </a:endParaRPr>
                </a:p>
              </p:txBody>
            </p:sp>
            <p:sp>
              <p:nvSpPr>
                <p:cNvPr id="36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4815" y="2707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0" dirty="0">
                      <a:solidFill>
                        <a:schemeClr val="tx1"/>
                      </a:solidFill>
                      <a:latin typeface="Gill Sans MT" pitchFamily="34" charset="0"/>
                    </a:rPr>
                    <a:t>3</a:t>
                  </a:r>
                </a:p>
              </p:txBody>
            </p:sp>
          </p:grpSp>
          <p:grpSp>
            <p:nvGrpSpPr>
              <p:cNvPr id="32" name="Group 14"/>
              <p:cNvGrpSpPr>
                <a:grpSpLocks/>
              </p:cNvGrpSpPr>
              <p:nvPr/>
            </p:nvGrpSpPr>
            <p:grpSpPr bwMode="auto">
              <a:xfrm>
                <a:off x="1376" y="2965"/>
                <a:ext cx="350" cy="296"/>
                <a:chOff x="3838" y="2684"/>
                <a:chExt cx="350" cy="296"/>
              </a:xfrm>
            </p:grpSpPr>
            <p:sp>
              <p:nvSpPr>
                <p:cNvPr id="33" name="Oval 15"/>
                <p:cNvSpPr>
                  <a:spLocks noChangeArrowheads="1"/>
                </p:cNvSpPr>
                <p:nvPr/>
              </p:nvSpPr>
              <p:spPr bwMode="auto">
                <a:xfrm>
                  <a:off x="38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 b="0">
                    <a:latin typeface="Gill Sans MT" pitchFamily="34" charset="0"/>
                  </a:endParaRPr>
                </a:p>
              </p:txBody>
            </p:sp>
            <p:sp>
              <p:nvSpPr>
                <p:cNvPr id="34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3915" y="2707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0" dirty="0">
                      <a:solidFill>
                        <a:schemeClr val="tx1"/>
                      </a:solidFill>
                      <a:latin typeface="Gill Sans MT" pitchFamily="34" charset="0"/>
                    </a:rPr>
                    <a:t>2</a:t>
                  </a:r>
                </a:p>
              </p:txBody>
            </p:sp>
          </p:grpSp>
        </p:grpSp>
        <p:grpSp>
          <p:nvGrpSpPr>
            <p:cNvPr id="9" name="Group 17"/>
            <p:cNvGrpSpPr>
              <a:grpSpLocks/>
            </p:cNvGrpSpPr>
            <p:nvPr/>
          </p:nvGrpSpPr>
          <p:grpSpPr bwMode="auto">
            <a:xfrm>
              <a:off x="2891" y="3273"/>
              <a:ext cx="350" cy="296"/>
              <a:chOff x="4288" y="3622"/>
              <a:chExt cx="350" cy="296"/>
            </a:xfrm>
          </p:grpSpPr>
          <p:sp>
            <p:nvSpPr>
              <p:cNvPr id="29" name="Oval 18"/>
              <p:cNvSpPr>
                <a:spLocks noChangeArrowheads="1"/>
              </p:cNvSpPr>
              <p:nvPr/>
            </p:nvSpPr>
            <p:spPr bwMode="auto">
              <a:xfrm>
                <a:off x="4288" y="3622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30" name="Text Box 19"/>
              <p:cNvSpPr txBox="1">
                <a:spLocks noChangeArrowheads="1"/>
              </p:cNvSpPr>
              <p:nvPr/>
            </p:nvSpPr>
            <p:spPr bwMode="auto">
              <a:xfrm>
                <a:off x="4365" y="3645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b="0" dirty="0">
                    <a:solidFill>
                      <a:schemeClr val="tx1"/>
                    </a:solidFill>
                    <a:latin typeface="Gill Sans MT" pitchFamily="34" charset="0"/>
                  </a:rPr>
                  <a:t>7</a:t>
                </a:r>
              </a:p>
            </p:txBody>
          </p:sp>
        </p:grpSp>
        <p:sp>
          <p:nvSpPr>
            <p:cNvPr id="10" name="Line 20"/>
            <p:cNvSpPr>
              <a:spLocks noChangeShapeType="1"/>
            </p:cNvSpPr>
            <p:nvPr/>
          </p:nvSpPr>
          <p:spPr bwMode="auto">
            <a:xfrm flipV="1">
              <a:off x="1075" y="3193"/>
              <a:ext cx="250" cy="16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 b="0">
                <a:latin typeface="Gill Sans MT" pitchFamily="34" charset="0"/>
              </a:endParaRPr>
            </a:p>
          </p:txBody>
        </p:sp>
        <p:sp>
          <p:nvSpPr>
            <p:cNvPr id="11" name="Line 21"/>
            <p:cNvSpPr>
              <a:spLocks noChangeShapeType="1"/>
            </p:cNvSpPr>
            <p:nvPr/>
          </p:nvSpPr>
          <p:spPr bwMode="auto">
            <a:xfrm>
              <a:off x="503" y="3421"/>
              <a:ext cx="2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 b="0">
                <a:latin typeface="Gill Sans MT" pitchFamily="34" charset="0"/>
              </a:endParaRPr>
            </a:p>
          </p:txBody>
        </p:sp>
        <p:grpSp>
          <p:nvGrpSpPr>
            <p:cNvPr id="12" name="Group 22"/>
            <p:cNvGrpSpPr>
              <a:grpSpLocks/>
            </p:cNvGrpSpPr>
            <p:nvPr/>
          </p:nvGrpSpPr>
          <p:grpSpPr bwMode="auto">
            <a:xfrm>
              <a:off x="1810" y="3273"/>
              <a:ext cx="350" cy="296"/>
              <a:chOff x="4288" y="1746"/>
              <a:chExt cx="350" cy="296"/>
            </a:xfrm>
          </p:grpSpPr>
          <p:sp>
            <p:nvSpPr>
              <p:cNvPr id="27" name="Oval 23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8" name="Text Box 24"/>
              <p:cNvSpPr txBox="1">
                <a:spLocks noChangeArrowheads="1"/>
              </p:cNvSpPr>
              <p:nvPr/>
            </p:nvSpPr>
            <p:spPr bwMode="auto">
              <a:xfrm>
                <a:off x="4364" y="1769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b="0" dirty="0">
                    <a:solidFill>
                      <a:schemeClr val="tx1"/>
                    </a:solidFill>
                    <a:latin typeface="Gill Sans MT" pitchFamily="34" charset="0"/>
                  </a:rPr>
                  <a:t>4</a:t>
                </a:r>
              </a:p>
            </p:txBody>
          </p:sp>
        </p:grpSp>
        <p:grpSp>
          <p:nvGrpSpPr>
            <p:cNvPr id="13" name="Group 25"/>
            <p:cNvGrpSpPr>
              <a:grpSpLocks/>
            </p:cNvGrpSpPr>
            <p:nvPr/>
          </p:nvGrpSpPr>
          <p:grpSpPr bwMode="auto">
            <a:xfrm>
              <a:off x="2335" y="2967"/>
              <a:ext cx="380" cy="908"/>
              <a:chOff x="2450" y="2968"/>
              <a:chExt cx="380" cy="908"/>
            </a:xfrm>
          </p:grpSpPr>
          <p:grpSp>
            <p:nvGrpSpPr>
              <p:cNvPr id="21" name="Group 26"/>
              <p:cNvGrpSpPr>
                <a:grpSpLocks/>
              </p:cNvGrpSpPr>
              <p:nvPr/>
            </p:nvGrpSpPr>
            <p:grpSpPr bwMode="auto">
              <a:xfrm>
                <a:off x="2450" y="3580"/>
                <a:ext cx="350" cy="296"/>
                <a:chOff x="4738" y="2684"/>
                <a:chExt cx="350" cy="296"/>
              </a:xfrm>
            </p:grpSpPr>
            <p:sp>
              <p:nvSpPr>
                <p:cNvPr id="25" name="Oval 27"/>
                <p:cNvSpPr>
                  <a:spLocks noChangeArrowheads="1"/>
                </p:cNvSpPr>
                <p:nvPr/>
              </p:nvSpPr>
              <p:spPr bwMode="auto">
                <a:xfrm>
                  <a:off x="47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 b="0">
                    <a:latin typeface="Gill Sans MT" pitchFamily="34" charset="0"/>
                  </a:endParaRPr>
                </a:p>
              </p:txBody>
            </p:sp>
            <p:sp>
              <p:nvSpPr>
                <p:cNvPr id="26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4815" y="2707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0" dirty="0">
                      <a:solidFill>
                        <a:schemeClr val="tx1"/>
                      </a:solidFill>
                      <a:latin typeface="Gill Sans MT" pitchFamily="34" charset="0"/>
                    </a:rPr>
                    <a:t>6</a:t>
                  </a:r>
                </a:p>
              </p:txBody>
            </p:sp>
          </p:grpSp>
          <p:grpSp>
            <p:nvGrpSpPr>
              <p:cNvPr id="22" name="Group 29"/>
              <p:cNvGrpSpPr>
                <a:grpSpLocks/>
              </p:cNvGrpSpPr>
              <p:nvPr/>
            </p:nvGrpSpPr>
            <p:grpSpPr bwMode="auto">
              <a:xfrm>
                <a:off x="2480" y="2968"/>
                <a:ext cx="350" cy="296"/>
                <a:chOff x="3838" y="2684"/>
                <a:chExt cx="350" cy="296"/>
              </a:xfrm>
            </p:grpSpPr>
            <p:sp>
              <p:nvSpPr>
                <p:cNvPr id="23" name="Oval 30"/>
                <p:cNvSpPr>
                  <a:spLocks noChangeArrowheads="1"/>
                </p:cNvSpPr>
                <p:nvPr/>
              </p:nvSpPr>
              <p:spPr bwMode="auto">
                <a:xfrm>
                  <a:off x="38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 b="0">
                    <a:latin typeface="Gill Sans MT" pitchFamily="34" charset="0"/>
                  </a:endParaRPr>
                </a:p>
              </p:txBody>
            </p:sp>
            <p:sp>
              <p:nvSpPr>
                <p:cNvPr id="24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3915" y="2707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0" dirty="0">
                      <a:solidFill>
                        <a:schemeClr val="tx1"/>
                      </a:solidFill>
                      <a:latin typeface="Gill Sans MT" pitchFamily="34" charset="0"/>
                    </a:rPr>
                    <a:t>5</a:t>
                  </a:r>
                </a:p>
              </p:txBody>
            </p:sp>
          </p:grpSp>
        </p:grpSp>
        <p:sp>
          <p:nvSpPr>
            <p:cNvPr id="14" name="Line 32"/>
            <p:cNvSpPr>
              <a:spLocks noChangeShapeType="1"/>
            </p:cNvSpPr>
            <p:nvPr/>
          </p:nvSpPr>
          <p:spPr bwMode="auto">
            <a:xfrm flipV="1">
              <a:off x="2679" y="3513"/>
              <a:ext cx="250" cy="16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 b="0">
                <a:latin typeface="Gill Sans MT" pitchFamily="34" charset="0"/>
              </a:endParaRPr>
            </a:p>
          </p:txBody>
        </p:sp>
        <p:sp>
          <p:nvSpPr>
            <p:cNvPr id="15" name="Line 33"/>
            <p:cNvSpPr>
              <a:spLocks noChangeShapeType="1"/>
            </p:cNvSpPr>
            <p:nvPr/>
          </p:nvSpPr>
          <p:spPr bwMode="auto">
            <a:xfrm flipV="1">
              <a:off x="1595" y="3513"/>
              <a:ext cx="250" cy="16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 b="0">
                <a:latin typeface="Gill Sans MT" pitchFamily="34" charset="0"/>
              </a:endParaRPr>
            </a:p>
          </p:txBody>
        </p:sp>
        <p:sp>
          <p:nvSpPr>
            <p:cNvPr id="16" name="Line 34"/>
            <p:cNvSpPr>
              <a:spLocks noChangeShapeType="1"/>
            </p:cNvSpPr>
            <p:nvPr/>
          </p:nvSpPr>
          <p:spPr bwMode="auto">
            <a:xfrm flipV="1">
              <a:off x="2147" y="3193"/>
              <a:ext cx="250" cy="16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 b="0">
                <a:latin typeface="Gill Sans MT" pitchFamily="34" charset="0"/>
              </a:endParaRPr>
            </a:p>
          </p:txBody>
        </p:sp>
        <p:sp>
          <p:nvSpPr>
            <p:cNvPr id="17" name="Line 35"/>
            <p:cNvSpPr>
              <a:spLocks noChangeShapeType="1"/>
            </p:cNvSpPr>
            <p:nvPr/>
          </p:nvSpPr>
          <p:spPr bwMode="auto">
            <a:xfrm>
              <a:off x="1055" y="3517"/>
              <a:ext cx="218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 b="0">
                <a:latin typeface="Gill Sans MT" pitchFamily="34" charset="0"/>
              </a:endParaRPr>
            </a:p>
          </p:txBody>
        </p:sp>
        <p:sp>
          <p:nvSpPr>
            <p:cNvPr id="18" name="Line 36"/>
            <p:cNvSpPr>
              <a:spLocks noChangeShapeType="1"/>
            </p:cNvSpPr>
            <p:nvPr/>
          </p:nvSpPr>
          <p:spPr bwMode="auto">
            <a:xfrm>
              <a:off x="1607" y="3198"/>
              <a:ext cx="218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 b="0">
                <a:latin typeface="Gill Sans MT" pitchFamily="34" charset="0"/>
              </a:endParaRPr>
            </a:p>
          </p:txBody>
        </p:sp>
        <p:sp>
          <p:nvSpPr>
            <p:cNvPr id="19" name="Line 37"/>
            <p:cNvSpPr>
              <a:spLocks noChangeShapeType="1"/>
            </p:cNvSpPr>
            <p:nvPr/>
          </p:nvSpPr>
          <p:spPr bwMode="auto">
            <a:xfrm>
              <a:off x="2123" y="3518"/>
              <a:ext cx="218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 b="0">
                <a:latin typeface="Gill Sans MT" pitchFamily="34" charset="0"/>
              </a:endParaRPr>
            </a:p>
          </p:txBody>
        </p:sp>
        <p:sp>
          <p:nvSpPr>
            <p:cNvPr id="20" name="Line 38"/>
            <p:cNvSpPr>
              <a:spLocks noChangeShapeType="1"/>
            </p:cNvSpPr>
            <p:nvPr/>
          </p:nvSpPr>
          <p:spPr bwMode="auto">
            <a:xfrm>
              <a:off x="2707" y="3197"/>
              <a:ext cx="218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 b="0">
                <a:latin typeface="Gill Sans MT" pitchFamily="34" charset="0"/>
              </a:endParaRPr>
            </a:p>
          </p:txBody>
        </p:sp>
      </p:grpSp>
      <p:grpSp>
        <p:nvGrpSpPr>
          <p:cNvPr id="39" name="Group 43"/>
          <p:cNvGrpSpPr>
            <a:grpSpLocks/>
          </p:cNvGrpSpPr>
          <p:nvPr/>
        </p:nvGrpSpPr>
        <p:grpSpPr bwMode="auto">
          <a:xfrm>
            <a:off x="2112631" y="2106612"/>
            <a:ext cx="3681412" cy="2144712"/>
            <a:chOff x="345" y="2726"/>
            <a:chExt cx="2319" cy="1351"/>
          </a:xfrm>
        </p:grpSpPr>
        <p:sp>
          <p:nvSpPr>
            <p:cNvPr id="40" name="Text Box 39"/>
            <p:cNvSpPr txBox="1">
              <a:spLocks noChangeArrowheads="1"/>
            </p:cNvSpPr>
            <p:nvPr/>
          </p:nvSpPr>
          <p:spPr bwMode="auto">
            <a:xfrm>
              <a:off x="345" y="3059"/>
              <a:ext cx="648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="0" dirty="0">
                  <a:latin typeface="Gill Sans MT" pitchFamily="34" charset="0"/>
                </a:rPr>
                <a:t>X = 42</a:t>
              </a:r>
            </a:p>
          </p:txBody>
        </p:sp>
        <p:sp>
          <p:nvSpPr>
            <p:cNvPr id="41" name="Text Box 40"/>
            <p:cNvSpPr txBox="1">
              <a:spLocks noChangeArrowheads="1"/>
            </p:cNvSpPr>
            <p:nvPr/>
          </p:nvSpPr>
          <p:spPr bwMode="auto">
            <a:xfrm>
              <a:off x="1961" y="3825"/>
              <a:ext cx="648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="0" dirty="0">
                  <a:latin typeface="Gill Sans MT" pitchFamily="34" charset="0"/>
                </a:rPr>
                <a:t>Z = X-8</a:t>
              </a:r>
            </a:p>
          </p:txBody>
        </p:sp>
        <p:sp>
          <p:nvSpPr>
            <p:cNvPr id="42" name="Text Box 41"/>
            <p:cNvSpPr txBox="1">
              <a:spLocks noChangeArrowheads="1"/>
            </p:cNvSpPr>
            <p:nvPr/>
          </p:nvSpPr>
          <p:spPr bwMode="auto">
            <a:xfrm>
              <a:off x="1908" y="2726"/>
              <a:ext cx="756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="0" dirty="0">
                  <a:latin typeface="Gill Sans MT" pitchFamily="34" charset="0"/>
                </a:rPr>
                <a:t>Z = X*2</a:t>
              </a:r>
            </a:p>
          </p:txBody>
        </p:sp>
      </p:grpSp>
      <p:sp>
        <p:nvSpPr>
          <p:cNvPr id="43" name="Text Box 42"/>
          <p:cNvSpPr txBox="1">
            <a:spLocks noChangeArrowheads="1"/>
          </p:cNvSpPr>
          <p:nvPr/>
        </p:nvSpPr>
        <p:spPr bwMode="auto">
          <a:xfrm>
            <a:off x="6784644" y="2111210"/>
            <a:ext cx="2734597" cy="2246769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0" u="sng" dirty="0" err="1">
                <a:solidFill>
                  <a:schemeClr val="tx1"/>
                </a:solidFill>
                <a:latin typeface="Gill Sans MT" pitchFamily="34" charset="0"/>
              </a:rPr>
              <a:t>Defs</a:t>
            </a:r>
            <a:r>
              <a:rPr lang="en-US" b="0" dirty="0">
                <a:solidFill>
                  <a:schemeClr val="tx1"/>
                </a:solidFill>
                <a:latin typeface="Gill Sans MT" pitchFamily="34" charset="0"/>
              </a:rPr>
              <a:t>: def (</a:t>
            </a:r>
            <a:r>
              <a:rPr lang="en-US" b="0" dirty="0">
                <a:solidFill>
                  <a:schemeClr val="tx1"/>
                </a:solidFill>
                <a:latin typeface="+mn-lt"/>
              </a:rPr>
              <a:t>1</a:t>
            </a:r>
            <a:r>
              <a:rPr lang="en-US" b="0" dirty="0">
                <a:solidFill>
                  <a:schemeClr val="tx1"/>
                </a:solidFill>
                <a:latin typeface="Gill Sans MT" pitchFamily="34" charset="0"/>
              </a:rPr>
              <a:t>) = {       }</a:t>
            </a:r>
          </a:p>
          <a:p>
            <a:pPr>
              <a:spcBef>
                <a:spcPct val="50000"/>
              </a:spcBef>
            </a:pPr>
            <a:r>
              <a:rPr lang="en-US" b="0" dirty="0">
                <a:solidFill>
                  <a:schemeClr val="tx1"/>
                </a:solidFill>
                <a:latin typeface="Gill Sans MT" pitchFamily="34" charset="0"/>
              </a:rPr>
              <a:t>        def (5) = {       }</a:t>
            </a:r>
          </a:p>
          <a:p>
            <a:pPr>
              <a:spcBef>
                <a:spcPct val="50000"/>
              </a:spcBef>
            </a:pPr>
            <a:r>
              <a:rPr lang="en-US" b="0" dirty="0">
                <a:solidFill>
                  <a:schemeClr val="tx1"/>
                </a:solidFill>
                <a:latin typeface="Gill Sans MT" pitchFamily="34" charset="0"/>
              </a:rPr>
              <a:t>        def (6) = {       }</a:t>
            </a:r>
          </a:p>
          <a:p>
            <a:pPr>
              <a:spcBef>
                <a:spcPct val="50000"/>
              </a:spcBef>
            </a:pPr>
            <a:r>
              <a:rPr lang="en-US" b="0" u="sng" dirty="0">
                <a:solidFill>
                  <a:schemeClr val="tx1"/>
                </a:solidFill>
                <a:latin typeface="Gill Sans MT" pitchFamily="34" charset="0"/>
              </a:rPr>
              <a:t>Uses</a:t>
            </a:r>
            <a:r>
              <a:rPr lang="en-US" b="0" dirty="0">
                <a:solidFill>
                  <a:schemeClr val="tx1"/>
                </a:solidFill>
                <a:latin typeface="Gill Sans MT" pitchFamily="34" charset="0"/>
              </a:rPr>
              <a:t>: use (5) = {       }</a:t>
            </a:r>
          </a:p>
          <a:p>
            <a:pPr>
              <a:spcBef>
                <a:spcPct val="50000"/>
              </a:spcBef>
            </a:pPr>
            <a:r>
              <a:rPr lang="en-US" b="0" dirty="0">
                <a:solidFill>
                  <a:schemeClr val="tx1"/>
                </a:solidFill>
                <a:latin typeface="Gill Sans MT" pitchFamily="34" charset="0"/>
              </a:rPr>
              <a:t>         use (6) = {       }</a:t>
            </a:r>
          </a:p>
        </p:txBody>
      </p:sp>
      <p:sp>
        <p:nvSpPr>
          <p:cNvPr id="44" name="Text Box 5"/>
          <p:cNvSpPr txBox="1">
            <a:spLocks noChangeArrowheads="1"/>
          </p:cNvSpPr>
          <p:nvPr/>
        </p:nvSpPr>
        <p:spPr bwMode="auto">
          <a:xfrm>
            <a:off x="2361868" y="4565650"/>
            <a:ext cx="7550150" cy="830263"/>
          </a:xfrm>
          <a:prstGeom prst="rect">
            <a:avLst/>
          </a:prstGeom>
          <a:solidFill>
            <a:srgbClr val="0033CC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The values given in </a:t>
            </a:r>
            <a:r>
              <a:rPr lang="en-US" sz="2400" b="0" dirty="0" err="1">
                <a:solidFill>
                  <a:schemeClr val="tx2"/>
                </a:solidFill>
                <a:latin typeface="Gill Sans MT" pitchFamily="34" charset="0"/>
              </a:rPr>
              <a:t>def</a:t>
            </a:r>
            <a:r>
              <a:rPr lang="en-US" sz="2400" b="0" dirty="0" err="1">
                <a:solidFill>
                  <a:schemeClr val="tx1"/>
                </a:solidFill>
                <a:latin typeface="Gill Sans MT" pitchFamily="34" charset="0"/>
              </a:rPr>
              <a:t>s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 should </a:t>
            </a:r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reach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 at least one, some, or all possible </a:t>
            </a:r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use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s</a:t>
            </a:r>
          </a:p>
        </p:txBody>
      </p:sp>
      <p:sp>
        <p:nvSpPr>
          <p:cNvPr id="45" name="Text Box 42"/>
          <p:cNvSpPr txBox="1">
            <a:spLocks noChangeArrowheads="1"/>
          </p:cNvSpPr>
          <p:nvPr/>
        </p:nvSpPr>
        <p:spPr bwMode="auto">
          <a:xfrm>
            <a:off x="8520387" y="2111210"/>
            <a:ext cx="647632" cy="224676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X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Z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Z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X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X</a:t>
            </a:r>
          </a:p>
        </p:txBody>
      </p:sp>
      <p:sp>
        <p:nvSpPr>
          <p:cNvPr id="46" name="TextBox 47"/>
          <p:cNvSpPr txBox="1"/>
          <p:nvPr/>
        </p:nvSpPr>
        <p:spPr>
          <a:xfrm>
            <a:off x="9141993" y="2485658"/>
            <a:ext cx="754494" cy="101566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Fill in these sets</a:t>
            </a:r>
          </a:p>
        </p:txBody>
      </p:sp>
    </p:spTree>
    <p:extLst>
      <p:ext uri="{BB962C8B-B14F-4D97-AF65-F5344CB8AC3E}">
        <p14:creationId xmlns:p14="http://schemas.microsoft.com/office/powerpoint/2010/main" val="44649285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45" grpId="0"/>
      <p:bldP spid="46" grpId="0" animBg="1"/>
      <p:bldP spid="46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 Pairs and DU Paths</a:t>
            </a:r>
          </a:p>
        </p:txBody>
      </p:sp>
      <p:sp>
        <p:nvSpPr>
          <p:cNvPr id="286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68E056A-B082-44F8-A251-8B8D056847C4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2247873" y="1010821"/>
            <a:ext cx="7901513" cy="954107"/>
          </a:xfrm>
          <a:prstGeom prst="rect">
            <a:avLst/>
          </a:prstGeom>
          <a:solidFill>
            <a:srgbClr val="0033CC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buFont typeface="Arial" charset="0"/>
              <a:buChar char="•"/>
            </a:pPr>
            <a:r>
              <a:rPr kumimoji="1" lang="en-US" altLang="zh-CN" sz="2800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</a:t>
            </a: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DU pair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: A pair of locations (</a:t>
            </a:r>
            <a:r>
              <a:rPr lang="en-US" sz="2800" b="0" i="1" dirty="0">
                <a:solidFill>
                  <a:schemeClr val="tx1"/>
                </a:solidFill>
                <a:latin typeface="Gill Sans MT" pitchFamily="34" charset="0"/>
              </a:rPr>
              <a:t>l</a:t>
            </a:r>
            <a:r>
              <a:rPr lang="en-US" sz="2800" b="0" i="1" baseline="-25000" dirty="0">
                <a:solidFill>
                  <a:schemeClr val="tx1"/>
                </a:solidFill>
                <a:latin typeface="Gill Sans MT" pitchFamily="34" charset="0"/>
              </a:rPr>
              <a:t>i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, </a:t>
            </a:r>
            <a:r>
              <a:rPr lang="en-US" sz="2800" b="0" i="1" dirty="0" err="1">
                <a:solidFill>
                  <a:schemeClr val="tx1"/>
                </a:solidFill>
                <a:latin typeface="Gill Sans MT" pitchFamily="34" charset="0"/>
              </a:rPr>
              <a:t>l</a:t>
            </a:r>
            <a:r>
              <a:rPr lang="en-US" sz="2800" b="0" i="1" baseline="-25000" dirty="0" err="1">
                <a:solidFill>
                  <a:schemeClr val="tx1"/>
                </a:solidFill>
                <a:latin typeface="Gill Sans MT" pitchFamily="34" charset="0"/>
              </a:rPr>
              <a:t>j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) such that a variable </a:t>
            </a:r>
            <a:r>
              <a:rPr lang="en-US" sz="2800" b="0" i="1" dirty="0">
                <a:solidFill>
                  <a:schemeClr val="tx1"/>
                </a:solidFill>
                <a:latin typeface="Gill Sans MT" pitchFamily="34" charset="0"/>
              </a:rPr>
              <a:t>v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is defined at </a:t>
            </a:r>
            <a:r>
              <a:rPr lang="en-US" sz="2800" b="0" i="1" dirty="0">
                <a:solidFill>
                  <a:schemeClr val="tx1"/>
                </a:solidFill>
                <a:latin typeface="Gill Sans MT" pitchFamily="34" charset="0"/>
              </a:rPr>
              <a:t>l</a:t>
            </a:r>
            <a:r>
              <a:rPr lang="en-US" sz="2800" b="0" i="1" baseline="-25000" dirty="0">
                <a:solidFill>
                  <a:schemeClr val="tx1"/>
                </a:solidFill>
                <a:latin typeface="Gill Sans MT" pitchFamily="34" charset="0"/>
              </a:rPr>
              <a:t>i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and used at </a:t>
            </a:r>
            <a:r>
              <a:rPr lang="en-US" sz="2800" b="0" i="1" dirty="0" err="1">
                <a:solidFill>
                  <a:schemeClr val="tx1"/>
                </a:solidFill>
                <a:latin typeface="Gill Sans MT" pitchFamily="34" charset="0"/>
              </a:rPr>
              <a:t>l</a:t>
            </a:r>
            <a:r>
              <a:rPr lang="en-US" sz="2800" b="0" i="1" baseline="-25000" dirty="0" err="1">
                <a:solidFill>
                  <a:schemeClr val="tx1"/>
                </a:solidFill>
                <a:latin typeface="Gill Sans MT" pitchFamily="34" charset="0"/>
              </a:rPr>
              <a:t>j</a:t>
            </a:r>
            <a:endParaRPr lang="en-US" sz="2800" b="0" i="1" dirty="0">
              <a:solidFill>
                <a:schemeClr val="tx1"/>
              </a:solidFill>
              <a:latin typeface="Gill Sans MT" pitchFamily="34" charset="0"/>
            </a:endParaRP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2250101" y="2197959"/>
            <a:ext cx="7899285" cy="2246769"/>
          </a:xfrm>
          <a:prstGeom prst="rect">
            <a:avLst/>
          </a:prstGeom>
          <a:solidFill>
            <a:srgbClr val="0033CC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buFont typeface="Arial" charset="0"/>
              <a:buChar char="•"/>
            </a:pPr>
            <a:r>
              <a:rPr kumimoji="1" lang="en-US" altLang="zh-CN" sz="2800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</a:t>
            </a:r>
            <a:r>
              <a:rPr kumimoji="1" lang="en-US" altLang="zh-CN" sz="2800" b="0" dirty="0">
                <a:solidFill>
                  <a:schemeClr val="tx2"/>
                </a:solidFill>
                <a:latin typeface="Gill Sans MT" pitchFamily="34" charset="0"/>
                <a:ea typeface="宋体" charset="-122"/>
              </a:rPr>
              <a:t>Def-clear</a:t>
            </a:r>
            <a:r>
              <a:rPr kumimoji="1" lang="en-US" altLang="zh-CN" sz="2800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: A path from </a:t>
            </a:r>
            <a:r>
              <a:rPr lang="en-US" sz="2800" b="0" i="1" dirty="0">
                <a:solidFill>
                  <a:schemeClr val="tx1"/>
                </a:solidFill>
                <a:latin typeface="Gill Sans MT" pitchFamily="34" charset="0"/>
              </a:rPr>
              <a:t>l</a:t>
            </a:r>
            <a:r>
              <a:rPr lang="en-US" sz="2800" b="0" i="1" baseline="-25000" dirty="0">
                <a:solidFill>
                  <a:schemeClr val="tx1"/>
                </a:solidFill>
                <a:latin typeface="Gill Sans MT" pitchFamily="34" charset="0"/>
              </a:rPr>
              <a:t>i</a:t>
            </a:r>
            <a:r>
              <a:rPr kumimoji="1" lang="en-US" altLang="zh-CN" sz="2800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to </a:t>
            </a:r>
            <a:r>
              <a:rPr lang="en-US" sz="2800" b="0" i="1" dirty="0" err="1">
                <a:solidFill>
                  <a:schemeClr val="tx1"/>
                </a:solidFill>
                <a:latin typeface="Gill Sans MT" pitchFamily="34" charset="0"/>
              </a:rPr>
              <a:t>l</a:t>
            </a:r>
            <a:r>
              <a:rPr lang="en-US" sz="2800" b="0" i="1" baseline="-25000" dirty="0" err="1">
                <a:solidFill>
                  <a:schemeClr val="tx1"/>
                </a:solidFill>
                <a:latin typeface="Gill Sans MT" pitchFamily="34" charset="0"/>
              </a:rPr>
              <a:t>j</a:t>
            </a:r>
            <a:r>
              <a:rPr kumimoji="1" lang="en-US" altLang="zh-CN" sz="2800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is </a:t>
            </a:r>
            <a:r>
              <a:rPr kumimoji="1" lang="en-US" altLang="zh-CN" sz="2800" b="0" i="1" dirty="0" err="1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def</a:t>
            </a:r>
            <a:r>
              <a:rPr kumimoji="1" lang="en-US" altLang="zh-CN" sz="2800" b="0" i="1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-clear</a:t>
            </a:r>
            <a:r>
              <a:rPr kumimoji="1" lang="en-US" altLang="zh-CN" sz="2800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with respect to variable </a:t>
            </a:r>
            <a:r>
              <a:rPr kumimoji="1" lang="en-US" altLang="zh-CN" sz="2800" b="0" i="1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v</a:t>
            </a:r>
            <a:r>
              <a:rPr kumimoji="1" lang="en-US" altLang="zh-CN" sz="2800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if </a:t>
            </a:r>
            <a:r>
              <a:rPr kumimoji="1" lang="en-US" altLang="zh-CN" sz="2800" b="0" i="1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v</a:t>
            </a:r>
            <a:r>
              <a:rPr kumimoji="1" lang="en-US" altLang="zh-CN" sz="2800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is not given another value on any of the nodes or edges in the path</a:t>
            </a:r>
          </a:p>
          <a:p>
            <a:pPr>
              <a:buFont typeface="Arial" charset="0"/>
              <a:buChar char="•"/>
            </a:pPr>
            <a:r>
              <a:rPr kumimoji="1" lang="en-US" sz="2800" b="0" i="1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</a:t>
            </a:r>
            <a:r>
              <a:rPr kumimoji="1" lang="en-US" altLang="zh-CN" sz="2800" b="0" dirty="0">
                <a:solidFill>
                  <a:schemeClr val="tx2"/>
                </a:solidFill>
                <a:latin typeface="Gill Sans MT" pitchFamily="34" charset="0"/>
                <a:ea typeface="宋体" charset="-122"/>
              </a:rPr>
              <a:t>Reach</a:t>
            </a:r>
            <a:r>
              <a:rPr kumimoji="1" lang="en-US" altLang="zh-CN" sz="2800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: If there is a </a:t>
            </a:r>
            <a:r>
              <a:rPr kumimoji="1" lang="en-US" altLang="zh-CN" sz="2800" b="0" dirty="0" err="1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def</a:t>
            </a:r>
            <a:r>
              <a:rPr kumimoji="1" lang="en-US" altLang="zh-CN" sz="2800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-clear path from </a:t>
            </a:r>
            <a:r>
              <a:rPr lang="en-US" sz="2800" b="0" i="1" dirty="0">
                <a:solidFill>
                  <a:schemeClr val="tx1"/>
                </a:solidFill>
                <a:latin typeface="Gill Sans MT" pitchFamily="34" charset="0"/>
              </a:rPr>
              <a:t>l</a:t>
            </a:r>
            <a:r>
              <a:rPr lang="en-US" sz="2800" b="0" i="1" baseline="-25000" dirty="0">
                <a:solidFill>
                  <a:schemeClr val="tx1"/>
                </a:solidFill>
                <a:latin typeface="Gill Sans MT" pitchFamily="34" charset="0"/>
              </a:rPr>
              <a:t>i</a:t>
            </a:r>
            <a:r>
              <a:rPr kumimoji="1" lang="en-US" altLang="zh-CN" sz="2800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to </a:t>
            </a:r>
            <a:r>
              <a:rPr lang="en-US" sz="2800" b="0" i="1" dirty="0" err="1">
                <a:solidFill>
                  <a:schemeClr val="tx1"/>
                </a:solidFill>
                <a:latin typeface="Gill Sans MT" pitchFamily="34" charset="0"/>
              </a:rPr>
              <a:t>l</a:t>
            </a:r>
            <a:r>
              <a:rPr lang="en-US" sz="2800" b="0" i="1" baseline="-25000" dirty="0" err="1">
                <a:solidFill>
                  <a:schemeClr val="tx1"/>
                </a:solidFill>
                <a:latin typeface="Gill Sans MT" pitchFamily="34" charset="0"/>
              </a:rPr>
              <a:t>j</a:t>
            </a:r>
            <a:r>
              <a:rPr kumimoji="1" lang="en-US" altLang="zh-CN" sz="2800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with respect to </a:t>
            </a:r>
            <a:r>
              <a:rPr kumimoji="1" lang="en-US" altLang="zh-CN" sz="2800" b="0" i="1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v</a:t>
            </a:r>
            <a:r>
              <a:rPr kumimoji="1" lang="en-US" altLang="zh-CN" sz="2800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, the </a:t>
            </a:r>
            <a:r>
              <a:rPr kumimoji="1" lang="en-US" altLang="zh-CN" sz="2800" b="0" dirty="0" err="1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def</a:t>
            </a:r>
            <a:r>
              <a:rPr kumimoji="1" lang="en-US" altLang="zh-CN" sz="2800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of </a:t>
            </a:r>
            <a:r>
              <a:rPr kumimoji="1" lang="en-US" altLang="zh-CN" sz="2800" b="0" i="1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v</a:t>
            </a:r>
            <a:r>
              <a:rPr kumimoji="1" lang="en-US" altLang="zh-CN" sz="2800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at </a:t>
            </a:r>
            <a:r>
              <a:rPr lang="en-US" sz="2800" b="0" i="1" dirty="0">
                <a:solidFill>
                  <a:schemeClr val="tx1"/>
                </a:solidFill>
                <a:latin typeface="Gill Sans MT" pitchFamily="34" charset="0"/>
              </a:rPr>
              <a:t>l</a:t>
            </a:r>
            <a:r>
              <a:rPr lang="en-US" sz="2800" b="0" i="1" baseline="-25000" dirty="0">
                <a:solidFill>
                  <a:schemeClr val="tx1"/>
                </a:solidFill>
                <a:latin typeface="Gill Sans MT" pitchFamily="34" charset="0"/>
              </a:rPr>
              <a:t>i</a:t>
            </a:r>
            <a:r>
              <a:rPr kumimoji="1" lang="en-US" altLang="zh-CN" sz="2800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reaches the use at </a:t>
            </a:r>
            <a:r>
              <a:rPr lang="en-US" sz="2800" b="0" i="1" dirty="0" err="1">
                <a:solidFill>
                  <a:schemeClr val="tx1"/>
                </a:solidFill>
                <a:latin typeface="Gill Sans MT" pitchFamily="34" charset="0"/>
              </a:rPr>
              <a:t>l</a:t>
            </a:r>
            <a:r>
              <a:rPr lang="en-US" sz="2800" b="0" i="1" baseline="-25000" dirty="0" err="1">
                <a:solidFill>
                  <a:schemeClr val="tx1"/>
                </a:solidFill>
                <a:latin typeface="Gill Sans MT" pitchFamily="34" charset="0"/>
              </a:rPr>
              <a:t>j</a:t>
            </a:r>
            <a:endParaRPr kumimoji="1" lang="en-US" altLang="zh-CN" sz="2800" b="0" dirty="0">
              <a:solidFill>
                <a:schemeClr val="tx1"/>
              </a:solidFill>
              <a:latin typeface="Gill Sans MT" pitchFamily="34" charset="0"/>
              <a:ea typeface="宋体" charset="-122"/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2250101" y="4673818"/>
            <a:ext cx="7899285" cy="1815882"/>
          </a:xfrm>
          <a:prstGeom prst="rect">
            <a:avLst/>
          </a:prstGeom>
          <a:solidFill>
            <a:srgbClr val="0033CC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buFont typeface="Arial" charset="0"/>
              <a:buChar char="•"/>
            </a:pPr>
            <a:r>
              <a:rPr kumimoji="1" lang="en-US" altLang="zh-CN" sz="2800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</a:t>
            </a:r>
            <a:r>
              <a:rPr kumimoji="1" lang="en-US" altLang="zh-CN" sz="2800" b="0" dirty="0">
                <a:solidFill>
                  <a:schemeClr val="tx2"/>
                </a:solidFill>
                <a:latin typeface="Gill Sans MT" pitchFamily="34" charset="0"/>
                <a:ea typeface="宋体" charset="-122"/>
              </a:rPr>
              <a:t>du-path</a:t>
            </a:r>
            <a:r>
              <a:rPr kumimoji="1" lang="en-US" altLang="zh-CN" sz="2800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: A </a:t>
            </a:r>
            <a:r>
              <a:rPr kumimoji="1" lang="en-US" altLang="zh-CN" sz="2800" b="0" dirty="0">
                <a:solidFill>
                  <a:schemeClr val="tx2"/>
                </a:solidFill>
                <a:latin typeface="Gill Sans MT" pitchFamily="34" charset="0"/>
                <a:ea typeface="宋体" charset="-122"/>
              </a:rPr>
              <a:t>simple</a:t>
            </a:r>
            <a:r>
              <a:rPr kumimoji="1" lang="en-US" altLang="zh-CN" sz="2800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</a:t>
            </a:r>
            <a:r>
              <a:rPr kumimoji="1" lang="en-US" altLang="zh-CN" sz="2800" b="0" dirty="0" err="1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subpath</a:t>
            </a:r>
            <a:r>
              <a:rPr kumimoji="1" lang="en-US" altLang="zh-CN" sz="2800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that is </a:t>
            </a:r>
            <a:r>
              <a:rPr kumimoji="1" lang="en-US" altLang="zh-CN" sz="2800" b="0" dirty="0" err="1">
                <a:solidFill>
                  <a:schemeClr val="tx2"/>
                </a:solidFill>
                <a:latin typeface="Gill Sans MT" pitchFamily="34" charset="0"/>
                <a:ea typeface="宋体" charset="-122"/>
              </a:rPr>
              <a:t>def</a:t>
            </a:r>
            <a:r>
              <a:rPr kumimoji="1" lang="en-US" altLang="zh-CN" sz="2800" b="0" dirty="0">
                <a:solidFill>
                  <a:schemeClr val="tx2"/>
                </a:solidFill>
                <a:latin typeface="Gill Sans MT" pitchFamily="34" charset="0"/>
                <a:ea typeface="宋体" charset="-122"/>
              </a:rPr>
              <a:t>-clear</a:t>
            </a:r>
            <a:r>
              <a:rPr kumimoji="1" lang="en-US" altLang="zh-CN" sz="2800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with respect to </a:t>
            </a:r>
            <a:r>
              <a:rPr kumimoji="1" lang="en-US" altLang="zh-CN" sz="2800" b="0" i="1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v</a:t>
            </a:r>
            <a:r>
              <a:rPr kumimoji="1" lang="en-US" altLang="zh-CN" sz="2800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from a </a:t>
            </a:r>
            <a:r>
              <a:rPr kumimoji="1" lang="en-US" altLang="zh-CN" sz="2800" b="0" dirty="0" err="1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def</a:t>
            </a:r>
            <a:r>
              <a:rPr kumimoji="1" lang="en-US" altLang="zh-CN" sz="2800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of </a:t>
            </a:r>
            <a:r>
              <a:rPr kumimoji="1" lang="en-US" altLang="zh-CN" sz="2800" b="0" i="1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v</a:t>
            </a:r>
            <a:r>
              <a:rPr kumimoji="1" lang="en-US" altLang="zh-CN" sz="2800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to a use of </a:t>
            </a:r>
            <a:r>
              <a:rPr kumimoji="1" lang="en-US" altLang="zh-CN" sz="2800" b="0" i="1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v</a:t>
            </a:r>
          </a:p>
          <a:p>
            <a:pPr>
              <a:buFont typeface="Arial" charset="0"/>
              <a:buChar char="•"/>
            </a:pPr>
            <a:r>
              <a:rPr kumimoji="1" lang="en-US" altLang="zh-CN" sz="2800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</a:t>
            </a:r>
            <a:r>
              <a:rPr kumimoji="1" lang="en-US" altLang="zh-CN" sz="2800" b="0" dirty="0">
                <a:solidFill>
                  <a:schemeClr val="tx2"/>
                </a:solidFill>
                <a:latin typeface="Gill Sans MT" pitchFamily="34" charset="0"/>
                <a:ea typeface="宋体" charset="-122"/>
              </a:rPr>
              <a:t>du (</a:t>
            </a:r>
            <a:r>
              <a:rPr lang="en-US" sz="2800" b="0" i="1" dirty="0" err="1">
                <a:solidFill>
                  <a:schemeClr val="tx2"/>
                </a:solidFill>
                <a:latin typeface="Gill Sans MT" pitchFamily="34" charset="0"/>
              </a:rPr>
              <a:t>n</a:t>
            </a:r>
            <a:r>
              <a:rPr lang="en-US" sz="2800" b="0" i="1" baseline="-25000" dirty="0" err="1">
                <a:solidFill>
                  <a:schemeClr val="tx2"/>
                </a:solidFill>
                <a:latin typeface="Gill Sans MT" pitchFamily="34" charset="0"/>
              </a:rPr>
              <a:t>i</a:t>
            </a:r>
            <a:r>
              <a:rPr kumimoji="1" lang="en-US" altLang="zh-CN" sz="2800" b="0" dirty="0">
                <a:solidFill>
                  <a:schemeClr val="tx2"/>
                </a:solidFill>
                <a:latin typeface="Gill Sans MT" pitchFamily="34" charset="0"/>
                <a:ea typeface="宋体" charset="-122"/>
              </a:rPr>
              <a:t>, </a:t>
            </a:r>
            <a:r>
              <a:rPr lang="en-US" sz="2800" b="0" i="1" dirty="0" err="1">
                <a:solidFill>
                  <a:schemeClr val="tx2"/>
                </a:solidFill>
                <a:latin typeface="Gill Sans MT" pitchFamily="34" charset="0"/>
              </a:rPr>
              <a:t>n</a:t>
            </a:r>
            <a:r>
              <a:rPr lang="en-US" sz="2800" b="0" i="1" baseline="-25000" dirty="0" err="1">
                <a:solidFill>
                  <a:schemeClr val="tx2"/>
                </a:solidFill>
                <a:latin typeface="Gill Sans MT" pitchFamily="34" charset="0"/>
              </a:rPr>
              <a:t>j</a:t>
            </a:r>
            <a:r>
              <a:rPr kumimoji="1" lang="en-US" altLang="zh-CN" sz="2800" b="0" dirty="0">
                <a:solidFill>
                  <a:schemeClr val="tx2"/>
                </a:solidFill>
                <a:latin typeface="Gill Sans MT" pitchFamily="34" charset="0"/>
                <a:ea typeface="宋体" charset="-122"/>
              </a:rPr>
              <a:t>, </a:t>
            </a:r>
            <a:r>
              <a:rPr kumimoji="1" lang="en-US" altLang="zh-CN" sz="2800" b="0" i="1" dirty="0">
                <a:solidFill>
                  <a:schemeClr val="tx2"/>
                </a:solidFill>
                <a:latin typeface="Gill Sans MT" pitchFamily="34" charset="0"/>
                <a:ea typeface="宋体" charset="-122"/>
              </a:rPr>
              <a:t>v</a:t>
            </a:r>
            <a:r>
              <a:rPr kumimoji="1" lang="en-US" altLang="zh-CN" sz="2800" b="0" dirty="0">
                <a:solidFill>
                  <a:schemeClr val="tx2"/>
                </a:solidFill>
                <a:latin typeface="Gill Sans MT" pitchFamily="34" charset="0"/>
                <a:ea typeface="宋体" charset="-122"/>
              </a:rPr>
              <a:t>)</a:t>
            </a:r>
            <a:r>
              <a:rPr kumimoji="1" lang="en-US" altLang="zh-CN" sz="2800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– the set of du-paths from </a:t>
            </a:r>
            <a:r>
              <a:rPr lang="en-US" sz="2800" b="0" i="1" dirty="0" err="1">
                <a:solidFill>
                  <a:schemeClr val="tx1"/>
                </a:solidFill>
                <a:latin typeface="Gill Sans MT" pitchFamily="34" charset="0"/>
              </a:rPr>
              <a:t>n</a:t>
            </a:r>
            <a:r>
              <a:rPr lang="en-US" sz="2800" b="0" i="1" baseline="-25000" dirty="0" err="1">
                <a:solidFill>
                  <a:schemeClr val="tx1"/>
                </a:solidFill>
                <a:latin typeface="Gill Sans MT" pitchFamily="34" charset="0"/>
              </a:rPr>
              <a:t>i</a:t>
            </a:r>
            <a:r>
              <a:rPr kumimoji="1" lang="en-US" altLang="zh-CN" sz="2800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to </a:t>
            </a:r>
            <a:r>
              <a:rPr lang="en-US" sz="2800" b="0" i="1" dirty="0" err="1">
                <a:solidFill>
                  <a:schemeClr val="tx1"/>
                </a:solidFill>
                <a:latin typeface="Gill Sans MT" pitchFamily="34" charset="0"/>
              </a:rPr>
              <a:t>n</a:t>
            </a:r>
            <a:r>
              <a:rPr lang="en-US" sz="2800" b="0" i="1" baseline="-25000" dirty="0" err="1">
                <a:solidFill>
                  <a:schemeClr val="tx1"/>
                </a:solidFill>
                <a:latin typeface="Gill Sans MT" pitchFamily="34" charset="0"/>
              </a:rPr>
              <a:t>j</a:t>
            </a:r>
            <a:endParaRPr kumimoji="1" lang="en-US" altLang="zh-CN" sz="2800" b="0" dirty="0">
              <a:solidFill>
                <a:schemeClr val="tx1"/>
              </a:solidFill>
              <a:latin typeface="Gill Sans MT" pitchFamily="34" charset="0"/>
              <a:ea typeface="宋体" charset="-122"/>
            </a:endParaRPr>
          </a:p>
          <a:p>
            <a:pPr>
              <a:buFont typeface="Arial" charset="0"/>
              <a:buChar char="•"/>
            </a:pPr>
            <a:r>
              <a:rPr kumimoji="1" lang="en-US" altLang="zh-CN" sz="2800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</a:t>
            </a:r>
            <a:r>
              <a:rPr kumimoji="1" lang="en-US" altLang="zh-CN" sz="2800" b="0" dirty="0">
                <a:solidFill>
                  <a:srgbClr val="FFFF00"/>
                </a:solidFill>
                <a:latin typeface="Gill Sans MT" pitchFamily="34" charset="0"/>
                <a:ea typeface="宋体" charset="-122"/>
              </a:rPr>
              <a:t>du </a:t>
            </a:r>
            <a:r>
              <a:rPr kumimoji="1" lang="en-US" altLang="zh-CN" sz="2800" b="0" dirty="0">
                <a:solidFill>
                  <a:schemeClr val="tx2"/>
                </a:solidFill>
                <a:latin typeface="Gill Sans MT" pitchFamily="34" charset="0"/>
                <a:ea typeface="宋体" charset="-122"/>
              </a:rPr>
              <a:t>(</a:t>
            </a:r>
            <a:r>
              <a:rPr lang="en-US" sz="2800" b="0" i="1" dirty="0" err="1">
                <a:solidFill>
                  <a:schemeClr val="tx2"/>
                </a:solidFill>
                <a:latin typeface="Gill Sans MT" pitchFamily="34" charset="0"/>
              </a:rPr>
              <a:t>n</a:t>
            </a:r>
            <a:r>
              <a:rPr lang="en-US" sz="2800" b="0" i="1" baseline="-25000" dirty="0" err="1">
                <a:solidFill>
                  <a:schemeClr val="tx2"/>
                </a:solidFill>
                <a:latin typeface="Gill Sans MT" pitchFamily="34" charset="0"/>
              </a:rPr>
              <a:t>i</a:t>
            </a:r>
            <a:r>
              <a:rPr kumimoji="1" lang="en-US" altLang="zh-CN" sz="2800" b="0" dirty="0">
                <a:solidFill>
                  <a:schemeClr val="tx2"/>
                </a:solidFill>
                <a:latin typeface="Gill Sans MT" pitchFamily="34" charset="0"/>
                <a:ea typeface="宋体" charset="-122"/>
              </a:rPr>
              <a:t>, </a:t>
            </a:r>
            <a:r>
              <a:rPr kumimoji="1" lang="en-US" altLang="zh-CN" sz="2800" b="0" i="1" dirty="0">
                <a:solidFill>
                  <a:schemeClr val="tx2"/>
                </a:solidFill>
                <a:latin typeface="Gill Sans MT" pitchFamily="34" charset="0"/>
                <a:ea typeface="宋体" charset="-122"/>
              </a:rPr>
              <a:t>v</a:t>
            </a:r>
            <a:r>
              <a:rPr kumimoji="1" lang="en-US" altLang="zh-CN" sz="2800" b="0" dirty="0">
                <a:solidFill>
                  <a:schemeClr val="tx2"/>
                </a:solidFill>
                <a:latin typeface="Gill Sans MT" pitchFamily="34" charset="0"/>
                <a:ea typeface="宋体" charset="-122"/>
              </a:rPr>
              <a:t>)</a:t>
            </a:r>
            <a:r>
              <a:rPr kumimoji="1" lang="en-US" altLang="zh-CN" sz="2800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– the set of du-paths that start at </a:t>
            </a:r>
            <a:r>
              <a:rPr lang="en-US" sz="2800" b="0" i="1" dirty="0" err="1">
                <a:solidFill>
                  <a:schemeClr val="tx1"/>
                </a:solidFill>
                <a:latin typeface="Gill Sans MT" pitchFamily="34" charset="0"/>
              </a:rPr>
              <a:t>n</a:t>
            </a:r>
            <a:r>
              <a:rPr lang="en-US" sz="2800" b="0" i="1" baseline="-25000" dirty="0" err="1">
                <a:solidFill>
                  <a:schemeClr val="tx1"/>
                </a:solidFill>
                <a:latin typeface="Gill Sans MT" pitchFamily="34" charset="0"/>
              </a:rPr>
              <a:t>i</a:t>
            </a:r>
            <a:endParaRPr lang="en-US" sz="2800" b="0" i="1" dirty="0">
              <a:solidFill>
                <a:schemeClr val="tx1"/>
              </a:solidFill>
              <a:latin typeface="Gill Sans MT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zh-CN" altLang="en-US" dirty="0"/>
          </a:p>
        </p:txBody>
      </p:sp>
      <p:sp>
        <p:nvSpPr>
          <p:cNvPr id="4" name="椭圆 3"/>
          <p:cNvSpPr/>
          <p:nvPr/>
        </p:nvSpPr>
        <p:spPr>
          <a:xfrm>
            <a:off x="5354184" y="1968160"/>
            <a:ext cx="360040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3</a:t>
            </a:r>
            <a:endParaRPr lang="zh-CN" altLang="en-US" sz="1400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5346497" y="2688241"/>
            <a:ext cx="360040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4</a:t>
            </a:r>
            <a:endParaRPr lang="zh-CN" altLang="en-US" sz="1400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5373042" y="3585989"/>
            <a:ext cx="360040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5</a:t>
            </a:r>
            <a:endParaRPr lang="zh-CN" altLang="en-US" sz="1400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5375918" y="4182406"/>
            <a:ext cx="360040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6</a:t>
            </a:r>
            <a:endParaRPr lang="zh-CN" altLang="en-US" sz="1400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955437" y="4910688"/>
            <a:ext cx="360040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7</a:t>
            </a:r>
            <a:endParaRPr lang="zh-CN" altLang="en-US" sz="1400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6272317" y="1899300"/>
            <a:ext cx="648072" cy="504056"/>
          </a:xfrm>
          <a:prstGeom prst="ellipse">
            <a:avLst/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11</a:t>
            </a:r>
            <a:endParaRPr lang="zh-CN" altLang="en-US" sz="1400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0" name="直接箭头连接符 9"/>
          <p:cNvCxnSpPr>
            <a:stCxn id="4" idx="4"/>
            <a:endCxn id="5" idx="0"/>
          </p:cNvCxnSpPr>
          <p:nvPr/>
        </p:nvCxnSpPr>
        <p:spPr>
          <a:xfrm flipH="1">
            <a:off x="5526518" y="2328201"/>
            <a:ext cx="7687" cy="36004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5" idx="4"/>
            <a:endCxn id="6" idx="0"/>
          </p:cNvCxnSpPr>
          <p:nvPr/>
        </p:nvCxnSpPr>
        <p:spPr>
          <a:xfrm>
            <a:off x="5526518" y="3048281"/>
            <a:ext cx="26545" cy="5377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6" idx="4"/>
            <a:endCxn id="7" idx="0"/>
          </p:cNvCxnSpPr>
          <p:nvPr/>
        </p:nvCxnSpPr>
        <p:spPr>
          <a:xfrm>
            <a:off x="5553062" y="3946030"/>
            <a:ext cx="2876" cy="2363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4" idx="6"/>
            <a:endCxn id="9" idx="2"/>
          </p:cNvCxnSpPr>
          <p:nvPr/>
        </p:nvCxnSpPr>
        <p:spPr>
          <a:xfrm>
            <a:off x="5714225" y="2148180"/>
            <a:ext cx="558093" cy="31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7" idx="4"/>
            <a:endCxn id="8" idx="0"/>
          </p:cNvCxnSpPr>
          <p:nvPr/>
        </p:nvCxnSpPr>
        <p:spPr>
          <a:xfrm flipH="1">
            <a:off x="5135458" y="4542446"/>
            <a:ext cx="420481" cy="3682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/>
        </p:nvSpPr>
        <p:spPr>
          <a:xfrm>
            <a:off x="5332653" y="260648"/>
            <a:ext cx="360040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sz="1400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5338424" y="1108256"/>
            <a:ext cx="360040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sz="1400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7" name="直接箭头连接符 16"/>
          <p:cNvCxnSpPr>
            <a:stCxn id="15" idx="4"/>
            <a:endCxn id="16" idx="0"/>
          </p:cNvCxnSpPr>
          <p:nvPr/>
        </p:nvCxnSpPr>
        <p:spPr>
          <a:xfrm>
            <a:off x="5512674" y="620688"/>
            <a:ext cx="5771" cy="48756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16" idx="4"/>
            <a:endCxn id="4" idx="0"/>
          </p:cNvCxnSpPr>
          <p:nvPr/>
        </p:nvCxnSpPr>
        <p:spPr>
          <a:xfrm>
            <a:off x="5518444" y="1468296"/>
            <a:ext cx="15760" cy="49986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/>
          <p:cNvSpPr/>
          <p:nvPr/>
        </p:nvSpPr>
        <p:spPr>
          <a:xfrm>
            <a:off x="4161929" y="2711324"/>
            <a:ext cx="625076" cy="3369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10</a:t>
            </a:r>
            <a:endParaRPr lang="zh-CN" altLang="en-US" sz="1400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0" name="直接箭头连接符 19"/>
          <p:cNvCxnSpPr>
            <a:stCxn id="5" idx="2"/>
            <a:endCxn id="19" idx="6"/>
          </p:cNvCxnSpPr>
          <p:nvPr/>
        </p:nvCxnSpPr>
        <p:spPr>
          <a:xfrm flipH="1">
            <a:off x="4787005" y="2868262"/>
            <a:ext cx="559492" cy="1154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肘形连接符 20"/>
          <p:cNvCxnSpPr>
            <a:stCxn id="19" idx="0"/>
            <a:endCxn id="4" idx="2"/>
          </p:cNvCxnSpPr>
          <p:nvPr/>
        </p:nvCxnSpPr>
        <p:spPr>
          <a:xfrm rot="5400000" flipH="1" flipV="1">
            <a:off x="4632755" y="1989895"/>
            <a:ext cx="563143" cy="879717"/>
          </a:xfrm>
          <a:prstGeom prst="bentConnector2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/>
          <p:cNvSpPr/>
          <p:nvPr/>
        </p:nvSpPr>
        <p:spPr>
          <a:xfrm>
            <a:off x="4955437" y="5672246"/>
            <a:ext cx="360040" cy="3497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8</a:t>
            </a:r>
            <a:endParaRPr lang="zh-CN" altLang="en-US" sz="1400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3" name="肘形连接符 22"/>
          <p:cNvCxnSpPr>
            <a:stCxn id="7" idx="2"/>
            <a:endCxn id="19" idx="4"/>
          </p:cNvCxnSpPr>
          <p:nvPr/>
        </p:nvCxnSpPr>
        <p:spPr>
          <a:xfrm rot="10800000">
            <a:off x="4474469" y="3048280"/>
            <a:ext cx="901451" cy="1314146"/>
          </a:xfrm>
          <a:prstGeom prst="bentConnector2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肘形连接符 23"/>
          <p:cNvCxnSpPr>
            <a:stCxn id="22" idx="4"/>
            <a:endCxn id="19" idx="3"/>
          </p:cNvCxnSpPr>
          <p:nvPr/>
        </p:nvCxnSpPr>
        <p:spPr>
          <a:xfrm rot="5400000" flipH="1">
            <a:off x="3182942" y="4069461"/>
            <a:ext cx="3023042" cy="881988"/>
          </a:xfrm>
          <a:prstGeom prst="bentConnector3">
            <a:avLst>
              <a:gd name="adj1" fmla="val -7562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5912277" y="4920488"/>
            <a:ext cx="360040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9</a:t>
            </a:r>
            <a:endParaRPr lang="zh-CN" altLang="en-US" sz="1400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6" name="直接箭头连接符 25"/>
          <p:cNvCxnSpPr>
            <a:stCxn id="8" idx="4"/>
            <a:endCxn id="22" idx="0"/>
          </p:cNvCxnSpPr>
          <p:nvPr/>
        </p:nvCxnSpPr>
        <p:spPr>
          <a:xfrm>
            <a:off x="5135457" y="5270729"/>
            <a:ext cx="0" cy="401517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25" idx="0"/>
            <a:endCxn id="7" idx="5"/>
          </p:cNvCxnSpPr>
          <p:nvPr/>
        </p:nvCxnSpPr>
        <p:spPr>
          <a:xfrm flipH="1" flipV="1">
            <a:off x="5683231" y="4489720"/>
            <a:ext cx="409066" cy="43076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8" idx="6"/>
            <a:endCxn id="25" idx="2"/>
          </p:cNvCxnSpPr>
          <p:nvPr/>
        </p:nvCxnSpPr>
        <p:spPr>
          <a:xfrm>
            <a:off x="5315477" y="5090708"/>
            <a:ext cx="596800" cy="980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2721102" y="255179"/>
            <a:ext cx="2264085" cy="3709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Def(1)={subject, pattern}</a:t>
            </a:r>
            <a:endParaRPr lang="zh-CN" altLang="en-US" sz="1400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909597" y="1108256"/>
            <a:ext cx="3384375" cy="7663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Def(2)={NotFound, iSub,rtnIndex, isPat, subjectLen,patternLen}</a:t>
            </a:r>
          </a:p>
          <a:p>
            <a:r>
              <a:rPr lang="en-US" altLang="zh-CN" sz="140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use(2)={NotFound, subject, pattern}</a:t>
            </a:r>
            <a:endParaRPr lang="zh-CN" altLang="en-US" sz="1400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268545" y="2276872"/>
            <a:ext cx="2636085" cy="4510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use(3,4)=use(3,11)={</a:t>
            </a:r>
            <a:r>
              <a:rPr lang="en-US" altLang="zh-CN" sz="1400" dirty="0" err="1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isPat</a:t>
            </a:r>
            <a:r>
              <a:rPr lang="en-US" altLang="zh-CN" sz="1400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, </a:t>
            </a:r>
            <a:r>
              <a:rPr lang="en-US" altLang="zh-CN" sz="1400" dirty="0" err="1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iSub,patternLen,subjectLen</a:t>
            </a:r>
            <a:r>
              <a:rPr lang="en-US" altLang="zh-CN" sz="1400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}</a:t>
            </a:r>
            <a:endParaRPr lang="zh-CN" altLang="en-US" sz="1400" dirty="0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4323191" y="3117173"/>
            <a:ext cx="3686577" cy="3571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use(4,10)=use(4,5)={iSub,subject,pattern}</a:t>
            </a:r>
            <a:endParaRPr lang="zh-CN" altLang="en-US" sz="1400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5774999" y="3544146"/>
            <a:ext cx="2569291" cy="443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def(5)={rtnIndex,isPat,iPat}, use(5)={iSub,}</a:t>
            </a:r>
            <a:endParaRPr lang="zh-CN" altLang="en-US" sz="1400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3729882" y="4437112"/>
            <a:ext cx="3303420" cy="2820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use(6,10)=use(6,7)={</a:t>
            </a:r>
            <a:r>
              <a:rPr lang="en-US" altLang="zh-CN" sz="1400" dirty="0" err="1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ipat,patternLen</a:t>
            </a:r>
            <a:r>
              <a:rPr lang="en-US" altLang="zh-CN" sz="1400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}</a:t>
            </a:r>
            <a:endParaRPr lang="zh-CN" altLang="en-US" sz="1400" dirty="0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683731" y="5229200"/>
            <a:ext cx="4051498" cy="36824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use(7,8)=use(7.9)={</a:t>
            </a:r>
            <a:r>
              <a:rPr lang="en-US" altLang="zh-CN" sz="1400" dirty="0" err="1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subject,iSub,iPat,Pattern</a:t>
            </a:r>
            <a:r>
              <a:rPr lang="en-US" altLang="zh-CN" sz="1400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}</a:t>
            </a:r>
            <a:endParaRPr lang="zh-CN" altLang="en-US" sz="1400" dirty="0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384032" y="4774001"/>
            <a:ext cx="1960257" cy="3202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Def(9)=use(9)={</a:t>
            </a:r>
            <a:r>
              <a:rPr lang="en-US" altLang="zh-CN" sz="1400" dirty="0" err="1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iPat</a:t>
            </a:r>
            <a:r>
              <a:rPr lang="en-US" altLang="zh-CN" sz="1400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}</a:t>
            </a:r>
            <a:endParaRPr lang="zh-CN" altLang="en-US" sz="1400" dirty="0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789664" y="6104646"/>
            <a:ext cx="2227406" cy="5934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Def(8)={</a:t>
            </a:r>
            <a:r>
              <a:rPr lang="en-US" altLang="zh-CN" sz="1400" dirty="0" err="1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rtnIndex</a:t>
            </a:r>
            <a:r>
              <a:rPr lang="en-US" altLang="zh-CN" sz="1400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, </a:t>
            </a:r>
            <a:r>
              <a:rPr lang="en-US" altLang="zh-CN" sz="1400" dirty="0" err="1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isPat</a:t>
            </a:r>
            <a:r>
              <a:rPr lang="en-US" altLang="zh-CN" sz="1400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}</a:t>
            </a:r>
          </a:p>
          <a:p>
            <a:r>
              <a:rPr lang="en-US" altLang="zh-CN" sz="1400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use(8)={</a:t>
            </a:r>
            <a:r>
              <a:rPr lang="en-US" altLang="zh-CN" sz="1400" dirty="0" err="1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NotFound</a:t>
            </a:r>
            <a:r>
              <a:rPr lang="en-US" altLang="zh-CN" sz="1400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}</a:t>
            </a:r>
            <a:endParaRPr lang="zh-CN" altLang="en-US" sz="1400" dirty="0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909596" y="2682436"/>
            <a:ext cx="2170180" cy="3762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Def(10)=use(10)={</a:t>
            </a:r>
            <a:r>
              <a:rPr lang="en-US" altLang="zh-CN" sz="1400" dirty="0" err="1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iSub</a:t>
            </a:r>
            <a:r>
              <a:rPr lang="en-US" altLang="zh-CN" sz="1400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}</a:t>
            </a:r>
            <a:endParaRPr lang="zh-CN" altLang="en-US" sz="1400" dirty="0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7003275" y="1705873"/>
            <a:ext cx="1791816" cy="3831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use(11)={rtnIndex}</a:t>
            </a:r>
            <a:endParaRPr lang="zh-CN" altLang="en-US" sz="1400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6367516" y="852250"/>
            <a:ext cx="3516591" cy="617684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chemeClr val="tx2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du{10, 10, </a:t>
            </a:r>
            <a:r>
              <a:rPr lang="en-US" altLang="zh-CN" sz="1600" dirty="0" err="1">
                <a:solidFill>
                  <a:schemeClr val="tx2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iSub</a:t>
            </a:r>
            <a:r>
              <a:rPr lang="en-US" altLang="zh-CN" sz="1600" dirty="0">
                <a:solidFill>
                  <a:schemeClr val="tx2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} = {[10,3,4,5,6,10], [10,3,4,5,6,7,8,10], [10,3,4,10]}</a:t>
            </a:r>
            <a:endParaRPr lang="zh-CN" altLang="en-US" sz="1600" dirty="0">
              <a:solidFill>
                <a:schemeClr val="tx2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87085EB7-2E71-4196-93E8-33939F8F4019}"/>
              </a:ext>
            </a:extLst>
          </p:cNvPr>
          <p:cNvSpPr/>
          <p:nvPr/>
        </p:nvSpPr>
        <p:spPr bwMode="auto">
          <a:xfrm>
            <a:off x="3508918" y="1108256"/>
            <a:ext cx="570859" cy="325552"/>
          </a:xfrm>
          <a:prstGeom prst="ellipse">
            <a:avLst/>
          </a:prstGeom>
          <a:noFill/>
          <a:ln w="28575" cap="flat" cmpd="sng" algn="ctr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37B58B6B-5409-4CF0-8B7A-F0BDE8F0630B}"/>
              </a:ext>
            </a:extLst>
          </p:cNvPr>
          <p:cNvSpPr/>
          <p:nvPr/>
        </p:nvSpPr>
        <p:spPr bwMode="auto">
          <a:xfrm>
            <a:off x="3413293" y="2733112"/>
            <a:ext cx="570859" cy="325552"/>
          </a:xfrm>
          <a:prstGeom prst="ellipse">
            <a:avLst/>
          </a:prstGeom>
          <a:noFill/>
          <a:ln w="28575" cap="flat" cmpd="sng" algn="ctr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341CE84D-0E13-4D00-AD77-C4E0649E96AF}"/>
              </a:ext>
            </a:extLst>
          </p:cNvPr>
          <p:cNvSpPr/>
          <p:nvPr/>
        </p:nvSpPr>
        <p:spPr bwMode="auto">
          <a:xfrm>
            <a:off x="4237181" y="2428445"/>
            <a:ext cx="570859" cy="325552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AF601E99-8C88-4B88-BB41-9883BC26AFC7}"/>
              </a:ext>
            </a:extLst>
          </p:cNvPr>
          <p:cNvSpPr/>
          <p:nvPr/>
        </p:nvSpPr>
        <p:spPr bwMode="auto">
          <a:xfrm>
            <a:off x="5995144" y="3128624"/>
            <a:ext cx="570859" cy="325552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DD65C7EA-01BB-4CB1-81B8-C983FDA792F1}"/>
              </a:ext>
            </a:extLst>
          </p:cNvPr>
          <p:cNvSpPr/>
          <p:nvPr/>
        </p:nvSpPr>
        <p:spPr bwMode="auto">
          <a:xfrm>
            <a:off x="6432417" y="3727623"/>
            <a:ext cx="570859" cy="325552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866BAD09-6200-4516-A4EA-600895E834E9}"/>
              </a:ext>
            </a:extLst>
          </p:cNvPr>
          <p:cNvSpPr/>
          <p:nvPr/>
        </p:nvSpPr>
        <p:spPr bwMode="auto">
          <a:xfrm>
            <a:off x="5978342" y="5240141"/>
            <a:ext cx="570859" cy="325552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32AFA92-F5B2-49A2-B3BC-342F3B5CC82C}"/>
              </a:ext>
            </a:extLst>
          </p:cNvPr>
          <p:cNvSpPr/>
          <p:nvPr/>
        </p:nvSpPr>
        <p:spPr>
          <a:xfrm>
            <a:off x="6932520" y="2439481"/>
            <a:ext cx="3335273" cy="506849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chemeClr val="tx2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du(10, (3, 4), </a:t>
            </a:r>
            <a:r>
              <a:rPr lang="en-US" altLang="zh-CN" sz="1600" dirty="0" err="1">
                <a:solidFill>
                  <a:schemeClr val="tx2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iSub</a:t>
            </a:r>
            <a:r>
              <a:rPr lang="en-US" altLang="zh-CN" sz="1600" dirty="0">
                <a:solidFill>
                  <a:schemeClr val="tx2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)={[10,3,4]}</a:t>
            </a:r>
          </a:p>
          <a:p>
            <a:r>
              <a:rPr lang="en-US" altLang="zh-CN" sz="1600" dirty="0">
                <a:solidFill>
                  <a:schemeClr val="tx2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du(10, (3, 11), </a:t>
            </a:r>
            <a:r>
              <a:rPr lang="en-US" altLang="zh-CN" sz="1600" dirty="0" err="1">
                <a:solidFill>
                  <a:schemeClr val="tx2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iSub</a:t>
            </a:r>
            <a:r>
              <a:rPr lang="en-US" altLang="zh-CN" sz="1600" dirty="0">
                <a:solidFill>
                  <a:schemeClr val="tx2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)={[10,3,11]}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768BB49-2473-4D5E-A3CD-C46F947A6D5C}"/>
              </a:ext>
            </a:extLst>
          </p:cNvPr>
          <p:cNvSpPr/>
          <p:nvPr/>
        </p:nvSpPr>
        <p:spPr>
          <a:xfrm>
            <a:off x="1676172" y="3653119"/>
            <a:ext cx="3516591" cy="498382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schemeClr val="tx2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du(10, (4, 10), </a:t>
            </a:r>
            <a:r>
              <a:rPr lang="en-US" altLang="zh-CN" sz="1600" dirty="0" err="1">
                <a:solidFill>
                  <a:schemeClr val="tx2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iSub</a:t>
            </a:r>
            <a:r>
              <a:rPr lang="en-US" altLang="zh-CN" sz="1600" dirty="0">
                <a:solidFill>
                  <a:schemeClr val="tx2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)={[10,3,4,10]}</a:t>
            </a:r>
          </a:p>
          <a:p>
            <a:r>
              <a:rPr lang="en-US" altLang="zh-CN" sz="1600" dirty="0">
                <a:solidFill>
                  <a:schemeClr val="tx2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du(10, (4, 5), </a:t>
            </a:r>
            <a:r>
              <a:rPr lang="en-US" altLang="zh-CN" sz="1600" dirty="0" err="1">
                <a:solidFill>
                  <a:schemeClr val="tx2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iSub</a:t>
            </a:r>
            <a:r>
              <a:rPr lang="en-US" altLang="zh-CN" sz="1600" dirty="0">
                <a:solidFill>
                  <a:schemeClr val="tx2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)={[10,3,4,5]}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2B532EF0-7BA9-42E4-A30E-986CD7A9FCA9}"/>
              </a:ext>
            </a:extLst>
          </p:cNvPr>
          <p:cNvSpPr/>
          <p:nvPr/>
        </p:nvSpPr>
        <p:spPr>
          <a:xfrm>
            <a:off x="6280573" y="5898245"/>
            <a:ext cx="3690476" cy="498382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schemeClr val="tx2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du(10, (7, 8), </a:t>
            </a:r>
            <a:r>
              <a:rPr lang="en-US" altLang="zh-CN" sz="1600" dirty="0" err="1">
                <a:solidFill>
                  <a:schemeClr val="tx2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iSub</a:t>
            </a:r>
            <a:r>
              <a:rPr lang="en-US" altLang="zh-CN" sz="1600" dirty="0">
                <a:solidFill>
                  <a:schemeClr val="tx2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)={[10,3,4,5,6,7,8]}</a:t>
            </a:r>
          </a:p>
          <a:p>
            <a:r>
              <a:rPr lang="en-US" altLang="zh-CN" sz="1600" dirty="0">
                <a:solidFill>
                  <a:schemeClr val="tx2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du(10, (7, 9), </a:t>
            </a:r>
            <a:r>
              <a:rPr lang="en-US" altLang="zh-CN" sz="1600" dirty="0" err="1">
                <a:solidFill>
                  <a:schemeClr val="tx2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iSub</a:t>
            </a:r>
            <a:r>
              <a:rPr lang="en-US" altLang="zh-CN" sz="1600" dirty="0">
                <a:solidFill>
                  <a:schemeClr val="tx2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)={[10,3,4,5,6,7,9]}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8AAB7AD-7091-4033-9693-1A7C2FB59226}"/>
              </a:ext>
            </a:extLst>
          </p:cNvPr>
          <p:cNvSpPr/>
          <p:nvPr/>
        </p:nvSpPr>
        <p:spPr>
          <a:xfrm>
            <a:off x="7047683" y="4104740"/>
            <a:ext cx="2774818" cy="498382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schemeClr val="tx2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du(10, 5, </a:t>
            </a:r>
            <a:r>
              <a:rPr lang="en-US" altLang="zh-CN" sz="1600" dirty="0" err="1">
                <a:solidFill>
                  <a:schemeClr val="tx2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iSub</a:t>
            </a:r>
            <a:r>
              <a:rPr lang="en-US" altLang="zh-CN" sz="1600" dirty="0">
                <a:solidFill>
                  <a:schemeClr val="tx2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)={[10,3,4,5]}</a:t>
            </a:r>
          </a:p>
        </p:txBody>
      </p:sp>
    </p:spTree>
    <p:extLst>
      <p:ext uri="{BB962C8B-B14F-4D97-AF65-F5344CB8AC3E}">
        <p14:creationId xmlns:p14="http://schemas.microsoft.com/office/powerpoint/2010/main" val="121364512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1" grpId="0" animBg="1"/>
      <p:bldP spid="3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8" grpId="0" animBg="1"/>
      <p:bldP spid="49" grpId="0" animBg="1"/>
      <p:bldP spid="51" grpId="0" animBg="1"/>
      <p:bldP spid="5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D8317-B56B-4E7F-9EA7-42865CBFE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(cont.)</a:t>
            </a:r>
            <a:endParaRPr lang="zh-CN" altLang="en-US" dirty="0"/>
          </a:p>
        </p:txBody>
      </p:sp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F0AB5226-C202-46CC-A3AA-BB3E165CB7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2666144"/>
              </p:ext>
            </p:extLst>
          </p:nvPr>
        </p:nvGraphicFramePr>
        <p:xfrm>
          <a:off x="1657816" y="1082165"/>
          <a:ext cx="8831765" cy="388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244">
                  <a:extLst>
                    <a:ext uri="{9D8B030D-6E8A-4147-A177-3AD203B41FA5}">
                      <a16:colId xmlns:a16="http://schemas.microsoft.com/office/drawing/2014/main" val="4255976718"/>
                    </a:ext>
                  </a:extLst>
                </a:gridCol>
                <a:gridCol w="582737">
                  <a:extLst>
                    <a:ext uri="{9D8B030D-6E8A-4147-A177-3AD203B41FA5}">
                      <a16:colId xmlns:a16="http://schemas.microsoft.com/office/drawing/2014/main" val="660068519"/>
                    </a:ext>
                  </a:extLst>
                </a:gridCol>
                <a:gridCol w="823339">
                  <a:extLst>
                    <a:ext uri="{9D8B030D-6E8A-4147-A177-3AD203B41FA5}">
                      <a16:colId xmlns:a16="http://schemas.microsoft.com/office/drawing/2014/main" val="1910564760"/>
                    </a:ext>
                  </a:extLst>
                </a:gridCol>
                <a:gridCol w="1421632">
                  <a:extLst>
                    <a:ext uri="{9D8B030D-6E8A-4147-A177-3AD203B41FA5}">
                      <a16:colId xmlns:a16="http://schemas.microsoft.com/office/drawing/2014/main" val="1514637139"/>
                    </a:ext>
                  </a:extLst>
                </a:gridCol>
                <a:gridCol w="2229439">
                  <a:extLst>
                    <a:ext uri="{9D8B030D-6E8A-4147-A177-3AD203B41FA5}">
                      <a16:colId xmlns:a16="http://schemas.microsoft.com/office/drawing/2014/main" val="3139209698"/>
                    </a:ext>
                  </a:extLst>
                </a:gridCol>
                <a:gridCol w="2687374">
                  <a:extLst>
                    <a:ext uri="{9D8B030D-6E8A-4147-A177-3AD203B41FA5}">
                      <a16:colId xmlns:a16="http://schemas.microsoft.com/office/drawing/2014/main" val="32339953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</a:t>
                      </a:r>
                      <a:endParaRPr lang="zh-CN" altLang="en-US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</a:t>
                      </a:r>
                      <a:endParaRPr lang="zh-CN" altLang="en-US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</a:t>
                      </a:r>
                      <a:endParaRPr lang="zh-CN" altLang="en-US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DU-pair</a:t>
                      </a:r>
                      <a:endParaRPr lang="zh-CN" altLang="en-US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Du-path</a:t>
                      </a:r>
                      <a:endParaRPr lang="zh-CN" altLang="en-US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116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isub</a:t>
                      </a:r>
                      <a:endParaRPr lang="zh-CN" altLang="en-US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zh-CN" altLang="en-US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(3, 4)</a:t>
                      </a:r>
                      <a:endParaRPr lang="zh-CN" altLang="en-US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(10, (3, 4))</a:t>
                      </a:r>
                      <a:endParaRPr lang="zh-CN" altLang="en-US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 Unicode MS" panose="020B0604020202020204" pitchFamily="34" charset="-122"/>
                          <a:cs typeface="Arial" panose="020B0604020202020204" pitchFamily="34" charset="0"/>
                        </a:rPr>
                        <a:t>[10,3,4]</a:t>
                      </a:r>
                      <a:endParaRPr lang="zh-CN" altLang="en-US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 Unicode MS" panose="020B0604020202020204" pitchFamily="34" charset="-122"/>
                          <a:cs typeface="Arial" panose="020B0604020202020204" pitchFamily="34" charset="0"/>
                        </a:rPr>
                        <a:t>du(10, (3, 4), </a:t>
                      </a:r>
                      <a:r>
                        <a:rPr lang="en-US" altLang="zh-CN" b="1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 Unicode MS" panose="020B0604020202020204" pitchFamily="34" charset="-122"/>
                          <a:cs typeface="Arial" panose="020B0604020202020204" pitchFamily="34" charset="0"/>
                        </a:rPr>
                        <a:t>iSub</a:t>
                      </a:r>
                      <a:r>
                        <a:rPr lang="en-US" altLang="zh-CN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 Unicode MS" panose="020B0604020202020204" pitchFamily="34" charset="-122"/>
                          <a:cs typeface="Arial" panose="020B0604020202020204" pitchFamily="34" charset="0"/>
                        </a:rPr>
                        <a:t>)</a:t>
                      </a:r>
                      <a:endParaRPr lang="zh-CN" altLang="en-US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0524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b="1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(3, 11)</a:t>
                      </a:r>
                      <a:endParaRPr lang="zh-CN" altLang="en-US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(10, (3, 11))</a:t>
                      </a:r>
                      <a:endParaRPr lang="zh-CN" altLang="en-US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Arial Unicode MS" panose="020B0604020202020204" pitchFamily="34" charset="-122"/>
                          <a:cs typeface="Arial" panose="020B0604020202020204" pitchFamily="34" charset="0"/>
                        </a:rPr>
                        <a:t>[10,3,11]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Arial Unicode MS" panose="020B0604020202020204" pitchFamily="34" charset="-122"/>
                          <a:cs typeface="Arial" panose="020B0604020202020204" pitchFamily="34" charset="0"/>
                        </a:rPr>
                        <a:t>du(10, (3, 11), </a:t>
                      </a:r>
                      <a:r>
                        <a:rPr kumimoji="0" lang="en-US" altLang="zh-CN" sz="1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Arial Unicode MS" panose="020B0604020202020204" pitchFamily="34" charset="-122"/>
                          <a:cs typeface="Arial" panose="020B0604020202020204" pitchFamily="34" charset="0"/>
                        </a:rPr>
                        <a:t>iSub</a:t>
                      </a:r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Arial Unicode MS" panose="020B0604020202020204" pitchFamily="34" charset="-122"/>
                          <a:cs typeface="Arial" panose="020B0604020202020204" pitchFamily="34" charset="0"/>
                        </a:rPr>
                        <a:t>)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5747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b="1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(4, 10)</a:t>
                      </a:r>
                      <a:endParaRPr lang="zh-CN" altLang="en-US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(10, (4, 10))</a:t>
                      </a:r>
                      <a:endParaRPr lang="zh-CN" altLang="en-US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Arial Unicode MS" panose="020B0604020202020204" pitchFamily="34" charset="-122"/>
                          <a:cs typeface="Arial" panose="020B0604020202020204" pitchFamily="34" charset="0"/>
                        </a:rPr>
                        <a:t>[10,3,4,10]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Arial Unicode MS" panose="020B0604020202020204" pitchFamily="34" charset="-122"/>
                          <a:cs typeface="Arial" panose="020B0604020202020204" pitchFamily="34" charset="0"/>
                        </a:rPr>
                        <a:t>du(10, (4, 10), </a:t>
                      </a:r>
                      <a:r>
                        <a:rPr kumimoji="0" lang="en-US" altLang="zh-CN" sz="1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Arial Unicode MS" panose="020B0604020202020204" pitchFamily="34" charset="-122"/>
                          <a:cs typeface="Arial" panose="020B0604020202020204" pitchFamily="34" charset="0"/>
                        </a:rPr>
                        <a:t>iSub</a:t>
                      </a:r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Arial Unicode MS" panose="020B0604020202020204" pitchFamily="34" charset="-122"/>
                          <a:cs typeface="Arial" panose="020B0604020202020204" pitchFamily="34" charset="0"/>
                        </a:rPr>
                        <a:t>)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106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b="1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(4, 5)</a:t>
                      </a:r>
                      <a:endParaRPr lang="zh-CN" altLang="en-US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(10, (4, 5))</a:t>
                      </a:r>
                      <a:endParaRPr lang="zh-CN" altLang="en-US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Arial Unicode MS" panose="020B0604020202020204" pitchFamily="34" charset="-122"/>
                          <a:cs typeface="Arial" panose="020B0604020202020204" pitchFamily="34" charset="0"/>
                        </a:rPr>
                        <a:t>[10,3,4,5]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Arial Unicode MS" panose="020B0604020202020204" pitchFamily="34" charset="-122"/>
                          <a:cs typeface="Arial" panose="020B0604020202020204" pitchFamily="34" charset="0"/>
                        </a:rPr>
                        <a:t>du(10, (4, 5), </a:t>
                      </a:r>
                      <a:r>
                        <a:rPr kumimoji="0" lang="en-US" altLang="zh-CN" sz="1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Arial Unicode MS" panose="020B0604020202020204" pitchFamily="34" charset="-122"/>
                          <a:cs typeface="Arial" panose="020B0604020202020204" pitchFamily="34" charset="0"/>
                        </a:rPr>
                        <a:t>iSub</a:t>
                      </a:r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Arial Unicode MS" panose="020B0604020202020204" pitchFamily="34" charset="-122"/>
                          <a:cs typeface="Arial" panose="020B0604020202020204" pitchFamily="34" charset="0"/>
                        </a:rPr>
                        <a:t>)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6473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b="1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zh-CN" altLang="en-US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(10, 5)</a:t>
                      </a:r>
                      <a:endParaRPr lang="zh-CN" altLang="en-US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Arial Unicode MS" panose="020B0604020202020204" pitchFamily="34" charset="-122"/>
                          <a:cs typeface="Arial" panose="020B0604020202020204" pitchFamily="34" charset="0"/>
                        </a:rPr>
                        <a:t>[10,3,4,5]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Arial Unicode MS" panose="020B0604020202020204" pitchFamily="34" charset="-122"/>
                          <a:cs typeface="Arial" panose="020B0604020202020204" pitchFamily="34" charset="0"/>
                        </a:rPr>
                        <a:t>du(10, 5, </a:t>
                      </a:r>
                      <a:r>
                        <a:rPr kumimoji="0" lang="en-US" altLang="zh-CN" sz="1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Arial Unicode MS" panose="020B0604020202020204" pitchFamily="34" charset="-122"/>
                          <a:cs typeface="Arial" panose="020B0604020202020204" pitchFamily="34" charset="0"/>
                        </a:rPr>
                        <a:t>iSub</a:t>
                      </a:r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Arial Unicode MS" panose="020B0604020202020204" pitchFamily="34" charset="-122"/>
                          <a:cs typeface="Arial" panose="020B0604020202020204" pitchFamily="34" charset="0"/>
                        </a:rPr>
                        <a:t>)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4188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(7, 8)</a:t>
                      </a:r>
                      <a:endParaRPr lang="zh-CN" altLang="en-US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(10, (7, 8))</a:t>
                      </a:r>
                      <a:endParaRPr lang="zh-CN" altLang="en-US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Arial Unicode MS" panose="020B0604020202020204" pitchFamily="34" charset="-122"/>
                          <a:cs typeface="Arial" panose="020B0604020202020204" pitchFamily="34" charset="0"/>
                        </a:rPr>
                        <a:t>[10,3,4,5,6,7,8]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Arial Unicode MS" panose="020B0604020202020204" pitchFamily="34" charset="-122"/>
                          <a:cs typeface="Arial" panose="020B0604020202020204" pitchFamily="34" charset="0"/>
                        </a:rPr>
                        <a:t>du(10, (7, 8), </a:t>
                      </a:r>
                      <a:r>
                        <a:rPr kumimoji="0" lang="en-US" altLang="zh-CN" sz="1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Arial Unicode MS" panose="020B0604020202020204" pitchFamily="34" charset="-122"/>
                          <a:cs typeface="Arial" panose="020B0604020202020204" pitchFamily="34" charset="0"/>
                        </a:rPr>
                        <a:t>iSub</a:t>
                      </a:r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Arial Unicode MS" panose="020B0604020202020204" pitchFamily="34" charset="-122"/>
                          <a:cs typeface="Arial" panose="020B0604020202020204" pitchFamily="34" charset="0"/>
                        </a:rPr>
                        <a:t>)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3332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(7, 9)</a:t>
                      </a:r>
                      <a:endParaRPr lang="zh-CN" altLang="en-US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(10, (7, 9))</a:t>
                      </a:r>
                      <a:endParaRPr lang="zh-CN" altLang="en-US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Arial Unicode MS" panose="020B0604020202020204" pitchFamily="34" charset="-122"/>
                          <a:cs typeface="Arial" panose="020B0604020202020204" pitchFamily="34" charset="0"/>
                        </a:rPr>
                        <a:t>[10,3,4,5,6,7,9]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Arial Unicode MS" panose="020B0604020202020204" pitchFamily="34" charset="-122"/>
                          <a:cs typeface="Arial" panose="020B0604020202020204" pitchFamily="34" charset="0"/>
                        </a:rPr>
                        <a:t>du(10, (7, 9), </a:t>
                      </a:r>
                      <a:r>
                        <a:rPr kumimoji="0" lang="en-US" altLang="zh-CN" sz="1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Arial Unicode MS" panose="020B0604020202020204" pitchFamily="34" charset="-122"/>
                          <a:cs typeface="Arial" panose="020B0604020202020204" pitchFamily="34" charset="0"/>
                        </a:rPr>
                        <a:t>iSub</a:t>
                      </a:r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Arial Unicode MS" panose="020B0604020202020204" pitchFamily="34" charset="-122"/>
                          <a:cs typeface="Arial" panose="020B0604020202020204" pitchFamily="34" charset="0"/>
                        </a:rPr>
                        <a:t>)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323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zh-CN" altLang="en-US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(10, 10)</a:t>
                      </a:r>
                      <a:endParaRPr lang="zh-CN" altLang="en-US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Arial Unicode MS" panose="020B0604020202020204" pitchFamily="34" charset="-122"/>
                          <a:cs typeface="Arial" panose="020B0604020202020204" pitchFamily="34" charset="0"/>
                        </a:rPr>
                        <a:t>{[10,3,4,5,6,10], [10,3,4,5,6,7,8,10], [10,3,4,10]}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Arial Unicode MS" panose="020B0604020202020204" pitchFamily="3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Arial Unicode MS" panose="020B0604020202020204" pitchFamily="34" charset="-122"/>
                          <a:cs typeface="Arial" panose="020B0604020202020204" pitchFamily="34" charset="0"/>
                        </a:rPr>
                        <a:t>du(10, 10, </a:t>
                      </a:r>
                      <a:r>
                        <a:rPr kumimoji="0" lang="en-US" altLang="zh-CN" sz="1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Arial Unicode MS" panose="020B0604020202020204" pitchFamily="34" charset="-122"/>
                          <a:cs typeface="Arial" panose="020B0604020202020204" pitchFamily="34" charset="0"/>
                        </a:rPr>
                        <a:t>iSub</a:t>
                      </a:r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Arial Unicode MS" panose="020B0604020202020204" pitchFamily="34" charset="-122"/>
                          <a:cs typeface="Arial" panose="020B0604020202020204" pitchFamily="34" charset="0"/>
                        </a:rPr>
                        <a:t>)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153336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287CE2-15E1-4726-934F-CA436C0E7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1E34D2-BFAA-43E6-B117-0A7C9FC99B38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A8C0F5B-C9F1-45D6-98DD-5CF0CF4A8588}"/>
              </a:ext>
            </a:extLst>
          </p:cNvPr>
          <p:cNvSpPr/>
          <p:nvPr/>
        </p:nvSpPr>
        <p:spPr>
          <a:xfrm>
            <a:off x="2979615" y="5203078"/>
            <a:ext cx="6930102" cy="906984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chemeClr val="tx2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du(10,iSub)={[10,3,4],[10.3.11],[10,3,4,5],[10,3,4,5,6,7,8],[10,3,4,5,6,7,9],[10,3,4,5,6,10],[10,3,4,5,6,7,8,10],[10,3,4,10]}</a:t>
            </a:r>
            <a:endParaRPr lang="zh-CN" altLang="en-US" sz="1600" dirty="0">
              <a:solidFill>
                <a:schemeClr val="tx2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159024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58C4394-EFB9-4A3E-B4B8-8FF2D650E2B2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Touring DU-Paths</a:t>
            </a:r>
          </a:p>
        </p:txBody>
      </p:sp>
      <p:sp>
        <p:nvSpPr>
          <p:cNvPr id="297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92825" y="1620838"/>
            <a:ext cx="9005888" cy="4722812"/>
          </a:xfrm>
        </p:spPr>
        <p:txBody>
          <a:bodyPr/>
          <a:lstStyle/>
          <a:p>
            <a:r>
              <a:rPr lang="en-US" dirty="0"/>
              <a:t>A test path </a:t>
            </a:r>
            <a:r>
              <a:rPr lang="en-US" i="1" dirty="0"/>
              <a:t>p</a:t>
            </a:r>
            <a:r>
              <a:rPr lang="en-US" dirty="0"/>
              <a:t> </a:t>
            </a:r>
            <a:r>
              <a:rPr lang="en-US" i="1" dirty="0">
                <a:solidFill>
                  <a:schemeClr val="tx2"/>
                </a:solidFill>
              </a:rPr>
              <a:t>du-tours</a:t>
            </a:r>
            <a:r>
              <a:rPr lang="en-US" dirty="0"/>
              <a:t> </a:t>
            </a:r>
            <a:r>
              <a:rPr lang="en-US" dirty="0" err="1"/>
              <a:t>subpath</a:t>
            </a:r>
            <a:r>
              <a:rPr lang="en-US" dirty="0"/>
              <a:t> </a:t>
            </a:r>
            <a:r>
              <a:rPr lang="en-US" i="1" dirty="0"/>
              <a:t>d</a:t>
            </a:r>
            <a:r>
              <a:rPr lang="en-US" dirty="0"/>
              <a:t> with respect to </a:t>
            </a:r>
            <a:r>
              <a:rPr lang="en-US" i="1" dirty="0"/>
              <a:t>v</a:t>
            </a:r>
            <a:r>
              <a:rPr lang="en-US" dirty="0"/>
              <a:t> if </a:t>
            </a:r>
            <a:r>
              <a:rPr lang="en-US" i="1" dirty="0"/>
              <a:t>p</a:t>
            </a:r>
            <a:r>
              <a:rPr lang="en-US" dirty="0"/>
              <a:t> tours </a:t>
            </a:r>
            <a:r>
              <a:rPr lang="en-US" i="1" dirty="0"/>
              <a:t>d</a:t>
            </a:r>
            <a:r>
              <a:rPr lang="en-US" dirty="0"/>
              <a:t> and the </a:t>
            </a:r>
            <a:r>
              <a:rPr lang="en-US" dirty="0" err="1"/>
              <a:t>subpath</a:t>
            </a:r>
            <a:r>
              <a:rPr lang="en-US" dirty="0"/>
              <a:t> taken is def-clear with respect to </a:t>
            </a:r>
            <a:r>
              <a:rPr lang="en-US" i="1" dirty="0"/>
              <a:t>v</a:t>
            </a:r>
          </a:p>
          <a:p>
            <a:pPr lvl="1"/>
            <a:endParaRPr lang="en-US" dirty="0"/>
          </a:p>
          <a:p>
            <a:r>
              <a:rPr lang="en-US" dirty="0" err="1">
                <a:solidFill>
                  <a:schemeClr val="tx2"/>
                </a:solidFill>
              </a:rPr>
              <a:t>Sidetrips</a:t>
            </a:r>
            <a:r>
              <a:rPr lang="en-US" dirty="0"/>
              <a:t> can be used, just as with previous touring</a:t>
            </a:r>
          </a:p>
          <a:p>
            <a:pPr lvl="1"/>
            <a:endParaRPr lang="en-US" dirty="0"/>
          </a:p>
          <a:p>
            <a:r>
              <a:rPr lang="en-US" dirty="0"/>
              <a:t>Three criteria</a:t>
            </a:r>
          </a:p>
          <a:p>
            <a:pPr lvl="1"/>
            <a:r>
              <a:rPr lang="en-US" dirty="0"/>
              <a:t>Use every def</a:t>
            </a:r>
          </a:p>
          <a:p>
            <a:pPr lvl="1"/>
            <a:r>
              <a:rPr lang="en-US" dirty="0"/>
              <a:t>Get to every use</a:t>
            </a:r>
          </a:p>
          <a:p>
            <a:pPr lvl="1"/>
            <a:r>
              <a:rPr lang="en-US" dirty="0"/>
              <a:t>Follow all du-paths</a:t>
            </a:r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667AF9F-EB62-4275-B272-04B35E944CA4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307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Flow Test Criteria</a:t>
            </a:r>
          </a:p>
        </p:txBody>
      </p:sp>
      <p:sp>
        <p:nvSpPr>
          <p:cNvPr id="193540" name="Text Box 4"/>
          <p:cNvSpPr txBox="1">
            <a:spLocks noChangeArrowheads="1"/>
          </p:cNvSpPr>
          <p:nvPr/>
        </p:nvSpPr>
        <p:spPr bwMode="auto">
          <a:xfrm>
            <a:off x="1965325" y="1688149"/>
            <a:ext cx="8262938" cy="841375"/>
          </a:xfrm>
          <a:prstGeom prst="rect">
            <a:avLst/>
          </a:prstGeom>
          <a:gradFill rotWithShape="1">
            <a:gsLst>
              <a:gs pos="0">
                <a:srgbClr val="0066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All-</a:t>
            </a:r>
            <a:r>
              <a:rPr lang="en-US" sz="2400" u="sng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defs</a:t>
            </a: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coverage (ADC)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: For each set of du-paths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S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=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du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(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n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,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v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), TR contains 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at least one 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path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d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in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S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.</a:t>
            </a:r>
          </a:p>
        </p:txBody>
      </p:sp>
      <p:sp>
        <p:nvSpPr>
          <p:cNvPr id="193542" name="Text Box 6"/>
          <p:cNvSpPr txBox="1">
            <a:spLocks noChangeArrowheads="1"/>
          </p:cNvSpPr>
          <p:nvPr/>
        </p:nvSpPr>
        <p:spPr bwMode="auto">
          <a:xfrm>
            <a:off x="1965325" y="3823607"/>
            <a:ext cx="8262938" cy="841375"/>
          </a:xfrm>
          <a:prstGeom prst="rect">
            <a:avLst/>
          </a:prstGeom>
          <a:gradFill rotWithShape="1">
            <a:gsLst>
              <a:gs pos="0">
                <a:srgbClr val="0066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All-uses coverage (AUC)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: For each set of du-paths to uses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S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=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du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(</a:t>
            </a:r>
            <a:r>
              <a:rPr lang="en-US" sz="2400" i="1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n</a:t>
            </a:r>
            <a:r>
              <a:rPr lang="en-US" sz="2400" i="1" baseline="-25000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i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, </a:t>
            </a:r>
            <a:r>
              <a:rPr lang="en-US" sz="2400" i="1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n</a:t>
            </a:r>
            <a:r>
              <a:rPr lang="en-US" sz="2400" i="1" baseline="-25000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j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,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v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), TR contains 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at least one 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path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d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in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S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.</a:t>
            </a:r>
          </a:p>
        </p:txBody>
      </p:sp>
      <p:sp>
        <p:nvSpPr>
          <p:cNvPr id="193543" name="Text Box 7"/>
          <p:cNvSpPr txBox="1">
            <a:spLocks noChangeArrowheads="1"/>
          </p:cNvSpPr>
          <p:nvPr/>
        </p:nvSpPr>
        <p:spPr bwMode="auto">
          <a:xfrm>
            <a:off x="1963739" y="5592772"/>
            <a:ext cx="8262937" cy="841375"/>
          </a:xfrm>
          <a:prstGeom prst="rect">
            <a:avLst/>
          </a:prstGeom>
          <a:gradFill rotWithShape="1">
            <a:gsLst>
              <a:gs pos="0">
                <a:srgbClr val="0066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All-du-paths coverage (ADUPC)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: For each set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S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=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du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(</a:t>
            </a:r>
            <a:r>
              <a:rPr lang="en-US" sz="2400" i="1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ni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, </a:t>
            </a:r>
            <a:r>
              <a:rPr lang="en-US" sz="2400" i="1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nj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,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v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), TR contains 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every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path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d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in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S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.</a:t>
            </a:r>
          </a:p>
        </p:txBody>
      </p:sp>
      <p:sp>
        <p:nvSpPr>
          <p:cNvPr id="193544" name="Rectangle 8"/>
          <p:cNvSpPr>
            <a:spLocks noChangeArrowheads="1"/>
          </p:cNvSpPr>
          <p:nvPr/>
        </p:nvSpPr>
        <p:spPr bwMode="auto">
          <a:xfrm>
            <a:off x="1662114" y="2756087"/>
            <a:ext cx="8867775" cy="840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Then we make sure that </a:t>
            </a: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every def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reaches </a:t>
            </a: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all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possible </a:t>
            </a: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uses</a:t>
            </a:r>
          </a:p>
        </p:txBody>
      </p:sp>
      <p:sp>
        <p:nvSpPr>
          <p:cNvPr id="193545" name="Rectangle 9"/>
          <p:cNvSpPr>
            <a:spLocks noChangeArrowheads="1"/>
          </p:cNvSpPr>
          <p:nvPr/>
        </p:nvSpPr>
        <p:spPr bwMode="auto">
          <a:xfrm>
            <a:off x="1662114" y="4891544"/>
            <a:ext cx="8867775" cy="474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Finally, we cover </a:t>
            </a: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all the paths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between </a:t>
            </a:r>
            <a:r>
              <a:rPr lang="en-US" sz="2800" b="0" dirty="0" err="1">
                <a:solidFill>
                  <a:schemeClr val="tx1"/>
                </a:solidFill>
                <a:latin typeface="Gill Sans MT" pitchFamily="34" charset="0"/>
              </a:rPr>
              <a:t>defs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and uses</a:t>
            </a:r>
          </a:p>
        </p:txBody>
      </p:sp>
      <p:sp>
        <p:nvSpPr>
          <p:cNvPr id="30731" name="Rectangle 11"/>
          <p:cNvSpPr>
            <a:spLocks noChangeArrowheads="1"/>
          </p:cNvSpPr>
          <p:nvPr/>
        </p:nvSpPr>
        <p:spPr bwMode="auto">
          <a:xfrm>
            <a:off x="1662114" y="901197"/>
            <a:ext cx="8867775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First, we make sure </a:t>
            </a: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every def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reaches </a:t>
            </a: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a use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3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3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3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3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93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40" grpId="0" animBg="1" autoUpdateAnimBg="0"/>
      <p:bldP spid="193542" grpId="0" animBg="1" autoUpdateAnimBg="0"/>
      <p:bldP spid="193543" grpId="0" animBg="1" autoUpdateAnimBg="0"/>
      <p:bldP spid="193544" grpId="0" autoUpdateAnimBg="0"/>
      <p:bldP spid="193545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18D97B6-0619-419D-BF6F-B75BAEB17F0E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Flow Testing Example</a:t>
            </a:r>
          </a:p>
        </p:txBody>
      </p:sp>
      <p:grpSp>
        <p:nvGrpSpPr>
          <p:cNvPr id="31750" name="Group 41"/>
          <p:cNvGrpSpPr>
            <a:grpSpLocks/>
          </p:cNvGrpSpPr>
          <p:nvPr/>
        </p:nvGrpSpPr>
        <p:grpSpPr bwMode="auto">
          <a:xfrm>
            <a:off x="3890964" y="1206500"/>
            <a:ext cx="4346575" cy="2141538"/>
            <a:chOff x="1491" y="760"/>
            <a:chExt cx="2738" cy="1349"/>
          </a:xfrm>
        </p:grpSpPr>
        <p:grpSp>
          <p:nvGrpSpPr>
            <p:cNvPr id="31760" name="Group 4"/>
            <p:cNvGrpSpPr>
              <a:grpSpLocks/>
            </p:cNvGrpSpPr>
            <p:nvPr/>
          </p:nvGrpSpPr>
          <p:grpSpPr bwMode="auto">
            <a:xfrm>
              <a:off x="1491" y="979"/>
              <a:ext cx="2738" cy="909"/>
              <a:chOff x="503" y="2966"/>
              <a:chExt cx="2738" cy="909"/>
            </a:xfrm>
          </p:grpSpPr>
          <p:grpSp>
            <p:nvGrpSpPr>
              <p:cNvPr id="31764" name="Group 5"/>
              <p:cNvGrpSpPr>
                <a:grpSpLocks/>
              </p:cNvGrpSpPr>
              <p:nvPr/>
            </p:nvGrpSpPr>
            <p:grpSpPr bwMode="auto">
              <a:xfrm>
                <a:off x="730" y="3273"/>
                <a:ext cx="350" cy="296"/>
                <a:chOff x="4288" y="1746"/>
                <a:chExt cx="350" cy="296"/>
              </a:xfrm>
            </p:grpSpPr>
            <p:sp>
              <p:nvSpPr>
                <p:cNvPr id="31794" name="Oval 6"/>
                <p:cNvSpPr>
                  <a:spLocks noChangeArrowheads="1"/>
                </p:cNvSpPr>
                <p:nvPr/>
              </p:nvSpPr>
              <p:spPr bwMode="auto">
                <a:xfrm>
                  <a:off x="4288" y="1746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795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4365" y="1769"/>
                  <a:ext cx="19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en-US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</p:grpSp>
          <p:grpSp>
            <p:nvGrpSpPr>
              <p:cNvPr id="31765" name="Group 8"/>
              <p:cNvGrpSpPr>
                <a:grpSpLocks/>
              </p:cNvGrpSpPr>
              <p:nvPr/>
            </p:nvGrpSpPr>
            <p:grpSpPr bwMode="auto">
              <a:xfrm>
                <a:off x="1255" y="2966"/>
                <a:ext cx="380" cy="908"/>
                <a:chOff x="1346" y="2965"/>
                <a:chExt cx="380" cy="908"/>
              </a:xfrm>
            </p:grpSpPr>
            <p:grpSp>
              <p:nvGrpSpPr>
                <p:cNvPr id="31788" name="Group 9"/>
                <p:cNvGrpSpPr>
                  <a:grpSpLocks/>
                </p:cNvGrpSpPr>
                <p:nvPr/>
              </p:nvGrpSpPr>
              <p:grpSpPr bwMode="auto">
                <a:xfrm>
                  <a:off x="1346" y="3577"/>
                  <a:ext cx="350" cy="296"/>
                  <a:chOff x="4738" y="2684"/>
                  <a:chExt cx="350" cy="296"/>
                </a:xfrm>
              </p:grpSpPr>
              <p:sp>
                <p:nvSpPr>
                  <p:cNvPr id="31792" name="Oval 10"/>
                  <p:cNvSpPr>
                    <a:spLocks noChangeArrowheads="1"/>
                  </p:cNvSpPr>
                  <p:nvPr/>
                </p:nvSpPr>
                <p:spPr bwMode="auto">
                  <a:xfrm>
                    <a:off x="4738" y="2684"/>
                    <a:ext cx="350" cy="296"/>
                  </a:xfrm>
                  <a:prstGeom prst="ellipse">
                    <a:avLst/>
                  </a:prstGeom>
                  <a:solidFill>
                    <a:srgbClr val="0066FF"/>
                  </a:solidFill>
                  <a:ln w="1905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1793" name="Text Box 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815" y="2707"/>
                    <a:ext cx="197" cy="252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dirty="0">
                        <a:solidFill>
                          <a:schemeClr val="tx1"/>
                        </a:solidFill>
                      </a:rPr>
                      <a:t>3</a:t>
                    </a:r>
                  </a:p>
                </p:txBody>
              </p:sp>
            </p:grpSp>
            <p:grpSp>
              <p:nvGrpSpPr>
                <p:cNvPr id="31789" name="Group 12"/>
                <p:cNvGrpSpPr>
                  <a:grpSpLocks/>
                </p:cNvGrpSpPr>
                <p:nvPr/>
              </p:nvGrpSpPr>
              <p:grpSpPr bwMode="auto">
                <a:xfrm>
                  <a:off x="1376" y="2965"/>
                  <a:ext cx="350" cy="296"/>
                  <a:chOff x="3838" y="2684"/>
                  <a:chExt cx="350" cy="296"/>
                </a:xfrm>
              </p:grpSpPr>
              <p:sp>
                <p:nvSpPr>
                  <p:cNvPr id="31790" name="Oval 13"/>
                  <p:cNvSpPr>
                    <a:spLocks noChangeArrowheads="1"/>
                  </p:cNvSpPr>
                  <p:nvPr/>
                </p:nvSpPr>
                <p:spPr bwMode="auto">
                  <a:xfrm>
                    <a:off x="3838" y="2684"/>
                    <a:ext cx="350" cy="296"/>
                  </a:xfrm>
                  <a:prstGeom prst="ellipse">
                    <a:avLst/>
                  </a:prstGeom>
                  <a:solidFill>
                    <a:srgbClr val="0066FF"/>
                  </a:solidFill>
                  <a:ln w="1905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1791" name="Text Box 1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915" y="2707"/>
                    <a:ext cx="196" cy="250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dirty="0">
                        <a:solidFill>
                          <a:schemeClr val="tx1"/>
                        </a:solidFill>
                      </a:rPr>
                      <a:t>2</a:t>
                    </a:r>
                  </a:p>
                </p:txBody>
              </p:sp>
            </p:grpSp>
          </p:grpSp>
          <p:grpSp>
            <p:nvGrpSpPr>
              <p:cNvPr id="31766" name="Group 15"/>
              <p:cNvGrpSpPr>
                <a:grpSpLocks/>
              </p:cNvGrpSpPr>
              <p:nvPr/>
            </p:nvGrpSpPr>
            <p:grpSpPr bwMode="auto">
              <a:xfrm>
                <a:off x="2891" y="3273"/>
                <a:ext cx="350" cy="296"/>
                <a:chOff x="4288" y="3622"/>
                <a:chExt cx="350" cy="296"/>
              </a:xfrm>
            </p:grpSpPr>
            <p:sp>
              <p:nvSpPr>
                <p:cNvPr id="31786" name="Oval 16"/>
                <p:cNvSpPr>
                  <a:spLocks noChangeArrowheads="1"/>
                </p:cNvSpPr>
                <p:nvPr/>
              </p:nvSpPr>
              <p:spPr bwMode="auto">
                <a:xfrm>
                  <a:off x="4288" y="3622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571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787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365" y="3645"/>
                  <a:ext cx="19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</p:grpSp>
          <p:sp>
            <p:nvSpPr>
              <p:cNvPr id="31767" name="Line 18"/>
              <p:cNvSpPr>
                <a:spLocks noChangeShapeType="1"/>
              </p:cNvSpPr>
              <p:nvPr/>
            </p:nvSpPr>
            <p:spPr bwMode="auto">
              <a:xfrm flipV="1">
                <a:off x="1075" y="3193"/>
                <a:ext cx="250" cy="16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68" name="Line 19"/>
              <p:cNvSpPr>
                <a:spLocks noChangeShapeType="1"/>
              </p:cNvSpPr>
              <p:nvPr/>
            </p:nvSpPr>
            <p:spPr bwMode="auto">
              <a:xfrm>
                <a:off x="503" y="3421"/>
                <a:ext cx="22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1769" name="Group 20"/>
              <p:cNvGrpSpPr>
                <a:grpSpLocks/>
              </p:cNvGrpSpPr>
              <p:nvPr/>
            </p:nvGrpSpPr>
            <p:grpSpPr bwMode="auto">
              <a:xfrm>
                <a:off x="1810" y="3273"/>
                <a:ext cx="350" cy="296"/>
                <a:chOff x="4288" y="1746"/>
                <a:chExt cx="350" cy="296"/>
              </a:xfrm>
            </p:grpSpPr>
            <p:sp>
              <p:nvSpPr>
                <p:cNvPr id="31784" name="Oval 21"/>
                <p:cNvSpPr>
                  <a:spLocks noChangeArrowheads="1"/>
                </p:cNvSpPr>
                <p:nvPr/>
              </p:nvSpPr>
              <p:spPr bwMode="auto">
                <a:xfrm>
                  <a:off x="4288" y="1746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785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4365" y="1769"/>
                  <a:ext cx="19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en-US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</p:grpSp>
          <p:grpSp>
            <p:nvGrpSpPr>
              <p:cNvPr id="31770" name="Group 23"/>
              <p:cNvGrpSpPr>
                <a:grpSpLocks/>
              </p:cNvGrpSpPr>
              <p:nvPr/>
            </p:nvGrpSpPr>
            <p:grpSpPr bwMode="auto">
              <a:xfrm>
                <a:off x="2335" y="2967"/>
                <a:ext cx="380" cy="908"/>
                <a:chOff x="2450" y="2968"/>
                <a:chExt cx="380" cy="908"/>
              </a:xfrm>
            </p:grpSpPr>
            <p:grpSp>
              <p:nvGrpSpPr>
                <p:cNvPr id="31778" name="Group 24"/>
                <p:cNvGrpSpPr>
                  <a:grpSpLocks/>
                </p:cNvGrpSpPr>
                <p:nvPr/>
              </p:nvGrpSpPr>
              <p:grpSpPr bwMode="auto">
                <a:xfrm>
                  <a:off x="2450" y="3580"/>
                  <a:ext cx="350" cy="296"/>
                  <a:chOff x="4738" y="2684"/>
                  <a:chExt cx="350" cy="296"/>
                </a:xfrm>
              </p:grpSpPr>
              <p:sp>
                <p:nvSpPr>
                  <p:cNvPr id="31782" name="Oval 25"/>
                  <p:cNvSpPr>
                    <a:spLocks noChangeArrowheads="1"/>
                  </p:cNvSpPr>
                  <p:nvPr/>
                </p:nvSpPr>
                <p:spPr bwMode="auto">
                  <a:xfrm>
                    <a:off x="4738" y="2684"/>
                    <a:ext cx="350" cy="296"/>
                  </a:xfrm>
                  <a:prstGeom prst="ellipse">
                    <a:avLst/>
                  </a:prstGeom>
                  <a:solidFill>
                    <a:srgbClr val="0066FF"/>
                  </a:solidFill>
                  <a:ln w="1905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1783" name="Text Box 2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815" y="2707"/>
                    <a:ext cx="196" cy="250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dirty="0">
                        <a:solidFill>
                          <a:schemeClr val="tx1"/>
                        </a:solidFill>
                      </a:rPr>
                      <a:t>6</a:t>
                    </a:r>
                  </a:p>
                </p:txBody>
              </p:sp>
            </p:grpSp>
            <p:grpSp>
              <p:nvGrpSpPr>
                <p:cNvPr id="31779" name="Group 27"/>
                <p:cNvGrpSpPr>
                  <a:grpSpLocks/>
                </p:cNvGrpSpPr>
                <p:nvPr/>
              </p:nvGrpSpPr>
              <p:grpSpPr bwMode="auto">
                <a:xfrm>
                  <a:off x="2480" y="2968"/>
                  <a:ext cx="350" cy="296"/>
                  <a:chOff x="3838" y="2684"/>
                  <a:chExt cx="350" cy="296"/>
                </a:xfrm>
              </p:grpSpPr>
              <p:sp>
                <p:nvSpPr>
                  <p:cNvPr id="31780" name="Oval 28"/>
                  <p:cNvSpPr>
                    <a:spLocks noChangeArrowheads="1"/>
                  </p:cNvSpPr>
                  <p:nvPr/>
                </p:nvSpPr>
                <p:spPr bwMode="auto">
                  <a:xfrm>
                    <a:off x="3838" y="2684"/>
                    <a:ext cx="350" cy="296"/>
                  </a:xfrm>
                  <a:prstGeom prst="ellipse">
                    <a:avLst/>
                  </a:prstGeom>
                  <a:solidFill>
                    <a:srgbClr val="0066FF"/>
                  </a:solidFill>
                  <a:ln w="1905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1781" name="Text Box 2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915" y="2707"/>
                    <a:ext cx="196" cy="250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dirty="0">
                        <a:solidFill>
                          <a:schemeClr val="tx1"/>
                        </a:solidFill>
                      </a:rPr>
                      <a:t>5</a:t>
                    </a:r>
                  </a:p>
                </p:txBody>
              </p:sp>
            </p:grpSp>
          </p:grpSp>
          <p:sp>
            <p:nvSpPr>
              <p:cNvPr id="31771" name="Line 30"/>
              <p:cNvSpPr>
                <a:spLocks noChangeShapeType="1"/>
              </p:cNvSpPr>
              <p:nvPr/>
            </p:nvSpPr>
            <p:spPr bwMode="auto">
              <a:xfrm flipV="1">
                <a:off x="2679" y="3513"/>
                <a:ext cx="250" cy="16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72" name="Line 31"/>
              <p:cNvSpPr>
                <a:spLocks noChangeShapeType="1"/>
              </p:cNvSpPr>
              <p:nvPr/>
            </p:nvSpPr>
            <p:spPr bwMode="auto">
              <a:xfrm flipV="1">
                <a:off x="1595" y="3513"/>
                <a:ext cx="250" cy="16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73" name="Line 32"/>
              <p:cNvSpPr>
                <a:spLocks noChangeShapeType="1"/>
              </p:cNvSpPr>
              <p:nvPr/>
            </p:nvSpPr>
            <p:spPr bwMode="auto">
              <a:xfrm flipV="1">
                <a:off x="2147" y="3193"/>
                <a:ext cx="250" cy="16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74" name="Line 33"/>
              <p:cNvSpPr>
                <a:spLocks noChangeShapeType="1"/>
              </p:cNvSpPr>
              <p:nvPr/>
            </p:nvSpPr>
            <p:spPr bwMode="auto">
              <a:xfrm>
                <a:off x="1055" y="3517"/>
                <a:ext cx="218" cy="15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75" name="Line 34"/>
              <p:cNvSpPr>
                <a:spLocks noChangeShapeType="1"/>
              </p:cNvSpPr>
              <p:nvPr/>
            </p:nvSpPr>
            <p:spPr bwMode="auto">
              <a:xfrm>
                <a:off x="1607" y="3198"/>
                <a:ext cx="218" cy="15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76" name="Line 35"/>
              <p:cNvSpPr>
                <a:spLocks noChangeShapeType="1"/>
              </p:cNvSpPr>
              <p:nvPr/>
            </p:nvSpPr>
            <p:spPr bwMode="auto">
              <a:xfrm>
                <a:off x="2123" y="3518"/>
                <a:ext cx="218" cy="15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77" name="Line 36"/>
              <p:cNvSpPr>
                <a:spLocks noChangeShapeType="1"/>
              </p:cNvSpPr>
              <p:nvPr/>
            </p:nvSpPr>
            <p:spPr bwMode="auto">
              <a:xfrm>
                <a:off x="2707" y="3197"/>
                <a:ext cx="218" cy="15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761" name="Text Box 38"/>
            <p:cNvSpPr txBox="1">
              <a:spLocks noChangeArrowheads="1"/>
            </p:cNvSpPr>
            <p:nvPr/>
          </p:nvSpPr>
          <p:spPr bwMode="auto">
            <a:xfrm>
              <a:off x="1569" y="1093"/>
              <a:ext cx="648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dirty="0"/>
                <a:t>X = 42</a:t>
              </a:r>
            </a:p>
          </p:txBody>
        </p:sp>
        <p:sp>
          <p:nvSpPr>
            <p:cNvPr id="31762" name="Text Box 39"/>
            <p:cNvSpPr txBox="1">
              <a:spLocks noChangeArrowheads="1"/>
            </p:cNvSpPr>
            <p:nvPr/>
          </p:nvSpPr>
          <p:spPr bwMode="auto">
            <a:xfrm>
              <a:off x="3185" y="1859"/>
              <a:ext cx="648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Z = X-8</a:t>
              </a:r>
            </a:p>
          </p:txBody>
        </p:sp>
        <p:sp>
          <p:nvSpPr>
            <p:cNvPr id="31763" name="Text Box 40"/>
            <p:cNvSpPr txBox="1">
              <a:spLocks noChangeArrowheads="1"/>
            </p:cNvSpPr>
            <p:nvPr/>
          </p:nvSpPr>
          <p:spPr bwMode="auto">
            <a:xfrm>
              <a:off x="3132" y="760"/>
              <a:ext cx="756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Z = X*2</a:t>
              </a:r>
            </a:p>
          </p:txBody>
        </p:sp>
      </p:grpSp>
      <p:grpSp>
        <p:nvGrpSpPr>
          <p:cNvPr id="13" name="Group 47"/>
          <p:cNvGrpSpPr>
            <a:grpSpLocks/>
          </p:cNvGrpSpPr>
          <p:nvPr/>
        </p:nvGrpSpPr>
        <p:grpSpPr bwMode="auto">
          <a:xfrm>
            <a:off x="2138363" y="3656012"/>
            <a:ext cx="2011362" cy="1015999"/>
            <a:chOff x="382" y="2268"/>
            <a:chExt cx="1080" cy="640"/>
          </a:xfrm>
        </p:grpSpPr>
        <p:sp>
          <p:nvSpPr>
            <p:cNvPr id="31758" name="Text Box 37"/>
            <p:cNvSpPr txBox="1">
              <a:spLocks noChangeArrowheads="1"/>
            </p:cNvSpPr>
            <p:nvPr/>
          </p:nvSpPr>
          <p:spPr bwMode="auto">
            <a:xfrm>
              <a:off x="388" y="2268"/>
              <a:ext cx="1071" cy="640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dirty="0">
                  <a:solidFill>
                    <a:schemeClr val="tx1"/>
                  </a:solidFill>
                </a:rPr>
                <a:t>All-</a:t>
              </a:r>
              <a:r>
                <a:rPr lang="en-US" sz="2400" dirty="0" err="1">
                  <a:solidFill>
                    <a:schemeClr val="tx1"/>
                  </a:solidFill>
                </a:rPr>
                <a:t>defs</a:t>
              </a:r>
              <a:r>
                <a:rPr lang="en-US" sz="2400" dirty="0">
                  <a:solidFill>
                    <a:schemeClr val="tx1"/>
                  </a:solidFill>
                </a:rPr>
                <a:t> for </a:t>
              </a:r>
              <a:r>
                <a:rPr lang="en-US" sz="2400" i="1" dirty="0">
                  <a:solidFill>
                    <a:schemeClr val="tx1"/>
                  </a:solidFill>
                </a:rPr>
                <a:t>X</a:t>
              </a:r>
            </a:p>
            <a:p>
              <a:pPr algn="ctr">
                <a:spcBef>
                  <a:spcPct val="50000"/>
                </a:spcBef>
              </a:pPr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31759" name="Line 42"/>
            <p:cNvSpPr>
              <a:spLocks noChangeShapeType="1"/>
            </p:cNvSpPr>
            <p:nvPr/>
          </p:nvSpPr>
          <p:spPr bwMode="auto">
            <a:xfrm>
              <a:off x="382" y="2513"/>
              <a:ext cx="10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48"/>
          <p:cNvGrpSpPr>
            <a:grpSpLocks/>
          </p:cNvGrpSpPr>
          <p:nvPr/>
        </p:nvGrpSpPr>
        <p:grpSpPr bwMode="auto">
          <a:xfrm>
            <a:off x="4764089" y="3656015"/>
            <a:ext cx="2028825" cy="1662113"/>
            <a:chOff x="1781" y="2364"/>
            <a:chExt cx="1070" cy="1047"/>
          </a:xfrm>
        </p:grpSpPr>
        <p:sp>
          <p:nvSpPr>
            <p:cNvPr id="31756" name="Text Box 43"/>
            <p:cNvSpPr txBox="1">
              <a:spLocks noChangeArrowheads="1"/>
            </p:cNvSpPr>
            <p:nvPr/>
          </p:nvSpPr>
          <p:spPr bwMode="auto">
            <a:xfrm>
              <a:off x="1787" y="2364"/>
              <a:ext cx="1064" cy="1047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dirty="0">
                  <a:solidFill>
                    <a:schemeClr val="tx1"/>
                  </a:solidFill>
                </a:rPr>
                <a:t>All-uses for </a:t>
              </a:r>
              <a:r>
                <a:rPr lang="en-US" sz="2400" i="1" dirty="0">
                  <a:solidFill>
                    <a:schemeClr val="tx1"/>
                  </a:solidFill>
                </a:rPr>
                <a:t>X</a:t>
              </a:r>
              <a:endParaRPr lang="en-US" sz="2800" i="1" dirty="0">
                <a:solidFill>
                  <a:schemeClr val="tx1"/>
                </a:solidFill>
              </a:endParaRPr>
            </a:p>
            <a:p>
              <a:pPr algn="ctr">
                <a:spcBef>
                  <a:spcPct val="50000"/>
                </a:spcBef>
              </a:pPr>
              <a:endParaRPr lang="en-US" sz="2800" i="1" dirty="0">
                <a:solidFill>
                  <a:schemeClr val="tx1"/>
                </a:solidFill>
              </a:endParaRPr>
            </a:p>
            <a:p>
              <a:pPr algn="ctr">
                <a:spcBef>
                  <a:spcPct val="50000"/>
                </a:spcBef>
              </a:pPr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31757" name="Line 44"/>
            <p:cNvSpPr>
              <a:spLocks noChangeShapeType="1"/>
            </p:cNvSpPr>
            <p:nvPr/>
          </p:nvSpPr>
          <p:spPr bwMode="auto">
            <a:xfrm>
              <a:off x="1781" y="2609"/>
              <a:ext cx="106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49"/>
          <p:cNvGrpSpPr>
            <a:grpSpLocks/>
          </p:cNvGrpSpPr>
          <p:nvPr/>
        </p:nvGrpSpPr>
        <p:grpSpPr bwMode="auto">
          <a:xfrm>
            <a:off x="7407276" y="3656016"/>
            <a:ext cx="2646363" cy="2400301"/>
            <a:chOff x="3346" y="2424"/>
            <a:chExt cx="1207" cy="1512"/>
          </a:xfrm>
        </p:grpSpPr>
        <p:sp>
          <p:nvSpPr>
            <p:cNvPr id="31754" name="Text Box 45"/>
            <p:cNvSpPr txBox="1">
              <a:spLocks noChangeArrowheads="1"/>
            </p:cNvSpPr>
            <p:nvPr/>
          </p:nvSpPr>
          <p:spPr bwMode="auto">
            <a:xfrm>
              <a:off x="3352" y="2424"/>
              <a:ext cx="1201" cy="1512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dirty="0">
                  <a:solidFill>
                    <a:schemeClr val="tx1"/>
                  </a:solidFill>
                </a:rPr>
                <a:t>All-du-paths for </a:t>
              </a:r>
              <a:r>
                <a:rPr lang="en-US" sz="2400" i="1" dirty="0">
                  <a:solidFill>
                    <a:schemeClr val="tx1"/>
                  </a:solidFill>
                </a:rPr>
                <a:t>X</a:t>
              </a:r>
              <a:endParaRPr lang="en-US" sz="2800" i="1" dirty="0">
                <a:solidFill>
                  <a:schemeClr val="tx1"/>
                </a:solidFill>
              </a:endParaRPr>
            </a:p>
            <a:p>
              <a:pPr algn="ctr">
                <a:spcBef>
                  <a:spcPct val="50000"/>
                </a:spcBef>
              </a:pPr>
              <a:endParaRPr lang="en-US" sz="2800" i="1" dirty="0">
                <a:solidFill>
                  <a:schemeClr val="tx1"/>
                </a:solidFill>
              </a:endParaRPr>
            </a:p>
            <a:p>
              <a:pPr algn="ctr">
                <a:spcBef>
                  <a:spcPct val="50000"/>
                </a:spcBef>
              </a:pPr>
              <a:endParaRPr lang="en-US" sz="2800" i="1" dirty="0">
                <a:solidFill>
                  <a:schemeClr val="tx1"/>
                </a:solidFill>
              </a:endParaRPr>
            </a:p>
            <a:p>
              <a:pPr algn="ctr">
                <a:spcBef>
                  <a:spcPct val="50000"/>
                </a:spcBef>
              </a:pPr>
              <a:endParaRPr lang="en-US" sz="2800" i="1" dirty="0">
                <a:solidFill>
                  <a:schemeClr val="tx1"/>
                </a:solidFill>
              </a:endParaRPr>
            </a:p>
          </p:txBody>
        </p:sp>
        <p:sp>
          <p:nvSpPr>
            <p:cNvPr id="31755" name="Line 46"/>
            <p:cNvSpPr>
              <a:spLocks noChangeShapeType="1"/>
            </p:cNvSpPr>
            <p:nvPr/>
          </p:nvSpPr>
          <p:spPr bwMode="auto">
            <a:xfrm>
              <a:off x="3346" y="2669"/>
              <a:ext cx="12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6" name="Text Box 37"/>
          <p:cNvSpPr txBox="1">
            <a:spLocks noChangeArrowheads="1"/>
          </p:cNvSpPr>
          <p:nvPr/>
        </p:nvSpPr>
        <p:spPr bwMode="auto">
          <a:xfrm>
            <a:off x="2155125" y="4117522"/>
            <a:ext cx="1994601" cy="10156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>
                <a:solidFill>
                  <a:schemeClr val="tx1"/>
                </a:solidFill>
              </a:rPr>
              <a:t>[ 1, 2, 4, 5 ]</a:t>
            </a:r>
          </a:p>
          <a:p>
            <a:pPr algn="ctr">
              <a:spcBef>
                <a:spcPct val="50000"/>
              </a:spcBef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59" name="Text Box 43"/>
          <p:cNvSpPr txBox="1">
            <a:spLocks noChangeArrowheads="1"/>
          </p:cNvSpPr>
          <p:nvPr/>
        </p:nvSpPr>
        <p:spPr bwMode="auto">
          <a:xfrm>
            <a:off x="4764088" y="4075186"/>
            <a:ext cx="2017448" cy="156966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>
                <a:solidFill>
                  <a:schemeClr val="tx1"/>
                </a:solidFill>
              </a:rPr>
              <a:t>[ 1, 2, 4, 5 ]</a:t>
            </a:r>
          </a:p>
          <a:p>
            <a:pPr algn="ctr">
              <a:spcBef>
                <a:spcPct val="50000"/>
              </a:spcBef>
            </a:pPr>
            <a:r>
              <a:rPr lang="en-US" sz="2400" dirty="0">
                <a:solidFill>
                  <a:schemeClr val="tx1"/>
                </a:solidFill>
              </a:rPr>
              <a:t>[ 1, 2, 4, 6 ]</a:t>
            </a:r>
          </a:p>
          <a:p>
            <a:pPr algn="ctr">
              <a:spcBef>
                <a:spcPct val="50000"/>
              </a:spcBef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2" name="Text Box 45"/>
          <p:cNvSpPr txBox="1">
            <a:spLocks noChangeArrowheads="1"/>
          </p:cNvSpPr>
          <p:nvPr/>
        </p:nvSpPr>
        <p:spPr bwMode="auto">
          <a:xfrm>
            <a:off x="7420430" y="3973582"/>
            <a:ext cx="2633208" cy="212365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>
                <a:solidFill>
                  <a:schemeClr val="tx1"/>
                </a:solidFill>
              </a:rPr>
              <a:t>[ 1, 2, 4, 5 ]</a:t>
            </a:r>
          </a:p>
          <a:p>
            <a:pPr algn="ctr">
              <a:spcBef>
                <a:spcPct val="50000"/>
              </a:spcBef>
            </a:pPr>
            <a:r>
              <a:rPr lang="en-US" sz="2400" dirty="0">
                <a:solidFill>
                  <a:schemeClr val="tx1"/>
                </a:solidFill>
              </a:rPr>
              <a:t>[ 1, 3, 4, 5 ]</a:t>
            </a:r>
          </a:p>
          <a:p>
            <a:pPr algn="ctr">
              <a:spcBef>
                <a:spcPct val="50000"/>
              </a:spcBef>
            </a:pPr>
            <a:r>
              <a:rPr lang="en-US" sz="2400" dirty="0">
                <a:solidFill>
                  <a:schemeClr val="tx1"/>
                </a:solidFill>
              </a:rPr>
              <a:t>[ 1, 2, 4, 6 ]</a:t>
            </a:r>
          </a:p>
          <a:p>
            <a:pPr algn="ctr">
              <a:spcBef>
                <a:spcPct val="50000"/>
              </a:spcBef>
            </a:pPr>
            <a:r>
              <a:rPr lang="en-US" sz="2400" dirty="0">
                <a:solidFill>
                  <a:schemeClr val="tx1"/>
                </a:solidFill>
              </a:rPr>
              <a:t>[ 1, 3, 4, 6 ]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96955" y="4248614"/>
            <a:ext cx="1494008" cy="101566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Write down paths to satisfy ADC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11040" y="4579865"/>
            <a:ext cx="1494008" cy="101566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Write down paths to satisfy AUC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56162" y="4401014"/>
            <a:ext cx="1594237" cy="1323439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Write down paths to satisfy ADUPC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9" grpId="0"/>
      <p:bldP spid="62" grpId="0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ACFD919-1577-4397-9DB0-ED462BC16690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>
          <a:xfrm>
            <a:off x="1573161" y="96839"/>
            <a:ext cx="9006347" cy="1309175"/>
          </a:xfrm>
        </p:spPr>
        <p:txBody>
          <a:bodyPr/>
          <a:lstStyle/>
          <a:p>
            <a:pPr algn="l"/>
            <a:r>
              <a:rPr lang="en-US" dirty="0"/>
              <a:t>        Graph Coverage Criteria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dirty="0" err="1"/>
              <a:t>Subsumption</a:t>
            </a:r>
            <a:r>
              <a:rPr lang="en-US" dirty="0"/>
              <a:t> </a:t>
            </a:r>
          </a:p>
        </p:txBody>
      </p:sp>
      <p:grpSp>
        <p:nvGrpSpPr>
          <p:cNvPr id="2" name="Group 52"/>
          <p:cNvGrpSpPr>
            <a:grpSpLocks/>
          </p:cNvGrpSpPr>
          <p:nvPr/>
        </p:nvGrpSpPr>
        <p:grpSpPr bwMode="auto">
          <a:xfrm>
            <a:off x="2733676" y="1052048"/>
            <a:ext cx="6788149" cy="5378450"/>
            <a:chOff x="1209675" y="914400"/>
            <a:chExt cx="6788149" cy="5378450"/>
          </a:xfrm>
        </p:grpSpPr>
        <p:grpSp>
          <p:nvGrpSpPr>
            <p:cNvPr id="32775" name="Group 50"/>
            <p:cNvGrpSpPr>
              <a:grpSpLocks/>
            </p:cNvGrpSpPr>
            <p:nvPr/>
          </p:nvGrpSpPr>
          <p:grpSpPr bwMode="auto">
            <a:xfrm>
              <a:off x="1209675" y="914400"/>
              <a:ext cx="6788149" cy="5378450"/>
              <a:chOff x="1209675" y="914400"/>
              <a:chExt cx="6788149" cy="5378450"/>
            </a:xfrm>
          </p:grpSpPr>
          <p:grpSp>
            <p:nvGrpSpPr>
              <p:cNvPr id="32777" name="Group 51"/>
              <p:cNvGrpSpPr>
                <a:grpSpLocks/>
              </p:cNvGrpSpPr>
              <p:nvPr/>
            </p:nvGrpSpPr>
            <p:grpSpPr bwMode="auto">
              <a:xfrm>
                <a:off x="1209675" y="914400"/>
                <a:ext cx="6788149" cy="5378450"/>
                <a:chOff x="798" y="576"/>
                <a:chExt cx="4276" cy="3388"/>
              </a:xfrm>
            </p:grpSpPr>
            <p:sp>
              <p:nvSpPr>
                <p:cNvPr id="32779" name="Rectangle 60"/>
                <p:cNvSpPr>
                  <a:spLocks noChangeArrowheads="1"/>
                </p:cNvSpPr>
                <p:nvPr/>
              </p:nvSpPr>
              <p:spPr bwMode="auto">
                <a:xfrm>
                  <a:off x="1344" y="2773"/>
                  <a:ext cx="490" cy="199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>
                    <a:latin typeface="Gill Sans MT" pitchFamily="34" charset="0"/>
                  </a:endParaRPr>
                </a:p>
              </p:txBody>
            </p:sp>
            <p:sp>
              <p:nvSpPr>
                <p:cNvPr id="32780" name="Rectangle 61"/>
                <p:cNvSpPr>
                  <a:spLocks noChangeArrowheads="1"/>
                </p:cNvSpPr>
                <p:nvPr/>
              </p:nvSpPr>
              <p:spPr bwMode="auto">
                <a:xfrm>
                  <a:off x="2371" y="2720"/>
                  <a:ext cx="490" cy="199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>
                    <a:latin typeface="Gill Sans MT" pitchFamily="34" charset="0"/>
                  </a:endParaRPr>
                </a:p>
              </p:txBody>
            </p:sp>
            <p:sp>
              <p:nvSpPr>
                <p:cNvPr id="32781" name="Rectangle 62"/>
                <p:cNvSpPr>
                  <a:spLocks noChangeArrowheads="1"/>
                </p:cNvSpPr>
                <p:nvPr/>
              </p:nvSpPr>
              <p:spPr bwMode="auto">
                <a:xfrm>
                  <a:off x="3168" y="1610"/>
                  <a:ext cx="255" cy="199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>
                    <a:latin typeface="Gill Sans MT" pitchFamily="34" charset="0"/>
                  </a:endParaRPr>
                </a:p>
              </p:txBody>
            </p:sp>
            <p:sp>
              <p:nvSpPr>
                <p:cNvPr id="32782" name="Rectangle 63"/>
                <p:cNvSpPr>
                  <a:spLocks noChangeArrowheads="1"/>
                </p:cNvSpPr>
                <p:nvPr/>
              </p:nvSpPr>
              <p:spPr bwMode="auto">
                <a:xfrm>
                  <a:off x="1337" y="1749"/>
                  <a:ext cx="490" cy="199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>
                    <a:latin typeface="Gill Sans MT" pitchFamily="34" charset="0"/>
                  </a:endParaRPr>
                </a:p>
              </p:txBody>
            </p:sp>
            <p:grpSp>
              <p:nvGrpSpPr>
                <p:cNvPr id="32783" name="Group 34"/>
                <p:cNvGrpSpPr>
                  <a:grpSpLocks/>
                </p:cNvGrpSpPr>
                <p:nvPr/>
              </p:nvGrpSpPr>
              <p:grpSpPr bwMode="auto">
                <a:xfrm>
                  <a:off x="3802" y="3177"/>
                  <a:ext cx="1272" cy="516"/>
                  <a:chOff x="3708" y="3359"/>
                  <a:chExt cx="1148" cy="516"/>
                </a:xfrm>
              </p:grpSpPr>
              <p:sp>
                <p:nvSpPr>
                  <p:cNvPr id="32820" name="Text Box 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708" y="3359"/>
                    <a:ext cx="1148" cy="516"/>
                  </a:xfrm>
                  <a:prstGeom prst="rect">
                    <a:avLst/>
                  </a:prstGeom>
                  <a:solidFill>
                    <a:srgbClr val="0066FF"/>
                  </a:solidFill>
                  <a:ln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lnSpc>
                        <a:spcPct val="70000"/>
                      </a:lnSpc>
                      <a:spcBef>
                        <a:spcPct val="50000"/>
                      </a:spcBef>
                    </a:pPr>
                    <a:r>
                      <a:rPr lang="en-US" sz="1800">
                        <a:solidFill>
                          <a:schemeClr val="tx1"/>
                        </a:solidFill>
                        <a:latin typeface="Gill Sans MT" pitchFamily="34" charset="0"/>
                      </a:rPr>
                      <a:t>Simple Round Trip Coverage</a:t>
                    </a:r>
                  </a:p>
                  <a:p>
                    <a:pPr algn="ctr">
                      <a:lnSpc>
                        <a:spcPct val="70000"/>
                      </a:lnSpc>
                      <a:spcBef>
                        <a:spcPct val="50000"/>
                      </a:spcBef>
                    </a:pPr>
                    <a:r>
                      <a:rPr lang="en-US" sz="1800">
                        <a:solidFill>
                          <a:schemeClr val="tx1"/>
                        </a:solidFill>
                        <a:latin typeface="Gill Sans MT" pitchFamily="34" charset="0"/>
                      </a:rPr>
                      <a:t>SRTC</a:t>
                    </a:r>
                  </a:p>
                </p:txBody>
              </p:sp>
              <p:sp>
                <p:nvSpPr>
                  <p:cNvPr id="32821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3785" y="3682"/>
                    <a:ext cx="902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en-US">
                      <a:latin typeface="Gill Sans MT" pitchFamily="34" charset="0"/>
                    </a:endParaRPr>
                  </a:p>
                </p:txBody>
              </p:sp>
            </p:grpSp>
            <p:grpSp>
              <p:nvGrpSpPr>
                <p:cNvPr id="32784" name="Group 35"/>
                <p:cNvGrpSpPr>
                  <a:grpSpLocks/>
                </p:cNvGrpSpPr>
                <p:nvPr/>
              </p:nvGrpSpPr>
              <p:grpSpPr bwMode="auto">
                <a:xfrm>
                  <a:off x="2360" y="3448"/>
                  <a:ext cx="891" cy="516"/>
                  <a:chOff x="2332" y="3448"/>
                  <a:chExt cx="891" cy="516"/>
                </a:xfrm>
              </p:grpSpPr>
              <p:sp>
                <p:nvSpPr>
                  <p:cNvPr id="32818" name="Text Box 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32" y="3448"/>
                    <a:ext cx="891" cy="516"/>
                  </a:xfrm>
                  <a:prstGeom prst="rect">
                    <a:avLst/>
                  </a:prstGeom>
                  <a:solidFill>
                    <a:srgbClr val="0066FF"/>
                  </a:solidFill>
                  <a:ln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lnSpc>
                        <a:spcPct val="70000"/>
                      </a:lnSpc>
                      <a:spcBef>
                        <a:spcPct val="50000"/>
                      </a:spcBef>
                    </a:pPr>
                    <a:r>
                      <a:rPr lang="en-US" sz="1800">
                        <a:solidFill>
                          <a:schemeClr val="tx1"/>
                        </a:solidFill>
                        <a:latin typeface="Gill Sans MT" pitchFamily="34" charset="0"/>
                      </a:rPr>
                      <a:t>Node Coverage</a:t>
                    </a:r>
                  </a:p>
                  <a:p>
                    <a:pPr algn="ctr">
                      <a:lnSpc>
                        <a:spcPct val="70000"/>
                      </a:lnSpc>
                      <a:spcBef>
                        <a:spcPct val="50000"/>
                      </a:spcBef>
                    </a:pPr>
                    <a:r>
                      <a:rPr lang="en-US" sz="1800">
                        <a:solidFill>
                          <a:schemeClr val="tx1"/>
                        </a:solidFill>
                        <a:latin typeface="Gill Sans MT" pitchFamily="34" charset="0"/>
                      </a:rPr>
                      <a:t>NC</a:t>
                    </a:r>
                  </a:p>
                </p:txBody>
              </p:sp>
              <p:sp>
                <p:nvSpPr>
                  <p:cNvPr id="32819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2390" y="3771"/>
                    <a:ext cx="684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en-US">
                      <a:latin typeface="Gill Sans MT" pitchFamily="34" charset="0"/>
                    </a:endParaRPr>
                  </a:p>
                </p:txBody>
              </p:sp>
            </p:grpSp>
            <p:grpSp>
              <p:nvGrpSpPr>
                <p:cNvPr id="32785" name="Group 36"/>
                <p:cNvGrpSpPr>
                  <a:grpSpLocks/>
                </p:cNvGrpSpPr>
                <p:nvPr/>
              </p:nvGrpSpPr>
              <p:grpSpPr bwMode="auto">
                <a:xfrm>
                  <a:off x="2370" y="2730"/>
                  <a:ext cx="868" cy="516"/>
                  <a:chOff x="2342" y="2730"/>
                  <a:chExt cx="868" cy="516"/>
                </a:xfrm>
              </p:grpSpPr>
              <p:sp>
                <p:nvSpPr>
                  <p:cNvPr id="32816" name="Text Box 2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42" y="2730"/>
                    <a:ext cx="868" cy="516"/>
                  </a:xfrm>
                  <a:prstGeom prst="rect">
                    <a:avLst/>
                  </a:prstGeom>
                  <a:solidFill>
                    <a:srgbClr val="0066FF"/>
                  </a:solidFill>
                  <a:ln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lnSpc>
                        <a:spcPct val="70000"/>
                      </a:lnSpc>
                      <a:spcBef>
                        <a:spcPct val="50000"/>
                      </a:spcBef>
                    </a:pPr>
                    <a:r>
                      <a:rPr lang="en-US" sz="1800">
                        <a:solidFill>
                          <a:schemeClr val="tx1"/>
                        </a:solidFill>
                        <a:latin typeface="Gill Sans MT" pitchFamily="34" charset="0"/>
                      </a:rPr>
                      <a:t>Edge Coverage</a:t>
                    </a:r>
                  </a:p>
                  <a:p>
                    <a:pPr algn="ctr">
                      <a:lnSpc>
                        <a:spcPct val="70000"/>
                      </a:lnSpc>
                      <a:spcBef>
                        <a:spcPct val="50000"/>
                      </a:spcBef>
                    </a:pPr>
                    <a:r>
                      <a:rPr lang="en-US" sz="1800">
                        <a:solidFill>
                          <a:schemeClr val="tx1"/>
                        </a:solidFill>
                        <a:latin typeface="Gill Sans MT" pitchFamily="34" charset="0"/>
                      </a:rPr>
                      <a:t>EC</a:t>
                    </a:r>
                  </a:p>
                </p:txBody>
              </p:sp>
              <p:sp>
                <p:nvSpPr>
                  <p:cNvPr id="32817" name="Line 24"/>
                  <p:cNvSpPr>
                    <a:spLocks noChangeShapeType="1"/>
                  </p:cNvSpPr>
                  <p:nvPr/>
                </p:nvSpPr>
                <p:spPr bwMode="auto">
                  <a:xfrm>
                    <a:off x="2399" y="3053"/>
                    <a:ext cx="665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en-US">
                      <a:latin typeface="Gill Sans MT" pitchFamily="34" charset="0"/>
                    </a:endParaRPr>
                  </a:p>
                </p:txBody>
              </p:sp>
            </p:grpSp>
            <p:grpSp>
              <p:nvGrpSpPr>
                <p:cNvPr id="32786" name="Group 37"/>
                <p:cNvGrpSpPr>
                  <a:grpSpLocks/>
                </p:cNvGrpSpPr>
                <p:nvPr/>
              </p:nvGrpSpPr>
              <p:grpSpPr bwMode="auto">
                <a:xfrm>
                  <a:off x="2381" y="2012"/>
                  <a:ext cx="845" cy="520"/>
                  <a:chOff x="2360" y="2012"/>
                  <a:chExt cx="845" cy="520"/>
                </a:xfrm>
              </p:grpSpPr>
              <p:sp>
                <p:nvSpPr>
                  <p:cNvPr id="32814" name="Text Box 2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60" y="2012"/>
                    <a:ext cx="845" cy="520"/>
                  </a:xfrm>
                  <a:prstGeom prst="rect">
                    <a:avLst/>
                  </a:prstGeom>
                  <a:solidFill>
                    <a:srgbClr val="0066FF"/>
                  </a:solidFill>
                  <a:ln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lnSpc>
                        <a:spcPct val="70000"/>
                      </a:lnSpc>
                      <a:spcBef>
                        <a:spcPct val="50000"/>
                      </a:spcBef>
                    </a:pPr>
                    <a:r>
                      <a:rPr lang="en-US" sz="1800" dirty="0">
                        <a:solidFill>
                          <a:schemeClr val="tx1"/>
                        </a:solidFill>
                        <a:latin typeface="Gill Sans MT" pitchFamily="34" charset="0"/>
                      </a:rPr>
                      <a:t>Edge-Pair Coverage</a:t>
                    </a:r>
                  </a:p>
                  <a:p>
                    <a:pPr algn="ctr">
                      <a:lnSpc>
                        <a:spcPct val="70000"/>
                      </a:lnSpc>
                      <a:spcBef>
                        <a:spcPct val="50000"/>
                      </a:spcBef>
                    </a:pPr>
                    <a:r>
                      <a:rPr lang="en-US" sz="1800" dirty="0">
                        <a:solidFill>
                          <a:schemeClr val="tx1"/>
                        </a:solidFill>
                        <a:latin typeface="Gill Sans MT" pitchFamily="34" charset="0"/>
                      </a:rPr>
                      <a:t>EPC</a:t>
                    </a:r>
                  </a:p>
                </p:txBody>
              </p:sp>
              <p:sp>
                <p:nvSpPr>
                  <p:cNvPr id="32815" name="Line 27"/>
                  <p:cNvSpPr>
                    <a:spLocks noChangeShapeType="1"/>
                  </p:cNvSpPr>
                  <p:nvPr/>
                </p:nvSpPr>
                <p:spPr bwMode="auto">
                  <a:xfrm>
                    <a:off x="2415" y="2335"/>
                    <a:ext cx="648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en-US">
                      <a:latin typeface="Gill Sans MT" pitchFamily="34" charset="0"/>
                    </a:endParaRPr>
                  </a:p>
                </p:txBody>
              </p:sp>
            </p:grpSp>
            <p:grpSp>
              <p:nvGrpSpPr>
                <p:cNvPr id="32787" name="Group 38"/>
                <p:cNvGrpSpPr>
                  <a:grpSpLocks/>
                </p:cNvGrpSpPr>
                <p:nvPr/>
              </p:nvGrpSpPr>
              <p:grpSpPr bwMode="auto">
                <a:xfrm>
                  <a:off x="3149" y="1294"/>
                  <a:ext cx="1092" cy="516"/>
                  <a:chOff x="3153" y="1294"/>
                  <a:chExt cx="1092" cy="516"/>
                </a:xfrm>
              </p:grpSpPr>
              <p:sp>
                <p:nvSpPr>
                  <p:cNvPr id="32812" name="Text Box 2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53" y="1294"/>
                    <a:ext cx="1092" cy="516"/>
                  </a:xfrm>
                  <a:prstGeom prst="rect">
                    <a:avLst/>
                  </a:prstGeom>
                  <a:solidFill>
                    <a:srgbClr val="0066FF"/>
                  </a:solidFill>
                  <a:ln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>
                    <a:spAutoFit/>
                  </a:bodyPr>
                  <a:lstStyle/>
                  <a:p>
                    <a:pPr algn="ctr">
                      <a:lnSpc>
                        <a:spcPct val="70000"/>
                      </a:lnSpc>
                      <a:spcBef>
                        <a:spcPct val="50000"/>
                      </a:spcBef>
                    </a:pPr>
                    <a:r>
                      <a:rPr lang="en-US" sz="1800">
                        <a:solidFill>
                          <a:schemeClr val="tx1"/>
                        </a:solidFill>
                        <a:latin typeface="Gill Sans MT" pitchFamily="34" charset="0"/>
                      </a:rPr>
                      <a:t>Prime Path Coverage</a:t>
                    </a:r>
                  </a:p>
                  <a:p>
                    <a:pPr algn="ctr">
                      <a:lnSpc>
                        <a:spcPct val="70000"/>
                      </a:lnSpc>
                      <a:spcBef>
                        <a:spcPct val="50000"/>
                      </a:spcBef>
                    </a:pPr>
                    <a:r>
                      <a:rPr lang="en-US" sz="1800">
                        <a:solidFill>
                          <a:schemeClr val="tx1"/>
                        </a:solidFill>
                        <a:latin typeface="Gill Sans MT" pitchFamily="34" charset="0"/>
                      </a:rPr>
                      <a:t>PPC</a:t>
                    </a:r>
                  </a:p>
                </p:txBody>
              </p:sp>
              <p:sp>
                <p:nvSpPr>
                  <p:cNvPr id="32813" name="Line 30"/>
                  <p:cNvSpPr>
                    <a:spLocks noChangeShapeType="1"/>
                  </p:cNvSpPr>
                  <p:nvPr/>
                </p:nvSpPr>
                <p:spPr bwMode="auto">
                  <a:xfrm>
                    <a:off x="3233" y="1617"/>
                    <a:ext cx="931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en-US">
                      <a:latin typeface="Gill Sans MT" pitchFamily="34" charset="0"/>
                    </a:endParaRPr>
                  </a:p>
                </p:txBody>
              </p:sp>
            </p:grpSp>
            <p:grpSp>
              <p:nvGrpSpPr>
                <p:cNvPr id="32788" name="Group 39"/>
                <p:cNvGrpSpPr>
                  <a:grpSpLocks/>
                </p:cNvGrpSpPr>
                <p:nvPr/>
              </p:nvGrpSpPr>
              <p:grpSpPr bwMode="auto">
                <a:xfrm>
                  <a:off x="3145" y="576"/>
                  <a:ext cx="1099" cy="516"/>
                  <a:chOff x="3145" y="576"/>
                  <a:chExt cx="1099" cy="516"/>
                </a:xfrm>
              </p:grpSpPr>
              <p:sp>
                <p:nvSpPr>
                  <p:cNvPr id="32810" name="Text Box 3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45" y="576"/>
                    <a:ext cx="1099" cy="516"/>
                  </a:xfrm>
                  <a:prstGeom prst="rect">
                    <a:avLst/>
                  </a:prstGeom>
                  <a:solidFill>
                    <a:srgbClr val="0066FF"/>
                  </a:solidFill>
                  <a:ln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>
                    <a:spAutoFit/>
                  </a:bodyPr>
                  <a:lstStyle/>
                  <a:p>
                    <a:pPr algn="ctr">
                      <a:lnSpc>
                        <a:spcPct val="70000"/>
                      </a:lnSpc>
                      <a:spcBef>
                        <a:spcPct val="50000"/>
                      </a:spcBef>
                    </a:pPr>
                    <a:r>
                      <a:rPr lang="en-US" sz="1800">
                        <a:solidFill>
                          <a:schemeClr val="tx1"/>
                        </a:solidFill>
                        <a:latin typeface="Gill Sans MT" pitchFamily="34" charset="0"/>
                      </a:rPr>
                      <a:t>Complete Path Coverage</a:t>
                    </a:r>
                  </a:p>
                  <a:p>
                    <a:pPr algn="ctr">
                      <a:lnSpc>
                        <a:spcPct val="70000"/>
                      </a:lnSpc>
                      <a:spcBef>
                        <a:spcPct val="50000"/>
                      </a:spcBef>
                    </a:pPr>
                    <a:r>
                      <a:rPr lang="en-US" sz="1800">
                        <a:solidFill>
                          <a:schemeClr val="tx1"/>
                        </a:solidFill>
                        <a:latin typeface="Gill Sans MT" pitchFamily="34" charset="0"/>
                      </a:rPr>
                      <a:t>CPC</a:t>
                    </a:r>
                  </a:p>
                </p:txBody>
              </p:sp>
              <p:sp>
                <p:nvSpPr>
                  <p:cNvPr id="32811" name="Line 33"/>
                  <p:cNvSpPr>
                    <a:spLocks noChangeShapeType="1"/>
                  </p:cNvSpPr>
                  <p:nvPr/>
                </p:nvSpPr>
                <p:spPr bwMode="auto">
                  <a:xfrm>
                    <a:off x="3225" y="899"/>
                    <a:ext cx="938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en-US">
                      <a:latin typeface="Gill Sans MT" pitchFamily="34" charset="0"/>
                    </a:endParaRPr>
                  </a:p>
                </p:txBody>
              </p:sp>
            </p:grpSp>
            <p:grpSp>
              <p:nvGrpSpPr>
                <p:cNvPr id="32789" name="Group 40"/>
                <p:cNvGrpSpPr>
                  <a:grpSpLocks/>
                </p:cNvGrpSpPr>
                <p:nvPr/>
              </p:nvGrpSpPr>
              <p:grpSpPr bwMode="auto">
                <a:xfrm>
                  <a:off x="3800" y="2460"/>
                  <a:ext cx="1271" cy="520"/>
                  <a:chOff x="3707" y="3359"/>
                  <a:chExt cx="1147" cy="520"/>
                </a:xfrm>
              </p:grpSpPr>
              <p:sp>
                <p:nvSpPr>
                  <p:cNvPr id="32808" name="Text Box 4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707" y="3359"/>
                    <a:ext cx="1147" cy="520"/>
                  </a:xfrm>
                  <a:prstGeom prst="rect">
                    <a:avLst/>
                  </a:prstGeom>
                  <a:solidFill>
                    <a:srgbClr val="0066FF"/>
                  </a:solidFill>
                  <a:ln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lnSpc>
                        <a:spcPct val="70000"/>
                      </a:lnSpc>
                      <a:spcBef>
                        <a:spcPct val="50000"/>
                      </a:spcBef>
                    </a:pPr>
                    <a:r>
                      <a:rPr lang="en-US" sz="1800" dirty="0">
                        <a:solidFill>
                          <a:schemeClr val="tx1"/>
                        </a:solidFill>
                        <a:latin typeface="Gill Sans MT" pitchFamily="34" charset="0"/>
                      </a:rPr>
                      <a:t>Complete Round Trip Coverage</a:t>
                    </a:r>
                  </a:p>
                  <a:p>
                    <a:pPr algn="ctr">
                      <a:lnSpc>
                        <a:spcPct val="70000"/>
                      </a:lnSpc>
                      <a:spcBef>
                        <a:spcPct val="50000"/>
                      </a:spcBef>
                    </a:pPr>
                    <a:r>
                      <a:rPr lang="en-US" sz="1800" dirty="0">
                        <a:solidFill>
                          <a:schemeClr val="tx1"/>
                        </a:solidFill>
                        <a:latin typeface="Gill Sans MT" pitchFamily="34" charset="0"/>
                      </a:rPr>
                      <a:t>CRTC</a:t>
                    </a:r>
                  </a:p>
                </p:txBody>
              </p:sp>
              <p:sp>
                <p:nvSpPr>
                  <p:cNvPr id="32809" name="Line 42"/>
                  <p:cNvSpPr>
                    <a:spLocks noChangeShapeType="1"/>
                  </p:cNvSpPr>
                  <p:nvPr/>
                </p:nvSpPr>
                <p:spPr bwMode="auto">
                  <a:xfrm>
                    <a:off x="3785" y="3682"/>
                    <a:ext cx="902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en-US">
                      <a:latin typeface="Gill Sans MT" pitchFamily="34" charset="0"/>
                    </a:endParaRPr>
                  </a:p>
                </p:txBody>
              </p:sp>
            </p:grpSp>
            <p:grpSp>
              <p:nvGrpSpPr>
                <p:cNvPr id="32790" name="Group 43"/>
                <p:cNvGrpSpPr>
                  <a:grpSpLocks/>
                </p:cNvGrpSpPr>
                <p:nvPr/>
              </p:nvGrpSpPr>
              <p:grpSpPr bwMode="auto">
                <a:xfrm>
                  <a:off x="798" y="1743"/>
                  <a:ext cx="1036" cy="520"/>
                  <a:chOff x="2310" y="2012"/>
                  <a:chExt cx="808" cy="520"/>
                </a:xfrm>
              </p:grpSpPr>
              <p:sp>
                <p:nvSpPr>
                  <p:cNvPr id="32806" name="Text Box 4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10" y="2012"/>
                    <a:ext cx="808" cy="520"/>
                  </a:xfrm>
                  <a:prstGeom prst="rect">
                    <a:avLst/>
                  </a:prstGeom>
                  <a:solidFill>
                    <a:srgbClr val="0066FF"/>
                  </a:solidFill>
                  <a:ln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lnSpc>
                        <a:spcPct val="70000"/>
                      </a:lnSpc>
                      <a:spcBef>
                        <a:spcPct val="50000"/>
                      </a:spcBef>
                    </a:pPr>
                    <a:r>
                      <a:rPr lang="en-US" sz="1800">
                        <a:solidFill>
                          <a:schemeClr val="tx1"/>
                        </a:solidFill>
                        <a:latin typeface="Gill Sans MT" pitchFamily="34" charset="0"/>
                      </a:rPr>
                      <a:t>All-DU-Paths Coverage</a:t>
                    </a:r>
                  </a:p>
                  <a:p>
                    <a:pPr algn="ctr">
                      <a:lnSpc>
                        <a:spcPct val="70000"/>
                      </a:lnSpc>
                      <a:spcBef>
                        <a:spcPct val="50000"/>
                      </a:spcBef>
                    </a:pPr>
                    <a:r>
                      <a:rPr lang="en-US" sz="1800">
                        <a:solidFill>
                          <a:schemeClr val="tx1"/>
                        </a:solidFill>
                        <a:latin typeface="Gill Sans MT" pitchFamily="34" charset="0"/>
                      </a:rPr>
                      <a:t>ADUP</a:t>
                    </a:r>
                  </a:p>
                </p:txBody>
              </p:sp>
              <p:sp>
                <p:nvSpPr>
                  <p:cNvPr id="32807" name="Line 45"/>
                  <p:cNvSpPr>
                    <a:spLocks noChangeShapeType="1"/>
                  </p:cNvSpPr>
                  <p:nvPr/>
                </p:nvSpPr>
                <p:spPr bwMode="auto">
                  <a:xfrm>
                    <a:off x="2415" y="2335"/>
                    <a:ext cx="648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en-US">
                      <a:latin typeface="Gill Sans MT" pitchFamily="34" charset="0"/>
                    </a:endParaRPr>
                  </a:p>
                </p:txBody>
              </p:sp>
            </p:grpSp>
            <p:grpSp>
              <p:nvGrpSpPr>
                <p:cNvPr id="32791" name="Group 46"/>
                <p:cNvGrpSpPr>
                  <a:grpSpLocks/>
                </p:cNvGrpSpPr>
                <p:nvPr/>
              </p:nvGrpSpPr>
              <p:grpSpPr bwMode="auto">
                <a:xfrm>
                  <a:off x="798" y="2460"/>
                  <a:ext cx="1037" cy="516"/>
                  <a:chOff x="2310" y="2012"/>
                  <a:chExt cx="809" cy="516"/>
                </a:xfrm>
              </p:grpSpPr>
              <p:sp>
                <p:nvSpPr>
                  <p:cNvPr id="32804" name="Text Box 4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10" y="2012"/>
                    <a:ext cx="809" cy="516"/>
                  </a:xfrm>
                  <a:prstGeom prst="rect">
                    <a:avLst/>
                  </a:prstGeom>
                  <a:solidFill>
                    <a:srgbClr val="0066FF"/>
                  </a:solidFill>
                  <a:ln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lnSpc>
                        <a:spcPct val="70000"/>
                      </a:lnSpc>
                      <a:spcBef>
                        <a:spcPct val="50000"/>
                      </a:spcBef>
                    </a:pPr>
                    <a:r>
                      <a:rPr lang="en-US" sz="1800">
                        <a:solidFill>
                          <a:schemeClr val="tx1"/>
                        </a:solidFill>
                        <a:latin typeface="Gill Sans MT" pitchFamily="34" charset="0"/>
                      </a:rPr>
                      <a:t>All-uses Coverage</a:t>
                    </a:r>
                  </a:p>
                  <a:p>
                    <a:pPr algn="ctr">
                      <a:lnSpc>
                        <a:spcPct val="70000"/>
                      </a:lnSpc>
                      <a:spcBef>
                        <a:spcPct val="50000"/>
                      </a:spcBef>
                    </a:pPr>
                    <a:r>
                      <a:rPr lang="en-US" sz="1800">
                        <a:solidFill>
                          <a:schemeClr val="tx1"/>
                        </a:solidFill>
                        <a:latin typeface="Gill Sans MT" pitchFamily="34" charset="0"/>
                      </a:rPr>
                      <a:t>AUC</a:t>
                    </a:r>
                  </a:p>
                </p:txBody>
              </p:sp>
              <p:sp>
                <p:nvSpPr>
                  <p:cNvPr id="32805" name="Line 48"/>
                  <p:cNvSpPr>
                    <a:spLocks noChangeShapeType="1"/>
                  </p:cNvSpPr>
                  <p:nvPr/>
                </p:nvSpPr>
                <p:spPr bwMode="auto">
                  <a:xfrm>
                    <a:off x="2415" y="2335"/>
                    <a:ext cx="648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en-US">
                      <a:latin typeface="Gill Sans MT" pitchFamily="34" charset="0"/>
                    </a:endParaRPr>
                  </a:p>
                </p:txBody>
              </p:sp>
            </p:grpSp>
            <p:grpSp>
              <p:nvGrpSpPr>
                <p:cNvPr id="32792" name="Group 49"/>
                <p:cNvGrpSpPr>
                  <a:grpSpLocks/>
                </p:cNvGrpSpPr>
                <p:nvPr/>
              </p:nvGrpSpPr>
              <p:grpSpPr bwMode="auto">
                <a:xfrm>
                  <a:off x="798" y="3176"/>
                  <a:ext cx="1037" cy="516"/>
                  <a:chOff x="2310" y="2012"/>
                  <a:chExt cx="809" cy="516"/>
                </a:xfrm>
              </p:grpSpPr>
              <p:sp>
                <p:nvSpPr>
                  <p:cNvPr id="32802" name="Text Box 5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10" y="2012"/>
                    <a:ext cx="809" cy="516"/>
                  </a:xfrm>
                  <a:prstGeom prst="rect">
                    <a:avLst/>
                  </a:prstGeom>
                  <a:solidFill>
                    <a:srgbClr val="0066FF"/>
                  </a:solidFill>
                  <a:ln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lnSpc>
                        <a:spcPct val="70000"/>
                      </a:lnSpc>
                      <a:spcBef>
                        <a:spcPct val="50000"/>
                      </a:spcBef>
                    </a:pPr>
                    <a:r>
                      <a:rPr lang="en-US" sz="1800">
                        <a:solidFill>
                          <a:schemeClr val="tx1"/>
                        </a:solidFill>
                        <a:latin typeface="Gill Sans MT" pitchFamily="34" charset="0"/>
                      </a:rPr>
                      <a:t>All-defs Coverage</a:t>
                    </a:r>
                  </a:p>
                  <a:p>
                    <a:pPr algn="ctr">
                      <a:lnSpc>
                        <a:spcPct val="70000"/>
                      </a:lnSpc>
                      <a:spcBef>
                        <a:spcPct val="50000"/>
                      </a:spcBef>
                    </a:pPr>
                    <a:r>
                      <a:rPr lang="en-US" sz="1800">
                        <a:solidFill>
                          <a:schemeClr val="tx1"/>
                        </a:solidFill>
                        <a:latin typeface="Gill Sans MT" pitchFamily="34" charset="0"/>
                      </a:rPr>
                      <a:t>ADC</a:t>
                    </a:r>
                  </a:p>
                </p:txBody>
              </p:sp>
              <p:sp>
                <p:nvSpPr>
                  <p:cNvPr id="32803" name="Line 51"/>
                  <p:cNvSpPr>
                    <a:spLocks noChangeShapeType="1"/>
                  </p:cNvSpPr>
                  <p:nvPr/>
                </p:nvSpPr>
                <p:spPr bwMode="auto">
                  <a:xfrm>
                    <a:off x="2415" y="2335"/>
                    <a:ext cx="648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en-US">
                      <a:latin typeface="Gill Sans MT" pitchFamily="34" charset="0"/>
                    </a:endParaRPr>
                  </a:p>
                </p:txBody>
              </p:sp>
            </p:grpSp>
            <p:sp>
              <p:nvSpPr>
                <p:cNvPr id="32793" name="Line 53"/>
                <p:cNvSpPr>
                  <a:spLocks noChangeShapeType="1"/>
                </p:cNvSpPr>
                <p:nvPr/>
              </p:nvSpPr>
              <p:spPr bwMode="auto">
                <a:xfrm>
                  <a:off x="4386" y="2972"/>
                  <a:ext cx="0" cy="20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</p:spPr>
              <p:txBody>
                <a:bodyPr/>
                <a:lstStyle/>
                <a:p>
                  <a:endParaRPr lang="en-US">
                    <a:latin typeface="Gill Sans MT" pitchFamily="34" charset="0"/>
                  </a:endParaRPr>
                </a:p>
              </p:txBody>
            </p:sp>
            <p:sp>
              <p:nvSpPr>
                <p:cNvPr id="32794" name="Line 54"/>
                <p:cNvSpPr>
                  <a:spLocks noChangeShapeType="1"/>
                </p:cNvSpPr>
                <p:nvPr/>
              </p:nvSpPr>
              <p:spPr bwMode="auto">
                <a:xfrm>
                  <a:off x="2760" y="3239"/>
                  <a:ext cx="0" cy="20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</p:spPr>
              <p:txBody>
                <a:bodyPr/>
                <a:lstStyle/>
                <a:p>
                  <a:endParaRPr lang="en-US">
                    <a:latin typeface="Gill Sans MT" pitchFamily="34" charset="0"/>
                  </a:endParaRPr>
                </a:p>
              </p:txBody>
            </p:sp>
            <p:sp>
              <p:nvSpPr>
                <p:cNvPr id="32795" name="Line 55"/>
                <p:cNvSpPr>
                  <a:spLocks noChangeShapeType="1"/>
                </p:cNvSpPr>
                <p:nvPr/>
              </p:nvSpPr>
              <p:spPr bwMode="auto">
                <a:xfrm>
                  <a:off x="2760" y="2524"/>
                  <a:ext cx="0" cy="20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</p:spPr>
              <p:txBody>
                <a:bodyPr/>
                <a:lstStyle/>
                <a:p>
                  <a:endParaRPr lang="en-US">
                    <a:latin typeface="Gill Sans MT" pitchFamily="34" charset="0"/>
                  </a:endParaRPr>
                </a:p>
              </p:txBody>
            </p:sp>
            <p:sp>
              <p:nvSpPr>
                <p:cNvPr id="32796" name="Line 56"/>
                <p:cNvSpPr>
                  <a:spLocks noChangeShapeType="1"/>
                </p:cNvSpPr>
                <p:nvPr/>
              </p:nvSpPr>
              <p:spPr bwMode="auto">
                <a:xfrm>
                  <a:off x="1348" y="2258"/>
                  <a:ext cx="0" cy="20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</p:spPr>
              <p:txBody>
                <a:bodyPr/>
                <a:lstStyle/>
                <a:p>
                  <a:endParaRPr lang="en-US">
                    <a:latin typeface="Gill Sans MT" pitchFamily="34" charset="0"/>
                  </a:endParaRPr>
                </a:p>
              </p:txBody>
            </p:sp>
            <p:sp>
              <p:nvSpPr>
                <p:cNvPr id="32797" name="Line 57"/>
                <p:cNvSpPr>
                  <a:spLocks noChangeShapeType="1"/>
                </p:cNvSpPr>
                <p:nvPr/>
              </p:nvSpPr>
              <p:spPr bwMode="auto">
                <a:xfrm>
                  <a:off x="3694" y="1088"/>
                  <a:ext cx="0" cy="20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</p:spPr>
              <p:txBody>
                <a:bodyPr/>
                <a:lstStyle/>
                <a:p>
                  <a:endParaRPr lang="en-US">
                    <a:latin typeface="Gill Sans MT" pitchFamily="34" charset="0"/>
                  </a:endParaRPr>
                </a:p>
              </p:txBody>
            </p:sp>
            <p:sp>
              <p:nvSpPr>
                <p:cNvPr id="32798" name="Line 58"/>
                <p:cNvSpPr>
                  <a:spLocks noChangeShapeType="1"/>
                </p:cNvSpPr>
                <p:nvPr/>
              </p:nvSpPr>
              <p:spPr bwMode="auto">
                <a:xfrm>
                  <a:off x="1348" y="2969"/>
                  <a:ext cx="0" cy="20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</p:spPr>
              <p:txBody>
                <a:bodyPr/>
                <a:lstStyle/>
                <a:p>
                  <a:endParaRPr lang="en-US">
                    <a:latin typeface="Gill Sans MT" pitchFamily="34" charset="0"/>
                  </a:endParaRPr>
                </a:p>
              </p:txBody>
            </p:sp>
            <p:cxnSp>
              <p:nvCxnSpPr>
                <p:cNvPr id="32799" name="AutoShape 59"/>
                <p:cNvCxnSpPr>
                  <a:cxnSpLocks noChangeShapeType="1"/>
                  <a:stCxn id="32779" idx="2"/>
                  <a:endCxn id="32780" idx="0"/>
                </p:cNvCxnSpPr>
                <p:nvPr/>
              </p:nvCxnSpPr>
              <p:spPr bwMode="auto">
                <a:xfrm rot="5400000" flipH="1" flipV="1">
                  <a:off x="1977" y="2332"/>
                  <a:ext cx="252" cy="1027"/>
                </a:xfrm>
                <a:prstGeom prst="curvedConnector5">
                  <a:avLst>
                    <a:gd name="adj1" fmla="val -56745"/>
                    <a:gd name="adj2" fmla="val 50051"/>
                    <a:gd name="adj3" fmla="val 157144"/>
                  </a:avLst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</p:spPr>
            </p:cxnSp>
            <p:cxnSp>
              <p:nvCxnSpPr>
                <p:cNvPr id="32800" name="AutoShape 64"/>
                <p:cNvCxnSpPr>
                  <a:cxnSpLocks noChangeShapeType="1"/>
                  <a:stCxn id="32781" idx="2"/>
                  <a:endCxn id="32782" idx="0"/>
                </p:cNvCxnSpPr>
                <p:nvPr/>
              </p:nvCxnSpPr>
              <p:spPr bwMode="auto">
                <a:xfrm rot="16200000" flipV="1">
                  <a:off x="2409" y="922"/>
                  <a:ext cx="60" cy="1714"/>
                </a:xfrm>
                <a:prstGeom prst="curvedConnector5">
                  <a:avLst>
                    <a:gd name="adj1" fmla="val -106667"/>
                    <a:gd name="adj2" fmla="val 46556"/>
                    <a:gd name="adj3" fmla="val 706667"/>
                  </a:avLst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</p:spPr>
            </p:cxnSp>
            <p:sp>
              <p:nvSpPr>
                <p:cNvPr id="32801" name="Line 68"/>
                <p:cNvSpPr>
                  <a:spLocks noChangeShapeType="1"/>
                </p:cNvSpPr>
                <p:nvPr/>
              </p:nvSpPr>
              <p:spPr bwMode="auto">
                <a:xfrm>
                  <a:off x="3989" y="1813"/>
                  <a:ext cx="413" cy="6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</p:spPr>
              <p:txBody>
                <a:bodyPr/>
                <a:lstStyle/>
                <a:p>
                  <a:endParaRPr lang="en-US">
                    <a:latin typeface="Gill Sans MT" pitchFamily="34" charset="0"/>
                  </a:endParaRPr>
                </a:p>
              </p:txBody>
            </p:sp>
          </p:grpSp>
          <p:cxnSp>
            <p:nvCxnSpPr>
              <p:cNvPr id="32778" name="AutoShape 64"/>
              <p:cNvCxnSpPr>
                <a:cxnSpLocks noChangeShapeType="1"/>
              </p:cNvCxnSpPr>
              <p:nvPr/>
            </p:nvCxnSpPr>
            <p:spPr bwMode="auto">
              <a:xfrm rot="5400000">
                <a:off x="4453732" y="3001169"/>
                <a:ext cx="1430337" cy="1209675"/>
              </a:xfrm>
              <a:prstGeom prst="curvedConnector3">
                <a:avLst>
                  <a:gd name="adj1" fmla="val 81343"/>
                </a:avLst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</p:spPr>
          </p:cxnSp>
        </p:grpSp>
        <p:cxnSp>
          <p:nvCxnSpPr>
            <p:cNvPr id="32776" name="AutoShape 64"/>
            <p:cNvCxnSpPr>
              <a:cxnSpLocks noChangeShapeType="1"/>
              <a:endCxn id="32814" idx="0"/>
            </p:cNvCxnSpPr>
            <p:nvPr/>
          </p:nvCxnSpPr>
          <p:spPr bwMode="auto">
            <a:xfrm rot="5400000">
              <a:off x="4034235" y="2099071"/>
              <a:ext cx="1454150" cy="735808"/>
            </a:xfrm>
            <a:prstGeom prst="curvedConnector3">
              <a:avLst>
                <a:gd name="adj1" fmla="val 50000"/>
              </a:avLst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4000"/>
              </a:lnSpc>
            </a:pPr>
            <a:r>
              <a:rPr lang="en-US" dirty="0"/>
              <a:t>Graphs are a very </a:t>
            </a:r>
            <a:r>
              <a:rPr lang="en-US" dirty="0">
                <a:solidFill>
                  <a:schemeClr val="tx2"/>
                </a:solidFill>
              </a:rPr>
              <a:t>powerful abstraction</a:t>
            </a:r>
            <a:r>
              <a:rPr lang="en-US" dirty="0"/>
              <a:t> for designing tests</a:t>
            </a:r>
          </a:p>
          <a:p>
            <a:pPr>
              <a:lnSpc>
                <a:spcPct val="114000"/>
              </a:lnSpc>
            </a:pPr>
            <a:r>
              <a:rPr lang="en-US" dirty="0"/>
              <a:t>The various criteria allow lots of </a:t>
            </a:r>
            <a:r>
              <a:rPr lang="en-US" dirty="0">
                <a:solidFill>
                  <a:schemeClr val="tx2"/>
                </a:solidFill>
              </a:rPr>
              <a:t>cost / benefit</a:t>
            </a:r>
            <a:r>
              <a:rPr lang="en-US" dirty="0"/>
              <a:t> tradeoffs</a:t>
            </a:r>
          </a:p>
          <a:p>
            <a:pPr>
              <a:lnSpc>
                <a:spcPct val="114000"/>
              </a:lnSpc>
            </a:pPr>
            <a:r>
              <a:rPr lang="en-US" dirty="0"/>
              <a:t>These two sections are entirely at the “</a:t>
            </a:r>
            <a:r>
              <a:rPr lang="en-US" dirty="0">
                <a:solidFill>
                  <a:schemeClr val="tx2"/>
                </a:solidFill>
              </a:rPr>
              <a:t>design abstraction level</a:t>
            </a:r>
            <a:r>
              <a:rPr lang="en-US" dirty="0"/>
              <a:t>” from chapter 3</a:t>
            </a:r>
          </a:p>
          <a:p>
            <a:pPr>
              <a:lnSpc>
                <a:spcPct val="114000"/>
              </a:lnSpc>
            </a:pPr>
            <a:r>
              <a:rPr lang="en-US" dirty="0"/>
              <a:t>Graphs appear in </a:t>
            </a:r>
            <a:r>
              <a:rPr lang="en-US" dirty="0">
                <a:solidFill>
                  <a:schemeClr val="tx2"/>
                </a:solidFill>
              </a:rPr>
              <a:t>many situations</a:t>
            </a:r>
            <a:r>
              <a:rPr lang="en-US" dirty="0"/>
              <a:t> in software</a:t>
            </a:r>
          </a:p>
          <a:p>
            <a:pPr lvl="1">
              <a:lnSpc>
                <a:spcPct val="114000"/>
              </a:lnSpc>
            </a:pPr>
            <a:r>
              <a:rPr lang="en-US" dirty="0"/>
              <a:t>As discussed in the rest of </a:t>
            </a:r>
            <a:r>
              <a:rPr lang="en-US"/>
              <a:t>chapter 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1E34D2-BFAA-43E6-B117-0A7C9FC99B38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46924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intro">
  <a:themeElements>
    <a:clrScheme name="Custom 6">
      <a:dk1>
        <a:srgbClr val="5F5F5F"/>
      </a:dk1>
      <a:lt1>
        <a:srgbClr val="FFFFFF"/>
      </a:lt1>
      <a:dk2>
        <a:srgbClr val="000099"/>
      </a:dk2>
      <a:lt2>
        <a:srgbClr val="FFFF00"/>
      </a:lt2>
      <a:accent1>
        <a:srgbClr val="FF9900"/>
      </a:accent1>
      <a:accent2>
        <a:srgbClr val="66CCFF"/>
      </a:accent2>
      <a:accent3>
        <a:srgbClr val="AAAACA"/>
      </a:accent3>
      <a:accent4>
        <a:srgbClr val="DADADA"/>
      </a:accent4>
      <a:accent5>
        <a:srgbClr val="FFCAAA"/>
      </a:accent5>
      <a:accent6>
        <a:srgbClr val="5CB9E7"/>
      </a:accent6>
      <a:hlink>
        <a:srgbClr val="FFFF00"/>
      </a:hlink>
      <a:folHlink>
        <a:srgbClr val="FFC000"/>
      </a:folHlink>
    </a:clrScheme>
    <a:fontScheme name="intr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rgbClr val="FAFD00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rgbClr val="FAFD00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intro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ro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a:\intro.ppt</Template>
  <TotalTime>7329</TotalTime>
  <Pages>49</Pages>
  <Words>5887</Words>
  <Application>Microsoft Office PowerPoint</Application>
  <PresentationFormat>宽屏</PresentationFormat>
  <Paragraphs>873</Paragraphs>
  <Slides>48</Slides>
  <Notes>34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57" baseType="lpstr">
      <vt:lpstr>Arial Unicode MS</vt:lpstr>
      <vt:lpstr>Gill Sans MT</vt:lpstr>
      <vt:lpstr>Arial</vt:lpstr>
      <vt:lpstr>Cambria Math</vt:lpstr>
      <vt:lpstr>Comic Sans MS</vt:lpstr>
      <vt:lpstr>Times New Roman</vt:lpstr>
      <vt:lpstr>Verdana</vt:lpstr>
      <vt:lpstr>Wingdings</vt:lpstr>
      <vt:lpstr>intro</vt:lpstr>
      <vt:lpstr> Chapter 3 Graph Coverage </vt:lpstr>
      <vt:lpstr>本节课程目标</vt:lpstr>
      <vt:lpstr>Ch. 3 : Graph Coverage</vt:lpstr>
      <vt:lpstr>Covering Graphs</vt:lpstr>
      <vt:lpstr>Definition of a Graph</vt:lpstr>
      <vt:lpstr>Example Graphs</vt:lpstr>
      <vt:lpstr>Paths in Graphs</vt:lpstr>
      <vt:lpstr>Paths in Graphs</vt:lpstr>
      <vt:lpstr>Paths in Graphs</vt:lpstr>
      <vt:lpstr>Test Paths and SESEs</vt:lpstr>
      <vt:lpstr>Visiting and Touring</vt:lpstr>
      <vt:lpstr>Tests and Test Paths</vt:lpstr>
      <vt:lpstr>Tests and Test Paths</vt:lpstr>
      <vt:lpstr>Exercises</vt:lpstr>
      <vt:lpstr>Exercises</vt:lpstr>
      <vt:lpstr>Testing and Covering Graphs</vt:lpstr>
      <vt:lpstr>Node and Edge Coverage</vt:lpstr>
      <vt:lpstr>Node and Edge Coverage</vt:lpstr>
      <vt:lpstr>Paths of Length 1 and 0</vt:lpstr>
      <vt:lpstr>Covering Multiple Edges</vt:lpstr>
      <vt:lpstr>Covering Multiple Edges</vt:lpstr>
      <vt:lpstr>Structural Coverage Example</vt:lpstr>
      <vt:lpstr>Handling Loops in Graphs</vt:lpstr>
      <vt:lpstr>Simple Paths and Prime Paths</vt:lpstr>
      <vt:lpstr>Prime Path Coverage</vt:lpstr>
      <vt:lpstr>PPC Does Not Subsume EPC</vt:lpstr>
      <vt:lpstr>Simple &amp; Prime Path Example</vt:lpstr>
      <vt:lpstr>Prime Path Example</vt:lpstr>
      <vt:lpstr>Touring, Sidetrips, and Detours</vt:lpstr>
      <vt:lpstr>Sidetrips and Detours Example</vt:lpstr>
      <vt:lpstr>Infeasible Test Requirements</vt:lpstr>
      <vt:lpstr>Best Effort Touring</vt:lpstr>
      <vt:lpstr>Round Trips</vt:lpstr>
      <vt:lpstr>Questions (1)</vt:lpstr>
      <vt:lpstr>Questions (2)</vt:lpstr>
      <vt:lpstr>Questions (3)</vt:lpstr>
      <vt:lpstr>Questions (4)</vt:lpstr>
      <vt:lpstr>Questions (5)</vt:lpstr>
      <vt:lpstr>Data Flow Criteria</vt:lpstr>
      <vt:lpstr>Data Flow Criteria</vt:lpstr>
      <vt:lpstr>DU Pairs and DU Paths</vt:lpstr>
      <vt:lpstr>Example</vt:lpstr>
      <vt:lpstr>Example (cont.)</vt:lpstr>
      <vt:lpstr>Touring DU-Paths</vt:lpstr>
      <vt:lpstr>Data Flow Test Criteria</vt:lpstr>
      <vt:lpstr>Data Flow Testing Example</vt:lpstr>
      <vt:lpstr>        Graph Coverage Criteria         Subsumption </vt:lpstr>
      <vt:lpstr>Summary</vt:lpstr>
    </vt:vector>
  </TitlesOfParts>
  <Company>George Mason Unviersity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SWE 637: Graph Coverage</dc:title>
  <dc:creator>Jeff Offutt</dc:creator>
  <cp:lastModifiedBy>Yue Zhang</cp:lastModifiedBy>
  <cp:revision>302</cp:revision>
  <cp:lastPrinted>2013-09-24T13:18:52Z</cp:lastPrinted>
  <dcterms:created xsi:type="dcterms:W3CDTF">1996-06-15T03:21:08Z</dcterms:created>
  <dcterms:modified xsi:type="dcterms:W3CDTF">2026-03-24T06:00:12Z</dcterms:modified>
</cp:coreProperties>
</file>