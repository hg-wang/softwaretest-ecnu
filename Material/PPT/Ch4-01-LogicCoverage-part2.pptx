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36" r:id="rId2"/>
    <p:sldId id="424" r:id="rId3"/>
    <p:sldId id="399" r:id="rId4"/>
    <p:sldId id="401" r:id="rId5"/>
    <p:sldId id="407" r:id="rId6"/>
    <p:sldId id="406" r:id="rId7"/>
    <p:sldId id="257" r:id="rId8"/>
    <p:sldId id="402" r:id="rId9"/>
    <p:sldId id="403" r:id="rId10"/>
    <p:sldId id="419" r:id="rId11"/>
    <p:sldId id="404" r:id="rId12"/>
    <p:sldId id="412" r:id="rId13"/>
    <p:sldId id="417" r:id="rId14"/>
    <p:sldId id="420" r:id="rId15"/>
    <p:sldId id="421" r:id="rId16"/>
    <p:sldId id="422" r:id="rId17"/>
    <p:sldId id="425" r:id="rId18"/>
    <p:sldId id="426" r:id="rId19"/>
    <p:sldId id="427" r:id="rId20"/>
    <p:sldId id="423" r:id="rId21"/>
    <p:sldId id="408" r:id="rId22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145A"/>
    <a:srgbClr val="001E5A"/>
    <a:srgbClr val="5F5F5F"/>
    <a:srgbClr val="000000"/>
    <a:srgbClr val="6699FF"/>
    <a:srgbClr val="3399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25" autoAdjust="0"/>
    <p:restoredTop sz="91318" autoAdjust="0"/>
  </p:normalViewPr>
  <p:slideViewPr>
    <p:cSldViewPr snapToGrid="0">
      <p:cViewPr varScale="1">
        <p:scale>
          <a:sx n="68" d="100"/>
          <a:sy n="68" d="100"/>
        </p:scale>
        <p:origin x="909" y="42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45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698">
              <a:defRPr sz="12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698">
              <a:defRPr sz="1200" b="0" i="1"/>
            </a:lvl1pPr>
          </a:lstStyle>
          <a:p>
            <a:pPr>
              <a:defRPr/>
            </a:pPr>
            <a:fld id="{D9F5B512-CDD9-4BC1-B82A-5A4144EC0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37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698">
              <a:defRPr sz="12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A34E319-0424-425B-9C80-9677C9F2A8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6" tIns="48659" rIns="97316" bIns="48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608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1963" y="720725"/>
            <a:ext cx="6391275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3262313" y="9144000"/>
            <a:ext cx="7889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5" tIns="46981" rIns="92285" bIns="46981">
            <a:spAutoFit/>
          </a:bodyPr>
          <a:lstStyle>
            <a:lvl1pPr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15988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400" b="0">
                <a:solidFill>
                  <a:schemeClr val="tx1"/>
                </a:solidFill>
              </a:rPr>
              <a:t>Page </a:t>
            </a:r>
            <a:fld id="{0C6F441A-AA09-4A39-B609-07294F4F15BB}" type="slidenum">
              <a:rPr lang="en-US" altLang="en-US" sz="14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4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7656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87FFF3F-CB7B-4387-A81F-AEEAA4A7BFF5}" type="slidenum">
              <a:rPr lang="en-US" altLang="en-US" sz="1200" b="0" smtClean="0">
                <a:solidFill>
                  <a:schemeClr val="tx1"/>
                </a:solidFill>
              </a:rPr>
              <a:pPr/>
              <a:t>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D69283F-6101-44DD-80A7-17073ED28460}" type="slidenum">
              <a:rPr lang="en-US" altLang="en-US" sz="1200" b="0" smtClean="0">
                <a:solidFill>
                  <a:schemeClr val="tx1"/>
                </a:solidFill>
              </a:rPr>
              <a:pPr/>
              <a:t>3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298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8C502EC-0343-4CC2-831A-DBDC4916A8F6}" type="slidenum">
              <a:rPr lang="en-US" altLang="en-US" sz="1200" b="0" smtClean="0">
                <a:solidFill>
                  <a:schemeClr val="tx1"/>
                </a:solidFill>
              </a:rPr>
              <a:pPr/>
              <a:t>4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409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C9C0FD7-FBC6-4661-BCE7-3955C5B236F4}" type="slidenum">
              <a:rPr lang="en-US" altLang="en-US" sz="1200" b="0" smtClean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570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8F44E3E-0E52-4B2A-96B9-A192C962BEE3}" type="slidenum">
              <a:rPr lang="en-US" altLang="en-US" sz="1200" b="0" smtClean="0">
                <a:solidFill>
                  <a:schemeClr val="tx1"/>
                </a:solidFill>
              </a:rPr>
              <a:pPr/>
              <a:t>8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75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2234951-1CC4-42F8-B204-98C46F44CECE}" type="slidenum">
              <a:rPr lang="en-US" altLang="en-US" sz="1200" b="0" smtClean="0">
                <a:solidFill>
                  <a:schemeClr val="tx1"/>
                </a:solidFill>
              </a:rPr>
              <a:pPr/>
              <a:t>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689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3E04E79-2B77-43E6-9FBE-4EBAE6ACB30E}" type="slidenum">
              <a:rPr lang="en-US" altLang="en-US" sz="1200" b="0" smtClean="0">
                <a:solidFill>
                  <a:schemeClr val="tx1"/>
                </a:solidFill>
              </a:rPr>
              <a:pPr/>
              <a:t>11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98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B144CF7-0872-49BF-8A97-818CEB6E4D86}" type="slidenum">
              <a:rPr lang="en-US" altLang="en-US" sz="1200" b="0" smtClean="0">
                <a:solidFill>
                  <a:schemeClr val="tx1"/>
                </a:solidFill>
              </a:rPr>
              <a:pPr/>
              <a:t>12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971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09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47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34E319-0424-425B-9C80-9677C9F2A8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34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DCAA6E7-A5BB-43E7-97B0-5F3FCCF7AF90}" type="slidenum">
              <a:rPr lang="en-US" altLang="en-US" sz="1200" b="0" smtClean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84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309BD-AF2B-43B5-943C-297635D561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164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B0AC8-263E-4BC2-8316-EF38483797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87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900A7-DC3A-4248-8F88-4E7EA883A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1793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4885" y="860425"/>
            <a:ext cx="5869516" cy="5592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60425"/>
            <a:ext cx="5869517" cy="5592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FA7F6-2645-45EE-B629-B6B09A102A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6528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94B31-9459-46F3-B8F4-2909EBC07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63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6CF6B-98B7-407E-B371-58066DCC3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7245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93535-583A-4C7E-B683-33983836B4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31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D9EDC-03CF-482D-B14B-AB919A89F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187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3A9B8-912F-4593-B920-3E7C524AA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245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A3E3-0053-4E43-B5FC-8ECC539034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8776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82618" y="46038"/>
            <a:ext cx="2984500" cy="6407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4884" y="46038"/>
            <a:ext cx="8754533" cy="6407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A0468-236F-441B-B660-08AD417F9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3199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6038"/>
            <a:ext cx="10363200" cy="80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4885" y="860425"/>
            <a:ext cx="5869516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60425"/>
            <a:ext cx="5869517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6508750"/>
            <a:ext cx="5302251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49384" y="6499226"/>
            <a:ext cx="38608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07551" y="6489700"/>
            <a:ext cx="25400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079ED-A84C-489D-8652-BBA1953C1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4876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6038"/>
            <a:ext cx="10363200" cy="8001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4885" y="860425"/>
            <a:ext cx="5869516" cy="5592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860425"/>
            <a:ext cx="5869517" cy="27193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32214"/>
            <a:ext cx="5869517" cy="2720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65100" y="6500813"/>
            <a:ext cx="5173133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640917" y="6491289"/>
            <a:ext cx="3860800" cy="314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626600" y="6481763"/>
            <a:ext cx="25400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E5244-DC11-41C9-B8C1-BDFCA1FC4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2699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5467" y="6586040"/>
            <a:ext cx="5202767" cy="227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11284" y="6578930"/>
            <a:ext cx="3860800" cy="23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26600" y="6571820"/>
            <a:ext cx="2540000" cy="24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3C558B-0F1F-4E78-AAAB-3F1AFC5A16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8534" y="46038"/>
            <a:ext cx="11935884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4885" y="860426"/>
            <a:ext cx="11942233" cy="5682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 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 </a:t>
            </a:r>
          </a:p>
          <a:p>
            <a:pPr lvl="4"/>
            <a:r>
              <a:rPr lang="en-US" alt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4 Logic Coverage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13764" y="3886200"/>
            <a:ext cx="6976998" cy="175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zh-CN" sz="3200" dirty="0"/>
              <a:t>8.1Logic Coverage</a:t>
            </a:r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CC2E5-51F9-485D-BE6F-1E01D517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5CA172-8D69-4727-B6DE-814B7E786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Identify inactive clauses (when a clause cannot determine the predicate)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2. Formulate test requirements for GICC / RICC using truth-table pairs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3. Compute conditions under which a clause determines the predicate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4. Systematically derive test cases from logic coverage criteria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896183-0E54-4BAF-900C-59173E4C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637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Inactive Clause Coverage (</a:t>
            </a:r>
            <a:r>
              <a:rPr lang="en-US" altLang="zh-CN" dirty="0"/>
              <a:t>8</a:t>
            </a:r>
            <a:r>
              <a:rPr lang="en-US" altLang="en-US" dirty="0"/>
              <a:t>.</a:t>
            </a:r>
            <a:r>
              <a:rPr lang="en-US" altLang="zh-CN" dirty="0"/>
              <a:t>1</a:t>
            </a:r>
            <a:r>
              <a:rPr lang="en-US" altLang="en-US" dirty="0"/>
              <a:t>.</a:t>
            </a:r>
            <a:r>
              <a:rPr lang="en-US" altLang="zh-CN" dirty="0"/>
              <a:t>3</a:t>
            </a:r>
            <a:r>
              <a:rPr lang="en-US" altLang="en-US" dirty="0"/>
              <a:t>)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active clause coverage criteria ensure that “major” clauses </a:t>
            </a:r>
            <a:r>
              <a:rPr lang="en-US" altLang="en-US" dirty="0">
                <a:solidFill>
                  <a:schemeClr val="tx2"/>
                </a:solidFill>
              </a:rPr>
              <a:t>do affect</a:t>
            </a:r>
            <a:r>
              <a:rPr lang="en-US" altLang="en-US" dirty="0"/>
              <a:t> the predicates</a:t>
            </a:r>
          </a:p>
          <a:p>
            <a:r>
              <a:rPr lang="en-US" altLang="en-US" dirty="0"/>
              <a:t>Inactive clause coverage takes the opposite approach – major clauses </a:t>
            </a:r>
            <a:r>
              <a:rPr lang="en-US" altLang="en-US" dirty="0">
                <a:solidFill>
                  <a:schemeClr val="tx2"/>
                </a:solidFill>
              </a:rPr>
              <a:t>do not affect</a:t>
            </a:r>
            <a:r>
              <a:rPr lang="en-US" altLang="en-US" dirty="0"/>
              <a:t> the predicates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9BCDBFF-DDE5-401C-B714-ED3EC1184108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3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20164" name="Text Box 4"/>
          <p:cNvSpPr txBox="1">
            <a:spLocks noChangeArrowheads="1"/>
          </p:cNvSpPr>
          <p:nvPr/>
        </p:nvSpPr>
        <p:spPr bwMode="auto">
          <a:xfrm>
            <a:off x="1680411" y="2908300"/>
            <a:ext cx="8807115" cy="2308324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Inactive Clause Coverage (ICC)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: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and each major clause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 != </a:t>
            </a:r>
            <a:r>
              <a:rPr lang="en-US" sz="240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so that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does not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determine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.  TR has </a:t>
            </a:r>
            <a:r>
              <a:rPr lang="en-US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four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requirements for each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: (1)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evaluates to true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true, (2)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evaluates to false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true, (3)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evaluates to true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false, and (4)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evaluates to false with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false.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AA50B44-160F-4EED-A2DA-E345ABF97F4B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4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1612901" y="46038"/>
            <a:ext cx="8951913" cy="928520"/>
          </a:xfrm>
        </p:spPr>
        <p:txBody>
          <a:bodyPr/>
          <a:lstStyle/>
          <a:p>
            <a:r>
              <a:rPr lang="en-US" altLang="en-US" dirty="0"/>
              <a:t>General and Restricted ICC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3" y="914401"/>
            <a:ext cx="8794750" cy="1344613"/>
          </a:xfrm>
        </p:spPr>
        <p:txBody>
          <a:bodyPr/>
          <a:lstStyle/>
          <a:p>
            <a:r>
              <a:rPr lang="en-US" altLang="en-US" dirty="0"/>
              <a:t>Unlike ACC, the notion of correlation is not relevant</a:t>
            </a:r>
          </a:p>
          <a:p>
            <a:pPr lvl="1"/>
            <a:r>
              <a:rPr lang="en-US" altLang="en-US" dirty="0"/>
              <a:t>ci does not determine p, so cannot correlate with p</a:t>
            </a:r>
          </a:p>
          <a:p>
            <a:r>
              <a:rPr lang="en-US" altLang="en-US" dirty="0"/>
              <a:t>Predicate coverage is always guaranteed</a:t>
            </a:r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1692442" y="2525714"/>
            <a:ext cx="8807116" cy="175418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General Inactive Clause Coverage (GICC)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: For each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and each major clause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choose minor clauses </a:t>
            </a:r>
            <a:r>
              <a:rPr lang="en-US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sz="2400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 != </a:t>
            </a:r>
            <a:r>
              <a:rPr lang="en-US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so that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does not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determine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.  The values chosen for the minor clauses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do not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need to be the same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is true as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is false, that is,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true) = 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false)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for all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OR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true) != 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= false)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for all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.</a:t>
            </a:r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1695617" y="4651376"/>
            <a:ext cx="8807116" cy="1323439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Restricted Inactive Clause Coverage (RICC)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: For each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and each major clause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choose minor clauses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 != </a:t>
            </a:r>
            <a:r>
              <a:rPr lang="en-US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, so that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does not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determine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p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.  The values chosen for the minor clauses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must be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the same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is true as when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 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is false, that is, it is required that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true) = 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(c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false)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for all </a:t>
            </a:r>
            <a:r>
              <a:rPr lang="en-US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c</a:t>
            </a:r>
            <a:r>
              <a:rPr lang="en-US" i="1" baseline="-25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j</a:t>
            </a: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nimBg="1" autoUpdateAnimBg="0"/>
      <p:bldP spid="224261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DAFF094-3E4F-4907-B0A1-AE828FE4F2B3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5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Infeasibility &amp; </a:t>
            </a:r>
            <a:r>
              <a:rPr lang="en-US" altLang="en-US" sz="3200" dirty="0" err="1"/>
              <a:t>Subsumption</a:t>
            </a:r>
            <a:r>
              <a:rPr lang="en-US" altLang="en-US" sz="3200" dirty="0"/>
              <a:t> (</a:t>
            </a:r>
            <a:r>
              <a:rPr lang="en-US" altLang="zh-CN" sz="3200" dirty="0"/>
              <a:t>8</a:t>
            </a:r>
            <a:r>
              <a:rPr lang="en-US" altLang="en-US" sz="3200" dirty="0"/>
              <a:t>.</a:t>
            </a:r>
            <a:r>
              <a:rPr lang="en-US" altLang="zh-CN" sz="3200" dirty="0"/>
              <a:t>1</a:t>
            </a:r>
            <a:r>
              <a:rPr lang="en-US" altLang="en-US" sz="3200" dirty="0"/>
              <a:t>.</a:t>
            </a:r>
            <a:r>
              <a:rPr lang="en-US" altLang="zh-CN" sz="3200" dirty="0"/>
              <a:t>4</a:t>
            </a:r>
            <a:r>
              <a:rPr lang="en-US" altLang="en-US" sz="3200" dirty="0"/>
              <a:t>) 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Consider the predicate:</a:t>
            </a:r>
          </a:p>
          <a:p>
            <a:pPr algn="ctr">
              <a:buFontTx/>
              <a:buNone/>
            </a:pPr>
            <a:r>
              <a:rPr lang="en-US" altLang="en-US" i="1" dirty="0">
                <a:solidFill>
                  <a:schemeClr val="tx2"/>
                </a:solidFill>
              </a:rPr>
              <a:t>(a &gt; b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i="1" dirty="0">
                <a:solidFill>
                  <a:schemeClr val="tx2"/>
                </a:solidFill>
              </a:rPr>
              <a:t> b &gt; c)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i="1" dirty="0">
                <a:solidFill>
                  <a:schemeClr val="tx2"/>
                </a:solidFill>
              </a:rPr>
              <a:t> c &gt; a</a:t>
            </a:r>
          </a:p>
          <a:p>
            <a:r>
              <a:rPr lang="en-US" altLang="en-US" i="1" dirty="0">
                <a:solidFill>
                  <a:schemeClr val="tx2"/>
                </a:solidFill>
              </a:rPr>
              <a:t>(a &gt; b) = true, (b &gt; c) = true, (c &gt; a) = true</a:t>
            </a:r>
            <a:r>
              <a:rPr lang="en-US" altLang="en-US" dirty="0"/>
              <a:t> is </a:t>
            </a:r>
            <a:r>
              <a:rPr lang="en-US" altLang="en-US" dirty="0">
                <a:solidFill>
                  <a:schemeClr val="hlink"/>
                </a:solidFill>
              </a:rPr>
              <a:t>infeasible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As with graph-based criteria, infeasible test requirements have to be </a:t>
            </a:r>
            <a:r>
              <a:rPr lang="en-US" altLang="en-US" dirty="0">
                <a:solidFill>
                  <a:schemeClr val="tx2"/>
                </a:solidFill>
              </a:rPr>
              <a:t>recognized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chemeClr val="tx2"/>
                </a:solidFill>
              </a:rPr>
              <a:t>ignored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Recognizing infeasible test requirements is hard, and in general, </a:t>
            </a:r>
            <a:r>
              <a:rPr lang="en-US" altLang="en-US" dirty="0">
                <a:solidFill>
                  <a:schemeClr val="tx2"/>
                </a:solidFill>
              </a:rPr>
              <a:t>undecidable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Software testing is </a:t>
            </a:r>
            <a:r>
              <a:rPr lang="en-US" altLang="en-US" dirty="0">
                <a:solidFill>
                  <a:schemeClr val="tx2"/>
                </a:solidFill>
              </a:rPr>
              <a:t>inexact</a:t>
            </a:r>
            <a:r>
              <a:rPr lang="en-US" altLang="en-US" dirty="0"/>
              <a:t> – engineering, not science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AB4097C-89DF-40D5-A6F7-F40B2B7C0AEF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6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8917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1" y="96838"/>
            <a:ext cx="9143999" cy="817562"/>
          </a:xfrm>
        </p:spPr>
        <p:txBody>
          <a:bodyPr/>
          <a:lstStyle/>
          <a:p>
            <a:r>
              <a:rPr lang="en-US" altLang="en-US" dirty="0"/>
              <a:t>Logic Criteria </a:t>
            </a:r>
            <a:r>
              <a:rPr lang="en-US" altLang="en-US" dirty="0" err="1"/>
              <a:t>Subsumption</a:t>
            </a:r>
            <a:endParaRPr lang="en-US" altLang="en-US" dirty="0"/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2874963" y="914400"/>
            <a:ext cx="6972300" cy="5454650"/>
            <a:chOff x="851" y="576"/>
            <a:chExt cx="4392" cy="3436"/>
          </a:xfrm>
        </p:grpSpPr>
        <p:sp>
          <p:nvSpPr>
            <p:cNvPr id="38919" name="Rectangle 4"/>
            <p:cNvSpPr>
              <a:spLocks noChangeArrowheads="1"/>
            </p:cNvSpPr>
            <p:nvPr/>
          </p:nvSpPr>
          <p:spPr bwMode="auto">
            <a:xfrm>
              <a:off x="3168" y="1610"/>
              <a:ext cx="255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latin typeface="Gill Sans MT" panose="020B0502020104020203" pitchFamily="34" charset="0"/>
              </a:endParaRPr>
            </a:p>
          </p:txBody>
        </p:sp>
        <p:grpSp>
          <p:nvGrpSpPr>
            <p:cNvPr id="38920" name="Group 10"/>
            <p:cNvGrpSpPr>
              <a:grpSpLocks/>
            </p:cNvGrpSpPr>
            <p:nvPr/>
          </p:nvGrpSpPr>
          <p:grpSpPr bwMode="auto">
            <a:xfrm>
              <a:off x="1982" y="3484"/>
              <a:ext cx="801" cy="526"/>
              <a:chOff x="2332" y="3448"/>
              <a:chExt cx="801" cy="526"/>
            </a:xfrm>
          </p:grpSpPr>
          <p:sp>
            <p:nvSpPr>
              <p:cNvPr id="38951" name="Text Box 11"/>
              <p:cNvSpPr txBox="1">
                <a:spLocks noChangeArrowheads="1"/>
              </p:cNvSpPr>
              <p:nvPr/>
            </p:nvSpPr>
            <p:spPr bwMode="auto">
              <a:xfrm>
                <a:off x="2332" y="3448"/>
                <a:ext cx="801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CC</a:t>
                </a:r>
              </a:p>
            </p:txBody>
          </p:sp>
          <p:sp>
            <p:nvSpPr>
              <p:cNvPr id="38952" name="Line 12"/>
              <p:cNvSpPr>
                <a:spLocks noChangeShapeType="1"/>
              </p:cNvSpPr>
              <p:nvPr/>
            </p:nvSpPr>
            <p:spPr bwMode="auto">
              <a:xfrm>
                <a:off x="2390" y="3771"/>
                <a:ext cx="6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21" name="Group 13"/>
            <p:cNvGrpSpPr>
              <a:grpSpLocks/>
            </p:cNvGrpSpPr>
            <p:nvPr/>
          </p:nvGrpSpPr>
          <p:grpSpPr bwMode="auto">
            <a:xfrm>
              <a:off x="3292" y="3486"/>
              <a:ext cx="780" cy="526"/>
              <a:chOff x="2342" y="2730"/>
              <a:chExt cx="780" cy="526"/>
            </a:xfrm>
          </p:grpSpPr>
          <p:sp>
            <p:nvSpPr>
              <p:cNvPr id="38949" name="Text Box 14"/>
              <p:cNvSpPr txBox="1">
                <a:spLocks noChangeArrowheads="1"/>
              </p:cNvSpPr>
              <p:nvPr/>
            </p:nvSpPr>
            <p:spPr bwMode="auto">
              <a:xfrm>
                <a:off x="2342" y="2730"/>
                <a:ext cx="780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Predicate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PC</a:t>
                </a:r>
              </a:p>
            </p:txBody>
          </p:sp>
          <p:sp>
            <p:nvSpPr>
              <p:cNvPr id="38950" name="Line 15"/>
              <p:cNvSpPr>
                <a:spLocks noChangeShapeType="1"/>
              </p:cNvSpPr>
              <p:nvPr/>
            </p:nvSpPr>
            <p:spPr bwMode="auto">
              <a:xfrm>
                <a:off x="2399" y="3053"/>
                <a:ext cx="66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22" name="Group 22"/>
            <p:cNvGrpSpPr>
              <a:grpSpLocks/>
            </p:cNvGrpSpPr>
            <p:nvPr/>
          </p:nvGrpSpPr>
          <p:grpSpPr bwMode="auto">
            <a:xfrm>
              <a:off x="2157" y="576"/>
              <a:ext cx="1434" cy="520"/>
              <a:chOff x="3049" y="576"/>
              <a:chExt cx="1283" cy="520"/>
            </a:xfrm>
          </p:grpSpPr>
          <p:sp>
            <p:nvSpPr>
              <p:cNvPr id="38947" name="Text Box 23"/>
              <p:cNvSpPr txBox="1">
                <a:spLocks noChangeArrowheads="1"/>
              </p:cNvSpPr>
              <p:nvPr/>
            </p:nvSpPr>
            <p:spPr bwMode="auto">
              <a:xfrm>
                <a:off x="3049" y="576"/>
                <a:ext cx="1283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Combinatorial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COC</a:t>
                </a:r>
              </a:p>
            </p:txBody>
          </p:sp>
          <p:sp>
            <p:nvSpPr>
              <p:cNvPr id="38948" name="Line 24"/>
              <p:cNvSpPr>
                <a:spLocks noChangeShapeType="1"/>
              </p:cNvSpPr>
              <p:nvPr/>
            </p:nvSpPr>
            <p:spPr bwMode="auto">
              <a:xfrm>
                <a:off x="3225" y="899"/>
                <a:ext cx="9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38923" name="Line 37"/>
            <p:cNvSpPr>
              <a:spLocks noChangeShapeType="1"/>
            </p:cNvSpPr>
            <p:nvPr/>
          </p:nvSpPr>
          <p:spPr bwMode="auto">
            <a:xfrm flipH="1">
              <a:off x="3768" y="2591"/>
              <a:ext cx="626" cy="8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24" name="Line 38"/>
            <p:cNvSpPr>
              <a:spLocks noChangeShapeType="1"/>
            </p:cNvSpPr>
            <p:nvPr/>
          </p:nvSpPr>
          <p:spPr bwMode="auto">
            <a:xfrm>
              <a:off x="2019" y="3289"/>
              <a:ext cx="180" cy="19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25" name="Line 39"/>
            <p:cNvSpPr>
              <a:spLocks noChangeShapeType="1"/>
            </p:cNvSpPr>
            <p:nvPr/>
          </p:nvSpPr>
          <p:spPr bwMode="auto">
            <a:xfrm>
              <a:off x="2062" y="2531"/>
              <a:ext cx="1352" cy="9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26" name="Line 41"/>
            <p:cNvSpPr>
              <a:spLocks noChangeShapeType="1"/>
            </p:cNvSpPr>
            <p:nvPr/>
          </p:nvSpPr>
          <p:spPr bwMode="auto">
            <a:xfrm>
              <a:off x="3273" y="1103"/>
              <a:ext cx="13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27" name="Line 46"/>
            <p:cNvSpPr>
              <a:spLocks noChangeShapeType="1"/>
            </p:cNvSpPr>
            <p:nvPr/>
          </p:nvSpPr>
          <p:spPr bwMode="auto">
            <a:xfrm>
              <a:off x="3989" y="1813"/>
              <a:ext cx="183" cy="2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grpSp>
          <p:nvGrpSpPr>
            <p:cNvPr id="38928" name="Group 19"/>
            <p:cNvGrpSpPr>
              <a:grpSpLocks/>
            </p:cNvGrpSpPr>
            <p:nvPr/>
          </p:nvGrpSpPr>
          <p:grpSpPr bwMode="auto">
            <a:xfrm>
              <a:off x="1397" y="1291"/>
              <a:ext cx="1265" cy="520"/>
              <a:chOff x="3115" y="1294"/>
              <a:chExt cx="1151" cy="520"/>
            </a:xfrm>
          </p:grpSpPr>
          <p:sp>
            <p:nvSpPr>
              <p:cNvPr id="38945" name="Text Box 20"/>
              <p:cNvSpPr txBox="1">
                <a:spLocks noChangeArrowheads="1"/>
              </p:cNvSpPr>
              <p:nvPr/>
            </p:nvSpPr>
            <p:spPr bwMode="auto">
              <a:xfrm>
                <a:off x="3115" y="1294"/>
                <a:ext cx="1151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Restricted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RACC</a:t>
                </a:r>
              </a:p>
            </p:txBody>
          </p:sp>
          <p:sp>
            <p:nvSpPr>
              <p:cNvPr id="38946" name="Line 21"/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29" name="Group 47"/>
            <p:cNvGrpSpPr>
              <a:grpSpLocks/>
            </p:cNvGrpSpPr>
            <p:nvPr/>
          </p:nvGrpSpPr>
          <p:grpSpPr bwMode="auto">
            <a:xfrm>
              <a:off x="2987" y="1290"/>
              <a:ext cx="1407" cy="520"/>
              <a:chOff x="3153" y="1294"/>
              <a:chExt cx="1150" cy="520"/>
            </a:xfrm>
          </p:grpSpPr>
          <p:sp>
            <p:nvSpPr>
              <p:cNvPr id="38943" name="Text Box 48"/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150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Restricted Inactive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 dirty="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RICC</a:t>
                </a:r>
              </a:p>
            </p:txBody>
          </p:sp>
          <p:sp>
            <p:nvSpPr>
              <p:cNvPr id="38944" name="Line 49"/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30" name="Group 53"/>
            <p:cNvGrpSpPr>
              <a:grpSpLocks/>
            </p:cNvGrpSpPr>
            <p:nvPr/>
          </p:nvGrpSpPr>
          <p:grpSpPr bwMode="auto">
            <a:xfrm>
              <a:off x="851" y="2769"/>
              <a:ext cx="1308" cy="526"/>
              <a:chOff x="3153" y="1294"/>
              <a:chExt cx="1092" cy="526"/>
            </a:xfrm>
          </p:grpSpPr>
          <p:sp>
            <p:nvSpPr>
              <p:cNvPr id="38941" name="Text Box 54"/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General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GACC</a:t>
                </a:r>
              </a:p>
            </p:txBody>
          </p:sp>
          <p:sp>
            <p:nvSpPr>
              <p:cNvPr id="38942" name="Line 55"/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31" name="Group 50"/>
            <p:cNvGrpSpPr>
              <a:grpSpLocks/>
            </p:cNvGrpSpPr>
            <p:nvPr/>
          </p:nvGrpSpPr>
          <p:grpSpPr bwMode="auto">
            <a:xfrm>
              <a:off x="1009" y="2006"/>
              <a:ext cx="1379" cy="520"/>
              <a:chOff x="3094" y="1294"/>
              <a:chExt cx="1151" cy="520"/>
            </a:xfrm>
          </p:grpSpPr>
          <p:sp>
            <p:nvSpPr>
              <p:cNvPr id="38939" name="Text Box 51"/>
              <p:cNvSpPr txBox="1">
                <a:spLocks noChangeArrowheads="1"/>
              </p:cNvSpPr>
              <p:nvPr/>
            </p:nvSpPr>
            <p:spPr bwMode="auto">
              <a:xfrm>
                <a:off x="3094" y="1294"/>
                <a:ext cx="1151" cy="520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squar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Correlated 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CACC</a:t>
                </a:r>
              </a:p>
            </p:txBody>
          </p:sp>
          <p:sp>
            <p:nvSpPr>
              <p:cNvPr id="38940" name="Line 52"/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grpSp>
          <p:nvGrpSpPr>
            <p:cNvPr id="38932" name="Group 56"/>
            <p:cNvGrpSpPr>
              <a:grpSpLocks/>
            </p:cNvGrpSpPr>
            <p:nvPr/>
          </p:nvGrpSpPr>
          <p:grpSpPr bwMode="auto">
            <a:xfrm>
              <a:off x="3935" y="2054"/>
              <a:ext cx="1308" cy="526"/>
              <a:chOff x="3153" y="1294"/>
              <a:chExt cx="1092" cy="526"/>
            </a:xfrm>
          </p:grpSpPr>
          <p:sp>
            <p:nvSpPr>
              <p:cNvPr id="38937" name="Text Box 57"/>
              <p:cNvSpPr txBox="1">
                <a:spLocks noChangeArrowheads="1"/>
              </p:cNvSpPr>
              <p:nvPr/>
            </p:nvSpPr>
            <p:spPr bwMode="auto">
              <a:xfrm>
                <a:off x="3153" y="1294"/>
                <a:ext cx="1092" cy="526"/>
              </a:xfrm>
              <a:prstGeom prst="rect">
                <a:avLst/>
              </a:prstGeom>
              <a:solidFill>
                <a:srgbClr val="0066FF"/>
              </a:solidFill>
              <a:ln w="2857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General Inactive Clause Coverage</a:t>
                </a:r>
              </a:p>
              <a:p>
                <a:pPr algn="ctr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  <a:latin typeface="Gill Sans MT" panose="020B0502020104020203" pitchFamily="34" charset="0"/>
                  </a:rPr>
                  <a:t>GICC</a:t>
                </a:r>
              </a:p>
            </p:txBody>
          </p:sp>
          <p:sp>
            <p:nvSpPr>
              <p:cNvPr id="38938" name="Line 58"/>
              <p:cNvSpPr>
                <a:spLocks noChangeShapeType="1"/>
              </p:cNvSpPr>
              <p:nvPr/>
            </p:nvSpPr>
            <p:spPr bwMode="auto">
              <a:xfrm>
                <a:off x="3233" y="1617"/>
                <a:ext cx="9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38933" name="Line 63"/>
            <p:cNvSpPr>
              <a:spLocks noChangeShapeType="1"/>
            </p:cNvSpPr>
            <p:nvPr/>
          </p:nvSpPr>
          <p:spPr bwMode="auto">
            <a:xfrm flipH="1">
              <a:off x="2313" y="1106"/>
              <a:ext cx="188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34" name="Line 65"/>
            <p:cNvSpPr>
              <a:spLocks noChangeShapeType="1"/>
            </p:cNvSpPr>
            <p:nvPr/>
          </p:nvSpPr>
          <p:spPr bwMode="auto">
            <a:xfrm flipH="1">
              <a:off x="1811" y="1821"/>
              <a:ext cx="184" cy="1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35" name="Line 66"/>
            <p:cNvSpPr>
              <a:spLocks noChangeShapeType="1"/>
            </p:cNvSpPr>
            <p:nvPr/>
          </p:nvSpPr>
          <p:spPr bwMode="auto">
            <a:xfrm flipH="1">
              <a:off x="1518" y="2529"/>
              <a:ext cx="198" cy="2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38936" name="Line 67"/>
            <p:cNvSpPr>
              <a:spLocks noChangeShapeType="1"/>
            </p:cNvSpPr>
            <p:nvPr/>
          </p:nvSpPr>
          <p:spPr bwMode="auto">
            <a:xfrm flipH="1">
              <a:off x="2565" y="2580"/>
              <a:ext cx="1499" cy="8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6C666-F9B9-447D-AAE5-D3A5AA02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GACC</a:t>
            </a:r>
            <a:r>
              <a:rPr lang="zh-CN" altLang="en-US" dirty="0"/>
              <a:t>不能包含</a:t>
            </a:r>
            <a:r>
              <a:rPr lang="en-US" altLang="zh-CN" dirty="0"/>
              <a:t>PC</a:t>
            </a:r>
            <a:r>
              <a:rPr lang="zh-CN" altLang="en-US" dirty="0"/>
              <a:t>的例子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A0CA3F-7363-4EED-B971-AD3CBD065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dirty="0"/>
              <a:t>对于有异或运算的谓词表达式，如</a:t>
            </a:r>
            <a:r>
              <a:rPr lang="en-US" altLang="zh-CN" dirty="0"/>
              <a:t>p = a </a:t>
            </a:r>
            <a:r>
              <a:rPr lang="zh-CN" altLang="zh-CN" dirty="0"/>
              <a:t>⊕</a:t>
            </a:r>
            <a:r>
              <a:rPr lang="en-US" altLang="zh-CN" dirty="0"/>
              <a:t> b</a:t>
            </a:r>
            <a:r>
              <a:rPr lang="zh-CN" altLang="zh-CN" dirty="0"/>
              <a:t>，</a:t>
            </a:r>
            <a:r>
              <a:rPr lang="en-US" altLang="zh-CN" dirty="0"/>
              <a:t>GACC</a:t>
            </a:r>
            <a:r>
              <a:rPr lang="zh-CN" altLang="zh-CN" dirty="0"/>
              <a:t>能包含谓词覆盖</a:t>
            </a:r>
            <a:r>
              <a:rPr lang="en-US" altLang="zh-CN" dirty="0"/>
              <a:t> PC</a:t>
            </a:r>
            <a:r>
              <a:rPr lang="zh-CN" altLang="zh-CN" dirty="0"/>
              <a:t>吗？请给出理由。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对子句</a:t>
            </a:r>
            <a:r>
              <a:rPr lang="en-US" altLang="zh-CN" dirty="0"/>
              <a:t>a</a:t>
            </a:r>
            <a:r>
              <a:rPr lang="zh-CN" altLang="zh-CN" dirty="0"/>
              <a:t>，</a:t>
            </a:r>
            <a:r>
              <a:rPr lang="en-US" altLang="zh-CN" dirty="0"/>
              <a:t>GACC</a:t>
            </a:r>
            <a:r>
              <a:rPr lang="zh-CN" altLang="zh-CN" dirty="0"/>
              <a:t>测试需求为</a:t>
            </a:r>
            <a:r>
              <a:rPr lang="en-US" altLang="zh-CN" dirty="0"/>
              <a:t>{1, 2}</a:t>
            </a:r>
            <a:r>
              <a:rPr lang="zh-CN" altLang="zh-CN" dirty="0"/>
              <a:t>×</a:t>
            </a:r>
            <a:r>
              <a:rPr lang="en-US" altLang="zh-CN" dirty="0"/>
              <a:t>{3, 4}</a:t>
            </a:r>
            <a:r>
              <a:rPr lang="zh-CN" altLang="zh-CN" dirty="0"/>
              <a:t>，即</a:t>
            </a:r>
            <a:r>
              <a:rPr lang="en-US" altLang="zh-CN" dirty="0"/>
              <a:t>(1, 3), (1, 4) , (2, 3), (2, 4)</a:t>
            </a:r>
            <a:r>
              <a:rPr lang="zh-CN" altLang="zh-CN" dirty="0"/>
              <a:t>。</a:t>
            </a:r>
            <a:r>
              <a:rPr lang="en-US" altLang="zh-CN" dirty="0"/>
              <a:t>CACC</a:t>
            </a:r>
            <a:r>
              <a:rPr lang="zh-CN" altLang="zh-CN" dirty="0"/>
              <a:t>测试需求为</a:t>
            </a:r>
            <a:r>
              <a:rPr lang="en-US" altLang="zh-CN" dirty="0"/>
              <a:t>(1, 3), (2, 4)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zh-CN" altLang="zh-CN" dirty="0"/>
              <a:t>对子句</a:t>
            </a:r>
            <a:r>
              <a:rPr lang="en-US" altLang="zh-CN" dirty="0"/>
              <a:t>b</a:t>
            </a:r>
            <a:r>
              <a:rPr lang="zh-CN" altLang="zh-CN" dirty="0"/>
              <a:t>，</a:t>
            </a:r>
            <a:r>
              <a:rPr lang="en-US" altLang="zh-CN" dirty="0"/>
              <a:t>GACC</a:t>
            </a:r>
            <a:r>
              <a:rPr lang="zh-CN" altLang="zh-CN" dirty="0"/>
              <a:t>测试需求为</a:t>
            </a:r>
            <a:r>
              <a:rPr lang="en-US" altLang="zh-CN" dirty="0"/>
              <a:t>{1, 3}</a:t>
            </a:r>
            <a:r>
              <a:rPr lang="zh-CN" altLang="zh-CN" dirty="0"/>
              <a:t>×</a:t>
            </a:r>
            <a:r>
              <a:rPr lang="en-US" altLang="zh-CN" dirty="0"/>
              <a:t>{2, 4}</a:t>
            </a:r>
            <a:r>
              <a:rPr lang="zh-CN" altLang="zh-CN" dirty="0"/>
              <a:t>，即</a:t>
            </a:r>
            <a:r>
              <a:rPr lang="en-US" altLang="zh-CN" dirty="0"/>
              <a:t>(1, 2), (1, 4) , (3, 2), (3, 4)</a:t>
            </a:r>
            <a:r>
              <a:rPr lang="zh-CN" altLang="zh-CN" dirty="0"/>
              <a:t>。</a:t>
            </a:r>
            <a:r>
              <a:rPr lang="en-US" altLang="zh-CN" dirty="0"/>
              <a:t>CACC</a:t>
            </a:r>
            <a:r>
              <a:rPr lang="zh-CN" altLang="zh-CN" dirty="0"/>
              <a:t>测试需求为</a:t>
            </a:r>
            <a:r>
              <a:rPr lang="en-US" altLang="zh-CN" dirty="0"/>
              <a:t>(1, 2), (3, 4)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zh-CN" altLang="zh-CN" dirty="0"/>
              <a:t>若选择行对（</a:t>
            </a:r>
            <a:r>
              <a:rPr lang="en-US" altLang="zh-CN" dirty="0"/>
              <a:t>1</a:t>
            </a:r>
            <a:r>
              <a:rPr lang="zh-CN" altLang="zh-CN" dirty="0"/>
              <a:t>，</a:t>
            </a:r>
            <a:r>
              <a:rPr lang="en-US" altLang="zh-CN" dirty="0"/>
              <a:t>4</a:t>
            </a:r>
            <a:r>
              <a:rPr lang="zh-CN" altLang="zh-CN" dirty="0"/>
              <a:t>）或（</a:t>
            </a:r>
            <a:r>
              <a:rPr lang="en-US" altLang="zh-CN" dirty="0"/>
              <a:t>2</a:t>
            </a:r>
            <a:r>
              <a:rPr lang="zh-CN" altLang="zh-CN" dirty="0"/>
              <a:t>，</a:t>
            </a:r>
            <a:r>
              <a:rPr lang="en-US" altLang="zh-CN" dirty="0"/>
              <a:t>3</a:t>
            </a:r>
            <a:r>
              <a:rPr lang="zh-CN" altLang="zh-CN" dirty="0"/>
              <a:t>）即可满足</a:t>
            </a:r>
            <a:r>
              <a:rPr lang="en-US" altLang="zh-CN" dirty="0"/>
              <a:t>GACC</a:t>
            </a:r>
            <a:r>
              <a:rPr lang="zh-CN" altLang="zh-CN" dirty="0"/>
              <a:t>，但无法满足</a:t>
            </a:r>
            <a:r>
              <a:rPr lang="en-US" altLang="zh-CN" dirty="0"/>
              <a:t>PC</a:t>
            </a:r>
            <a:r>
              <a:rPr lang="zh-CN" altLang="zh-CN" dirty="0"/>
              <a:t>（因此也无法满足</a:t>
            </a:r>
            <a:r>
              <a:rPr lang="en-US" altLang="zh-CN" dirty="0"/>
              <a:t>CACC</a:t>
            </a:r>
            <a:r>
              <a:rPr lang="zh-CN" altLang="zh-CN" dirty="0"/>
              <a:t>）。</a:t>
            </a:r>
          </a:p>
          <a:p>
            <a:endParaRPr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EACA1D4-92C1-4FC1-8ECE-B545BEF3F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88746"/>
              </p:ext>
            </p:extLst>
          </p:nvPr>
        </p:nvGraphicFramePr>
        <p:xfrm>
          <a:off x="3770898" y="1842492"/>
          <a:ext cx="3918911" cy="1586510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653152">
                  <a:extLst>
                    <a:ext uri="{9D8B030D-6E8A-4147-A177-3AD203B41FA5}">
                      <a16:colId xmlns:a16="http://schemas.microsoft.com/office/drawing/2014/main" val="1952372936"/>
                    </a:ext>
                  </a:extLst>
                </a:gridCol>
                <a:gridCol w="348477">
                  <a:extLst>
                    <a:ext uri="{9D8B030D-6E8A-4147-A177-3AD203B41FA5}">
                      <a16:colId xmlns:a16="http://schemas.microsoft.com/office/drawing/2014/main" val="76832651"/>
                    </a:ext>
                  </a:extLst>
                </a:gridCol>
                <a:gridCol w="460208">
                  <a:extLst>
                    <a:ext uri="{9D8B030D-6E8A-4147-A177-3AD203B41FA5}">
                      <a16:colId xmlns:a16="http://schemas.microsoft.com/office/drawing/2014/main" val="4128469355"/>
                    </a:ext>
                  </a:extLst>
                </a:gridCol>
                <a:gridCol w="1150770">
                  <a:extLst>
                    <a:ext uri="{9D8B030D-6E8A-4147-A177-3AD203B41FA5}">
                      <a16:colId xmlns:a16="http://schemas.microsoft.com/office/drawing/2014/main" val="3065631651"/>
                    </a:ext>
                  </a:extLst>
                </a:gridCol>
                <a:gridCol w="653152">
                  <a:extLst>
                    <a:ext uri="{9D8B030D-6E8A-4147-A177-3AD203B41FA5}">
                      <a16:colId xmlns:a16="http://schemas.microsoft.com/office/drawing/2014/main" val="496980248"/>
                    </a:ext>
                  </a:extLst>
                </a:gridCol>
                <a:gridCol w="653152">
                  <a:extLst>
                    <a:ext uri="{9D8B030D-6E8A-4147-A177-3AD203B41FA5}">
                      <a16:colId xmlns:a16="http://schemas.microsoft.com/office/drawing/2014/main" val="4076665427"/>
                    </a:ext>
                  </a:extLst>
                </a:gridCol>
              </a:tblGrid>
              <a:tr h="3173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No.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b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 = a </a:t>
                      </a:r>
                      <a:r>
                        <a:rPr lang="zh-CN" sz="1800" kern="100">
                          <a:effectLst/>
                        </a:rPr>
                        <a:t>⊕</a:t>
                      </a:r>
                      <a:r>
                        <a:rPr lang="en-US" sz="1800" kern="100">
                          <a:effectLst/>
                        </a:rPr>
                        <a:t> b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pa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pb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837900203"/>
                  </a:ext>
                </a:extLst>
              </a:tr>
              <a:tr h="3173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955088183"/>
                  </a:ext>
                </a:extLst>
              </a:tr>
              <a:tr h="3173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27369798"/>
                  </a:ext>
                </a:extLst>
              </a:tr>
              <a:tr h="3173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078295108"/>
                  </a:ext>
                </a:extLst>
              </a:tr>
              <a:tr h="31730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F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T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04816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0274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Making Clauses Determine</a:t>
            </a:r>
            <a:r>
              <a:rPr lang="en-US" altLang="en-US" sz="2800" dirty="0"/>
              <a:t> a </a:t>
            </a:r>
            <a:r>
              <a:rPr lang="en-US" altLang="en-US" sz="3200" dirty="0"/>
              <a:t>Predicate </a:t>
            </a:r>
            <a:r>
              <a:rPr lang="en-US" altLang="zh-CN" sz="3200" dirty="0"/>
              <a:t>(8.1.5)</a:t>
            </a:r>
            <a:endParaRPr lang="en-US" altLang="en-US" sz="3200" dirty="0"/>
          </a:p>
        </p:txBody>
      </p:sp>
      <p:sp>
        <p:nvSpPr>
          <p:cNvPr id="399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Finding values for minor clauses </a:t>
            </a:r>
            <a:r>
              <a:rPr lang="en-US" altLang="en-US" i="1" dirty="0" err="1">
                <a:solidFill>
                  <a:schemeClr val="tx2"/>
                </a:solidFill>
              </a:rPr>
              <a:t>c</a:t>
            </a:r>
            <a:r>
              <a:rPr lang="en-US" altLang="en-US" i="1" baseline="-25000" dirty="0" err="1">
                <a:solidFill>
                  <a:schemeClr val="tx2"/>
                </a:solidFill>
              </a:rPr>
              <a:t>j</a:t>
            </a:r>
            <a:r>
              <a:rPr lang="en-US" altLang="en-US" dirty="0"/>
              <a:t> is easy for simple predicates</a:t>
            </a:r>
          </a:p>
          <a:p>
            <a:r>
              <a:rPr lang="en-US" altLang="en-US" dirty="0"/>
              <a:t>But how to find values for more complicated predicates ?</a:t>
            </a:r>
          </a:p>
          <a:p>
            <a:r>
              <a:rPr lang="en-US" altLang="en-US" dirty="0"/>
              <a:t>Definitional approach:</a:t>
            </a:r>
          </a:p>
          <a:p>
            <a:pPr lvl="1"/>
            <a:r>
              <a:rPr lang="en-US" altLang="en-US" i="1" dirty="0">
                <a:solidFill>
                  <a:schemeClr val="tx2"/>
                </a:solidFill>
              </a:rPr>
              <a:t>p</a:t>
            </a:r>
            <a:r>
              <a:rPr lang="en-US" altLang="en-US" sz="2800" i="1" baseline="-25000" dirty="0">
                <a:solidFill>
                  <a:schemeClr val="tx2"/>
                </a:solidFill>
              </a:rPr>
              <a:t>c=true</a:t>
            </a:r>
            <a:r>
              <a:rPr lang="en-US" altLang="en-US" dirty="0"/>
              <a:t> is predicate </a:t>
            </a:r>
            <a:r>
              <a:rPr lang="en-US" altLang="en-US" i="1" dirty="0"/>
              <a:t>p</a:t>
            </a:r>
            <a:r>
              <a:rPr lang="en-US" altLang="en-US" dirty="0"/>
              <a:t> with every occurrence of </a:t>
            </a:r>
            <a:r>
              <a:rPr lang="en-US" altLang="en-US" i="1" dirty="0"/>
              <a:t>c</a:t>
            </a:r>
            <a:r>
              <a:rPr lang="en-US" altLang="en-US" dirty="0"/>
              <a:t> replaced by </a:t>
            </a:r>
            <a:r>
              <a:rPr lang="en-US" altLang="en-US" i="1" dirty="0">
                <a:solidFill>
                  <a:schemeClr val="tx2"/>
                </a:solidFill>
              </a:rPr>
              <a:t>true</a:t>
            </a:r>
          </a:p>
          <a:p>
            <a:pPr lvl="1"/>
            <a:r>
              <a:rPr lang="en-US" altLang="en-US" i="1" dirty="0">
                <a:solidFill>
                  <a:schemeClr val="tx2"/>
                </a:solidFill>
              </a:rPr>
              <a:t>p</a:t>
            </a:r>
            <a:r>
              <a:rPr lang="en-US" altLang="en-US" sz="2800" i="1" baseline="-25000" dirty="0">
                <a:solidFill>
                  <a:schemeClr val="tx2"/>
                </a:solidFill>
              </a:rPr>
              <a:t>c=false</a:t>
            </a:r>
            <a:r>
              <a:rPr lang="en-US" altLang="en-US" dirty="0"/>
              <a:t> is predicate </a:t>
            </a:r>
            <a:r>
              <a:rPr lang="en-US" altLang="en-US" i="1" dirty="0"/>
              <a:t>p</a:t>
            </a:r>
            <a:r>
              <a:rPr lang="en-US" altLang="en-US" dirty="0"/>
              <a:t> with every occurrence of </a:t>
            </a:r>
            <a:r>
              <a:rPr lang="en-US" altLang="en-US" i="1" dirty="0"/>
              <a:t>c</a:t>
            </a:r>
            <a:r>
              <a:rPr lang="en-US" altLang="en-US" dirty="0"/>
              <a:t> replaced by </a:t>
            </a:r>
            <a:r>
              <a:rPr lang="en-US" altLang="en-US" i="1" dirty="0">
                <a:solidFill>
                  <a:schemeClr val="tx2"/>
                </a:solidFill>
              </a:rPr>
              <a:t>false</a:t>
            </a:r>
          </a:p>
          <a:p>
            <a:r>
              <a:rPr lang="en-US" altLang="en-US" dirty="0"/>
              <a:t>To find values for the minor clauses, connect </a:t>
            </a:r>
            <a:r>
              <a:rPr lang="en-US" altLang="en-US" i="1" dirty="0">
                <a:solidFill>
                  <a:schemeClr val="tx2"/>
                </a:solidFill>
              </a:rPr>
              <a:t>p</a:t>
            </a:r>
            <a:r>
              <a:rPr lang="en-US" altLang="en-US" sz="3600" i="1" baseline="-25000" dirty="0">
                <a:solidFill>
                  <a:schemeClr val="tx2"/>
                </a:solidFill>
              </a:rPr>
              <a:t>c=true</a:t>
            </a:r>
            <a:r>
              <a:rPr lang="en-US" altLang="en-US" dirty="0"/>
              <a:t> and </a:t>
            </a:r>
            <a:r>
              <a:rPr lang="en-US" altLang="en-US" i="1" dirty="0">
                <a:solidFill>
                  <a:schemeClr val="tx2"/>
                </a:solidFill>
              </a:rPr>
              <a:t>p</a:t>
            </a:r>
            <a:r>
              <a:rPr lang="en-US" altLang="en-US" sz="3600" i="1" baseline="-25000" dirty="0">
                <a:solidFill>
                  <a:schemeClr val="tx2"/>
                </a:solidFill>
              </a:rPr>
              <a:t>c=false</a:t>
            </a:r>
            <a:r>
              <a:rPr lang="en-US" altLang="en-US" dirty="0"/>
              <a:t> with exclusive </a:t>
            </a:r>
            <a:r>
              <a:rPr lang="en-US" altLang="en-US" i="1" dirty="0"/>
              <a:t>OR</a:t>
            </a:r>
          </a:p>
          <a:p>
            <a:pPr algn="ctr">
              <a:buFontTx/>
              <a:buNone/>
            </a:pPr>
            <a:r>
              <a:rPr lang="en-US" altLang="en-US" i="1" dirty="0">
                <a:solidFill>
                  <a:srgbClr val="33CC33"/>
                </a:solidFill>
              </a:rPr>
              <a:t>p</a:t>
            </a:r>
            <a:r>
              <a:rPr lang="en-US" altLang="en-US" sz="3600" i="1" baseline="-25000" dirty="0">
                <a:solidFill>
                  <a:srgbClr val="33CC33"/>
                </a:solidFill>
              </a:rPr>
              <a:t>c</a:t>
            </a:r>
            <a:r>
              <a:rPr lang="en-US" altLang="en-US" i="1" dirty="0">
                <a:solidFill>
                  <a:srgbClr val="33CC33"/>
                </a:solidFill>
              </a:rPr>
              <a:t>  =  p</a:t>
            </a:r>
            <a:r>
              <a:rPr lang="en-US" altLang="en-US" sz="3600" i="1" baseline="-25000" dirty="0">
                <a:solidFill>
                  <a:srgbClr val="33CC33"/>
                </a:solidFill>
              </a:rPr>
              <a:t>c=true</a:t>
            </a:r>
            <a:r>
              <a:rPr lang="en-US" altLang="en-US" i="1" dirty="0">
                <a:solidFill>
                  <a:srgbClr val="33CC33"/>
                </a:solidFill>
              </a:rPr>
              <a:t> </a:t>
            </a:r>
            <a:r>
              <a:rPr lang="en-US" altLang="en-US" dirty="0">
                <a:solidFill>
                  <a:srgbClr val="33CC33"/>
                </a:solidFill>
                <a:cs typeface="Times New Roman" pitchFamily="18" charset="0"/>
                <a:sym typeface="Symbol" pitchFamily="18" charset="2"/>
              </a:rPr>
              <a:t></a:t>
            </a:r>
            <a:r>
              <a:rPr lang="en-US" altLang="en-US" i="1" dirty="0">
                <a:solidFill>
                  <a:srgbClr val="33CC33"/>
                </a:solidFill>
              </a:rPr>
              <a:t> p</a:t>
            </a:r>
            <a:r>
              <a:rPr lang="en-US" altLang="en-US" sz="3600" i="1" baseline="-25000" dirty="0">
                <a:solidFill>
                  <a:srgbClr val="33CC33"/>
                </a:solidFill>
              </a:rPr>
              <a:t>c=false</a:t>
            </a:r>
          </a:p>
          <a:p>
            <a:r>
              <a:rPr lang="en-US" altLang="en-US" dirty="0"/>
              <a:t>After solving, </a:t>
            </a:r>
            <a:r>
              <a:rPr lang="en-US" altLang="en-US" i="1" dirty="0"/>
              <a:t> </a:t>
            </a:r>
            <a:r>
              <a:rPr lang="en-US" altLang="en-US" i="1" dirty="0">
                <a:solidFill>
                  <a:schemeClr val="tx2"/>
                </a:solidFill>
              </a:rPr>
              <a:t>p</a:t>
            </a:r>
            <a:r>
              <a:rPr lang="en-US" altLang="en-US" sz="3600" i="1" baseline="-25000" dirty="0">
                <a:solidFill>
                  <a:schemeClr val="tx2"/>
                </a:solidFill>
              </a:rPr>
              <a:t>c</a:t>
            </a:r>
            <a:r>
              <a:rPr lang="en-US" altLang="en-US" dirty="0"/>
              <a:t> describes exactly the values needed for </a:t>
            </a:r>
            <a:r>
              <a:rPr lang="en-US" altLang="en-US" i="1" dirty="0">
                <a:solidFill>
                  <a:schemeClr val="tx2"/>
                </a:solidFill>
              </a:rPr>
              <a:t>c</a:t>
            </a:r>
            <a:r>
              <a:rPr lang="en-US" altLang="en-US" dirty="0"/>
              <a:t> to determine </a:t>
            </a:r>
            <a:r>
              <a:rPr lang="en-US" altLang="en-US" i="1" dirty="0">
                <a:solidFill>
                  <a:schemeClr val="tx2"/>
                </a:solidFill>
              </a:rPr>
              <a:t>p</a:t>
            </a:r>
          </a:p>
          <a:p>
            <a:pPr lvl="1"/>
            <a:endParaRPr lang="en-US" altLang="en-US" dirty="0"/>
          </a:p>
        </p:txBody>
      </p:sp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6AE7931-777E-43AE-908C-FC9872148F58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8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F8DDD66-CEAF-4B9B-BDCA-DA1FE29DFF6A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9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1773238" y="1095375"/>
            <a:ext cx="4032250" cy="181588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b="0" u="sng" dirty="0">
                <a:latin typeface="Gill Sans MT" panose="020B0502020104020203" pitchFamily="34" charset="0"/>
              </a:rPr>
              <a:t>p =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b="0" u="sng" dirty="0">
                <a:latin typeface="Gill Sans MT" panose="020B0502020104020203" pitchFamily="34" charset="0"/>
              </a:rPr>
              <a:t> b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= 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a=true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b="0" dirty="0">
                <a:latin typeface="Gill Sans MT" panose="020B0502020104020203" pitchFamily="34" charset="0"/>
              </a:rPr>
              <a:t> 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a=false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(true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b)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XOR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(false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b)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true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XOR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b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</a:p>
        </p:txBody>
      </p:sp>
      <p:sp>
        <p:nvSpPr>
          <p:cNvPr id="226311" name="Text Box 7"/>
          <p:cNvSpPr txBox="1">
            <a:spLocks noChangeArrowheads="1"/>
          </p:cNvSpPr>
          <p:nvPr/>
        </p:nvSpPr>
        <p:spPr bwMode="auto">
          <a:xfrm>
            <a:off x="6056313" y="1095375"/>
            <a:ext cx="4362450" cy="183845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b="0" u="sng" dirty="0">
                <a:latin typeface="Gill Sans MT" panose="020B0502020104020203" pitchFamily="34" charset="0"/>
              </a:rPr>
              <a:t>p =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b="0" u="sng" dirty="0">
                <a:latin typeface="Gill Sans MT" panose="020B0502020104020203" pitchFamily="34" charset="0"/>
              </a:rPr>
              <a:t> b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32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= 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a=true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b="0" dirty="0">
                <a:latin typeface="Gill Sans MT" panose="020B0502020104020203" pitchFamily="34" charset="0"/>
              </a:rPr>
              <a:t> 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a=false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(true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b)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(false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b)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b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b="0" dirty="0">
                <a:latin typeface="Gill Sans MT" panose="020B0502020104020203" pitchFamily="34" charset="0"/>
              </a:rPr>
              <a:t> 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false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b</a:t>
            </a:r>
          </a:p>
        </p:txBody>
      </p:sp>
      <p:sp>
        <p:nvSpPr>
          <p:cNvPr id="226312" name="Text Box 8"/>
          <p:cNvSpPr txBox="1">
            <a:spLocks noChangeArrowheads="1"/>
          </p:cNvSpPr>
          <p:nvPr/>
        </p:nvSpPr>
        <p:spPr bwMode="auto">
          <a:xfrm>
            <a:off x="3027364" y="3163888"/>
            <a:ext cx="6135687" cy="2154436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b="0" u="sng" dirty="0">
                <a:latin typeface="Gill Sans MT" panose="020B0502020104020203" pitchFamily="34" charset="0"/>
              </a:rPr>
              <a:t>p =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b="0" u="sng" dirty="0">
                <a:latin typeface="Gill Sans MT" panose="020B0502020104020203" pitchFamily="34" charset="0"/>
              </a:rPr>
              <a:t> (b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b="0" u="sng" dirty="0">
                <a:latin typeface="Gill Sans MT" panose="020B0502020104020203" pitchFamily="34" charset="0"/>
              </a:rPr>
              <a:t> c)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= 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a=true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b="0" dirty="0">
                <a:latin typeface="Gill Sans MT" panose="020B0502020104020203" pitchFamily="34" charset="0"/>
              </a:rPr>
              <a:t> 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="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a=false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(true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(b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c))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(false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(b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c))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true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(b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c)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¬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(b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c)</a:t>
            </a:r>
          </a:p>
          <a:p>
            <a:pPr>
              <a:spcBef>
                <a:spcPct val="10000"/>
              </a:spcBef>
            </a:pP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b="0" dirty="0">
                <a:latin typeface="Gill Sans MT" panose="020B0502020104020203" pitchFamily="34" charset="0"/>
              </a:rPr>
              <a:t> 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b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</a:p>
        </p:txBody>
      </p:sp>
      <p:sp>
        <p:nvSpPr>
          <p:cNvPr id="226313" name="Text Box 9"/>
          <p:cNvSpPr txBox="1">
            <a:spLocks noChangeArrowheads="1"/>
          </p:cNvSpPr>
          <p:nvPr/>
        </p:nvSpPr>
        <p:spPr bwMode="auto">
          <a:xfrm>
            <a:off x="1773239" y="5522913"/>
            <a:ext cx="8645525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“</a:t>
            </a:r>
            <a:r>
              <a:rPr lang="en-US" altLang="en-US" i="1" dirty="0">
                <a:solidFill>
                  <a:schemeClr val="tx2"/>
                </a:solidFill>
                <a:latin typeface="Gill Sans MT" panose="020B0502020104020203" pitchFamily="34" charset="0"/>
              </a:rPr>
              <a:t>NOT b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i="1" dirty="0">
                <a:solidFill>
                  <a:schemeClr val="tx2"/>
                </a:solidFill>
                <a:latin typeface="Gill Sans MT" panose="020B0502020104020203" pitchFamily="34" charset="0"/>
              </a:rPr>
              <a:t>NOT c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” means either </a:t>
            </a:r>
            <a:r>
              <a:rPr lang="en-US" altLang="en-US" i="1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or </a:t>
            </a:r>
            <a:r>
              <a:rPr lang="en-US" altLang="en-US" i="1" dirty="0">
                <a:solidFill>
                  <a:schemeClr val="tx1"/>
                </a:solidFill>
                <a:latin typeface="Gill Sans MT" panose="020B0502020104020203" pitchFamily="34" charset="0"/>
              </a:rPr>
              <a:t>c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can be false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RACC requires the same choice for both values of </a:t>
            </a:r>
            <a:r>
              <a:rPr lang="en-US" altLang="en-US" i="1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,  CACC does not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9" grpId="0" build="p" animBg="1"/>
      <p:bldP spid="226311" grpId="0" build="p" animBg="1"/>
      <p:bldP spid="226312" grpId="0" build="p" animBg="1"/>
      <p:bldP spid="22631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Identity Rules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430308" y="1076242"/>
            <a:ext cx="73394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Exclusive-OR (</a:t>
            </a:r>
            <a:r>
              <a:rPr lang="en-US" sz="2800" b="0" i="1" dirty="0" err="1">
                <a:solidFill>
                  <a:schemeClr val="tx2"/>
                </a:solidFill>
                <a:latin typeface="Gill Sans MT" panose="020B0502020104020203" pitchFamily="34" charset="0"/>
              </a:rPr>
              <a:t>xor</a:t>
            </a:r>
            <a:r>
              <a:rPr lang="en-US" sz="2800" b="0" i="1" dirty="0">
                <a:solidFill>
                  <a:schemeClr val="tx2"/>
                </a:solidFill>
                <a:latin typeface="Gill Sans MT" panose="020B0502020104020203" pitchFamily="34" charset="0"/>
              </a:rPr>
              <a:t>, </a:t>
            </a:r>
            <a:r>
              <a:rPr lang="en-US" altLang="en-US" sz="2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) means both cannot be true</a:t>
            </a:r>
          </a:p>
          <a:p>
            <a:pPr algn="ctr"/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That is, A </a:t>
            </a:r>
            <a:r>
              <a:rPr lang="en-US" sz="28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xor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 B means</a:t>
            </a:r>
          </a:p>
          <a:p>
            <a:pPr algn="ctr"/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“</a:t>
            </a:r>
            <a:r>
              <a:rPr lang="en-US" sz="2800" b="0" i="1" dirty="0">
                <a:solidFill>
                  <a:schemeClr val="tx2"/>
                </a:solidFill>
                <a:latin typeface="Gill Sans MT" panose="020B0502020104020203" pitchFamily="34" charset="0"/>
              </a:rPr>
              <a:t>A or B is true, but not both</a:t>
            </a:r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”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810885" y="2870491"/>
            <a:ext cx="2016125" cy="86793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p =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b</a:t>
            </a:r>
            <a:endParaRPr lang="en-US" altLang="en-US" sz="3200" b="0" baseline="-250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¬ b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345786" y="2870491"/>
            <a:ext cx="2016125" cy="86793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p =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b</a:t>
            </a:r>
            <a:endParaRPr lang="en-US" altLang="en-US" sz="3200" b="0" baseline="-250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¬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b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182867" y="4884058"/>
            <a:ext cx="2667070" cy="86793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p = A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xor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(A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and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b)</a:t>
            </a:r>
            <a:endParaRPr lang="en-US" altLang="en-US" sz="3200" b="0" baseline="-250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and !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6368712" y="4884058"/>
            <a:ext cx="2672789" cy="867930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p = A </a:t>
            </a:r>
            <a:r>
              <a:rPr lang="en-US" altLang="en-US" sz="2400" b="0" dirty="0" err="1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xor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(A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or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b)</a:t>
            </a:r>
            <a:endParaRPr lang="en-US" altLang="en-US" sz="3200" b="0" baseline="-250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= !A 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and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9108" y="4070397"/>
            <a:ext cx="3689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with fewer symbols …</a:t>
            </a:r>
          </a:p>
        </p:txBody>
      </p:sp>
    </p:spTree>
    <p:extLst>
      <p:ext uri="{BB962C8B-B14F-4D97-AF65-F5344CB8AC3E}">
        <p14:creationId xmlns:p14="http://schemas.microsoft.com/office/powerpoint/2010/main" val="230427060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4F44DE1-9623-41FA-8208-2054FF58261E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11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Repeated Variables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definitions in this chapter yield the same tests no matter how the predicate is expressed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(a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b)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 </a:t>
            </a:r>
            <a:r>
              <a:rPr lang="en-US" altLang="en-US" dirty="0"/>
              <a:t>(c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b) == (a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c)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b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(a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b)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 </a:t>
            </a:r>
            <a:r>
              <a:rPr lang="en-US" altLang="en-US" dirty="0"/>
              <a:t>(b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c)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 </a:t>
            </a:r>
            <a:r>
              <a:rPr lang="en-US" altLang="en-US" dirty="0"/>
              <a:t>(a </a:t>
            </a:r>
            <a:r>
              <a:rPr lang="en-US" altLang="en-US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c)</a:t>
            </a:r>
          </a:p>
          <a:p>
            <a:pPr lvl="1"/>
            <a:r>
              <a:rPr lang="en-US" altLang="en-US" dirty="0"/>
              <a:t>Only has 8 possible tests, not 64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Use the simplest form of the predicate, and ignore contradictory truth table assignments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214CFF6-7767-4ABE-97FA-1E94518D944B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12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More Subtle Example</a:t>
            </a:r>
          </a:p>
        </p:txBody>
      </p:sp>
      <p:sp>
        <p:nvSpPr>
          <p:cNvPr id="249861" name="Text Box 5"/>
          <p:cNvSpPr txBox="1">
            <a:spLocks noChangeArrowheads="1"/>
          </p:cNvSpPr>
          <p:nvPr/>
        </p:nvSpPr>
        <p:spPr bwMode="auto">
          <a:xfrm>
            <a:off x="2306053" y="1054100"/>
            <a:ext cx="7543800" cy="2154436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(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u="sng" dirty="0">
                <a:latin typeface="Gill Sans MT" panose="020B0502020104020203" pitchFamily="34" charset="0"/>
              </a:rPr>
              <a:t> b )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u="sng" dirty="0">
                <a:latin typeface="Gill Sans MT" panose="020B0502020104020203" pitchFamily="34" charset="0"/>
              </a:rPr>
              <a:t> (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2400" u="sng" dirty="0">
                <a:latin typeface="Gill Sans MT" panose="020B0502020104020203" pitchFamily="34" charset="0"/>
              </a:rPr>
              <a:t> b)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= p</a:t>
            </a:r>
            <a:r>
              <a:rPr lang="en-US" altLang="en-US" sz="280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a=true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dirty="0">
                <a:latin typeface="Gill Sans MT" panose="020B0502020104020203" pitchFamily="34" charset="0"/>
              </a:rPr>
              <a:t> 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a=false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((true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b)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(true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b))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((false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b)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(false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b))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(b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b)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false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true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false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true</a:t>
            </a:r>
            <a:endParaRPr lang="en-US" altLang="en-US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249862" name="Text Box 6"/>
          <p:cNvSpPr txBox="1">
            <a:spLocks noChangeArrowheads="1"/>
          </p:cNvSpPr>
          <p:nvPr/>
        </p:nvSpPr>
        <p:spPr bwMode="auto">
          <a:xfrm>
            <a:off x="2117725" y="5522914"/>
            <a:ext cx="795655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i="1" dirty="0">
                <a:solidFill>
                  <a:schemeClr val="tx2"/>
                </a:solidFill>
                <a:latin typeface="Gill Sans MT" panose="020B0502020104020203" pitchFamily="34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always determines the value of this predicate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i="1" dirty="0">
                <a:solidFill>
                  <a:schemeClr val="tx2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never determines the value – </a:t>
            </a:r>
            <a:r>
              <a:rPr lang="en-US" altLang="en-US" i="1" dirty="0">
                <a:solidFill>
                  <a:schemeClr val="tx2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is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irrelevant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!</a:t>
            </a:r>
          </a:p>
        </p:txBody>
      </p:sp>
      <p:sp>
        <p:nvSpPr>
          <p:cNvPr id="249863" name="Text Box 7"/>
          <p:cNvSpPr txBox="1">
            <a:spLocks noChangeArrowheads="1"/>
          </p:cNvSpPr>
          <p:nvPr/>
        </p:nvSpPr>
        <p:spPr bwMode="auto">
          <a:xfrm>
            <a:off x="2306053" y="3344863"/>
            <a:ext cx="7543800" cy="2154436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sz="2400" u="sng" dirty="0">
                <a:latin typeface="Gill Sans MT" panose="020B0502020104020203" pitchFamily="34" charset="0"/>
              </a:rPr>
              <a:t>p = (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u="sng" dirty="0">
                <a:latin typeface="Gill Sans MT" panose="020B0502020104020203" pitchFamily="34" charset="0"/>
              </a:rPr>
              <a:t> b )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2400" u="sng" dirty="0">
                <a:latin typeface="Gill Sans MT" panose="020B0502020104020203" pitchFamily="34" charset="0"/>
              </a:rPr>
              <a:t> ( a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2400" u="sng" dirty="0">
                <a:latin typeface="Gill Sans MT" panose="020B0502020104020203" pitchFamily="34" charset="0"/>
              </a:rPr>
              <a:t> </a:t>
            </a:r>
            <a:r>
              <a:rPr lang="en-US" altLang="en-US" sz="2400" u="sng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2400" u="sng" dirty="0">
                <a:latin typeface="Gill Sans MT" panose="020B0502020104020203" pitchFamily="34" charset="0"/>
              </a:rPr>
              <a:t> b)</a:t>
            </a:r>
          </a:p>
          <a:p>
            <a:pPr>
              <a:spcBef>
                <a:spcPct val="10000"/>
              </a:spcBef>
            </a:pPr>
            <a:r>
              <a:rPr lang="en-US" altLang="en-US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80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=true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</a:t>
            </a:r>
            <a:r>
              <a:rPr lang="en-US" altLang="en-US" dirty="0">
                <a:latin typeface="Gill Sans MT" panose="020B0502020104020203" pitchFamily="34" charset="0"/>
              </a:rPr>
              <a:t>  </a:t>
            </a:r>
            <a:r>
              <a:rPr lang="en-US" altLang="en-US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800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b</a:t>
            </a:r>
            <a:r>
              <a:rPr lang="en-US" altLang="en-US" sz="2800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=false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((a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true)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(a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true))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((a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false)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(a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false))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endParaRPr lang="en-US" altLang="en-US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(a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false)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(false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a)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a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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a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    = false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 build="p" animBg="1"/>
      <p:bldP spid="249862" grpId="0" build="p"/>
      <p:bldP spid="24986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12"/>
          <p:cNvSpPr txBox="1">
            <a:spLocks noChangeArrowheads="1"/>
          </p:cNvSpPr>
          <p:nvPr/>
        </p:nvSpPr>
        <p:spPr bwMode="auto">
          <a:xfrm>
            <a:off x="3845633" y="1789615"/>
            <a:ext cx="4560386" cy="1016000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i="1" dirty="0">
                <a:latin typeface="Gill Sans MT" panose="020B0502020104020203" pitchFamily="34" charset="0"/>
              </a:rPr>
              <a:t>b</a:t>
            </a:r>
            <a:r>
              <a:rPr lang="en-US" altLang="en-US" dirty="0">
                <a:latin typeface="Gill Sans MT" panose="020B0502020104020203" pitchFamily="34" charset="0"/>
              </a:rPr>
              <a:t> &amp; </a:t>
            </a:r>
            <a:r>
              <a:rPr lang="en-US" altLang="en-US" i="1" dirty="0">
                <a:latin typeface="Gill Sans MT" panose="020B0502020104020203" pitchFamily="34" charset="0"/>
              </a:rPr>
              <a:t>c</a:t>
            </a:r>
            <a:r>
              <a:rPr lang="en-US" altLang="en-US" dirty="0">
                <a:latin typeface="Gill Sans MT" panose="020B0502020104020203" pitchFamily="34" charset="0"/>
              </a:rPr>
              <a:t> are the same, </a:t>
            </a:r>
            <a:r>
              <a:rPr lang="en-US" altLang="en-US" i="1" dirty="0">
                <a:latin typeface="Gill Sans MT" panose="020B0502020104020203" pitchFamily="34" charset="0"/>
              </a:rPr>
              <a:t>a</a:t>
            </a:r>
            <a:r>
              <a:rPr lang="en-US" altLang="en-US" dirty="0">
                <a:latin typeface="Gill Sans MT" panose="020B0502020104020203" pitchFamily="34" charset="0"/>
              </a:rPr>
              <a:t> differs, and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r>
              <a:rPr lang="en-US" altLang="en-US" dirty="0">
                <a:latin typeface="Gill Sans MT" panose="020B0502020104020203" pitchFamily="34" charset="0"/>
              </a:rPr>
              <a:t> differs … thus TTT and FTT cause </a:t>
            </a:r>
            <a:r>
              <a:rPr lang="en-US" altLang="en-US" i="1" dirty="0">
                <a:latin typeface="Gill Sans MT" panose="020B0502020104020203" pitchFamily="34" charset="0"/>
              </a:rPr>
              <a:t>a</a:t>
            </a:r>
            <a:r>
              <a:rPr lang="en-US" altLang="en-US" dirty="0">
                <a:latin typeface="Gill Sans MT" panose="020B0502020104020203" pitchFamily="34" charset="0"/>
              </a:rPr>
              <a:t> to determine the value of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endParaRPr lang="en-US" altLang="en-US" i="1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17" name="Text Box 112"/>
          <p:cNvSpPr txBox="1">
            <a:spLocks noChangeArrowheads="1"/>
          </p:cNvSpPr>
          <p:nvPr/>
        </p:nvSpPr>
        <p:spPr bwMode="auto">
          <a:xfrm>
            <a:off x="4407107" y="1838663"/>
            <a:ext cx="4560386" cy="707886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Gill Sans MT" panose="020B0502020104020203" pitchFamily="34" charset="0"/>
              </a:rPr>
              <a:t>Again, </a:t>
            </a:r>
            <a:r>
              <a:rPr lang="en-US" altLang="en-US" i="1" dirty="0">
                <a:latin typeface="Gill Sans MT" panose="020B0502020104020203" pitchFamily="34" charset="0"/>
              </a:rPr>
              <a:t>b</a:t>
            </a:r>
            <a:r>
              <a:rPr lang="en-US" altLang="en-US" dirty="0">
                <a:latin typeface="Gill Sans MT" panose="020B0502020104020203" pitchFamily="34" charset="0"/>
              </a:rPr>
              <a:t> &amp; </a:t>
            </a:r>
            <a:r>
              <a:rPr lang="en-US" altLang="en-US" i="1" dirty="0">
                <a:latin typeface="Gill Sans MT" panose="020B0502020104020203" pitchFamily="34" charset="0"/>
              </a:rPr>
              <a:t>c</a:t>
            </a:r>
            <a:r>
              <a:rPr lang="en-US" altLang="en-US" dirty="0">
                <a:latin typeface="Gill Sans MT" panose="020B0502020104020203" pitchFamily="34" charset="0"/>
              </a:rPr>
              <a:t> are the same, so TTF and FTF cause </a:t>
            </a:r>
            <a:r>
              <a:rPr lang="en-US" altLang="en-US" i="1" dirty="0">
                <a:latin typeface="Gill Sans MT" panose="020B0502020104020203" pitchFamily="34" charset="0"/>
              </a:rPr>
              <a:t>a</a:t>
            </a:r>
            <a:r>
              <a:rPr lang="en-US" altLang="en-US" dirty="0">
                <a:latin typeface="Gill Sans MT" panose="020B0502020104020203" pitchFamily="34" charset="0"/>
              </a:rPr>
              <a:t> to determine the value of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endParaRPr lang="en-US" altLang="en-US" i="1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Method for Determination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math sometimes gets complicated</a:t>
            </a:r>
          </a:p>
          <a:p>
            <a:r>
              <a:rPr lang="en-US" dirty="0"/>
              <a:t>A truth table can sometimes be simpler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7" name="Group 1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5982919"/>
              </p:ext>
            </p:extLst>
          </p:nvPr>
        </p:nvGraphicFramePr>
        <p:xfrm>
          <a:off x="1900074" y="2939480"/>
          <a:ext cx="4100512" cy="3655251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a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(b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 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Group 1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56007"/>
              </p:ext>
            </p:extLst>
          </p:nvPr>
        </p:nvGraphicFramePr>
        <p:xfrm>
          <a:off x="5986801" y="2939480"/>
          <a:ext cx="2335046" cy="3655251"/>
        </p:xfrm>
        <a:graphic>
          <a:graphicData uri="http://schemas.openxmlformats.org/drawingml/2006/table">
            <a:tbl>
              <a:tblPr/>
              <a:tblGrid>
                <a:gridCol w="78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  <a:endParaRPr kumimoji="0" lang="en-US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10-Point Star 9"/>
          <p:cNvSpPr/>
          <p:nvPr/>
        </p:nvSpPr>
        <p:spPr bwMode="auto">
          <a:xfrm>
            <a:off x="6047872" y="3477128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10-Point Star 10"/>
          <p:cNvSpPr/>
          <p:nvPr/>
        </p:nvSpPr>
        <p:spPr bwMode="auto">
          <a:xfrm>
            <a:off x="6047872" y="5037223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10-Point Star 14"/>
          <p:cNvSpPr/>
          <p:nvPr/>
        </p:nvSpPr>
        <p:spPr bwMode="auto">
          <a:xfrm>
            <a:off x="6279918" y="3842353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10-Point Star 15"/>
          <p:cNvSpPr/>
          <p:nvPr/>
        </p:nvSpPr>
        <p:spPr bwMode="auto">
          <a:xfrm>
            <a:off x="6279918" y="5423613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10-Point Star 17"/>
          <p:cNvSpPr/>
          <p:nvPr/>
        </p:nvSpPr>
        <p:spPr bwMode="auto">
          <a:xfrm>
            <a:off x="6511964" y="4214282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10-Point Star 18"/>
          <p:cNvSpPr/>
          <p:nvPr/>
        </p:nvSpPr>
        <p:spPr bwMode="auto">
          <a:xfrm>
            <a:off x="6511964" y="5810004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10-Point Star 20"/>
          <p:cNvSpPr/>
          <p:nvPr/>
        </p:nvSpPr>
        <p:spPr bwMode="auto">
          <a:xfrm>
            <a:off x="7003129" y="3842353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10-Point Star 21"/>
          <p:cNvSpPr/>
          <p:nvPr/>
        </p:nvSpPr>
        <p:spPr bwMode="auto">
          <a:xfrm>
            <a:off x="7003129" y="4620259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10-Point Star 23"/>
          <p:cNvSpPr/>
          <p:nvPr/>
        </p:nvSpPr>
        <p:spPr bwMode="auto">
          <a:xfrm>
            <a:off x="7805609" y="4214282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10-Point Star 24"/>
          <p:cNvSpPr/>
          <p:nvPr/>
        </p:nvSpPr>
        <p:spPr bwMode="auto">
          <a:xfrm>
            <a:off x="7805609" y="4620259"/>
            <a:ext cx="228600" cy="240632"/>
          </a:xfrm>
          <a:prstGeom prst="star10">
            <a:avLst/>
          </a:prstGeom>
          <a:solidFill>
            <a:srgbClr val="FFFF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6047873" y="3477128"/>
            <a:ext cx="1986337" cy="2573508"/>
            <a:chOff x="4523872" y="3477128"/>
            <a:chExt cx="1986337" cy="2573508"/>
          </a:xfrm>
        </p:grpSpPr>
        <p:sp>
          <p:nvSpPr>
            <p:cNvPr id="38" name="10-Point Star 37"/>
            <p:cNvSpPr/>
            <p:nvPr/>
          </p:nvSpPr>
          <p:spPr bwMode="auto">
            <a:xfrm>
              <a:off x="4523872" y="3477128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10-Point Star 38"/>
            <p:cNvSpPr/>
            <p:nvPr/>
          </p:nvSpPr>
          <p:spPr bwMode="auto">
            <a:xfrm>
              <a:off x="4523872" y="5037223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10-Point Star 39"/>
            <p:cNvSpPr/>
            <p:nvPr/>
          </p:nvSpPr>
          <p:spPr bwMode="auto">
            <a:xfrm>
              <a:off x="4755918" y="3842353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10-Point Star 40"/>
            <p:cNvSpPr/>
            <p:nvPr/>
          </p:nvSpPr>
          <p:spPr bwMode="auto">
            <a:xfrm>
              <a:off x="4755918" y="5423613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10-Point Star 41"/>
            <p:cNvSpPr/>
            <p:nvPr/>
          </p:nvSpPr>
          <p:spPr bwMode="auto">
            <a:xfrm>
              <a:off x="4987964" y="4214282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10-Point Star 42"/>
            <p:cNvSpPr/>
            <p:nvPr/>
          </p:nvSpPr>
          <p:spPr bwMode="auto">
            <a:xfrm>
              <a:off x="4987964" y="5810004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10-Point Star 43"/>
            <p:cNvSpPr/>
            <p:nvPr/>
          </p:nvSpPr>
          <p:spPr bwMode="auto">
            <a:xfrm>
              <a:off x="5479129" y="3842353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10-Point Star 44"/>
            <p:cNvSpPr/>
            <p:nvPr/>
          </p:nvSpPr>
          <p:spPr bwMode="auto">
            <a:xfrm>
              <a:off x="5479129" y="4620259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10-Point Star 45"/>
            <p:cNvSpPr/>
            <p:nvPr/>
          </p:nvSpPr>
          <p:spPr bwMode="auto">
            <a:xfrm>
              <a:off x="6281609" y="4214282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10-Point Star 46"/>
            <p:cNvSpPr/>
            <p:nvPr/>
          </p:nvSpPr>
          <p:spPr bwMode="auto">
            <a:xfrm>
              <a:off x="6281609" y="4620259"/>
              <a:ext cx="228600" cy="240632"/>
            </a:xfrm>
            <a:prstGeom prst="star10">
              <a:avLst/>
            </a:prstGeom>
            <a:solidFill>
              <a:srgbClr val="FFFF00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" name="Text Box 112"/>
          <p:cNvSpPr txBox="1">
            <a:spLocks noChangeArrowheads="1"/>
          </p:cNvSpPr>
          <p:nvPr/>
        </p:nvSpPr>
        <p:spPr bwMode="auto">
          <a:xfrm>
            <a:off x="8387808" y="3331530"/>
            <a:ext cx="2195972" cy="2246769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Gill Sans MT" panose="020B0502020104020203" pitchFamily="34" charset="0"/>
              </a:rPr>
              <a:t>In sum, three separate pairs of rows can cause </a:t>
            </a:r>
            <a:r>
              <a:rPr lang="en-US" altLang="en-US" i="1" dirty="0">
                <a:latin typeface="Gill Sans MT" panose="020B0502020104020203" pitchFamily="34" charset="0"/>
              </a:rPr>
              <a:t>a</a:t>
            </a:r>
            <a:r>
              <a:rPr lang="en-US" altLang="en-US" dirty="0">
                <a:latin typeface="Gill Sans MT" panose="020B0502020104020203" pitchFamily="34" charset="0"/>
              </a:rPr>
              <a:t> to determine the value of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r>
              <a:rPr lang="en-US" altLang="en-US" dirty="0">
                <a:latin typeface="Gill Sans MT" panose="020B0502020104020203" pitchFamily="34" charset="0"/>
              </a:rPr>
              <a:t>, and only one pair each for </a:t>
            </a:r>
            <a:r>
              <a:rPr lang="en-US" altLang="en-US" i="1" dirty="0">
                <a:latin typeface="Gill Sans MT" panose="020B0502020104020203" pitchFamily="34" charset="0"/>
              </a:rPr>
              <a:t>b</a:t>
            </a:r>
            <a:r>
              <a:rPr lang="en-US" altLang="en-US" dirty="0">
                <a:latin typeface="Gill Sans MT" panose="020B0502020104020203" pitchFamily="34" charset="0"/>
              </a:rPr>
              <a:t> and </a:t>
            </a:r>
            <a:r>
              <a:rPr lang="en-US" altLang="en-US" i="1" dirty="0">
                <a:latin typeface="Gill Sans MT" panose="020B0502020104020203" pitchFamily="34" charset="0"/>
              </a:rPr>
              <a:t>c</a:t>
            </a:r>
            <a:endParaRPr lang="en-US" altLang="en-US" i="1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0" name="Text Box 112"/>
          <p:cNvSpPr txBox="1">
            <a:spLocks noChangeArrowheads="1"/>
          </p:cNvSpPr>
          <p:nvPr/>
        </p:nvSpPr>
        <p:spPr bwMode="auto">
          <a:xfrm>
            <a:off x="4703886" y="1876599"/>
            <a:ext cx="4560386" cy="707886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Gill Sans MT" panose="020B0502020104020203" pitchFamily="34" charset="0"/>
              </a:rPr>
              <a:t>Finally, this third pair, TFT and FFT, also cause </a:t>
            </a:r>
            <a:r>
              <a:rPr lang="en-US" altLang="en-US" i="1" dirty="0">
                <a:latin typeface="Gill Sans MT" panose="020B0502020104020203" pitchFamily="34" charset="0"/>
              </a:rPr>
              <a:t>a</a:t>
            </a:r>
            <a:r>
              <a:rPr lang="en-US" altLang="en-US" dirty="0">
                <a:latin typeface="Gill Sans MT" panose="020B0502020104020203" pitchFamily="34" charset="0"/>
              </a:rPr>
              <a:t> to determine the value of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endParaRPr lang="en-US" altLang="en-US" i="1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3" name="Text Box 112"/>
          <p:cNvSpPr txBox="1">
            <a:spLocks noChangeArrowheads="1"/>
          </p:cNvSpPr>
          <p:nvPr/>
        </p:nvSpPr>
        <p:spPr bwMode="auto">
          <a:xfrm>
            <a:off x="5084886" y="1774505"/>
            <a:ext cx="4179386" cy="1015663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Gill Sans MT" panose="020B0502020104020203" pitchFamily="34" charset="0"/>
              </a:rPr>
              <a:t>For clause </a:t>
            </a:r>
            <a:r>
              <a:rPr lang="en-US" altLang="en-US" i="1" dirty="0">
                <a:latin typeface="Gill Sans MT" panose="020B0502020104020203" pitchFamily="34" charset="0"/>
              </a:rPr>
              <a:t>b</a:t>
            </a:r>
            <a:r>
              <a:rPr lang="en-US" altLang="en-US" dirty="0">
                <a:latin typeface="Gill Sans MT" panose="020B0502020104020203" pitchFamily="34" charset="0"/>
              </a:rPr>
              <a:t>, only one pair, TTF and TFF cause </a:t>
            </a:r>
            <a:r>
              <a:rPr lang="en-US" altLang="en-US" i="1" dirty="0">
                <a:latin typeface="Gill Sans MT" panose="020B0502020104020203" pitchFamily="34" charset="0"/>
              </a:rPr>
              <a:t>b</a:t>
            </a:r>
            <a:r>
              <a:rPr lang="en-US" altLang="en-US" dirty="0">
                <a:latin typeface="Gill Sans MT" panose="020B0502020104020203" pitchFamily="34" charset="0"/>
              </a:rPr>
              <a:t> to determine the value of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endParaRPr lang="en-US" altLang="en-US" i="1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  <p:sp>
        <p:nvSpPr>
          <p:cNvPr id="26" name="Text Box 112"/>
          <p:cNvSpPr txBox="1">
            <a:spLocks noChangeArrowheads="1"/>
          </p:cNvSpPr>
          <p:nvPr/>
        </p:nvSpPr>
        <p:spPr bwMode="auto">
          <a:xfrm>
            <a:off x="5610265" y="1859399"/>
            <a:ext cx="4179386" cy="1015663"/>
          </a:xfrm>
          <a:prstGeom prst="rect">
            <a:avLst/>
          </a:prstGeom>
          <a:solidFill>
            <a:srgbClr val="0033CC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Gill Sans MT" panose="020B0502020104020203" pitchFamily="34" charset="0"/>
              </a:rPr>
              <a:t>Likewise, for clause </a:t>
            </a:r>
            <a:r>
              <a:rPr lang="en-US" altLang="en-US" i="1" dirty="0">
                <a:latin typeface="Gill Sans MT" panose="020B0502020104020203" pitchFamily="34" charset="0"/>
              </a:rPr>
              <a:t>c</a:t>
            </a:r>
            <a:r>
              <a:rPr lang="en-US" altLang="en-US" dirty="0">
                <a:latin typeface="Gill Sans MT" panose="020B0502020104020203" pitchFamily="34" charset="0"/>
              </a:rPr>
              <a:t>, only one pair, TFT and TFF, cause </a:t>
            </a:r>
            <a:r>
              <a:rPr lang="en-US" altLang="en-US" i="1" dirty="0">
                <a:latin typeface="Gill Sans MT" panose="020B0502020104020203" pitchFamily="34" charset="0"/>
              </a:rPr>
              <a:t>c</a:t>
            </a:r>
            <a:r>
              <a:rPr lang="en-US" altLang="en-US" dirty="0">
                <a:latin typeface="Gill Sans MT" panose="020B0502020104020203" pitchFamily="34" charset="0"/>
              </a:rPr>
              <a:t> to determine the value of </a:t>
            </a:r>
            <a:r>
              <a:rPr lang="en-US" altLang="en-US" i="1" dirty="0">
                <a:latin typeface="Gill Sans MT" panose="020B0502020104020203" pitchFamily="34" charset="0"/>
              </a:rPr>
              <a:t>p</a:t>
            </a:r>
            <a:endParaRPr lang="en-US" altLang="en-US" i="1" dirty="0">
              <a:solidFill>
                <a:schemeClr val="tx2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1231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1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1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7" grpId="0" animBg="1"/>
      <p:bldP spid="17" grpId="1" animBg="1"/>
      <p:bldP spid="10" grpId="0" animBg="1"/>
      <p:bldP spid="10" grpId="1" animBg="1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48" grpId="0" animBg="1"/>
      <p:bldP spid="20" grpId="0" animBg="1"/>
      <p:bldP spid="20" grpId="1" animBg="1"/>
      <p:bldP spid="23" grpId="0" animBg="1"/>
      <p:bldP spid="23" grpId="1" animBg="1"/>
      <p:bldP spid="26" grpId="0" animBg="1"/>
      <p:bldP spid="2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D045F-F2FE-456D-8980-7862C6AE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Requirements Analysis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A3D07-2043-469B-B9CA-65DEF25BB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</a:rPr>
              <a:t>For p = a </a:t>
            </a:r>
            <a:r>
              <a:rPr lang="en-US" altLang="zh-CN" sz="32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 </a:t>
            </a:r>
            <a:r>
              <a:rPr lang="en-US" altLang="zh-CN" b="1" dirty="0">
                <a:solidFill>
                  <a:schemeClr val="tx2"/>
                </a:solidFill>
              </a:rPr>
              <a:t>(b </a:t>
            </a:r>
            <a:r>
              <a:rPr lang="en-US" altLang="zh-CN" sz="32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b="1" dirty="0">
                <a:solidFill>
                  <a:schemeClr val="tx2"/>
                </a:solidFill>
              </a:rPr>
              <a:t> c)</a:t>
            </a:r>
          </a:p>
          <a:p>
            <a:pPr lvl="1"/>
            <a:r>
              <a:rPr lang="en-US" altLang="zh-CN" b="1" dirty="0">
                <a:solidFill>
                  <a:schemeClr val="tx2"/>
                </a:solidFill>
              </a:rPr>
              <a:t>p</a:t>
            </a:r>
            <a:r>
              <a:rPr lang="en-US" altLang="zh-CN" b="1" baseline="-25000" dirty="0">
                <a:solidFill>
                  <a:schemeClr val="tx2"/>
                </a:solidFill>
              </a:rPr>
              <a:t>a</a:t>
            </a:r>
            <a:r>
              <a:rPr lang="en-US" altLang="zh-CN" b="1" dirty="0">
                <a:solidFill>
                  <a:schemeClr val="tx2"/>
                </a:solidFill>
              </a:rPr>
              <a:t>= b </a:t>
            </a:r>
            <a:r>
              <a:rPr lang="en-US" altLang="zh-CN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zh-CN" b="1" dirty="0">
                <a:solidFill>
                  <a:schemeClr val="tx2"/>
                </a:solidFill>
              </a:rPr>
              <a:t> c</a:t>
            </a:r>
          </a:p>
          <a:p>
            <a:pPr lvl="1"/>
            <a:r>
              <a:rPr lang="en-US" altLang="zh-CN" b="1" dirty="0">
                <a:solidFill>
                  <a:schemeClr val="tx2"/>
                </a:solidFill>
              </a:rPr>
              <a:t>p</a:t>
            </a:r>
            <a:r>
              <a:rPr lang="en-US" altLang="zh-CN" b="1" baseline="-25000" dirty="0">
                <a:solidFill>
                  <a:schemeClr val="tx2"/>
                </a:solidFill>
              </a:rPr>
              <a:t>b</a:t>
            </a:r>
            <a:r>
              <a:rPr lang="en-US" altLang="zh-CN" b="1" dirty="0">
                <a:solidFill>
                  <a:schemeClr val="tx2"/>
                </a:solidFill>
              </a:rPr>
              <a:t>= a </a:t>
            </a:r>
            <a:r>
              <a:rPr lang="en-US" altLang="zh-CN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¬c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/>
            <a:r>
              <a:rPr lang="en-US" altLang="zh-CN" b="1" dirty="0">
                <a:solidFill>
                  <a:schemeClr val="tx2"/>
                </a:solidFill>
              </a:rPr>
              <a:t>p</a:t>
            </a:r>
            <a:r>
              <a:rPr lang="en-US" altLang="zh-CN" b="1" baseline="-25000" dirty="0">
                <a:solidFill>
                  <a:schemeClr val="tx2"/>
                </a:solidFill>
              </a:rPr>
              <a:t>c</a:t>
            </a:r>
            <a:r>
              <a:rPr lang="en-US" altLang="zh-CN" b="1" dirty="0">
                <a:solidFill>
                  <a:schemeClr val="tx2"/>
                </a:solidFill>
              </a:rPr>
              <a:t>= a </a:t>
            </a:r>
            <a:r>
              <a:rPr lang="en-US" altLang="zh-CN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¬b</a:t>
            </a:r>
            <a:endParaRPr lang="en-US" altLang="zh-CN" b="1" dirty="0">
              <a:solidFill>
                <a:schemeClr val="tx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E2D150-E355-4665-8442-133D55CA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" name="Group 185">
            <a:extLst>
              <a:ext uri="{FF2B5EF4-FFF2-40B4-BE49-F238E27FC236}">
                <a16:creationId xmlns:a16="http://schemas.microsoft.com/office/drawing/2014/main" id="{78ED0895-885A-4746-8C48-7C4770214A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9920818"/>
              </p:ext>
            </p:extLst>
          </p:nvPr>
        </p:nvGraphicFramePr>
        <p:xfrm>
          <a:off x="1900074" y="2939480"/>
          <a:ext cx="4100512" cy="3655251"/>
        </p:xfrm>
        <a:graphic>
          <a:graphicData uri="http://schemas.openxmlformats.org/drawingml/2006/table">
            <a:tbl>
              <a:tblPr/>
              <a:tblGrid>
                <a:gridCol w="449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2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a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(b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 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Group 185">
            <a:extLst>
              <a:ext uri="{FF2B5EF4-FFF2-40B4-BE49-F238E27FC236}">
                <a16:creationId xmlns:a16="http://schemas.microsoft.com/office/drawing/2014/main" id="{31F45D67-B98C-44FE-9DE4-BE31C2C900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1752021"/>
              </p:ext>
            </p:extLst>
          </p:nvPr>
        </p:nvGraphicFramePr>
        <p:xfrm>
          <a:off x="5986801" y="2939480"/>
          <a:ext cx="2335046" cy="3655251"/>
        </p:xfrm>
        <a:graphic>
          <a:graphicData uri="http://schemas.openxmlformats.org/drawingml/2006/table">
            <a:tbl>
              <a:tblPr/>
              <a:tblGrid>
                <a:gridCol w="78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  <a:endParaRPr kumimoji="0" lang="en-US" sz="2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EB468B5-57C9-4A29-A11B-BF4324204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45545"/>
              </p:ext>
            </p:extLst>
          </p:nvPr>
        </p:nvGraphicFramePr>
        <p:xfrm>
          <a:off x="4923303" y="1292904"/>
          <a:ext cx="5641510" cy="14630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446356">
                  <a:extLst>
                    <a:ext uri="{9D8B030D-6E8A-4147-A177-3AD203B41FA5}">
                      <a16:colId xmlns:a16="http://schemas.microsoft.com/office/drawing/2014/main" val="2322556543"/>
                    </a:ext>
                  </a:extLst>
                </a:gridCol>
                <a:gridCol w="814782">
                  <a:extLst>
                    <a:ext uri="{9D8B030D-6E8A-4147-A177-3AD203B41FA5}">
                      <a16:colId xmlns:a16="http://schemas.microsoft.com/office/drawing/2014/main" val="3200791505"/>
                    </a:ext>
                  </a:extLst>
                </a:gridCol>
                <a:gridCol w="803258">
                  <a:extLst>
                    <a:ext uri="{9D8B030D-6E8A-4147-A177-3AD203B41FA5}">
                      <a16:colId xmlns:a16="http://schemas.microsoft.com/office/drawing/2014/main" val="2875492585"/>
                    </a:ext>
                  </a:extLst>
                </a:gridCol>
                <a:gridCol w="628956">
                  <a:extLst>
                    <a:ext uri="{9D8B030D-6E8A-4147-A177-3AD203B41FA5}">
                      <a16:colId xmlns:a16="http://schemas.microsoft.com/office/drawing/2014/main" val="904919712"/>
                    </a:ext>
                  </a:extLst>
                </a:gridCol>
                <a:gridCol w="1466862">
                  <a:extLst>
                    <a:ext uri="{9D8B030D-6E8A-4147-A177-3AD203B41FA5}">
                      <a16:colId xmlns:a16="http://schemas.microsoft.com/office/drawing/2014/main" val="3171360496"/>
                    </a:ext>
                  </a:extLst>
                </a:gridCol>
                <a:gridCol w="1481296">
                  <a:extLst>
                    <a:ext uri="{9D8B030D-6E8A-4147-A177-3AD203B41FA5}">
                      <a16:colId xmlns:a16="http://schemas.microsoft.com/office/drawing/2014/main" val="1691575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子句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GACC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CACC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RACC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GICC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RICC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7106191"/>
                  </a:ext>
                </a:extLst>
              </a:tr>
              <a:tr h="553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{1, 2, 3}</a:t>
                      </a:r>
                      <a:r>
                        <a:rPr 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altLang="zh-CN" sz="12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{5, 6, 7}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{1, 2, 3}</a:t>
                      </a:r>
                      <a:r>
                        <a:rPr lang="zh-CN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endParaRPr lang="en-US" altLang="zh-CN" sz="12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{5, 6, 7}</a:t>
                      </a:r>
                      <a:endParaRPr lang="zh-CN" alt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 5),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(2, 6),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(3, 7)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p=F: (4, 8)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p=F: (4, 8)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436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(2, 4)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(2, 4)</a:t>
                      </a:r>
                      <a:endParaRPr kumimoji="0" lang="zh-CN" altLang="zh-CN" sz="12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(2, 4)</a:t>
                      </a:r>
                      <a:endParaRPr kumimoji="0" lang="zh-CN" altLang="zh-CN" sz="12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p=F: {5, 6} </a:t>
                      </a:r>
                      <a:r>
                        <a:rPr 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{7, 8},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p=T:  (1, 3)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p=F: (5, 7) (6, 8},</a:t>
                      </a:r>
                      <a:endParaRPr lang="zh-CN" altLang="zh-CN" sz="12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p=T:  (1, 3)</a:t>
                      </a:r>
                      <a:endParaRPr lang="zh-CN" alt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3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sz="1200" b="1" kern="10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(3, 4)</a:t>
                      </a:r>
                      <a:endParaRPr lang="zh-CN" alt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(3, 4)</a:t>
                      </a:r>
                      <a:endParaRPr kumimoji="0" lang="zh-CN" altLang="zh-CN" sz="12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(3, 4)</a:t>
                      </a:r>
                      <a:endParaRPr kumimoji="0" lang="zh-CN" altLang="zh-CN" sz="12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p=F: {5, 7} </a:t>
                      </a:r>
                      <a:r>
                        <a:rPr 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×</a:t>
                      </a: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{6, 8},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p=T:  (1, 2)</a:t>
                      </a:r>
                      <a:endParaRPr 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p=F: (5, 6) (7, 8},</a:t>
                      </a:r>
                      <a:endParaRPr lang="zh-CN" altLang="zh-CN" sz="1200" b="1" kern="1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p=T:  (1, 2)</a:t>
                      </a:r>
                      <a:endParaRPr lang="zh-CN" altLang="zh-CN" sz="1200" b="1" kern="100" dirty="0"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405964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CC53A93-961E-464E-81E3-9648FE668814}"/>
                  </a:ext>
                </a:extLst>
              </p:cNvPr>
              <p:cNvSpPr txBox="1"/>
              <p:nvPr/>
            </p:nvSpPr>
            <p:spPr>
              <a:xfrm>
                <a:off x="8353722" y="2807370"/>
                <a:ext cx="2254164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Minimal Test Cases Set: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GACC/CACC: </a:t>
                </a: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{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𝟐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𝟑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𝟒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𝟓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}</m:t>
                    </m:r>
                  </m:oMath>
                </a14:m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 or </a:t>
                </a: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{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𝟐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𝟑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𝟒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𝟔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}</m:t>
                    </m:r>
                  </m:oMath>
                </a14:m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 or </a:t>
                </a: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{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𝟐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𝟑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𝟒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,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𝟕</m:t>
                    </m:r>
                    <m:r>
                      <a:rPr lang="en-US" altLang="zh-CN" sz="1600">
                        <a:solidFill>
                          <a:schemeClr val="tx2"/>
                        </a:solidFill>
                      </a:rPr>
                      <m:t>}</m:t>
                    </m:r>
                  </m:oMath>
                </a14:m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 </a:t>
                </a:r>
                <a:endParaRPr lang="zh-CN" altLang="zh-CN" sz="1600" dirty="0">
                  <a:solidFill>
                    <a:schemeClr val="tx2"/>
                  </a:solidFill>
                  <a:latin typeface="Gill Sans MT" panose="020B0502020104020203" pitchFamily="34" charset="0"/>
                </a:endParaRPr>
              </a:p>
              <a:p>
                <a:pPr algn="just">
                  <a:spcAft>
                    <a:spcPts val="0"/>
                  </a:spcAft>
                </a:pPr>
                <a:endParaRPr lang="zh-CN" altLang="zh-CN" sz="1600" dirty="0">
                  <a:solidFill>
                    <a:schemeClr val="tx2"/>
                  </a:solidFill>
                  <a:latin typeface="Gill Sans MT" panose="020B0502020104020203" pitchFamily="34" charset="0"/>
                </a:endParaRPr>
              </a:p>
              <a:p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RACC: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>
                            <a:solidFill>
                              <a:schemeClr val="tx2"/>
                            </a:solidFill>
                          </a:rPr>
                        </m:ctrlPr>
                      </m:dPr>
                      <m:e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𝟐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𝟑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𝟒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>
                            <a:solidFill>
                              <a:schemeClr val="tx2"/>
                            </a:solidFill>
                          </a:rPr>
                        </m:ctrlPr>
                      </m:dPr>
                      <m:e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𝟐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𝟑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𝟒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𝟕</m:t>
                        </m:r>
                      </m:e>
                    </m:d>
                  </m:oMath>
                </a14:m>
                <a:endParaRPr lang="en-US" altLang="zh-CN" sz="1600" dirty="0">
                  <a:solidFill>
                    <a:schemeClr val="tx2"/>
                  </a:solidFill>
                  <a:latin typeface="Gill Sans MT" panose="020B0502020104020203" pitchFamily="34" charset="0"/>
                </a:endParaRPr>
              </a:p>
              <a:p>
                <a:endParaRPr lang="en-US" altLang="zh-CN" sz="1600" dirty="0">
                  <a:solidFill>
                    <a:schemeClr val="tx2"/>
                  </a:solidFill>
                  <a:latin typeface="Gill Sans MT" panose="020B0502020104020203" pitchFamily="34" charset="0"/>
                </a:endParaRPr>
              </a:p>
              <a:p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GICC: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600">
                            <a:solidFill>
                              <a:schemeClr val="tx2"/>
                            </a:solidFill>
                          </a:rPr>
                        </m:ctrlPr>
                      </m:dPr>
                      <m:e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𝟏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𝟐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𝟑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𝟒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𝟓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,</m:t>
                        </m:r>
                        <m:r>
                          <a:rPr lang="en-US" altLang="zh-CN" sz="1600">
                            <a:solidFill>
                              <a:schemeClr val="tx2"/>
                            </a:solidFill>
                          </a:rPr>
                          <m:t>𝟖</m:t>
                        </m:r>
                      </m:e>
                    </m:d>
                  </m:oMath>
                </a14:m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 </a:t>
                </a:r>
              </a:p>
              <a:p>
                <a:endParaRPr lang="en-US" altLang="zh-CN" sz="1600" dirty="0">
                  <a:solidFill>
                    <a:schemeClr val="tx2"/>
                  </a:solidFill>
                  <a:latin typeface="Gill Sans MT" panose="020B0502020104020203" pitchFamily="34" charset="0"/>
                </a:endParaRPr>
              </a:p>
              <a:p>
                <a:r>
                  <a:rPr lang="en-US" altLang="zh-CN" sz="1600" dirty="0">
                    <a:solidFill>
                      <a:schemeClr val="tx2"/>
                    </a:solidFill>
                    <a:latin typeface="Gill Sans MT" panose="020B0502020104020203" pitchFamily="34" charset="0"/>
                  </a:rPr>
                  <a:t>RICC: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</m:ctrlPr>
                        </m:dPr>
                        <m:e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𝟏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,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𝟐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,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𝟑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,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𝟒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,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𝟔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,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𝟕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,</m:t>
                          </m:r>
                          <m:r>
                            <a:rPr lang="en-US" altLang="zh-CN" sz="1600">
                              <a:solidFill>
                                <a:schemeClr val="tx2"/>
                              </a:solidFill>
                            </a:rPr>
                            <m:t>𝟖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tx2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CC53A93-961E-464E-81E3-9648FE66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722" y="2807370"/>
                <a:ext cx="2254164" cy="3293209"/>
              </a:xfrm>
              <a:prstGeom prst="rect">
                <a:avLst/>
              </a:prstGeom>
              <a:blipFill>
                <a:blip r:embed="rId3"/>
                <a:stretch>
                  <a:fillRect l="-1351" t="-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5480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99344-D693-435A-A3C0-910910FC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 Description of</a:t>
            </a:r>
            <a:r>
              <a:rPr lang="zh-CN" altLang="en-US" dirty="0"/>
              <a:t> </a:t>
            </a:r>
            <a:r>
              <a:rPr lang="en-US" altLang="zh-CN" dirty="0"/>
              <a:t>TR for ACC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D98A36-8A1D-43C5-836C-0A449C3F9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We assume p is the predicate, ci is the major clause, </a:t>
            </a:r>
            <a:r>
              <a:rPr lang="en-US" altLang="zh-CN" sz="2400" dirty="0" err="1"/>
              <a:t>cj</a:t>
            </a:r>
            <a:r>
              <a:rPr lang="en-US" altLang="zh-CN" sz="2400" dirty="0"/>
              <a:t> , j ≠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are the minor clauses, and </a:t>
            </a:r>
            <a:r>
              <a:rPr lang="en-US" altLang="zh-CN" sz="2400" dirty="0" err="1"/>
              <a:t>pci</a:t>
            </a:r>
            <a:r>
              <a:rPr lang="en-US" altLang="zh-CN" sz="2400" dirty="0"/>
              <a:t> is the conditions under which ci determines p</a:t>
            </a:r>
          </a:p>
          <a:p>
            <a:r>
              <a:rPr lang="en-US" altLang="zh-CN" sz="2400" dirty="0"/>
              <a:t>For each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FF00"/>
                </a:solidFill>
              </a:rPr>
              <a:t>GACC</a:t>
            </a:r>
            <a:r>
              <a:rPr lang="en-US" altLang="zh-CN" sz="2400" dirty="0"/>
              <a:t> has two test requirements: </a:t>
            </a:r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T and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T. </a:t>
            </a:r>
          </a:p>
          <a:p>
            <a:pPr lvl="1"/>
            <a:r>
              <a:rPr lang="en-US" altLang="zh-CN" sz="2000" dirty="0"/>
              <a:t>Note that the values of the minor clauses </a:t>
            </a:r>
            <a:r>
              <a:rPr lang="en-US" altLang="zh-CN" sz="2000" dirty="0" err="1"/>
              <a:t>cj</a:t>
            </a:r>
            <a:r>
              <a:rPr lang="en-US" altLang="zh-CN" sz="2000" dirty="0"/>
              <a:t> may differ between the two tests.</a:t>
            </a:r>
            <a:endParaRPr lang="zh-CN" altLang="zh-CN" sz="2000" dirty="0"/>
          </a:p>
          <a:p>
            <a:r>
              <a:rPr lang="en-US" altLang="zh-CN" sz="2400" dirty="0"/>
              <a:t>For each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FF00"/>
                </a:solidFill>
              </a:rPr>
              <a:t>CACC</a:t>
            </a:r>
            <a:r>
              <a:rPr lang="en-US" altLang="zh-CN" sz="2400" dirty="0"/>
              <a:t> has two test requirements: </a:t>
            </a:r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T and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T. </a:t>
            </a:r>
            <a:r>
              <a:rPr lang="en-US" altLang="zh-CN" sz="2000" dirty="0"/>
              <a:t>Additionally, the value of p resulting from the first test must differ from the value of p resulting from the second. </a:t>
            </a:r>
          </a:p>
          <a:p>
            <a:pPr lvl="1"/>
            <a:r>
              <a:rPr lang="en-US" altLang="zh-CN" sz="2000" dirty="0"/>
              <a:t>Note that the values of the minor clauses </a:t>
            </a:r>
            <a:r>
              <a:rPr lang="en-US" altLang="zh-CN" sz="2000" dirty="0" err="1"/>
              <a:t>cj</a:t>
            </a:r>
            <a:r>
              <a:rPr lang="en-US" altLang="zh-CN" sz="2000" dirty="0"/>
              <a:t> may differ between the two tests.</a:t>
            </a:r>
            <a:endParaRPr lang="zh-CN" altLang="zh-CN" sz="2000" dirty="0"/>
          </a:p>
          <a:p>
            <a:r>
              <a:rPr lang="en-US" altLang="zh-CN" sz="2400" dirty="0"/>
              <a:t>For each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FF00"/>
                </a:solidFill>
              </a:rPr>
              <a:t>RACC</a:t>
            </a:r>
            <a:r>
              <a:rPr lang="en-US" altLang="zh-CN" sz="2400" dirty="0"/>
              <a:t> has two test requirements: </a:t>
            </a:r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T and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T. </a:t>
            </a:r>
            <a:r>
              <a:rPr lang="en-US" altLang="zh-CN" sz="2000" dirty="0"/>
              <a:t>Additionally, ci is the only difference between the two tests. That is, the values of the minor clauses </a:t>
            </a:r>
            <a:r>
              <a:rPr lang="en-US" altLang="zh-CN" sz="2000" dirty="0" err="1"/>
              <a:t>cj</a:t>
            </a:r>
            <a:r>
              <a:rPr lang="en-US" altLang="zh-CN" sz="2000" dirty="0"/>
              <a:t> must be identical on the two tests.</a:t>
            </a:r>
            <a:endParaRPr lang="zh-CN" altLang="zh-CN" sz="2000" dirty="0"/>
          </a:p>
          <a:p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498E1-219D-42B7-95F2-4AB51713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8375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EA5B3-507B-4CD9-B6C3-A97F1290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General Description of</a:t>
            </a:r>
            <a:r>
              <a:rPr lang="zh-CN" altLang="en-US" dirty="0"/>
              <a:t> </a:t>
            </a:r>
            <a:r>
              <a:rPr lang="en-US" altLang="zh-CN" dirty="0"/>
              <a:t>TR for ICC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3CA57-87AE-4885-B9EA-ED5C7CEE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For each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FF00"/>
                </a:solidFill>
              </a:rPr>
              <a:t>GICC</a:t>
            </a:r>
            <a:r>
              <a:rPr lang="en-US" altLang="zh-CN" sz="2400" dirty="0"/>
              <a:t> has two pairs of test requirements: </a:t>
            </a:r>
            <a:endParaRPr lang="zh-CN" altLang="zh-CN" sz="2400" dirty="0"/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Pair 1: 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T.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T. </a:t>
            </a:r>
            <a:endParaRPr lang="zh-CN" altLang="zh-CN" sz="2000" b="1" dirty="0">
              <a:solidFill>
                <a:srgbClr val="FFFF00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Pair 2: 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F.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F. </a:t>
            </a:r>
            <a:endParaRPr lang="zh-CN" altLang="zh-CN" sz="2000" b="1" dirty="0">
              <a:solidFill>
                <a:srgbClr val="FFFF00"/>
              </a:solidFill>
            </a:endParaRPr>
          </a:p>
          <a:p>
            <a:pPr lvl="1"/>
            <a:r>
              <a:rPr lang="en-US" altLang="zh-CN" sz="2000" dirty="0"/>
              <a:t>The minor clauses </a:t>
            </a:r>
            <a:r>
              <a:rPr lang="en-US" altLang="zh-CN" sz="2000" dirty="0" err="1"/>
              <a:t>cj</a:t>
            </a:r>
            <a:r>
              <a:rPr lang="en-US" altLang="zh-CN" sz="2000" dirty="0"/>
              <a:t> may differ between the two tests. Often, one of the pairs is infeasible. </a:t>
            </a:r>
            <a:endParaRPr lang="zh-CN" altLang="zh-CN" sz="2000" dirty="0"/>
          </a:p>
          <a:p>
            <a:r>
              <a:rPr lang="en-US" altLang="zh-CN" sz="2400" dirty="0"/>
              <a:t>For each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FF00"/>
                </a:solidFill>
              </a:rPr>
              <a:t>RICC</a:t>
            </a:r>
            <a:r>
              <a:rPr lang="en-US" altLang="zh-CN" sz="2400" dirty="0"/>
              <a:t> has two pairs of test requirements: </a:t>
            </a:r>
            <a:endParaRPr lang="zh-CN" altLang="zh-CN" sz="2400" dirty="0"/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Pair 1: 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T.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T. </a:t>
            </a:r>
            <a:endParaRPr lang="zh-CN" altLang="zh-CN" sz="2000" b="1" dirty="0">
              <a:solidFill>
                <a:srgbClr val="FFFF00"/>
              </a:solidFill>
            </a:endParaRPr>
          </a:p>
          <a:p>
            <a:pPr lvl="1"/>
            <a:r>
              <a:rPr lang="en-US" altLang="zh-CN" sz="2000" b="1" dirty="0">
                <a:solidFill>
                  <a:srgbClr val="FFFF00"/>
                </a:solidFill>
              </a:rPr>
              <a:t>Pair 2: ci = T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F. ci = F ∧ </a:t>
            </a:r>
            <a:r>
              <a:rPr lang="en-US" altLang="zh-CN" sz="2000" b="1" dirty="0" err="1">
                <a:solidFill>
                  <a:srgbClr val="FFFF00"/>
                </a:solidFill>
              </a:rPr>
              <a:t>pci</a:t>
            </a:r>
            <a:r>
              <a:rPr lang="en-US" altLang="zh-CN" sz="2000" b="1" dirty="0">
                <a:solidFill>
                  <a:srgbClr val="FFFF00"/>
                </a:solidFill>
              </a:rPr>
              <a:t> = F ∧ p = F. </a:t>
            </a:r>
            <a:endParaRPr lang="zh-CN" altLang="zh-CN" sz="2000" b="1" dirty="0">
              <a:solidFill>
                <a:srgbClr val="FFFF00"/>
              </a:solidFill>
            </a:endParaRPr>
          </a:p>
          <a:p>
            <a:pPr lvl="1"/>
            <a:r>
              <a:rPr lang="en-US" altLang="zh-CN" sz="2000" dirty="0"/>
              <a:t>Additionally, ci is the only difference between the two tests in Pair 1 and the two tests in Pair 2. </a:t>
            </a:r>
          </a:p>
          <a:p>
            <a:pPr lvl="1"/>
            <a:r>
              <a:rPr lang="en-US" altLang="zh-CN" sz="2000" dirty="0"/>
              <a:t>That is, the values of the minor clauses </a:t>
            </a:r>
            <a:r>
              <a:rPr lang="en-US" altLang="zh-CN" sz="2000" dirty="0" err="1"/>
              <a:t>cj</a:t>
            </a:r>
            <a:r>
              <a:rPr lang="en-US" altLang="zh-CN" sz="2000" dirty="0"/>
              <a:t> must be identical for the two tests in Pair 1 and identical for the two tests in Pair 2. Again, one of the pairs is often infeasible.</a:t>
            </a:r>
            <a:endParaRPr lang="zh-CN" altLang="zh-CN" sz="2000" dirty="0"/>
          </a:p>
          <a:p>
            <a:endParaRPr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69B5A5-DF2D-46E2-8869-D91FD630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746D48-DD90-4553-99FD-0BCBC45E06CF}"/>
              </a:ext>
            </a:extLst>
          </p:cNvPr>
          <p:cNvSpPr/>
          <p:nvPr/>
        </p:nvSpPr>
        <p:spPr>
          <a:xfrm>
            <a:off x="2576058" y="5643632"/>
            <a:ext cx="712039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ICC系列标准包含PC：对于所有的子句均需要考察p=T和p=F场景对应的测试需求，综合所有的测试需求必定满足PC</a:t>
            </a:r>
          </a:p>
        </p:txBody>
      </p:sp>
    </p:spTree>
    <p:extLst>
      <p:ext uri="{BB962C8B-B14F-4D97-AF65-F5344CB8AC3E}">
        <p14:creationId xmlns:p14="http://schemas.microsoft.com/office/powerpoint/2010/main" val="410502237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988BF-E1ED-4DAA-BE28-82EC463A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两组概念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74FEB-5417-49CD-9F7D-7C343F8C5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判定覆盖</a:t>
            </a:r>
            <a:r>
              <a:rPr lang="en-US" altLang="zh-CN" dirty="0"/>
              <a:t>/</a:t>
            </a:r>
            <a:r>
              <a:rPr lang="zh-CN" altLang="en-US" dirty="0"/>
              <a:t>分支覆盖</a:t>
            </a:r>
            <a:r>
              <a:rPr lang="en-US" altLang="zh-CN" dirty="0"/>
              <a:t>Decision/Branch Coverage (DC)</a:t>
            </a:r>
          </a:p>
          <a:p>
            <a:pPr lvl="1"/>
            <a:r>
              <a:rPr lang="zh-CN" altLang="en-US" dirty="0"/>
              <a:t>判定的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至少各执行一次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 err="1"/>
              <a:t>Eg.</a:t>
            </a:r>
            <a:r>
              <a:rPr lang="en-US" altLang="zh-CN" dirty="0"/>
              <a:t> ((x&gt;5) &amp;&amp; (y&gt;0)): true and false</a:t>
            </a:r>
          </a:p>
          <a:p>
            <a:r>
              <a:rPr lang="zh-CN" altLang="en-US" dirty="0"/>
              <a:t>条件覆盖</a:t>
            </a:r>
            <a:r>
              <a:rPr lang="en-US" altLang="zh-CN" dirty="0"/>
              <a:t>Condition Coverage (CC)</a:t>
            </a:r>
            <a:endParaRPr lang="zh-CN" altLang="en-US" dirty="0"/>
          </a:p>
          <a:p>
            <a:pPr lvl="1"/>
            <a:r>
              <a:rPr lang="zh-CN" altLang="en-US" dirty="0"/>
              <a:t>每个条件的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至少各被执行一次</a:t>
            </a:r>
          </a:p>
          <a:p>
            <a:pPr lvl="1"/>
            <a:r>
              <a:rPr lang="en-US" altLang="zh-CN" dirty="0"/>
              <a:t>(x&gt;5) </a:t>
            </a:r>
            <a:r>
              <a:rPr lang="zh-CN" altLang="en-US" dirty="0"/>
              <a:t>：</a:t>
            </a:r>
            <a:r>
              <a:rPr lang="en-US" altLang="zh-CN" dirty="0"/>
              <a:t>true and false</a:t>
            </a:r>
          </a:p>
          <a:p>
            <a:pPr lvl="1"/>
            <a:r>
              <a:rPr lang="en-US" altLang="zh-CN" dirty="0"/>
              <a:t>(y&gt;0)</a:t>
            </a:r>
            <a:r>
              <a:rPr lang="zh-CN" altLang="en-US" dirty="0"/>
              <a:t>：</a:t>
            </a:r>
            <a:r>
              <a:rPr lang="en-US" altLang="zh-CN" dirty="0"/>
              <a:t>true and false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谓词覆盖</a:t>
            </a:r>
            <a:r>
              <a:rPr lang="en-US" altLang="zh-CN" dirty="0"/>
              <a:t>Predicate Coverage (PC) </a:t>
            </a:r>
          </a:p>
          <a:p>
            <a:pPr lvl="1"/>
            <a:r>
              <a:rPr lang="zh-CN" altLang="en-US" dirty="0"/>
              <a:t>每个谓词</a:t>
            </a:r>
            <a:r>
              <a:rPr lang="en-US" altLang="zh-CN" dirty="0"/>
              <a:t>P</a:t>
            </a:r>
            <a:r>
              <a:rPr lang="zh-CN" altLang="en-US" dirty="0"/>
              <a:t>的</a:t>
            </a:r>
            <a:r>
              <a:rPr lang="en-US" altLang="zh-CN" dirty="0"/>
              <a:t>true </a:t>
            </a:r>
            <a:r>
              <a:rPr lang="zh-CN" altLang="en-US" dirty="0"/>
              <a:t>和</a:t>
            </a:r>
            <a:r>
              <a:rPr lang="en-US" altLang="zh-CN" dirty="0"/>
              <a:t>false </a:t>
            </a:r>
            <a:r>
              <a:rPr lang="zh-CN" altLang="en-US" dirty="0"/>
              <a:t>各被执行一次</a:t>
            </a:r>
            <a:endParaRPr lang="en-US" altLang="zh-CN" dirty="0"/>
          </a:p>
          <a:p>
            <a:r>
              <a:rPr lang="zh-CN" altLang="en-US" dirty="0"/>
              <a:t>子句覆盖</a:t>
            </a:r>
            <a:r>
              <a:rPr lang="en-US" altLang="zh-CN" dirty="0"/>
              <a:t>Clause Coverage (CC) </a:t>
            </a:r>
          </a:p>
          <a:p>
            <a:pPr lvl="1"/>
            <a:r>
              <a:rPr lang="zh-CN" altLang="en-US" dirty="0"/>
              <a:t>每个子句</a:t>
            </a:r>
            <a:r>
              <a:rPr lang="en-US" altLang="zh-CN" dirty="0"/>
              <a:t>C</a:t>
            </a:r>
            <a:r>
              <a:rPr lang="zh-CN" altLang="en-US" dirty="0"/>
              <a:t>的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各被执行一次</a:t>
            </a:r>
          </a:p>
          <a:p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C52E9-0C3B-4CFC-968E-F21A234B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3366CC-DD0A-4F06-9AB3-40D332E3BDBC}"/>
              </a:ext>
            </a:extLst>
          </p:cNvPr>
          <p:cNvSpPr/>
          <p:nvPr/>
        </p:nvSpPr>
        <p:spPr>
          <a:xfrm>
            <a:off x="7397295" y="1846069"/>
            <a:ext cx="30658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条件与判定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Condition and Decision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0CC11D-37E6-414E-949A-A2F882510AD1}"/>
              </a:ext>
            </a:extLst>
          </p:cNvPr>
          <p:cNvSpPr/>
          <p:nvPr/>
        </p:nvSpPr>
        <p:spPr>
          <a:xfrm>
            <a:off x="7541049" y="5090840"/>
            <a:ext cx="277832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子句与谓词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Clause and Predicate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21239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5DC5243-3371-4069-ABF3-4AF8A9C2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修正条件判定覆盖</a:t>
            </a:r>
            <a:r>
              <a:rPr lang="en-US" altLang="zh-CN" dirty="0"/>
              <a:t>MCDC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B7F5C8B-B9A8-46E9-A78C-84F943809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条件判定覆盖</a:t>
            </a:r>
            <a:r>
              <a:rPr lang="en-US" altLang="zh-CN" dirty="0"/>
              <a:t>Decision Condition Coverage(C/DC)</a:t>
            </a:r>
          </a:p>
          <a:p>
            <a:pPr lvl="1"/>
            <a:r>
              <a:rPr lang="zh-CN" altLang="en-US" dirty="0"/>
              <a:t>同时满足</a:t>
            </a:r>
            <a:r>
              <a:rPr lang="en-US" altLang="zh-CN" dirty="0"/>
              <a:t>DC</a:t>
            </a:r>
            <a:r>
              <a:rPr lang="zh-CN" altLang="en-US" dirty="0"/>
              <a:t>和</a:t>
            </a:r>
            <a:r>
              <a:rPr lang="en-US" altLang="zh-CN" dirty="0"/>
              <a:t>CC</a:t>
            </a:r>
            <a:r>
              <a:rPr lang="zh-CN" altLang="en-US" dirty="0"/>
              <a:t>，即</a:t>
            </a:r>
            <a:r>
              <a:rPr lang="en-US" altLang="zh-CN" dirty="0"/>
              <a:t>C/DC(P)=CC(P) ∩ DC(P)</a:t>
            </a:r>
          </a:p>
          <a:p>
            <a:pPr lvl="1"/>
            <a:r>
              <a:rPr lang="en-US" altLang="zh-CN" dirty="0"/>
              <a:t>C/DC </a:t>
            </a:r>
            <a:r>
              <a:rPr lang="zh-CN" altLang="en-US" dirty="0"/>
              <a:t>包含</a:t>
            </a:r>
            <a:r>
              <a:rPr lang="en-US" altLang="zh-CN" dirty="0"/>
              <a:t> CC</a:t>
            </a:r>
          </a:p>
          <a:p>
            <a:pPr lvl="1"/>
            <a:r>
              <a:rPr lang="en-US" altLang="zh-CN" dirty="0"/>
              <a:t>C/DC </a:t>
            </a:r>
            <a:r>
              <a:rPr lang="zh-CN" altLang="en-US" dirty="0"/>
              <a:t>包含 </a:t>
            </a:r>
            <a:r>
              <a:rPr lang="en-US" altLang="zh-CN" dirty="0"/>
              <a:t>DC</a:t>
            </a:r>
          </a:p>
          <a:p>
            <a:r>
              <a:rPr lang="zh-CN" altLang="en-US" dirty="0"/>
              <a:t>修正条件判定覆盖</a:t>
            </a:r>
            <a:r>
              <a:rPr lang="en-US" altLang="zh-CN" dirty="0"/>
              <a:t>Modified Condition/Decision Coverage (MC/DC) </a:t>
            </a:r>
          </a:p>
          <a:p>
            <a:pPr lvl="1"/>
            <a:r>
              <a:rPr lang="zh-CN" altLang="en-US" dirty="0"/>
              <a:t>每个条件独立影响判定</a:t>
            </a:r>
            <a:r>
              <a:rPr lang="en-US" altLang="zh-CN" dirty="0"/>
              <a:t>true</a:t>
            </a:r>
            <a:r>
              <a:rPr lang="zh-CN" altLang="en-US" dirty="0"/>
              <a:t>和</a:t>
            </a:r>
            <a:r>
              <a:rPr lang="en-US" altLang="zh-CN" dirty="0"/>
              <a:t>false</a:t>
            </a:r>
            <a:r>
              <a:rPr lang="zh-CN" altLang="en-US" dirty="0"/>
              <a:t>各一次</a:t>
            </a:r>
            <a:endParaRPr lang="en-US" altLang="zh-CN" dirty="0"/>
          </a:p>
          <a:p>
            <a:pPr lvl="1"/>
            <a:r>
              <a:rPr lang="zh-CN" altLang="en-US" dirty="0"/>
              <a:t>理论上测试用例数目一般为（</a:t>
            </a:r>
            <a:r>
              <a:rPr lang="en-US" altLang="zh-CN" dirty="0"/>
              <a:t>N+1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6CF809-DFE1-49B5-877D-CACD58B8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AFA7F6-2645-45EE-B629-B6B09A102A0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561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93BD41-64B5-41F1-B6A9-9DCBCD44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有效子句覆盖</a:t>
            </a:r>
            <a:r>
              <a:rPr lang="en-US" altLang="zh-CN" sz="3200" dirty="0"/>
              <a:t>Active Clause Coverage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0D8423-395D-4293-B4C2-C70CBA540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General Active Clause Coverage (GACC) </a:t>
            </a:r>
          </a:p>
          <a:p>
            <a:pPr lvl="1"/>
            <a:r>
              <a:rPr lang="zh-CN" altLang="en-US" dirty="0"/>
              <a:t>满足子句覆盖，可能不满足谓词覆盖！</a:t>
            </a:r>
            <a:endParaRPr lang="en-US" altLang="zh-CN" dirty="0"/>
          </a:p>
          <a:p>
            <a:r>
              <a:rPr lang="en-US" altLang="zh-CN" dirty="0"/>
              <a:t>Restricted Active Clause Coverage (RACC)</a:t>
            </a:r>
          </a:p>
          <a:p>
            <a:pPr lvl="1"/>
            <a:r>
              <a:rPr lang="zh-CN" altLang="en-US" dirty="0"/>
              <a:t>满足谓词覆盖和子句覆盖，</a:t>
            </a:r>
            <a:endParaRPr lang="en-US" altLang="zh-CN" dirty="0"/>
          </a:p>
          <a:p>
            <a:pPr lvl="1"/>
            <a:r>
              <a:rPr lang="zh-CN" altLang="en-US" dirty="0"/>
              <a:t>是</a:t>
            </a:r>
            <a:r>
              <a:rPr lang="en-US" altLang="zh-CN" dirty="0"/>
              <a:t>ACC</a:t>
            </a:r>
            <a:r>
              <a:rPr lang="zh-CN" altLang="en-US" dirty="0"/>
              <a:t>和</a:t>
            </a:r>
            <a:r>
              <a:rPr lang="en-US" altLang="zh-CN" dirty="0"/>
              <a:t>MCDC</a:t>
            </a:r>
            <a:r>
              <a:rPr lang="zh-CN" altLang="en-US" dirty="0"/>
              <a:t>中最常被采用的定义</a:t>
            </a:r>
            <a:endParaRPr lang="en-US" altLang="zh-CN" dirty="0"/>
          </a:p>
          <a:p>
            <a:pPr lvl="1"/>
            <a:r>
              <a:rPr lang="zh-CN" altLang="en-US" dirty="0"/>
              <a:t>可能导致更多测试用例！</a:t>
            </a:r>
          </a:p>
          <a:p>
            <a:r>
              <a:rPr lang="en-US" altLang="zh-CN" dirty="0"/>
              <a:t>Correlated Active Clause Coverage (CACC)</a:t>
            </a:r>
          </a:p>
          <a:p>
            <a:pPr lvl="1"/>
            <a:r>
              <a:rPr lang="zh-CN" altLang="en-US" dirty="0"/>
              <a:t>满足谓词覆盖和子句覆盖</a:t>
            </a:r>
            <a:endParaRPr lang="en-US" altLang="zh-CN" dirty="0"/>
          </a:p>
          <a:p>
            <a:pPr lvl="1"/>
            <a:r>
              <a:rPr lang="zh-CN" altLang="en-US" dirty="0"/>
              <a:t>测试用例数目介于</a:t>
            </a:r>
            <a:r>
              <a:rPr lang="en-US" altLang="zh-CN" dirty="0"/>
              <a:t>GACC</a:t>
            </a:r>
            <a:r>
              <a:rPr lang="zh-CN" altLang="en-US" dirty="0"/>
              <a:t>和</a:t>
            </a:r>
            <a:r>
              <a:rPr lang="en-US" altLang="zh-CN" dirty="0"/>
              <a:t>RACC</a:t>
            </a:r>
            <a:r>
              <a:rPr lang="zh-CN" altLang="en-US" dirty="0"/>
              <a:t>之间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D7B02B-F97B-4F36-9B1C-D837B2B6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0598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ED393-4637-4078-ADA8-206AA797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Number of Tests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C8978-707C-4BFA-B67D-140129DA4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MCDC and the RACC criteria need </a:t>
            </a:r>
            <a:r>
              <a:rPr lang="en-US" altLang="zh-CN" b="1" dirty="0">
                <a:solidFill>
                  <a:srgbClr val="FFFF00"/>
                </a:solidFill>
              </a:rPr>
              <a:t>at least n + 1 </a:t>
            </a:r>
            <a:r>
              <a:rPr lang="en-US" altLang="zh-CN" dirty="0"/>
              <a:t>tests, but  always </a:t>
            </a:r>
            <a:r>
              <a:rPr lang="en-US" altLang="zh-CN" b="1" dirty="0">
                <a:solidFill>
                  <a:srgbClr val="FFFF00"/>
                </a:solidFill>
              </a:rPr>
              <a:t>fewer than 2n </a:t>
            </a:r>
            <a:r>
              <a:rPr lang="en-US" altLang="zh-CN" dirty="0"/>
              <a:t>tests. </a:t>
            </a:r>
          </a:p>
          <a:p>
            <a:r>
              <a:rPr lang="en-US" altLang="zh-CN" dirty="0"/>
              <a:t>Kaminski also showed that </a:t>
            </a:r>
            <a:r>
              <a:rPr lang="en-US" altLang="zh-CN" b="1" dirty="0">
                <a:solidFill>
                  <a:srgbClr val="FFFF00"/>
                </a:solidFill>
              </a:rPr>
              <a:t>n + 1 is enough when n &lt; 4</a:t>
            </a:r>
            <a:r>
              <a:rPr lang="en-US" altLang="zh-CN" dirty="0"/>
              <a:t>, because of the overlap among tests, but the number of tests  needed for some functions </a:t>
            </a:r>
            <a:r>
              <a:rPr lang="en-US" altLang="zh-CN" b="1" dirty="0">
                <a:solidFill>
                  <a:srgbClr val="FFFF00"/>
                </a:solidFill>
              </a:rPr>
              <a:t>gets closer to 2n as n grows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8D467F-C911-42D0-AB8E-21BA5331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EB0AC8-263E-4BC2-8316-EF38483797F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9330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Logic Coverage Summary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Predicates are often </a:t>
            </a:r>
            <a:r>
              <a:rPr lang="en-US" altLang="en-US" dirty="0">
                <a:solidFill>
                  <a:schemeClr val="tx2"/>
                </a:solidFill>
              </a:rPr>
              <a:t>very simple</a:t>
            </a:r>
            <a:r>
              <a:rPr lang="en-US" altLang="en-US" dirty="0"/>
              <a:t>—in practice, most have less than 3 clauses</a:t>
            </a:r>
          </a:p>
          <a:p>
            <a:pPr lvl="1"/>
            <a:r>
              <a:rPr lang="en-US" altLang="en-US" dirty="0"/>
              <a:t>In fact, most predicates only have one clause !</a:t>
            </a:r>
          </a:p>
          <a:p>
            <a:pPr lvl="1"/>
            <a:r>
              <a:rPr lang="en-US" altLang="en-US" dirty="0"/>
              <a:t>With only clause, PC is enough</a:t>
            </a:r>
          </a:p>
          <a:p>
            <a:pPr lvl="1"/>
            <a:r>
              <a:rPr lang="en-US" altLang="en-US" dirty="0"/>
              <a:t>With 2 or 3 clauses, </a:t>
            </a:r>
            <a:r>
              <a:rPr lang="en-US" altLang="en-US" dirty="0" err="1"/>
              <a:t>CoC</a:t>
            </a:r>
            <a:r>
              <a:rPr lang="en-US" altLang="en-US" dirty="0"/>
              <a:t> is practical</a:t>
            </a:r>
          </a:p>
          <a:p>
            <a:pPr lvl="1"/>
            <a:r>
              <a:rPr lang="en-US" altLang="en-US" dirty="0"/>
              <a:t>Advantages of ACC and ICC criteria significant for large predicates</a:t>
            </a:r>
          </a:p>
          <a:p>
            <a:pPr lvl="2"/>
            <a:r>
              <a:rPr lang="en-US" altLang="en-US" dirty="0" err="1"/>
              <a:t>CoC</a:t>
            </a:r>
            <a:r>
              <a:rPr lang="en-US" altLang="en-US" dirty="0"/>
              <a:t> is impractical for predicates with many clauses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Control software</a:t>
            </a:r>
            <a:r>
              <a:rPr lang="en-US" altLang="en-US" dirty="0"/>
              <a:t> often has many complicated predicates, with lots of clauses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Question</a:t>
            </a:r>
            <a:r>
              <a:rPr lang="en-US" altLang="en-US" dirty="0"/>
              <a:t> … why don’t complexity metrics count the number of clauses in predicates?</a:t>
            </a:r>
          </a:p>
          <a:p>
            <a:pPr lvl="1"/>
            <a:r>
              <a:rPr lang="en-US" altLang="en-US" dirty="0"/>
              <a:t>Traditional complexity metrics count decisions, not the number of clauses inside them. </a:t>
            </a:r>
          </a:p>
          <a:p>
            <a:pPr lvl="1"/>
            <a:r>
              <a:rPr lang="en-US" altLang="en-US" dirty="0"/>
              <a:t>From a control-flow perspective, a complex expression is still just one branch. </a:t>
            </a:r>
          </a:p>
          <a:p>
            <a:pPr lvl="1"/>
            <a:r>
              <a:rPr lang="en-US" altLang="en-US" dirty="0"/>
              <a:t>But from a testing perspective, it may contain multiple interacting conditions. </a:t>
            </a:r>
          </a:p>
          <a:p>
            <a:pPr lvl="1"/>
            <a:r>
              <a:rPr lang="en-US" altLang="en-US" dirty="0"/>
              <a:t>That gap is exactly what logic coverage addresses.</a:t>
            </a:r>
          </a:p>
        </p:txBody>
      </p:sp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A757F58-5CC9-4FA5-B3D2-35E5EC22D2D0}" type="slidenum">
              <a:rPr lang="en-US" altLang="en-US" sz="900" b="0">
                <a:solidFill>
                  <a:schemeClr val="tx1"/>
                </a:solidFill>
                <a:latin typeface="Arial" charset="0"/>
                <a:cs typeface="Arial" charset="0"/>
              </a:rPr>
              <a:pPr/>
              <a:t>21</a:t>
            </a:fld>
            <a:endParaRPr lang="en-US" altLang="en-US" sz="900" b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9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96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/>
    </p:bldLst>
  </p:timing>
</p:sld>
</file>

<file path=ppt/theme/theme1.xml><?xml version="1.0" encoding="utf-8"?>
<a:theme xmlns:a="http://schemas.openxmlformats.org/drawingml/2006/main" name="intro">
  <a:themeElements>
    <a:clrScheme name="Custom 11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1378</TotalTime>
  <Pages>49</Pages>
  <Words>2848</Words>
  <Application>Microsoft Office PowerPoint</Application>
  <PresentationFormat>宽屏</PresentationFormat>
  <Paragraphs>414</Paragraphs>
  <Slides>21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Gill Sans MT</vt:lpstr>
      <vt:lpstr>等线</vt:lpstr>
      <vt:lpstr>微软雅黑</vt:lpstr>
      <vt:lpstr>Arial</vt:lpstr>
      <vt:lpstr>Times New Roman</vt:lpstr>
      <vt:lpstr>Verdana</vt:lpstr>
      <vt:lpstr>Wingdings</vt:lpstr>
      <vt:lpstr>intro</vt:lpstr>
      <vt:lpstr>Chapter 4 Logic Coverage</vt:lpstr>
      <vt:lpstr>Objectives</vt:lpstr>
      <vt:lpstr>Inactive Clause Coverage (8.1.3)</vt:lpstr>
      <vt:lpstr>General and Restricted ICC</vt:lpstr>
      <vt:lpstr>Infeasibility &amp; Subsumption (8.1.4) </vt:lpstr>
      <vt:lpstr>Logic Criteria Subsumption</vt:lpstr>
      <vt:lpstr>GACC不能包含PC的例子</vt:lpstr>
      <vt:lpstr>Making Clauses Determine a Predicate (8.1.5)</vt:lpstr>
      <vt:lpstr>Examples</vt:lpstr>
      <vt:lpstr>XOR Identity Rules</vt:lpstr>
      <vt:lpstr>Repeated Variables</vt:lpstr>
      <vt:lpstr>A More Subtle Example</vt:lpstr>
      <vt:lpstr>Tabular Method for Determination</vt:lpstr>
      <vt:lpstr>Test Requirements Analysis</vt:lpstr>
      <vt:lpstr>General Description of TR for ACC</vt:lpstr>
      <vt:lpstr>General Description of TR for ICC</vt:lpstr>
      <vt:lpstr>两组概念</vt:lpstr>
      <vt:lpstr>修正条件判定覆盖MCDC</vt:lpstr>
      <vt:lpstr>有效子句覆盖Active Clause Coverage</vt:lpstr>
      <vt:lpstr>The Number of Tests</vt:lpstr>
      <vt:lpstr>Logic Coverage Summary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Logic Coverage</dc:title>
  <dc:creator>Jeff Offutt</dc:creator>
  <cp:lastModifiedBy>Yue Zhang</cp:lastModifiedBy>
  <cp:revision>287</cp:revision>
  <cp:lastPrinted>1996-04-04T10:27:56Z</cp:lastPrinted>
  <dcterms:created xsi:type="dcterms:W3CDTF">1996-06-15T03:21:08Z</dcterms:created>
  <dcterms:modified xsi:type="dcterms:W3CDTF">2026-04-27T12:42:26Z</dcterms:modified>
</cp:coreProperties>
</file>