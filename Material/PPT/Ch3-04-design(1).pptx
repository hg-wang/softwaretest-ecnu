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36" r:id="rId2"/>
    <p:sldId id="434" r:id="rId3"/>
    <p:sldId id="407" r:id="rId4"/>
    <p:sldId id="409" r:id="rId5"/>
    <p:sldId id="411" r:id="rId6"/>
    <p:sldId id="412" r:id="rId7"/>
    <p:sldId id="413" r:id="rId8"/>
    <p:sldId id="410" r:id="rId9"/>
    <p:sldId id="431" r:id="rId10"/>
    <p:sldId id="408" r:id="rId11"/>
    <p:sldId id="418" r:id="rId12"/>
    <p:sldId id="419" r:id="rId13"/>
    <p:sldId id="432" r:id="rId14"/>
    <p:sldId id="433" r:id="rId15"/>
    <p:sldId id="424" r:id="rId16"/>
    <p:sldId id="425" r:id="rId17"/>
    <p:sldId id="426" r:id="rId18"/>
    <p:sldId id="420" r:id="rId19"/>
    <p:sldId id="429" r:id="rId20"/>
    <p:sldId id="430" r:id="rId21"/>
    <p:sldId id="440" r:id="rId22"/>
    <p:sldId id="441" r:id="rId23"/>
    <p:sldId id="442" r:id="rId24"/>
    <p:sldId id="438" r:id="rId25"/>
    <p:sldId id="444" r:id="rId26"/>
    <p:sldId id="445" r:id="rId27"/>
  </p:sldIdLst>
  <p:sldSz cx="12192000" cy="6858000"/>
  <p:notesSz cx="7315200" cy="96012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145A"/>
    <a:srgbClr val="001E5A"/>
    <a:srgbClr val="5F5F5F"/>
    <a:srgbClr val="000000"/>
    <a:srgbClr val="6699FF"/>
    <a:srgbClr val="3399FF"/>
    <a:srgbClr val="0033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6" autoAdjust="0"/>
    <p:restoredTop sz="71466" autoAdjust="0"/>
  </p:normalViewPr>
  <p:slideViewPr>
    <p:cSldViewPr snapToGrid="0">
      <p:cViewPr varScale="1">
        <p:scale>
          <a:sx n="70" d="100"/>
          <a:sy n="70" d="100"/>
        </p:scale>
        <p:origin x="2120" y="56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1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algn="l" defTabSz="96655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5502" y="0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defTabSz="96655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97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algn="l" defTabSz="96655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502" y="9121797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defTabSz="966556">
              <a:defRPr sz="1100" b="0" i="1"/>
            </a:lvl1pPr>
          </a:lstStyle>
          <a:p>
            <a:pPr>
              <a:defRPr/>
            </a:pPr>
            <a:fld id="{2A888AB7-C0C7-4A5A-85C7-65FB70CB8C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44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algn="l" defTabSz="96655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502" y="0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defTabSz="96655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97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algn="l" defTabSz="96655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502" y="9121797"/>
            <a:ext cx="3169699" cy="47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defTabSz="96655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A541435-78F2-4857-927E-9E1D580206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144" y="4559257"/>
            <a:ext cx="5366914" cy="4319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25" tIns="48664" rIns="97325" bIns="486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3262213" y="9144782"/>
            <a:ext cx="789118" cy="28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3" tIns="46985" rIns="92293" bIns="46985">
            <a:spAutoFit/>
          </a:bodyPr>
          <a:lstStyle>
            <a:lvl1pPr defTabSz="8826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8826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88265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88265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88265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defTabSz="8826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defTabSz="8826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defTabSz="8826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defTabSz="8826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400" b="0">
                <a:solidFill>
                  <a:schemeClr val="tx1"/>
                </a:solidFill>
              </a:rPr>
              <a:t>Page </a:t>
            </a:r>
            <a:fld id="{E24CC160-ECAA-405D-98EC-16996C141DA0}" type="slidenum">
              <a:rPr lang="en-US" altLang="en-US" sz="14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5060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8985B74-63C7-47FD-BC58-83182A3496EE}" type="slidenum">
              <a:rPr lang="en-US" altLang="en-US" sz="1100" b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413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BCBBA70-80DA-40E7-934B-25B1A3808D6B}" type="slidenum">
              <a:rPr lang="en-US" altLang="en-US" sz="1100" b="0">
                <a:solidFill>
                  <a:schemeClr val="tx1"/>
                </a:solidFill>
              </a:rPr>
              <a:pPr/>
              <a:t>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394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A01B72A-AE0D-4958-800A-C1177E67734F}" type="slidenum">
              <a:rPr lang="en-US" altLang="en-US" sz="1100" b="0">
                <a:solidFill>
                  <a:schemeClr val="tx1"/>
                </a:solidFill>
              </a:rPr>
              <a:pPr/>
              <a:t>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06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558D585-AAE7-4489-8027-277E02DDF7F4}" type="slidenum">
              <a:rPr lang="en-US" altLang="en-US" sz="1100" b="0">
                <a:solidFill>
                  <a:schemeClr val="tx1"/>
                </a:solidFill>
              </a:rPr>
              <a:pPr/>
              <a:t>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96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Callsite</a:t>
            </a:r>
            <a:r>
              <a:rPr lang="zh-CN" altLang="en-US" dirty="0"/>
              <a:t>：调用点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15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047388A-9C40-4547-9C7A-30FB9E512E78}" type="slidenum">
              <a:rPr lang="en-US" altLang="en-US" sz="1100" b="0">
                <a:solidFill>
                  <a:schemeClr val="tx1"/>
                </a:solidFill>
              </a:rPr>
              <a:pPr/>
              <a:t>11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945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DAB9A92-79DD-48E0-BC1F-A8D0D491CEFD}" type="slidenum">
              <a:rPr lang="en-US" altLang="en-US" sz="1100" b="0">
                <a:solidFill>
                  <a:schemeClr val="tx1"/>
                </a:solidFill>
              </a:rPr>
              <a:pPr/>
              <a:t>15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699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B0E0F9E-2E00-4BA7-A7C5-1EAB365FC3D0}" type="slidenum">
              <a:rPr lang="en-US" altLang="en-US" sz="1100" b="0">
                <a:solidFill>
                  <a:schemeClr val="tx1"/>
                </a:solidFill>
              </a:rPr>
              <a:pPr/>
              <a:t>18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01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1925" indent="-296894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7577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62608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7639" indent="-237515" defTabSz="966556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12669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7700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62731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7762" indent="-237515" algn="r" defTabSz="966556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D2CF3E8-9D72-4DA3-8012-47E26C0722A2}" type="slidenum">
              <a:rPr lang="en-US" altLang="en-US" sz="1100" b="0">
                <a:solidFill>
                  <a:schemeClr val="tx1"/>
                </a:solidFill>
              </a:rPr>
              <a:pPr/>
              <a:t>19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06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如果一个路径在代码中存在，但运行时从未发生，这条路径是否值得测试？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24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动态调用图是否可以完全替代静态调用图？为什么？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84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Quadratic</a:t>
            </a:r>
            <a:r>
              <a:rPr lang="zh-CN" altLang="en-US" b="1" dirty="0"/>
              <a:t>例子升级</a:t>
            </a:r>
          </a:p>
          <a:p>
            <a:r>
              <a:rPr lang="zh-CN" altLang="en-US" dirty="0"/>
              <a:t>原来：</a:t>
            </a:r>
            <a:r>
              <a:rPr lang="en-US" altLang="zh-CN" dirty="0"/>
              <a:t>X → A ,Y → B </a:t>
            </a:r>
          </a:p>
          <a:p>
            <a:r>
              <a:rPr lang="zh-CN" altLang="en-US" dirty="0"/>
              <a:t>现在可以说： </a:t>
            </a:r>
            <a:r>
              <a:rPr lang="en-US" altLang="zh-CN" dirty="0"/>
              <a:t>JSON</a:t>
            </a:r>
            <a:r>
              <a:rPr lang="zh-CN" altLang="en-US" dirty="0"/>
              <a:t>字段 → 多个服务 → 最终计算结果</a:t>
            </a:r>
          </a:p>
          <a:p>
            <a:r>
              <a:rPr lang="zh-CN" altLang="en-US" dirty="0"/>
              <a:t>为什么“跟踪数据传播”比“枚举所有路径”更可扩展？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33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75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现代测试更关注：是否触发错误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Fuzzing</a:t>
            </a:r>
            <a:r>
              <a:rPr lang="zh-CN" altLang="en-US" dirty="0"/>
              <a:t>：不断尝试输入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Mutation</a:t>
            </a:r>
            <a:r>
              <a:rPr lang="zh-CN" altLang="en-US" dirty="0"/>
              <a:t>：测试是否能发现错误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41435-78F2-4857-927E-9E1D5802065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4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2FACD4-83CD-4C68-BCF2-D634801329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9895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448BB-2757-4FC7-9D5C-BB27172DC2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8968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B521D-CA07-4124-A902-13E9369778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2961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1028700"/>
            <a:ext cx="5810249" cy="5380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28700"/>
            <a:ext cx="5810251" cy="5380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E5B39-AB05-4D3F-A731-E5EFFFC6AC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82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DF402-B76A-4C21-AD36-D523E09F1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5387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A1E4E-E963-4A80-8A41-60C5CA146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4000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97962-FF21-4449-86E7-182958F5F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9928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1C72E-2DA6-4FDF-BB73-8967F2D79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6168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E2BB7-0FA2-4D1A-9EE4-F32DD8B3C7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8483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AB688-C0B5-4BC0-9803-273C38324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5946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8"/>
            <a:ext cx="2954867" cy="6311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8"/>
            <a:ext cx="8665633" cy="6311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62278-FC77-4A8C-B9E2-14C1BF0C6E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6175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4152" y="6599393"/>
            <a:ext cx="5008033" cy="233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5384" y="6591869"/>
            <a:ext cx="3860800" cy="240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67851" y="6584347"/>
            <a:ext cx="2540000" cy="248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ED0FED7-8789-464A-8741-8CFB31603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6634" y="96839"/>
            <a:ext cx="1185756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4151" y="1028700"/>
            <a:ext cx="11823700" cy="5563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 3 Graph Coverage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52700" y="3886200"/>
            <a:ext cx="7086600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3.4 Graph Coverage for Design Elements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8F7D9-9689-43C8-A035-65307CC6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FBAEA-52F8-428E-9E5E-BA3322BF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明确设计元素图覆盖的思路，包括调用图、包含类的实例化对象的调用图；</a:t>
            </a:r>
          </a:p>
          <a:p>
            <a:r>
              <a:rPr lang="zh-CN" altLang="zh-CN" dirty="0"/>
              <a:t>明确</a:t>
            </a:r>
            <a:r>
              <a:rPr lang="en-US" altLang="zh-CN" dirty="0"/>
              <a:t>last-def</a:t>
            </a:r>
            <a:r>
              <a:rPr lang="zh-CN" altLang="zh-CN" dirty="0"/>
              <a:t>集合、</a:t>
            </a:r>
            <a:r>
              <a:rPr lang="en-US" altLang="zh-CN" dirty="0"/>
              <a:t>first-use</a:t>
            </a:r>
            <a:r>
              <a:rPr lang="zh-CN" altLang="zh-CN" dirty="0"/>
              <a:t>集合、</a:t>
            </a:r>
            <a:r>
              <a:rPr lang="en-US" altLang="zh-CN" dirty="0" err="1"/>
              <a:t>couplingdu</a:t>
            </a:r>
            <a:r>
              <a:rPr lang="en-US" altLang="zh-CN" dirty="0"/>
              <a:t>-path</a:t>
            </a:r>
            <a:r>
              <a:rPr lang="zh-CN" altLang="zh-CN" dirty="0"/>
              <a:t>的含义，能写出上述集合中的元素，</a:t>
            </a:r>
            <a:r>
              <a:rPr lang="en-US" altLang="zh-CN" dirty="0" err="1"/>
              <a:t>couplingdu</a:t>
            </a:r>
            <a:r>
              <a:rPr lang="en-US" altLang="zh-CN" dirty="0"/>
              <a:t>-path</a:t>
            </a:r>
            <a:r>
              <a:rPr lang="zh-CN" altLang="zh-CN" dirty="0"/>
              <a:t>；</a:t>
            </a:r>
          </a:p>
          <a:p>
            <a:r>
              <a:rPr lang="zh-CN" altLang="zh-CN" dirty="0"/>
              <a:t>明确覆盖标准</a:t>
            </a:r>
            <a:r>
              <a:rPr lang="en-US" altLang="zh-CN" dirty="0"/>
              <a:t>All-Coupling-Def</a:t>
            </a:r>
            <a:r>
              <a:rPr lang="zh-CN" altLang="zh-CN" dirty="0"/>
              <a:t>覆盖、</a:t>
            </a:r>
            <a:r>
              <a:rPr lang="en-US" altLang="zh-CN" dirty="0"/>
              <a:t>All-Coupling-Use</a:t>
            </a:r>
            <a:r>
              <a:rPr lang="zh-CN" altLang="zh-CN" dirty="0"/>
              <a:t>覆盖、</a:t>
            </a:r>
            <a:r>
              <a:rPr lang="en-US" altLang="zh-CN" dirty="0"/>
              <a:t>All-Coupling-du-paths</a:t>
            </a:r>
            <a:r>
              <a:rPr lang="zh-CN" altLang="zh-CN" dirty="0"/>
              <a:t>覆盖的含义，写出上述覆盖标准的测试需求及满足对应测试需求的测试路径。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28E47-F269-499A-8B56-77C7E24F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851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57E3F24-8265-44EE-8D06-BC303C463E89}" type="slidenum">
              <a:rPr lang="en-US" altLang="en-US" sz="900" b="0">
                <a:solidFill>
                  <a:schemeClr val="tx1"/>
                </a:solidFill>
              </a:rPr>
              <a:pPr/>
              <a:t>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OO Software and Designs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444626"/>
            <a:ext cx="8867775" cy="4964113"/>
          </a:xfrm>
        </p:spPr>
        <p:txBody>
          <a:bodyPr/>
          <a:lstStyle/>
          <a:p>
            <a:r>
              <a:rPr lang="en-US" altLang="en-US" dirty="0"/>
              <a:t>Emphasis on modularity and reuse puts </a:t>
            </a:r>
            <a:r>
              <a:rPr lang="en-US" altLang="en-US" dirty="0">
                <a:solidFill>
                  <a:schemeClr val="tx2"/>
                </a:solidFill>
              </a:rPr>
              <a:t>complexity</a:t>
            </a:r>
            <a:r>
              <a:rPr lang="en-US" altLang="en-US" dirty="0"/>
              <a:t> in the </a:t>
            </a:r>
            <a:r>
              <a:rPr lang="en-US" altLang="en-US" dirty="0">
                <a:solidFill>
                  <a:schemeClr val="tx2"/>
                </a:solidFill>
              </a:rPr>
              <a:t>design connections</a:t>
            </a:r>
          </a:p>
          <a:p>
            <a:endParaRPr lang="en-US" altLang="en-US" dirty="0">
              <a:solidFill>
                <a:schemeClr val="tx2"/>
              </a:solidFill>
            </a:endParaRPr>
          </a:p>
          <a:p>
            <a:r>
              <a:rPr lang="en-US" altLang="en-US" dirty="0"/>
              <a:t>Testing </a:t>
            </a:r>
            <a:r>
              <a:rPr lang="en-US" altLang="en-US" dirty="0">
                <a:solidFill>
                  <a:schemeClr val="tx2"/>
                </a:solidFill>
              </a:rPr>
              <a:t>design relationships </a:t>
            </a:r>
            <a:r>
              <a:rPr lang="en-US" altLang="en-US" dirty="0"/>
              <a:t>is more important than before</a:t>
            </a:r>
          </a:p>
          <a:p>
            <a:endParaRPr lang="en-US" altLang="en-US" dirty="0"/>
          </a:p>
          <a:p>
            <a:r>
              <a:rPr lang="en-US" altLang="en-US" dirty="0"/>
              <a:t>Graphs are based on the </a:t>
            </a:r>
            <a:r>
              <a:rPr lang="en-US" altLang="en-US" dirty="0">
                <a:solidFill>
                  <a:schemeClr val="tx2"/>
                </a:solidFill>
              </a:rPr>
              <a:t>connections</a:t>
            </a:r>
            <a:r>
              <a:rPr lang="en-US" altLang="en-US" dirty="0"/>
              <a:t> among the software components</a:t>
            </a:r>
          </a:p>
          <a:p>
            <a:pPr lvl="1"/>
            <a:r>
              <a:rPr lang="en-US" altLang="en-US" dirty="0"/>
              <a:t>Connections are dependency relations, also called </a:t>
            </a:r>
            <a:r>
              <a:rPr lang="en-US" altLang="en-US" dirty="0">
                <a:solidFill>
                  <a:schemeClr val="tx2"/>
                </a:solidFill>
              </a:rPr>
              <a:t>couplings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574BE4F-4E61-4717-A548-B52822D44303}" type="slidenum">
              <a:rPr lang="en-US" altLang="en-US" sz="900" b="0">
                <a:solidFill>
                  <a:schemeClr val="tx1"/>
                </a:solidFill>
              </a:rPr>
              <a:pPr/>
              <a:t>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Call Graph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28700"/>
            <a:ext cx="8867775" cy="1841500"/>
          </a:xfrm>
        </p:spPr>
        <p:txBody>
          <a:bodyPr/>
          <a:lstStyle/>
          <a:p>
            <a:r>
              <a:rPr lang="en-US" altLang="en-US" dirty="0"/>
              <a:t>The most common graph for structural design testing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Nodes</a:t>
            </a:r>
            <a:r>
              <a:rPr lang="en-US" altLang="en-US" dirty="0"/>
              <a:t> : Units (in Java – methods)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Edges</a:t>
            </a:r>
            <a:r>
              <a:rPr lang="en-US" altLang="en-US" dirty="0"/>
              <a:t> : Calls to units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2239963" y="2965455"/>
            <a:ext cx="2760662" cy="2846392"/>
            <a:chOff x="451" y="1853"/>
            <a:chExt cx="1739" cy="1793"/>
          </a:xfrm>
        </p:grpSpPr>
        <p:sp>
          <p:nvSpPr>
            <p:cNvPr id="15370" name="Text Box 27"/>
            <p:cNvSpPr txBox="1">
              <a:spLocks noChangeArrowheads="1"/>
            </p:cNvSpPr>
            <p:nvPr/>
          </p:nvSpPr>
          <p:spPr bwMode="auto">
            <a:xfrm>
              <a:off x="451" y="3045"/>
              <a:ext cx="1739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FFFF00"/>
                  </a:solidFill>
                  <a:latin typeface="Gill Sans MT" panose="020B0502020104020203" pitchFamily="34" charset="0"/>
                  <a:ea typeface="楷体_GB2312" pitchFamily="49" charset="-122"/>
                </a:rPr>
                <a:t>Example call graph</a:t>
              </a:r>
            </a:p>
          </p:txBody>
        </p:sp>
        <p:grpSp>
          <p:nvGrpSpPr>
            <p:cNvPr id="15371" name="Group 50"/>
            <p:cNvGrpSpPr>
              <a:grpSpLocks/>
            </p:cNvGrpSpPr>
            <p:nvPr/>
          </p:nvGrpSpPr>
          <p:grpSpPr bwMode="auto">
            <a:xfrm>
              <a:off x="766" y="1853"/>
              <a:ext cx="1108" cy="1282"/>
              <a:chOff x="766" y="1853"/>
              <a:chExt cx="1108" cy="1282"/>
            </a:xfrm>
          </p:grpSpPr>
          <p:sp>
            <p:nvSpPr>
              <p:cNvPr id="15372" name="Rectangle 5"/>
              <p:cNvSpPr>
                <a:spLocks noChangeArrowheads="1"/>
              </p:cNvSpPr>
              <p:nvPr/>
            </p:nvSpPr>
            <p:spPr bwMode="auto">
              <a:xfrm>
                <a:off x="1209" y="1893"/>
                <a:ext cx="221" cy="208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73" name="Text Box 6"/>
              <p:cNvSpPr txBox="1">
                <a:spLocks noChangeArrowheads="1"/>
              </p:cNvSpPr>
              <p:nvPr/>
            </p:nvSpPr>
            <p:spPr bwMode="auto">
              <a:xfrm>
                <a:off x="1209" y="1853"/>
                <a:ext cx="2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chemeClr val="tx1"/>
                    </a:solidFill>
                    <a:latin typeface="Gill Sans MT" panose="020B0502020104020203" pitchFamily="34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5374" name="Rectangle 8"/>
              <p:cNvSpPr>
                <a:spLocks noChangeArrowheads="1"/>
              </p:cNvSpPr>
              <p:nvPr/>
            </p:nvSpPr>
            <p:spPr bwMode="auto">
              <a:xfrm>
                <a:off x="766" y="2390"/>
                <a:ext cx="222" cy="165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75" name="Text Box 9"/>
              <p:cNvSpPr txBox="1">
                <a:spLocks noChangeArrowheads="1"/>
              </p:cNvSpPr>
              <p:nvPr/>
            </p:nvSpPr>
            <p:spPr bwMode="auto">
              <a:xfrm>
                <a:off x="766" y="2348"/>
                <a:ext cx="22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chemeClr val="tx1"/>
                    </a:solidFill>
                    <a:latin typeface="Gill Sans MT" panose="020B0502020104020203" pitchFamily="34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5376" name="Rectangle 11"/>
              <p:cNvSpPr>
                <a:spLocks noChangeArrowheads="1"/>
              </p:cNvSpPr>
              <p:nvPr/>
            </p:nvSpPr>
            <p:spPr bwMode="auto">
              <a:xfrm>
                <a:off x="1209" y="2390"/>
                <a:ext cx="222" cy="165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77" name="Text Box 12"/>
              <p:cNvSpPr txBox="1">
                <a:spLocks noChangeArrowheads="1"/>
              </p:cNvSpPr>
              <p:nvPr/>
            </p:nvSpPr>
            <p:spPr bwMode="auto">
              <a:xfrm>
                <a:off x="1209" y="2348"/>
                <a:ext cx="22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chemeClr val="tx1"/>
                    </a:solidFill>
                    <a:latin typeface="Gill Sans MT" panose="020B0502020104020203" pitchFamily="34" charset="0"/>
                    <a:ea typeface="楷体_GB2312" pitchFamily="49" charset="-122"/>
                  </a:rPr>
                  <a:t>C</a:t>
                </a:r>
              </a:p>
            </p:txBody>
          </p:sp>
          <p:sp>
            <p:nvSpPr>
              <p:cNvPr id="15378" name="Rectangle 14"/>
              <p:cNvSpPr>
                <a:spLocks noChangeArrowheads="1"/>
              </p:cNvSpPr>
              <p:nvPr/>
            </p:nvSpPr>
            <p:spPr bwMode="auto">
              <a:xfrm>
                <a:off x="1652" y="2390"/>
                <a:ext cx="222" cy="165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79" name="Text Box 15"/>
              <p:cNvSpPr txBox="1">
                <a:spLocks noChangeArrowheads="1"/>
              </p:cNvSpPr>
              <p:nvPr/>
            </p:nvSpPr>
            <p:spPr bwMode="auto">
              <a:xfrm>
                <a:off x="1652" y="2348"/>
                <a:ext cx="22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chemeClr val="tx1"/>
                    </a:solidFill>
                    <a:latin typeface="Gill Sans MT" panose="020B0502020104020203" pitchFamily="34" charset="0"/>
                    <a:ea typeface="楷体_GB2312" pitchFamily="49" charset="-122"/>
                  </a:rPr>
                  <a:t>D</a:t>
                </a:r>
              </a:p>
            </p:txBody>
          </p:sp>
          <p:grpSp>
            <p:nvGrpSpPr>
              <p:cNvPr id="15380" name="Group 32"/>
              <p:cNvGrpSpPr>
                <a:grpSpLocks/>
              </p:cNvGrpSpPr>
              <p:nvPr/>
            </p:nvGrpSpPr>
            <p:grpSpPr bwMode="auto">
              <a:xfrm>
                <a:off x="1475" y="2844"/>
                <a:ext cx="221" cy="291"/>
                <a:chOff x="1475" y="2844"/>
                <a:chExt cx="221" cy="291"/>
              </a:xfrm>
            </p:grpSpPr>
            <p:sp>
              <p:nvSpPr>
                <p:cNvPr id="15390" name="Rectangle 20"/>
                <p:cNvSpPr>
                  <a:spLocks noChangeArrowheads="1"/>
                </p:cNvSpPr>
                <p:nvPr/>
              </p:nvSpPr>
              <p:spPr bwMode="auto">
                <a:xfrm>
                  <a:off x="1475" y="2886"/>
                  <a:ext cx="221" cy="166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>
                    <a:latin typeface="Gill Sans MT" panose="020B0502020104020203" pitchFamily="34" charset="0"/>
                  </a:endParaRPr>
                </a:p>
              </p:txBody>
            </p:sp>
            <p:sp>
              <p:nvSpPr>
                <p:cNvPr id="1539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475" y="2844"/>
                  <a:ext cx="22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楷体_GB2312" pitchFamily="49" charset="-122"/>
                    </a:rPr>
                    <a:t>F</a:t>
                  </a:r>
                </a:p>
              </p:txBody>
            </p:sp>
          </p:grpSp>
          <p:grpSp>
            <p:nvGrpSpPr>
              <p:cNvPr id="15381" name="Group 33"/>
              <p:cNvGrpSpPr>
                <a:grpSpLocks/>
              </p:cNvGrpSpPr>
              <p:nvPr/>
            </p:nvGrpSpPr>
            <p:grpSpPr bwMode="auto">
              <a:xfrm>
                <a:off x="943" y="2844"/>
                <a:ext cx="222" cy="291"/>
                <a:chOff x="943" y="2844"/>
                <a:chExt cx="222" cy="291"/>
              </a:xfrm>
            </p:grpSpPr>
            <p:sp>
              <p:nvSpPr>
                <p:cNvPr id="15388" name="Rectangle 17"/>
                <p:cNvSpPr>
                  <a:spLocks noChangeArrowheads="1"/>
                </p:cNvSpPr>
                <p:nvPr/>
              </p:nvSpPr>
              <p:spPr bwMode="auto">
                <a:xfrm>
                  <a:off x="943" y="2886"/>
                  <a:ext cx="222" cy="166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>
                    <a:latin typeface="Gill Sans MT" panose="020B0502020104020203" pitchFamily="34" charset="0"/>
                  </a:endParaRPr>
                </a:p>
              </p:txBody>
            </p:sp>
            <p:sp>
              <p:nvSpPr>
                <p:cNvPr id="15389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943" y="2844"/>
                  <a:ext cx="22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楷体_GB2312" pitchFamily="49" charset="-122"/>
                    </a:rPr>
                    <a:t>E</a:t>
                  </a:r>
                </a:p>
              </p:txBody>
            </p:sp>
          </p:grpSp>
          <p:sp>
            <p:nvSpPr>
              <p:cNvPr id="15382" name="Line 22"/>
              <p:cNvSpPr>
                <a:spLocks noChangeShapeType="1"/>
              </p:cNvSpPr>
              <p:nvPr/>
            </p:nvSpPr>
            <p:spPr bwMode="auto">
              <a:xfrm flipH="1">
                <a:off x="938" y="2102"/>
                <a:ext cx="326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83" name="Line 23"/>
              <p:cNvSpPr>
                <a:spLocks noChangeShapeType="1"/>
              </p:cNvSpPr>
              <p:nvPr/>
            </p:nvSpPr>
            <p:spPr bwMode="auto">
              <a:xfrm>
                <a:off x="1320" y="2100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84" name="Line 24"/>
              <p:cNvSpPr>
                <a:spLocks noChangeShapeType="1"/>
              </p:cNvSpPr>
              <p:nvPr/>
            </p:nvSpPr>
            <p:spPr bwMode="auto">
              <a:xfrm>
                <a:off x="1362" y="2100"/>
                <a:ext cx="334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85" name="Line 25"/>
              <p:cNvSpPr>
                <a:spLocks noChangeShapeType="1"/>
              </p:cNvSpPr>
              <p:nvPr/>
            </p:nvSpPr>
            <p:spPr bwMode="auto">
              <a:xfrm flipH="1">
                <a:off x="1076" y="2551"/>
                <a:ext cx="205" cy="3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86" name="Line 26"/>
              <p:cNvSpPr>
                <a:spLocks noChangeShapeType="1"/>
              </p:cNvSpPr>
              <p:nvPr/>
            </p:nvSpPr>
            <p:spPr bwMode="auto">
              <a:xfrm>
                <a:off x="1370" y="2559"/>
                <a:ext cx="194" cy="3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87" name="Line 46"/>
              <p:cNvSpPr>
                <a:spLocks noChangeShapeType="1"/>
              </p:cNvSpPr>
              <p:nvPr/>
            </p:nvSpPr>
            <p:spPr bwMode="auto">
              <a:xfrm flipH="1">
                <a:off x="1605" y="2561"/>
                <a:ext cx="190" cy="3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latin typeface="Gill Sans MT" panose="020B0502020104020203" pitchFamily="34" charset="0"/>
                </a:endParaRPr>
              </a:p>
            </p:txBody>
          </p:sp>
        </p:grpSp>
      </p:grpSp>
      <p:sp>
        <p:nvSpPr>
          <p:cNvPr id="232496" name="Text Box 48"/>
          <p:cNvSpPr txBox="1">
            <a:spLocks noChangeArrowheads="1"/>
          </p:cNvSpPr>
          <p:nvPr/>
        </p:nvSpPr>
        <p:spPr bwMode="auto">
          <a:xfrm>
            <a:off x="5484310" y="3154364"/>
            <a:ext cx="4959350" cy="83099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Node coverage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call every unit at least once (method coverage)</a:t>
            </a:r>
          </a:p>
        </p:txBody>
      </p:sp>
      <p:sp>
        <p:nvSpPr>
          <p:cNvPr id="232497" name="Text Box 49"/>
          <p:cNvSpPr txBox="1">
            <a:spLocks noChangeArrowheads="1"/>
          </p:cNvSpPr>
          <p:nvPr/>
        </p:nvSpPr>
        <p:spPr bwMode="auto">
          <a:xfrm>
            <a:off x="5484310" y="4473576"/>
            <a:ext cx="4959350" cy="83099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Edge coverage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execute every call at least once (call coverage)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96" grpId="0" animBg="1"/>
      <p:bldP spid="23249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FAF9D10-CE46-42B0-A49C-0E472FF84664}" type="slidenum">
              <a:rPr lang="en-US" altLang="en-US" sz="900" b="0">
                <a:solidFill>
                  <a:schemeClr val="tx1"/>
                </a:solidFill>
              </a:rPr>
              <a:pPr/>
              <a:t>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Call Graphs on Classes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28700"/>
            <a:ext cx="8867775" cy="1555750"/>
          </a:xfrm>
        </p:spPr>
        <p:txBody>
          <a:bodyPr/>
          <a:lstStyle/>
          <a:p>
            <a:r>
              <a:rPr lang="en-US" altLang="en-US" dirty="0"/>
              <a:t>Node and edge coverage of class call graphs often do not work very well</a:t>
            </a:r>
          </a:p>
          <a:p>
            <a:r>
              <a:rPr lang="en-US" altLang="en-US" dirty="0"/>
              <a:t>Individual methods might not call each other at all!</a:t>
            </a:r>
          </a:p>
        </p:txBody>
      </p:sp>
      <p:sp>
        <p:nvSpPr>
          <p:cNvPr id="234500" name="Text Box 4"/>
          <p:cNvSpPr txBox="1">
            <a:spLocks noChangeArrowheads="1"/>
          </p:cNvSpPr>
          <p:nvPr/>
        </p:nvSpPr>
        <p:spPr bwMode="auto">
          <a:xfrm>
            <a:off x="1728788" y="2640014"/>
            <a:ext cx="4310062" cy="1323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u="sng" dirty="0">
                <a:solidFill>
                  <a:schemeClr val="tx1"/>
                </a:solidFill>
                <a:latin typeface="Helvetica" charset="0"/>
              </a:rPr>
              <a:t>Class stack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Helvetica" charset="0"/>
              </a:rPr>
              <a:t>public void push (Object o)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Helvetica" charset="0"/>
              </a:rPr>
              <a:t>public Object pop ( 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Helvetica" charset="0"/>
              </a:rPr>
              <a:t>public </a:t>
            </a:r>
            <a:r>
              <a:rPr lang="en-US" altLang="en-US" dirty="0" err="1">
                <a:solidFill>
                  <a:schemeClr val="tx1"/>
                </a:solidFill>
                <a:latin typeface="Helvetica" charset="0"/>
              </a:rPr>
              <a:t>boolean</a:t>
            </a:r>
            <a:r>
              <a:rPr lang="en-US" altLang="en-US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Helvetica" charset="0"/>
              </a:rPr>
              <a:t>isEmpty</a:t>
            </a:r>
            <a:r>
              <a:rPr lang="en-US" altLang="en-US" dirty="0">
                <a:solidFill>
                  <a:schemeClr val="tx1"/>
                </a:solidFill>
                <a:latin typeface="Helvetica" charset="0"/>
              </a:rPr>
              <a:t> (Object o)</a:t>
            </a:r>
          </a:p>
        </p:txBody>
      </p:sp>
      <p:sp>
        <p:nvSpPr>
          <p:cNvPr id="234511" name="Text Box 15"/>
          <p:cNvSpPr txBox="1">
            <a:spLocks noChangeArrowheads="1"/>
          </p:cNvSpPr>
          <p:nvPr/>
        </p:nvSpPr>
        <p:spPr bwMode="auto">
          <a:xfrm>
            <a:off x="2111376" y="5324382"/>
            <a:ext cx="7967663" cy="954107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Other types of testing are needed – do </a:t>
            </a:r>
            <a:r>
              <a:rPr lang="en-US" sz="28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not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use graph criteria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029325" y="3060701"/>
            <a:ext cx="4325938" cy="1801813"/>
            <a:chOff x="2838" y="1928"/>
            <a:chExt cx="2725" cy="1135"/>
          </a:xfrm>
        </p:grpSpPr>
        <p:grpSp>
          <p:nvGrpSpPr>
            <p:cNvPr id="16394" name="Group 14"/>
            <p:cNvGrpSpPr>
              <a:grpSpLocks/>
            </p:cNvGrpSpPr>
            <p:nvPr/>
          </p:nvGrpSpPr>
          <p:grpSpPr bwMode="auto">
            <a:xfrm>
              <a:off x="2838" y="2463"/>
              <a:ext cx="2725" cy="600"/>
              <a:chOff x="2896" y="2622"/>
              <a:chExt cx="2725" cy="600"/>
            </a:xfrm>
          </p:grpSpPr>
          <p:grpSp>
            <p:nvGrpSpPr>
              <p:cNvPr id="16396" name="Group 12"/>
              <p:cNvGrpSpPr>
                <a:grpSpLocks/>
              </p:cNvGrpSpPr>
              <p:nvPr/>
            </p:nvGrpSpPr>
            <p:grpSpPr bwMode="auto">
              <a:xfrm>
                <a:off x="3855" y="2622"/>
                <a:ext cx="807" cy="600"/>
                <a:chOff x="3221" y="2910"/>
                <a:chExt cx="807" cy="600"/>
              </a:xfrm>
            </p:grpSpPr>
            <p:sp>
              <p:nvSpPr>
                <p:cNvPr id="1640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221" y="3252"/>
                  <a:ext cx="807" cy="258"/>
                </a:xfrm>
                <a:prstGeom prst="rect">
                  <a:avLst/>
                </a:prstGeom>
                <a:solidFill>
                  <a:srgbClr val="0066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en-US">
                      <a:solidFill>
                        <a:schemeClr val="tx1"/>
                      </a:solidFill>
                      <a:latin typeface="Helvetica" charset="0"/>
                    </a:rPr>
                    <a:t>pop</a:t>
                  </a:r>
                </a:p>
              </p:txBody>
            </p:sp>
            <p:sp>
              <p:nvSpPr>
                <p:cNvPr id="16404" name="Line 8"/>
                <p:cNvSpPr>
                  <a:spLocks noChangeShapeType="1"/>
                </p:cNvSpPr>
                <p:nvPr/>
              </p:nvSpPr>
              <p:spPr bwMode="auto">
                <a:xfrm>
                  <a:off x="3625" y="2910"/>
                  <a:ext cx="0" cy="3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397" name="Group 11"/>
              <p:cNvGrpSpPr>
                <a:grpSpLocks/>
              </p:cNvGrpSpPr>
              <p:nvPr/>
            </p:nvGrpSpPr>
            <p:grpSpPr bwMode="auto">
              <a:xfrm>
                <a:off x="2896" y="2622"/>
                <a:ext cx="807" cy="600"/>
                <a:chOff x="2262" y="2910"/>
                <a:chExt cx="807" cy="600"/>
              </a:xfrm>
            </p:grpSpPr>
            <p:sp>
              <p:nvSpPr>
                <p:cNvPr id="1640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262" y="3252"/>
                  <a:ext cx="807" cy="258"/>
                </a:xfrm>
                <a:prstGeom prst="rect">
                  <a:avLst/>
                </a:prstGeom>
                <a:solidFill>
                  <a:srgbClr val="0066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en-US">
                      <a:solidFill>
                        <a:schemeClr val="tx1"/>
                      </a:solidFill>
                      <a:latin typeface="Helvetica" charset="0"/>
                    </a:rPr>
                    <a:t>push</a:t>
                  </a:r>
                </a:p>
              </p:txBody>
            </p:sp>
            <p:sp>
              <p:nvSpPr>
                <p:cNvPr id="16402" name="Line 9"/>
                <p:cNvSpPr>
                  <a:spLocks noChangeShapeType="1"/>
                </p:cNvSpPr>
                <p:nvPr/>
              </p:nvSpPr>
              <p:spPr bwMode="auto">
                <a:xfrm>
                  <a:off x="2666" y="2910"/>
                  <a:ext cx="0" cy="3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398" name="Group 13"/>
              <p:cNvGrpSpPr>
                <a:grpSpLocks/>
              </p:cNvGrpSpPr>
              <p:nvPr/>
            </p:nvGrpSpPr>
            <p:grpSpPr bwMode="auto">
              <a:xfrm>
                <a:off x="4814" y="2622"/>
                <a:ext cx="807" cy="600"/>
                <a:chOff x="4180" y="2910"/>
                <a:chExt cx="807" cy="600"/>
              </a:xfrm>
            </p:grpSpPr>
            <p:sp>
              <p:nvSpPr>
                <p:cNvPr id="1639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180" y="3252"/>
                  <a:ext cx="807" cy="258"/>
                </a:xfrm>
                <a:prstGeom prst="rect">
                  <a:avLst/>
                </a:prstGeom>
                <a:solidFill>
                  <a:srgbClr val="0066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en-US">
                      <a:solidFill>
                        <a:schemeClr val="tx1"/>
                      </a:solidFill>
                      <a:latin typeface="Helvetica" charset="0"/>
                    </a:rPr>
                    <a:t>isEmpty</a:t>
                  </a:r>
                </a:p>
              </p:txBody>
            </p:sp>
            <p:sp>
              <p:nvSpPr>
                <p:cNvPr id="16400" name="Line 10"/>
                <p:cNvSpPr>
                  <a:spLocks noChangeShapeType="1"/>
                </p:cNvSpPr>
                <p:nvPr/>
              </p:nvSpPr>
              <p:spPr bwMode="auto">
                <a:xfrm>
                  <a:off x="4584" y="2910"/>
                  <a:ext cx="0" cy="3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395" name="AutoShape 16"/>
            <p:cNvSpPr>
              <a:spLocks noChangeArrowheads="1"/>
            </p:cNvSpPr>
            <p:nvPr/>
          </p:nvSpPr>
          <p:spPr bwMode="auto">
            <a:xfrm>
              <a:off x="3084" y="1928"/>
              <a:ext cx="2233" cy="425"/>
            </a:xfrm>
            <a:prstGeom prst="cloudCallout">
              <a:avLst>
                <a:gd name="adj1" fmla="val -23491"/>
                <a:gd name="adj2" fmla="val 24352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? ? ?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 animBg="1"/>
      <p:bldP spid="2345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7576EDF-2F2D-4691-9471-0B3BED0243ED}" type="slidenum">
              <a:rPr lang="en-US" altLang="en-US" sz="900" b="0">
                <a:solidFill>
                  <a:schemeClr val="tx1"/>
                </a:solidFill>
              </a:rPr>
              <a:pPr/>
              <a:t>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&amp; Polymorphism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>
                <a:solidFill>
                  <a:schemeClr val="tx2"/>
                </a:solidFill>
              </a:rPr>
              <a:t>Caution</a:t>
            </a:r>
            <a:r>
              <a:rPr lang="en-US" altLang="en-US" dirty="0"/>
              <a:t> : Ideas are preliminary and not widely used</a:t>
            </a:r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1689100" y="1758951"/>
            <a:ext cx="2978150" cy="3738563"/>
            <a:chOff x="104" y="1108"/>
            <a:chExt cx="1876" cy="2355"/>
          </a:xfrm>
        </p:grpSpPr>
        <p:sp>
          <p:nvSpPr>
            <p:cNvPr id="17468" name="Text Box 5"/>
            <p:cNvSpPr txBox="1">
              <a:spLocks noChangeArrowheads="1"/>
            </p:cNvSpPr>
            <p:nvPr/>
          </p:nvSpPr>
          <p:spPr bwMode="auto">
            <a:xfrm>
              <a:off x="104" y="2591"/>
              <a:ext cx="1876" cy="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800">
                  <a:solidFill>
                    <a:srgbClr val="FFFF00"/>
                  </a:solidFill>
                  <a:latin typeface="Gill Sans MT" panose="020B0502020104020203" pitchFamily="34" charset="0"/>
                  <a:ea typeface="楷体_GB2312" pitchFamily="49" charset="-122"/>
                </a:rPr>
                <a:t>Example inheritance hierarchy graph</a:t>
              </a:r>
            </a:p>
          </p:txBody>
        </p:sp>
        <p:grpSp>
          <p:nvGrpSpPr>
            <p:cNvPr id="17469" name="Group 52"/>
            <p:cNvGrpSpPr>
              <a:grpSpLocks/>
            </p:cNvGrpSpPr>
            <p:nvPr/>
          </p:nvGrpSpPr>
          <p:grpSpPr bwMode="auto">
            <a:xfrm>
              <a:off x="616" y="1108"/>
              <a:ext cx="852" cy="1438"/>
              <a:chOff x="309" y="1598"/>
              <a:chExt cx="852" cy="1438"/>
            </a:xfrm>
          </p:grpSpPr>
          <p:grpSp>
            <p:nvGrpSpPr>
              <p:cNvPr id="17470" name="Group 27"/>
              <p:cNvGrpSpPr>
                <a:grpSpLocks/>
              </p:cNvGrpSpPr>
              <p:nvPr/>
            </p:nvGrpSpPr>
            <p:grpSpPr bwMode="auto">
              <a:xfrm>
                <a:off x="625" y="1598"/>
                <a:ext cx="221" cy="291"/>
                <a:chOff x="1209" y="1908"/>
                <a:chExt cx="221" cy="291"/>
              </a:xfrm>
            </p:grpSpPr>
            <p:sp>
              <p:nvSpPr>
                <p:cNvPr id="17499" name="Rectangle 7"/>
                <p:cNvSpPr>
                  <a:spLocks noChangeArrowheads="1"/>
                </p:cNvSpPr>
                <p:nvPr/>
              </p:nvSpPr>
              <p:spPr bwMode="auto">
                <a:xfrm>
                  <a:off x="1209" y="1950"/>
                  <a:ext cx="221" cy="166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>
                    <a:latin typeface="Gill Sans MT" panose="020B0502020104020203" pitchFamily="34" charset="0"/>
                  </a:endParaRPr>
                </a:p>
              </p:txBody>
            </p:sp>
            <p:sp>
              <p:nvSpPr>
                <p:cNvPr id="1750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09" y="1908"/>
                  <a:ext cx="22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楷体_GB2312" pitchFamily="49" charset="-122"/>
                    </a:rPr>
                    <a:t>A</a:t>
                  </a:r>
                </a:p>
              </p:txBody>
            </p:sp>
          </p:grpSp>
          <p:grpSp>
            <p:nvGrpSpPr>
              <p:cNvPr id="17471" name="Group 28"/>
              <p:cNvGrpSpPr>
                <a:grpSpLocks/>
              </p:cNvGrpSpPr>
              <p:nvPr/>
            </p:nvGrpSpPr>
            <p:grpSpPr bwMode="auto">
              <a:xfrm>
                <a:off x="624" y="2171"/>
                <a:ext cx="222" cy="291"/>
                <a:chOff x="766" y="2363"/>
                <a:chExt cx="222" cy="291"/>
              </a:xfrm>
            </p:grpSpPr>
            <p:sp>
              <p:nvSpPr>
                <p:cNvPr id="17497" name="Rectangle 9"/>
                <p:cNvSpPr>
                  <a:spLocks noChangeArrowheads="1"/>
                </p:cNvSpPr>
                <p:nvPr/>
              </p:nvSpPr>
              <p:spPr bwMode="auto">
                <a:xfrm>
                  <a:off x="766" y="2405"/>
                  <a:ext cx="222" cy="165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>
                    <a:latin typeface="Gill Sans MT" panose="020B0502020104020203" pitchFamily="34" charset="0"/>
                  </a:endParaRPr>
                </a:p>
              </p:txBody>
            </p:sp>
            <p:sp>
              <p:nvSpPr>
                <p:cNvPr id="1749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66" y="2363"/>
                  <a:ext cx="22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楷体_GB2312" pitchFamily="49" charset="-122"/>
                    </a:rPr>
                    <a:t>B</a:t>
                  </a:r>
                </a:p>
              </p:txBody>
            </p:sp>
          </p:grpSp>
          <p:grpSp>
            <p:nvGrpSpPr>
              <p:cNvPr id="17472" name="Group 31"/>
              <p:cNvGrpSpPr>
                <a:grpSpLocks/>
              </p:cNvGrpSpPr>
              <p:nvPr/>
            </p:nvGrpSpPr>
            <p:grpSpPr bwMode="auto">
              <a:xfrm>
                <a:off x="309" y="2744"/>
                <a:ext cx="852" cy="292"/>
                <a:chOff x="309" y="2744"/>
                <a:chExt cx="852" cy="292"/>
              </a:xfrm>
            </p:grpSpPr>
            <p:grpSp>
              <p:nvGrpSpPr>
                <p:cNvPr id="17491" name="Group 29"/>
                <p:cNvGrpSpPr>
                  <a:grpSpLocks/>
                </p:cNvGrpSpPr>
                <p:nvPr/>
              </p:nvGrpSpPr>
              <p:grpSpPr bwMode="auto">
                <a:xfrm>
                  <a:off x="309" y="2745"/>
                  <a:ext cx="222" cy="291"/>
                  <a:chOff x="1209" y="2363"/>
                  <a:chExt cx="222" cy="291"/>
                </a:xfrm>
              </p:grpSpPr>
              <p:sp>
                <p:nvSpPr>
                  <p:cNvPr id="17495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209" y="2405"/>
                    <a:ext cx="222" cy="165"/>
                  </a:xfrm>
                  <a:prstGeom prst="rect">
                    <a:avLst/>
                  </a:prstGeom>
                  <a:solidFill>
                    <a:srgbClr val="00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/>
                    <a:endParaRPr lang="en-US" alt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96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9" y="2363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楷体_GB2312" pitchFamily="49" charset="-122"/>
                      </a:rPr>
                      <a:t>C</a:t>
                    </a:r>
                  </a:p>
                </p:txBody>
              </p:sp>
            </p:grpSp>
            <p:grpSp>
              <p:nvGrpSpPr>
                <p:cNvPr id="17492" name="Group 30"/>
                <p:cNvGrpSpPr>
                  <a:grpSpLocks/>
                </p:cNvGrpSpPr>
                <p:nvPr/>
              </p:nvGrpSpPr>
              <p:grpSpPr bwMode="auto">
                <a:xfrm>
                  <a:off x="939" y="2744"/>
                  <a:ext cx="222" cy="291"/>
                  <a:chOff x="1652" y="2363"/>
                  <a:chExt cx="222" cy="291"/>
                </a:xfrm>
              </p:grpSpPr>
              <p:sp>
                <p:nvSpPr>
                  <p:cNvPr id="1749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1652" y="2405"/>
                    <a:ext cx="222" cy="165"/>
                  </a:xfrm>
                  <a:prstGeom prst="rect">
                    <a:avLst/>
                  </a:prstGeom>
                  <a:solidFill>
                    <a:srgbClr val="00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/>
                    <a:endParaRPr lang="en-US" alt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94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363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楷体_GB2312" pitchFamily="49" charset="-122"/>
                      </a:rPr>
                      <a:t>D</a:t>
                    </a:r>
                  </a:p>
                </p:txBody>
              </p:sp>
            </p:grpSp>
          </p:grpSp>
          <p:grpSp>
            <p:nvGrpSpPr>
              <p:cNvPr id="17473" name="Group 39"/>
              <p:cNvGrpSpPr>
                <a:grpSpLocks/>
              </p:cNvGrpSpPr>
              <p:nvPr/>
            </p:nvGrpSpPr>
            <p:grpSpPr bwMode="auto">
              <a:xfrm>
                <a:off x="693" y="1812"/>
                <a:ext cx="84" cy="399"/>
                <a:chOff x="678" y="1812"/>
                <a:chExt cx="84" cy="399"/>
              </a:xfrm>
            </p:grpSpPr>
            <p:grpSp>
              <p:nvGrpSpPr>
                <p:cNvPr id="17486" name="Group 37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88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89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90" name="Line 3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</p:grpSp>
            <p:sp>
              <p:nvSpPr>
                <p:cNvPr id="17487" name="Line 38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>
                    <a:latin typeface="Gill Sans MT" panose="020B0502020104020203" pitchFamily="34" charset="0"/>
                  </a:endParaRPr>
                </a:p>
              </p:txBody>
            </p:sp>
          </p:grpSp>
          <p:grpSp>
            <p:nvGrpSpPr>
              <p:cNvPr id="17474" name="Group 40"/>
              <p:cNvGrpSpPr>
                <a:grpSpLocks/>
              </p:cNvGrpSpPr>
              <p:nvPr/>
            </p:nvGrpSpPr>
            <p:grpSpPr bwMode="auto">
              <a:xfrm rot="1671610">
                <a:off x="541" y="2360"/>
                <a:ext cx="84" cy="443"/>
                <a:chOff x="678" y="1812"/>
                <a:chExt cx="84" cy="399"/>
              </a:xfrm>
            </p:grpSpPr>
            <p:grpSp>
              <p:nvGrpSpPr>
                <p:cNvPr id="17481" name="Group 41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83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84" name="Line 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85" name="Line 4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</p:grpSp>
            <p:sp>
              <p:nvSpPr>
                <p:cNvPr id="17482" name="Line 45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>
                    <a:latin typeface="Gill Sans MT" panose="020B0502020104020203" pitchFamily="34" charset="0"/>
                  </a:endParaRPr>
                </a:p>
              </p:txBody>
            </p:sp>
          </p:grpSp>
          <p:grpSp>
            <p:nvGrpSpPr>
              <p:cNvPr id="17475" name="Group 46"/>
              <p:cNvGrpSpPr>
                <a:grpSpLocks/>
              </p:cNvGrpSpPr>
              <p:nvPr/>
            </p:nvGrpSpPr>
            <p:grpSpPr bwMode="auto">
              <a:xfrm rot="-1420113">
                <a:off x="841" y="2360"/>
                <a:ext cx="84" cy="443"/>
                <a:chOff x="678" y="1812"/>
                <a:chExt cx="84" cy="399"/>
              </a:xfrm>
            </p:grpSpPr>
            <p:grpSp>
              <p:nvGrpSpPr>
                <p:cNvPr id="17476" name="Group 47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78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79" name="Line 4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  <p:sp>
                <p:nvSpPr>
                  <p:cNvPr id="17480" name="Line 5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>
                      <a:latin typeface="Gill Sans MT" panose="020B0502020104020203" pitchFamily="34" charset="0"/>
                    </a:endParaRPr>
                  </a:p>
                </p:txBody>
              </p:sp>
            </p:grpSp>
            <p:sp>
              <p:nvSpPr>
                <p:cNvPr id="17477" name="Line 51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>
                    <a:latin typeface="Gill Sans MT" panose="020B0502020104020203" pitchFamily="34" charset="0"/>
                  </a:endParaRPr>
                </a:p>
              </p:txBody>
            </p:sp>
          </p:grpSp>
        </p:grpSp>
      </p:grpSp>
      <p:sp>
        <p:nvSpPr>
          <p:cNvPr id="235573" name="Text Box 53"/>
          <p:cNvSpPr txBox="1">
            <a:spLocks noChangeArrowheads="1"/>
          </p:cNvSpPr>
          <p:nvPr/>
        </p:nvSpPr>
        <p:spPr bwMode="auto">
          <a:xfrm>
            <a:off x="4402138" y="1619407"/>
            <a:ext cx="5351462" cy="1569660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Classes are not executable, so this graph is not directly testable</a:t>
            </a:r>
          </a:p>
          <a:p>
            <a:pPr algn="l"/>
            <a:endParaRPr lang="en-US" altLang="en-US" sz="240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l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We need </a:t>
            </a:r>
            <a:r>
              <a:rPr lang="en-US" altLang="en-US" sz="2400" u="sng">
                <a:solidFill>
                  <a:schemeClr val="tx1"/>
                </a:solidFill>
                <a:latin typeface="Gill Sans MT" panose="020B0502020104020203" pitchFamily="34" charset="0"/>
              </a:rPr>
              <a:t>objects</a:t>
            </a:r>
          </a:p>
        </p:txBody>
      </p:sp>
      <p:grpSp>
        <p:nvGrpSpPr>
          <p:cNvPr id="15" name="Group 105"/>
          <p:cNvGrpSpPr>
            <a:grpSpLocks/>
          </p:cNvGrpSpPr>
          <p:nvPr/>
        </p:nvGrpSpPr>
        <p:grpSpPr bwMode="auto">
          <a:xfrm>
            <a:off x="4291013" y="3489325"/>
            <a:ext cx="4043362" cy="2681288"/>
            <a:chOff x="1649" y="2198"/>
            <a:chExt cx="2547" cy="1689"/>
          </a:xfrm>
        </p:grpSpPr>
        <p:grpSp>
          <p:nvGrpSpPr>
            <p:cNvPr id="17419" name="Group 55"/>
            <p:cNvGrpSpPr>
              <a:grpSpLocks/>
            </p:cNvGrpSpPr>
            <p:nvPr/>
          </p:nvGrpSpPr>
          <p:grpSpPr bwMode="auto">
            <a:xfrm>
              <a:off x="2058" y="2198"/>
              <a:ext cx="852" cy="1438"/>
              <a:chOff x="309" y="1598"/>
              <a:chExt cx="852" cy="1438"/>
            </a:xfrm>
          </p:grpSpPr>
          <p:grpSp>
            <p:nvGrpSpPr>
              <p:cNvPr id="17437" name="Group 56"/>
              <p:cNvGrpSpPr>
                <a:grpSpLocks/>
              </p:cNvGrpSpPr>
              <p:nvPr/>
            </p:nvGrpSpPr>
            <p:grpSpPr bwMode="auto">
              <a:xfrm>
                <a:off x="625" y="1598"/>
                <a:ext cx="221" cy="291"/>
                <a:chOff x="1209" y="1908"/>
                <a:chExt cx="221" cy="291"/>
              </a:xfrm>
            </p:grpSpPr>
            <p:sp>
              <p:nvSpPr>
                <p:cNvPr id="17466" name="Rectangle 57"/>
                <p:cNvSpPr>
                  <a:spLocks noChangeArrowheads="1"/>
                </p:cNvSpPr>
                <p:nvPr/>
              </p:nvSpPr>
              <p:spPr bwMode="auto">
                <a:xfrm>
                  <a:off x="1209" y="1950"/>
                  <a:ext cx="221" cy="166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/>
                </a:p>
              </p:txBody>
            </p:sp>
            <p:sp>
              <p:nvSpPr>
                <p:cNvPr id="17467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1209" y="1908"/>
                  <a:ext cx="22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</p:grpSp>
          <p:grpSp>
            <p:nvGrpSpPr>
              <p:cNvPr id="17438" name="Group 59"/>
              <p:cNvGrpSpPr>
                <a:grpSpLocks/>
              </p:cNvGrpSpPr>
              <p:nvPr/>
            </p:nvGrpSpPr>
            <p:grpSpPr bwMode="auto">
              <a:xfrm>
                <a:off x="624" y="2171"/>
                <a:ext cx="222" cy="291"/>
                <a:chOff x="766" y="2363"/>
                <a:chExt cx="222" cy="291"/>
              </a:xfrm>
            </p:grpSpPr>
            <p:sp>
              <p:nvSpPr>
                <p:cNvPr id="17464" name="Rectangle 60"/>
                <p:cNvSpPr>
                  <a:spLocks noChangeArrowheads="1"/>
                </p:cNvSpPr>
                <p:nvPr/>
              </p:nvSpPr>
              <p:spPr bwMode="auto">
                <a:xfrm>
                  <a:off x="766" y="2405"/>
                  <a:ext cx="222" cy="165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endParaRPr lang="en-US" altLang="en-US" sz="2400"/>
                </a:p>
              </p:txBody>
            </p:sp>
            <p:sp>
              <p:nvSpPr>
                <p:cNvPr id="1746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66" y="2363"/>
                  <a:ext cx="22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ea typeface="楷体_GB2312" pitchFamily="49" charset="-122"/>
                    </a:rPr>
                    <a:t>B</a:t>
                  </a:r>
                </a:p>
              </p:txBody>
            </p:sp>
          </p:grpSp>
          <p:grpSp>
            <p:nvGrpSpPr>
              <p:cNvPr id="17439" name="Group 62"/>
              <p:cNvGrpSpPr>
                <a:grpSpLocks/>
              </p:cNvGrpSpPr>
              <p:nvPr/>
            </p:nvGrpSpPr>
            <p:grpSpPr bwMode="auto">
              <a:xfrm>
                <a:off x="309" y="2744"/>
                <a:ext cx="852" cy="292"/>
                <a:chOff x="309" y="2744"/>
                <a:chExt cx="852" cy="292"/>
              </a:xfrm>
            </p:grpSpPr>
            <p:grpSp>
              <p:nvGrpSpPr>
                <p:cNvPr id="17458" name="Group 63"/>
                <p:cNvGrpSpPr>
                  <a:grpSpLocks/>
                </p:cNvGrpSpPr>
                <p:nvPr/>
              </p:nvGrpSpPr>
              <p:grpSpPr bwMode="auto">
                <a:xfrm>
                  <a:off x="309" y="2745"/>
                  <a:ext cx="222" cy="291"/>
                  <a:chOff x="1209" y="2363"/>
                  <a:chExt cx="222" cy="291"/>
                </a:xfrm>
              </p:grpSpPr>
              <p:sp>
                <p:nvSpPr>
                  <p:cNvPr id="17462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1209" y="2405"/>
                    <a:ext cx="222" cy="165"/>
                  </a:xfrm>
                  <a:prstGeom prst="rect">
                    <a:avLst/>
                  </a:prstGeom>
                  <a:solidFill>
                    <a:srgbClr val="00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/>
                    <a:endParaRPr lang="en-US" altLang="en-US" sz="2400"/>
                  </a:p>
                </p:txBody>
              </p:sp>
              <p:sp>
                <p:nvSpPr>
                  <p:cNvPr id="17463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9" y="2363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>
                        <a:solidFill>
                          <a:schemeClr val="tx1"/>
                        </a:solidFill>
                        <a:ea typeface="楷体_GB2312" pitchFamily="49" charset="-122"/>
                      </a:rPr>
                      <a:t>C</a:t>
                    </a:r>
                  </a:p>
                </p:txBody>
              </p:sp>
            </p:grpSp>
            <p:grpSp>
              <p:nvGrpSpPr>
                <p:cNvPr id="17459" name="Group 66"/>
                <p:cNvGrpSpPr>
                  <a:grpSpLocks/>
                </p:cNvGrpSpPr>
                <p:nvPr/>
              </p:nvGrpSpPr>
              <p:grpSpPr bwMode="auto">
                <a:xfrm>
                  <a:off x="939" y="2744"/>
                  <a:ext cx="222" cy="291"/>
                  <a:chOff x="1652" y="2363"/>
                  <a:chExt cx="222" cy="291"/>
                </a:xfrm>
              </p:grpSpPr>
              <p:sp>
                <p:nvSpPr>
                  <p:cNvPr id="17460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1652" y="2405"/>
                    <a:ext cx="222" cy="165"/>
                  </a:xfrm>
                  <a:prstGeom prst="rect">
                    <a:avLst/>
                  </a:prstGeom>
                  <a:solidFill>
                    <a:srgbClr val="00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/>
                    <a:endParaRPr lang="en-US" altLang="en-US" sz="2400"/>
                  </a:p>
                </p:txBody>
              </p:sp>
              <p:sp>
                <p:nvSpPr>
                  <p:cNvPr id="17461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363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algn="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>
                        <a:solidFill>
                          <a:schemeClr val="tx1"/>
                        </a:solidFill>
                        <a:ea typeface="楷体_GB2312" pitchFamily="49" charset="-122"/>
                      </a:rPr>
                      <a:t>D</a:t>
                    </a:r>
                  </a:p>
                </p:txBody>
              </p:sp>
            </p:grpSp>
          </p:grpSp>
          <p:grpSp>
            <p:nvGrpSpPr>
              <p:cNvPr id="17440" name="Group 69"/>
              <p:cNvGrpSpPr>
                <a:grpSpLocks/>
              </p:cNvGrpSpPr>
              <p:nvPr/>
            </p:nvGrpSpPr>
            <p:grpSpPr bwMode="auto">
              <a:xfrm>
                <a:off x="693" y="1812"/>
                <a:ext cx="84" cy="399"/>
                <a:chOff x="678" y="1812"/>
                <a:chExt cx="84" cy="399"/>
              </a:xfrm>
            </p:grpSpPr>
            <p:grpSp>
              <p:nvGrpSpPr>
                <p:cNvPr id="17453" name="Group 70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55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56" name="Line 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57" name="Line 7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</p:grpSp>
            <p:sp>
              <p:nvSpPr>
                <p:cNvPr id="17454" name="Line 74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17441" name="Group 75"/>
              <p:cNvGrpSpPr>
                <a:grpSpLocks/>
              </p:cNvGrpSpPr>
              <p:nvPr/>
            </p:nvGrpSpPr>
            <p:grpSpPr bwMode="auto">
              <a:xfrm rot="1671610">
                <a:off x="541" y="2360"/>
                <a:ext cx="84" cy="443"/>
                <a:chOff x="678" y="1812"/>
                <a:chExt cx="84" cy="399"/>
              </a:xfrm>
            </p:grpSpPr>
            <p:grpSp>
              <p:nvGrpSpPr>
                <p:cNvPr id="17448" name="Group 76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50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51" name="Line 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52" name="Line 7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</p:grpSp>
            <p:sp>
              <p:nvSpPr>
                <p:cNvPr id="17449" name="Line 80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17442" name="Group 81"/>
              <p:cNvGrpSpPr>
                <a:grpSpLocks/>
              </p:cNvGrpSpPr>
              <p:nvPr/>
            </p:nvGrpSpPr>
            <p:grpSpPr bwMode="auto">
              <a:xfrm rot="-1420113">
                <a:off x="841" y="2360"/>
                <a:ext cx="84" cy="443"/>
                <a:chOff x="678" y="1812"/>
                <a:chExt cx="84" cy="399"/>
              </a:xfrm>
            </p:grpSpPr>
            <p:grpSp>
              <p:nvGrpSpPr>
                <p:cNvPr id="17443" name="Group 82"/>
                <p:cNvGrpSpPr>
                  <a:grpSpLocks/>
                </p:cNvGrpSpPr>
                <p:nvPr/>
              </p:nvGrpSpPr>
              <p:grpSpPr bwMode="auto">
                <a:xfrm>
                  <a:off x="678" y="1812"/>
                  <a:ext cx="84" cy="66"/>
                  <a:chOff x="903" y="2193"/>
                  <a:chExt cx="84" cy="66"/>
                </a:xfrm>
              </p:grpSpPr>
              <p:sp>
                <p:nvSpPr>
                  <p:cNvPr id="17445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903" y="2259"/>
                    <a:ext cx="8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46" name="Line 8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06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17447" name="Line 8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45" y="2193"/>
                    <a:ext cx="39" cy="6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sz="2400"/>
                  </a:p>
                </p:txBody>
              </p:sp>
            </p:grpSp>
            <p:sp>
              <p:nvSpPr>
                <p:cNvPr id="17444" name="Line 86"/>
                <p:cNvSpPr>
                  <a:spLocks noChangeShapeType="1"/>
                </p:cNvSpPr>
                <p:nvPr/>
              </p:nvSpPr>
              <p:spPr bwMode="auto">
                <a:xfrm>
                  <a:off x="720" y="1887"/>
                  <a:ext cx="0" cy="3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sz="2400"/>
                </a:p>
              </p:txBody>
            </p:sp>
          </p:grpSp>
        </p:grpSp>
        <p:grpSp>
          <p:nvGrpSpPr>
            <p:cNvPr id="17420" name="Group 90"/>
            <p:cNvGrpSpPr>
              <a:grpSpLocks/>
            </p:cNvGrpSpPr>
            <p:nvPr/>
          </p:nvGrpSpPr>
          <p:grpSpPr bwMode="auto">
            <a:xfrm>
              <a:off x="2706" y="2464"/>
              <a:ext cx="307" cy="293"/>
              <a:chOff x="2815" y="2355"/>
              <a:chExt cx="307" cy="293"/>
            </a:xfrm>
          </p:grpSpPr>
          <p:sp>
            <p:nvSpPr>
              <p:cNvPr id="17435" name="Oval 88"/>
              <p:cNvSpPr>
                <a:spLocks noChangeArrowheads="1"/>
              </p:cNvSpPr>
              <p:nvPr/>
            </p:nvSpPr>
            <p:spPr bwMode="auto">
              <a:xfrm>
                <a:off x="2815" y="2355"/>
                <a:ext cx="307" cy="253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/>
              </a:p>
            </p:txBody>
          </p:sp>
          <p:sp>
            <p:nvSpPr>
              <p:cNvPr id="17436" name="Text Box 89"/>
              <p:cNvSpPr txBox="1">
                <a:spLocks noChangeArrowheads="1"/>
              </p:cNvSpPr>
              <p:nvPr/>
            </p:nvSpPr>
            <p:spPr bwMode="auto">
              <a:xfrm>
                <a:off x="2853" y="2357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1"/>
                    </a:solidFill>
                  </a:rPr>
                  <a:t>a</a:t>
                </a:r>
              </a:p>
            </p:txBody>
          </p:sp>
        </p:grpSp>
        <p:grpSp>
          <p:nvGrpSpPr>
            <p:cNvPr id="17421" name="Group 91"/>
            <p:cNvGrpSpPr>
              <a:grpSpLocks/>
            </p:cNvGrpSpPr>
            <p:nvPr/>
          </p:nvGrpSpPr>
          <p:grpSpPr bwMode="auto">
            <a:xfrm>
              <a:off x="2769" y="2969"/>
              <a:ext cx="307" cy="293"/>
              <a:chOff x="2815" y="2355"/>
              <a:chExt cx="307" cy="293"/>
            </a:xfrm>
          </p:grpSpPr>
          <p:sp>
            <p:nvSpPr>
              <p:cNvPr id="17433" name="Oval 92"/>
              <p:cNvSpPr>
                <a:spLocks noChangeArrowheads="1"/>
              </p:cNvSpPr>
              <p:nvPr/>
            </p:nvSpPr>
            <p:spPr bwMode="auto">
              <a:xfrm>
                <a:off x="2815" y="2355"/>
                <a:ext cx="307" cy="253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/>
              </a:p>
            </p:txBody>
          </p:sp>
          <p:sp>
            <p:nvSpPr>
              <p:cNvPr id="17434" name="Text Box 93"/>
              <p:cNvSpPr txBox="1">
                <a:spLocks noChangeArrowheads="1"/>
              </p:cNvSpPr>
              <p:nvPr/>
            </p:nvSpPr>
            <p:spPr bwMode="auto">
              <a:xfrm>
                <a:off x="2842" y="2357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1"/>
                    </a:solidFill>
                  </a:rPr>
                  <a:t>b</a:t>
                </a:r>
              </a:p>
            </p:txBody>
          </p:sp>
        </p:grpSp>
        <p:grpSp>
          <p:nvGrpSpPr>
            <p:cNvPr id="17422" name="Group 94"/>
            <p:cNvGrpSpPr>
              <a:grpSpLocks/>
            </p:cNvGrpSpPr>
            <p:nvPr/>
          </p:nvGrpSpPr>
          <p:grpSpPr bwMode="auto">
            <a:xfrm>
              <a:off x="3064" y="3548"/>
              <a:ext cx="307" cy="293"/>
              <a:chOff x="2815" y="2355"/>
              <a:chExt cx="307" cy="293"/>
            </a:xfrm>
          </p:grpSpPr>
          <p:sp>
            <p:nvSpPr>
              <p:cNvPr id="17431" name="Oval 95"/>
              <p:cNvSpPr>
                <a:spLocks noChangeArrowheads="1"/>
              </p:cNvSpPr>
              <p:nvPr/>
            </p:nvSpPr>
            <p:spPr bwMode="auto">
              <a:xfrm>
                <a:off x="2815" y="2355"/>
                <a:ext cx="307" cy="253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/>
              </a:p>
            </p:txBody>
          </p:sp>
          <p:sp>
            <p:nvSpPr>
              <p:cNvPr id="17432" name="Text Box 96"/>
              <p:cNvSpPr txBox="1">
                <a:spLocks noChangeArrowheads="1"/>
              </p:cNvSpPr>
              <p:nvPr/>
            </p:nvSpPr>
            <p:spPr bwMode="auto">
              <a:xfrm>
                <a:off x="2842" y="2357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1"/>
                    </a:solidFill>
                  </a:rPr>
                  <a:t>d</a:t>
                </a:r>
              </a:p>
            </p:txBody>
          </p:sp>
        </p:grpSp>
        <p:grpSp>
          <p:nvGrpSpPr>
            <p:cNvPr id="17423" name="Group 97"/>
            <p:cNvGrpSpPr>
              <a:grpSpLocks/>
            </p:cNvGrpSpPr>
            <p:nvPr/>
          </p:nvGrpSpPr>
          <p:grpSpPr bwMode="auto">
            <a:xfrm>
              <a:off x="1649" y="3594"/>
              <a:ext cx="307" cy="293"/>
              <a:chOff x="2815" y="2355"/>
              <a:chExt cx="307" cy="293"/>
            </a:xfrm>
          </p:grpSpPr>
          <p:sp>
            <p:nvSpPr>
              <p:cNvPr id="17429" name="Oval 98"/>
              <p:cNvSpPr>
                <a:spLocks noChangeArrowheads="1"/>
              </p:cNvSpPr>
              <p:nvPr/>
            </p:nvSpPr>
            <p:spPr bwMode="auto">
              <a:xfrm>
                <a:off x="2815" y="2355"/>
                <a:ext cx="307" cy="253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altLang="en-US" sz="2400"/>
              </a:p>
            </p:txBody>
          </p:sp>
          <p:sp>
            <p:nvSpPr>
              <p:cNvPr id="17430" name="Text Box 99"/>
              <p:cNvSpPr txBox="1">
                <a:spLocks noChangeArrowheads="1"/>
              </p:cNvSpPr>
              <p:nvPr/>
            </p:nvSpPr>
            <p:spPr bwMode="auto">
              <a:xfrm>
                <a:off x="2864" y="2357"/>
                <a:ext cx="20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1"/>
                    </a:solidFill>
                  </a:rPr>
                  <a:t>c</a:t>
                </a:r>
              </a:p>
            </p:txBody>
          </p:sp>
        </p:grpSp>
        <p:sp>
          <p:nvSpPr>
            <p:cNvPr id="17424" name="Line 100"/>
            <p:cNvSpPr>
              <a:spLocks noChangeShapeType="1"/>
            </p:cNvSpPr>
            <p:nvPr/>
          </p:nvSpPr>
          <p:spPr bwMode="auto">
            <a:xfrm>
              <a:off x="2592" y="2390"/>
              <a:ext cx="158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2400"/>
            </a:p>
          </p:txBody>
        </p:sp>
        <p:sp>
          <p:nvSpPr>
            <p:cNvPr id="17425" name="Line 101"/>
            <p:cNvSpPr>
              <a:spLocks noChangeShapeType="1"/>
            </p:cNvSpPr>
            <p:nvPr/>
          </p:nvSpPr>
          <p:spPr bwMode="auto">
            <a:xfrm flipH="1">
              <a:off x="1910" y="3509"/>
              <a:ext cx="144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2400"/>
            </a:p>
          </p:txBody>
        </p:sp>
        <p:sp>
          <p:nvSpPr>
            <p:cNvPr id="17426" name="Line 102"/>
            <p:cNvSpPr>
              <a:spLocks noChangeShapeType="1"/>
            </p:cNvSpPr>
            <p:nvPr/>
          </p:nvSpPr>
          <p:spPr bwMode="auto">
            <a:xfrm>
              <a:off x="2920" y="3511"/>
              <a:ext cx="158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2400"/>
            </a:p>
          </p:txBody>
        </p:sp>
        <p:sp>
          <p:nvSpPr>
            <p:cNvPr id="17427" name="Line 103"/>
            <p:cNvSpPr>
              <a:spLocks noChangeShapeType="1"/>
            </p:cNvSpPr>
            <p:nvPr/>
          </p:nvSpPr>
          <p:spPr bwMode="auto">
            <a:xfrm>
              <a:off x="2607" y="2952"/>
              <a:ext cx="158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2400"/>
            </a:p>
          </p:txBody>
        </p:sp>
        <p:sp>
          <p:nvSpPr>
            <p:cNvPr id="17428" name="Text Box 104"/>
            <p:cNvSpPr txBox="1">
              <a:spLocks noChangeArrowheads="1"/>
            </p:cNvSpPr>
            <p:nvPr/>
          </p:nvSpPr>
          <p:spPr bwMode="auto">
            <a:xfrm>
              <a:off x="3202" y="2646"/>
              <a:ext cx="9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FFFF00"/>
                  </a:solidFill>
                  <a:ea typeface="楷体_GB2312" pitchFamily="49" charset="-122"/>
                </a:rPr>
                <a:t>objects</a:t>
              </a:r>
            </a:p>
          </p:txBody>
        </p:sp>
      </p:grpSp>
      <p:sp>
        <p:nvSpPr>
          <p:cNvPr id="235626" name="Text Box 106"/>
          <p:cNvSpPr txBox="1">
            <a:spLocks noChangeArrowheads="1"/>
          </p:cNvSpPr>
          <p:nvPr/>
        </p:nvSpPr>
        <p:spPr bwMode="auto">
          <a:xfrm>
            <a:off x="7501103" y="5294314"/>
            <a:ext cx="2926263" cy="830997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What is coverage on this graph ?</a:t>
            </a:r>
            <a:endParaRPr lang="en-US" altLang="en-US" sz="2400" u="sng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3" grpId="0" animBg="1"/>
      <p:bldP spid="2356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1961CFF-1139-49FB-B3A7-5C7C61B33D75}" type="slidenum">
              <a:rPr lang="en-US" altLang="en-US" sz="900" b="0">
                <a:solidFill>
                  <a:schemeClr val="tx1"/>
                </a:solidFill>
              </a:rPr>
              <a:pPr/>
              <a:t>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Coverage on Inheritance Graph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74738"/>
            <a:ext cx="8867775" cy="1770062"/>
          </a:xfrm>
        </p:spPr>
        <p:txBody>
          <a:bodyPr/>
          <a:lstStyle/>
          <a:p>
            <a:r>
              <a:rPr lang="en-US" altLang="en-US" dirty="0"/>
              <a:t>Create an object for each class ?</a:t>
            </a:r>
          </a:p>
          <a:p>
            <a:pPr lvl="1"/>
            <a:r>
              <a:rPr lang="en-US" altLang="en-US" dirty="0"/>
              <a:t>This seems weak because there is no execution</a:t>
            </a:r>
          </a:p>
          <a:p>
            <a:r>
              <a:rPr lang="en-US" altLang="en-US" sz="2400" dirty="0"/>
              <a:t>Cr</a:t>
            </a:r>
            <a:r>
              <a:rPr lang="en-US" altLang="en-US" dirty="0"/>
              <a:t>eate an object for each class and apply call coverage?</a:t>
            </a:r>
          </a:p>
        </p:txBody>
      </p:sp>
      <p:sp>
        <p:nvSpPr>
          <p:cNvPr id="236580" name="Text Box 36"/>
          <p:cNvSpPr txBox="1">
            <a:spLocks noChangeArrowheads="1"/>
          </p:cNvSpPr>
          <p:nvPr/>
        </p:nvSpPr>
        <p:spPr bwMode="auto">
          <a:xfrm>
            <a:off x="1963739" y="2832595"/>
            <a:ext cx="8262937" cy="12065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OO Call Coverage 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TR contains each reachable node in the call graph of an object instantiated for each class in the class hierarchy.</a:t>
            </a:r>
          </a:p>
        </p:txBody>
      </p:sp>
      <p:sp>
        <p:nvSpPr>
          <p:cNvPr id="236581" name="Text Box 37"/>
          <p:cNvSpPr txBox="1">
            <a:spLocks noChangeArrowheads="1"/>
          </p:cNvSpPr>
          <p:nvPr/>
        </p:nvSpPr>
        <p:spPr bwMode="auto">
          <a:xfrm>
            <a:off x="1965325" y="4218483"/>
            <a:ext cx="8262938" cy="12065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OO Object Call Coverage 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TR contains each reachable node in the call graph of </a:t>
            </a: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every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object instantiated for each class in the class hierarchy.</a:t>
            </a:r>
          </a:p>
        </p:txBody>
      </p:sp>
      <p:sp>
        <p:nvSpPr>
          <p:cNvPr id="236582" name="Rectangle 38"/>
          <p:cNvSpPr>
            <a:spLocks noChangeArrowheads="1"/>
          </p:cNvSpPr>
          <p:nvPr/>
        </p:nvSpPr>
        <p:spPr bwMode="auto">
          <a:xfrm>
            <a:off x="1800226" y="5786438"/>
            <a:ext cx="88677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Data flow is probably more appropriate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80" grpId="0" animBg="1" autoUpdateAnimBg="0"/>
      <p:bldP spid="236581" grpId="0" animBg="1" autoUpdateAnimBg="0"/>
      <p:bldP spid="2365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C7AD4B0-3CB0-4B01-9BB0-446BEDF09286}" type="slidenum">
              <a:rPr lang="en-US" altLang="en-US" sz="900" b="0">
                <a:solidFill>
                  <a:schemeClr val="tx1"/>
                </a:solidFill>
              </a:rPr>
              <a:pPr/>
              <a:t>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Flow at the Design Level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794085"/>
            <a:ext cx="8867775" cy="49549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Data flow couplings among units and classes </a:t>
            </a:r>
            <a:r>
              <a:rPr lang="en-US" altLang="en-US" dirty="0">
                <a:solidFill>
                  <a:schemeClr val="tx2"/>
                </a:solidFill>
              </a:rPr>
              <a:t>are more complicated</a:t>
            </a:r>
            <a:r>
              <a:rPr lang="en-US" altLang="en-US" dirty="0"/>
              <a:t> than control flow couplings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dirty="0"/>
              <a:t>When values are passed, they “change names”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dirty="0"/>
              <a:t>Many different ways to share data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dirty="0"/>
              <a:t>Finding </a:t>
            </a:r>
            <a:r>
              <a:rPr lang="en-US" altLang="en-US" dirty="0" err="1"/>
              <a:t>defs</a:t>
            </a:r>
            <a:r>
              <a:rPr lang="en-US" altLang="en-US" dirty="0"/>
              <a:t> and uses can be difficult – finding which uses a </a:t>
            </a:r>
            <a:r>
              <a:rPr lang="en-US" altLang="en-US" dirty="0" err="1"/>
              <a:t>def</a:t>
            </a:r>
            <a:r>
              <a:rPr lang="en-US" altLang="en-US" dirty="0"/>
              <a:t> can reach is very difficult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When software gets complicated … testers should get interested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That’s where the faults are!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en-US" dirty="0">
                <a:solidFill>
                  <a:schemeClr val="tx2"/>
                </a:solidFill>
              </a:rPr>
              <a:t>Caller</a:t>
            </a:r>
            <a:r>
              <a:rPr lang="en-US" altLang="en-US" dirty="0"/>
              <a:t> : A unit that invokes another unit</a:t>
            </a:r>
          </a:p>
          <a:p>
            <a:pPr>
              <a:lnSpc>
                <a:spcPct val="140000"/>
              </a:lnSpc>
            </a:pPr>
            <a:r>
              <a:rPr lang="en-US" altLang="en-US" dirty="0" err="1">
                <a:solidFill>
                  <a:schemeClr val="tx2"/>
                </a:solidFill>
              </a:rPr>
              <a:t>Callee</a:t>
            </a:r>
            <a:r>
              <a:rPr lang="en-US" altLang="en-US" dirty="0"/>
              <a:t> : The unit that is called</a:t>
            </a:r>
          </a:p>
          <a:p>
            <a:pPr>
              <a:lnSpc>
                <a:spcPct val="140000"/>
              </a:lnSpc>
            </a:pPr>
            <a:r>
              <a:rPr lang="en-US" altLang="en-US" dirty="0" err="1">
                <a:solidFill>
                  <a:schemeClr val="tx2"/>
                </a:solidFill>
              </a:rPr>
              <a:t>Callsite</a:t>
            </a:r>
            <a:r>
              <a:rPr lang="en-US" altLang="en-US" dirty="0"/>
              <a:t> : Statement or node where the call appears</a:t>
            </a:r>
          </a:p>
          <a:p>
            <a:pPr>
              <a:lnSpc>
                <a:spcPct val="140000"/>
              </a:lnSpc>
            </a:pPr>
            <a:r>
              <a:rPr lang="en-US" altLang="en-US" dirty="0">
                <a:solidFill>
                  <a:schemeClr val="tx2"/>
                </a:solidFill>
              </a:rPr>
              <a:t>Actual parameter</a:t>
            </a:r>
            <a:r>
              <a:rPr lang="en-US" altLang="en-US" dirty="0"/>
              <a:t> : Variable in the caller</a:t>
            </a:r>
          </a:p>
          <a:p>
            <a:pPr>
              <a:lnSpc>
                <a:spcPct val="140000"/>
              </a:lnSpc>
            </a:pPr>
            <a:r>
              <a:rPr lang="en-US" altLang="en-US" dirty="0">
                <a:solidFill>
                  <a:schemeClr val="tx2"/>
                </a:solidFill>
              </a:rPr>
              <a:t>Formal parameter</a:t>
            </a:r>
            <a:r>
              <a:rPr lang="en-US" altLang="en-US" dirty="0"/>
              <a:t> : Variable in the </a:t>
            </a:r>
            <a:r>
              <a:rPr lang="en-US" altLang="en-US" dirty="0" err="1"/>
              <a:t>callee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060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92CC7F0-DA81-42A4-B852-A9EF987262AE}" type="slidenum">
              <a:rPr lang="en-US" altLang="en-US" sz="900" b="0">
                <a:solidFill>
                  <a:schemeClr val="tx1"/>
                </a:solidFill>
              </a:rPr>
              <a:pPr/>
              <a:t>10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Call Site</a:t>
            </a:r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4529554" y="1105898"/>
            <a:ext cx="1100139" cy="3231654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</a:rPr>
              <a:t>A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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 B (x)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 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end A</a:t>
            </a:r>
          </a:p>
          <a:p>
            <a:pPr algn="l"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B (Y)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 </a:t>
            </a:r>
            <a:b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</a:br>
            <a:r>
              <a:rPr kumimoji="1" lang="en-US" altLang="zh-CN" sz="2400" dirty="0">
                <a:solidFill>
                  <a:schemeClr val="tx1"/>
                </a:solidFill>
                <a:latin typeface="Helvetica" panose="020B0604020202020204" pitchFamily="34" charset="0"/>
                <a:ea typeface="楷体_GB2312" pitchFamily="49" charset="-122"/>
                <a:cs typeface="Helvetica" panose="020B0604020202020204" pitchFamily="34" charset="0"/>
                <a:sym typeface="MT Extra" pitchFamily="18" charset="2"/>
              </a:rPr>
              <a:t>end B</a:t>
            </a:r>
          </a:p>
        </p:txBody>
      </p:sp>
      <p:sp>
        <p:nvSpPr>
          <p:cNvPr id="231440" name="AutoShape 16"/>
          <p:cNvSpPr>
            <a:spLocks/>
          </p:cNvSpPr>
          <p:nvPr/>
        </p:nvSpPr>
        <p:spPr bwMode="auto">
          <a:xfrm>
            <a:off x="7442200" y="1221787"/>
            <a:ext cx="914400" cy="427037"/>
          </a:xfrm>
          <a:prstGeom prst="borderCallout1">
            <a:avLst>
              <a:gd name="adj1" fmla="val 26764"/>
              <a:gd name="adj2" fmla="val -8333"/>
              <a:gd name="adj3" fmla="val 29741"/>
              <a:gd name="adj4" fmla="val -257120"/>
            </a:avLst>
          </a:prstGeom>
          <a:solidFill>
            <a:srgbClr val="0000FF"/>
          </a:solidFill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dirty="0">
                <a:latin typeface="Gill Sans MT" panose="020B0502020104020203" pitchFamily="34" charset="0"/>
              </a:rPr>
              <a:t>Caller</a:t>
            </a:r>
          </a:p>
        </p:txBody>
      </p:sp>
      <p:sp>
        <p:nvSpPr>
          <p:cNvPr id="231441" name="AutoShape 17"/>
          <p:cNvSpPr>
            <a:spLocks/>
          </p:cNvSpPr>
          <p:nvPr/>
        </p:nvSpPr>
        <p:spPr bwMode="auto">
          <a:xfrm>
            <a:off x="6899276" y="1945686"/>
            <a:ext cx="1692275" cy="723900"/>
          </a:xfrm>
          <a:prstGeom prst="borderCallout1">
            <a:avLst>
              <a:gd name="adj1" fmla="val 15792"/>
              <a:gd name="adj2" fmla="val -4505"/>
              <a:gd name="adj3" fmla="val 20616"/>
              <a:gd name="adj4" fmla="val -87056"/>
            </a:avLst>
          </a:prstGeom>
          <a:solidFill>
            <a:srgbClr val="0000FF"/>
          </a:solidFill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latin typeface="Gill Sans MT" panose="020B0502020104020203" pitchFamily="34" charset="0"/>
              </a:rPr>
              <a:t>Actual Parameter</a:t>
            </a:r>
          </a:p>
        </p:txBody>
      </p:sp>
      <p:sp>
        <p:nvSpPr>
          <p:cNvPr id="231442" name="AutoShape 18"/>
          <p:cNvSpPr>
            <a:spLocks/>
          </p:cNvSpPr>
          <p:nvPr/>
        </p:nvSpPr>
        <p:spPr bwMode="auto">
          <a:xfrm>
            <a:off x="7151689" y="3456986"/>
            <a:ext cx="1692275" cy="723900"/>
          </a:xfrm>
          <a:prstGeom prst="borderCallout1">
            <a:avLst>
              <a:gd name="adj1" fmla="val 15792"/>
              <a:gd name="adj2" fmla="val -4505"/>
              <a:gd name="adj3" fmla="val -10963"/>
              <a:gd name="adj4" fmla="val -102347"/>
            </a:avLst>
          </a:prstGeom>
          <a:solidFill>
            <a:srgbClr val="0000FF"/>
          </a:solidFill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latin typeface="Gill Sans MT" panose="020B0502020104020203" pitchFamily="34" charset="0"/>
              </a:rPr>
              <a:t>Formal Parameter</a:t>
            </a:r>
          </a:p>
        </p:txBody>
      </p:sp>
      <p:sp>
        <p:nvSpPr>
          <p:cNvPr id="231443" name="AutoShape 19"/>
          <p:cNvSpPr>
            <a:spLocks/>
          </p:cNvSpPr>
          <p:nvPr/>
        </p:nvSpPr>
        <p:spPr bwMode="auto">
          <a:xfrm>
            <a:off x="6573846" y="2834686"/>
            <a:ext cx="1096962" cy="381000"/>
          </a:xfrm>
          <a:prstGeom prst="borderCallout2">
            <a:avLst>
              <a:gd name="adj1" fmla="val 30000"/>
              <a:gd name="adj2" fmla="val -8333"/>
              <a:gd name="adj3" fmla="val 30000"/>
              <a:gd name="adj4" fmla="val -86287"/>
              <a:gd name="adj5" fmla="val 90000"/>
              <a:gd name="adj6" fmla="val -167190"/>
            </a:avLst>
          </a:prstGeom>
          <a:solidFill>
            <a:srgbClr val="0000FF"/>
          </a:solidFill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dirty="0" err="1">
                <a:latin typeface="Gill Sans MT" panose="020B0502020104020203" pitchFamily="34" charset="0"/>
              </a:rPr>
              <a:t>Callee</a:t>
            </a:r>
            <a:endParaRPr lang="en-US" altLang="en-US" dirty="0">
              <a:latin typeface="Gill Sans MT" panose="020B0502020104020203" pitchFamily="34" charset="0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570163" y="1829799"/>
            <a:ext cx="3095626" cy="1793875"/>
            <a:chOff x="169" y="1376"/>
            <a:chExt cx="1950" cy="1130"/>
          </a:xfrm>
        </p:grpSpPr>
        <p:sp>
          <p:nvSpPr>
            <p:cNvPr id="20493" name="Text Box 7"/>
            <p:cNvSpPr txBox="1">
              <a:spLocks noChangeArrowheads="1"/>
            </p:cNvSpPr>
            <p:nvPr/>
          </p:nvSpPr>
          <p:spPr bwMode="auto">
            <a:xfrm>
              <a:off x="169" y="1794"/>
              <a:ext cx="935" cy="291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interface</a:t>
              </a:r>
            </a:p>
          </p:txBody>
        </p:sp>
        <p:sp>
          <p:nvSpPr>
            <p:cNvPr id="20494" name="Oval 21"/>
            <p:cNvSpPr>
              <a:spLocks noChangeArrowheads="1"/>
            </p:cNvSpPr>
            <p:nvPr/>
          </p:nvSpPr>
          <p:spPr bwMode="auto">
            <a:xfrm>
              <a:off x="1362" y="1376"/>
              <a:ext cx="757" cy="113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5" name="Line 22"/>
            <p:cNvSpPr>
              <a:spLocks noChangeShapeType="1"/>
            </p:cNvSpPr>
            <p:nvPr/>
          </p:nvSpPr>
          <p:spPr bwMode="auto">
            <a:xfrm flipH="1">
              <a:off x="1121" y="1941"/>
              <a:ext cx="223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1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1662114" y="4493458"/>
            <a:ext cx="8867775" cy="1887538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Applying data flow criteria to </a:t>
            </a:r>
            <a:r>
              <a:rPr lang="en-US" altLang="en-US" dirty="0" err="1"/>
              <a:t>def</a:t>
            </a:r>
            <a:r>
              <a:rPr lang="en-US" altLang="en-US" dirty="0"/>
              <a:t>-use pairs between units is </a:t>
            </a:r>
            <a:r>
              <a:rPr lang="en-US" altLang="en-US" dirty="0">
                <a:solidFill>
                  <a:schemeClr val="tx2"/>
                </a:solidFill>
              </a:rPr>
              <a:t>too expensive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Too many possibilities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But this is integration testing, and we really only care about the </a:t>
            </a:r>
            <a:r>
              <a:rPr lang="en-US" altLang="en-US" dirty="0">
                <a:solidFill>
                  <a:schemeClr val="tx2"/>
                </a:solidFill>
              </a:rPr>
              <a:t>interface</a:t>
            </a:r>
            <a:r>
              <a:rPr lang="en-US" altLang="en-US" dirty="0"/>
              <a:t>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0" grpId="0" animBg="1"/>
      <p:bldP spid="231441" grpId="0" animBg="1"/>
      <p:bldP spid="231442" grpId="0" animBg="1"/>
      <p:bldP spid="2314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C9C7A38-3401-4E50-8B28-21D6C6E9C607}" type="slidenum">
              <a:rPr lang="en-US" altLang="en-US" sz="900" b="0">
                <a:solidFill>
                  <a:schemeClr val="tx1"/>
                </a:solidFill>
              </a:rPr>
              <a:pPr/>
              <a:t>11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Inter-procedural DU Pairs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we focus on the interface, then we just need to consider the </a:t>
            </a:r>
            <a:r>
              <a:rPr lang="en-US" altLang="en-US" dirty="0">
                <a:solidFill>
                  <a:schemeClr val="tx2"/>
                </a:solidFill>
              </a:rPr>
              <a:t>last definitions</a:t>
            </a:r>
            <a:r>
              <a:rPr lang="en-US" altLang="en-US" dirty="0"/>
              <a:t> of variables before calls and returns and </a:t>
            </a:r>
            <a:r>
              <a:rPr lang="en-US" altLang="en-US" dirty="0">
                <a:solidFill>
                  <a:schemeClr val="tx2"/>
                </a:solidFill>
              </a:rPr>
              <a:t>first uses</a:t>
            </a:r>
            <a:r>
              <a:rPr lang="en-US" altLang="en-US" dirty="0"/>
              <a:t> inside units and after calls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Last-</a:t>
            </a:r>
            <a:r>
              <a:rPr lang="en-US" altLang="en-US" dirty="0" err="1">
                <a:solidFill>
                  <a:schemeClr val="tx2"/>
                </a:solidFill>
              </a:rPr>
              <a:t>def</a:t>
            </a:r>
            <a:r>
              <a:rPr lang="en-US" altLang="en-US" dirty="0"/>
              <a:t> : The set of nodes that define a variable </a:t>
            </a:r>
            <a:r>
              <a:rPr lang="en-US" altLang="en-US" i="1" dirty="0"/>
              <a:t>x</a:t>
            </a:r>
            <a:r>
              <a:rPr lang="en-US" altLang="en-US" dirty="0"/>
              <a:t> and has a </a:t>
            </a:r>
            <a:r>
              <a:rPr lang="en-US" altLang="en-US" dirty="0" err="1"/>
              <a:t>def</a:t>
            </a:r>
            <a:r>
              <a:rPr lang="en-US" altLang="en-US" dirty="0"/>
              <a:t>-clear path from the node through a </a:t>
            </a:r>
            <a:r>
              <a:rPr lang="en-US" altLang="en-US" dirty="0" err="1"/>
              <a:t>callsite</a:t>
            </a:r>
            <a:r>
              <a:rPr lang="en-US" altLang="en-US" dirty="0"/>
              <a:t> to a use in the other unit</a:t>
            </a:r>
          </a:p>
          <a:p>
            <a:pPr lvl="1"/>
            <a:r>
              <a:rPr lang="en-US" altLang="en-US" dirty="0"/>
              <a:t>Can be from caller to </a:t>
            </a:r>
            <a:r>
              <a:rPr lang="en-US" altLang="en-US" dirty="0" err="1"/>
              <a:t>callee</a:t>
            </a:r>
            <a:r>
              <a:rPr lang="en-US" altLang="en-US" dirty="0"/>
              <a:t> (parameter or shared variable) or from </a:t>
            </a:r>
            <a:r>
              <a:rPr lang="en-US" altLang="en-US" dirty="0" err="1"/>
              <a:t>callee</a:t>
            </a:r>
            <a:r>
              <a:rPr lang="en-US" altLang="en-US" dirty="0"/>
              <a:t> to caller as a return value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First-use</a:t>
            </a:r>
            <a:r>
              <a:rPr lang="en-US" altLang="en-US" dirty="0"/>
              <a:t> : The set of nodes that have uses of a variable </a:t>
            </a:r>
            <a:r>
              <a:rPr lang="en-US" altLang="en-US" i="1" dirty="0"/>
              <a:t>y</a:t>
            </a:r>
            <a:r>
              <a:rPr lang="en-US" altLang="en-US" dirty="0"/>
              <a:t> and for which there is a </a:t>
            </a:r>
            <a:r>
              <a:rPr lang="en-US" altLang="en-US" dirty="0" err="1"/>
              <a:t>def</a:t>
            </a:r>
            <a:r>
              <a:rPr lang="en-US" altLang="en-US" dirty="0"/>
              <a:t>-clear and use-clear path from the </a:t>
            </a:r>
            <a:r>
              <a:rPr lang="en-US" altLang="en-US" dirty="0" err="1"/>
              <a:t>callsite</a:t>
            </a:r>
            <a:r>
              <a:rPr lang="en-US" altLang="en-US" dirty="0"/>
              <a:t> to the nodes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342ABD3-D896-498E-B718-848A5C9C3A83}" type="slidenum">
              <a:rPr lang="en-US" altLang="en-US" sz="900" b="0">
                <a:solidFill>
                  <a:schemeClr val="tx1"/>
                </a:solidFill>
              </a:rPr>
              <a:pPr/>
              <a:t>12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1641476" y="96839"/>
            <a:ext cx="8893175" cy="909636"/>
          </a:xfrm>
        </p:spPr>
        <p:txBody>
          <a:bodyPr/>
          <a:lstStyle/>
          <a:p>
            <a:r>
              <a:rPr lang="en-US" altLang="en-US" sz="3200" dirty="0"/>
              <a:t>I</a:t>
            </a:r>
            <a:r>
              <a:rPr lang="en-US" altLang="en-US" dirty="0"/>
              <a:t>nter-procedural</a:t>
            </a:r>
            <a:r>
              <a:rPr lang="en-US" altLang="en-US" sz="3200" dirty="0"/>
              <a:t> DU P</a:t>
            </a:r>
            <a:r>
              <a:rPr lang="en-US" altLang="en-US" dirty="0"/>
              <a:t>airs </a:t>
            </a:r>
            <a:r>
              <a:rPr lang="en-US" altLang="en-US" sz="3200" dirty="0"/>
              <a:t>Example</a:t>
            </a:r>
            <a:endParaRPr lang="en-US" altLang="en-US" dirty="0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3962740" y="1387475"/>
            <a:ext cx="1905000" cy="175260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045290" y="1447801"/>
            <a:ext cx="331788" cy="396875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  <a:t>F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4710454" y="1447801"/>
            <a:ext cx="11572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  <a:t>X = 14</a:t>
            </a:r>
            <a:b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</a:br>
            <a: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</a:t>
            </a:r>
            <a:b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y = G (x)</a:t>
            </a:r>
            <a:b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 </a:t>
            </a:r>
            <a:b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 dirty="0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print (y)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3962740" y="3978275"/>
            <a:ext cx="1905000" cy="175260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943691" y="3962401"/>
            <a:ext cx="677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  <a:t>G (a)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4645366" y="4038601"/>
            <a:ext cx="12874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  <a:t>print (a)</a:t>
            </a:r>
            <a:b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</a:rPr>
            </a:b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</a:t>
            </a:r>
            <a:b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b = 42</a:t>
            </a:r>
            <a:b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 </a:t>
            </a:r>
            <a:b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</a:br>
            <a:r>
              <a:rPr kumimoji="1" lang="en-US" altLang="zh-CN">
                <a:solidFill>
                  <a:schemeClr val="tx1"/>
                </a:solidFill>
                <a:latin typeface="Helvetica" charset="0"/>
                <a:ea typeface="楷体_GB2312" pitchFamily="49" charset="-122"/>
                <a:sym typeface="MT Extra" pitchFamily="18" charset="2"/>
              </a:rPr>
              <a:t>return (b)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3886540" y="1006476"/>
            <a:ext cx="12407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Gill Sans MT" panose="020B0502020104020203" pitchFamily="34" charset="0"/>
                <a:ea typeface="楷体_GB2312" pitchFamily="49" charset="-122"/>
              </a:rPr>
              <a:t>Caller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3886540" y="3581401"/>
            <a:ext cx="12407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sz="2400" dirty="0" err="1">
                <a:solidFill>
                  <a:srgbClr val="FFFF00"/>
                </a:solidFill>
                <a:latin typeface="Gill Sans MT" panose="020B0502020104020203" pitchFamily="34" charset="0"/>
                <a:ea typeface="楷体_GB2312" pitchFamily="49" charset="-122"/>
              </a:rPr>
              <a:t>Callee</a:t>
            </a:r>
            <a:endParaRPr kumimoji="1" lang="en-US" altLang="zh-CN" sz="2400" dirty="0">
              <a:solidFill>
                <a:srgbClr val="FFFF00"/>
              </a:solidFill>
              <a:latin typeface="Gill Sans MT" panose="020B0502020104020203" pitchFamily="34" charset="0"/>
              <a:ea typeface="楷体_GB2312" pitchFamily="49" charset="-122"/>
            </a:endParaRP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4267540" y="2967038"/>
            <a:ext cx="1074738" cy="2074862"/>
            <a:chOff x="624" y="1978"/>
            <a:chExt cx="720" cy="1200"/>
          </a:xfrm>
        </p:grpSpPr>
        <p:sp>
          <p:nvSpPr>
            <p:cNvPr id="22599" name="Freeform 14"/>
            <p:cNvSpPr>
              <a:spLocks/>
            </p:cNvSpPr>
            <p:nvPr/>
          </p:nvSpPr>
          <p:spPr bwMode="auto">
            <a:xfrm>
              <a:off x="873" y="1978"/>
              <a:ext cx="471" cy="1165"/>
            </a:xfrm>
            <a:custGeom>
              <a:avLst/>
              <a:gdLst>
                <a:gd name="T0" fmla="*/ 231 w 471"/>
                <a:gd name="T1" fmla="*/ 1104 h 1165"/>
                <a:gd name="T2" fmla="*/ 24 w 471"/>
                <a:gd name="T3" fmla="*/ 1029 h 1165"/>
                <a:gd name="T4" fmla="*/ 87 w 471"/>
                <a:gd name="T5" fmla="*/ 288 h 1165"/>
                <a:gd name="T6" fmla="*/ 393 w 471"/>
                <a:gd name="T7" fmla="*/ 174 h 1165"/>
                <a:gd name="T8" fmla="*/ 471 w 471"/>
                <a:gd name="T9" fmla="*/ 0 h 1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1"/>
                <a:gd name="T16" fmla="*/ 0 h 1165"/>
                <a:gd name="T17" fmla="*/ 471 w 471"/>
                <a:gd name="T18" fmla="*/ 1165 h 1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1" h="1165">
                  <a:moveTo>
                    <a:pt x="231" y="1104"/>
                  </a:moveTo>
                  <a:cubicBezTo>
                    <a:pt x="196" y="1091"/>
                    <a:pt x="48" y="1165"/>
                    <a:pt x="24" y="1029"/>
                  </a:cubicBezTo>
                  <a:cubicBezTo>
                    <a:pt x="0" y="893"/>
                    <a:pt x="25" y="431"/>
                    <a:pt x="87" y="288"/>
                  </a:cubicBezTo>
                  <a:cubicBezTo>
                    <a:pt x="149" y="145"/>
                    <a:pt x="329" y="222"/>
                    <a:pt x="393" y="174"/>
                  </a:cubicBezTo>
                  <a:cubicBezTo>
                    <a:pt x="457" y="126"/>
                    <a:pt x="455" y="36"/>
                    <a:pt x="471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0" name="Text Box 25"/>
            <p:cNvSpPr txBox="1">
              <a:spLocks noChangeArrowheads="1"/>
            </p:cNvSpPr>
            <p:nvPr/>
          </p:nvSpPr>
          <p:spPr bwMode="auto">
            <a:xfrm>
              <a:off x="624" y="2842"/>
              <a:ext cx="5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1600">
                  <a:solidFill>
                    <a:srgbClr val="000000"/>
                  </a:solidFill>
                  <a:ea typeface="楷体_GB2312" pitchFamily="49" charset="-122"/>
                </a:rPr>
                <a:t>DU pair</a:t>
              </a:r>
            </a:p>
          </p:txBody>
        </p:sp>
      </p:grpSp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4038940" y="1692276"/>
            <a:ext cx="1219200" cy="2435225"/>
            <a:chOff x="480" y="1066"/>
            <a:chExt cx="768" cy="1440"/>
          </a:xfrm>
        </p:grpSpPr>
        <p:sp>
          <p:nvSpPr>
            <p:cNvPr id="22597" name="Freeform 13"/>
            <p:cNvSpPr>
              <a:spLocks/>
            </p:cNvSpPr>
            <p:nvPr/>
          </p:nvSpPr>
          <p:spPr bwMode="auto">
            <a:xfrm>
              <a:off x="837" y="1066"/>
              <a:ext cx="411" cy="1440"/>
            </a:xfrm>
            <a:custGeom>
              <a:avLst/>
              <a:gdLst>
                <a:gd name="T0" fmla="*/ 267 w 411"/>
                <a:gd name="T1" fmla="*/ 0 h 1392"/>
                <a:gd name="T2" fmla="*/ 75 w 411"/>
                <a:gd name="T3" fmla="*/ 118 h 1392"/>
                <a:gd name="T4" fmla="*/ 27 w 411"/>
                <a:gd name="T5" fmla="*/ 647 h 1392"/>
                <a:gd name="T6" fmla="*/ 240 w 411"/>
                <a:gd name="T7" fmla="*/ 1398 h 1392"/>
                <a:gd name="T8" fmla="*/ 411 w 411"/>
                <a:gd name="T9" fmla="*/ 1706 h 1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1"/>
                <a:gd name="T16" fmla="*/ 0 h 1392"/>
                <a:gd name="T17" fmla="*/ 411 w 411"/>
                <a:gd name="T18" fmla="*/ 1392 h 1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1" h="1392">
                  <a:moveTo>
                    <a:pt x="267" y="0"/>
                  </a:moveTo>
                  <a:cubicBezTo>
                    <a:pt x="191" y="4"/>
                    <a:pt x="115" y="8"/>
                    <a:pt x="75" y="96"/>
                  </a:cubicBezTo>
                  <a:cubicBezTo>
                    <a:pt x="35" y="184"/>
                    <a:pt x="0" y="354"/>
                    <a:pt x="27" y="528"/>
                  </a:cubicBezTo>
                  <a:cubicBezTo>
                    <a:pt x="54" y="702"/>
                    <a:pt x="176" y="996"/>
                    <a:pt x="240" y="1140"/>
                  </a:cubicBezTo>
                  <a:cubicBezTo>
                    <a:pt x="304" y="1284"/>
                    <a:pt x="375" y="1340"/>
                    <a:pt x="411" y="13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8" name="Text Box 26"/>
            <p:cNvSpPr txBox="1">
              <a:spLocks noChangeArrowheads="1"/>
            </p:cNvSpPr>
            <p:nvPr/>
          </p:nvSpPr>
          <p:spPr bwMode="auto">
            <a:xfrm>
              <a:off x="480" y="1546"/>
              <a:ext cx="576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1600">
                  <a:solidFill>
                    <a:srgbClr val="111111"/>
                  </a:solidFill>
                  <a:ea typeface="楷体_GB2312" pitchFamily="49" charset="-122"/>
                </a:rPr>
                <a:t>DU pair</a:t>
              </a:r>
            </a:p>
          </p:txBody>
        </p:sp>
      </p:grpSp>
      <p:grpSp>
        <p:nvGrpSpPr>
          <p:cNvPr id="10" name="Group 89"/>
          <p:cNvGrpSpPr>
            <a:grpSpLocks/>
          </p:cNvGrpSpPr>
          <p:nvPr/>
        </p:nvGrpSpPr>
        <p:grpSpPr bwMode="auto">
          <a:xfrm>
            <a:off x="6378678" y="1438276"/>
            <a:ext cx="1338263" cy="3749675"/>
            <a:chOff x="1857" y="906"/>
            <a:chExt cx="843" cy="2362"/>
          </a:xfrm>
        </p:grpSpPr>
        <p:sp>
          <p:nvSpPr>
            <p:cNvPr id="22571" name="AutoShape 70"/>
            <p:cNvSpPr>
              <a:spLocks/>
            </p:cNvSpPr>
            <p:nvPr/>
          </p:nvSpPr>
          <p:spPr bwMode="auto">
            <a:xfrm>
              <a:off x="1857" y="1334"/>
              <a:ext cx="843" cy="269"/>
            </a:xfrm>
            <a:prstGeom prst="borderCallout1">
              <a:avLst>
                <a:gd name="adj1" fmla="val 26764"/>
                <a:gd name="adj2" fmla="val -6282"/>
                <a:gd name="adj3" fmla="val 37546"/>
                <a:gd name="adj4" fmla="val -42005"/>
              </a:avLst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Gill Sans MT" panose="020B0502020104020203" pitchFamily="34" charset="0"/>
                </a:rPr>
                <a:t>callsite</a:t>
              </a:r>
            </a:p>
          </p:txBody>
        </p:sp>
        <p:sp>
          <p:nvSpPr>
            <p:cNvPr id="22572" name="AutoShape 71"/>
            <p:cNvSpPr>
              <a:spLocks/>
            </p:cNvSpPr>
            <p:nvPr/>
          </p:nvSpPr>
          <p:spPr bwMode="auto">
            <a:xfrm>
              <a:off x="1857" y="1762"/>
              <a:ext cx="843" cy="269"/>
            </a:xfrm>
            <a:prstGeom prst="borderCallout1">
              <a:avLst>
                <a:gd name="adj1" fmla="val 26764"/>
                <a:gd name="adj2" fmla="val -6282"/>
                <a:gd name="adj3" fmla="val 21560"/>
                <a:gd name="adj4" fmla="val -46856"/>
              </a:avLst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Gill Sans MT" panose="020B0502020104020203" pitchFamily="34" charset="0"/>
                </a:rPr>
                <a:t>first-use</a:t>
              </a:r>
            </a:p>
          </p:txBody>
        </p:sp>
        <p:sp>
          <p:nvSpPr>
            <p:cNvPr id="22573" name="AutoShape 72"/>
            <p:cNvSpPr>
              <a:spLocks/>
            </p:cNvSpPr>
            <p:nvPr/>
          </p:nvSpPr>
          <p:spPr bwMode="auto">
            <a:xfrm>
              <a:off x="1857" y="2621"/>
              <a:ext cx="843" cy="269"/>
            </a:xfrm>
            <a:prstGeom prst="borderCallout1">
              <a:avLst>
                <a:gd name="adj1" fmla="val 26764"/>
                <a:gd name="adj2" fmla="val -6282"/>
                <a:gd name="adj3" fmla="val 27139"/>
                <a:gd name="adj4" fmla="val -39398"/>
              </a:avLst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Gill Sans MT" panose="020B0502020104020203" pitchFamily="34" charset="0"/>
                </a:rPr>
                <a:t>first-use</a:t>
              </a:r>
            </a:p>
          </p:txBody>
        </p:sp>
        <p:sp>
          <p:nvSpPr>
            <p:cNvPr id="22574" name="AutoShape 73"/>
            <p:cNvSpPr>
              <a:spLocks/>
            </p:cNvSpPr>
            <p:nvPr/>
          </p:nvSpPr>
          <p:spPr bwMode="auto">
            <a:xfrm>
              <a:off x="1857" y="2999"/>
              <a:ext cx="843" cy="269"/>
            </a:xfrm>
            <a:prstGeom prst="borderCallout1">
              <a:avLst>
                <a:gd name="adj1" fmla="val 26764"/>
                <a:gd name="adj2" fmla="val -6282"/>
                <a:gd name="adj3" fmla="val 26764"/>
                <a:gd name="adj4" fmla="val -47773"/>
              </a:avLst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Gill Sans MT" panose="020B0502020104020203" pitchFamily="34" charset="0"/>
                </a:rPr>
                <a:t>last-def</a:t>
              </a:r>
            </a:p>
          </p:txBody>
        </p:sp>
        <p:sp>
          <p:nvSpPr>
            <p:cNvPr id="22575" name="AutoShape 74"/>
            <p:cNvSpPr>
              <a:spLocks/>
            </p:cNvSpPr>
            <p:nvPr/>
          </p:nvSpPr>
          <p:spPr bwMode="auto">
            <a:xfrm>
              <a:off x="1857" y="906"/>
              <a:ext cx="843" cy="269"/>
            </a:xfrm>
            <a:prstGeom prst="borderCallout1">
              <a:avLst>
                <a:gd name="adj1" fmla="val 26764"/>
                <a:gd name="adj2" fmla="val -6282"/>
                <a:gd name="adj3" fmla="val 37065"/>
                <a:gd name="adj4" fmla="val -51133"/>
              </a:avLst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en-US" sz="2400" dirty="0">
                  <a:latin typeface="Gill Sans MT" panose="020B0502020104020203" pitchFamily="34" charset="0"/>
                </a:rPr>
                <a:t>last-</a:t>
              </a:r>
              <a:r>
                <a:rPr lang="en-US" altLang="en-US" sz="2400" dirty="0" err="1">
                  <a:latin typeface="Gill Sans MT" panose="020B0502020104020203" pitchFamily="34" charset="0"/>
                </a:rPr>
                <a:t>def</a:t>
              </a:r>
              <a:endParaRPr lang="en-US" altLang="en-US" sz="2400" dirty="0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342ABD3-D896-498E-B718-848A5C9C3A83}" type="slidenum">
              <a:rPr lang="en-US" altLang="en-US" sz="900" b="0">
                <a:solidFill>
                  <a:schemeClr val="tx1"/>
                </a:solidFill>
              </a:rPr>
              <a:pPr/>
              <a:t>13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1641476" y="96839"/>
            <a:ext cx="8893175" cy="909636"/>
          </a:xfrm>
        </p:spPr>
        <p:txBody>
          <a:bodyPr/>
          <a:lstStyle/>
          <a:p>
            <a:r>
              <a:rPr lang="en-US" altLang="en-US" sz="3200" dirty="0"/>
              <a:t>I</a:t>
            </a:r>
            <a:r>
              <a:rPr lang="en-US" altLang="en-US" dirty="0"/>
              <a:t>nter-procedural</a:t>
            </a:r>
            <a:r>
              <a:rPr lang="en-US" altLang="en-US" sz="3200" dirty="0"/>
              <a:t> DU P</a:t>
            </a:r>
            <a:r>
              <a:rPr lang="en-US" altLang="en-US" dirty="0"/>
              <a:t>airs </a:t>
            </a:r>
            <a:r>
              <a:rPr lang="en-US" altLang="en-US" sz="3200" dirty="0"/>
              <a:t>Example</a:t>
            </a:r>
            <a:endParaRPr lang="en-US" altLang="en-US" dirty="0"/>
          </a:p>
        </p:txBody>
      </p:sp>
      <p:sp>
        <p:nvSpPr>
          <p:cNvPr id="242744" name="Freeform 56"/>
          <p:cNvSpPr>
            <a:spLocks/>
          </p:cNvSpPr>
          <p:nvPr/>
        </p:nvSpPr>
        <p:spPr bwMode="auto">
          <a:xfrm>
            <a:off x="4668328" y="722623"/>
            <a:ext cx="2623185" cy="3631768"/>
          </a:xfrm>
          <a:custGeom>
            <a:avLst/>
            <a:gdLst>
              <a:gd name="T0" fmla="*/ 0 w 1632"/>
              <a:gd name="T1" fmla="*/ 2147483647 h 2047"/>
              <a:gd name="T2" fmla="*/ 2147483647 w 1632"/>
              <a:gd name="T3" fmla="*/ 2147483647 h 2047"/>
              <a:gd name="T4" fmla="*/ 2147483647 w 1632"/>
              <a:gd name="T5" fmla="*/ 2147483647 h 2047"/>
              <a:gd name="T6" fmla="*/ 2147483647 w 1632"/>
              <a:gd name="T7" fmla="*/ 2147483647 h 2047"/>
              <a:gd name="T8" fmla="*/ 2147483647 w 1632"/>
              <a:gd name="T9" fmla="*/ 2147483647 h 2047"/>
              <a:gd name="T10" fmla="*/ 2147483647 w 1632"/>
              <a:gd name="T11" fmla="*/ 2147483647 h 2047"/>
              <a:gd name="T12" fmla="*/ 2147483647 w 1632"/>
              <a:gd name="T13" fmla="*/ 2147483647 h 20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32"/>
              <a:gd name="T22" fmla="*/ 0 h 2047"/>
              <a:gd name="T23" fmla="*/ 1632 w 1632"/>
              <a:gd name="T24" fmla="*/ 2047 h 2047"/>
              <a:gd name="connsiteX0" fmla="*/ 0 w 10125"/>
              <a:gd name="connsiteY0" fmla="*/ 10290 h 10312"/>
              <a:gd name="connsiteX1" fmla="*/ 1007 w 10125"/>
              <a:gd name="connsiteY1" fmla="*/ 8678 h 10312"/>
              <a:gd name="connsiteX2" fmla="*/ 4592 w 10125"/>
              <a:gd name="connsiteY2" fmla="*/ 9044 h 10312"/>
              <a:gd name="connsiteX3" fmla="*/ 5199 w 10125"/>
              <a:gd name="connsiteY3" fmla="*/ 4340 h 10312"/>
              <a:gd name="connsiteX4" fmla="*/ 6596 w 10125"/>
              <a:gd name="connsiteY4" fmla="*/ 470 h 10312"/>
              <a:gd name="connsiteX5" fmla="*/ 8949 w 10125"/>
              <a:gd name="connsiteY5" fmla="*/ 119 h 10312"/>
              <a:gd name="connsiteX6" fmla="*/ 10125 w 10125"/>
              <a:gd name="connsiteY6" fmla="*/ 939 h 10312"/>
              <a:gd name="connsiteX0" fmla="*/ 0 w 10125"/>
              <a:gd name="connsiteY0" fmla="*/ 10290 h 11176"/>
              <a:gd name="connsiteX1" fmla="*/ 2038 w 10125"/>
              <a:gd name="connsiteY1" fmla="*/ 11143 h 11176"/>
              <a:gd name="connsiteX2" fmla="*/ 4592 w 10125"/>
              <a:gd name="connsiteY2" fmla="*/ 9044 h 11176"/>
              <a:gd name="connsiteX3" fmla="*/ 5199 w 10125"/>
              <a:gd name="connsiteY3" fmla="*/ 4340 h 11176"/>
              <a:gd name="connsiteX4" fmla="*/ 6596 w 10125"/>
              <a:gd name="connsiteY4" fmla="*/ 470 h 11176"/>
              <a:gd name="connsiteX5" fmla="*/ 8949 w 10125"/>
              <a:gd name="connsiteY5" fmla="*/ 119 h 11176"/>
              <a:gd name="connsiteX6" fmla="*/ 10125 w 10125"/>
              <a:gd name="connsiteY6" fmla="*/ 939 h 1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25" h="11176">
                <a:moveTo>
                  <a:pt x="0" y="10290"/>
                </a:moveTo>
                <a:cubicBezTo>
                  <a:pt x="74" y="10525"/>
                  <a:pt x="1273" y="11351"/>
                  <a:pt x="2038" y="11143"/>
                </a:cubicBezTo>
                <a:cubicBezTo>
                  <a:pt x="2803" y="10935"/>
                  <a:pt x="4065" y="10178"/>
                  <a:pt x="4592" y="9044"/>
                </a:cubicBezTo>
                <a:cubicBezTo>
                  <a:pt x="5119" y="7910"/>
                  <a:pt x="4868" y="5766"/>
                  <a:pt x="5199" y="4340"/>
                </a:cubicBezTo>
                <a:cubicBezTo>
                  <a:pt x="5529" y="2913"/>
                  <a:pt x="5971" y="1174"/>
                  <a:pt x="6596" y="470"/>
                </a:cubicBezTo>
                <a:cubicBezTo>
                  <a:pt x="7221" y="-233"/>
                  <a:pt x="8360" y="41"/>
                  <a:pt x="8949" y="119"/>
                </a:cubicBezTo>
                <a:cubicBezTo>
                  <a:pt x="9537" y="197"/>
                  <a:pt x="9880" y="768"/>
                  <a:pt x="10125" y="939"/>
                </a:cubicBezTo>
              </a:path>
            </a:pathLst>
          </a:custGeom>
          <a:noFill/>
          <a:ln w="2857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90"/>
          <p:cNvGrpSpPr>
            <a:grpSpLocks/>
          </p:cNvGrpSpPr>
          <p:nvPr/>
        </p:nvGrpSpPr>
        <p:grpSpPr bwMode="auto">
          <a:xfrm>
            <a:off x="5971429" y="1006475"/>
            <a:ext cx="2566988" cy="2141538"/>
            <a:chOff x="4094" y="1114"/>
            <a:chExt cx="1617" cy="1349"/>
          </a:xfrm>
        </p:grpSpPr>
        <p:sp>
          <p:nvSpPr>
            <p:cNvPr id="22576" name="Text Box 66"/>
            <p:cNvSpPr txBox="1">
              <a:spLocks noChangeArrowheads="1"/>
            </p:cNvSpPr>
            <p:nvPr/>
          </p:nvSpPr>
          <p:spPr bwMode="auto">
            <a:xfrm>
              <a:off x="4094" y="167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FFFF00"/>
                  </a:solidFill>
                  <a:ea typeface="楷体_GB2312" pitchFamily="49" charset="-122"/>
                </a:rPr>
                <a:t>11</a:t>
              </a:r>
            </a:p>
          </p:txBody>
        </p:sp>
        <p:grpSp>
          <p:nvGrpSpPr>
            <p:cNvPr id="22577" name="Group 88"/>
            <p:cNvGrpSpPr>
              <a:grpSpLocks/>
            </p:cNvGrpSpPr>
            <p:nvPr/>
          </p:nvGrpSpPr>
          <p:grpSpPr bwMode="auto">
            <a:xfrm>
              <a:off x="4319" y="1114"/>
              <a:ext cx="1392" cy="1349"/>
              <a:chOff x="4319" y="1114"/>
              <a:chExt cx="1392" cy="1349"/>
            </a:xfrm>
          </p:grpSpPr>
          <p:grpSp>
            <p:nvGrpSpPr>
              <p:cNvPr id="22578" name="Group 80"/>
              <p:cNvGrpSpPr>
                <a:grpSpLocks/>
              </p:cNvGrpSpPr>
              <p:nvPr/>
            </p:nvGrpSpPr>
            <p:grpSpPr bwMode="auto">
              <a:xfrm>
                <a:off x="4583" y="1114"/>
                <a:ext cx="864" cy="250"/>
                <a:chOff x="4656" y="1114"/>
                <a:chExt cx="864" cy="250"/>
              </a:xfrm>
            </p:grpSpPr>
            <p:sp>
              <p:nvSpPr>
                <p:cNvPr id="22595" name="Rectangle 41"/>
                <p:cNvSpPr>
                  <a:spLocks noChangeArrowheads="1"/>
                </p:cNvSpPr>
                <p:nvPr/>
              </p:nvSpPr>
              <p:spPr bwMode="auto">
                <a:xfrm>
                  <a:off x="4656" y="1119"/>
                  <a:ext cx="864" cy="24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596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764" y="1114"/>
                  <a:ext cx="64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>
                      <a:solidFill>
                        <a:schemeClr val="tx1"/>
                      </a:solidFill>
                      <a:ea typeface="楷体_GB2312" pitchFamily="49" charset="-122"/>
                    </a:rPr>
                    <a:t>B (int y)</a:t>
                  </a:r>
                </a:p>
              </p:txBody>
            </p:sp>
          </p:grpSp>
          <p:grpSp>
            <p:nvGrpSpPr>
              <p:cNvPr id="22579" name="Group 79"/>
              <p:cNvGrpSpPr>
                <a:grpSpLocks/>
              </p:cNvGrpSpPr>
              <p:nvPr/>
            </p:nvGrpSpPr>
            <p:grpSpPr bwMode="auto">
              <a:xfrm>
                <a:off x="4319" y="1677"/>
                <a:ext cx="576" cy="250"/>
                <a:chOff x="4368" y="1677"/>
                <a:chExt cx="576" cy="250"/>
              </a:xfrm>
            </p:grpSpPr>
            <p:sp>
              <p:nvSpPr>
                <p:cNvPr id="22593" name="Rectangle 44"/>
                <p:cNvSpPr>
                  <a:spLocks noChangeArrowheads="1"/>
                </p:cNvSpPr>
                <p:nvPr/>
              </p:nvSpPr>
              <p:spPr bwMode="auto">
                <a:xfrm>
                  <a:off x="4368" y="1683"/>
                  <a:ext cx="576" cy="24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59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393" y="1677"/>
                  <a:ext cx="5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>
                      <a:solidFill>
                        <a:schemeClr val="tx1"/>
                      </a:solidFill>
                      <a:ea typeface="楷体_GB2312" pitchFamily="49" charset="-122"/>
                    </a:rPr>
                    <a:t>Z = y</a:t>
                  </a:r>
                </a:p>
              </p:txBody>
            </p:sp>
          </p:grpSp>
          <p:grpSp>
            <p:nvGrpSpPr>
              <p:cNvPr id="22580" name="Group 77"/>
              <p:cNvGrpSpPr>
                <a:grpSpLocks/>
              </p:cNvGrpSpPr>
              <p:nvPr/>
            </p:nvGrpSpPr>
            <p:grpSpPr bwMode="auto">
              <a:xfrm>
                <a:off x="5135" y="1677"/>
                <a:ext cx="576" cy="250"/>
                <a:chOff x="5184" y="1690"/>
                <a:chExt cx="576" cy="250"/>
              </a:xfrm>
            </p:grpSpPr>
            <p:sp>
              <p:nvSpPr>
                <p:cNvPr id="22591" name="Rectangle 47"/>
                <p:cNvSpPr>
                  <a:spLocks noChangeArrowheads="1"/>
                </p:cNvSpPr>
                <p:nvPr/>
              </p:nvSpPr>
              <p:spPr bwMode="auto">
                <a:xfrm>
                  <a:off x="5184" y="1695"/>
                  <a:ext cx="576" cy="24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592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5208" y="1690"/>
                  <a:ext cx="52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>
                      <a:solidFill>
                        <a:schemeClr val="tx1"/>
                      </a:solidFill>
                      <a:ea typeface="楷体_GB2312" pitchFamily="49" charset="-122"/>
                    </a:rPr>
                    <a:t>T = y</a:t>
                  </a:r>
                </a:p>
              </p:txBody>
            </p:sp>
          </p:grpSp>
          <p:grpSp>
            <p:nvGrpSpPr>
              <p:cNvPr id="22581" name="Group 78"/>
              <p:cNvGrpSpPr>
                <a:grpSpLocks/>
              </p:cNvGrpSpPr>
              <p:nvPr/>
            </p:nvGrpSpPr>
            <p:grpSpPr bwMode="auto">
              <a:xfrm>
                <a:off x="4583" y="2213"/>
                <a:ext cx="864" cy="250"/>
                <a:chOff x="4800" y="2218"/>
                <a:chExt cx="864" cy="250"/>
              </a:xfrm>
            </p:grpSpPr>
            <p:sp>
              <p:nvSpPr>
                <p:cNvPr id="22589" name="Rectangle 50"/>
                <p:cNvSpPr>
                  <a:spLocks noChangeArrowheads="1"/>
                </p:cNvSpPr>
                <p:nvPr/>
              </p:nvSpPr>
              <p:spPr bwMode="auto">
                <a:xfrm>
                  <a:off x="4800" y="2223"/>
                  <a:ext cx="864" cy="24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59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908" y="2218"/>
                  <a:ext cx="64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dirty="0">
                      <a:solidFill>
                        <a:schemeClr val="tx1"/>
                      </a:solidFill>
                      <a:ea typeface="楷体_GB2312" pitchFamily="49" charset="-122"/>
                    </a:rPr>
                    <a:t>print (y)</a:t>
                  </a:r>
                </a:p>
              </p:txBody>
            </p:sp>
          </p:grpSp>
          <p:sp>
            <p:nvSpPr>
              <p:cNvPr id="22582" name="Line 57"/>
              <p:cNvSpPr>
                <a:spLocks noChangeShapeType="1"/>
              </p:cNvSpPr>
              <p:nvPr/>
            </p:nvSpPr>
            <p:spPr bwMode="auto">
              <a:xfrm flipH="1">
                <a:off x="4584" y="1354"/>
                <a:ext cx="25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3" name="Line 58"/>
              <p:cNvSpPr>
                <a:spLocks noChangeShapeType="1"/>
              </p:cNvSpPr>
              <p:nvPr/>
            </p:nvSpPr>
            <p:spPr bwMode="auto">
              <a:xfrm>
                <a:off x="5189" y="1368"/>
                <a:ext cx="239" cy="3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4" name="Line 59"/>
              <p:cNvSpPr>
                <a:spLocks noChangeShapeType="1"/>
              </p:cNvSpPr>
              <p:nvPr/>
            </p:nvSpPr>
            <p:spPr bwMode="auto">
              <a:xfrm>
                <a:off x="4582" y="1922"/>
                <a:ext cx="256" cy="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5" name="Line 60"/>
              <p:cNvSpPr>
                <a:spLocks noChangeShapeType="1"/>
              </p:cNvSpPr>
              <p:nvPr/>
            </p:nvSpPr>
            <p:spPr bwMode="auto">
              <a:xfrm flipH="1">
                <a:off x="5213" y="1923"/>
                <a:ext cx="214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6" name="Text Box 65"/>
              <p:cNvSpPr txBox="1">
                <a:spLocks noChangeArrowheads="1"/>
              </p:cNvSpPr>
              <p:nvPr/>
            </p:nvSpPr>
            <p:spPr bwMode="auto">
              <a:xfrm>
                <a:off x="4339" y="111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FFFF00"/>
                    </a:solidFill>
                    <a:ea typeface="楷体_GB2312" pitchFamily="49" charset="-122"/>
                  </a:rPr>
                  <a:t>10</a:t>
                </a:r>
              </a:p>
            </p:txBody>
          </p:sp>
          <p:sp>
            <p:nvSpPr>
              <p:cNvPr id="22587" name="Text Box 67"/>
              <p:cNvSpPr txBox="1">
                <a:spLocks noChangeArrowheads="1"/>
              </p:cNvSpPr>
              <p:nvPr/>
            </p:nvSpPr>
            <p:spPr bwMode="auto">
              <a:xfrm>
                <a:off x="4902" y="167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FFFF00"/>
                    </a:solidFill>
                    <a:ea typeface="楷体_GB2312" pitchFamily="49" charset="-122"/>
                  </a:rPr>
                  <a:t>12</a:t>
                </a:r>
              </a:p>
            </p:txBody>
          </p:sp>
          <p:sp>
            <p:nvSpPr>
              <p:cNvPr id="22588" name="Text Box 68"/>
              <p:cNvSpPr txBox="1">
                <a:spLocks noChangeArrowheads="1"/>
              </p:cNvSpPr>
              <p:nvPr/>
            </p:nvSpPr>
            <p:spPr bwMode="auto">
              <a:xfrm>
                <a:off x="4357" y="2213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FFFF00"/>
                    </a:solidFill>
                    <a:ea typeface="楷体_GB2312" pitchFamily="49" charset="-122"/>
                  </a:rPr>
                  <a:t>13</a:t>
                </a:r>
              </a:p>
            </p:txBody>
          </p:sp>
        </p:grpSp>
      </p:grpSp>
      <p:sp>
        <p:nvSpPr>
          <p:cNvPr id="242757" name="Text Box 69"/>
          <p:cNvSpPr txBox="1">
            <a:spLocks noChangeArrowheads="1"/>
          </p:cNvSpPr>
          <p:nvPr/>
        </p:nvSpPr>
        <p:spPr bwMode="auto">
          <a:xfrm>
            <a:off x="6953775" y="3422731"/>
            <a:ext cx="2069432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ts val="30"/>
              </a:spcBef>
            </a:pPr>
            <a:r>
              <a:rPr kumimoji="1" lang="en-US" altLang="zh-CN" sz="2400" b="0" u="sng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Last </a:t>
            </a:r>
            <a:r>
              <a:rPr kumimoji="1" lang="en-US" altLang="zh-CN" sz="2400" b="0" u="sng" dirty="0" err="1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Defs</a:t>
            </a:r>
            <a:br>
              <a:rPr kumimoji="1" lang="en-US" altLang="zh-CN" sz="2400" b="0" u="sng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</a:b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2, 3</a:t>
            </a:r>
          </a:p>
          <a:p>
            <a:pPr algn="ctr" eaLnBrk="1" hangingPunct="1">
              <a:spcBef>
                <a:spcPts val="30"/>
              </a:spcBef>
            </a:pPr>
            <a:r>
              <a:rPr kumimoji="1" lang="en-US" altLang="zh-CN" sz="2400" b="0" u="sng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First Uses</a:t>
            </a:r>
            <a:b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</a:b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11, 12</a:t>
            </a:r>
          </a:p>
        </p:txBody>
      </p:sp>
      <p:grpSp>
        <p:nvGrpSpPr>
          <p:cNvPr id="22549" name="Group 87"/>
          <p:cNvGrpSpPr>
            <a:grpSpLocks/>
          </p:cNvGrpSpPr>
          <p:nvPr/>
        </p:nvGrpSpPr>
        <p:grpSpPr bwMode="auto">
          <a:xfrm>
            <a:off x="3853704" y="1235077"/>
            <a:ext cx="1905000" cy="2835275"/>
            <a:chOff x="2736" y="778"/>
            <a:chExt cx="1200" cy="1786"/>
          </a:xfrm>
        </p:grpSpPr>
        <p:grpSp>
          <p:nvGrpSpPr>
            <p:cNvPr id="22551" name="Group 81"/>
            <p:cNvGrpSpPr>
              <a:grpSpLocks/>
            </p:cNvGrpSpPr>
            <p:nvPr/>
          </p:nvGrpSpPr>
          <p:grpSpPr bwMode="auto">
            <a:xfrm>
              <a:off x="2934" y="778"/>
              <a:ext cx="576" cy="250"/>
              <a:chOff x="2928" y="778"/>
              <a:chExt cx="576" cy="250"/>
            </a:xfrm>
          </p:grpSpPr>
          <p:sp>
            <p:nvSpPr>
              <p:cNvPr id="22569" name="Rectangle 29"/>
              <p:cNvSpPr>
                <a:spLocks noChangeArrowheads="1"/>
              </p:cNvSpPr>
              <p:nvPr/>
            </p:nvSpPr>
            <p:spPr bwMode="auto">
              <a:xfrm>
                <a:off x="2928" y="783"/>
                <a:ext cx="576" cy="24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570" name="Text Box 30"/>
              <p:cNvSpPr txBox="1">
                <a:spLocks noChangeArrowheads="1"/>
              </p:cNvSpPr>
              <p:nvPr/>
            </p:nvSpPr>
            <p:spPr bwMode="auto">
              <a:xfrm>
                <a:off x="2957" y="778"/>
                <a:ext cx="5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x = 5</a:t>
                </a:r>
              </a:p>
            </p:txBody>
          </p:sp>
        </p:grpSp>
        <p:grpSp>
          <p:nvGrpSpPr>
            <p:cNvPr id="22552" name="Group 82"/>
            <p:cNvGrpSpPr>
              <a:grpSpLocks/>
            </p:cNvGrpSpPr>
            <p:nvPr/>
          </p:nvGrpSpPr>
          <p:grpSpPr bwMode="auto">
            <a:xfrm>
              <a:off x="2935" y="1306"/>
              <a:ext cx="576" cy="250"/>
              <a:chOff x="2941" y="1306"/>
              <a:chExt cx="576" cy="250"/>
            </a:xfrm>
          </p:grpSpPr>
          <p:sp>
            <p:nvSpPr>
              <p:cNvPr id="22567" name="Rectangle 32"/>
              <p:cNvSpPr>
                <a:spLocks noChangeArrowheads="1"/>
              </p:cNvSpPr>
              <p:nvPr/>
            </p:nvSpPr>
            <p:spPr bwMode="auto">
              <a:xfrm>
                <a:off x="2941" y="1311"/>
                <a:ext cx="576" cy="24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568" name="Text Box 33"/>
              <p:cNvSpPr txBox="1">
                <a:spLocks noChangeArrowheads="1"/>
              </p:cNvSpPr>
              <p:nvPr/>
            </p:nvSpPr>
            <p:spPr bwMode="auto">
              <a:xfrm>
                <a:off x="2952" y="1306"/>
                <a:ext cx="5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x = 4</a:t>
                </a:r>
              </a:p>
            </p:txBody>
          </p:sp>
        </p:grpSp>
        <p:grpSp>
          <p:nvGrpSpPr>
            <p:cNvPr id="22553" name="Group 83"/>
            <p:cNvGrpSpPr>
              <a:grpSpLocks/>
            </p:cNvGrpSpPr>
            <p:nvPr/>
          </p:nvGrpSpPr>
          <p:grpSpPr bwMode="auto">
            <a:xfrm>
              <a:off x="3360" y="1810"/>
              <a:ext cx="576" cy="250"/>
              <a:chOff x="3360" y="1920"/>
              <a:chExt cx="576" cy="250"/>
            </a:xfrm>
          </p:grpSpPr>
          <p:sp>
            <p:nvSpPr>
              <p:cNvPr id="22565" name="Rectangle 35"/>
              <p:cNvSpPr>
                <a:spLocks noChangeArrowheads="1"/>
              </p:cNvSpPr>
              <p:nvPr/>
            </p:nvSpPr>
            <p:spPr bwMode="auto">
              <a:xfrm>
                <a:off x="3360" y="1925"/>
                <a:ext cx="576" cy="24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566" name="Text Box 36"/>
              <p:cNvSpPr txBox="1">
                <a:spLocks noChangeArrowheads="1"/>
              </p:cNvSpPr>
              <p:nvPr/>
            </p:nvSpPr>
            <p:spPr bwMode="auto">
              <a:xfrm>
                <a:off x="3393" y="1920"/>
                <a:ext cx="51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x = 3</a:t>
                </a:r>
              </a:p>
            </p:txBody>
          </p:sp>
        </p:grpSp>
        <p:grpSp>
          <p:nvGrpSpPr>
            <p:cNvPr id="22554" name="Group 84"/>
            <p:cNvGrpSpPr>
              <a:grpSpLocks/>
            </p:cNvGrpSpPr>
            <p:nvPr/>
          </p:nvGrpSpPr>
          <p:grpSpPr bwMode="auto">
            <a:xfrm>
              <a:off x="2934" y="2314"/>
              <a:ext cx="576" cy="250"/>
              <a:chOff x="2928" y="2314"/>
              <a:chExt cx="576" cy="250"/>
            </a:xfrm>
          </p:grpSpPr>
          <p:sp>
            <p:nvSpPr>
              <p:cNvPr id="22563" name="Rectangle 38"/>
              <p:cNvSpPr>
                <a:spLocks noChangeArrowheads="1"/>
              </p:cNvSpPr>
              <p:nvPr/>
            </p:nvSpPr>
            <p:spPr bwMode="auto">
              <a:xfrm>
                <a:off x="2928" y="2319"/>
                <a:ext cx="576" cy="24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564" name="Text Box 39"/>
              <p:cNvSpPr txBox="1">
                <a:spLocks noChangeArrowheads="1"/>
              </p:cNvSpPr>
              <p:nvPr/>
            </p:nvSpPr>
            <p:spPr bwMode="auto">
              <a:xfrm>
                <a:off x="3000" y="231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B (x)</a:t>
                </a:r>
              </a:p>
            </p:txBody>
          </p:sp>
        </p:grpSp>
        <p:sp>
          <p:nvSpPr>
            <p:cNvPr id="22555" name="Line 52"/>
            <p:cNvSpPr>
              <a:spLocks noChangeShapeType="1"/>
            </p:cNvSpPr>
            <p:nvPr/>
          </p:nvSpPr>
          <p:spPr bwMode="auto">
            <a:xfrm>
              <a:off x="3222" y="101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Line 53"/>
            <p:cNvSpPr>
              <a:spLocks noChangeShapeType="1"/>
            </p:cNvSpPr>
            <p:nvPr/>
          </p:nvSpPr>
          <p:spPr bwMode="auto">
            <a:xfrm>
              <a:off x="3408" y="1546"/>
              <a:ext cx="216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Line 54"/>
            <p:cNvSpPr>
              <a:spLocks noChangeShapeType="1"/>
            </p:cNvSpPr>
            <p:nvPr/>
          </p:nvSpPr>
          <p:spPr bwMode="auto">
            <a:xfrm>
              <a:off x="3222" y="154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Line 55"/>
            <p:cNvSpPr>
              <a:spLocks noChangeShapeType="1"/>
            </p:cNvSpPr>
            <p:nvPr/>
          </p:nvSpPr>
          <p:spPr bwMode="auto">
            <a:xfrm flipH="1">
              <a:off x="3360" y="2054"/>
              <a:ext cx="305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Text Box 61"/>
            <p:cNvSpPr txBox="1">
              <a:spLocks noChangeArrowheads="1"/>
            </p:cNvSpPr>
            <p:nvPr/>
          </p:nvSpPr>
          <p:spPr bwMode="auto">
            <a:xfrm>
              <a:off x="2736" y="778"/>
              <a:ext cx="1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FFFF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22560" name="Text Box 62"/>
            <p:cNvSpPr txBox="1">
              <a:spLocks noChangeArrowheads="1"/>
            </p:cNvSpPr>
            <p:nvPr/>
          </p:nvSpPr>
          <p:spPr bwMode="auto">
            <a:xfrm>
              <a:off x="2736" y="1306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FFFF00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22561" name="Text Box 63"/>
            <p:cNvSpPr txBox="1">
              <a:spLocks noChangeArrowheads="1"/>
            </p:cNvSpPr>
            <p:nvPr/>
          </p:nvSpPr>
          <p:spPr bwMode="auto">
            <a:xfrm>
              <a:off x="3195" y="1808"/>
              <a:ext cx="1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FFFF00"/>
                  </a:solidFill>
                  <a:ea typeface="楷体_GB2312" pitchFamily="49" charset="-122"/>
                </a:rPr>
                <a:t>3</a:t>
              </a:r>
            </a:p>
          </p:txBody>
        </p:sp>
        <p:sp>
          <p:nvSpPr>
            <p:cNvPr id="22562" name="Text Box 64"/>
            <p:cNvSpPr txBox="1">
              <a:spLocks noChangeArrowheads="1"/>
            </p:cNvSpPr>
            <p:nvPr/>
          </p:nvSpPr>
          <p:spPr bwMode="auto">
            <a:xfrm>
              <a:off x="2736" y="2314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FFFF00"/>
                  </a:solidFill>
                  <a:ea typeface="楷体_GB2312" pitchFamily="49" charset="-122"/>
                </a:rPr>
                <a:t>4</a:t>
              </a:r>
            </a:p>
          </p:txBody>
        </p:sp>
      </p:grpSp>
      <p:sp>
        <p:nvSpPr>
          <p:cNvPr id="73" name="Text Box 69"/>
          <p:cNvSpPr txBox="1">
            <a:spLocks noChangeArrowheads="1"/>
          </p:cNvSpPr>
          <p:nvPr/>
        </p:nvSpPr>
        <p:spPr bwMode="auto">
          <a:xfrm>
            <a:off x="4006105" y="4587876"/>
            <a:ext cx="2512475" cy="1990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ts val="50"/>
              </a:spcBef>
            </a:pPr>
            <a:r>
              <a:rPr kumimoji="1" lang="en-US" altLang="zh-CN" sz="2400" b="0" u="sng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DU Pairs</a:t>
            </a:r>
          </a:p>
          <a:p>
            <a:pPr algn="l" eaLnBrk="1" hangingPunct="1">
              <a:spcBef>
                <a:spcPts val="5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(A,  x, 2)—(B, y, 11)</a:t>
            </a:r>
          </a:p>
          <a:p>
            <a:pPr algn="l" eaLnBrk="1" hangingPunct="1">
              <a:spcBef>
                <a:spcPts val="5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(A,  x, 2)—(B, y, 12)</a:t>
            </a:r>
          </a:p>
          <a:p>
            <a:pPr algn="l" eaLnBrk="1" hangingPunct="1">
              <a:spcBef>
                <a:spcPts val="5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(A,  x, 3)—(B, y, 11)</a:t>
            </a:r>
          </a:p>
          <a:p>
            <a:pPr algn="l" eaLnBrk="1" hangingPunct="1">
              <a:spcBef>
                <a:spcPts val="5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楷体_GB2312" pitchFamily="49" charset="-122"/>
              </a:rPr>
              <a:t>(A,  x, 3)—(B, y, 12)</a:t>
            </a:r>
          </a:p>
        </p:txBody>
      </p:sp>
    </p:spTree>
    <p:extLst>
      <p:ext uri="{BB962C8B-B14F-4D97-AF65-F5344CB8AC3E}">
        <p14:creationId xmlns:p14="http://schemas.microsoft.com/office/powerpoint/2010/main" val="40958474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4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44" grpId="0" animBg="1"/>
      <p:bldP spid="242757" grpId="0" animBg="1" autoUpdateAnimBg="0"/>
      <p:bldP spid="7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Data Flow at the Design Level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FF00"/>
                </a:solidFill>
              </a:rPr>
              <a:t>coupling du-path </a:t>
            </a:r>
            <a:r>
              <a:rPr lang="en-US" altLang="zh-CN" dirty="0"/>
              <a:t>is a path from a last-</a:t>
            </a:r>
            <a:r>
              <a:rPr lang="en-US" altLang="zh-CN" dirty="0" err="1"/>
              <a:t>def</a:t>
            </a:r>
            <a:r>
              <a:rPr lang="en-US" altLang="zh-CN" dirty="0"/>
              <a:t> to a first-use</a:t>
            </a:r>
          </a:p>
          <a:p>
            <a:r>
              <a:rPr lang="en-US" altLang="zh-CN" b="1" dirty="0">
                <a:solidFill>
                  <a:srgbClr val="FFFF00"/>
                </a:solidFill>
              </a:rPr>
              <a:t>All-Coupling-Def coverage</a:t>
            </a:r>
            <a:r>
              <a:rPr lang="en-US" altLang="zh-CN" dirty="0"/>
              <a:t>:  every last </a:t>
            </a:r>
            <a:r>
              <a:rPr lang="en-US" altLang="zh-CN" dirty="0" err="1"/>
              <a:t>def</a:t>
            </a:r>
            <a:r>
              <a:rPr lang="en-US" altLang="zh-CN" dirty="0"/>
              <a:t> to at least one first use</a:t>
            </a:r>
          </a:p>
          <a:p>
            <a:r>
              <a:rPr lang="en-US" altLang="zh-CN" b="1" dirty="0">
                <a:solidFill>
                  <a:srgbClr val="FFFF00"/>
                </a:solidFill>
              </a:rPr>
              <a:t>All-Coupling-use Coverage: </a:t>
            </a:r>
            <a:r>
              <a:rPr lang="en-US" altLang="zh-CN" dirty="0"/>
              <a:t>every last </a:t>
            </a:r>
            <a:r>
              <a:rPr lang="en-US" altLang="zh-CN" dirty="0" err="1"/>
              <a:t>def</a:t>
            </a:r>
            <a:r>
              <a:rPr lang="en-US" altLang="zh-CN" dirty="0"/>
              <a:t> to every first use</a:t>
            </a:r>
          </a:p>
          <a:p>
            <a:r>
              <a:rPr lang="en-US" altLang="zh-CN" b="1" dirty="0">
                <a:solidFill>
                  <a:srgbClr val="FFFF00"/>
                </a:solidFill>
              </a:rPr>
              <a:t>All-Coupling-du-Paths Coverage: </a:t>
            </a:r>
            <a:r>
              <a:rPr lang="en-US" altLang="zh-CN" dirty="0"/>
              <a:t>every simple path from every last </a:t>
            </a:r>
            <a:r>
              <a:rPr lang="en-US" altLang="zh-CN" dirty="0" err="1"/>
              <a:t>def</a:t>
            </a:r>
            <a:r>
              <a:rPr lang="en-US" altLang="zh-CN" dirty="0"/>
              <a:t> to every first use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96045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57A261D-EFED-4D0B-A617-843431E079A0}" type="slidenum">
              <a:rPr lang="en-US" altLang="en-US" sz="900" b="0">
                <a:solidFill>
                  <a:schemeClr val="tx1"/>
                </a:solidFill>
              </a:rPr>
              <a:pPr/>
              <a:t>15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1554163" y="968376"/>
            <a:ext cx="4386194" cy="54324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 // Program to compute the quadratic root for two numbers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 import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java.lang.Math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 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4 class Quadratic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5 {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6  private static float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Root1, Root2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7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8  public static void main (String[]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9  {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10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X, Y, Z;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11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boolean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ok;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12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controlFlag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[0]);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13     if (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controlFlag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== 1)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14     {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15         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X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[1]);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16         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Y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[2]);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17         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Z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[3]);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18      }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19     else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20     {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21   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X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10;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22   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Y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9;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23   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Z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12;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24      }</a:t>
            </a:r>
          </a:p>
        </p:txBody>
      </p:sp>
      <p:sp>
        <p:nvSpPr>
          <p:cNvPr id="23557" name="Text Box 18"/>
          <p:cNvSpPr txBox="1">
            <a:spLocks noChangeArrowheads="1"/>
          </p:cNvSpPr>
          <p:nvPr/>
        </p:nvSpPr>
        <p:spPr bwMode="auto">
          <a:xfrm>
            <a:off x="5940358" y="703264"/>
            <a:ext cx="4697481" cy="56569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25              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ok = Root (X, Y, Z);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26              if (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ok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27           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System.out.println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28                      (“Quadratic: ” +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Root1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Root2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29              else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30             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System.out.println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(“No Solution.”);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31    }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32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33 // Three positive integers, finds quadratic root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34    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private static </a:t>
            </a:r>
            <a:r>
              <a:rPr kumimoji="1" lang="en-US" altLang="zh-CN" sz="1400" dirty="0" err="1">
                <a:solidFill>
                  <a:schemeClr val="hlink"/>
                </a:solidFill>
                <a:ea typeface="楷体_GB2312" pitchFamily="49" charset="-122"/>
              </a:rPr>
              <a:t>boolean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 Root (</a:t>
            </a:r>
            <a:r>
              <a:rPr kumimoji="1" lang="en-US" altLang="zh-CN" sz="1600" dirty="0" err="1">
                <a:solidFill>
                  <a:schemeClr val="hlink"/>
                </a:solidFill>
                <a:ea typeface="楷体_GB2312" pitchFamily="49" charset="-122"/>
              </a:rPr>
              <a:t>int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 A, </a:t>
            </a:r>
            <a:r>
              <a:rPr kumimoji="1" lang="en-US" altLang="zh-CN" sz="1600" dirty="0" err="1">
                <a:solidFill>
                  <a:schemeClr val="hlink"/>
                </a:solidFill>
                <a:ea typeface="楷体_GB2312" pitchFamily="49" charset="-122"/>
              </a:rPr>
              <a:t>int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 B, </a:t>
            </a:r>
            <a:r>
              <a:rPr kumimoji="1" lang="en-US" altLang="zh-CN" sz="1600" dirty="0" err="1">
                <a:solidFill>
                  <a:schemeClr val="hlink"/>
                </a:solidFill>
                <a:ea typeface="楷体_GB2312" pitchFamily="49" charset="-122"/>
              </a:rPr>
              <a:t>int</a:t>
            </a:r>
            <a:r>
              <a:rPr kumimoji="1" lang="en-US" altLang="zh-CN" sz="1600" dirty="0">
                <a:solidFill>
                  <a:schemeClr val="hlink"/>
                </a:solidFill>
                <a:ea typeface="楷体_GB2312" pitchFamily="49" charset="-122"/>
              </a:rPr>
              <a:t> C)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35    {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36        double D;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37        </a:t>
            </a:r>
            <a:r>
              <a:rPr kumimoji="1" lang="en-US" altLang="zh-CN" sz="1600" dirty="0" err="1">
                <a:solidFill>
                  <a:schemeClr val="tx1"/>
                </a:solidFill>
                <a:ea typeface="楷体_GB2312" pitchFamily="49" charset="-122"/>
              </a:rPr>
              <a:t>boolean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Result;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38        D = (double) (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B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*B) -  (double) (4.0*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A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*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C 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);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39        if (D &lt; 0.0)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40        {</a:t>
            </a:r>
            <a:b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41            </a:t>
            </a:r>
            <a:r>
              <a:rPr kumimoji="1" lang="en-US" altLang="zh-CN" sz="1600" dirty="0">
                <a:solidFill>
                  <a:schemeClr val="tx2"/>
                </a:solidFill>
                <a:ea typeface="楷体_GB2312" pitchFamily="49" charset="-122"/>
              </a:rPr>
              <a:t>Result</a:t>
            </a:r>
            <a:r>
              <a:rPr kumimoji="1" lang="en-US" altLang="zh-CN" sz="1600" dirty="0">
                <a:solidFill>
                  <a:schemeClr val="tx1"/>
                </a:solidFill>
                <a:ea typeface="楷体_GB2312" pitchFamily="49" charset="-122"/>
              </a:rPr>
              <a:t> = false;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42    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return (Result);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43        }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44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Root1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(</a:t>
            </a:r>
            <a:r>
              <a:rPr kumimoji="1" lang="en-US" altLang="zh-CN" sz="1400" dirty="0">
                <a:solidFill>
                  <a:schemeClr val="tx1"/>
                </a:solidFill>
                <a:ea typeface="SimSun" pitchFamily="2" charset="-122"/>
              </a:rPr>
              <a:t>double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) ((-B + </a:t>
            </a:r>
            <a:r>
              <a:rPr kumimoji="1" lang="en-US" altLang="zh-CN" sz="1400" dirty="0" err="1">
                <a:solidFill>
                  <a:schemeClr val="tx1"/>
                </a:solidFill>
                <a:ea typeface="SimSun" pitchFamily="2" charset="-122"/>
              </a:rPr>
              <a:t>Math.sqr</a:t>
            </a:r>
            <a:r>
              <a:rPr kumimoji="1" lang="en-US" altLang="zh-CN" sz="1600" dirty="0" err="1">
                <a:solidFill>
                  <a:schemeClr val="tx1"/>
                </a:solidFill>
                <a:ea typeface="SimSun" pitchFamily="2" charset="-122"/>
              </a:rPr>
              <a:t>t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(D))/(2.0*A));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45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Root2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(</a:t>
            </a:r>
            <a:r>
              <a:rPr kumimoji="1" lang="en-US" altLang="zh-CN" sz="1400" dirty="0">
                <a:solidFill>
                  <a:schemeClr val="tx1"/>
                </a:solidFill>
                <a:ea typeface="SimSun" pitchFamily="2" charset="-122"/>
              </a:rPr>
              <a:t>double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) ((-B – </a:t>
            </a:r>
            <a:r>
              <a:rPr kumimoji="1" lang="en-US" altLang="zh-CN" sz="1400" dirty="0" err="1">
                <a:solidFill>
                  <a:schemeClr val="tx1"/>
                </a:solidFill>
                <a:ea typeface="SimSun" pitchFamily="2" charset="-122"/>
              </a:rPr>
              <a:t>Math.sqrt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(D))/(2.0*A));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46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Result</a:t>
            </a: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 = true;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47        </a:t>
            </a:r>
            <a:r>
              <a:rPr kumimoji="1" lang="en-US" altLang="zh-CN" sz="1600" dirty="0">
                <a:solidFill>
                  <a:schemeClr val="tx2"/>
                </a:solidFill>
                <a:ea typeface="SimSun" pitchFamily="2" charset="-122"/>
              </a:rPr>
              <a:t>return (Result);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48    } // End method Root</a:t>
            </a:r>
            <a:b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600" dirty="0">
                <a:solidFill>
                  <a:schemeClr val="tx1"/>
                </a:solidFill>
                <a:ea typeface="SimSun" pitchFamily="2" charset="-122"/>
              </a:rPr>
              <a:t>49 } // End class Quadratic</a:t>
            </a:r>
          </a:p>
        </p:txBody>
      </p:sp>
      <p:sp>
        <p:nvSpPr>
          <p:cNvPr id="23558" name="Rectangle 19"/>
          <p:cNvSpPr>
            <a:spLocks noChangeArrowheads="1"/>
          </p:cNvSpPr>
          <p:nvPr/>
        </p:nvSpPr>
        <p:spPr bwMode="auto">
          <a:xfrm>
            <a:off x="2209800" y="96839"/>
            <a:ext cx="77724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3600">
                <a:solidFill>
                  <a:schemeClr val="tx2"/>
                </a:solidFill>
              </a:rPr>
              <a:t>Example – Quadratic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AD04CD5-2204-4449-8338-004A7F6C3904}" type="slidenum">
              <a:rPr lang="en-US" altLang="en-US" sz="900" b="0">
                <a:solidFill>
                  <a:schemeClr val="tx1"/>
                </a:solidFill>
              </a:rPr>
              <a:pPr/>
              <a:t>16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3048000" y="508000"/>
            <a:ext cx="6191250" cy="58499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 // Program to compute the quadratic root for two numbers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 import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java.lang.Math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 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4 class Quadratic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5 {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6  private static float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Root1, Root2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7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8  public static void main (String[]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9  {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10 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X, Y, Z;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11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boolean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ok;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12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controlFlag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[0]);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13     if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controlFlag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== 1)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14     {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15         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X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[1]);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16         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Y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[2]);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17         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Z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Integer.parseInt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argv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[3]);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18      }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19     else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20     {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21   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X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10;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22   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Y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9;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23   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Z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12;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24      }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33539" y="3733800"/>
            <a:ext cx="2663825" cy="2393950"/>
            <a:chOff x="69" y="2352"/>
            <a:chExt cx="1678" cy="1508"/>
          </a:xfrm>
        </p:grpSpPr>
        <p:sp>
          <p:nvSpPr>
            <p:cNvPr id="24587" name="Text Box 4"/>
            <p:cNvSpPr txBox="1">
              <a:spLocks noChangeArrowheads="1"/>
            </p:cNvSpPr>
            <p:nvPr/>
          </p:nvSpPr>
          <p:spPr bwMode="auto">
            <a:xfrm>
              <a:off x="69" y="2475"/>
              <a:ext cx="864" cy="3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last-</a:t>
              </a:r>
              <a:r>
                <a:rPr kumimoji="1" lang="en-US" altLang="zh-CN" sz="2400" dirty="0" err="1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defs</a:t>
              </a:r>
              <a:endParaRPr kumimoji="1" lang="en-US" altLang="zh-CN" sz="2400" dirty="0">
                <a:solidFill>
                  <a:schemeClr val="tx2"/>
                </a:solidFill>
                <a:latin typeface="Gill Sans MT" panose="020B0502020104020203" pitchFamily="34" charset="0"/>
                <a:ea typeface="楷体_GB2312" pitchFamily="49" charset="-122"/>
              </a:endParaRPr>
            </a:p>
          </p:txBody>
        </p:sp>
        <p:sp>
          <p:nvSpPr>
            <p:cNvPr id="24588" name="Oval 5"/>
            <p:cNvSpPr>
              <a:spLocks noChangeArrowheads="1"/>
            </p:cNvSpPr>
            <p:nvPr/>
          </p:nvSpPr>
          <p:spPr bwMode="auto">
            <a:xfrm>
              <a:off x="1421" y="2352"/>
              <a:ext cx="296" cy="54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4589" name="Line 6"/>
            <p:cNvSpPr>
              <a:spLocks noChangeShapeType="1"/>
            </p:cNvSpPr>
            <p:nvPr/>
          </p:nvSpPr>
          <p:spPr bwMode="auto">
            <a:xfrm flipH="1">
              <a:off x="936" y="2622"/>
              <a:ext cx="46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24590" name="Oval 7"/>
            <p:cNvSpPr>
              <a:spLocks noChangeArrowheads="1"/>
            </p:cNvSpPr>
            <p:nvPr/>
          </p:nvSpPr>
          <p:spPr bwMode="auto">
            <a:xfrm>
              <a:off x="1451" y="3320"/>
              <a:ext cx="296" cy="54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4591" name="Line 8"/>
            <p:cNvSpPr>
              <a:spLocks noChangeShapeType="1"/>
            </p:cNvSpPr>
            <p:nvPr/>
          </p:nvSpPr>
          <p:spPr bwMode="auto">
            <a:xfrm flipH="1" flipV="1">
              <a:off x="924" y="2710"/>
              <a:ext cx="561" cy="68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053014" y="1543051"/>
            <a:ext cx="4732337" cy="593725"/>
            <a:chOff x="2223" y="972"/>
            <a:chExt cx="2981" cy="374"/>
          </a:xfrm>
        </p:grpSpPr>
        <p:sp>
          <p:nvSpPr>
            <p:cNvPr id="24584" name="Text Box 10"/>
            <p:cNvSpPr txBox="1">
              <a:spLocks noChangeArrowheads="1"/>
            </p:cNvSpPr>
            <p:nvPr/>
          </p:nvSpPr>
          <p:spPr bwMode="auto">
            <a:xfrm>
              <a:off x="3678" y="1009"/>
              <a:ext cx="1526" cy="291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shared variables</a:t>
              </a:r>
            </a:p>
          </p:txBody>
        </p:sp>
        <p:sp>
          <p:nvSpPr>
            <p:cNvPr id="24585" name="Oval 11"/>
            <p:cNvSpPr>
              <a:spLocks noChangeArrowheads="1"/>
            </p:cNvSpPr>
            <p:nvPr/>
          </p:nvSpPr>
          <p:spPr bwMode="auto">
            <a:xfrm>
              <a:off x="2223" y="972"/>
              <a:ext cx="1002" cy="374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4586" name="Line 12"/>
            <p:cNvSpPr>
              <a:spLocks noChangeShapeType="1"/>
            </p:cNvSpPr>
            <p:nvPr/>
          </p:nvSpPr>
          <p:spPr bwMode="auto">
            <a:xfrm flipH="1">
              <a:off x="3218" y="1159"/>
              <a:ext cx="46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E7A372E-49B1-4C59-9BAB-EF16F0A25833}" type="slidenum">
              <a:rPr lang="en-US" altLang="en-US" sz="900" b="0">
                <a:solidFill>
                  <a:schemeClr val="tx1"/>
                </a:solidFill>
              </a:rPr>
              <a:pPr/>
              <a:t>17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5604" name="Text Box 2"/>
          <p:cNvSpPr txBox="1">
            <a:spLocks noChangeArrowheads="1"/>
          </p:cNvSpPr>
          <p:nvPr/>
        </p:nvSpPr>
        <p:spPr bwMode="auto">
          <a:xfrm>
            <a:off x="3429001" y="274639"/>
            <a:ext cx="6392863" cy="6307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25             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ok = Root (X, Y, Z);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26              if (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ok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27           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System.out.println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28                      (“Quadratic: ” +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Root1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Root2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29              else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30             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System.out.println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(“No Solution.”);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31    }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32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33    // Three positive integers, finds the quadratic root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34    private static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boolean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Root (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A,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B,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C)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35    {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36        double D;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37        </a:t>
            </a:r>
            <a:r>
              <a:rPr kumimoji="1" lang="en-US" altLang="zh-CN" sz="1800" dirty="0" err="1">
                <a:solidFill>
                  <a:schemeClr val="tx1"/>
                </a:solidFill>
                <a:ea typeface="楷体_GB2312" pitchFamily="49" charset="-122"/>
              </a:rPr>
              <a:t>boolean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Result;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38        D = (double) (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B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*B) - (double) (4.0*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A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*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C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);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39        if (D &lt; 0.0)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40        {</a:t>
            </a:r>
            <a:b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41            </a:t>
            </a:r>
            <a:r>
              <a:rPr kumimoji="1" lang="en-US" altLang="zh-CN" sz="1800" dirty="0">
                <a:solidFill>
                  <a:schemeClr val="tx2"/>
                </a:solidFill>
                <a:ea typeface="楷体_GB2312" pitchFamily="49" charset="-122"/>
              </a:rPr>
              <a:t>Result</a:t>
            </a:r>
            <a:r>
              <a:rPr kumimoji="1" lang="en-US" altLang="zh-CN" sz="1800" dirty="0">
                <a:solidFill>
                  <a:schemeClr val="tx1"/>
                </a:solidFill>
                <a:ea typeface="楷体_GB2312" pitchFamily="49" charset="-122"/>
              </a:rPr>
              <a:t> = false;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42    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return (Result);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43        }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44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Root1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(double) ((-B + </a:t>
            </a:r>
            <a:r>
              <a:rPr kumimoji="1" lang="en-US" altLang="zh-CN" sz="1800" dirty="0" err="1">
                <a:solidFill>
                  <a:schemeClr val="tx1"/>
                </a:solidFill>
                <a:ea typeface="SimSun" pitchFamily="2" charset="-122"/>
              </a:rPr>
              <a:t>Math.sqrt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(D)) / (2.0*A));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45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Root2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(double) ((-B – </a:t>
            </a:r>
            <a:r>
              <a:rPr kumimoji="1" lang="en-US" altLang="zh-CN" sz="1800" dirty="0" err="1">
                <a:solidFill>
                  <a:schemeClr val="tx1"/>
                </a:solidFill>
                <a:ea typeface="SimSun" pitchFamily="2" charset="-122"/>
              </a:rPr>
              <a:t>Math.sqrt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(D)) / (2.0*A));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46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Result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 = true;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47        </a:t>
            </a:r>
            <a:r>
              <a:rPr kumimoji="1" lang="en-US" altLang="zh-CN" sz="1800" dirty="0">
                <a:solidFill>
                  <a:schemeClr val="tx2"/>
                </a:solidFill>
                <a:ea typeface="SimSun" pitchFamily="2" charset="-122"/>
              </a:rPr>
              <a:t>return (Result);</a:t>
            </a:r>
            <a:b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48    } / /End method Root</a:t>
            </a:r>
            <a:br>
              <a:rPr kumimoji="1" lang="en-US" altLang="zh-CN" sz="1800">
                <a:solidFill>
                  <a:schemeClr val="tx1"/>
                </a:solidFill>
                <a:ea typeface="SimSun" pitchFamily="2" charset="-122"/>
              </a:rPr>
            </a:br>
            <a:r>
              <a:rPr kumimoji="1" lang="en-US" altLang="zh-CN" sz="1800">
                <a:solidFill>
                  <a:schemeClr val="tx1"/>
                </a:solidFill>
                <a:ea typeface="SimSun" pitchFamily="2" charset="-122"/>
              </a:rPr>
              <a:t>49 </a:t>
            </a:r>
            <a:r>
              <a:rPr kumimoji="1" lang="en-US" altLang="zh-CN" sz="1800" dirty="0">
                <a:solidFill>
                  <a:schemeClr val="tx1"/>
                </a:solidFill>
                <a:ea typeface="SimSun" pitchFamily="2" charset="-122"/>
              </a:rPr>
              <a:t>} // End class Quadratic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16089" y="3941763"/>
            <a:ext cx="3394075" cy="476250"/>
            <a:chOff x="121" y="2483"/>
            <a:chExt cx="2138" cy="300"/>
          </a:xfrm>
        </p:grpSpPr>
        <p:sp>
          <p:nvSpPr>
            <p:cNvPr id="25623" name="Text Box 4"/>
            <p:cNvSpPr txBox="1">
              <a:spLocks noChangeArrowheads="1"/>
            </p:cNvSpPr>
            <p:nvPr/>
          </p:nvSpPr>
          <p:spPr bwMode="auto">
            <a:xfrm>
              <a:off x="121" y="2483"/>
              <a:ext cx="864" cy="3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last-def</a:t>
              </a:r>
            </a:p>
          </p:txBody>
        </p:sp>
        <p:sp>
          <p:nvSpPr>
            <p:cNvPr id="25624" name="Oval 5"/>
            <p:cNvSpPr>
              <a:spLocks noChangeArrowheads="1"/>
            </p:cNvSpPr>
            <p:nvPr/>
          </p:nvSpPr>
          <p:spPr bwMode="auto">
            <a:xfrm>
              <a:off x="1775" y="2486"/>
              <a:ext cx="484" cy="295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25" name="Line 6"/>
            <p:cNvSpPr>
              <a:spLocks noChangeShapeType="1"/>
            </p:cNvSpPr>
            <p:nvPr/>
          </p:nvSpPr>
          <p:spPr bwMode="auto">
            <a:xfrm flipH="1">
              <a:off x="979" y="2633"/>
              <a:ext cx="79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716088" y="436563"/>
            <a:ext cx="6519862" cy="971550"/>
            <a:chOff x="121" y="275"/>
            <a:chExt cx="4107" cy="612"/>
          </a:xfrm>
        </p:grpSpPr>
        <p:sp>
          <p:nvSpPr>
            <p:cNvPr id="25618" name="Text Box 8"/>
            <p:cNvSpPr txBox="1">
              <a:spLocks noChangeArrowheads="1"/>
            </p:cNvSpPr>
            <p:nvPr/>
          </p:nvSpPr>
          <p:spPr bwMode="auto">
            <a:xfrm>
              <a:off x="121" y="275"/>
              <a:ext cx="864" cy="3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first-use</a:t>
              </a:r>
            </a:p>
          </p:txBody>
        </p:sp>
        <p:sp>
          <p:nvSpPr>
            <p:cNvPr id="25619" name="Oval 9"/>
            <p:cNvSpPr>
              <a:spLocks noChangeArrowheads="1"/>
            </p:cNvSpPr>
            <p:nvPr/>
          </p:nvSpPr>
          <p:spPr bwMode="auto">
            <a:xfrm>
              <a:off x="2000" y="288"/>
              <a:ext cx="296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20" name="Line 10"/>
            <p:cNvSpPr>
              <a:spLocks noChangeShapeType="1"/>
            </p:cNvSpPr>
            <p:nvPr/>
          </p:nvSpPr>
          <p:spPr bwMode="auto">
            <a:xfrm flipH="1">
              <a:off x="982" y="422"/>
              <a:ext cx="1013" cy="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25621" name="Oval 11"/>
            <p:cNvSpPr>
              <a:spLocks noChangeArrowheads="1"/>
            </p:cNvSpPr>
            <p:nvPr/>
          </p:nvSpPr>
          <p:spPr bwMode="auto">
            <a:xfrm>
              <a:off x="3205" y="571"/>
              <a:ext cx="1023" cy="316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22" name="Line 12"/>
            <p:cNvSpPr>
              <a:spLocks noChangeShapeType="1"/>
            </p:cNvSpPr>
            <p:nvPr/>
          </p:nvSpPr>
          <p:spPr bwMode="auto">
            <a:xfrm flipH="1" flipV="1">
              <a:off x="982" y="504"/>
              <a:ext cx="2218" cy="21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716088" y="2538414"/>
            <a:ext cx="6519862" cy="1123950"/>
            <a:chOff x="121" y="1599"/>
            <a:chExt cx="4107" cy="708"/>
          </a:xfrm>
        </p:grpSpPr>
        <p:sp>
          <p:nvSpPr>
            <p:cNvPr id="25613" name="Oval 14"/>
            <p:cNvSpPr>
              <a:spLocks noChangeArrowheads="1"/>
            </p:cNvSpPr>
            <p:nvPr/>
          </p:nvSpPr>
          <p:spPr bwMode="auto">
            <a:xfrm>
              <a:off x="3802" y="2034"/>
              <a:ext cx="426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14" name="Oval 15"/>
            <p:cNvSpPr>
              <a:spLocks noChangeArrowheads="1"/>
            </p:cNvSpPr>
            <p:nvPr/>
          </p:nvSpPr>
          <p:spPr bwMode="auto">
            <a:xfrm>
              <a:off x="2445" y="2023"/>
              <a:ext cx="296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15" name="Text Box 16"/>
            <p:cNvSpPr txBox="1">
              <a:spLocks noChangeArrowheads="1"/>
            </p:cNvSpPr>
            <p:nvPr/>
          </p:nvSpPr>
          <p:spPr bwMode="auto">
            <a:xfrm>
              <a:off x="121" y="1599"/>
              <a:ext cx="864" cy="3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first-use</a:t>
              </a:r>
            </a:p>
          </p:txBody>
        </p:sp>
        <p:sp>
          <p:nvSpPr>
            <p:cNvPr id="25616" name="Line 17"/>
            <p:cNvSpPr>
              <a:spLocks noChangeShapeType="1"/>
            </p:cNvSpPr>
            <p:nvPr/>
          </p:nvSpPr>
          <p:spPr bwMode="auto">
            <a:xfrm flipH="1" flipV="1">
              <a:off x="988" y="1823"/>
              <a:ext cx="1457" cy="2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25617" name="Line 18"/>
            <p:cNvSpPr>
              <a:spLocks noChangeShapeType="1"/>
            </p:cNvSpPr>
            <p:nvPr/>
          </p:nvSpPr>
          <p:spPr bwMode="auto">
            <a:xfrm flipH="1" flipV="1">
              <a:off x="979" y="1686"/>
              <a:ext cx="2823" cy="42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716089" y="4738689"/>
            <a:ext cx="3203575" cy="1050925"/>
            <a:chOff x="121" y="2985"/>
            <a:chExt cx="2018" cy="662"/>
          </a:xfrm>
        </p:grpSpPr>
        <p:sp>
          <p:nvSpPr>
            <p:cNvPr id="25610" name="Text Box 20"/>
            <p:cNvSpPr txBox="1">
              <a:spLocks noChangeArrowheads="1"/>
            </p:cNvSpPr>
            <p:nvPr/>
          </p:nvSpPr>
          <p:spPr bwMode="auto">
            <a:xfrm>
              <a:off x="121" y="3166"/>
              <a:ext cx="864" cy="3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chemeClr val="tx2"/>
                  </a:solidFill>
                  <a:latin typeface="Gill Sans MT" panose="020B0502020104020203" pitchFamily="34" charset="0"/>
                  <a:ea typeface="楷体_GB2312" pitchFamily="49" charset="-122"/>
                </a:rPr>
                <a:t>last-defs</a:t>
              </a:r>
            </a:p>
          </p:txBody>
        </p:sp>
        <p:sp>
          <p:nvSpPr>
            <p:cNvPr id="25611" name="Oval 21"/>
            <p:cNvSpPr>
              <a:spLocks noChangeArrowheads="1"/>
            </p:cNvSpPr>
            <p:nvPr/>
          </p:nvSpPr>
          <p:spPr bwMode="auto">
            <a:xfrm>
              <a:off x="1612" y="2985"/>
              <a:ext cx="527" cy="66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sp>
          <p:nvSpPr>
            <p:cNvPr id="25612" name="Line 22"/>
            <p:cNvSpPr>
              <a:spLocks noChangeShapeType="1"/>
            </p:cNvSpPr>
            <p:nvPr/>
          </p:nvSpPr>
          <p:spPr bwMode="auto">
            <a:xfrm flipH="1">
              <a:off x="980" y="3316"/>
              <a:ext cx="62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29A125C-AC59-49F1-BD77-7C52A06AFB11}" type="slidenum">
              <a:rPr lang="en-US" altLang="en-US" sz="900" b="0">
                <a:solidFill>
                  <a:schemeClr val="tx1"/>
                </a:solidFill>
              </a:rPr>
              <a:pPr/>
              <a:t>18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Quadratic – Coupling DU-pairs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54243"/>
            <a:ext cx="8867775" cy="5737626"/>
          </a:xfrm>
        </p:spPr>
        <p:txBody>
          <a:bodyPr/>
          <a:lstStyle/>
          <a:p>
            <a:pPr algn="ctr">
              <a:buFontTx/>
              <a:buNone/>
            </a:pPr>
            <a:r>
              <a:rPr kumimoji="1" lang="en-US" altLang="zh-CN" dirty="0">
                <a:solidFill>
                  <a:schemeClr val="tx2"/>
                </a:solidFill>
                <a:ea typeface="SimSun" pitchFamily="2" charset="-122"/>
              </a:rPr>
              <a:t>Pairs of locations</a:t>
            </a:r>
            <a:r>
              <a:rPr kumimoji="1" lang="en-US" altLang="zh-CN" dirty="0">
                <a:ea typeface="SimSun" pitchFamily="2" charset="-122"/>
              </a:rPr>
              <a:t>: </a:t>
            </a:r>
            <a:r>
              <a:rPr kumimoji="1" lang="en-US" altLang="zh-CN" dirty="0">
                <a:solidFill>
                  <a:schemeClr val="tx2"/>
                </a:solidFill>
                <a:ea typeface="SimSun" pitchFamily="2" charset="-122"/>
              </a:rPr>
              <a:t>method</a:t>
            </a:r>
            <a:r>
              <a:rPr kumimoji="1" lang="en-US" altLang="zh-CN" dirty="0">
                <a:ea typeface="SimSun" pitchFamily="2" charset="-122"/>
              </a:rPr>
              <a:t> name, </a:t>
            </a:r>
            <a:r>
              <a:rPr kumimoji="1" lang="en-US" altLang="zh-CN" dirty="0">
                <a:solidFill>
                  <a:schemeClr val="tx2"/>
                </a:solidFill>
                <a:ea typeface="SimSun" pitchFamily="2" charset="-122"/>
              </a:rPr>
              <a:t>variable</a:t>
            </a:r>
            <a:r>
              <a:rPr kumimoji="1" lang="en-US" altLang="zh-CN" dirty="0">
                <a:ea typeface="SimSun" pitchFamily="2" charset="-122"/>
              </a:rPr>
              <a:t> name, </a:t>
            </a:r>
            <a:r>
              <a:rPr kumimoji="1" lang="en-US" altLang="zh-CN" dirty="0">
                <a:solidFill>
                  <a:schemeClr val="tx2"/>
                </a:solidFill>
                <a:ea typeface="SimSun" pitchFamily="2" charset="-122"/>
              </a:rPr>
              <a:t>statement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X, 15) – (Root (), A, 38)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Y, 16) – (Root (), B, 38) 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Z, 17) – (Root (), C, 38)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X, 21) – (Root (), A, 38)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Y, 22) – (Root (), B, 38)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(main (), Z, 23) – (Root (), C, 38)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(Root (), Root1, 44) – (main (), Root1, 28)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(Root (), Root2, 45) – (main (), Root2, 28)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(Root (), Result, 41) – ( main (),   ok,   26 )</a:t>
            </a:r>
          </a:p>
          <a:p>
            <a:pPr algn="ctr">
              <a:buFontTx/>
              <a:buNone/>
            </a:pPr>
            <a:r>
              <a:rPr kumimoji="1" lang="en-US" altLang="zh-CN" dirty="0">
                <a:latin typeface="Helvetica" charset="0"/>
                <a:ea typeface="SimSun" pitchFamily="2" charset="-122"/>
              </a:rPr>
              <a:t>(Root (), Result, 46) – ( main (),   ok,   26 )</a:t>
            </a:r>
            <a:endParaRPr kumimoji="1" lang="en-US" altLang="en-US" dirty="0">
              <a:latin typeface="Helvetica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2B8C606-0E42-4B95-9906-23965F9A1F93}" type="slidenum">
              <a:rPr lang="en-US" altLang="en-US" sz="900" b="0">
                <a:solidFill>
                  <a:schemeClr val="tx1"/>
                </a:solidFill>
              </a:rPr>
              <a:pPr/>
              <a:t>19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Coupling Data Flow Notes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517650"/>
            <a:ext cx="8867775" cy="947738"/>
          </a:xfrm>
        </p:spPr>
        <p:txBody>
          <a:bodyPr/>
          <a:lstStyle/>
          <a:p>
            <a:r>
              <a:rPr lang="en-US" altLang="en-US" dirty="0"/>
              <a:t>Only variables that are </a:t>
            </a:r>
            <a:r>
              <a:rPr lang="en-US" altLang="en-US" dirty="0">
                <a:solidFill>
                  <a:schemeClr val="tx2"/>
                </a:solidFill>
              </a:rPr>
              <a:t>used or defined</a:t>
            </a:r>
            <a:r>
              <a:rPr lang="en-US" altLang="en-US" dirty="0"/>
              <a:t> in the </a:t>
            </a:r>
            <a:r>
              <a:rPr lang="en-US" altLang="en-US" dirty="0" err="1"/>
              <a:t>callee</a:t>
            </a:r>
            <a:r>
              <a:rPr lang="en-US" altLang="en-US" dirty="0"/>
              <a:t> are considered.</a:t>
            </a:r>
          </a:p>
          <a:p>
            <a:pPr lvl="1"/>
            <a:endParaRPr lang="en-US" altLang="en-US" sz="2800" dirty="0"/>
          </a:p>
        </p:txBody>
      </p:sp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1662114" y="2401889"/>
            <a:ext cx="8867775" cy="386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6858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Implicit initializations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of class and global variables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endParaRPr lang="en-US" altLang="en-US" sz="2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l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Transitive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DU-pairs are too expensive to handle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A calls B, B calls C, and there is a variable defined in A and used in C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endParaRPr lang="en-US" altLang="en-US" sz="2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l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Arrays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a reference to one element is considered to be a reference to all elements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Summary—What Works?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>
                <a:solidFill>
                  <a:schemeClr val="tx2"/>
                </a:solidFill>
              </a:rPr>
              <a:t>Call graphs</a:t>
            </a:r>
            <a:r>
              <a:rPr lang="en-US" altLang="en-US"/>
              <a:t> are common and very useful ways to design integration tests</a:t>
            </a:r>
          </a:p>
          <a:p>
            <a:pPr>
              <a:spcAft>
                <a:spcPts val="1200"/>
              </a:spcAft>
            </a:pPr>
            <a:r>
              <a:rPr lang="en-US" altLang="en-US">
                <a:solidFill>
                  <a:schemeClr val="tx2"/>
                </a:solidFill>
              </a:rPr>
              <a:t>Inter-procedural data flow</a:t>
            </a:r>
            <a:r>
              <a:rPr lang="en-US" altLang="en-US"/>
              <a:t> is relatively easy to compute and results in effective integration tests</a:t>
            </a:r>
          </a:p>
          <a:p>
            <a:pPr>
              <a:spcAft>
                <a:spcPts val="1200"/>
              </a:spcAft>
            </a:pPr>
            <a:r>
              <a:rPr lang="en-US" altLang="en-US"/>
              <a:t>The ideas for </a:t>
            </a:r>
            <a:r>
              <a:rPr lang="en-US" altLang="en-US">
                <a:solidFill>
                  <a:schemeClr val="tx2"/>
                </a:solidFill>
              </a:rPr>
              <a:t>OO software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tx2"/>
                </a:solidFill>
              </a:rPr>
              <a:t>web applications</a:t>
            </a:r>
            <a:r>
              <a:rPr lang="en-US" altLang="en-US"/>
              <a:t> are preliminary and have not been used much in practice</a:t>
            </a:r>
          </a:p>
        </p:txBody>
      </p:sp>
      <p:sp>
        <p:nvSpPr>
          <p:cNvPr id="337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7883D2F-B6F9-4459-A943-B1624D6AFCFD}" type="slidenum">
              <a:rPr lang="en-US" altLang="en-US" sz="900" b="0">
                <a:solidFill>
                  <a:schemeClr val="tx1"/>
                </a:solidFill>
              </a:rPr>
              <a:pPr/>
              <a:t>20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E4693-6A26-433B-AF06-F75FCE14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Structure to Semantics: Evolution of Design Testing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FFAEA-62BB-4DCB-B58C-778EB6F7F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Static Structure→ Call Graph, Node/Edge Coverage</a:t>
            </a:r>
          </a:p>
          <a:p>
            <a:r>
              <a:rPr lang="en-US" altLang="zh-CN" dirty="0"/>
              <a:t>Runtime Behavior→ Dynamic Call Graph, Execution Trace</a:t>
            </a:r>
          </a:p>
          <a:p>
            <a:r>
              <a:rPr lang="en-US" altLang="zh-CN" dirty="0"/>
              <a:t>Interface Interaction→ Service/API Coupling</a:t>
            </a:r>
          </a:p>
          <a:p>
            <a:r>
              <a:rPr lang="en-US" altLang="zh-CN" dirty="0"/>
              <a:t>Semantic Data Flow→ Taint Analysis, Contract Validation</a:t>
            </a:r>
          </a:p>
          <a:p>
            <a:endParaRPr lang="en-US" altLang="zh-CN" dirty="0"/>
          </a:p>
          <a:p>
            <a:r>
              <a:rPr lang="en-US" altLang="zh-CN" dirty="0"/>
              <a:t>Design testing evolves from “structure coverage” to “interaction and semantics validation”.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34002-F804-4F09-AC75-3EF0B4E3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679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64CA9-EA29-432A-A599-28C3B7D6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Static Call Graph to Runtime Call Graph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024D95-B6AF-42F2-A46B-B878352D0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</a:t>
            </a:r>
            <a:r>
              <a:rPr lang="en-US" altLang="zh-CN" dirty="0"/>
              <a:t>Static Call Graph</a:t>
            </a:r>
            <a:r>
              <a:rPr lang="zh-CN" altLang="en-US" dirty="0"/>
              <a:t>无法准确处理：</a:t>
            </a:r>
            <a:endParaRPr lang="en-US" altLang="zh-CN" dirty="0"/>
          </a:p>
          <a:p>
            <a:pPr lvl="1"/>
            <a:r>
              <a:rPr lang="en-US" altLang="zh-CN" dirty="0"/>
              <a:t>Polymorphism</a:t>
            </a:r>
          </a:p>
          <a:p>
            <a:pPr lvl="1"/>
            <a:r>
              <a:rPr lang="en-US" altLang="zh-CN" dirty="0"/>
              <a:t>Reflection</a:t>
            </a:r>
          </a:p>
          <a:p>
            <a:pPr lvl="1"/>
            <a:r>
              <a:rPr lang="en-US" altLang="zh-CN" dirty="0"/>
              <a:t>Dynamic dispatch</a:t>
            </a:r>
          </a:p>
          <a:p>
            <a:r>
              <a:rPr lang="zh-CN" altLang="en-US" dirty="0"/>
              <a:t>现代方法</a:t>
            </a:r>
            <a:endParaRPr lang="en-US" altLang="zh-CN" dirty="0"/>
          </a:p>
          <a:p>
            <a:pPr lvl="1"/>
            <a:r>
              <a:rPr lang="en-US" altLang="zh-CN" dirty="0"/>
              <a:t>Dynamic Call Graph</a:t>
            </a:r>
            <a:r>
              <a:rPr lang="zh-CN" altLang="en-US" dirty="0"/>
              <a:t>（</a:t>
            </a:r>
            <a:r>
              <a:rPr lang="en-US" altLang="zh-CN" dirty="0"/>
              <a:t>Execution Trace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Hybrid Approach</a:t>
            </a:r>
            <a:r>
              <a:rPr lang="zh-CN" altLang="en-US" dirty="0"/>
              <a:t>（</a:t>
            </a:r>
            <a:r>
              <a:rPr lang="en-US" altLang="zh-CN" dirty="0"/>
              <a:t>Static + Dynamic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工程实践</a:t>
            </a:r>
            <a:endParaRPr lang="en-US" altLang="zh-CN" dirty="0"/>
          </a:p>
          <a:p>
            <a:pPr lvl="1"/>
            <a:r>
              <a:rPr lang="en-US" altLang="zh-CN" dirty="0"/>
              <a:t>Distributed Tracing</a:t>
            </a:r>
            <a:r>
              <a:rPr lang="zh-CN" altLang="en-US" dirty="0"/>
              <a:t>（</a:t>
            </a:r>
            <a:r>
              <a:rPr lang="en-US" altLang="zh-CN" dirty="0"/>
              <a:t>Jaeger / </a:t>
            </a:r>
            <a:r>
              <a:rPr lang="en-US" altLang="zh-CN" dirty="0" err="1"/>
              <a:t>Zipkin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自动生成跨服务调用链</a:t>
            </a:r>
            <a:endParaRPr lang="en-US" altLang="zh-CN" dirty="0"/>
          </a:p>
          <a:p>
            <a:r>
              <a:rPr lang="en-US" altLang="zh-CN" dirty="0"/>
              <a:t>Runtime coupling reveals what actually happens, not just what may happen.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94AB6-16DF-4E7C-8F15-4DFAE9CB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3304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118F5-4B9A-441C-AF4D-2DAA0F85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Coupling DU to Data Flow Propagation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D135A-1CD2-4E38-994A-887194935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Last-def / First-use</a:t>
            </a:r>
            <a:r>
              <a:rPr lang="zh-CN" altLang="en-US" dirty="0"/>
              <a:t>；</a:t>
            </a:r>
            <a:r>
              <a:rPr lang="en-US" altLang="zh-CN" dirty="0"/>
              <a:t>Coupling DU-path</a:t>
            </a:r>
            <a:r>
              <a:rPr lang="zh-CN" altLang="en-US" dirty="0"/>
              <a:t>；</a:t>
            </a:r>
            <a:r>
              <a:rPr lang="en-US" altLang="zh-CN" dirty="0"/>
              <a:t>All-Coupling-Def / Use / Paths</a:t>
            </a:r>
          </a:p>
          <a:p>
            <a:pPr lvl="1"/>
            <a:r>
              <a:rPr lang="zh-CN" altLang="en-US" dirty="0"/>
              <a:t>计算复杂（尤其跨过程）</a:t>
            </a:r>
            <a:endParaRPr lang="en-US" altLang="zh-CN" dirty="0"/>
          </a:p>
          <a:p>
            <a:pPr lvl="1"/>
            <a:r>
              <a:rPr lang="en-US" altLang="zh-CN" dirty="0"/>
              <a:t>Transitive DU</a:t>
            </a:r>
            <a:r>
              <a:rPr lang="zh-CN" altLang="en-US" dirty="0"/>
              <a:t>难以处理</a:t>
            </a:r>
            <a:endParaRPr lang="en-US" altLang="zh-CN" dirty="0"/>
          </a:p>
          <a:p>
            <a:r>
              <a:rPr lang="zh-CN" altLang="en-US" dirty="0"/>
              <a:t>现代升级</a:t>
            </a:r>
            <a:endParaRPr lang="en-US" altLang="zh-CN" dirty="0"/>
          </a:p>
          <a:p>
            <a:pPr lvl="1"/>
            <a:r>
              <a:rPr lang="en-US" altLang="zh-CN" dirty="0"/>
              <a:t>API-level Data Flow</a:t>
            </a:r>
          </a:p>
          <a:p>
            <a:pPr lvl="1"/>
            <a:r>
              <a:rPr lang="en-US" altLang="zh-CN" dirty="0"/>
              <a:t>Taint Analysis</a:t>
            </a:r>
            <a:r>
              <a:rPr lang="zh-CN" altLang="en-US" dirty="0"/>
              <a:t>（污点传播）</a:t>
            </a:r>
            <a:endParaRPr lang="en-US" altLang="zh-CN" dirty="0"/>
          </a:p>
          <a:p>
            <a:r>
              <a:rPr lang="en-US" altLang="zh-CN" dirty="0"/>
              <a:t>Coupling DU ≈ Inter-procedural / Inter-service Taint Flow</a:t>
            </a:r>
          </a:p>
          <a:p>
            <a:r>
              <a:rPr lang="zh-CN" altLang="en-US" dirty="0"/>
              <a:t>核心区别</a:t>
            </a:r>
            <a:endParaRPr lang="en-US" altLang="zh-CN" dirty="0"/>
          </a:p>
          <a:p>
            <a:pPr lvl="1"/>
            <a:r>
              <a:rPr lang="en-US" altLang="zh-CN" dirty="0"/>
              <a:t>DU</a:t>
            </a:r>
            <a:r>
              <a:rPr lang="zh-CN" altLang="en-US" dirty="0"/>
              <a:t>：枚举路径（</a:t>
            </a:r>
            <a:r>
              <a:rPr lang="en-US" altLang="zh-CN" dirty="0"/>
              <a:t>path-based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Taint</a:t>
            </a:r>
            <a:r>
              <a:rPr lang="zh-CN" altLang="en-US" dirty="0"/>
              <a:t>：跟踪传播（</a:t>
            </a:r>
            <a:r>
              <a:rPr lang="en-US" altLang="zh-CN" dirty="0"/>
              <a:t>propagation-based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5E1E96-2D70-4470-B655-D829728E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199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F3730-15DA-4572-A1AF-739C1EAC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Service-level / API coupling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EA7947EA-D5AF-49E3-AD72-202013748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747294"/>
              </p:ext>
            </p:extLst>
          </p:nvPr>
        </p:nvGraphicFramePr>
        <p:xfrm>
          <a:off x="1908808" y="2640664"/>
          <a:ext cx="7694024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122024">
                  <a:extLst>
                    <a:ext uri="{9D8B030D-6E8A-4147-A177-3AD203B41FA5}">
                      <a16:colId xmlns:a16="http://schemas.microsoft.com/office/drawing/2014/main" val="3953559839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397544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2400" kern="0">
                          <a:effectLst/>
                        </a:rPr>
                        <a:t>传统概念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0" dirty="0">
                          <a:effectLst/>
                        </a:rPr>
                        <a:t>现代对应</a:t>
                      </a:r>
                      <a:endParaRPr lang="zh-CN" sz="18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697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Caller / Callee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Service A / Service B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8079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Actual Parameter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0" dirty="0">
                          <a:effectLst/>
                        </a:rPr>
                        <a:t>JSON / </a:t>
                      </a:r>
                      <a:r>
                        <a:rPr lang="en-US" sz="2400" kern="0" dirty="0" err="1">
                          <a:effectLst/>
                        </a:rPr>
                        <a:t>Protobuf</a:t>
                      </a:r>
                      <a:r>
                        <a:rPr lang="en-US" sz="2400" kern="0" dirty="0">
                          <a:effectLst/>
                        </a:rPr>
                        <a:t> payload</a:t>
                      </a:r>
                      <a:endParaRPr lang="zh-CN" sz="18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6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Formal Parameter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0" dirty="0">
                          <a:effectLst/>
                        </a:rPr>
                        <a:t>API Schema / Contract</a:t>
                      </a:r>
                      <a:endParaRPr lang="zh-CN" sz="18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47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Return value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0">
                          <a:effectLst/>
                        </a:rPr>
                        <a:t>HTTP response / Event</a:t>
                      </a:r>
                      <a:endParaRPr lang="zh-CN" sz="18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863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kern="0" dirty="0">
                          <a:effectLst/>
                        </a:rPr>
                        <a:t>Call Graph</a:t>
                      </a:r>
                      <a:endParaRPr lang="zh-CN" sz="18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0" dirty="0">
                          <a:effectLst/>
                        </a:rPr>
                        <a:t>Service Dependency Graph</a:t>
                      </a:r>
                      <a:endParaRPr lang="zh-CN" sz="18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219184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5889C-48B3-4DE6-A50F-B470E9D7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BD4D76-1E46-4F30-A793-66A5DCECCDAD}"/>
              </a:ext>
            </a:extLst>
          </p:cNvPr>
          <p:cNvSpPr txBox="1"/>
          <p:nvPr/>
        </p:nvSpPr>
        <p:spPr>
          <a:xfrm>
            <a:off x="813708" y="1314891"/>
            <a:ext cx="10564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Service Dependency Graph (SDG)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0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节点为服务，边为</a:t>
            </a:r>
            <a:r>
              <a:rPr lang="en-US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调用（</a:t>
            </a:r>
            <a:r>
              <a:rPr lang="en-US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REST/</a:t>
            </a:r>
            <a:r>
              <a:rPr lang="en-US" altLang="zh-CN" sz="2000" kern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gRPC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）、异步消息（</a:t>
            </a:r>
            <a:r>
              <a:rPr lang="en-US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Kafka/RabbitMQ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）。</a:t>
            </a:r>
            <a:endParaRPr lang="en-US" altLang="zh-CN" sz="20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D1B38E-2D20-446E-BD78-F8C0C38404D9}"/>
              </a:ext>
            </a:extLst>
          </p:cNvPr>
          <p:cNvSpPr txBox="1"/>
          <p:nvPr/>
        </p:nvSpPr>
        <p:spPr>
          <a:xfrm>
            <a:off x="1649185" y="5588638"/>
            <a:ext cx="82132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在微服务架构中，接口耦合测试已成为系统正确性的核心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l"/>
            <a:r>
              <a:rPr lang="zh-CN" altLang="zh-CN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一个接口破坏可能引发级联故障（</a:t>
            </a:r>
            <a:r>
              <a:rPr lang="en-US" altLang="zh-CN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cascade failure</a:t>
            </a:r>
            <a:r>
              <a:rPr lang="zh-CN" altLang="zh-CN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95823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9256B-CB65-4DA5-BB54-E1D9318F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Coverage to Effectiveness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06F24-CF43-4775-AC26-91B59CFCB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</a:t>
            </a:r>
            <a:r>
              <a:rPr lang="en-US" altLang="zh-CN" dirty="0"/>
              <a:t>Node / Edge / DU Coverage</a:t>
            </a:r>
            <a:r>
              <a:rPr lang="zh-CN" altLang="en-US" dirty="0"/>
              <a:t>关注路径是否被执行</a:t>
            </a:r>
            <a:endParaRPr lang="en-US" altLang="zh-CN" dirty="0"/>
          </a:p>
          <a:p>
            <a:r>
              <a:rPr lang="zh-CN" altLang="en-US" dirty="0"/>
              <a:t>现代</a:t>
            </a:r>
            <a:endParaRPr lang="en-US" altLang="zh-CN" dirty="0"/>
          </a:p>
          <a:p>
            <a:pPr lvl="1"/>
            <a:r>
              <a:rPr lang="en-US" altLang="zh-CN" dirty="0"/>
              <a:t>Fuzzing</a:t>
            </a:r>
            <a:r>
              <a:rPr lang="zh-CN" altLang="en-US" dirty="0"/>
              <a:t>（尤其数据流引导）</a:t>
            </a:r>
            <a:endParaRPr lang="en-US" altLang="zh-CN" dirty="0"/>
          </a:p>
          <a:p>
            <a:pPr lvl="1"/>
            <a:r>
              <a:rPr lang="en-US" altLang="zh-CN" dirty="0"/>
              <a:t>Mutation Testing</a:t>
            </a:r>
          </a:p>
          <a:p>
            <a:r>
              <a:rPr lang="en-US" altLang="zh-CN" dirty="0"/>
              <a:t>Coverage measures “where we go”, but modern testing focuses on “what we break”.</a:t>
            </a:r>
          </a:p>
          <a:p>
            <a:r>
              <a:rPr lang="zh-CN" altLang="en-US" dirty="0"/>
              <a:t>实践趋势</a:t>
            </a:r>
            <a:endParaRPr lang="en-US" altLang="zh-CN" dirty="0"/>
          </a:p>
          <a:p>
            <a:pPr lvl="1"/>
            <a:r>
              <a:rPr lang="en-US" altLang="zh-CN" dirty="0"/>
              <a:t>Data-flow-guided fuzzing</a:t>
            </a:r>
          </a:p>
          <a:p>
            <a:pPr lvl="1"/>
            <a:r>
              <a:rPr lang="en-US" altLang="zh-CN" dirty="0"/>
              <a:t>Interface / API testing</a:t>
            </a:r>
          </a:p>
          <a:p>
            <a:pPr lvl="1"/>
            <a:r>
              <a:rPr lang="en-US" altLang="zh-CN" dirty="0"/>
              <a:t>Contract validation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F066C-93E0-4BB6-8036-9B855926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6602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A9E7F-6087-4547-A291-F734C53F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B1539-08BB-45AA-936B-3BED8D44C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Graph coverage is effective for monolithic systems, but limited for modern architectures</a:t>
            </a:r>
          </a:p>
          <a:p>
            <a:r>
              <a:rPr lang="en-US" altLang="zh-CN" dirty="0"/>
              <a:t>Modern testing focuses on:</a:t>
            </a:r>
          </a:p>
          <a:p>
            <a:pPr lvl="1"/>
            <a:r>
              <a:rPr lang="en-US" altLang="zh-CN" dirty="0"/>
              <a:t>Runtime behavior</a:t>
            </a:r>
          </a:p>
          <a:p>
            <a:pPr lvl="1"/>
            <a:r>
              <a:rPr lang="en-US" altLang="zh-CN" dirty="0"/>
              <a:t>Cross-interface data flow</a:t>
            </a:r>
          </a:p>
          <a:p>
            <a:pPr lvl="1"/>
            <a:r>
              <a:rPr lang="en-US" altLang="zh-CN" dirty="0"/>
              <a:t>Service-level interactions</a:t>
            </a:r>
          </a:p>
          <a:p>
            <a:r>
              <a:rPr lang="en-US" altLang="zh-CN" dirty="0"/>
              <a:t>Coupling-based testing evolves toward:</a:t>
            </a:r>
          </a:p>
          <a:p>
            <a:pPr lvl="1"/>
            <a:r>
              <a:rPr lang="en-US" altLang="zh-CN" dirty="0"/>
              <a:t>Dynamic</a:t>
            </a:r>
          </a:p>
          <a:p>
            <a:pPr lvl="1"/>
            <a:r>
              <a:rPr lang="en-US" altLang="zh-CN" dirty="0"/>
              <a:t>Semantic</a:t>
            </a:r>
          </a:p>
          <a:p>
            <a:pPr lvl="1"/>
            <a:r>
              <a:rPr lang="en-US" altLang="zh-CN" dirty="0"/>
              <a:t>Scalable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EFF612-3BB8-4E48-98C0-089000B9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448BB-2757-4FC7-9D5C-BB27172DC28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445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7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99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4398</TotalTime>
  <Pages>49</Pages>
  <Words>2425</Words>
  <Application>Microsoft Office PowerPoint</Application>
  <PresentationFormat>宽屏</PresentationFormat>
  <Paragraphs>291</Paragraphs>
  <Slides>26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Gill Sans MT</vt:lpstr>
      <vt:lpstr>微软雅黑</vt:lpstr>
      <vt:lpstr>Arial</vt:lpstr>
      <vt:lpstr>Helvetica</vt:lpstr>
      <vt:lpstr>Times New Roman</vt:lpstr>
      <vt:lpstr>Verdana</vt:lpstr>
      <vt:lpstr>Wingdings</vt:lpstr>
      <vt:lpstr>intro</vt:lpstr>
      <vt:lpstr>Chapter 3 Graph Coverage </vt:lpstr>
      <vt:lpstr>本节课程目标</vt:lpstr>
      <vt:lpstr>OO Software and Designs</vt:lpstr>
      <vt:lpstr>Call Graph</vt:lpstr>
      <vt:lpstr>Call Graphs on Classes</vt:lpstr>
      <vt:lpstr>Inheritance &amp; Polymorphism</vt:lpstr>
      <vt:lpstr>Coverage on Inheritance Graph</vt:lpstr>
      <vt:lpstr>Data Flow at the Design Level</vt:lpstr>
      <vt:lpstr>Preliminary Definitions</vt:lpstr>
      <vt:lpstr>Example Call Site</vt:lpstr>
      <vt:lpstr>Inter-procedural DU Pairs</vt:lpstr>
      <vt:lpstr>Inter-procedural DU Pairs Example</vt:lpstr>
      <vt:lpstr>Inter-procedural DU Pairs Example</vt:lpstr>
      <vt:lpstr>Data Flow at the Design Level</vt:lpstr>
      <vt:lpstr>PowerPoint 演示文稿</vt:lpstr>
      <vt:lpstr>PowerPoint 演示文稿</vt:lpstr>
      <vt:lpstr>PowerPoint 演示文稿</vt:lpstr>
      <vt:lpstr>Quadratic – Coupling DU-pairs</vt:lpstr>
      <vt:lpstr>Coupling Data Flow Notes</vt:lpstr>
      <vt:lpstr>Summary—What Works?</vt:lpstr>
      <vt:lpstr>From Structure to Semantics: Evolution of Design Testing</vt:lpstr>
      <vt:lpstr>From Static Call Graph to Runtime Call Graph</vt:lpstr>
      <vt:lpstr>From Coupling DU to Data Flow Propagation</vt:lpstr>
      <vt:lpstr>Service-level / API coupling</vt:lpstr>
      <vt:lpstr>From Coverage to Effectiveness</vt:lpstr>
      <vt:lpstr>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 for Design Elements</dc:title>
  <dc:creator>Jeff Offutt</dc:creator>
  <cp:lastModifiedBy>Yue Zhang</cp:lastModifiedBy>
  <cp:revision>233</cp:revision>
  <cp:lastPrinted>2013-09-25T12:58:37Z</cp:lastPrinted>
  <dcterms:created xsi:type="dcterms:W3CDTF">1996-06-15T03:21:08Z</dcterms:created>
  <dcterms:modified xsi:type="dcterms:W3CDTF">2026-04-14T04:41:10Z</dcterms:modified>
</cp:coreProperties>
</file>